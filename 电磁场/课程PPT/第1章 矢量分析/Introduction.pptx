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4" r:id="rId5"/>
    <p:sldId id="260" r:id="rId6"/>
    <p:sldId id="261" r:id="rId7"/>
    <p:sldId id="265" r:id="rId8"/>
    <p:sldId id="262" r:id="rId9"/>
    <p:sldId id="258" r:id="rId10"/>
    <p:sldId id="259" r:id="rId1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746"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2026/2/28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2026/2/28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2026/2/28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2026/2/28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2026/2/28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2026/2/28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2026/2/28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2026/2/28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2026/2/28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2026/2/28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2026/2/28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2026/2/28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1755141438@qq.com" TargetMode="External"/><Relationship Id="rId2" Type="http://schemas.openxmlformats.org/officeDocument/2006/relationships/hyperlink" Target="mailto:qingxiong@cqu.edu.cn"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image" Target="../media/image8.gif"/><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2344216" y="1124744"/>
            <a:ext cx="4460032" cy="1470025"/>
          </a:xfrm>
        </p:spPr>
        <p:txBody>
          <a:bodyPr>
            <a:normAutofit/>
          </a:bodyPr>
          <a:lstStyle/>
          <a:p>
            <a:r>
              <a:rPr lang="zh-CN" altLang="en-US" sz="5400" dirty="0">
                <a:latin typeface="微软雅黑" panose="020B0503020204020204" pitchFamily="34" charset="-122"/>
                <a:ea typeface="微软雅黑" panose="020B0503020204020204" pitchFamily="34" charset="-122"/>
              </a:rPr>
              <a:t>电磁场原理</a:t>
            </a:r>
            <a:endParaRPr lang="en-US" sz="5400" dirty="0">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a:xfrm>
            <a:off x="467544" y="3022104"/>
            <a:ext cx="7992888" cy="2567136"/>
          </a:xfrm>
        </p:spPr>
        <p:txBody>
          <a:bodyPr>
            <a:normAutofit/>
          </a:bodyPr>
          <a:lstStyle/>
          <a:p>
            <a:pPr marL="1798638" algn="l"/>
            <a:r>
              <a:rPr lang="zh-CN" altLang="en-US" sz="2400" dirty="0">
                <a:solidFill>
                  <a:schemeClr val="tx1"/>
                </a:solidFill>
                <a:latin typeface="微软雅黑" panose="020B0503020204020204" pitchFamily="34" charset="-122"/>
                <a:ea typeface="微软雅黑" panose="020B0503020204020204" pitchFamily="34" charset="-122"/>
              </a:rPr>
              <a:t>任课教师：熊 青</a:t>
            </a:r>
            <a:endParaRPr lang="en-US" altLang="zh-CN" sz="2400" dirty="0">
              <a:solidFill>
                <a:schemeClr val="tx1"/>
              </a:solidFill>
              <a:latin typeface="微软雅黑" panose="020B0503020204020204" pitchFamily="34" charset="-122"/>
              <a:ea typeface="微软雅黑" panose="020B0503020204020204" pitchFamily="34" charset="-122"/>
            </a:endParaRPr>
          </a:p>
          <a:p>
            <a:pPr marL="1798638" algn="l">
              <a:spcBef>
                <a:spcPts val="0"/>
              </a:spcBef>
            </a:pPr>
            <a:r>
              <a:rPr lang="zh-CN" altLang="en-US" sz="2400" dirty="0">
                <a:solidFill>
                  <a:schemeClr val="tx1"/>
                </a:solidFill>
                <a:latin typeface="微软雅黑" panose="020B0503020204020204" pitchFamily="34" charset="-122"/>
                <a:ea typeface="微软雅黑" panose="020B0503020204020204" pitchFamily="34" charset="-122"/>
              </a:rPr>
              <a:t>邮箱：</a:t>
            </a:r>
            <a:r>
              <a:rPr lang="en-US" altLang="zh-CN" sz="2400" dirty="0">
                <a:solidFill>
                  <a:schemeClr val="tx1"/>
                </a:solidFill>
                <a:latin typeface="微软雅黑" panose="020B0503020204020204" pitchFamily="34" charset="-122"/>
                <a:ea typeface="微软雅黑" panose="020B0503020204020204" pitchFamily="34" charset="-122"/>
                <a:hlinkClick r:id="rId2"/>
              </a:rPr>
              <a:t>qingxiong@cqu.edu.cn</a:t>
            </a:r>
            <a:endParaRPr lang="en-US" altLang="zh-CN" sz="2400" dirty="0">
              <a:solidFill>
                <a:schemeClr val="tx1"/>
              </a:solidFill>
              <a:latin typeface="微软雅黑" panose="020B0503020204020204" pitchFamily="34" charset="-122"/>
              <a:ea typeface="微软雅黑" panose="020B0503020204020204" pitchFamily="34" charset="-122"/>
            </a:endParaRPr>
          </a:p>
          <a:p>
            <a:pPr marL="1798638" algn="l">
              <a:spcBef>
                <a:spcPts val="2400"/>
              </a:spcBef>
            </a:pPr>
            <a:r>
              <a:rPr lang="zh-CN" altLang="en-US" sz="2400" dirty="0">
                <a:solidFill>
                  <a:schemeClr val="tx1"/>
                </a:solidFill>
                <a:latin typeface="微软雅黑" panose="020B0503020204020204" pitchFamily="34" charset="-122"/>
                <a:ea typeface="微软雅黑" panose="020B0503020204020204" pitchFamily="34" charset="-122"/>
              </a:rPr>
              <a:t>助教：谭钰婷 </a:t>
            </a:r>
            <a:r>
              <a:rPr lang="en-US" altLang="zh-CN" sz="2400" dirty="0">
                <a:solidFill>
                  <a:schemeClr val="tx1"/>
                </a:solidFill>
                <a:latin typeface="微软雅黑" panose="020B0503020204020204" pitchFamily="34" charset="-122"/>
                <a:ea typeface="微软雅黑" panose="020B0503020204020204" pitchFamily="34" charset="-122"/>
              </a:rPr>
              <a:t> </a:t>
            </a:r>
          </a:p>
          <a:p>
            <a:pPr marL="1798638" algn="l">
              <a:spcBef>
                <a:spcPts val="0"/>
              </a:spcBef>
            </a:pPr>
            <a:r>
              <a:rPr lang="zh-CN" altLang="en-US" sz="2400" dirty="0">
                <a:solidFill>
                  <a:schemeClr val="tx1"/>
                </a:solidFill>
                <a:latin typeface="微软雅黑" panose="020B0503020204020204" pitchFamily="34" charset="-122"/>
                <a:ea typeface="微软雅黑" panose="020B0503020204020204" pitchFamily="34" charset="-122"/>
              </a:rPr>
              <a:t>邮箱：</a:t>
            </a:r>
            <a:r>
              <a:rPr lang="en-US" altLang="zh-CN" sz="2400" dirty="0">
                <a:solidFill>
                  <a:schemeClr val="tx1"/>
                </a:solidFill>
                <a:latin typeface="微软雅黑" panose="020B0503020204020204" pitchFamily="34" charset="-122"/>
                <a:ea typeface="微软雅黑" panose="020B0503020204020204" pitchFamily="34" charset="-122"/>
                <a:hlinkClick r:id="rId3"/>
              </a:rPr>
              <a:t>1755141438@qq.com</a:t>
            </a:r>
            <a:r>
              <a:rPr lang="en-US" altLang="zh-CN" sz="2400" dirty="0">
                <a:solidFill>
                  <a:schemeClr val="tx1"/>
                </a:solidFill>
                <a:latin typeface="微软雅黑" panose="020B0503020204020204" pitchFamily="34" charset="-122"/>
                <a:ea typeface="微软雅黑" panose="020B0503020204020204" pitchFamily="34" charset="-122"/>
              </a:rPr>
              <a:t> </a:t>
            </a:r>
          </a:p>
        </p:txBody>
      </p:sp>
      <p:pic>
        <p:nvPicPr>
          <p:cNvPr id="9" name="图片 8">
            <a:extLst>
              <a:ext uri="{FF2B5EF4-FFF2-40B4-BE49-F238E27FC236}">
                <a16:creationId xmlns:a16="http://schemas.microsoft.com/office/drawing/2014/main" id="{2C5899EA-19E4-AFC0-AEE9-87B85360E07B}"/>
              </a:ext>
            </a:extLst>
          </p:cNvPr>
          <p:cNvPicPr>
            <a:picLocks noChangeAspect="1"/>
          </p:cNvPicPr>
          <p:nvPr/>
        </p:nvPicPr>
        <p:blipFill>
          <a:blip r:embed="rId4"/>
          <a:stretch>
            <a:fillRect/>
          </a:stretch>
        </p:blipFill>
        <p:spPr>
          <a:xfrm>
            <a:off x="6660232" y="3508389"/>
            <a:ext cx="2483768" cy="3349611"/>
          </a:xfrm>
          <a:prstGeom prst="rect">
            <a:avLst/>
          </a:prstGeom>
        </p:spPr>
      </p:pic>
    </p:spTree>
    <p:extLst>
      <p:ext uri="{BB962C8B-B14F-4D97-AF65-F5344CB8AC3E}">
        <p14:creationId xmlns:p14="http://schemas.microsoft.com/office/powerpoint/2010/main" val="1475011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课程描述</a:t>
            </a:r>
            <a:endParaRPr lang="en-US" dirty="0"/>
          </a:p>
        </p:txBody>
      </p:sp>
      <p:sp>
        <p:nvSpPr>
          <p:cNvPr id="3" name="内容占位符 2"/>
          <p:cNvSpPr>
            <a:spLocks noGrp="1"/>
          </p:cNvSpPr>
          <p:nvPr>
            <p:ph idx="1"/>
          </p:nvPr>
        </p:nvSpPr>
        <p:spPr/>
        <p:txBody>
          <a:bodyPr>
            <a:normAutofit/>
          </a:bodyPr>
          <a:lstStyle/>
          <a:p>
            <a:pPr marL="0" indent="0">
              <a:buNone/>
            </a:pPr>
            <a:r>
              <a:rPr lang="zh-CN" altLang="en-US" sz="2400" u="sng" dirty="0">
                <a:latin typeface="新宋体" panose="02010609030101010101" pitchFamily="49" charset="-122"/>
                <a:ea typeface="新宋体" panose="02010609030101010101" pitchFamily="49" charset="-122"/>
              </a:rPr>
              <a:t>本课程是工科</a:t>
            </a:r>
            <a:r>
              <a:rPr lang="zh-CN" altLang="en-US" sz="2400" b="1" u="sng" dirty="0">
                <a:solidFill>
                  <a:srgbClr val="FF0000"/>
                </a:solidFill>
                <a:latin typeface="新宋体" panose="02010609030101010101" pitchFamily="49" charset="-122"/>
                <a:ea typeface="新宋体" panose="02010609030101010101" pitchFamily="49" charset="-122"/>
              </a:rPr>
              <a:t>电气工程类本科各专业的一门技术基础课</a:t>
            </a:r>
            <a:r>
              <a:rPr lang="zh-CN" altLang="en-US" sz="2400" dirty="0">
                <a:latin typeface="新宋体" panose="02010609030101010101" pitchFamily="49" charset="-122"/>
                <a:ea typeface="新宋体" panose="02010609030101010101" pitchFamily="49" charset="-122"/>
              </a:rPr>
              <a:t>，为电工基本理论的主要组成部分之一，电磁场理论是一名合格的电气工程师必须具备的知识结构中的有机组成部分。</a:t>
            </a:r>
            <a:endParaRPr lang="en-US" altLang="zh-CN" sz="2400" dirty="0">
              <a:latin typeface="新宋体" panose="02010609030101010101" pitchFamily="49" charset="-122"/>
              <a:ea typeface="新宋体" panose="02010609030101010101" pitchFamily="49" charset="-122"/>
            </a:endParaRPr>
          </a:p>
          <a:p>
            <a:pPr marL="0" indent="0">
              <a:spcBef>
                <a:spcPts val="1200"/>
              </a:spcBef>
              <a:buNone/>
            </a:pPr>
            <a:r>
              <a:rPr lang="zh-CN" altLang="en-US" sz="2400" dirty="0">
                <a:latin typeface="新宋体" panose="02010609030101010101" pitchFamily="49" charset="-122"/>
                <a:ea typeface="新宋体" panose="02010609030101010101" pitchFamily="49" charset="-122"/>
              </a:rPr>
              <a:t>本课程主要内容由</a:t>
            </a:r>
            <a:r>
              <a:rPr lang="zh-CN" altLang="en-US" sz="2400" b="1" dirty="0">
                <a:solidFill>
                  <a:schemeClr val="accent6">
                    <a:lumMod val="75000"/>
                  </a:schemeClr>
                </a:solidFill>
                <a:latin typeface="新宋体" panose="02010609030101010101" pitchFamily="49" charset="-122"/>
                <a:ea typeface="新宋体" panose="02010609030101010101" pitchFamily="49" charset="-122"/>
              </a:rPr>
              <a:t>静态场</a:t>
            </a:r>
            <a:r>
              <a:rPr lang="zh-CN" altLang="en-US" sz="2400" dirty="0">
                <a:latin typeface="新宋体" panose="02010609030101010101" pitchFamily="49" charset="-122"/>
                <a:ea typeface="新宋体" panose="02010609030101010101" pitchFamily="49" charset="-122"/>
              </a:rPr>
              <a:t>（静电场、恒定电场、恒定磁场）、</a:t>
            </a:r>
            <a:r>
              <a:rPr lang="zh-CN" altLang="en-US" sz="2400" b="1" dirty="0">
                <a:solidFill>
                  <a:schemeClr val="accent6">
                    <a:lumMod val="75000"/>
                  </a:schemeClr>
                </a:solidFill>
                <a:latin typeface="新宋体" panose="02010609030101010101" pitchFamily="49" charset="-122"/>
                <a:ea typeface="新宋体" panose="02010609030101010101" pitchFamily="49" charset="-122"/>
              </a:rPr>
              <a:t>时变电磁场</a:t>
            </a:r>
            <a:r>
              <a:rPr lang="zh-CN" altLang="en-US" sz="2400" dirty="0">
                <a:latin typeface="新宋体" panose="02010609030101010101" pitchFamily="49" charset="-122"/>
                <a:ea typeface="新宋体" panose="02010609030101010101" pitchFamily="49" charset="-122"/>
              </a:rPr>
              <a:t>、以及</a:t>
            </a:r>
            <a:r>
              <a:rPr lang="zh-CN" altLang="en-US" sz="2400" b="1" dirty="0">
                <a:solidFill>
                  <a:schemeClr val="accent6">
                    <a:lumMod val="75000"/>
                  </a:schemeClr>
                </a:solidFill>
                <a:latin typeface="新宋体" panose="02010609030101010101" pitchFamily="49" charset="-122"/>
                <a:ea typeface="新宋体" panose="02010609030101010101" pitchFamily="49" charset="-122"/>
              </a:rPr>
              <a:t>电磁波</a:t>
            </a:r>
            <a:r>
              <a:rPr lang="zh-CN" altLang="en-US" sz="2400" dirty="0">
                <a:latin typeface="新宋体" panose="02010609030101010101" pitchFamily="49" charset="-122"/>
                <a:ea typeface="新宋体" panose="02010609030101010101" pitchFamily="49" charset="-122"/>
              </a:rPr>
              <a:t>三部分构成。</a:t>
            </a:r>
            <a:endParaRPr lang="en-US" altLang="zh-CN" sz="2400" dirty="0">
              <a:latin typeface="新宋体" panose="02010609030101010101" pitchFamily="49" charset="-122"/>
              <a:ea typeface="新宋体" panose="02010609030101010101" pitchFamily="49" charset="-122"/>
            </a:endParaRPr>
          </a:p>
          <a:p>
            <a:pPr marL="0" indent="0">
              <a:spcBef>
                <a:spcPts val="1200"/>
              </a:spcBef>
              <a:buNone/>
            </a:pPr>
            <a:r>
              <a:rPr lang="zh-CN" altLang="en-US" sz="2400" dirty="0"/>
              <a:t>培养学生能应用</a:t>
            </a:r>
            <a:r>
              <a:rPr lang="zh-CN" altLang="en-US" sz="2400" b="1" dirty="0">
                <a:solidFill>
                  <a:srgbClr val="FF0000"/>
                </a:solidFill>
              </a:rPr>
              <a:t>（电磁）</a:t>
            </a:r>
            <a:r>
              <a:rPr lang="zh-CN" altLang="en-US" sz="3600" b="1" dirty="0">
                <a:solidFill>
                  <a:srgbClr val="C00000"/>
                </a:solidFill>
              </a:rPr>
              <a:t>场</a:t>
            </a:r>
            <a:r>
              <a:rPr lang="zh-CN" altLang="en-US" sz="2400" b="1" dirty="0">
                <a:solidFill>
                  <a:srgbClr val="FF0000"/>
                </a:solidFill>
              </a:rPr>
              <a:t>的观点和方法</a:t>
            </a:r>
            <a:r>
              <a:rPr lang="zh-CN" altLang="en-US" sz="2400" dirty="0"/>
              <a:t>对电工领域中的</a:t>
            </a:r>
            <a:r>
              <a:rPr lang="zh-CN" altLang="en-US" sz="2400" b="1" dirty="0">
                <a:solidFill>
                  <a:srgbClr val="FF0000"/>
                </a:solidFill>
              </a:rPr>
              <a:t>电磁现象、电磁过程</a:t>
            </a:r>
            <a:r>
              <a:rPr lang="zh-CN" altLang="en-US" sz="2400" dirty="0"/>
              <a:t>进行定性分析与判断的能力以及进行定量分析的基本技能，为今后解决工程实际问题打下</a:t>
            </a:r>
            <a:r>
              <a:rPr lang="zh-CN" altLang="en-US" sz="2400" b="1" dirty="0">
                <a:solidFill>
                  <a:srgbClr val="FF0000"/>
                </a:solidFill>
              </a:rPr>
              <a:t>坚实理论基础</a:t>
            </a:r>
            <a:r>
              <a:rPr lang="zh-CN" altLang="en-US" sz="2400" dirty="0"/>
              <a:t>。</a:t>
            </a:r>
            <a:endParaRPr lang="en-US" altLang="zh-CN" sz="2400" dirty="0">
              <a:latin typeface="新宋体" panose="02010609030101010101" pitchFamily="49" charset="-122"/>
              <a:ea typeface="新宋体" panose="02010609030101010101" pitchFamily="49" charset="-122"/>
            </a:endParaRPr>
          </a:p>
        </p:txBody>
      </p:sp>
    </p:spTree>
    <p:extLst>
      <p:ext uri="{BB962C8B-B14F-4D97-AF65-F5344CB8AC3E}">
        <p14:creationId xmlns:p14="http://schemas.microsoft.com/office/powerpoint/2010/main" val="2791955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矩形 3"/>
          <p:cNvSpPr/>
          <p:nvPr/>
        </p:nvSpPr>
        <p:spPr>
          <a:xfrm>
            <a:off x="539552" y="467961"/>
            <a:ext cx="7358062" cy="584775"/>
          </a:xfrm>
          <a:prstGeom prst="rect">
            <a:avLst/>
          </a:prstGeom>
        </p:spPr>
        <p:txBody>
          <a:bodyPr>
            <a:spAutoFit/>
          </a:bodyPr>
          <a:lstStyle/>
          <a:p>
            <a:pPr>
              <a:defRPr/>
            </a:pPr>
            <a:r>
              <a:rPr lang="zh-CN" altLang="en-US" sz="3200" b="1" kern="0" dirty="0">
                <a:latin typeface="宋体" panose="02010600030101010101" pitchFamily="2" charset="-122"/>
                <a:ea typeface="宋体" panose="02010600030101010101" pitchFamily="2" charset="-122"/>
              </a:rPr>
              <a:t>电磁场原理与电路原理的关系</a:t>
            </a:r>
            <a:endParaRPr lang="zh-CN" altLang="en-US" sz="2400" b="1" dirty="0">
              <a:latin typeface="宋体" panose="02010600030101010101" pitchFamily="2" charset="-122"/>
              <a:ea typeface="宋体" panose="02010600030101010101" pitchFamily="2" charset="-122"/>
            </a:endParaRPr>
          </a:p>
        </p:txBody>
      </p:sp>
      <p:sp>
        <p:nvSpPr>
          <p:cNvPr id="5" name="矩形 4"/>
          <p:cNvSpPr/>
          <p:nvPr/>
        </p:nvSpPr>
        <p:spPr>
          <a:xfrm>
            <a:off x="539552" y="1326257"/>
            <a:ext cx="7188186" cy="584775"/>
          </a:xfrm>
          <a:prstGeom prst="rect">
            <a:avLst/>
          </a:prstGeom>
        </p:spPr>
        <p:txBody>
          <a:bodyPr wrap="none">
            <a:spAutoFit/>
          </a:bodyPr>
          <a:lstStyle/>
          <a:p>
            <a:pPr>
              <a:buFontTx/>
              <a:buNone/>
              <a:defRPr/>
            </a:pPr>
            <a:r>
              <a:rPr lang="zh-CN" altLang="en-US" sz="3200" kern="0" dirty="0">
                <a:latin typeface="宋体" panose="02010600030101010101" pitchFamily="2" charset="-122"/>
                <a:ea typeface="宋体" panose="02010600030101010101" pitchFamily="2" charset="-122"/>
              </a:rPr>
              <a:t>电路原理从“路”的角度描述电磁现象</a:t>
            </a:r>
          </a:p>
        </p:txBody>
      </p:sp>
      <p:grpSp>
        <p:nvGrpSpPr>
          <p:cNvPr id="6" name="组合 11"/>
          <p:cNvGrpSpPr>
            <a:grpSpLocks/>
          </p:cNvGrpSpPr>
          <p:nvPr/>
        </p:nvGrpSpPr>
        <p:grpSpPr bwMode="auto">
          <a:xfrm>
            <a:off x="539552" y="2420888"/>
            <a:ext cx="8323778" cy="1071562"/>
            <a:chOff x="785786" y="4071942"/>
            <a:chExt cx="8324428" cy="1071570"/>
          </a:xfrm>
        </p:grpSpPr>
        <p:sp>
          <p:nvSpPr>
            <p:cNvPr id="7" name="矩形 6"/>
            <p:cNvSpPr/>
            <p:nvPr/>
          </p:nvSpPr>
          <p:spPr>
            <a:xfrm>
              <a:off x="785786" y="4357694"/>
              <a:ext cx="2954886" cy="461668"/>
            </a:xfrm>
            <a:prstGeom prst="rect">
              <a:avLst/>
            </a:prstGeom>
          </p:spPr>
          <p:txBody>
            <a:bodyPr wrap="none">
              <a:spAutoFit/>
            </a:bodyPr>
            <a:lstStyle/>
            <a:p>
              <a:pPr>
                <a:buFontTx/>
                <a:buNone/>
                <a:defRPr/>
              </a:pPr>
              <a:r>
                <a:rPr lang="zh-CN" altLang="en-US" sz="2400" kern="0" dirty="0">
                  <a:latin typeface="宋体" panose="02010600030101010101" pitchFamily="2" charset="-122"/>
                  <a:ea typeface="宋体" panose="02010600030101010101" pitchFamily="2" charset="-122"/>
                </a:rPr>
                <a:t>电路原理的分析方法</a:t>
              </a:r>
            </a:p>
          </p:txBody>
        </p:sp>
        <p:graphicFrame>
          <p:nvGraphicFramePr>
            <p:cNvPr id="8" name="Object 2"/>
            <p:cNvGraphicFramePr>
              <a:graphicFrameLocks noChangeAspect="1"/>
            </p:cNvGraphicFramePr>
            <p:nvPr/>
          </p:nvGraphicFramePr>
          <p:xfrm>
            <a:off x="3643306" y="4143380"/>
            <a:ext cx="571504" cy="1000132"/>
          </p:xfrm>
          <a:graphic>
            <a:graphicData uri="http://schemas.openxmlformats.org/presentationml/2006/ole">
              <mc:AlternateContent xmlns:mc="http://schemas.openxmlformats.org/markup-compatibility/2006">
                <mc:Choice xmlns:v="urn:schemas-microsoft-com:vml" Requires="v">
                  <p:oleObj name="Equation" r:id="rId2" imgW="164880" imgH="215640" progId="Equation.3">
                    <p:embed/>
                  </p:oleObj>
                </mc:Choice>
                <mc:Fallback>
                  <p:oleObj name="Equation" r:id="rId2" imgW="16488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3306" y="4143380"/>
                          <a:ext cx="571504" cy="1000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矩形 8"/>
            <p:cNvSpPr/>
            <p:nvPr/>
          </p:nvSpPr>
          <p:spPr>
            <a:xfrm>
              <a:off x="4000724" y="4071942"/>
              <a:ext cx="2646570" cy="461965"/>
            </a:xfrm>
            <a:prstGeom prst="rect">
              <a:avLst/>
            </a:prstGeom>
          </p:spPr>
          <p:txBody>
            <a:bodyPr wrap="none">
              <a:spAutoFit/>
            </a:bodyPr>
            <a:lstStyle/>
            <a:p>
              <a:pPr>
                <a:buFontTx/>
                <a:buNone/>
                <a:defRPr/>
              </a:pPr>
              <a:r>
                <a:rPr lang="zh-CN" altLang="en-US" sz="2400" kern="0" dirty="0">
                  <a:latin typeface="宋体" panose="02010600030101010101" pitchFamily="2" charset="-122"/>
                  <a:ea typeface="宋体" panose="02010600030101010101" pitchFamily="2" charset="-122"/>
                </a:rPr>
                <a:t>建立电路拓扑结构</a:t>
              </a:r>
            </a:p>
          </p:txBody>
        </p:sp>
        <p:sp>
          <p:nvSpPr>
            <p:cNvPr id="10" name="矩形 9"/>
            <p:cNvSpPr/>
            <p:nvPr/>
          </p:nvSpPr>
          <p:spPr>
            <a:xfrm>
              <a:off x="4000724" y="4643446"/>
              <a:ext cx="5109490" cy="461668"/>
            </a:xfrm>
            <a:prstGeom prst="rect">
              <a:avLst/>
            </a:prstGeom>
          </p:spPr>
          <p:txBody>
            <a:bodyPr wrap="none">
              <a:spAutoFit/>
            </a:bodyPr>
            <a:lstStyle/>
            <a:p>
              <a:pPr>
                <a:defRPr/>
              </a:pPr>
              <a:r>
                <a:rPr lang="zh-CN" altLang="en-US" sz="2400" kern="0" dirty="0">
                  <a:latin typeface="宋体" panose="02010600030101010101" pitchFamily="2" charset="-122"/>
                  <a:ea typeface="宋体" panose="02010600030101010101" pitchFamily="2" charset="-122"/>
                </a:rPr>
                <a:t>采用集总参数模型：电阻 电容</a:t>
              </a:r>
              <a:r>
                <a:rPr lang="en-US" altLang="zh-CN" sz="2400" kern="0" dirty="0">
                  <a:latin typeface="宋体" panose="02010600030101010101" pitchFamily="2" charset="-122"/>
                  <a:ea typeface="宋体" panose="02010600030101010101" pitchFamily="2" charset="-122"/>
                </a:rPr>
                <a:t> </a:t>
              </a:r>
              <a:r>
                <a:rPr lang="zh-CN" altLang="en-US" sz="2400" kern="0" dirty="0">
                  <a:latin typeface="宋体" panose="02010600030101010101" pitchFamily="2" charset="-122"/>
                  <a:ea typeface="宋体" panose="02010600030101010101" pitchFamily="2" charset="-122"/>
                </a:rPr>
                <a:t>电感</a:t>
              </a:r>
            </a:p>
          </p:txBody>
        </p:sp>
      </p:grpSp>
      <p:sp>
        <p:nvSpPr>
          <p:cNvPr id="11" name="矩形 10"/>
          <p:cNvSpPr/>
          <p:nvPr/>
        </p:nvSpPr>
        <p:spPr>
          <a:xfrm>
            <a:off x="539552" y="4119165"/>
            <a:ext cx="6750566" cy="584775"/>
          </a:xfrm>
          <a:prstGeom prst="rect">
            <a:avLst/>
          </a:prstGeom>
        </p:spPr>
        <p:txBody>
          <a:bodyPr wrap="none">
            <a:spAutoFit/>
          </a:bodyPr>
          <a:lstStyle/>
          <a:p>
            <a:pPr>
              <a:buFontTx/>
              <a:buNone/>
              <a:defRPr/>
            </a:pPr>
            <a:r>
              <a:rPr lang="zh-CN" altLang="en-US" sz="3200" kern="0" dirty="0">
                <a:latin typeface="宋体" panose="02010600030101010101" pitchFamily="2" charset="-122"/>
                <a:ea typeface="宋体" panose="02010600030101010101" pitchFamily="2" charset="-122"/>
              </a:rPr>
              <a:t>电路原理关心的物理量：电流，电压</a:t>
            </a:r>
          </a:p>
        </p:txBody>
      </p:sp>
    </p:spTree>
    <p:extLst>
      <p:ext uri="{BB962C8B-B14F-4D97-AF65-F5344CB8AC3E}">
        <p14:creationId xmlns:p14="http://schemas.microsoft.com/office/powerpoint/2010/main" val="2292531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矩形 3"/>
          <p:cNvSpPr/>
          <p:nvPr/>
        </p:nvSpPr>
        <p:spPr>
          <a:xfrm>
            <a:off x="642938" y="400595"/>
            <a:ext cx="7571303" cy="584775"/>
          </a:xfrm>
          <a:prstGeom prst="rect">
            <a:avLst/>
          </a:prstGeom>
        </p:spPr>
        <p:txBody>
          <a:bodyPr wrap="none">
            <a:spAutoFit/>
          </a:bodyPr>
          <a:lstStyle/>
          <a:p>
            <a:pPr>
              <a:buFontTx/>
              <a:buNone/>
              <a:defRPr/>
            </a:pPr>
            <a:r>
              <a:rPr lang="zh-CN" altLang="en-US" sz="3200" kern="0" dirty="0">
                <a:latin typeface="宋体" panose="02010600030101010101" pitchFamily="2" charset="-122"/>
                <a:ea typeface="宋体" panose="02010600030101010101" pitchFamily="2" charset="-122"/>
              </a:rPr>
              <a:t>电磁场原理从“场”的角度描述电磁现象</a:t>
            </a:r>
            <a:endParaRPr lang="zh-CN" altLang="en-US" sz="3200" dirty="0">
              <a:latin typeface="宋体" panose="02010600030101010101" pitchFamily="2" charset="-122"/>
              <a:ea typeface="宋体" panose="02010600030101010101" pitchFamily="2" charset="-122"/>
            </a:endParaRPr>
          </a:p>
        </p:txBody>
      </p:sp>
      <p:grpSp>
        <p:nvGrpSpPr>
          <p:cNvPr id="5" name="组合 19"/>
          <p:cNvGrpSpPr>
            <a:grpSpLocks/>
          </p:cNvGrpSpPr>
          <p:nvPr/>
        </p:nvGrpSpPr>
        <p:grpSpPr bwMode="auto">
          <a:xfrm>
            <a:off x="1643063" y="1474440"/>
            <a:ext cx="2160587" cy="2267366"/>
            <a:chOff x="1643063" y="1928813"/>
            <a:chExt cx="2160587" cy="2267366"/>
          </a:xfrm>
        </p:grpSpPr>
        <p:pic>
          <p:nvPicPr>
            <p:cNvPr id="6" name="Picture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063" y="1928813"/>
              <a:ext cx="216058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1676579" y="3857625"/>
              <a:ext cx="2031325" cy="338554"/>
            </a:xfrm>
            <a:prstGeom prst="rect">
              <a:avLst/>
            </a:prstGeom>
          </p:spPr>
          <p:txBody>
            <a:bodyPr wrap="none">
              <a:spAutoFit/>
            </a:bodyPr>
            <a:lstStyle/>
            <a:p>
              <a:pPr>
                <a:buFontTx/>
                <a:buNone/>
                <a:defRPr/>
              </a:pPr>
              <a:r>
                <a:rPr lang="zh-CN" altLang="en-US" sz="1600" kern="0" dirty="0">
                  <a:latin typeface="宋体" panose="02010600030101010101" pitchFamily="2" charset="-122"/>
                  <a:ea typeface="宋体" panose="02010600030101010101" pitchFamily="2" charset="-122"/>
                </a:rPr>
                <a:t>平板电容器电场分布</a:t>
              </a:r>
            </a:p>
          </p:txBody>
        </p:sp>
      </p:grpSp>
      <p:grpSp>
        <p:nvGrpSpPr>
          <p:cNvPr id="8" name="组合 20"/>
          <p:cNvGrpSpPr>
            <a:grpSpLocks/>
          </p:cNvGrpSpPr>
          <p:nvPr/>
        </p:nvGrpSpPr>
        <p:grpSpPr bwMode="auto">
          <a:xfrm>
            <a:off x="4786313" y="1474440"/>
            <a:ext cx="2160587" cy="2267366"/>
            <a:chOff x="4786313" y="1928813"/>
            <a:chExt cx="2160587" cy="2267366"/>
          </a:xfrm>
        </p:grpSpPr>
        <p:pic>
          <p:nvPicPr>
            <p:cNvPr id="9"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6313" y="1928813"/>
              <a:ext cx="216058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5072063" y="3857625"/>
              <a:ext cx="1620957" cy="338554"/>
            </a:xfrm>
            <a:prstGeom prst="rect">
              <a:avLst/>
            </a:prstGeom>
          </p:spPr>
          <p:txBody>
            <a:bodyPr wrap="none">
              <a:spAutoFit/>
            </a:bodyPr>
            <a:lstStyle/>
            <a:p>
              <a:pPr>
                <a:buFontTx/>
                <a:buNone/>
                <a:defRPr/>
              </a:pPr>
              <a:r>
                <a:rPr lang="zh-CN" altLang="en-US" sz="1600" kern="0" dirty="0">
                  <a:latin typeface="宋体" panose="02010600030101010101" pitchFamily="2" charset="-122"/>
                  <a:ea typeface="宋体" panose="02010600030101010101" pitchFamily="2" charset="-122"/>
                </a:rPr>
                <a:t>螺线管磁场分布</a:t>
              </a:r>
            </a:p>
          </p:txBody>
        </p:sp>
      </p:grpSp>
      <p:grpSp>
        <p:nvGrpSpPr>
          <p:cNvPr id="11" name="组合 19"/>
          <p:cNvGrpSpPr>
            <a:grpSpLocks/>
          </p:cNvGrpSpPr>
          <p:nvPr/>
        </p:nvGrpSpPr>
        <p:grpSpPr bwMode="auto">
          <a:xfrm>
            <a:off x="214313" y="4046190"/>
            <a:ext cx="6938962" cy="940832"/>
            <a:chOff x="214282" y="4500570"/>
            <a:chExt cx="6938523" cy="940894"/>
          </a:xfrm>
        </p:grpSpPr>
        <p:sp>
          <p:nvSpPr>
            <p:cNvPr id="12" name="矩形 11"/>
            <p:cNvSpPr/>
            <p:nvPr/>
          </p:nvSpPr>
          <p:spPr>
            <a:xfrm>
              <a:off x="2714436" y="4500570"/>
              <a:ext cx="1415960" cy="461992"/>
            </a:xfrm>
            <a:prstGeom prst="rect">
              <a:avLst/>
            </a:prstGeom>
          </p:spPr>
          <p:txBody>
            <a:bodyPr wrap="none">
              <a:spAutoFit/>
            </a:bodyPr>
            <a:lstStyle/>
            <a:p>
              <a:pPr>
                <a:buFontTx/>
                <a:buNone/>
                <a:defRPr/>
              </a:pPr>
              <a:r>
                <a:rPr lang="zh-CN" altLang="en-US" sz="2400" kern="0" dirty="0">
                  <a:solidFill>
                    <a:srgbClr val="FF0000"/>
                  </a:solidFill>
                  <a:latin typeface="宋体" panose="02010600030101010101" pitchFamily="2" charset="-122"/>
                  <a:ea typeface="宋体" panose="02010600030101010101" pitchFamily="2" charset="-122"/>
                </a:rPr>
                <a:t>电路原理</a:t>
              </a:r>
              <a:endParaRPr lang="zh-CN" altLang="en-US" dirty="0">
                <a:solidFill>
                  <a:srgbClr val="FF0000"/>
                </a:solidFill>
                <a:latin typeface="宋体" panose="02010600030101010101" pitchFamily="2" charset="-122"/>
                <a:ea typeface="宋体" panose="02010600030101010101" pitchFamily="2" charset="-122"/>
              </a:endParaRPr>
            </a:p>
          </p:txBody>
        </p:sp>
        <p:sp>
          <p:nvSpPr>
            <p:cNvPr id="13" name="矩形 12"/>
            <p:cNvSpPr/>
            <p:nvPr/>
          </p:nvSpPr>
          <p:spPr>
            <a:xfrm>
              <a:off x="5428889" y="4500570"/>
              <a:ext cx="1723916" cy="461992"/>
            </a:xfrm>
            <a:prstGeom prst="rect">
              <a:avLst/>
            </a:prstGeom>
          </p:spPr>
          <p:txBody>
            <a:bodyPr wrap="none">
              <a:spAutoFit/>
            </a:bodyPr>
            <a:lstStyle/>
            <a:p>
              <a:pPr>
                <a:buFontTx/>
                <a:buNone/>
                <a:defRPr/>
              </a:pPr>
              <a:r>
                <a:rPr lang="zh-CN" altLang="en-US" sz="2400" kern="0" dirty="0">
                  <a:solidFill>
                    <a:srgbClr val="FF0000"/>
                  </a:solidFill>
                  <a:latin typeface="宋体" panose="02010600030101010101" pitchFamily="2" charset="-122"/>
                  <a:ea typeface="宋体" panose="02010600030101010101" pitchFamily="2" charset="-122"/>
                </a:rPr>
                <a:t>电磁场原理</a:t>
              </a:r>
            </a:p>
          </p:txBody>
        </p:sp>
        <p:sp>
          <p:nvSpPr>
            <p:cNvPr id="14" name="矩形 13"/>
            <p:cNvSpPr/>
            <p:nvPr/>
          </p:nvSpPr>
          <p:spPr>
            <a:xfrm>
              <a:off x="214282" y="5072108"/>
              <a:ext cx="1800379" cy="369356"/>
            </a:xfrm>
            <a:prstGeom prst="rect">
              <a:avLst/>
            </a:prstGeom>
          </p:spPr>
          <p:txBody>
            <a:bodyPr wrap="none">
              <a:spAutoFit/>
            </a:bodyPr>
            <a:lstStyle/>
            <a:p>
              <a:pPr>
                <a:buFontTx/>
                <a:buNone/>
                <a:defRPr/>
              </a:pPr>
              <a:r>
                <a:rPr lang="zh-CN" altLang="en-US" b="1" kern="0" dirty="0">
                  <a:latin typeface="宋体" panose="02010600030101010101" pitchFamily="2" charset="-122"/>
                  <a:ea typeface="宋体" panose="02010600030101010101" pitchFamily="2" charset="-122"/>
                </a:rPr>
                <a:t>分析问题的角度</a:t>
              </a:r>
            </a:p>
          </p:txBody>
        </p:sp>
        <p:sp>
          <p:nvSpPr>
            <p:cNvPr id="15" name="矩形 14"/>
            <p:cNvSpPr/>
            <p:nvPr/>
          </p:nvSpPr>
          <p:spPr>
            <a:xfrm>
              <a:off x="3071601" y="5072108"/>
              <a:ext cx="649496" cy="369356"/>
            </a:xfrm>
            <a:prstGeom prst="rect">
              <a:avLst/>
            </a:prstGeom>
          </p:spPr>
          <p:txBody>
            <a:bodyPr wrap="none">
              <a:spAutoFit/>
            </a:bodyPr>
            <a:lstStyle/>
            <a:p>
              <a:pPr>
                <a:buFontTx/>
                <a:buNone/>
                <a:defRPr/>
              </a:pPr>
              <a:r>
                <a:rPr lang="zh-CN" altLang="en-US" kern="0" dirty="0">
                  <a:latin typeface="宋体" panose="02010600030101010101" pitchFamily="2" charset="-122"/>
                  <a:ea typeface="宋体" panose="02010600030101010101" pitchFamily="2" charset="-122"/>
                </a:rPr>
                <a:t>宏观</a:t>
              </a:r>
            </a:p>
          </p:txBody>
        </p:sp>
        <p:sp>
          <p:nvSpPr>
            <p:cNvPr id="16" name="矩形 15"/>
            <p:cNvSpPr/>
            <p:nvPr/>
          </p:nvSpPr>
          <p:spPr>
            <a:xfrm>
              <a:off x="5928920" y="5072108"/>
              <a:ext cx="646290" cy="369356"/>
            </a:xfrm>
            <a:prstGeom prst="rect">
              <a:avLst/>
            </a:prstGeom>
          </p:spPr>
          <p:txBody>
            <a:bodyPr wrap="none">
              <a:spAutoFit/>
            </a:bodyPr>
            <a:lstStyle/>
            <a:p>
              <a:pPr>
                <a:defRPr/>
              </a:pPr>
              <a:r>
                <a:rPr lang="zh-CN" altLang="en-US" kern="0" dirty="0">
                  <a:latin typeface="宋体" panose="02010600030101010101" pitchFamily="2" charset="-122"/>
                  <a:ea typeface="宋体" panose="02010600030101010101" pitchFamily="2" charset="-122"/>
                </a:rPr>
                <a:t>微观</a:t>
              </a:r>
            </a:p>
          </p:txBody>
        </p:sp>
      </p:grpSp>
      <p:grpSp>
        <p:nvGrpSpPr>
          <p:cNvPr id="17" name="组合 20"/>
          <p:cNvGrpSpPr>
            <a:grpSpLocks/>
          </p:cNvGrpSpPr>
          <p:nvPr/>
        </p:nvGrpSpPr>
        <p:grpSpPr bwMode="auto">
          <a:xfrm>
            <a:off x="285750" y="5189187"/>
            <a:ext cx="8345508" cy="369332"/>
            <a:chOff x="285720" y="5643578"/>
            <a:chExt cx="8345034" cy="369443"/>
          </a:xfrm>
        </p:grpSpPr>
        <p:sp>
          <p:nvSpPr>
            <p:cNvPr id="18" name="矩形 17"/>
            <p:cNvSpPr/>
            <p:nvPr/>
          </p:nvSpPr>
          <p:spPr>
            <a:xfrm>
              <a:off x="285720" y="5643578"/>
              <a:ext cx="1114345" cy="369443"/>
            </a:xfrm>
            <a:prstGeom prst="rect">
              <a:avLst/>
            </a:prstGeom>
          </p:spPr>
          <p:txBody>
            <a:bodyPr wrap="none">
              <a:spAutoFit/>
            </a:bodyPr>
            <a:lstStyle/>
            <a:p>
              <a:pPr>
                <a:defRPr/>
              </a:pPr>
              <a:r>
                <a:rPr lang="zh-CN" altLang="en-US" b="1" kern="0" dirty="0">
                  <a:latin typeface="宋体" panose="02010600030101010101" pitchFamily="2" charset="-122"/>
                  <a:ea typeface="宋体" panose="02010600030101010101" pitchFamily="2" charset="-122"/>
                </a:rPr>
                <a:t>研究对象</a:t>
              </a:r>
            </a:p>
          </p:txBody>
        </p:sp>
        <p:sp>
          <p:nvSpPr>
            <p:cNvPr id="19" name="矩形 18"/>
            <p:cNvSpPr/>
            <p:nvPr/>
          </p:nvSpPr>
          <p:spPr>
            <a:xfrm>
              <a:off x="2142990" y="5643578"/>
              <a:ext cx="2508878" cy="369443"/>
            </a:xfrm>
            <a:prstGeom prst="rect">
              <a:avLst/>
            </a:prstGeom>
          </p:spPr>
          <p:txBody>
            <a:bodyPr wrap="none">
              <a:spAutoFit/>
            </a:bodyPr>
            <a:lstStyle/>
            <a:p>
              <a:pPr>
                <a:defRPr/>
              </a:pPr>
              <a:r>
                <a:rPr lang="zh-CN" altLang="en-US" kern="0" dirty="0">
                  <a:latin typeface="宋体" panose="02010600030101010101" pitchFamily="2" charset="-122"/>
                  <a:ea typeface="宋体" panose="02010600030101010101" pitchFamily="2" charset="-122"/>
                </a:rPr>
                <a:t>电路中的电流电压分布</a:t>
              </a:r>
            </a:p>
          </p:txBody>
        </p:sp>
        <p:sp>
          <p:nvSpPr>
            <p:cNvPr id="20" name="矩形 19"/>
            <p:cNvSpPr/>
            <p:nvPr/>
          </p:nvSpPr>
          <p:spPr>
            <a:xfrm>
              <a:off x="5214628" y="5643578"/>
              <a:ext cx="3416126" cy="369443"/>
            </a:xfrm>
            <a:prstGeom prst="rect">
              <a:avLst/>
            </a:prstGeom>
          </p:spPr>
          <p:txBody>
            <a:bodyPr wrap="none">
              <a:spAutoFit/>
            </a:bodyPr>
            <a:lstStyle/>
            <a:p>
              <a:pPr>
                <a:buFontTx/>
                <a:buNone/>
                <a:defRPr/>
              </a:pPr>
              <a:r>
                <a:rPr lang="zh-CN" altLang="en-US" kern="0" dirty="0">
                  <a:latin typeface="宋体" panose="02010600030101010101" pitchFamily="2" charset="-122"/>
                  <a:ea typeface="宋体" panose="02010600030101010101" pitchFamily="2" charset="-122"/>
                </a:rPr>
                <a:t>空间每一点电场磁场场量的分布</a:t>
              </a:r>
            </a:p>
          </p:txBody>
        </p:sp>
      </p:grpSp>
    </p:spTree>
    <p:extLst>
      <p:ext uri="{BB962C8B-B14F-4D97-AF65-F5344CB8AC3E}">
        <p14:creationId xmlns:p14="http://schemas.microsoft.com/office/powerpoint/2010/main" val="3879198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为何学习这么课程 ？</a:t>
            </a:r>
          </a:p>
        </p:txBody>
      </p:sp>
      <p:sp>
        <p:nvSpPr>
          <p:cNvPr id="3" name="内容占位符 2"/>
          <p:cNvSpPr>
            <a:spLocks noGrp="1"/>
          </p:cNvSpPr>
          <p:nvPr>
            <p:ph idx="1"/>
          </p:nvPr>
        </p:nvSpPr>
        <p:spPr/>
        <p:txBody>
          <a:bodyPr/>
          <a:lstStyle/>
          <a:p>
            <a:pPr marL="0" indent="0">
              <a:buNone/>
            </a:pPr>
            <a:r>
              <a:rPr lang="en-US" altLang="zh-CN" dirty="0"/>
              <a:t>1. </a:t>
            </a:r>
            <a:r>
              <a:rPr lang="zh-CN" altLang="en-US" dirty="0"/>
              <a:t>培养理性思维与思考（</a:t>
            </a:r>
            <a:r>
              <a:rPr lang="zh-CN" altLang="en-US" b="1" dirty="0">
                <a:solidFill>
                  <a:srgbClr val="FF0000"/>
                </a:solidFill>
              </a:rPr>
              <a:t>场的角度</a:t>
            </a:r>
            <a:r>
              <a:rPr lang="zh-CN" altLang="en-US" dirty="0"/>
              <a:t>）</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1960" y="2277112"/>
            <a:ext cx="3240000" cy="2160000"/>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6056" y="2277112"/>
            <a:ext cx="3252135" cy="2160000"/>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960" y="4643075"/>
            <a:ext cx="3314057" cy="2160000"/>
          </a:xfrm>
          <a:prstGeom prst="rect">
            <a:avLst/>
          </a:prstGeom>
        </p:spPr>
      </p:pic>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76056" y="4653376"/>
            <a:ext cx="2873571" cy="2160000"/>
          </a:xfrm>
          <a:prstGeom prst="rect">
            <a:avLst/>
          </a:prstGeom>
        </p:spPr>
      </p:pic>
    </p:spTree>
    <p:extLst>
      <p:ext uri="{BB962C8B-B14F-4D97-AF65-F5344CB8AC3E}">
        <p14:creationId xmlns:p14="http://schemas.microsoft.com/office/powerpoint/2010/main" val="2632795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标题 1"/>
          <p:cNvSpPr>
            <a:spLocks noGrp="1"/>
          </p:cNvSpPr>
          <p:nvPr>
            <p:ph type="title"/>
          </p:nvPr>
        </p:nvSpPr>
        <p:spPr>
          <a:xfrm>
            <a:off x="457200" y="274638"/>
            <a:ext cx="8229600" cy="1143000"/>
          </a:xfrm>
        </p:spPr>
        <p:txBody>
          <a:bodyPr/>
          <a:lstStyle/>
          <a:p>
            <a:pPr algn="l"/>
            <a:r>
              <a:rPr lang="zh-CN" altLang="en-US" dirty="0"/>
              <a:t>为何学习这么课程 ？</a:t>
            </a:r>
          </a:p>
        </p:txBody>
      </p:sp>
      <p:sp>
        <p:nvSpPr>
          <p:cNvPr id="5" name="内容占位符 2"/>
          <p:cNvSpPr>
            <a:spLocks noGrp="1"/>
          </p:cNvSpPr>
          <p:nvPr>
            <p:ph idx="1"/>
          </p:nvPr>
        </p:nvSpPr>
        <p:spPr>
          <a:xfrm>
            <a:off x="457200" y="1600200"/>
            <a:ext cx="8229600" cy="4525963"/>
          </a:xfrm>
        </p:spPr>
        <p:txBody>
          <a:bodyPr/>
          <a:lstStyle/>
          <a:p>
            <a:pPr marL="0" indent="0">
              <a:buNone/>
            </a:pPr>
            <a:r>
              <a:rPr lang="en-US" altLang="zh-CN" dirty="0"/>
              <a:t>2. </a:t>
            </a:r>
            <a:r>
              <a:rPr lang="zh-CN" altLang="en-US" dirty="0"/>
              <a:t>真正理解（电气工程）电与磁现象</a:t>
            </a:r>
            <a:endParaRPr lang="en-US" altLang="zh-CN" dirty="0"/>
          </a:p>
          <a:p>
            <a:pPr marL="711200" indent="-347663"/>
            <a:r>
              <a:rPr lang="zh-CN" altLang="en-US" dirty="0"/>
              <a:t>人造电能从何而来 ？（发电机）</a:t>
            </a:r>
            <a:endParaRPr lang="en-US" altLang="zh-CN" dirty="0"/>
          </a:p>
          <a:p>
            <a:pPr marL="711200" indent="-347663"/>
            <a:r>
              <a:rPr lang="zh-CN" altLang="en-US" dirty="0"/>
              <a:t>电能如何传输 （导体的作用）</a:t>
            </a:r>
            <a:r>
              <a:rPr lang="en-US" altLang="zh-CN" dirty="0"/>
              <a:t>?</a:t>
            </a:r>
          </a:p>
          <a:p>
            <a:pPr marL="711200" indent="-347663"/>
            <a:r>
              <a:rPr lang="zh-CN" altLang="en-US" dirty="0"/>
              <a:t>电磁兼容，电磁波。。。</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085" y="4373147"/>
            <a:ext cx="4556963" cy="2160000"/>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2080" y="4373147"/>
            <a:ext cx="3584540" cy="2160000"/>
          </a:xfrm>
          <a:prstGeom prst="rect">
            <a:avLst/>
          </a:prstGeom>
        </p:spPr>
      </p:pic>
    </p:spTree>
    <p:extLst>
      <p:ext uri="{BB962C8B-B14F-4D97-AF65-F5344CB8AC3E}">
        <p14:creationId xmlns:p14="http://schemas.microsoft.com/office/powerpoint/2010/main" val="1899888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dirty="0"/>
              <a:t>1785</a:t>
            </a:r>
            <a:r>
              <a:rPr lang="zh-CN" altLang="en-US" dirty="0"/>
              <a:t>年，库仑定律</a:t>
            </a:r>
            <a:endParaRPr lang="en-US" dirty="0"/>
          </a:p>
        </p:txBody>
      </p:sp>
      <p:sp>
        <p:nvSpPr>
          <p:cNvPr id="5" name="标题 1"/>
          <p:cNvSpPr txBox="1">
            <a:spLocks/>
          </p:cNvSpPr>
          <p:nvPr/>
        </p:nvSpPr>
        <p:spPr>
          <a:xfrm>
            <a:off x="446856" y="1205880"/>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a:t>1</a:t>
            </a:r>
            <a:r>
              <a:rPr lang="en-US" altLang="zh-CN" dirty="0"/>
              <a:t>820</a:t>
            </a:r>
            <a:r>
              <a:rPr lang="zh-CN" altLang="en-US" dirty="0"/>
              <a:t>年，奥斯特发现电流的磁效应</a:t>
            </a:r>
            <a:endParaRPr lang="en-US" dirty="0"/>
          </a:p>
        </p:txBody>
      </p:sp>
      <p:sp>
        <p:nvSpPr>
          <p:cNvPr id="6" name="标题 1"/>
          <p:cNvSpPr txBox="1">
            <a:spLocks/>
          </p:cNvSpPr>
          <p:nvPr/>
        </p:nvSpPr>
        <p:spPr>
          <a:xfrm>
            <a:off x="446856" y="2430016"/>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dirty="0"/>
              <a:t>1825</a:t>
            </a:r>
            <a:r>
              <a:rPr lang="zh-CN" altLang="en-US" dirty="0"/>
              <a:t>年，安培力定律</a:t>
            </a:r>
            <a:r>
              <a:rPr lang="en-US" altLang="zh-CN" dirty="0"/>
              <a:t>-</a:t>
            </a:r>
            <a:r>
              <a:rPr lang="zh-CN" altLang="en-US" dirty="0"/>
              <a:t>两载流导线相互受力</a:t>
            </a:r>
            <a:endParaRPr lang="en-US" dirty="0"/>
          </a:p>
        </p:txBody>
      </p:sp>
      <p:sp>
        <p:nvSpPr>
          <p:cNvPr id="7" name="标题 1"/>
          <p:cNvSpPr txBox="1">
            <a:spLocks/>
          </p:cNvSpPr>
          <p:nvPr/>
        </p:nvSpPr>
        <p:spPr>
          <a:xfrm>
            <a:off x="446856" y="3510136"/>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a:t>1</a:t>
            </a:r>
            <a:r>
              <a:rPr lang="en-US" altLang="zh-CN" dirty="0"/>
              <a:t>831</a:t>
            </a:r>
            <a:r>
              <a:rPr lang="zh-CN" altLang="en-US" dirty="0"/>
              <a:t>年，法拉第电磁感应定律</a:t>
            </a:r>
            <a:endParaRPr lang="en-US" dirty="0"/>
          </a:p>
        </p:txBody>
      </p:sp>
      <p:sp>
        <p:nvSpPr>
          <p:cNvPr id="8" name="标题 1"/>
          <p:cNvSpPr txBox="1">
            <a:spLocks/>
          </p:cNvSpPr>
          <p:nvPr/>
        </p:nvSpPr>
        <p:spPr>
          <a:xfrm>
            <a:off x="441428" y="4653136"/>
            <a:ext cx="858964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a:t>1</a:t>
            </a:r>
            <a:r>
              <a:rPr lang="en-US" altLang="zh-CN" dirty="0"/>
              <a:t>864</a:t>
            </a:r>
            <a:r>
              <a:rPr lang="zh-CN" altLang="en-US" dirty="0"/>
              <a:t>年，麦克斯韦理论统一电磁关系</a:t>
            </a:r>
            <a:endParaRPr lang="en-US" dirty="0"/>
          </a:p>
        </p:txBody>
      </p:sp>
      <p:sp>
        <p:nvSpPr>
          <p:cNvPr id="9" name="标题 1"/>
          <p:cNvSpPr txBox="1">
            <a:spLocks/>
          </p:cNvSpPr>
          <p:nvPr/>
        </p:nvSpPr>
        <p:spPr>
          <a:xfrm>
            <a:off x="446856" y="5670376"/>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a:t>1</a:t>
            </a:r>
            <a:r>
              <a:rPr lang="en-US" altLang="zh-CN" dirty="0"/>
              <a:t>888</a:t>
            </a:r>
            <a:r>
              <a:rPr lang="zh-CN" altLang="en-US" dirty="0"/>
              <a:t>年，赫兹产生并接收电磁波</a:t>
            </a:r>
            <a:endParaRPr lang="en-US" dirty="0"/>
          </a:p>
        </p:txBody>
      </p:sp>
    </p:spTree>
    <p:extLst>
      <p:ext uri="{BB962C8B-B14F-4D97-AF65-F5344CB8AC3E}">
        <p14:creationId xmlns:p14="http://schemas.microsoft.com/office/powerpoint/2010/main" val="3418291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Vertic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arn(inVertic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b="1" dirty="0"/>
              <a:t>几点建议</a:t>
            </a:r>
          </a:p>
        </p:txBody>
      </p:sp>
      <p:sp>
        <p:nvSpPr>
          <p:cNvPr id="3" name="内容占位符 2"/>
          <p:cNvSpPr>
            <a:spLocks noGrp="1"/>
          </p:cNvSpPr>
          <p:nvPr>
            <p:ph idx="1"/>
          </p:nvPr>
        </p:nvSpPr>
        <p:spPr>
          <a:xfrm>
            <a:off x="457200" y="1556792"/>
            <a:ext cx="8229600" cy="4248472"/>
          </a:xfrm>
        </p:spPr>
        <p:txBody>
          <a:bodyPr>
            <a:normAutofit/>
          </a:bodyPr>
          <a:lstStyle/>
          <a:p>
            <a:pPr marL="514350" indent="-514350">
              <a:spcBef>
                <a:spcPts val="1800"/>
              </a:spcBef>
              <a:buAutoNum type="arabicPeriod"/>
            </a:pPr>
            <a:r>
              <a:rPr lang="zh-CN" altLang="en-US" dirty="0">
                <a:latin typeface="Adobe 楷体 Std R" panose="02020400000000000000" pitchFamily="18" charset="-122"/>
                <a:ea typeface="Adobe 楷体 Std R" panose="02020400000000000000" pitchFamily="18" charset="-122"/>
              </a:rPr>
              <a:t>良好的数学基础（微积分）；</a:t>
            </a:r>
            <a:endParaRPr lang="en-US" altLang="zh-CN" dirty="0">
              <a:latin typeface="Adobe 楷体 Std R" panose="02020400000000000000" pitchFamily="18" charset="-122"/>
              <a:ea typeface="Adobe 楷体 Std R" panose="02020400000000000000" pitchFamily="18" charset="-122"/>
            </a:endParaRPr>
          </a:p>
          <a:p>
            <a:pPr marL="514350" indent="-514350">
              <a:spcBef>
                <a:spcPts val="1800"/>
              </a:spcBef>
              <a:buAutoNum type="arabicPeriod"/>
            </a:pPr>
            <a:r>
              <a:rPr lang="zh-CN" altLang="en-US" dirty="0">
                <a:latin typeface="Adobe 楷体 Std R" panose="02020400000000000000" pitchFamily="18" charset="-122"/>
                <a:ea typeface="Adobe 楷体 Std R" panose="02020400000000000000" pitchFamily="18" charset="-122"/>
              </a:rPr>
              <a:t>针对具体问题，</a:t>
            </a:r>
            <a:r>
              <a:rPr lang="zh-CN" altLang="en-US" dirty="0">
                <a:solidFill>
                  <a:srgbClr val="FF0000"/>
                </a:solidFill>
                <a:latin typeface="Adobe 楷体 Std R" panose="02020400000000000000" pitchFamily="18" charset="-122"/>
                <a:ea typeface="Adobe 楷体 Std R" panose="02020400000000000000" pitchFamily="18" charset="-122"/>
              </a:rPr>
              <a:t>塑造物理图像</a:t>
            </a:r>
            <a:r>
              <a:rPr lang="zh-CN" altLang="en-US" dirty="0">
                <a:latin typeface="Adobe 楷体 Std R" panose="02020400000000000000" pitchFamily="18" charset="-122"/>
                <a:ea typeface="Adobe 楷体 Std R" panose="02020400000000000000" pitchFamily="18" charset="-122"/>
              </a:rPr>
              <a:t>；</a:t>
            </a:r>
            <a:endParaRPr lang="en-US" altLang="zh-CN" dirty="0">
              <a:latin typeface="Adobe 楷体 Std R" panose="02020400000000000000" pitchFamily="18" charset="-122"/>
              <a:ea typeface="Adobe 楷体 Std R" panose="02020400000000000000" pitchFamily="18" charset="-122"/>
            </a:endParaRPr>
          </a:p>
          <a:p>
            <a:pPr marL="514350" indent="-514350">
              <a:spcBef>
                <a:spcPts val="1800"/>
              </a:spcBef>
              <a:buAutoNum type="arabicPeriod"/>
            </a:pPr>
            <a:r>
              <a:rPr lang="zh-CN" altLang="en-US" dirty="0">
                <a:solidFill>
                  <a:srgbClr val="FF0000"/>
                </a:solidFill>
                <a:latin typeface="Adobe 楷体 Std R" panose="02020400000000000000" pitchFamily="18" charset="-122"/>
                <a:ea typeface="Adobe 楷体 Std R" panose="02020400000000000000" pitchFamily="18" charset="-122"/>
              </a:rPr>
              <a:t>课前预习 </a:t>
            </a:r>
            <a:r>
              <a:rPr lang="en-US" altLang="zh-CN" dirty="0">
                <a:solidFill>
                  <a:srgbClr val="FF0000"/>
                </a:solidFill>
                <a:latin typeface="Adobe 楷体 Std R" panose="02020400000000000000" pitchFamily="18" charset="-122"/>
                <a:ea typeface="Adobe 楷体 Std R" panose="02020400000000000000" pitchFamily="18" charset="-122"/>
              </a:rPr>
              <a:t>+ </a:t>
            </a:r>
            <a:r>
              <a:rPr lang="zh-CN" altLang="en-US" dirty="0">
                <a:solidFill>
                  <a:srgbClr val="FF0000"/>
                </a:solidFill>
                <a:latin typeface="Adobe 楷体 Std R" panose="02020400000000000000" pitchFamily="18" charset="-122"/>
                <a:ea typeface="Adobe 楷体 Std R" panose="02020400000000000000" pitchFamily="18" charset="-122"/>
              </a:rPr>
              <a:t>勤练题</a:t>
            </a:r>
            <a:r>
              <a:rPr lang="zh-CN" altLang="en-US" dirty="0">
                <a:latin typeface="Adobe 楷体 Std R" panose="02020400000000000000" pitchFamily="18" charset="-122"/>
                <a:ea typeface="Adobe 楷体 Std R" panose="02020400000000000000" pitchFamily="18" charset="-122"/>
              </a:rPr>
              <a:t>（课本</a:t>
            </a:r>
            <a:r>
              <a:rPr lang="en-US" altLang="zh-CN" dirty="0">
                <a:latin typeface="Adobe 楷体 Std R" panose="02020400000000000000" pitchFamily="18" charset="-122"/>
                <a:ea typeface="Adobe 楷体 Std R" panose="02020400000000000000" pitchFamily="18" charset="-122"/>
              </a:rPr>
              <a:t>+</a:t>
            </a:r>
            <a:r>
              <a:rPr lang="zh-CN" altLang="en-US" dirty="0">
                <a:latin typeface="Adobe 楷体 Std R" panose="02020400000000000000" pitchFamily="18" charset="-122"/>
                <a:ea typeface="Adobe 楷体 Std R" panose="02020400000000000000" pitchFamily="18" charset="-122"/>
              </a:rPr>
              <a:t>参考书）；</a:t>
            </a:r>
            <a:endParaRPr lang="en-US" altLang="zh-CN" dirty="0">
              <a:latin typeface="Adobe 楷体 Std R" panose="02020400000000000000" pitchFamily="18" charset="-122"/>
              <a:ea typeface="Adobe 楷体 Std R" panose="02020400000000000000" pitchFamily="18" charset="-122"/>
            </a:endParaRPr>
          </a:p>
          <a:p>
            <a:pPr marL="514350" indent="-514350">
              <a:spcBef>
                <a:spcPts val="1800"/>
              </a:spcBef>
              <a:buAutoNum type="arabicPeriod"/>
            </a:pPr>
            <a:r>
              <a:rPr lang="zh-CN" altLang="en-US" dirty="0">
                <a:latin typeface="Adobe 楷体 Std R" panose="02020400000000000000" pitchFamily="18" charset="-122"/>
                <a:ea typeface="Adobe 楷体 Std R" panose="02020400000000000000" pitchFamily="18" charset="-122"/>
              </a:rPr>
              <a:t>配合一本参考书，</a:t>
            </a:r>
            <a:r>
              <a:rPr lang="en-US" altLang="zh-CN" b="1" dirty="0">
                <a:solidFill>
                  <a:srgbClr val="FF0000"/>
                </a:solidFill>
                <a:latin typeface="Adobe 楷体 Std R" panose="02020400000000000000" pitchFamily="18" charset="-122"/>
                <a:ea typeface="Adobe 楷体 Std R" panose="02020400000000000000" pitchFamily="18" charset="-122"/>
              </a:rPr>
              <a:t>AI</a:t>
            </a:r>
            <a:r>
              <a:rPr lang="zh-CN" altLang="en-US" b="1" dirty="0">
                <a:solidFill>
                  <a:srgbClr val="FF0000"/>
                </a:solidFill>
                <a:latin typeface="Adobe 楷体 Std R" panose="02020400000000000000" pitchFamily="18" charset="-122"/>
                <a:ea typeface="Adobe 楷体 Std R" panose="02020400000000000000" pitchFamily="18" charset="-122"/>
              </a:rPr>
              <a:t>辅助（</a:t>
            </a:r>
            <a:r>
              <a:rPr lang="en-US" altLang="zh-CN" b="1" dirty="0" err="1">
                <a:solidFill>
                  <a:srgbClr val="FF0000"/>
                </a:solidFill>
                <a:latin typeface="Adobe 楷体 Std R" panose="02020400000000000000" pitchFamily="18" charset="-122"/>
                <a:ea typeface="Adobe 楷体 Std R" panose="02020400000000000000" pitchFamily="18" charset="-122"/>
              </a:rPr>
              <a:t>deepseek</a:t>
            </a:r>
            <a:r>
              <a:rPr lang="en-US" altLang="zh-CN" b="1" dirty="0">
                <a:solidFill>
                  <a:srgbClr val="FF0000"/>
                </a:solidFill>
                <a:latin typeface="Adobe 楷体 Std R" panose="02020400000000000000" pitchFamily="18" charset="-122"/>
                <a:ea typeface="Adobe 楷体 Std R" panose="02020400000000000000" pitchFamily="18" charset="-122"/>
              </a:rPr>
              <a:t>, </a:t>
            </a:r>
            <a:r>
              <a:rPr lang="en-US" altLang="zh-CN" b="1" dirty="0" err="1">
                <a:solidFill>
                  <a:srgbClr val="FF0000"/>
                </a:solidFill>
                <a:latin typeface="Adobe 楷体 Std R" panose="02020400000000000000" pitchFamily="18" charset="-122"/>
                <a:ea typeface="Adobe 楷体 Std R" panose="02020400000000000000" pitchFamily="18" charset="-122"/>
              </a:rPr>
              <a:t>GhatGpt</a:t>
            </a:r>
            <a:r>
              <a:rPr lang="zh-CN" altLang="en-US" b="1" dirty="0">
                <a:solidFill>
                  <a:srgbClr val="FF0000"/>
                </a:solidFill>
                <a:latin typeface="Adobe 楷体 Std R" panose="02020400000000000000" pitchFamily="18" charset="-122"/>
                <a:ea typeface="Adobe 楷体 Std R" panose="02020400000000000000" pitchFamily="18" charset="-122"/>
              </a:rPr>
              <a:t>）</a:t>
            </a:r>
            <a:r>
              <a:rPr lang="zh-CN" altLang="en-US" dirty="0">
                <a:latin typeface="Adobe 楷体 Std R" panose="02020400000000000000" pitchFamily="18" charset="-122"/>
                <a:ea typeface="Adobe 楷体 Std R" panose="02020400000000000000" pitchFamily="18" charset="-122"/>
              </a:rPr>
              <a:t>；</a:t>
            </a:r>
            <a:endParaRPr lang="en-US" altLang="zh-CN" dirty="0">
              <a:latin typeface="Adobe 楷体 Std R" panose="02020400000000000000" pitchFamily="18" charset="-122"/>
              <a:ea typeface="Adobe 楷体 Std R" panose="02020400000000000000" pitchFamily="18" charset="-122"/>
            </a:endParaRPr>
          </a:p>
          <a:p>
            <a:pPr marL="514350" indent="-514350">
              <a:spcBef>
                <a:spcPts val="1800"/>
              </a:spcBef>
              <a:buAutoNum type="arabicPeriod"/>
            </a:pPr>
            <a:r>
              <a:rPr lang="zh-CN" altLang="en-US" b="1" dirty="0">
                <a:solidFill>
                  <a:srgbClr val="FF0000"/>
                </a:solidFill>
                <a:latin typeface="Adobe 楷体 Std R" panose="02020400000000000000" pitchFamily="18" charset="-122"/>
                <a:ea typeface="Adobe 楷体 Std R" panose="02020400000000000000" pitchFamily="18" charset="-122"/>
              </a:rPr>
              <a:t>不适合临阵磨枪（突击复习）</a:t>
            </a:r>
            <a:r>
              <a:rPr lang="zh-CN" altLang="en-US" dirty="0">
                <a:latin typeface="Adobe 楷体 Std R" panose="02020400000000000000" pitchFamily="18" charset="-122"/>
                <a:ea typeface="Adobe 楷体 Std R" panose="02020400000000000000" pitchFamily="18" charset="-122"/>
              </a:rPr>
              <a:t>。</a:t>
            </a:r>
            <a:endParaRPr lang="en-US" altLang="zh-CN" dirty="0">
              <a:latin typeface="Adobe 楷体 Std R" panose="02020400000000000000" pitchFamily="18" charset="-122"/>
              <a:ea typeface="Adobe 楷体 Std R" panose="02020400000000000000" pitchFamily="18" charset="-122"/>
            </a:endParaRPr>
          </a:p>
        </p:txBody>
      </p:sp>
    </p:spTree>
    <p:extLst>
      <p:ext uri="{BB962C8B-B14F-4D97-AF65-F5344CB8AC3E}">
        <p14:creationId xmlns:p14="http://schemas.microsoft.com/office/powerpoint/2010/main" val="2442592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教材及参考书目</a:t>
            </a:r>
            <a:endParaRPr lang="en-US" dirty="0"/>
          </a:p>
        </p:txBody>
      </p:sp>
      <p:sp>
        <p:nvSpPr>
          <p:cNvPr id="3" name="内容占位符 2"/>
          <p:cNvSpPr>
            <a:spLocks noGrp="1"/>
          </p:cNvSpPr>
          <p:nvPr>
            <p:ph idx="1"/>
          </p:nvPr>
        </p:nvSpPr>
        <p:spPr/>
        <p:txBody>
          <a:bodyPr>
            <a:noAutofit/>
          </a:bodyPr>
          <a:lstStyle/>
          <a:p>
            <a:pPr marL="0" lvl="0" indent="0">
              <a:buNone/>
            </a:pPr>
            <a:r>
              <a:rPr lang="zh-CN" altLang="en-US" sz="2400" b="1" dirty="0">
                <a:latin typeface="新宋体" panose="02010609030101010101" pitchFamily="49" charset="-122"/>
                <a:ea typeface="新宋体" panose="02010609030101010101" pitchFamily="49" charset="-122"/>
              </a:rPr>
              <a:t>使用教材</a:t>
            </a:r>
            <a:r>
              <a:rPr lang="zh-CN" altLang="en-US" sz="2400" dirty="0">
                <a:latin typeface="新宋体" panose="02010609030101010101" pitchFamily="49" charset="-122"/>
                <a:ea typeface="新宋体" panose="02010609030101010101" pitchFamily="49" charset="-122"/>
              </a:rPr>
              <a:t>：汪泉弟 张淮清主编，</a:t>
            </a:r>
            <a:r>
              <a:rPr lang="en-US" altLang="zh-CN" sz="2400" dirty="0">
                <a:latin typeface="新宋体" panose="02010609030101010101" pitchFamily="49" charset="-122"/>
                <a:ea typeface="新宋体" panose="02010609030101010101" pitchFamily="49" charset="-122"/>
              </a:rPr>
              <a:t>《</a:t>
            </a:r>
            <a:r>
              <a:rPr lang="zh-CN" altLang="en-US" sz="2400" dirty="0">
                <a:latin typeface="新宋体" panose="02010609030101010101" pitchFamily="49" charset="-122"/>
                <a:ea typeface="新宋体" panose="02010609030101010101" pitchFamily="49" charset="-122"/>
              </a:rPr>
              <a:t>电磁场</a:t>
            </a:r>
            <a:r>
              <a:rPr lang="en-US" altLang="zh-CN" sz="2400" dirty="0">
                <a:latin typeface="新宋体" panose="02010609030101010101" pitchFamily="49" charset="-122"/>
                <a:ea typeface="新宋体" panose="02010609030101010101" pitchFamily="49" charset="-122"/>
              </a:rPr>
              <a:t>》</a:t>
            </a:r>
            <a:r>
              <a:rPr lang="zh-CN" altLang="en-US" sz="2400" dirty="0">
                <a:latin typeface="新宋体" panose="02010609030101010101" pitchFamily="49" charset="-122"/>
                <a:ea typeface="新宋体" panose="02010609030101010101" pitchFamily="49" charset="-122"/>
              </a:rPr>
              <a:t>，科学出版社</a:t>
            </a:r>
            <a:r>
              <a:rPr lang="en-US" sz="2400" dirty="0">
                <a:latin typeface="新宋体" panose="02010609030101010101" pitchFamily="49" charset="-122"/>
                <a:ea typeface="新宋体" panose="02010609030101010101" pitchFamily="49" charset="-122"/>
              </a:rPr>
              <a:t>2013.12</a:t>
            </a:r>
          </a:p>
          <a:p>
            <a:pPr marL="0" lvl="0" indent="0">
              <a:spcBef>
                <a:spcPts val="1200"/>
              </a:spcBef>
              <a:buNone/>
            </a:pPr>
            <a:r>
              <a:rPr lang="zh-CN" altLang="en-US" sz="2400" b="1" dirty="0">
                <a:latin typeface="新宋体" panose="02010609030101010101" pitchFamily="49" charset="-122"/>
                <a:ea typeface="新宋体" panose="02010609030101010101" pitchFamily="49" charset="-122"/>
              </a:rPr>
              <a:t>参考书目：</a:t>
            </a:r>
            <a:endParaRPr lang="en-US" sz="2400" b="1" dirty="0">
              <a:latin typeface="新宋体" panose="02010609030101010101" pitchFamily="49" charset="-122"/>
              <a:ea typeface="新宋体" panose="02010609030101010101" pitchFamily="49" charset="-122"/>
            </a:endParaRPr>
          </a:p>
          <a:p>
            <a:pPr>
              <a:lnSpc>
                <a:spcPct val="150000"/>
              </a:lnSpc>
              <a:spcBef>
                <a:spcPts val="600"/>
              </a:spcBef>
            </a:pPr>
            <a:r>
              <a:rPr lang="zh-CN" altLang="en-US" sz="2400" dirty="0">
                <a:latin typeface="新宋体" panose="02010609030101010101" pitchFamily="49" charset="-122"/>
                <a:ea typeface="新宋体" panose="02010609030101010101" pitchFamily="49" charset="-122"/>
              </a:rPr>
              <a:t>叶齐政、陈德智，</a:t>
            </a:r>
            <a:r>
              <a:rPr lang="en-US" altLang="zh-CN" sz="2400" dirty="0">
                <a:latin typeface="新宋体" panose="02010609030101010101" pitchFamily="49" charset="-122"/>
                <a:ea typeface="新宋体" panose="02010609030101010101" pitchFamily="49" charset="-122"/>
              </a:rPr>
              <a:t>《</a:t>
            </a:r>
            <a:r>
              <a:rPr lang="zh-CN" altLang="en-US" sz="2400" dirty="0">
                <a:latin typeface="新宋体" panose="02010609030101010101" pitchFamily="49" charset="-122"/>
                <a:ea typeface="新宋体" panose="02010609030101010101" pitchFamily="49" charset="-122"/>
              </a:rPr>
              <a:t>电磁场</a:t>
            </a:r>
            <a:r>
              <a:rPr lang="en-US" altLang="zh-CN" sz="2400" dirty="0">
                <a:latin typeface="新宋体" panose="02010609030101010101" pitchFamily="49" charset="-122"/>
                <a:ea typeface="新宋体" panose="02010609030101010101" pitchFamily="49" charset="-122"/>
              </a:rPr>
              <a:t>》</a:t>
            </a:r>
            <a:r>
              <a:rPr lang="zh-CN" altLang="en-US" sz="2400" dirty="0">
                <a:latin typeface="新宋体" panose="02010609030101010101" pitchFamily="49" charset="-122"/>
                <a:ea typeface="新宋体" panose="02010609030101010101" pitchFamily="49" charset="-122"/>
              </a:rPr>
              <a:t>，机械工业出版社，</a:t>
            </a:r>
            <a:r>
              <a:rPr lang="en-US" altLang="zh-CN" sz="2400" dirty="0">
                <a:latin typeface="新宋体" panose="02010609030101010101" pitchFamily="49" charset="-122"/>
                <a:ea typeface="新宋体" panose="02010609030101010101" pitchFamily="49" charset="-122"/>
              </a:rPr>
              <a:t>2019</a:t>
            </a:r>
            <a:r>
              <a:rPr lang="zh-CN" altLang="en-US" sz="2400" dirty="0">
                <a:latin typeface="新宋体" panose="02010609030101010101" pitchFamily="49" charset="-122"/>
                <a:ea typeface="新宋体" panose="02010609030101010101" pitchFamily="49" charset="-122"/>
              </a:rPr>
              <a:t>年</a:t>
            </a:r>
            <a:endParaRPr lang="en-US" altLang="zh-CN" sz="2400" dirty="0">
              <a:latin typeface="新宋体" panose="02010609030101010101" pitchFamily="49" charset="-122"/>
              <a:ea typeface="新宋体" panose="02010609030101010101" pitchFamily="49" charset="-122"/>
            </a:endParaRPr>
          </a:p>
          <a:p>
            <a:pPr>
              <a:lnSpc>
                <a:spcPct val="150000"/>
              </a:lnSpc>
              <a:spcBef>
                <a:spcPts val="600"/>
              </a:spcBef>
            </a:pPr>
            <a:r>
              <a:rPr lang="zh-CN" altLang="en-US" sz="2400" dirty="0">
                <a:latin typeface="新宋体" panose="02010609030101010101" pitchFamily="49" charset="-122"/>
                <a:ea typeface="新宋体" panose="02010609030101010101" pitchFamily="49" charset="-122"/>
              </a:rPr>
              <a:t>冯慈璋、马西奎，</a:t>
            </a:r>
            <a:r>
              <a:rPr lang="en-US" altLang="zh-CN" sz="2400" dirty="0">
                <a:latin typeface="新宋体" panose="02010609030101010101" pitchFamily="49" charset="-122"/>
                <a:ea typeface="新宋体" panose="02010609030101010101" pitchFamily="49" charset="-122"/>
              </a:rPr>
              <a:t>《</a:t>
            </a:r>
            <a:r>
              <a:rPr lang="zh-CN" altLang="en-US" sz="2400" dirty="0">
                <a:latin typeface="新宋体" panose="02010609030101010101" pitchFamily="49" charset="-122"/>
                <a:ea typeface="新宋体" panose="02010609030101010101" pitchFamily="49" charset="-122"/>
              </a:rPr>
              <a:t>工程电磁场导论</a:t>
            </a:r>
            <a:r>
              <a:rPr lang="en-US" altLang="zh-CN" sz="2400" dirty="0">
                <a:latin typeface="新宋体" panose="02010609030101010101" pitchFamily="49" charset="-122"/>
                <a:ea typeface="新宋体" panose="02010609030101010101" pitchFamily="49" charset="-122"/>
              </a:rPr>
              <a:t>》</a:t>
            </a:r>
            <a:r>
              <a:rPr lang="zh-CN" altLang="en-US" sz="2400" dirty="0">
                <a:latin typeface="新宋体" panose="02010609030101010101" pitchFamily="49" charset="-122"/>
                <a:ea typeface="新宋体" panose="02010609030101010101" pitchFamily="49" charset="-122"/>
              </a:rPr>
              <a:t>，高等教育出版社，</a:t>
            </a:r>
            <a:r>
              <a:rPr lang="en-US" sz="2400" dirty="0">
                <a:latin typeface="新宋体" panose="02010609030101010101" pitchFamily="49" charset="-122"/>
                <a:ea typeface="新宋体" panose="02010609030101010101" pitchFamily="49" charset="-122"/>
              </a:rPr>
              <a:t>2000</a:t>
            </a:r>
            <a:r>
              <a:rPr lang="zh-CN" altLang="en-US" sz="2400" dirty="0">
                <a:latin typeface="新宋体" panose="02010609030101010101" pitchFamily="49" charset="-122"/>
                <a:ea typeface="新宋体" panose="02010609030101010101" pitchFamily="49" charset="-122"/>
              </a:rPr>
              <a:t>年</a:t>
            </a:r>
            <a:endParaRPr lang="en-US" altLang="zh-CN" sz="2400" dirty="0">
              <a:latin typeface="新宋体" panose="02010609030101010101" pitchFamily="49" charset="-122"/>
              <a:ea typeface="新宋体" panose="02010609030101010101" pitchFamily="49" charset="-122"/>
            </a:endParaRPr>
          </a:p>
          <a:p>
            <a:pPr>
              <a:lnSpc>
                <a:spcPct val="150000"/>
              </a:lnSpc>
              <a:spcBef>
                <a:spcPts val="600"/>
              </a:spcBef>
            </a:pPr>
            <a:r>
              <a:rPr lang="en-US" sz="2400" dirty="0">
                <a:solidFill>
                  <a:srgbClr val="FF0000"/>
                </a:solidFill>
                <a:latin typeface="Arial" panose="020B0604020202020204" pitchFamily="34" charset="0"/>
                <a:ea typeface="新宋体" panose="02010609030101010101" pitchFamily="49" charset="-122"/>
                <a:cs typeface="Arial" panose="020B0604020202020204" pitchFamily="34" charset="0"/>
              </a:rPr>
              <a:t>Introduction to Electrodynamics(</a:t>
            </a:r>
            <a:r>
              <a:rPr lang="zh-CN" altLang="en-US" sz="2400" dirty="0">
                <a:solidFill>
                  <a:srgbClr val="FF0000"/>
                </a:solidFill>
                <a:latin typeface="Arial" panose="020B0604020202020204" pitchFamily="34" charset="0"/>
                <a:ea typeface="新宋体" panose="02010609030101010101" pitchFamily="49" charset="-122"/>
                <a:cs typeface="Arial" panose="020B0604020202020204" pitchFamily="34" charset="0"/>
              </a:rPr>
              <a:t>电动力学导论</a:t>
            </a:r>
            <a:r>
              <a:rPr lang="en-US" sz="2400" dirty="0">
                <a:solidFill>
                  <a:srgbClr val="FF0000"/>
                </a:solidFill>
                <a:latin typeface="Arial" panose="020B0604020202020204" pitchFamily="34" charset="0"/>
                <a:ea typeface="新宋体" panose="02010609030101010101" pitchFamily="49" charset="-122"/>
                <a:cs typeface="Arial" panose="020B0604020202020204" pitchFamily="34" charset="0"/>
              </a:rPr>
              <a:t>)</a:t>
            </a:r>
            <a:r>
              <a:rPr lang="en-US" altLang="zh-CN" sz="2400" dirty="0">
                <a:solidFill>
                  <a:srgbClr val="FF0000"/>
                </a:solidFill>
                <a:latin typeface="Arial" panose="020B0604020202020204" pitchFamily="34" charset="0"/>
                <a:ea typeface="新宋体" panose="02010609030101010101" pitchFamily="49" charset="-122"/>
                <a:cs typeface="Arial" panose="020B0604020202020204" pitchFamily="34" charset="0"/>
              </a:rPr>
              <a:t>, </a:t>
            </a:r>
            <a:r>
              <a:rPr lang="en-US" altLang="zh-CN" sz="2400" dirty="0">
                <a:latin typeface="Arial" panose="020B0604020202020204" pitchFamily="34" charset="0"/>
                <a:ea typeface="新宋体" panose="02010609030101010101" pitchFamily="49" charset="-122"/>
                <a:cs typeface="Arial" panose="020B0604020202020204" pitchFamily="34" charset="0"/>
              </a:rPr>
              <a:t>David J. Griffiths, </a:t>
            </a:r>
            <a:r>
              <a:rPr lang="zh-CN" altLang="en-US" sz="2400" dirty="0">
                <a:latin typeface="Arial" panose="020B0604020202020204" pitchFamily="34" charset="0"/>
                <a:ea typeface="新宋体" panose="02010609030101010101" pitchFamily="49" charset="-122"/>
                <a:cs typeface="Arial" panose="020B0604020202020204" pitchFamily="34" charset="0"/>
              </a:rPr>
              <a:t>世界图书出版社</a:t>
            </a:r>
            <a:r>
              <a:rPr lang="en-US" altLang="zh-CN" sz="2400" dirty="0">
                <a:latin typeface="Arial" panose="020B0604020202020204" pitchFamily="34" charset="0"/>
                <a:ea typeface="新宋体" panose="02010609030101010101" pitchFamily="49" charset="-122"/>
                <a:cs typeface="Arial" panose="020B0604020202020204" pitchFamily="34" charset="0"/>
              </a:rPr>
              <a:t>, 1999</a:t>
            </a:r>
            <a:r>
              <a:rPr lang="zh-CN" altLang="en-US" sz="2400" dirty="0">
                <a:latin typeface="Arial" panose="020B0604020202020204" pitchFamily="34" charset="0"/>
                <a:ea typeface="新宋体" panose="02010609030101010101" pitchFamily="49" charset="-122"/>
                <a:cs typeface="Arial" panose="020B0604020202020204" pitchFamily="34" charset="0"/>
              </a:rPr>
              <a:t>年</a:t>
            </a:r>
            <a:r>
              <a:rPr lang="en-US" altLang="zh-CN" sz="2400" dirty="0">
                <a:latin typeface="Arial" panose="020B0604020202020204" pitchFamily="34" charset="0"/>
                <a:ea typeface="新宋体" panose="02010609030101010101" pitchFamily="49" charset="-122"/>
                <a:cs typeface="Arial" panose="020B0604020202020204" pitchFamily="34" charset="0"/>
              </a:rPr>
              <a:t>(</a:t>
            </a:r>
            <a:r>
              <a:rPr lang="zh-CN" altLang="en-US" sz="2400" b="1" dirty="0">
                <a:latin typeface="Arial" panose="020B0604020202020204" pitchFamily="34" charset="0"/>
                <a:ea typeface="新宋体" panose="02010609030101010101" pitchFamily="49" charset="-122"/>
                <a:cs typeface="Arial" panose="020B0604020202020204" pitchFamily="34" charset="0"/>
              </a:rPr>
              <a:t>物理学经典英文教材</a:t>
            </a:r>
            <a:r>
              <a:rPr lang="en-US" altLang="zh-CN" sz="2400" dirty="0">
                <a:latin typeface="Arial" panose="020B0604020202020204" pitchFamily="34" charset="0"/>
                <a:ea typeface="新宋体" panose="02010609030101010101" pitchFamily="49" charset="-122"/>
                <a:cs typeface="Arial" panose="020B0604020202020204" pitchFamily="34" charset="0"/>
              </a:rPr>
              <a:t>)</a:t>
            </a:r>
            <a:endParaRPr lang="en-US" sz="2400" dirty="0">
              <a:latin typeface="Arial" panose="020B0604020202020204" pitchFamily="34" charset="0"/>
              <a:ea typeface="新宋体" panose="02010609030101010101" pitchFamily="49" charset="-122"/>
              <a:cs typeface="Arial" panose="020B0604020202020204" pitchFamily="34" charset="0"/>
            </a:endParaRPr>
          </a:p>
        </p:txBody>
      </p:sp>
    </p:spTree>
    <p:extLst>
      <p:ext uri="{BB962C8B-B14F-4D97-AF65-F5344CB8AC3E}">
        <p14:creationId xmlns:p14="http://schemas.microsoft.com/office/powerpoint/2010/main" val="1479721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考核及成绩评定方式</a:t>
            </a:r>
            <a:endParaRPr lang="en-US" dirty="0"/>
          </a:p>
        </p:txBody>
      </p:sp>
      <p:sp>
        <p:nvSpPr>
          <p:cNvPr id="3" name="内容占位符 2"/>
          <p:cNvSpPr>
            <a:spLocks noGrp="1"/>
          </p:cNvSpPr>
          <p:nvPr>
            <p:ph idx="1"/>
          </p:nvPr>
        </p:nvSpPr>
        <p:spPr/>
        <p:txBody>
          <a:bodyPr/>
          <a:lstStyle/>
          <a:p>
            <a:pPr marL="514350" indent="-514350">
              <a:lnSpc>
                <a:spcPct val="150000"/>
              </a:lnSpc>
              <a:spcBef>
                <a:spcPts val="1200"/>
              </a:spcBef>
              <a:buAutoNum type="arabicPeriod"/>
            </a:pPr>
            <a:r>
              <a:rPr lang="zh-CN" altLang="en-US" sz="2800" dirty="0"/>
              <a:t>平时</a:t>
            </a:r>
            <a:r>
              <a:rPr lang="en-US" altLang="zh-CN" sz="2800" dirty="0"/>
              <a:t>1</a:t>
            </a:r>
            <a:r>
              <a:rPr lang="zh-CN" altLang="en-US" sz="2800" dirty="0"/>
              <a:t>次中期考试占</a:t>
            </a:r>
            <a:r>
              <a:rPr lang="en-US" altLang="zh-CN" sz="2800" dirty="0"/>
              <a:t>30%</a:t>
            </a:r>
            <a:r>
              <a:rPr lang="zh-CN" altLang="en-US" sz="2800" dirty="0"/>
              <a:t>，静电场之后统一考试；</a:t>
            </a:r>
            <a:endParaRPr lang="en-US" altLang="zh-CN" sz="2800" dirty="0"/>
          </a:p>
          <a:p>
            <a:pPr marL="514350" indent="-514350">
              <a:lnSpc>
                <a:spcPct val="150000"/>
              </a:lnSpc>
              <a:spcBef>
                <a:spcPts val="1200"/>
              </a:spcBef>
              <a:buAutoNum type="arabicPeriod"/>
            </a:pPr>
            <a:r>
              <a:rPr lang="zh-CN" altLang="en-US" sz="2800" dirty="0"/>
              <a:t>平时作业成绩</a:t>
            </a:r>
            <a:r>
              <a:rPr lang="en-US" altLang="zh-CN" sz="2800" dirty="0"/>
              <a:t>10%</a:t>
            </a:r>
            <a:r>
              <a:rPr lang="zh-CN" altLang="en-US" sz="2800" dirty="0"/>
              <a:t>；</a:t>
            </a:r>
            <a:endParaRPr lang="en-US" altLang="zh-CN" sz="2800" dirty="0"/>
          </a:p>
          <a:p>
            <a:pPr marL="514350" indent="-514350">
              <a:lnSpc>
                <a:spcPct val="150000"/>
              </a:lnSpc>
              <a:spcBef>
                <a:spcPts val="1200"/>
              </a:spcBef>
              <a:buAutoNum type="arabicPeriod"/>
            </a:pPr>
            <a:r>
              <a:rPr lang="zh-CN" altLang="en-US" sz="2800" dirty="0"/>
              <a:t>实验报告</a:t>
            </a:r>
            <a:r>
              <a:rPr lang="en-US" altLang="zh-CN" sz="2800" dirty="0"/>
              <a:t>10%</a:t>
            </a:r>
            <a:r>
              <a:rPr lang="zh-CN" altLang="en-US" sz="2800" dirty="0"/>
              <a:t>；</a:t>
            </a:r>
            <a:endParaRPr lang="en-US" altLang="zh-CN" sz="2800" dirty="0"/>
          </a:p>
          <a:p>
            <a:pPr marL="514350" indent="-514350">
              <a:lnSpc>
                <a:spcPct val="150000"/>
              </a:lnSpc>
              <a:spcBef>
                <a:spcPts val="1200"/>
              </a:spcBef>
              <a:buAutoNum type="arabicPeriod"/>
            </a:pPr>
            <a:r>
              <a:rPr lang="zh-CN" altLang="en-US" sz="2800" dirty="0"/>
              <a:t>期末</a:t>
            </a:r>
            <a:r>
              <a:rPr lang="en-US" altLang="zh-CN" sz="2800" dirty="0"/>
              <a:t>50</a:t>
            </a:r>
            <a:r>
              <a:rPr lang="zh-CN" altLang="en-US" sz="2800" dirty="0"/>
              <a:t>分</a:t>
            </a:r>
            <a:r>
              <a:rPr lang="en-US" altLang="zh-CN" sz="2800" dirty="0"/>
              <a:t>% </a:t>
            </a:r>
            <a:r>
              <a:rPr lang="zh-CN" altLang="en-US" sz="2800"/>
              <a:t>。</a:t>
            </a:r>
            <a:endParaRPr lang="zh-CN" altLang="en-US" sz="2800" dirty="0"/>
          </a:p>
        </p:txBody>
      </p:sp>
    </p:spTree>
    <p:extLst>
      <p:ext uri="{BB962C8B-B14F-4D97-AF65-F5344CB8AC3E}">
        <p14:creationId xmlns:p14="http://schemas.microsoft.com/office/powerpoint/2010/main" val="310123861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TM04033925[[fn=水滴]]</Template>
  <TotalTime>308</TotalTime>
  <Words>495</Words>
  <Application>Microsoft Office PowerPoint</Application>
  <PresentationFormat>全屏显示(4:3)</PresentationFormat>
  <Paragraphs>56</Paragraphs>
  <Slides>10</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10</vt:i4>
      </vt:variant>
    </vt:vector>
  </HeadingPairs>
  <TitlesOfParts>
    <vt:vector size="18" baseType="lpstr">
      <vt:lpstr>Adobe 楷体 Std R</vt:lpstr>
      <vt:lpstr>宋体</vt:lpstr>
      <vt:lpstr>微软雅黑</vt:lpstr>
      <vt:lpstr>新宋体</vt:lpstr>
      <vt:lpstr>Arial</vt:lpstr>
      <vt:lpstr>Calibri</vt:lpstr>
      <vt:lpstr>Office 主题</vt:lpstr>
      <vt:lpstr>Equation</vt:lpstr>
      <vt:lpstr>电磁场原理</vt:lpstr>
      <vt:lpstr>课程描述</vt:lpstr>
      <vt:lpstr>PowerPoint 演示文稿</vt:lpstr>
      <vt:lpstr>PowerPoint 演示文稿</vt:lpstr>
      <vt:lpstr>为何学习这么课程 ？</vt:lpstr>
      <vt:lpstr>为何学习这么课程 ？</vt:lpstr>
      <vt:lpstr>1785年，库仑定律</vt:lpstr>
      <vt:lpstr>几点建议</vt:lpstr>
      <vt:lpstr>教材及参考书目</vt:lpstr>
      <vt:lpstr>考核及成绩评定方式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电磁场原理</dc:title>
  <dc:creator>QingXiong</dc:creator>
  <cp:lastModifiedBy>qing xiong</cp:lastModifiedBy>
  <cp:revision>72</cp:revision>
  <dcterms:created xsi:type="dcterms:W3CDTF">2016-02-23T01:39:52Z</dcterms:created>
  <dcterms:modified xsi:type="dcterms:W3CDTF">2026-02-28T08:52:26Z</dcterms:modified>
</cp:coreProperties>
</file>