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615" r:id="rId2"/>
    <p:sldId id="609" r:id="rId3"/>
    <p:sldId id="610" r:id="rId4"/>
    <p:sldId id="616" r:id="rId5"/>
    <p:sldId id="614" r:id="rId6"/>
    <p:sldId id="612" r:id="rId7"/>
    <p:sldId id="613" r:id="rId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F00FF"/>
    <a:srgbClr val="008000"/>
    <a:srgbClr val="FF9900"/>
    <a:srgbClr val="CC00CC"/>
    <a:srgbClr val="862E3D"/>
    <a:srgbClr val="D6009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14" autoAdjust="0"/>
  </p:normalViewPr>
  <p:slideViewPr>
    <p:cSldViewPr>
      <p:cViewPr varScale="1">
        <p:scale>
          <a:sx n="61" d="100"/>
          <a:sy n="61" d="100"/>
        </p:scale>
        <p:origin x="136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5.xml"/><Relationship Id="rId2" Type="http://schemas.openxmlformats.org/officeDocument/2006/relationships/slide" Target="slides/slide4.xml"/><Relationship Id="rId1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93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394C17E-CEF5-4F10-B3A8-FC87BC3716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B524E3-1C24-4532-8DF6-079121B6A3DA}" type="slidenum">
              <a:rPr lang="en-US" altLang="zh-CN" smtClean="0"/>
              <a:pPr/>
              <a:t>1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B524E3-1C24-4532-8DF6-079121B6A3DA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10E7F-4F56-4477-A480-D90BD11B55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393D31-9644-40B4-873E-6BEC90DE0E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707B10-2A1B-451A-B2E2-3CBFCA1581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15FA5-B638-4AA3-89CC-D14A87831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6E688F-DAE6-4D12-8B78-604F371F454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EFC36-C86F-486C-9675-58C22B1AA4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8560E-C53E-4673-A337-4A628B9864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0C9F8-E7C9-4464-BB6C-5638CB8FED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00C45-0EB4-4D1A-AF6B-649E828D60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46FDA-9678-465A-8DFE-5AE62FFE29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92F2F-0164-414F-95FE-874735452B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0FA3DAD-350F-444A-8225-2F68789105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2378163" y="284163"/>
            <a:ext cx="389080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rgbClr val="B33D51"/>
                </a:solidFill>
                <a:ea typeface="楷体_GB2312" pitchFamily="49" charset="-122"/>
              </a:rPr>
              <a:t>微控制器及其系统</a:t>
            </a:r>
            <a:endParaRPr lang="zh-CN" altLang="en-US" sz="3600" b="1" dirty="0">
              <a:solidFill>
                <a:srgbClr val="B33D51"/>
              </a:solidFill>
              <a:ea typeface="楷体_GB2312" pitchFamily="49" charset="-122"/>
            </a:endParaRP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539750" y="1628775"/>
            <a:ext cx="27638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D60093"/>
                </a:solidFill>
                <a:ea typeface="楷体_GB2312" pitchFamily="49" charset="-122"/>
              </a:rPr>
              <a:t>学时数安排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775075" y="1443038"/>
            <a:ext cx="32416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讲课： 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48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学时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3779838" y="2205038"/>
            <a:ext cx="31257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实验：</a:t>
            </a:r>
            <a:r>
              <a:rPr lang="zh-CN" altLang="en-US" b="1" dirty="0">
                <a:solidFill>
                  <a:srgbClr val="008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32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学时</a:t>
            </a:r>
          </a:p>
        </p:txBody>
      </p:sp>
      <p:sp>
        <p:nvSpPr>
          <p:cNvPr id="2054" name="Text Box 8"/>
          <p:cNvSpPr txBox="1">
            <a:spLocks noChangeArrowheads="1"/>
          </p:cNvSpPr>
          <p:nvPr/>
        </p:nvSpPr>
        <p:spPr bwMode="auto">
          <a:xfrm>
            <a:off x="844674" y="3200400"/>
            <a:ext cx="13510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D60093"/>
                </a:solidFill>
                <a:latin typeface="楷体_GB2312" pitchFamily="49" charset="-122"/>
                <a:ea typeface="楷体_GB2312" pitchFamily="49" charset="-122"/>
              </a:rPr>
              <a:t>教 材</a:t>
            </a:r>
          </a:p>
        </p:txBody>
      </p:sp>
      <p:sp>
        <p:nvSpPr>
          <p:cNvPr id="2055" name="Text Box 9"/>
          <p:cNvSpPr txBox="1">
            <a:spLocks noChangeArrowheads="1"/>
          </p:cNvSpPr>
          <p:nvPr/>
        </p:nvSpPr>
        <p:spPr bwMode="auto">
          <a:xfrm>
            <a:off x="2051720" y="3005279"/>
            <a:ext cx="655272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毛玉星，郭珂，刘卫华 单片机原理及接口技术</a:t>
            </a:r>
            <a:endParaRPr lang="en-US" altLang="zh-CN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基于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ARM Cortex-M3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STM32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  <a:endParaRPr lang="en-US" altLang="zh-CN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重庆大学出版社，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2020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月 第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2306155" y="284163"/>
            <a:ext cx="435407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B33D51"/>
                </a:solidFill>
                <a:ea typeface="楷体_GB2312" pitchFamily="49" charset="-122"/>
              </a:rPr>
              <a:t>单片机原理及其应用</a:t>
            </a:r>
          </a:p>
        </p:txBody>
      </p:sp>
      <p:sp>
        <p:nvSpPr>
          <p:cNvPr id="2054" name="Text Box 8"/>
          <p:cNvSpPr txBox="1">
            <a:spLocks noChangeArrowheads="1"/>
          </p:cNvSpPr>
          <p:nvPr/>
        </p:nvSpPr>
        <p:spPr bwMode="auto">
          <a:xfrm>
            <a:off x="628650" y="1340768"/>
            <a:ext cx="21431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D60093"/>
                </a:solidFill>
                <a:latin typeface="楷体_GB2312" pitchFamily="49" charset="-122"/>
                <a:ea typeface="楷体_GB2312" pitchFamily="49" charset="-122"/>
              </a:rPr>
              <a:t>参考资料</a:t>
            </a:r>
          </a:p>
        </p:txBody>
      </p:sp>
      <p:sp>
        <p:nvSpPr>
          <p:cNvPr id="2055" name="Text Box 9"/>
          <p:cNvSpPr txBox="1">
            <a:spLocks noChangeArrowheads="1"/>
          </p:cNvSpPr>
          <p:nvPr/>
        </p:nvSpPr>
        <p:spPr bwMode="auto">
          <a:xfrm>
            <a:off x="2306155" y="1196752"/>
            <a:ext cx="6514317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34988" indent="-534988"/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[1] 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刘旭明，刘火良，李雪峰编著，物联网操作系统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LiteOS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内核开发与实践，人民邮电出版社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2020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月，第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版</a:t>
            </a:r>
            <a:endParaRPr lang="en-US" altLang="en-US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534988" indent="-534988"/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[2]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严海蓉，薛涛等，嵌入式微处理器原理与应用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--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基于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ARM Cortex-M3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微控制器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(STM32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，清华大学出版社，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2014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12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月 第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版。</a:t>
            </a:r>
          </a:p>
          <a:p>
            <a:pPr marL="534988" indent="-534988"/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武奇生，白璘等，基于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ARM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的单片机应用及实践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----STM32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案例式教学，机械工业出版社，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2014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年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月第</a:t>
            </a:r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版</a:t>
            </a:r>
          </a:p>
          <a:p>
            <a:pPr marL="534988" indent="-534988"/>
            <a:r>
              <a:rPr lang="en-US" altLang="en-US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[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en-US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]</a:t>
            </a:r>
            <a:r>
              <a:rPr lang="zh-CN" altLang="en-US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电子文档 </a:t>
            </a:r>
            <a:r>
              <a:rPr lang="zh-CN" altLang="zh-CN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物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联网操作系统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LiteOS</a:t>
            </a:r>
            <a:r>
              <a:rPr lang="en-US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zh-CN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开发实战指南，刘火良，杨森编著</a:t>
            </a:r>
          </a:p>
          <a:p>
            <a:pPr marL="534988" indent="-534988"/>
            <a:endParaRPr lang="zh-CN" altLang="en-US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62000" y="228600"/>
            <a:ext cx="7772400" cy="609600"/>
          </a:xfrm>
          <a:noFill/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B33D51"/>
                </a:solidFill>
                <a:ea typeface="楷体_GB2312" pitchFamily="49" charset="-122"/>
              </a:rPr>
              <a:t>教师信息</a:t>
            </a:r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189163" y="1268760"/>
            <a:ext cx="5695950" cy="4248472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重庆大学电气工程学院</a:t>
            </a:r>
            <a:endParaRPr lang="en-US" altLang="zh-CN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电工理论与新技术系</a:t>
            </a:r>
            <a:endParaRPr lang="en-US" altLang="zh-CN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毛玉星</a:t>
            </a:r>
            <a:endParaRPr lang="en-US" altLang="zh-CN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endParaRPr lang="en-US" altLang="zh-CN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联系方式：</a:t>
            </a:r>
            <a:endParaRPr lang="en-US" altLang="zh-CN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myx@cqu.edu.cn</a:t>
            </a:r>
          </a:p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13667679663</a:t>
            </a:r>
          </a:p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学院教师主页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62000" y="228600"/>
            <a:ext cx="7772400" cy="609600"/>
          </a:xfrm>
          <a:noFill/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B33D51"/>
                </a:solidFill>
                <a:ea typeface="楷体_GB2312" pitchFamily="49" charset="-122"/>
              </a:rPr>
              <a:t>资料共享</a:t>
            </a:r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762000" y="1268760"/>
            <a:ext cx="8126016" cy="4248472"/>
          </a:xfrm>
        </p:spPr>
        <p:txBody>
          <a:bodyPr/>
          <a:lstStyle/>
          <a:p>
            <a:pPr algn="l" eaLnBrk="1" hangingPunct="1"/>
            <a:endParaRPr lang="en-US" altLang="zh-CN" sz="2800" b="1" dirty="0">
              <a:solidFill>
                <a:srgbClr val="D60093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r>
              <a:rPr lang="en-US" altLang="zh-CN" b="1" dirty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MOOC</a:t>
            </a:r>
            <a:r>
              <a:rPr lang="zh-CN" altLang="en-US" b="1" dirty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平台</a:t>
            </a:r>
            <a:r>
              <a:rPr lang="zh-CN" altLang="en-US" b="1" dirty="0" smtClean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链接</a:t>
            </a:r>
            <a:endParaRPr lang="en-US" altLang="zh-CN" b="1" dirty="0" smtClean="0">
              <a:solidFill>
                <a:srgbClr val="FF66CC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endParaRPr lang="en-US" altLang="zh-CN" sz="2800" b="1" dirty="0" smtClean="0">
              <a:solidFill>
                <a:srgbClr val="D60093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endParaRPr lang="en-US" altLang="zh-CN" sz="2800" b="1" dirty="0">
              <a:solidFill>
                <a:srgbClr val="D60093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endParaRPr lang="en-US" altLang="zh-CN" sz="2800" b="1" dirty="0" smtClean="0">
              <a:solidFill>
                <a:srgbClr val="D60093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endParaRPr lang="en-US" altLang="zh-CN" sz="2800" b="1" dirty="0">
              <a:solidFill>
                <a:srgbClr val="D60093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 eaLnBrk="1" hangingPunct="1"/>
            <a:endParaRPr lang="en-US" altLang="zh-CN" sz="2800" b="1" dirty="0">
              <a:solidFill>
                <a:srgbClr val="D60093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zh-CN" dirty="0">
                <a:solidFill>
                  <a:schemeClr val="accent2"/>
                </a:solidFill>
              </a:rPr>
              <a:t>https://cquv3.xuetangx.com/lms#/about/13567</a:t>
            </a:r>
            <a:endParaRPr lang="zh-CN" altLang="en-US" sz="280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2420888"/>
            <a:ext cx="2285714" cy="2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7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62000" y="228600"/>
            <a:ext cx="7772400" cy="609600"/>
          </a:xfrm>
          <a:noFill/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B33D51"/>
                </a:solidFill>
                <a:ea typeface="楷体_GB2312" pitchFamily="49" charset="-122"/>
              </a:rPr>
              <a:t>主要内容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187624" y="1052736"/>
            <a:ext cx="7632848" cy="5182468"/>
          </a:xfrm>
        </p:spPr>
        <p:txBody>
          <a:bodyPr/>
          <a:lstStyle/>
          <a:p>
            <a:pPr algn="l"/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微机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原理基础知识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			</a:t>
            </a:r>
            <a:r>
              <a:rPr lang="en-US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2.ARM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体系结构与</a:t>
            </a:r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CM3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内核</a:t>
            </a:r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	        </a:t>
            </a:r>
            <a:r>
              <a:rPr lang="en-US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12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3.STM32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最小系统与开发环境</a:t>
            </a:r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		4</a:t>
            </a:r>
          </a:p>
          <a:p>
            <a:pPr algn="l"/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4.STM32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资源与功能部件</a:t>
            </a:r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			</a:t>
            </a:r>
            <a:r>
              <a:rPr lang="en-US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16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5.LiteOS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系统基础</a:t>
            </a:r>
            <a:r>
              <a:rPr lang="en-US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	</a:t>
            </a:r>
            <a:r>
              <a:rPr lang="en-US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 2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6.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LiteOS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任务管理                   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</a:t>
            </a:r>
          </a:p>
          <a:p>
            <a:pPr algn="l"/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7.LiteOS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开发实例                   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l"/>
            <a:r>
              <a:rPr lang="en-US" altLang="en-US" sz="2800" b="1" dirty="0" smtClean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8.</a:t>
            </a:r>
            <a:r>
              <a:rPr lang="zh-CN" altLang="en-US" sz="2800" b="1" dirty="0" smtClean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实验</a:t>
            </a:r>
            <a:r>
              <a:rPr lang="en-US" altLang="en-US" sz="2800" b="1" dirty="0" smtClean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                              </a:t>
            </a:r>
            <a:r>
              <a:rPr lang="en-US" altLang="en-US" sz="2800" b="1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32</a:t>
            </a:r>
            <a:endParaRPr lang="zh-CN" altLang="en-US" sz="2800" b="1" dirty="0">
              <a:solidFill>
                <a:srgbClr val="FF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55650" y="476250"/>
            <a:ext cx="7772400" cy="609600"/>
          </a:xfrm>
          <a:noFill/>
        </p:spPr>
        <p:txBody>
          <a:bodyPr/>
          <a:lstStyle/>
          <a:p>
            <a:pPr eaLnBrk="1" hangingPunct="1"/>
            <a:r>
              <a:rPr lang="zh-CN" altLang="en-US" sz="3600" b="1" dirty="0" smtClean="0">
                <a:solidFill>
                  <a:srgbClr val="B33D51"/>
                </a:solidFill>
                <a:ea typeface="楷体_GB2312" pitchFamily="49" charset="-122"/>
              </a:rPr>
              <a:t>成绩评定</a:t>
            </a:r>
            <a:endParaRPr lang="zh-CN" altLang="en-US" sz="3600" b="1" dirty="0">
              <a:solidFill>
                <a:srgbClr val="B33D51"/>
              </a:solidFill>
              <a:ea typeface="楷体_GB2312" pitchFamily="49" charset="-122"/>
            </a:endParaRPr>
          </a:p>
        </p:txBody>
      </p:sp>
      <p:sp>
        <p:nvSpPr>
          <p:cNvPr id="5123" name="Rectangle 1027"/>
          <p:cNvSpPr>
            <a:spLocks noChangeArrowheads="1"/>
          </p:cNvSpPr>
          <p:nvPr/>
        </p:nvSpPr>
        <p:spPr bwMode="auto">
          <a:xfrm>
            <a:off x="1115616" y="1124744"/>
            <a:ext cx="7633096" cy="54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实验方面，共计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30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分：</a:t>
            </a:r>
            <a:endParaRPr lang="en-US" altLang="zh-CN" sz="2800" b="1" dirty="0" smtClean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上机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考试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15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b="1" dirty="0" smtClean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平常实验及报告完成（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b="1" dirty="0" smtClean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网上实验项目研讨（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）   </a:t>
            </a:r>
            <a:r>
              <a:rPr lang="en-US" altLang="zh-CN" sz="2800" b="1" dirty="0" smtClean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800" b="1" dirty="0" smtClean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线上</a:t>
            </a:r>
            <a:endParaRPr lang="en-US" altLang="zh-CN" sz="2800" b="1" dirty="0" smtClean="0">
              <a:solidFill>
                <a:srgbClr val="FF66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理论方法，共计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70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分</a:t>
            </a:r>
            <a:endParaRPr lang="en-US" altLang="zh-CN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		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期末笔试（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50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平时考勤、课堂表现（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en-US" altLang="zh-CN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网上习题 （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10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2800" b="1" dirty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800" b="1" dirty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线上</a:t>
            </a:r>
            <a:endParaRPr lang="en-US" altLang="zh-CN" sz="2800" b="1" dirty="0">
              <a:solidFill>
                <a:srgbClr val="FF66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网上研讨 （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---</a:t>
            </a:r>
            <a:r>
              <a:rPr lang="zh-CN" altLang="en-US" sz="2800" b="1" dirty="0">
                <a:solidFill>
                  <a:srgbClr val="FF66CC"/>
                </a:solidFill>
                <a:latin typeface="楷体_GB2312" pitchFamily="49" charset="-122"/>
                <a:ea typeface="楷体_GB2312" pitchFamily="49" charset="-122"/>
              </a:rPr>
              <a:t>线上</a:t>
            </a:r>
            <a:endParaRPr lang="en-US" altLang="zh-CN" sz="2800" b="1" dirty="0">
              <a:solidFill>
                <a:srgbClr val="FF66CC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spcBef>
                <a:spcPts val="0"/>
              </a:spcBef>
            </a:pP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考试可带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教材（含打印、复印教材）、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实验讲义和手写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笔记，课件</a:t>
            </a:r>
            <a:r>
              <a:rPr lang="en-US" altLang="zh-CN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PPT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打印稿</a:t>
            </a:r>
            <a:endParaRPr lang="en-US" altLang="zh-CN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755650" y="333375"/>
            <a:ext cx="7772400" cy="609600"/>
          </a:xfrm>
          <a:noFill/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B33D51"/>
                </a:solidFill>
                <a:ea typeface="楷体_GB2312" pitchFamily="49" charset="-122"/>
              </a:rPr>
              <a:t>教学管理</a:t>
            </a:r>
          </a:p>
        </p:txBody>
      </p:sp>
      <p:sp>
        <p:nvSpPr>
          <p:cNvPr id="6147" name="Rectangle 1027"/>
          <p:cNvSpPr>
            <a:spLocks noChangeArrowheads="1"/>
          </p:cNvSpPr>
          <p:nvPr/>
        </p:nvSpPr>
        <p:spPr bwMode="auto">
          <a:xfrm>
            <a:off x="790067" y="1268760"/>
            <a:ext cx="817880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0363" indent="-360363">
              <a:lnSpc>
                <a:spcPct val="125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1.3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次迟到为一次旷课，旷课超过</a:t>
            </a: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次取消考试资格。</a:t>
            </a:r>
          </a:p>
          <a:p>
            <a:pPr marL="360363" indent="-360363">
              <a:lnSpc>
                <a:spcPct val="125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可以书面申请自学，经教务批准后可免考勤，保留考试资格。</a:t>
            </a:r>
          </a:p>
          <a:p>
            <a:pPr marL="360363" indent="-360363">
              <a:lnSpc>
                <a:spcPct val="125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每次实验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前做好预习，准备好实验代码，连同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上机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签到作为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指导老师实验考勤依据。</a:t>
            </a:r>
          </a:p>
          <a:p>
            <a:pPr marL="360363" indent="-360363">
              <a:lnSpc>
                <a:spcPct val="125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4.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每次实验后撰写实验报告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，按要求提交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，学期</a:t>
            </a:r>
            <a:r>
              <a:rPr lang="zh-CN" altLang="en-US" sz="28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结束实验报告将上交</a:t>
            </a:r>
            <a:r>
              <a:rPr lang="zh-CN" altLang="en-US" sz="2800" b="1" dirty="0" smtClean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存档。</a:t>
            </a:r>
            <a:endParaRPr lang="zh-CN" altLang="en-US" sz="28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5399</TotalTime>
  <Words>450</Words>
  <Application>Microsoft Office PowerPoint</Application>
  <PresentationFormat>全屏显示(4:3)</PresentationFormat>
  <Paragraphs>59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楷体_GB2312</vt:lpstr>
      <vt:lpstr>宋体</vt:lpstr>
      <vt:lpstr>Times New Roman</vt:lpstr>
      <vt:lpstr>默认设计模板</vt:lpstr>
      <vt:lpstr>PowerPoint 演示文稿</vt:lpstr>
      <vt:lpstr>PowerPoint 演示文稿</vt:lpstr>
      <vt:lpstr>教师信息</vt:lpstr>
      <vt:lpstr>资料共享</vt:lpstr>
      <vt:lpstr>主要内容</vt:lpstr>
      <vt:lpstr>成绩评定</vt:lpstr>
      <vt:lpstr>教学管理</vt:lpstr>
    </vt:vector>
  </TitlesOfParts>
  <Company>jk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huqing</dc:creator>
  <cp:lastModifiedBy>MaoYX</cp:lastModifiedBy>
  <cp:revision>299</cp:revision>
  <dcterms:created xsi:type="dcterms:W3CDTF">2003-01-10T03:09:36Z</dcterms:created>
  <dcterms:modified xsi:type="dcterms:W3CDTF">2025-09-22T01:23:25Z</dcterms:modified>
</cp:coreProperties>
</file>