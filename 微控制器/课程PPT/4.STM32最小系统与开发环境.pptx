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Override1.xml" ContentType="application/vnd.openxmlformats-officedocument.themeOverr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1"/>
  </p:notesMasterIdLst>
  <p:sldIdLst>
    <p:sldId id="433" r:id="rId2"/>
    <p:sldId id="269" r:id="rId3"/>
    <p:sldId id="274" r:id="rId4"/>
    <p:sldId id="428" r:id="rId5"/>
    <p:sldId id="430" r:id="rId6"/>
    <p:sldId id="429" r:id="rId7"/>
    <p:sldId id="434" r:id="rId8"/>
    <p:sldId id="435" r:id="rId9"/>
    <p:sldId id="436" r:id="rId10"/>
    <p:sldId id="437" r:id="rId11"/>
    <p:sldId id="438" r:id="rId12"/>
    <p:sldId id="439" r:id="rId13"/>
    <p:sldId id="441" r:id="rId14"/>
    <p:sldId id="442" r:id="rId15"/>
    <p:sldId id="443" r:id="rId16"/>
    <p:sldId id="444" r:id="rId17"/>
    <p:sldId id="445" r:id="rId18"/>
    <p:sldId id="446" r:id="rId19"/>
    <p:sldId id="447" r:id="rId20"/>
    <p:sldId id="448" r:id="rId21"/>
    <p:sldId id="449" r:id="rId22"/>
    <p:sldId id="475" r:id="rId23"/>
    <p:sldId id="476" r:id="rId24"/>
    <p:sldId id="477" r:id="rId25"/>
    <p:sldId id="478" r:id="rId26"/>
    <p:sldId id="450" r:id="rId27"/>
    <p:sldId id="451" r:id="rId28"/>
    <p:sldId id="452" r:id="rId29"/>
    <p:sldId id="453" r:id="rId30"/>
    <p:sldId id="454" r:id="rId31"/>
    <p:sldId id="479" r:id="rId32"/>
    <p:sldId id="455" r:id="rId33"/>
    <p:sldId id="457" r:id="rId34"/>
    <p:sldId id="458" r:id="rId35"/>
    <p:sldId id="459" r:id="rId36"/>
    <p:sldId id="460" r:id="rId37"/>
    <p:sldId id="461" r:id="rId38"/>
    <p:sldId id="462" r:id="rId39"/>
    <p:sldId id="463" r:id="rId40"/>
    <p:sldId id="464" r:id="rId41"/>
    <p:sldId id="465" r:id="rId42"/>
    <p:sldId id="466" r:id="rId43"/>
    <p:sldId id="467" r:id="rId44"/>
    <p:sldId id="468" r:id="rId45"/>
    <p:sldId id="469" r:id="rId46"/>
    <p:sldId id="470" r:id="rId47"/>
    <p:sldId id="471" r:id="rId48"/>
    <p:sldId id="472" r:id="rId49"/>
    <p:sldId id="473" r:id="rId50"/>
  </p:sldIdLst>
  <p:sldSz cx="12192000" cy="6858000"/>
  <p:notesSz cx="6858000" cy="9144000"/>
  <p:custDataLst>
    <p:tags r:id="rId5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0D5B"/>
    <a:srgbClr val="5666D7"/>
    <a:srgbClr val="36A6B8"/>
    <a:srgbClr val="42E6E0"/>
    <a:srgbClr val="566BD8"/>
    <a:srgbClr val="42E8E0"/>
    <a:srgbClr val="255184"/>
    <a:srgbClr val="2B6C95"/>
    <a:srgbClr val="40DCD9"/>
    <a:srgbClr val="265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182" autoAdjust="0"/>
  </p:normalViewPr>
  <p:slideViewPr>
    <p:cSldViewPr snapToGrid="0">
      <p:cViewPr varScale="1">
        <p:scale>
          <a:sx n="76" d="100"/>
          <a:sy n="76" d="100"/>
        </p:scale>
        <p:origin x="714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7" name="矩形 9926">
            <a:extLst>
              <a:ext uri="{FF2B5EF4-FFF2-40B4-BE49-F238E27FC236}">
                <a16:creationId xmlns:a16="http://schemas.microsoft.com/office/drawing/2014/main" id="{F722FE8D-4A19-4A18-B1FB-8492B199FD0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943402" y="2737940"/>
            <a:ext cx="5087595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rgbClr val="5666D7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943402" y="1525496"/>
            <a:ext cx="5087595" cy="1198382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grpSp>
        <p:nvGrpSpPr>
          <p:cNvPr id="252" name="组合 251">
            <a:extLst>
              <a:ext uri="{FF2B5EF4-FFF2-40B4-BE49-F238E27FC236}">
                <a16:creationId xmlns:a16="http://schemas.microsoft.com/office/drawing/2014/main" id="{839CE1DB-111B-4A2C-A29E-C50E634E2318}"/>
              </a:ext>
            </a:extLst>
          </p:cNvPr>
          <p:cNvGrpSpPr/>
          <p:nvPr userDrawn="1"/>
        </p:nvGrpSpPr>
        <p:grpSpPr>
          <a:xfrm>
            <a:off x="2134335" y="607950"/>
            <a:ext cx="9680127" cy="5377577"/>
            <a:chOff x="4656138" y="2437995"/>
            <a:chExt cx="6846887" cy="3803634"/>
          </a:xfrm>
        </p:grpSpPr>
        <p:sp>
          <p:nvSpPr>
            <p:cNvPr id="196" name="椭圆 195">
              <a:extLst>
                <a:ext uri="{FF2B5EF4-FFF2-40B4-BE49-F238E27FC236}">
                  <a16:creationId xmlns:a16="http://schemas.microsoft.com/office/drawing/2014/main" id="{31287A23-FE6B-487B-8BED-0C677DFB4992}"/>
                </a:ext>
              </a:extLst>
            </p:cNvPr>
            <p:cNvSpPr/>
            <p:nvPr userDrawn="1"/>
          </p:nvSpPr>
          <p:spPr>
            <a:xfrm>
              <a:off x="9791994" y="5509651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椭圆 194">
              <a:extLst>
                <a:ext uri="{FF2B5EF4-FFF2-40B4-BE49-F238E27FC236}">
                  <a16:creationId xmlns:a16="http://schemas.microsoft.com/office/drawing/2014/main" id="{C044A711-CB2C-4F92-A19F-1C38F5CC3EA3}"/>
                </a:ext>
              </a:extLst>
            </p:cNvPr>
            <p:cNvSpPr/>
            <p:nvPr userDrawn="1"/>
          </p:nvSpPr>
          <p:spPr>
            <a:xfrm>
              <a:off x="8951536" y="5923755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椭圆 191">
              <a:extLst>
                <a:ext uri="{FF2B5EF4-FFF2-40B4-BE49-F238E27FC236}">
                  <a16:creationId xmlns:a16="http://schemas.microsoft.com/office/drawing/2014/main" id="{97AC0DD2-E837-4B6C-A8B4-9459081251B9}"/>
                </a:ext>
              </a:extLst>
            </p:cNvPr>
            <p:cNvSpPr/>
            <p:nvPr userDrawn="1"/>
          </p:nvSpPr>
          <p:spPr>
            <a:xfrm>
              <a:off x="7681196" y="5266157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99" name="椭圆 4098">
              <a:extLst>
                <a:ext uri="{FF2B5EF4-FFF2-40B4-BE49-F238E27FC236}">
                  <a16:creationId xmlns:a16="http://schemas.microsoft.com/office/drawing/2014/main" id="{CCFB4B6B-1FA7-46C9-B4AC-9CA47E3B66ED}"/>
                </a:ext>
              </a:extLst>
            </p:cNvPr>
            <p:cNvSpPr/>
            <p:nvPr userDrawn="1"/>
          </p:nvSpPr>
          <p:spPr>
            <a:xfrm>
              <a:off x="6269331" y="5704329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20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D7B420F-1711-4A49-A959-C81CD1AFFC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56138" y="4818063"/>
              <a:ext cx="6846887" cy="1335087"/>
            </a:xfrm>
            <a:custGeom>
              <a:avLst/>
              <a:gdLst>
                <a:gd name="T0" fmla="*/ 2059 w 2076"/>
                <a:gd name="T1" fmla="*/ 0 h 404"/>
                <a:gd name="T2" fmla="*/ 2053 w 2076"/>
                <a:gd name="T3" fmla="*/ 2 h 404"/>
                <a:gd name="T4" fmla="*/ 1420 w 2076"/>
                <a:gd name="T5" fmla="*/ 368 h 404"/>
                <a:gd name="T6" fmla="*/ 1388 w 2076"/>
                <a:gd name="T7" fmla="*/ 376 h 404"/>
                <a:gd name="T8" fmla="*/ 1357 w 2076"/>
                <a:gd name="T9" fmla="*/ 368 h 404"/>
                <a:gd name="T10" fmla="*/ 949 w 2076"/>
                <a:gd name="T11" fmla="*/ 132 h 404"/>
                <a:gd name="T12" fmla="*/ 903 w 2076"/>
                <a:gd name="T13" fmla="*/ 120 h 404"/>
                <a:gd name="T14" fmla="*/ 858 w 2076"/>
                <a:gd name="T15" fmla="*/ 132 h 404"/>
                <a:gd name="T16" fmla="*/ 521 w 2076"/>
                <a:gd name="T17" fmla="*/ 326 h 404"/>
                <a:gd name="T18" fmla="*/ 490 w 2076"/>
                <a:gd name="T19" fmla="*/ 335 h 404"/>
                <a:gd name="T20" fmla="*/ 459 w 2076"/>
                <a:gd name="T21" fmla="*/ 326 h 404"/>
                <a:gd name="T22" fmla="*/ 23 w 2076"/>
                <a:gd name="T23" fmla="*/ 75 h 404"/>
                <a:gd name="T24" fmla="*/ 16 w 2076"/>
                <a:gd name="T25" fmla="*/ 73 h 404"/>
                <a:gd name="T26" fmla="*/ 4 w 2076"/>
                <a:gd name="T27" fmla="*/ 80 h 404"/>
                <a:gd name="T28" fmla="*/ 9 w 2076"/>
                <a:gd name="T29" fmla="*/ 99 h 404"/>
                <a:gd name="T30" fmla="*/ 445 w 2076"/>
                <a:gd name="T31" fmla="*/ 351 h 404"/>
                <a:gd name="T32" fmla="*/ 490 w 2076"/>
                <a:gd name="T33" fmla="*/ 363 h 404"/>
                <a:gd name="T34" fmla="*/ 535 w 2076"/>
                <a:gd name="T35" fmla="*/ 351 h 404"/>
                <a:gd name="T36" fmla="*/ 872 w 2076"/>
                <a:gd name="T37" fmla="*/ 156 h 404"/>
                <a:gd name="T38" fmla="*/ 903 w 2076"/>
                <a:gd name="T39" fmla="*/ 148 h 404"/>
                <a:gd name="T40" fmla="*/ 935 w 2076"/>
                <a:gd name="T41" fmla="*/ 156 h 404"/>
                <a:gd name="T42" fmla="*/ 1343 w 2076"/>
                <a:gd name="T43" fmla="*/ 392 h 404"/>
                <a:gd name="T44" fmla="*/ 1388 w 2076"/>
                <a:gd name="T45" fmla="*/ 404 h 404"/>
                <a:gd name="T46" fmla="*/ 1434 w 2076"/>
                <a:gd name="T47" fmla="*/ 392 h 404"/>
                <a:gd name="T48" fmla="*/ 2067 w 2076"/>
                <a:gd name="T49" fmla="*/ 26 h 404"/>
                <a:gd name="T50" fmla="*/ 2072 w 2076"/>
                <a:gd name="T51" fmla="*/ 7 h 404"/>
                <a:gd name="T52" fmla="*/ 2059 w 2076"/>
                <a:gd name="T53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076" h="404">
                  <a:moveTo>
                    <a:pt x="2059" y="0"/>
                  </a:moveTo>
                  <a:cubicBezTo>
                    <a:pt x="2057" y="0"/>
                    <a:pt x="2055" y="1"/>
                    <a:pt x="2053" y="2"/>
                  </a:cubicBezTo>
                  <a:cubicBezTo>
                    <a:pt x="1420" y="368"/>
                    <a:pt x="1420" y="368"/>
                    <a:pt x="1420" y="368"/>
                  </a:cubicBezTo>
                  <a:cubicBezTo>
                    <a:pt x="1410" y="373"/>
                    <a:pt x="1399" y="376"/>
                    <a:pt x="1388" y="376"/>
                  </a:cubicBezTo>
                  <a:cubicBezTo>
                    <a:pt x="1378" y="376"/>
                    <a:pt x="1367" y="373"/>
                    <a:pt x="1357" y="368"/>
                  </a:cubicBezTo>
                  <a:cubicBezTo>
                    <a:pt x="949" y="132"/>
                    <a:pt x="949" y="132"/>
                    <a:pt x="949" y="132"/>
                  </a:cubicBezTo>
                  <a:cubicBezTo>
                    <a:pt x="935" y="124"/>
                    <a:pt x="919" y="120"/>
                    <a:pt x="903" y="120"/>
                  </a:cubicBezTo>
                  <a:cubicBezTo>
                    <a:pt x="888" y="120"/>
                    <a:pt x="872" y="124"/>
                    <a:pt x="858" y="132"/>
                  </a:cubicBezTo>
                  <a:cubicBezTo>
                    <a:pt x="521" y="326"/>
                    <a:pt x="521" y="326"/>
                    <a:pt x="521" y="326"/>
                  </a:cubicBezTo>
                  <a:cubicBezTo>
                    <a:pt x="511" y="332"/>
                    <a:pt x="501" y="335"/>
                    <a:pt x="490" y="335"/>
                  </a:cubicBezTo>
                  <a:cubicBezTo>
                    <a:pt x="479" y="335"/>
                    <a:pt x="468" y="332"/>
                    <a:pt x="459" y="326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1" y="74"/>
                    <a:pt x="19" y="73"/>
                    <a:pt x="16" y="73"/>
                  </a:cubicBezTo>
                  <a:cubicBezTo>
                    <a:pt x="11" y="73"/>
                    <a:pt x="7" y="76"/>
                    <a:pt x="4" y="80"/>
                  </a:cubicBezTo>
                  <a:cubicBezTo>
                    <a:pt x="0" y="87"/>
                    <a:pt x="3" y="95"/>
                    <a:pt x="9" y="99"/>
                  </a:cubicBezTo>
                  <a:cubicBezTo>
                    <a:pt x="445" y="351"/>
                    <a:pt x="445" y="351"/>
                    <a:pt x="445" y="351"/>
                  </a:cubicBezTo>
                  <a:cubicBezTo>
                    <a:pt x="459" y="359"/>
                    <a:pt x="474" y="363"/>
                    <a:pt x="490" y="363"/>
                  </a:cubicBezTo>
                  <a:cubicBezTo>
                    <a:pt x="506" y="363"/>
                    <a:pt x="521" y="359"/>
                    <a:pt x="535" y="351"/>
                  </a:cubicBezTo>
                  <a:cubicBezTo>
                    <a:pt x="872" y="156"/>
                    <a:pt x="872" y="156"/>
                    <a:pt x="872" y="156"/>
                  </a:cubicBezTo>
                  <a:cubicBezTo>
                    <a:pt x="882" y="150"/>
                    <a:pt x="893" y="148"/>
                    <a:pt x="903" y="148"/>
                  </a:cubicBezTo>
                  <a:cubicBezTo>
                    <a:pt x="914" y="148"/>
                    <a:pt x="925" y="150"/>
                    <a:pt x="935" y="156"/>
                  </a:cubicBezTo>
                  <a:cubicBezTo>
                    <a:pt x="1343" y="392"/>
                    <a:pt x="1343" y="392"/>
                    <a:pt x="1343" y="392"/>
                  </a:cubicBezTo>
                  <a:cubicBezTo>
                    <a:pt x="1357" y="400"/>
                    <a:pt x="1373" y="404"/>
                    <a:pt x="1388" y="404"/>
                  </a:cubicBezTo>
                  <a:cubicBezTo>
                    <a:pt x="1404" y="404"/>
                    <a:pt x="1420" y="400"/>
                    <a:pt x="1434" y="392"/>
                  </a:cubicBezTo>
                  <a:cubicBezTo>
                    <a:pt x="2067" y="26"/>
                    <a:pt x="2067" y="26"/>
                    <a:pt x="2067" y="26"/>
                  </a:cubicBezTo>
                  <a:cubicBezTo>
                    <a:pt x="2073" y="23"/>
                    <a:pt x="2076" y="14"/>
                    <a:pt x="2072" y="7"/>
                  </a:cubicBezTo>
                  <a:cubicBezTo>
                    <a:pt x="2069" y="3"/>
                    <a:pt x="2064" y="0"/>
                    <a:pt x="2059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50000"/>
                  </a:srgbClr>
                </a:gs>
                <a:gs pos="37000">
                  <a:srgbClr val="41E4DE">
                    <a:alpha val="50000"/>
                  </a:srgbClr>
                </a:gs>
                <a:gs pos="0">
                  <a:srgbClr val="19145F">
                    <a:alpha val="50000"/>
                  </a:srgbClr>
                </a:gs>
                <a:gs pos="100000">
                  <a:srgbClr val="19125E">
                    <a:alpha val="50000"/>
                  </a:srgbClr>
                </a:gs>
              </a:gsLst>
              <a:lin ang="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1C9163C-CB87-4DDA-A749-1A8F5B9D2AB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40638" y="3989388"/>
              <a:ext cx="3186112" cy="1830387"/>
            </a:xfrm>
            <a:custGeom>
              <a:avLst/>
              <a:gdLst>
                <a:gd name="T0" fmla="*/ 483 w 966"/>
                <a:gd name="T1" fmla="*/ 466 h 554"/>
                <a:gd name="T2" fmla="*/ 157 w 966"/>
                <a:gd name="T3" fmla="*/ 277 h 554"/>
                <a:gd name="T4" fmla="*/ 483 w 966"/>
                <a:gd name="T5" fmla="*/ 89 h 554"/>
                <a:gd name="T6" fmla="*/ 810 w 966"/>
                <a:gd name="T7" fmla="*/ 277 h 554"/>
                <a:gd name="T8" fmla="*/ 483 w 966"/>
                <a:gd name="T9" fmla="*/ 466 h 554"/>
                <a:gd name="T10" fmla="*/ 483 w 966"/>
                <a:gd name="T11" fmla="*/ 48 h 554"/>
                <a:gd name="T12" fmla="*/ 472 w 966"/>
                <a:gd name="T13" fmla="*/ 51 h 554"/>
                <a:gd name="T14" fmla="*/ 82 w 966"/>
                <a:gd name="T15" fmla="*/ 276 h 554"/>
                <a:gd name="T16" fmla="*/ 81 w 966"/>
                <a:gd name="T17" fmla="*/ 277 h 554"/>
                <a:gd name="T18" fmla="*/ 82 w 966"/>
                <a:gd name="T19" fmla="*/ 278 h 554"/>
                <a:gd name="T20" fmla="*/ 472 w 966"/>
                <a:gd name="T21" fmla="*/ 503 h 554"/>
                <a:gd name="T22" fmla="*/ 472 w 966"/>
                <a:gd name="T23" fmla="*/ 503 h 554"/>
                <a:gd name="T24" fmla="*/ 483 w 966"/>
                <a:gd name="T25" fmla="*/ 506 h 554"/>
                <a:gd name="T26" fmla="*/ 494 w 966"/>
                <a:gd name="T27" fmla="*/ 503 h 554"/>
                <a:gd name="T28" fmla="*/ 884 w 966"/>
                <a:gd name="T29" fmla="*/ 278 h 554"/>
                <a:gd name="T30" fmla="*/ 885 w 966"/>
                <a:gd name="T31" fmla="*/ 277 h 554"/>
                <a:gd name="T32" fmla="*/ 884 w 966"/>
                <a:gd name="T33" fmla="*/ 276 h 554"/>
                <a:gd name="T34" fmla="*/ 494 w 966"/>
                <a:gd name="T35" fmla="*/ 51 h 554"/>
                <a:gd name="T36" fmla="*/ 483 w 966"/>
                <a:gd name="T37" fmla="*/ 48 h 554"/>
                <a:gd name="T38" fmla="*/ 483 w 966"/>
                <a:gd name="T39" fmla="*/ 518 h 554"/>
                <a:gd name="T40" fmla="*/ 466 w 966"/>
                <a:gd name="T41" fmla="*/ 514 h 554"/>
                <a:gd name="T42" fmla="*/ 466 w 966"/>
                <a:gd name="T43" fmla="*/ 514 h 554"/>
                <a:gd name="T44" fmla="*/ 76 w 966"/>
                <a:gd name="T45" fmla="*/ 289 h 554"/>
                <a:gd name="T46" fmla="*/ 69 w 966"/>
                <a:gd name="T47" fmla="*/ 277 h 554"/>
                <a:gd name="T48" fmla="*/ 76 w 966"/>
                <a:gd name="T49" fmla="*/ 266 h 554"/>
                <a:gd name="T50" fmla="*/ 466 w 966"/>
                <a:gd name="T51" fmla="*/ 41 h 554"/>
                <a:gd name="T52" fmla="*/ 483 w 966"/>
                <a:gd name="T53" fmla="*/ 36 h 554"/>
                <a:gd name="T54" fmla="*/ 500 w 966"/>
                <a:gd name="T55" fmla="*/ 41 h 554"/>
                <a:gd name="T56" fmla="*/ 890 w 966"/>
                <a:gd name="T57" fmla="*/ 266 h 554"/>
                <a:gd name="T58" fmla="*/ 897 w 966"/>
                <a:gd name="T59" fmla="*/ 277 h 554"/>
                <a:gd name="T60" fmla="*/ 890 w 966"/>
                <a:gd name="T61" fmla="*/ 289 h 554"/>
                <a:gd name="T62" fmla="*/ 500 w 966"/>
                <a:gd name="T63" fmla="*/ 514 h 554"/>
                <a:gd name="T64" fmla="*/ 483 w 966"/>
                <a:gd name="T65" fmla="*/ 518 h 554"/>
                <a:gd name="T66" fmla="*/ 483 w 966"/>
                <a:gd name="T67" fmla="*/ 0 h 554"/>
                <a:gd name="T68" fmla="*/ 462 w 966"/>
                <a:gd name="T69" fmla="*/ 6 h 554"/>
                <a:gd name="T70" fmla="*/ 7 w 966"/>
                <a:gd name="T71" fmla="*/ 269 h 554"/>
                <a:gd name="T72" fmla="*/ 7 w 966"/>
                <a:gd name="T73" fmla="*/ 286 h 554"/>
                <a:gd name="T74" fmla="*/ 462 w 966"/>
                <a:gd name="T75" fmla="*/ 548 h 554"/>
                <a:gd name="T76" fmla="*/ 483 w 966"/>
                <a:gd name="T77" fmla="*/ 554 h 554"/>
                <a:gd name="T78" fmla="*/ 505 w 966"/>
                <a:gd name="T79" fmla="*/ 548 h 554"/>
                <a:gd name="T80" fmla="*/ 960 w 966"/>
                <a:gd name="T81" fmla="*/ 286 h 554"/>
                <a:gd name="T82" fmla="*/ 960 w 966"/>
                <a:gd name="T83" fmla="*/ 269 h 554"/>
                <a:gd name="T84" fmla="*/ 505 w 966"/>
                <a:gd name="T85" fmla="*/ 6 h 554"/>
                <a:gd name="T86" fmla="*/ 483 w 966"/>
                <a:gd name="T87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66" h="554">
                  <a:moveTo>
                    <a:pt x="483" y="466"/>
                  </a:moveTo>
                  <a:cubicBezTo>
                    <a:pt x="157" y="277"/>
                    <a:pt x="157" y="277"/>
                    <a:pt x="157" y="277"/>
                  </a:cubicBezTo>
                  <a:cubicBezTo>
                    <a:pt x="483" y="89"/>
                    <a:pt x="483" y="89"/>
                    <a:pt x="483" y="89"/>
                  </a:cubicBezTo>
                  <a:cubicBezTo>
                    <a:pt x="810" y="277"/>
                    <a:pt x="810" y="277"/>
                    <a:pt x="810" y="277"/>
                  </a:cubicBezTo>
                  <a:cubicBezTo>
                    <a:pt x="483" y="466"/>
                    <a:pt x="483" y="466"/>
                    <a:pt x="483" y="466"/>
                  </a:cubicBezTo>
                  <a:moveTo>
                    <a:pt x="483" y="48"/>
                  </a:moveTo>
                  <a:cubicBezTo>
                    <a:pt x="479" y="48"/>
                    <a:pt x="475" y="49"/>
                    <a:pt x="472" y="51"/>
                  </a:cubicBezTo>
                  <a:cubicBezTo>
                    <a:pt x="82" y="276"/>
                    <a:pt x="82" y="276"/>
                    <a:pt x="82" y="276"/>
                  </a:cubicBezTo>
                  <a:cubicBezTo>
                    <a:pt x="82" y="277"/>
                    <a:pt x="81" y="277"/>
                    <a:pt x="81" y="277"/>
                  </a:cubicBezTo>
                  <a:cubicBezTo>
                    <a:pt x="81" y="278"/>
                    <a:pt x="82" y="278"/>
                    <a:pt x="82" y="278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5" y="505"/>
                    <a:pt x="479" y="506"/>
                    <a:pt x="483" y="506"/>
                  </a:cubicBezTo>
                  <a:cubicBezTo>
                    <a:pt x="487" y="506"/>
                    <a:pt x="491" y="505"/>
                    <a:pt x="494" y="503"/>
                  </a:cubicBezTo>
                  <a:cubicBezTo>
                    <a:pt x="884" y="278"/>
                    <a:pt x="884" y="278"/>
                    <a:pt x="884" y="278"/>
                  </a:cubicBezTo>
                  <a:cubicBezTo>
                    <a:pt x="885" y="278"/>
                    <a:pt x="885" y="278"/>
                    <a:pt x="885" y="277"/>
                  </a:cubicBezTo>
                  <a:cubicBezTo>
                    <a:pt x="885" y="277"/>
                    <a:pt x="885" y="277"/>
                    <a:pt x="884" y="276"/>
                  </a:cubicBezTo>
                  <a:cubicBezTo>
                    <a:pt x="494" y="51"/>
                    <a:pt x="494" y="51"/>
                    <a:pt x="494" y="51"/>
                  </a:cubicBezTo>
                  <a:cubicBezTo>
                    <a:pt x="491" y="49"/>
                    <a:pt x="487" y="48"/>
                    <a:pt x="483" y="48"/>
                  </a:cubicBezTo>
                  <a:moveTo>
                    <a:pt x="483" y="518"/>
                  </a:moveTo>
                  <a:cubicBezTo>
                    <a:pt x="477" y="518"/>
                    <a:pt x="471" y="517"/>
                    <a:pt x="466" y="514"/>
                  </a:cubicBezTo>
                  <a:cubicBezTo>
                    <a:pt x="466" y="514"/>
                    <a:pt x="466" y="514"/>
                    <a:pt x="466" y="514"/>
                  </a:cubicBezTo>
                  <a:cubicBezTo>
                    <a:pt x="76" y="289"/>
                    <a:pt x="76" y="289"/>
                    <a:pt x="76" y="289"/>
                  </a:cubicBezTo>
                  <a:cubicBezTo>
                    <a:pt x="72" y="286"/>
                    <a:pt x="69" y="282"/>
                    <a:pt x="69" y="277"/>
                  </a:cubicBezTo>
                  <a:cubicBezTo>
                    <a:pt x="69" y="273"/>
                    <a:pt x="72" y="268"/>
                    <a:pt x="76" y="266"/>
                  </a:cubicBezTo>
                  <a:cubicBezTo>
                    <a:pt x="466" y="41"/>
                    <a:pt x="466" y="41"/>
                    <a:pt x="466" y="41"/>
                  </a:cubicBezTo>
                  <a:cubicBezTo>
                    <a:pt x="471" y="38"/>
                    <a:pt x="477" y="36"/>
                    <a:pt x="483" y="36"/>
                  </a:cubicBezTo>
                  <a:cubicBezTo>
                    <a:pt x="489" y="36"/>
                    <a:pt x="495" y="38"/>
                    <a:pt x="500" y="41"/>
                  </a:cubicBezTo>
                  <a:cubicBezTo>
                    <a:pt x="890" y="266"/>
                    <a:pt x="890" y="266"/>
                    <a:pt x="890" y="266"/>
                  </a:cubicBezTo>
                  <a:cubicBezTo>
                    <a:pt x="894" y="268"/>
                    <a:pt x="897" y="273"/>
                    <a:pt x="897" y="277"/>
                  </a:cubicBezTo>
                  <a:cubicBezTo>
                    <a:pt x="897" y="282"/>
                    <a:pt x="894" y="286"/>
                    <a:pt x="890" y="289"/>
                  </a:cubicBezTo>
                  <a:cubicBezTo>
                    <a:pt x="500" y="514"/>
                    <a:pt x="500" y="514"/>
                    <a:pt x="500" y="514"/>
                  </a:cubicBezTo>
                  <a:cubicBezTo>
                    <a:pt x="495" y="517"/>
                    <a:pt x="489" y="518"/>
                    <a:pt x="483" y="518"/>
                  </a:cubicBezTo>
                  <a:moveTo>
                    <a:pt x="483" y="0"/>
                  </a:moveTo>
                  <a:cubicBezTo>
                    <a:pt x="476" y="0"/>
                    <a:pt x="468" y="2"/>
                    <a:pt x="462" y="6"/>
                  </a:cubicBezTo>
                  <a:cubicBezTo>
                    <a:pt x="7" y="269"/>
                    <a:pt x="7" y="269"/>
                    <a:pt x="7" y="269"/>
                  </a:cubicBezTo>
                  <a:cubicBezTo>
                    <a:pt x="0" y="273"/>
                    <a:pt x="0" y="282"/>
                    <a:pt x="7" y="286"/>
                  </a:cubicBezTo>
                  <a:cubicBezTo>
                    <a:pt x="462" y="548"/>
                    <a:pt x="462" y="548"/>
                    <a:pt x="462" y="548"/>
                  </a:cubicBezTo>
                  <a:cubicBezTo>
                    <a:pt x="468" y="552"/>
                    <a:pt x="476" y="554"/>
                    <a:pt x="483" y="554"/>
                  </a:cubicBezTo>
                  <a:cubicBezTo>
                    <a:pt x="491" y="554"/>
                    <a:pt x="498" y="552"/>
                    <a:pt x="505" y="548"/>
                  </a:cubicBezTo>
                  <a:cubicBezTo>
                    <a:pt x="960" y="286"/>
                    <a:pt x="960" y="286"/>
                    <a:pt x="960" y="286"/>
                  </a:cubicBezTo>
                  <a:cubicBezTo>
                    <a:pt x="966" y="282"/>
                    <a:pt x="966" y="273"/>
                    <a:pt x="960" y="269"/>
                  </a:cubicBezTo>
                  <a:cubicBezTo>
                    <a:pt x="505" y="6"/>
                    <a:pt x="505" y="6"/>
                    <a:pt x="505" y="6"/>
                  </a:cubicBezTo>
                  <a:cubicBezTo>
                    <a:pt x="498" y="2"/>
                    <a:pt x="491" y="0"/>
                    <a:pt x="483" y="0"/>
                  </a:cubicBezTo>
                </a:path>
              </a:pathLst>
            </a:custGeom>
            <a:solidFill>
              <a:srgbClr val="5E5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C5F6088-3348-4370-A1D6-28FAA3A584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69238" y="4108450"/>
              <a:ext cx="2730500" cy="1592262"/>
            </a:xfrm>
            <a:custGeom>
              <a:avLst/>
              <a:gdLst>
                <a:gd name="T0" fmla="*/ 403 w 828"/>
                <a:gd name="T1" fmla="*/ 467 h 482"/>
                <a:gd name="T2" fmla="*/ 13 w 828"/>
                <a:gd name="T3" fmla="*/ 242 h 482"/>
                <a:gd name="T4" fmla="*/ 12 w 828"/>
                <a:gd name="T5" fmla="*/ 241 h 482"/>
                <a:gd name="T6" fmla="*/ 13 w 828"/>
                <a:gd name="T7" fmla="*/ 240 h 482"/>
                <a:gd name="T8" fmla="*/ 403 w 828"/>
                <a:gd name="T9" fmla="*/ 15 h 482"/>
                <a:gd name="T10" fmla="*/ 414 w 828"/>
                <a:gd name="T11" fmla="*/ 12 h 482"/>
                <a:gd name="T12" fmla="*/ 425 w 828"/>
                <a:gd name="T13" fmla="*/ 15 h 482"/>
                <a:gd name="T14" fmla="*/ 815 w 828"/>
                <a:gd name="T15" fmla="*/ 240 h 482"/>
                <a:gd name="T16" fmla="*/ 816 w 828"/>
                <a:gd name="T17" fmla="*/ 241 h 482"/>
                <a:gd name="T18" fmla="*/ 815 w 828"/>
                <a:gd name="T19" fmla="*/ 242 h 482"/>
                <a:gd name="T20" fmla="*/ 425 w 828"/>
                <a:gd name="T21" fmla="*/ 467 h 482"/>
                <a:gd name="T22" fmla="*/ 414 w 828"/>
                <a:gd name="T23" fmla="*/ 470 h 482"/>
                <a:gd name="T24" fmla="*/ 403 w 828"/>
                <a:gd name="T25" fmla="*/ 467 h 482"/>
                <a:gd name="T26" fmla="*/ 403 w 828"/>
                <a:gd name="T27" fmla="*/ 467 h 482"/>
                <a:gd name="T28" fmla="*/ 414 w 828"/>
                <a:gd name="T29" fmla="*/ 0 h 482"/>
                <a:gd name="T30" fmla="*/ 397 w 828"/>
                <a:gd name="T31" fmla="*/ 5 h 482"/>
                <a:gd name="T32" fmla="*/ 7 w 828"/>
                <a:gd name="T33" fmla="*/ 230 h 482"/>
                <a:gd name="T34" fmla="*/ 0 w 828"/>
                <a:gd name="T35" fmla="*/ 241 h 482"/>
                <a:gd name="T36" fmla="*/ 7 w 828"/>
                <a:gd name="T37" fmla="*/ 253 h 482"/>
                <a:gd name="T38" fmla="*/ 397 w 828"/>
                <a:gd name="T39" fmla="*/ 478 h 482"/>
                <a:gd name="T40" fmla="*/ 397 w 828"/>
                <a:gd name="T41" fmla="*/ 478 h 482"/>
                <a:gd name="T42" fmla="*/ 414 w 828"/>
                <a:gd name="T43" fmla="*/ 482 h 482"/>
                <a:gd name="T44" fmla="*/ 431 w 828"/>
                <a:gd name="T45" fmla="*/ 478 h 482"/>
                <a:gd name="T46" fmla="*/ 821 w 828"/>
                <a:gd name="T47" fmla="*/ 253 h 482"/>
                <a:gd name="T48" fmla="*/ 828 w 828"/>
                <a:gd name="T49" fmla="*/ 241 h 482"/>
                <a:gd name="T50" fmla="*/ 821 w 828"/>
                <a:gd name="T51" fmla="*/ 230 h 482"/>
                <a:gd name="T52" fmla="*/ 431 w 828"/>
                <a:gd name="T53" fmla="*/ 5 h 482"/>
                <a:gd name="T54" fmla="*/ 414 w 828"/>
                <a:gd name="T55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28" h="482">
                  <a:moveTo>
                    <a:pt x="403" y="467"/>
                  </a:moveTo>
                  <a:cubicBezTo>
                    <a:pt x="13" y="242"/>
                    <a:pt x="13" y="242"/>
                    <a:pt x="13" y="242"/>
                  </a:cubicBezTo>
                  <a:cubicBezTo>
                    <a:pt x="13" y="242"/>
                    <a:pt x="12" y="242"/>
                    <a:pt x="12" y="241"/>
                  </a:cubicBezTo>
                  <a:cubicBezTo>
                    <a:pt x="12" y="241"/>
                    <a:pt x="13" y="241"/>
                    <a:pt x="13" y="240"/>
                  </a:cubicBezTo>
                  <a:cubicBezTo>
                    <a:pt x="403" y="15"/>
                    <a:pt x="403" y="15"/>
                    <a:pt x="403" y="15"/>
                  </a:cubicBezTo>
                  <a:cubicBezTo>
                    <a:pt x="406" y="13"/>
                    <a:pt x="410" y="12"/>
                    <a:pt x="414" y="12"/>
                  </a:cubicBezTo>
                  <a:cubicBezTo>
                    <a:pt x="418" y="12"/>
                    <a:pt x="422" y="13"/>
                    <a:pt x="425" y="15"/>
                  </a:cubicBezTo>
                  <a:cubicBezTo>
                    <a:pt x="815" y="240"/>
                    <a:pt x="815" y="240"/>
                    <a:pt x="815" y="240"/>
                  </a:cubicBezTo>
                  <a:cubicBezTo>
                    <a:pt x="816" y="241"/>
                    <a:pt x="816" y="241"/>
                    <a:pt x="816" y="241"/>
                  </a:cubicBezTo>
                  <a:cubicBezTo>
                    <a:pt x="816" y="242"/>
                    <a:pt x="816" y="242"/>
                    <a:pt x="815" y="242"/>
                  </a:cubicBezTo>
                  <a:cubicBezTo>
                    <a:pt x="425" y="467"/>
                    <a:pt x="425" y="467"/>
                    <a:pt x="425" y="467"/>
                  </a:cubicBezTo>
                  <a:cubicBezTo>
                    <a:pt x="422" y="469"/>
                    <a:pt x="418" y="470"/>
                    <a:pt x="414" y="470"/>
                  </a:cubicBezTo>
                  <a:cubicBezTo>
                    <a:pt x="410" y="470"/>
                    <a:pt x="406" y="469"/>
                    <a:pt x="403" y="467"/>
                  </a:cubicBezTo>
                  <a:cubicBezTo>
                    <a:pt x="403" y="467"/>
                    <a:pt x="403" y="467"/>
                    <a:pt x="403" y="467"/>
                  </a:cubicBezTo>
                  <a:moveTo>
                    <a:pt x="414" y="0"/>
                  </a:moveTo>
                  <a:cubicBezTo>
                    <a:pt x="408" y="0"/>
                    <a:pt x="402" y="2"/>
                    <a:pt x="397" y="5"/>
                  </a:cubicBezTo>
                  <a:cubicBezTo>
                    <a:pt x="7" y="230"/>
                    <a:pt x="7" y="230"/>
                    <a:pt x="7" y="230"/>
                  </a:cubicBezTo>
                  <a:cubicBezTo>
                    <a:pt x="3" y="232"/>
                    <a:pt x="0" y="237"/>
                    <a:pt x="0" y="241"/>
                  </a:cubicBezTo>
                  <a:cubicBezTo>
                    <a:pt x="0" y="246"/>
                    <a:pt x="3" y="250"/>
                    <a:pt x="7" y="253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402" y="481"/>
                    <a:pt x="408" y="482"/>
                    <a:pt x="414" y="482"/>
                  </a:cubicBezTo>
                  <a:cubicBezTo>
                    <a:pt x="420" y="482"/>
                    <a:pt x="426" y="481"/>
                    <a:pt x="431" y="478"/>
                  </a:cubicBezTo>
                  <a:cubicBezTo>
                    <a:pt x="821" y="253"/>
                    <a:pt x="821" y="253"/>
                    <a:pt x="821" y="253"/>
                  </a:cubicBezTo>
                  <a:cubicBezTo>
                    <a:pt x="825" y="250"/>
                    <a:pt x="828" y="246"/>
                    <a:pt x="828" y="241"/>
                  </a:cubicBezTo>
                  <a:cubicBezTo>
                    <a:pt x="828" y="237"/>
                    <a:pt x="825" y="232"/>
                    <a:pt x="821" y="230"/>
                  </a:cubicBezTo>
                  <a:cubicBezTo>
                    <a:pt x="431" y="5"/>
                    <a:pt x="431" y="5"/>
                    <a:pt x="431" y="5"/>
                  </a:cubicBezTo>
                  <a:cubicBezTo>
                    <a:pt x="426" y="2"/>
                    <a:pt x="420" y="0"/>
                    <a:pt x="414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74000"/>
                  </a:srgbClr>
                </a:gs>
                <a:gs pos="37000">
                  <a:srgbClr val="41E4DE">
                    <a:alpha val="71000"/>
                  </a:srgbClr>
                </a:gs>
                <a:gs pos="0">
                  <a:srgbClr val="19145F"/>
                </a:gs>
                <a:gs pos="100000">
                  <a:srgbClr val="19125E">
                    <a:alpha val="8200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CD134D4A-FF64-418D-BF61-AE24A995E0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100B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FC0074FF-5BCC-45FA-8E44-F66DF0B78B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55">
              <a:extLst>
                <a:ext uri="{FF2B5EF4-FFF2-40B4-BE49-F238E27FC236}">
                  <a16:creationId xmlns:a16="http://schemas.microsoft.com/office/drawing/2014/main" id="{B5EFAE15-02B0-4FEA-B304-654B59B7E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3861" y="58102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3"/>
                    <a:pt x="17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56">
              <a:extLst>
                <a:ext uri="{FF2B5EF4-FFF2-40B4-BE49-F238E27FC236}">
                  <a16:creationId xmlns:a16="http://schemas.microsoft.com/office/drawing/2014/main" id="{AACA5D4B-622F-452A-9E2E-FB3D8E5B42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05936" y="5756275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4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4" y="24"/>
                  </a:cubicBezTo>
                  <a:cubicBezTo>
                    <a:pt x="16" y="24"/>
                    <a:pt x="18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57">
              <a:extLst>
                <a:ext uri="{FF2B5EF4-FFF2-40B4-BE49-F238E27FC236}">
                  <a16:creationId xmlns:a16="http://schemas.microsoft.com/office/drawing/2014/main" id="{E9112628-8D4E-4BCC-BC3E-D239FECFF1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01186" y="5702300"/>
              <a:ext cx="85725" cy="77787"/>
            </a:xfrm>
            <a:custGeom>
              <a:avLst/>
              <a:gdLst>
                <a:gd name="T0" fmla="*/ 13 w 26"/>
                <a:gd name="T1" fmla="*/ 0 h 23"/>
                <a:gd name="T2" fmla="*/ 7 w 26"/>
                <a:gd name="T3" fmla="*/ 1 h 23"/>
                <a:gd name="T4" fmla="*/ 3 w 26"/>
                <a:gd name="T5" fmla="*/ 18 h 23"/>
                <a:gd name="T6" fmla="*/ 13 w 26"/>
                <a:gd name="T7" fmla="*/ 23 h 23"/>
                <a:gd name="T8" fmla="*/ 19 w 26"/>
                <a:gd name="T9" fmla="*/ 22 h 23"/>
                <a:gd name="T10" fmla="*/ 23 w 26"/>
                <a:gd name="T11" fmla="*/ 6 h 23"/>
                <a:gd name="T12" fmla="*/ 13 w 26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3">
                  <a:moveTo>
                    <a:pt x="13" y="0"/>
                  </a:moveTo>
                  <a:cubicBezTo>
                    <a:pt x="11" y="0"/>
                    <a:pt x="9" y="0"/>
                    <a:pt x="7" y="1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58">
              <a:extLst>
                <a:ext uri="{FF2B5EF4-FFF2-40B4-BE49-F238E27FC236}">
                  <a16:creationId xmlns:a16="http://schemas.microsoft.com/office/drawing/2014/main" id="{4C1692C0-671E-4112-8870-EA379167AC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3261" y="5649912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4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3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59">
              <a:extLst>
                <a:ext uri="{FF2B5EF4-FFF2-40B4-BE49-F238E27FC236}">
                  <a16:creationId xmlns:a16="http://schemas.microsoft.com/office/drawing/2014/main" id="{CE40BE4D-1325-413C-9BF6-92993CBBA4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6924" y="559593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1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60">
              <a:extLst>
                <a:ext uri="{FF2B5EF4-FFF2-40B4-BE49-F238E27FC236}">
                  <a16:creationId xmlns:a16="http://schemas.microsoft.com/office/drawing/2014/main" id="{F6CF83C1-7FD5-4B8D-B257-A98CD78B78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82174" y="5538787"/>
              <a:ext cx="88900" cy="80962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61">
              <a:extLst>
                <a:ext uri="{FF2B5EF4-FFF2-40B4-BE49-F238E27FC236}">
                  <a16:creationId xmlns:a16="http://schemas.microsoft.com/office/drawing/2014/main" id="{B15DA810-0AC5-40C4-A5A1-B1285D0BAB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3161" y="5372100"/>
              <a:ext cx="88900" cy="77787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62">
              <a:extLst>
                <a:ext uri="{FF2B5EF4-FFF2-40B4-BE49-F238E27FC236}">
                  <a16:creationId xmlns:a16="http://schemas.microsoft.com/office/drawing/2014/main" id="{FD1476BC-AC33-4968-8BE4-E89562505D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1086" y="5426075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63">
              <a:extLst>
                <a:ext uri="{FF2B5EF4-FFF2-40B4-BE49-F238E27FC236}">
                  <a16:creationId xmlns:a16="http://schemas.microsoft.com/office/drawing/2014/main" id="{0B4524DE-4782-43B9-83DA-A10F81CC0F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74249" y="5480050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57EA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64">
              <a:extLst>
                <a:ext uri="{FF2B5EF4-FFF2-40B4-BE49-F238E27FC236}">
                  <a16:creationId xmlns:a16="http://schemas.microsoft.com/office/drawing/2014/main" id="{DB720F95-412E-4E6C-802D-473669FBF1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23561" y="5372100"/>
              <a:ext cx="88900" cy="77787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8 w 27"/>
                <a:gd name="T5" fmla="*/ 22 h 23"/>
                <a:gd name="T6" fmla="*/ 13 w 27"/>
                <a:gd name="T7" fmla="*/ 23 h 23"/>
                <a:gd name="T8" fmla="*/ 24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8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8" y="23"/>
                    <a:pt x="21" y="21"/>
                    <a:pt x="24" y="17"/>
                  </a:cubicBezTo>
                  <a:cubicBezTo>
                    <a:pt x="27" y="11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65">
              <a:extLst>
                <a:ext uri="{FF2B5EF4-FFF2-40B4-BE49-F238E27FC236}">
                  <a16:creationId xmlns:a16="http://schemas.microsoft.com/office/drawing/2014/main" id="{6F409CC0-6CE5-411A-A631-05BC30DE3F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5636" y="5426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4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7 h 23"/>
                <a:gd name="T10" fmla="*/ 20 w 27"/>
                <a:gd name="T11" fmla="*/ 1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7"/>
                  </a:cubicBezTo>
                  <a:cubicBezTo>
                    <a:pt x="27" y="12"/>
                    <a:pt x="25" y="5"/>
                    <a:pt x="20" y="1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66">
              <a:extLst>
                <a:ext uri="{FF2B5EF4-FFF2-40B4-BE49-F238E27FC236}">
                  <a16:creationId xmlns:a16="http://schemas.microsoft.com/office/drawing/2014/main" id="{FBBEC337-3D96-4552-94E6-D5A400715A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10886" y="54800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28" name="Freeform 67">
              <a:extLst>
                <a:ext uri="{FF2B5EF4-FFF2-40B4-BE49-F238E27FC236}">
                  <a16:creationId xmlns:a16="http://schemas.microsoft.com/office/drawing/2014/main" id="{0B480263-2724-4D8D-890E-23B98114D4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04549" y="55324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29" name="Freeform 68">
              <a:extLst>
                <a:ext uri="{FF2B5EF4-FFF2-40B4-BE49-F238E27FC236}">
                  <a16:creationId xmlns:a16="http://schemas.microsoft.com/office/drawing/2014/main" id="{7FC2FF67-8A42-4CD0-B5E5-272103BC23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99799" y="558641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7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3"/>
                    <a:pt x="3" y="6"/>
                  </a:cubicBezTo>
                  <a:cubicBezTo>
                    <a:pt x="0" y="12"/>
                    <a:pt x="2" y="19"/>
                    <a:pt x="7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2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1"/>
                    <a:pt x="15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2" name="Freeform 71">
              <a:extLst>
                <a:ext uri="{FF2B5EF4-FFF2-40B4-BE49-F238E27FC236}">
                  <a16:creationId xmlns:a16="http://schemas.microsoft.com/office/drawing/2014/main" id="{FD80A767-1C22-4670-99FF-B8B248D1B0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45911" y="5972175"/>
              <a:ext cx="90488" cy="80962"/>
            </a:xfrm>
            <a:custGeom>
              <a:avLst/>
              <a:gdLst>
                <a:gd name="T0" fmla="*/ 14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1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3" name="Freeform 72">
              <a:extLst>
                <a:ext uri="{FF2B5EF4-FFF2-40B4-BE49-F238E27FC236}">
                  <a16:creationId xmlns:a16="http://schemas.microsoft.com/office/drawing/2014/main" id="{63B25B06-018E-4207-8D4D-28A3CAB37F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53836" y="5919787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6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5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4" name="Freeform 73">
              <a:extLst>
                <a:ext uri="{FF2B5EF4-FFF2-40B4-BE49-F238E27FC236}">
                  <a16:creationId xmlns:a16="http://schemas.microsoft.com/office/drawing/2014/main" id="{5D585783-FD34-4BEE-B88F-4B5FB48E44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58586" y="58626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5" name="Freeform 74">
              <a:extLst>
                <a:ext uri="{FF2B5EF4-FFF2-40B4-BE49-F238E27FC236}">
                  <a16:creationId xmlns:a16="http://schemas.microsoft.com/office/drawing/2014/main" id="{4C4350A5-33CD-4F3C-9E46-A7BA7A3F80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6511" y="5810250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3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8 h 23"/>
                <a:gd name="T10" fmla="*/ 19 w 27"/>
                <a:gd name="T11" fmla="*/ 2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6" name="Freeform 75">
              <a:extLst>
                <a:ext uri="{FF2B5EF4-FFF2-40B4-BE49-F238E27FC236}">
                  <a16:creationId xmlns:a16="http://schemas.microsoft.com/office/drawing/2014/main" id="{2C1A229B-0034-4B96-BD9F-4C994F24CD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2849" y="5756275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8" name="Freeform 77">
              <a:extLst>
                <a:ext uri="{FF2B5EF4-FFF2-40B4-BE49-F238E27FC236}">
                  <a16:creationId xmlns:a16="http://schemas.microsoft.com/office/drawing/2014/main" id="{CF3B3962-B84A-4F1D-8B93-0BED7414ED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87124" y="5699125"/>
              <a:ext cx="79375" cy="73025"/>
            </a:xfrm>
            <a:custGeom>
              <a:avLst/>
              <a:gdLst>
                <a:gd name="T0" fmla="*/ 11 w 24"/>
                <a:gd name="T1" fmla="*/ 0 h 22"/>
                <a:gd name="T2" fmla="*/ 6 w 24"/>
                <a:gd name="T3" fmla="*/ 1 h 22"/>
                <a:gd name="T4" fmla="*/ 3 w 24"/>
                <a:gd name="T5" fmla="*/ 5 h 22"/>
                <a:gd name="T6" fmla="*/ 7 w 24"/>
                <a:gd name="T7" fmla="*/ 21 h 22"/>
                <a:gd name="T8" fmla="*/ 13 w 24"/>
                <a:gd name="T9" fmla="*/ 22 h 22"/>
                <a:gd name="T10" fmla="*/ 18 w 24"/>
                <a:gd name="T11" fmla="*/ 21 h 22"/>
                <a:gd name="T12" fmla="*/ 21 w 24"/>
                <a:gd name="T13" fmla="*/ 18 h 22"/>
                <a:gd name="T14" fmla="*/ 17 w 24"/>
                <a:gd name="T15" fmla="*/ 2 h 22"/>
                <a:gd name="T16" fmla="*/ 11 w 24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2">
                  <a:moveTo>
                    <a:pt x="11" y="0"/>
                  </a:moveTo>
                  <a:cubicBezTo>
                    <a:pt x="9" y="0"/>
                    <a:pt x="8" y="0"/>
                    <a:pt x="6" y="1"/>
                  </a:cubicBezTo>
                  <a:cubicBezTo>
                    <a:pt x="5" y="2"/>
                    <a:pt x="4" y="3"/>
                    <a:pt x="3" y="5"/>
                  </a:cubicBezTo>
                  <a:cubicBezTo>
                    <a:pt x="0" y="10"/>
                    <a:pt x="2" y="18"/>
                    <a:pt x="7" y="21"/>
                  </a:cubicBezTo>
                  <a:cubicBezTo>
                    <a:pt x="9" y="22"/>
                    <a:pt x="11" y="22"/>
                    <a:pt x="13" y="22"/>
                  </a:cubicBezTo>
                  <a:cubicBezTo>
                    <a:pt x="15" y="22"/>
                    <a:pt x="16" y="22"/>
                    <a:pt x="18" y="21"/>
                  </a:cubicBezTo>
                  <a:cubicBezTo>
                    <a:pt x="19" y="21"/>
                    <a:pt x="20" y="19"/>
                    <a:pt x="21" y="18"/>
                  </a:cubicBezTo>
                  <a:cubicBezTo>
                    <a:pt x="24" y="12"/>
                    <a:pt x="22" y="5"/>
                    <a:pt x="17" y="2"/>
                  </a:cubicBezTo>
                  <a:cubicBezTo>
                    <a:pt x="15" y="1"/>
                    <a:pt x="13" y="0"/>
                    <a:pt x="11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0" name="Freeform 79">
              <a:extLst>
                <a:ext uri="{FF2B5EF4-FFF2-40B4-BE49-F238E27FC236}">
                  <a16:creationId xmlns:a16="http://schemas.microsoft.com/office/drawing/2014/main" id="{961F8AA8-F20D-422E-8437-87E243BB6F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91874" y="5646737"/>
              <a:ext cx="82550" cy="73025"/>
            </a:xfrm>
            <a:custGeom>
              <a:avLst/>
              <a:gdLst>
                <a:gd name="T0" fmla="*/ 11 w 25"/>
                <a:gd name="T1" fmla="*/ 0 h 22"/>
                <a:gd name="T2" fmla="*/ 7 w 25"/>
                <a:gd name="T3" fmla="*/ 1 h 22"/>
                <a:gd name="T4" fmla="*/ 4 w 25"/>
                <a:gd name="T5" fmla="*/ 5 h 22"/>
                <a:gd name="T6" fmla="*/ 8 w 25"/>
                <a:gd name="T7" fmla="*/ 21 h 22"/>
                <a:gd name="T8" fmla="*/ 14 w 25"/>
                <a:gd name="T9" fmla="*/ 22 h 22"/>
                <a:gd name="T10" fmla="*/ 18 w 25"/>
                <a:gd name="T11" fmla="*/ 21 h 22"/>
                <a:gd name="T12" fmla="*/ 22 w 25"/>
                <a:gd name="T13" fmla="*/ 17 h 22"/>
                <a:gd name="T14" fmla="*/ 17 w 25"/>
                <a:gd name="T15" fmla="*/ 1 h 22"/>
                <a:gd name="T16" fmla="*/ 11 w 25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2">
                  <a:moveTo>
                    <a:pt x="11" y="0"/>
                  </a:moveTo>
                  <a:cubicBezTo>
                    <a:pt x="10" y="0"/>
                    <a:pt x="9" y="0"/>
                    <a:pt x="7" y="1"/>
                  </a:cubicBezTo>
                  <a:cubicBezTo>
                    <a:pt x="6" y="2"/>
                    <a:pt x="4" y="3"/>
                    <a:pt x="4" y="5"/>
                  </a:cubicBezTo>
                  <a:cubicBezTo>
                    <a:pt x="0" y="10"/>
                    <a:pt x="2" y="17"/>
                    <a:pt x="8" y="21"/>
                  </a:cubicBezTo>
                  <a:cubicBezTo>
                    <a:pt x="10" y="22"/>
                    <a:pt x="12" y="22"/>
                    <a:pt x="14" y="22"/>
                  </a:cubicBezTo>
                  <a:cubicBezTo>
                    <a:pt x="15" y="22"/>
                    <a:pt x="17" y="22"/>
                    <a:pt x="18" y="21"/>
                  </a:cubicBezTo>
                  <a:cubicBezTo>
                    <a:pt x="19" y="20"/>
                    <a:pt x="21" y="19"/>
                    <a:pt x="22" y="17"/>
                  </a:cubicBezTo>
                  <a:cubicBezTo>
                    <a:pt x="25" y="12"/>
                    <a:pt x="23" y="5"/>
                    <a:pt x="17" y="1"/>
                  </a:cubicBezTo>
                  <a:cubicBezTo>
                    <a:pt x="15" y="0"/>
                    <a:pt x="13" y="0"/>
                    <a:pt x="11" y="0"/>
                  </a:cubicBezTo>
                </a:path>
              </a:pathLst>
            </a:custGeom>
            <a:solidFill>
              <a:srgbClr val="5149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1" name="Freeform 80">
              <a:extLst>
                <a:ext uri="{FF2B5EF4-FFF2-40B4-BE49-F238E27FC236}">
                  <a16:creationId xmlns:a16="http://schemas.microsoft.com/office/drawing/2014/main" id="{4E51C430-C56F-4FCE-A8D2-F80B69939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030174" y="562610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8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2" name="Freeform 81">
              <a:extLst>
                <a:ext uri="{FF2B5EF4-FFF2-40B4-BE49-F238E27FC236}">
                  <a16:creationId xmlns:a16="http://schemas.microsoft.com/office/drawing/2014/main" id="{D13B5027-1B7C-4ADA-B936-D7BF2A08CB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22249" y="5568950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3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3" name="Freeform 82">
              <a:extLst>
                <a:ext uri="{FF2B5EF4-FFF2-40B4-BE49-F238E27FC236}">
                  <a16:creationId xmlns:a16="http://schemas.microsoft.com/office/drawing/2014/main" id="{9A093AB1-2883-4487-BA43-17D9702BC3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17499" y="551656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4" name="Freeform 83">
              <a:extLst>
                <a:ext uri="{FF2B5EF4-FFF2-40B4-BE49-F238E27FC236}">
                  <a16:creationId xmlns:a16="http://schemas.microsoft.com/office/drawing/2014/main" id="{AA71B833-BA1E-4616-AB0B-5881C5F3EE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09574" y="546258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4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19" y="22"/>
                  </a:cubicBezTo>
                  <a:cubicBezTo>
                    <a:pt x="25" y="18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5" name="Freeform 84">
              <a:extLst>
                <a:ext uri="{FF2B5EF4-FFF2-40B4-BE49-F238E27FC236}">
                  <a16:creationId xmlns:a16="http://schemas.microsoft.com/office/drawing/2014/main" id="{E764C7B4-7F50-466F-8499-DA36A2B899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06411" y="5405437"/>
              <a:ext cx="85725" cy="80962"/>
            </a:xfrm>
            <a:custGeom>
              <a:avLst/>
              <a:gdLst>
                <a:gd name="T0" fmla="*/ 13 w 26"/>
                <a:gd name="T1" fmla="*/ 0 h 24"/>
                <a:gd name="T2" fmla="*/ 7 w 26"/>
                <a:gd name="T3" fmla="*/ 2 h 24"/>
                <a:gd name="T4" fmla="*/ 3 w 26"/>
                <a:gd name="T5" fmla="*/ 18 h 24"/>
                <a:gd name="T6" fmla="*/ 13 w 26"/>
                <a:gd name="T7" fmla="*/ 24 h 24"/>
                <a:gd name="T8" fmla="*/ 19 w 26"/>
                <a:gd name="T9" fmla="*/ 22 h 24"/>
                <a:gd name="T10" fmla="*/ 23 w 26"/>
                <a:gd name="T11" fmla="*/ 6 h 24"/>
                <a:gd name="T12" fmla="*/ 13 w 26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1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6" name="Freeform 85">
              <a:extLst>
                <a:ext uri="{FF2B5EF4-FFF2-40B4-BE49-F238E27FC236}">
                  <a16:creationId xmlns:a16="http://schemas.microsoft.com/office/drawing/2014/main" id="{092929F9-5B9E-4756-9ABB-428BAC74A5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98486" y="535305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7 w 27"/>
                <a:gd name="T3" fmla="*/ 2 h 23"/>
                <a:gd name="T4" fmla="*/ 3 w 27"/>
                <a:gd name="T5" fmla="*/ 18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7" name="Freeform 86">
              <a:extLst>
                <a:ext uri="{FF2B5EF4-FFF2-40B4-BE49-F238E27FC236}">
                  <a16:creationId xmlns:a16="http://schemas.microsoft.com/office/drawing/2014/main" id="{8C90C5E6-79A2-4060-8EB1-737E351C3E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90561" y="5299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8B86A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4096" name="直接连接符 4095">
              <a:extLst>
                <a:ext uri="{FF2B5EF4-FFF2-40B4-BE49-F238E27FC236}">
                  <a16:creationId xmlns:a16="http://schemas.microsoft.com/office/drawing/2014/main" id="{B1EA0FC5-29CD-4F28-A45D-D157FD7E5BA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41802" y="5287830"/>
              <a:ext cx="827436" cy="50191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867A0B53-8EDF-48B5-9A4E-8F1B2EE88CC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352276" y="5405437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459F3CA0-87B8-43D8-B691-12FB120D8EC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31243" y="5471253"/>
              <a:ext cx="328843" cy="21199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E3DD8066-40F4-4A02-9DF1-05A162F2CA2C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065044" y="5664134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001A6F1F-C585-4281-828C-058AB5EDE524}"/>
                </a:ext>
              </a:extLst>
            </p:cNvPr>
            <p:cNvSpPr/>
            <p:nvPr userDrawn="1"/>
          </p:nvSpPr>
          <p:spPr>
            <a:xfrm>
              <a:off x="10861128" y="4188135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493F7646-9DF0-4328-BA59-726818EBD66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0552112" y="4285080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椭圆 201">
              <a:extLst>
                <a:ext uri="{FF2B5EF4-FFF2-40B4-BE49-F238E27FC236}">
                  <a16:creationId xmlns:a16="http://schemas.microsoft.com/office/drawing/2014/main" id="{557EAC11-F2A0-4C08-8F11-44BF87802B10}"/>
                </a:ext>
              </a:extLst>
            </p:cNvPr>
            <p:cNvSpPr/>
            <p:nvPr userDrawn="1"/>
          </p:nvSpPr>
          <p:spPr>
            <a:xfrm>
              <a:off x="9754989" y="371337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5D1273CE-BE25-441B-953B-C1B5966CAE6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445973" y="381032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椭圆 203">
              <a:extLst>
                <a:ext uri="{FF2B5EF4-FFF2-40B4-BE49-F238E27FC236}">
                  <a16:creationId xmlns:a16="http://schemas.microsoft.com/office/drawing/2014/main" id="{8F096A9B-1AA8-431A-BB04-8C15CF5627F3}"/>
                </a:ext>
              </a:extLst>
            </p:cNvPr>
            <p:cNvSpPr/>
            <p:nvPr userDrawn="1"/>
          </p:nvSpPr>
          <p:spPr>
            <a:xfrm>
              <a:off x="10020604" y="4130676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2919DAC9-4D15-444E-AD29-DB55069F5E6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06261" y="4226956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椭圆 210">
              <a:extLst>
                <a:ext uri="{FF2B5EF4-FFF2-40B4-BE49-F238E27FC236}">
                  <a16:creationId xmlns:a16="http://schemas.microsoft.com/office/drawing/2014/main" id="{E0D349D6-48B6-4D60-8DDF-1C1342CDA205}"/>
                </a:ext>
              </a:extLst>
            </p:cNvPr>
            <p:cNvSpPr/>
            <p:nvPr userDrawn="1"/>
          </p:nvSpPr>
          <p:spPr>
            <a:xfrm>
              <a:off x="7626655" y="417674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2" name="直接连接符 211">
              <a:extLst>
                <a:ext uri="{FF2B5EF4-FFF2-40B4-BE49-F238E27FC236}">
                  <a16:creationId xmlns:a16="http://schemas.microsoft.com/office/drawing/2014/main" id="{7089C232-3C85-423F-947B-0BFA9401DFA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12312" y="427302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椭圆 212">
              <a:extLst>
                <a:ext uri="{FF2B5EF4-FFF2-40B4-BE49-F238E27FC236}">
                  <a16:creationId xmlns:a16="http://schemas.microsoft.com/office/drawing/2014/main" id="{C560641A-F420-4727-A7F7-179E3FE63748}"/>
                </a:ext>
              </a:extLst>
            </p:cNvPr>
            <p:cNvSpPr/>
            <p:nvPr userDrawn="1"/>
          </p:nvSpPr>
          <p:spPr>
            <a:xfrm>
              <a:off x="8387012" y="336016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545304FD-1796-4169-B922-A5937A78C4F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272669" y="345644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椭圆 214">
              <a:extLst>
                <a:ext uri="{FF2B5EF4-FFF2-40B4-BE49-F238E27FC236}">
                  <a16:creationId xmlns:a16="http://schemas.microsoft.com/office/drawing/2014/main" id="{73E6A0CA-67C2-42EF-8383-B14B770ED349}"/>
                </a:ext>
              </a:extLst>
            </p:cNvPr>
            <p:cNvSpPr/>
            <p:nvPr userDrawn="1"/>
          </p:nvSpPr>
          <p:spPr>
            <a:xfrm>
              <a:off x="8071311" y="342409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id="{AF574737-39F9-4472-AE17-3BFF53B46DE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62295" y="352104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9D684D3A-8C4E-4158-8772-8D8471CDA919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8216506" y="2821117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1E239B15-E30E-46F9-A6D0-F08CDCC35D74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208402" y="2813165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4" name="Freeform 90">
              <a:extLst>
                <a:ext uri="{FF2B5EF4-FFF2-40B4-BE49-F238E27FC236}">
                  <a16:creationId xmlns:a16="http://schemas.microsoft.com/office/drawing/2014/main" id="{AF6DEBA4-934D-42E9-8FD3-EA26D0DCE3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solidFill>
              <a:srgbClr val="736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55" name="Freeform 91">
              <a:extLst>
                <a:ext uri="{FF2B5EF4-FFF2-40B4-BE49-F238E27FC236}">
                  <a16:creationId xmlns:a16="http://schemas.microsoft.com/office/drawing/2014/main" id="{D3086A1B-50B2-4CAF-9735-932CF494AE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4025"/>
              <a:ext cx="2168525" cy="714375"/>
            </a:xfrm>
            <a:custGeom>
              <a:avLst/>
              <a:gdLst>
                <a:gd name="T0" fmla="*/ 10 w 538"/>
                <a:gd name="T1" fmla="*/ 165 h 177"/>
                <a:gd name="T2" fmla="*/ 31 w 538"/>
                <a:gd name="T3" fmla="*/ 177 h 177"/>
                <a:gd name="T4" fmla="*/ 249 w 538"/>
                <a:gd name="T5" fmla="*/ 52 h 177"/>
                <a:gd name="T6" fmla="*/ 287 w 538"/>
                <a:gd name="T7" fmla="*/ 50 h 177"/>
                <a:gd name="T8" fmla="*/ 507 w 538"/>
                <a:gd name="T9" fmla="*/ 177 h 177"/>
                <a:gd name="T10" fmla="*/ 525 w 538"/>
                <a:gd name="T11" fmla="*/ 167 h 177"/>
                <a:gd name="T12" fmla="*/ 528 w 538"/>
                <a:gd name="T13" fmla="*/ 145 h 177"/>
                <a:gd name="T14" fmla="*/ 287 w 538"/>
                <a:gd name="T15" fmla="*/ 5 h 177"/>
                <a:gd name="T16" fmla="*/ 249 w 538"/>
                <a:gd name="T17" fmla="*/ 7 h 177"/>
                <a:gd name="T18" fmla="*/ 13 w 538"/>
                <a:gd name="T19" fmla="*/ 143 h 177"/>
                <a:gd name="T20" fmla="*/ 10 w 538"/>
                <a:gd name="T21" fmla="*/ 1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177">
                  <a:moveTo>
                    <a:pt x="10" y="165"/>
                  </a:moveTo>
                  <a:cubicBezTo>
                    <a:pt x="31" y="177"/>
                    <a:pt x="31" y="177"/>
                    <a:pt x="31" y="177"/>
                  </a:cubicBezTo>
                  <a:cubicBezTo>
                    <a:pt x="249" y="52"/>
                    <a:pt x="249" y="52"/>
                    <a:pt x="249" y="52"/>
                  </a:cubicBezTo>
                  <a:cubicBezTo>
                    <a:pt x="260" y="45"/>
                    <a:pt x="277" y="45"/>
                    <a:pt x="287" y="50"/>
                  </a:cubicBezTo>
                  <a:cubicBezTo>
                    <a:pt x="507" y="177"/>
                    <a:pt x="507" y="177"/>
                    <a:pt x="507" y="177"/>
                  </a:cubicBezTo>
                  <a:cubicBezTo>
                    <a:pt x="525" y="167"/>
                    <a:pt x="525" y="167"/>
                    <a:pt x="525" y="167"/>
                  </a:cubicBezTo>
                  <a:cubicBezTo>
                    <a:pt x="537" y="160"/>
                    <a:pt x="538" y="150"/>
                    <a:pt x="528" y="145"/>
                  </a:cubicBezTo>
                  <a:cubicBezTo>
                    <a:pt x="287" y="5"/>
                    <a:pt x="287" y="5"/>
                    <a:pt x="287" y="5"/>
                  </a:cubicBezTo>
                  <a:cubicBezTo>
                    <a:pt x="277" y="0"/>
                    <a:pt x="260" y="0"/>
                    <a:pt x="249" y="7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2" y="150"/>
                    <a:pt x="0" y="159"/>
                    <a:pt x="10" y="165"/>
                  </a:cubicBezTo>
                  <a:close/>
                </a:path>
              </a:pathLst>
            </a:custGeom>
            <a:solidFill>
              <a:srgbClr val="42E8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6" name="Freeform 90">
              <a:extLst>
                <a:ext uri="{FF2B5EF4-FFF2-40B4-BE49-F238E27FC236}">
                  <a16:creationId xmlns:a16="http://schemas.microsoft.com/office/drawing/2014/main" id="{C63D826E-5E90-4F6D-88F7-EA5A08B904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2017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gradFill>
              <a:gsLst>
                <a:gs pos="22000">
                  <a:srgbClr val="180D5B">
                    <a:alpha val="34000"/>
                  </a:srgbClr>
                </a:gs>
                <a:gs pos="100000">
                  <a:srgbClr val="42E8E0">
                    <a:alpha val="74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247" name="任意多边形: 形状 246">
              <a:extLst>
                <a:ext uri="{FF2B5EF4-FFF2-40B4-BE49-F238E27FC236}">
                  <a16:creationId xmlns:a16="http://schemas.microsoft.com/office/drawing/2014/main" id="{A1430432-40EA-4925-AA20-F60AF99BA0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78938" y="3259138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5" name="任意多边形: 形状 244">
              <a:extLst>
                <a:ext uri="{FF2B5EF4-FFF2-40B4-BE49-F238E27FC236}">
                  <a16:creationId xmlns:a16="http://schemas.microsoft.com/office/drawing/2014/main" id="{20D60DA0-3304-4EAA-A6B3-B1D71DBAC6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501188" y="3767138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1" name="任意多边形: 形状 240">
              <a:extLst>
                <a:ext uri="{FF2B5EF4-FFF2-40B4-BE49-F238E27FC236}">
                  <a16:creationId xmlns:a16="http://schemas.microsoft.com/office/drawing/2014/main" id="{5F215D2E-5F33-46B1-BF06-9545891E75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613" y="4365625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39" name="任意多边形: 形状 238">
              <a:extLst>
                <a:ext uri="{FF2B5EF4-FFF2-40B4-BE49-F238E27FC236}">
                  <a16:creationId xmlns:a16="http://schemas.microsoft.com/office/drawing/2014/main" id="{3999E84D-AA32-4328-8EB1-E150383BC4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45688" y="4695825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8" name="任意多边形: 形状 247">
              <a:extLst>
                <a:ext uri="{FF2B5EF4-FFF2-40B4-BE49-F238E27FC236}">
                  <a16:creationId xmlns:a16="http://schemas.microsoft.com/office/drawing/2014/main" id="{E2DF0AA1-2C0A-4E2E-99B1-A1EB47B77077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9056822" y="3261347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9" name="任意多边形: 形状 248">
              <a:extLst>
                <a:ext uri="{FF2B5EF4-FFF2-40B4-BE49-F238E27FC236}">
                  <a16:creationId xmlns:a16="http://schemas.microsoft.com/office/drawing/2014/main" id="{93F95DFF-692A-4154-AB5C-0BEB1715CA9F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836159" y="3769347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50" name="任意多边形: 形状 249">
              <a:extLst>
                <a:ext uri="{FF2B5EF4-FFF2-40B4-BE49-F238E27FC236}">
                  <a16:creationId xmlns:a16="http://schemas.microsoft.com/office/drawing/2014/main" id="{12DE8761-93A2-4BA5-96ED-CBDB609E5AA2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613909" y="4367834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51" name="任意多边形: 形状 250">
              <a:extLst>
                <a:ext uri="{FF2B5EF4-FFF2-40B4-BE49-F238E27FC236}">
                  <a16:creationId xmlns:a16="http://schemas.microsoft.com/office/drawing/2014/main" id="{31E777D3-0C18-4121-89DC-F8148821A7C1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391659" y="4698034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6" name="Freeform 106">
              <a:extLst>
                <a:ext uri="{FF2B5EF4-FFF2-40B4-BE49-F238E27FC236}">
                  <a16:creationId xmlns:a16="http://schemas.microsoft.com/office/drawing/2014/main" id="{4E1033CC-A13D-4768-92B6-DDBAE3D7D4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55909" y="2437995"/>
              <a:ext cx="1951037" cy="3057525"/>
            </a:xfrm>
            <a:custGeom>
              <a:avLst/>
              <a:gdLst>
                <a:gd name="T0" fmla="*/ 531 w 531"/>
                <a:gd name="T1" fmla="*/ 0 h 835"/>
                <a:gd name="T2" fmla="*/ 0 w 531"/>
                <a:gd name="T3" fmla="*/ 0 h 835"/>
                <a:gd name="T4" fmla="*/ 0 w 531"/>
                <a:gd name="T5" fmla="*/ 682 h 835"/>
                <a:gd name="T6" fmla="*/ 0 w 531"/>
                <a:gd name="T7" fmla="*/ 682 h 835"/>
                <a:gd name="T8" fmla="*/ 6 w 531"/>
                <a:gd name="T9" fmla="*/ 692 h 835"/>
                <a:gd name="T10" fmla="*/ 248 w 531"/>
                <a:gd name="T11" fmla="*/ 831 h 835"/>
                <a:gd name="T12" fmla="*/ 264 w 531"/>
                <a:gd name="T13" fmla="*/ 835 h 835"/>
                <a:gd name="T14" fmla="*/ 286 w 531"/>
                <a:gd name="T15" fmla="*/ 830 h 835"/>
                <a:gd name="T16" fmla="*/ 522 w 531"/>
                <a:gd name="T17" fmla="*/ 693 h 835"/>
                <a:gd name="T18" fmla="*/ 531 w 531"/>
                <a:gd name="T19" fmla="*/ 682 h 835"/>
                <a:gd name="T20" fmla="*/ 531 w 531"/>
                <a:gd name="T21" fmla="*/ 682 h 835"/>
                <a:gd name="T22" fmla="*/ 531 w 531"/>
                <a:gd name="T23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1" h="835">
                  <a:moveTo>
                    <a:pt x="5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5"/>
                    <a:pt x="2" y="689"/>
                    <a:pt x="6" y="692"/>
                  </a:cubicBezTo>
                  <a:cubicBezTo>
                    <a:pt x="248" y="831"/>
                    <a:pt x="248" y="831"/>
                    <a:pt x="248" y="831"/>
                  </a:cubicBezTo>
                  <a:cubicBezTo>
                    <a:pt x="252" y="834"/>
                    <a:pt x="258" y="835"/>
                    <a:pt x="264" y="835"/>
                  </a:cubicBezTo>
                  <a:cubicBezTo>
                    <a:pt x="272" y="835"/>
                    <a:pt x="280" y="833"/>
                    <a:pt x="286" y="830"/>
                  </a:cubicBezTo>
                  <a:cubicBezTo>
                    <a:pt x="522" y="693"/>
                    <a:pt x="522" y="693"/>
                    <a:pt x="522" y="693"/>
                  </a:cubicBezTo>
                  <a:cubicBezTo>
                    <a:pt x="528" y="690"/>
                    <a:pt x="531" y="686"/>
                    <a:pt x="531" y="682"/>
                  </a:cubicBezTo>
                  <a:cubicBezTo>
                    <a:pt x="531" y="682"/>
                    <a:pt x="531" y="682"/>
                    <a:pt x="531" y="682"/>
                  </a:cubicBezTo>
                  <a:cubicBezTo>
                    <a:pt x="531" y="0"/>
                    <a:pt x="531" y="0"/>
                    <a:pt x="531" y="0"/>
                  </a:cubicBezTo>
                </a:path>
              </a:pathLst>
            </a:custGeom>
            <a:gradFill>
              <a:gsLst>
                <a:gs pos="100000">
                  <a:srgbClr val="42E6E0">
                    <a:alpha val="20000"/>
                  </a:srgbClr>
                </a:gs>
                <a:gs pos="0">
                  <a:srgbClr val="180D5B">
                    <a:alpha val="5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43403" y="4071055"/>
            <a:ext cx="2340818" cy="296271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43402" y="4533176"/>
            <a:ext cx="508759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F43A69A-C441-46B2-A04C-833C041584CC}"/>
              </a:ext>
            </a:extLst>
          </p:cNvPr>
          <p:cNvSpPr/>
          <p:nvPr userDrawn="1"/>
        </p:nvSpPr>
        <p:spPr>
          <a:xfrm>
            <a:off x="-111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5457956" y="2573757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5459072" y="3469107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bg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DFAD072-98A3-4A9A-A57D-A2BBD0C400AF}"/>
              </a:ext>
            </a:extLst>
          </p:cNvPr>
          <p:cNvGrpSpPr/>
          <p:nvPr userDrawn="1"/>
        </p:nvGrpSpPr>
        <p:grpSpPr>
          <a:xfrm flipH="1">
            <a:off x="347887" y="1993644"/>
            <a:ext cx="7140148" cy="3966548"/>
            <a:chOff x="4656138" y="2437995"/>
            <a:chExt cx="6846887" cy="3803634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1FEC273-3D18-48A3-8E14-F2C2E0EA1388}"/>
                </a:ext>
              </a:extLst>
            </p:cNvPr>
            <p:cNvSpPr/>
            <p:nvPr userDrawn="1"/>
          </p:nvSpPr>
          <p:spPr>
            <a:xfrm>
              <a:off x="9791994" y="5509651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E5B24915-2C92-4794-B49D-726193F73647}"/>
                </a:ext>
              </a:extLst>
            </p:cNvPr>
            <p:cNvSpPr/>
            <p:nvPr userDrawn="1"/>
          </p:nvSpPr>
          <p:spPr>
            <a:xfrm>
              <a:off x="8951536" y="5923755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23F1A1F-8473-4CAC-8B68-2ECBFEBF8864}"/>
                </a:ext>
              </a:extLst>
            </p:cNvPr>
            <p:cNvSpPr/>
            <p:nvPr userDrawn="1"/>
          </p:nvSpPr>
          <p:spPr>
            <a:xfrm>
              <a:off x="7681196" y="5266157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E18F4E0-9855-455A-9AB4-8E45971C61FF}"/>
                </a:ext>
              </a:extLst>
            </p:cNvPr>
            <p:cNvSpPr/>
            <p:nvPr userDrawn="1"/>
          </p:nvSpPr>
          <p:spPr>
            <a:xfrm>
              <a:off x="6269331" y="5704329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20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30A201A1-80D9-4DA8-A881-55B80110B5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56138" y="4818063"/>
              <a:ext cx="6846887" cy="1335087"/>
            </a:xfrm>
            <a:custGeom>
              <a:avLst/>
              <a:gdLst>
                <a:gd name="T0" fmla="*/ 2059 w 2076"/>
                <a:gd name="T1" fmla="*/ 0 h 404"/>
                <a:gd name="T2" fmla="*/ 2053 w 2076"/>
                <a:gd name="T3" fmla="*/ 2 h 404"/>
                <a:gd name="T4" fmla="*/ 1420 w 2076"/>
                <a:gd name="T5" fmla="*/ 368 h 404"/>
                <a:gd name="T6" fmla="*/ 1388 w 2076"/>
                <a:gd name="T7" fmla="*/ 376 h 404"/>
                <a:gd name="T8" fmla="*/ 1357 w 2076"/>
                <a:gd name="T9" fmla="*/ 368 h 404"/>
                <a:gd name="T10" fmla="*/ 949 w 2076"/>
                <a:gd name="T11" fmla="*/ 132 h 404"/>
                <a:gd name="T12" fmla="*/ 903 w 2076"/>
                <a:gd name="T13" fmla="*/ 120 h 404"/>
                <a:gd name="T14" fmla="*/ 858 w 2076"/>
                <a:gd name="T15" fmla="*/ 132 h 404"/>
                <a:gd name="T16" fmla="*/ 521 w 2076"/>
                <a:gd name="T17" fmla="*/ 326 h 404"/>
                <a:gd name="T18" fmla="*/ 490 w 2076"/>
                <a:gd name="T19" fmla="*/ 335 h 404"/>
                <a:gd name="T20" fmla="*/ 459 w 2076"/>
                <a:gd name="T21" fmla="*/ 326 h 404"/>
                <a:gd name="T22" fmla="*/ 23 w 2076"/>
                <a:gd name="T23" fmla="*/ 75 h 404"/>
                <a:gd name="T24" fmla="*/ 16 w 2076"/>
                <a:gd name="T25" fmla="*/ 73 h 404"/>
                <a:gd name="T26" fmla="*/ 4 w 2076"/>
                <a:gd name="T27" fmla="*/ 80 h 404"/>
                <a:gd name="T28" fmla="*/ 9 w 2076"/>
                <a:gd name="T29" fmla="*/ 99 h 404"/>
                <a:gd name="T30" fmla="*/ 445 w 2076"/>
                <a:gd name="T31" fmla="*/ 351 h 404"/>
                <a:gd name="T32" fmla="*/ 490 w 2076"/>
                <a:gd name="T33" fmla="*/ 363 h 404"/>
                <a:gd name="T34" fmla="*/ 535 w 2076"/>
                <a:gd name="T35" fmla="*/ 351 h 404"/>
                <a:gd name="T36" fmla="*/ 872 w 2076"/>
                <a:gd name="T37" fmla="*/ 156 h 404"/>
                <a:gd name="T38" fmla="*/ 903 w 2076"/>
                <a:gd name="T39" fmla="*/ 148 h 404"/>
                <a:gd name="T40" fmla="*/ 935 w 2076"/>
                <a:gd name="T41" fmla="*/ 156 h 404"/>
                <a:gd name="T42" fmla="*/ 1343 w 2076"/>
                <a:gd name="T43" fmla="*/ 392 h 404"/>
                <a:gd name="T44" fmla="*/ 1388 w 2076"/>
                <a:gd name="T45" fmla="*/ 404 h 404"/>
                <a:gd name="T46" fmla="*/ 1434 w 2076"/>
                <a:gd name="T47" fmla="*/ 392 h 404"/>
                <a:gd name="T48" fmla="*/ 2067 w 2076"/>
                <a:gd name="T49" fmla="*/ 26 h 404"/>
                <a:gd name="T50" fmla="*/ 2072 w 2076"/>
                <a:gd name="T51" fmla="*/ 7 h 404"/>
                <a:gd name="T52" fmla="*/ 2059 w 2076"/>
                <a:gd name="T53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076" h="404">
                  <a:moveTo>
                    <a:pt x="2059" y="0"/>
                  </a:moveTo>
                  <a:cubicBezTo>
                    <a:pt x="2057" y="0"/>
                    <a:pt x="2055" y="1"/>
                    <a:pt x="2053" y="2"/>
                  </a:cubicBezTo>
                  <a:cubicBezTo>
                    <a:pt x="1420" y="368"/>
                    <a:pt x="1420" y="368"/>
                    <a:pt x="1420" y="368"/>
                  </a:cubicBezTo>
                  <a:cubicBezTo>
                    <a:pt x="1410" y="373"/>
                    <a:pt x="1399" y="376"/>
                    <a:pt x="1388" y="376"/>
                  </a:cubicBezTo>
                  <a:cubicBezTo>
                    <a:pt x="1378" y="376"/>
                    <a:pt x="1367" y="373"/>
                    <a:pt x="1357" y="368"/>
                  </a:cubicBezTo>
                  <a:cubicBezTo>
                    <a:pt x="949" y="132"/>
                    <a:pt x="949" y="132"/>
                    <a:pt x="949" y="132"/>
                  </a:cubicBezTo>
                  <a:cubicBezTo>
                    <a:pt x="935" y="124"/>
                    <a:pt x="919" y="120"/>
                    <a:pt x="903" y="120"/>
                  </a:cubicBezTo>
                  <a:cubicBezTo>
                    <a:pt x="888" y="120"/>
                    <a:pt x="872" y="124"/>
                    <a:pt x="858" y="132"/>
                  </a:cubicBezTo>
                  <a:cubicBezTo>
                    <a:pt x="521" y="326"/>
                    <a:pt x="521" y="326"/>
                    <a:pt x="521" y="326"/>
                  </a:cubicBezTo>
                  <a:cubicBezTo>
                    <a:pt x="511" y="332"/>
                    <a:pt x="501" y="335"/>
                    <a:pt x="490" y="335"/>
                  </a:cubicBezTo>
                  <a:cubicBezTo>
                    <a:pt x="479" y="335"/>
                    <a:pt x="468" y="332"/>
                    <a:pt x="459" y="326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1" y="74"/>
                    <a:pt x="19" y="73"/>
                    <a:pt x="16" y="73"/>
                  </a:cubicBezTo>
                  <a:cubicBezTo>
                    <a:pt x="11" y="73"/>
                    <a:pt x="7" y="76"/>
                    <a:pt x="4" y="80"/>
                  </a:cubicBezTo>
                  <a:cubicBezTo>
                    <a:pt x="0" y="87"/>
                    <a:pt x="3" y="95"/>
                    <a:pt x="9" y="99"/>
                  </a:cubicBezTo>
                  <a:cubicBezTo>
                    <a:pt x="445" y="351"/>
                    <a:pt x="445" y="351"/>
                    <a:pt x="445" y="351"/>
                  </a:cubicBezTo>
                  <a:cubicBezTo>
                    <a:pt x="459" y="359"/>
                    <a:pt x="474" y="363"/>
                    <a:pt x="490" y="363"/>
                  </a:cubicBezTo>
                  <a:cubicBezTo>
                    <a:pt x="506" y="363"/>
                    <a:pt x="521" y="359"/>
                    <a:pt x="535" y="351"/>
                  </a:cubicBezTo>
                  <a:cubicBezTo>
                    <a:pt x="872" y="156"/>
                    <a:pt x="872" y="156"/>
                    <a:pt x="872" y="156"/>
                  </a:cubicBezTo>
                  <a:cubicBezTo>
                    <a:pt x="882" y="150"/>
                    <a:pt x="893" y="148"/>
                    <a:pt x="903" y="148"/>
                  </a:cubicBezTo>
                  <a:cubicBezTo>
                    <a:pt x="914" y="148"/>
                    <a:pt x="925" y="150"/>
                    <a:pt x="935" y="156"/>
                  </a:cubicBezTo>
                  <a:cubicBezTo>
                    <a:pt x="1343" y="392"/>
                    <a:pt x="1343" y="392"/>
                    <a:pt x="1343" y="392"/>
                  </a:cubicBezTo>
                  <a:cubicBezTo>
                    <a:pt x="1357" y="400"/>
                    <a:pt x="1373" y="404"/>
                    <a:pt x="1388" y="404"/>
                  </a:cubicBezTo>
                  <a:cubicBezTo>
                    <a:pt x="1404" y="404"/>
                    <a:pt x="1420" y="400"/>
                    <a:pt x="1434" y="392"/>
                  </a:cubicBezTo>
                  <a:cubicBezTo>
                    <a:pt x="2067" y="26"/>
                    <a:pt x="2067" y="26"/>
                    <a:pt x="2067" y="26"/>
                  </a:cubicBezTo>
                  <a:cubicBezTo>
                    <a:pt x="2073" y="23"/>
                    <a:pt x="2076" y="14"/>
                    <a:pt x="2072" y="7"/>
                  </a:cubicBezTo>
                  <a:cubicBezTo>
                    <a:pt x="2069" y="3"/>
                    <a:pt x="2064" y="0"/>
                    <a:pt x="2059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50000"/>
                  </a:srgbClr>
                </a:gs>
                <a:gs pos="37000">
                  <a:srgbClr val="41E4DE">
                    <a:alpha val="50000"/>
                  </a:srgbClr>
                </a:gs>
                <a:gs pos="0">
                  <a:srgbClr val="19145F">
                    <a:alpha val="50000"/>
                  </a:srgbClr>
                </a:gs>
                <a:gs pos="100000">
                  <a:srgbClr val="19125E">
                    <a:alpha val="50000"/>
                  </a:srgbClr>
                </a:gs>
              </a:gsLst>
              <a:lin ang="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F3FC629-F814-44C8-848B-3A13EF052D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40638" y="3989388"/>
              <a:ext cx="3186112" cy="1830387"/>
            </a:xfrm>
            <a:custGeom>
              <a:avLst/>
              <a:gdLst>
                <a:gd name="T0" fmla="*/ 483 w 966"/>
                <a:gd name="T1" fmla="*/ 466 h 554"/>
                <a:gd name="T2" fmla="*/ 157 w 966"/>
                <a:gd name="T3" fmla="*/ 277 h 554"/>
                <a:gd name="T4" fmla="*/ 483 w 966"/>
                <a:gd name="T5" fmla="*/ 89 h 554"/>
                <a:gd name="T6" fmla="*/ 810 w 966"/>
                <a:gd name="T7" fmla="*/ 277 h 554"/>
                <a:gd name="T8" fmla="*/ 483 w 966"/>
                <a:gd name="T9" fmla="*/ 466 h 554"/>
                <a:gd name="T10" fmla="*/ 483 w 966"/>
                <a:gd name="T11" fmla="*/ 48 h 554"/>
                <a:gd name="T12" fmla="*/ 472 w 966"/>
                <a:gd name="T13" fmla="*/ 51 h 554"/>
                <a:gd name="T14" fmla="*/ 82 w 966"/>
                <a:gd name="T15" fmla="*/ 276 h 554"/>
                <a:gd name="T16" fmla="*/ 81 w 966"/>
                <a:gd name="T17" fmla="*/ 277 h 554"/>
                <a:gd name="T18" fmla="*/ 82 w 966"/>
                <a:gd name="T19" fmla="*/ 278 h 554"/>
                <a:gd name="T20" fmla="*/ 472 w 966"/>
                <a:gd name="T21" fmla="*/ 503 h 554"/>
                <a:gd name="T22" fmla="*/ 472 w 966"/>
                <a:gd name="T23" fmla="*/ 503 h 554"/>
                <a:gd name="T24" fmla="*/ 483 w 966"/>
                <a:gd name="T25" fmla="*/ 506 h 554"/>
                <a:gd name="T26" fmla="*/ 494 w 966"/>
                <a:gd name="T27" fmla="*/ 503 h 554"/>
                <a:gd name="T28" fmla="*/ 884 w 966"/>
                <a:gd name="T29" fmla="*/ 278 h 554"/>
                <a:gd name="T30" fmla="*/ 885 w 966"/>
                <a:gd name="T31" fmla="*/ 277 h 554"/>
                <a:gd name="T32" fmla="*/ 884 w 966"/>
                <a:gd name="T33" fmla="*/ 276 h 554"/>
                <a:gd name="T34" fmla="*/ 494 w 966"/>
                <a:gd name="T35" fmla="*/ 51 h 554"/>
                <a:gd name="T36" fmla="*/ 483 w 966"/>
                <a:gd name="T37" fmla="*/ 48 h 554"/>
                <a:gd name="T38" fmla="*/ 483 w 966"/>
                <a:gd name="T39" fmla="*/ 518 h 554"/>
                <a:gd name="T40" fmla="*/ 466 w 966"/>
                <a:gd name="T41" fmla="*/ 514 h 554"/>
                <a:gd name="T42" fmla="*/ 466 w 966"/>
                <a:gd name="T43" fmla="*/ 514 h 554"/>
                <a:gd name="T44" fmla="*/ 76 w 966"/>
                <a:gd name="T45" fmla="*/ 289 h 554"/>
                <a:gd name="T46" fmla="*/ 69 w 966"/>
                <a:gd name="T47" fmla="*/ 277 h 554"/>
                <a:gd name="T48" fmla="*/ 76 w 966"/>
                <a:gd name="T49" fmla="*/ 266 h 554"/>
                <a:gd name="T50" fmla="*/ 466 w 966"/>
                <a:gd name="T51" fmla="*/ 41 h 554"/>
                <a:gd name="T52" fmla="*/ 483 w 966"/>
                <a:gd name="T53" fmla="*/ 36 h 554"/>
                <a:gd name="T54" fmla="*/ 500 w 966"/>
                <a:gd name="T55" fmla="*/ 41 h 554"/>
                <a:gd name="T56" fmla="*/ 890 w 966"/>
                <a:gd name="T57" fmla="*/ 266 h 554"/>
                <a:gd name="T58" fmla="*/ 897 w 966"/>
                <a:gd name="T59" fmla="*/ 277 h 554"/>
                <a:gd name="T60" fmla="*/ 890 w 966"/>
                <a:gd name="T61" fmla="*/ 289 h 554"/>
                <a:gd name="T62" fmla="*/ 500 w 966"/>
                <a:gd name="T63" fmla="*/ 514 h 554"/>
                <a:gd name="T64" fmla="*/ 483 w 966"/>
                <a:gd name="T65" fmla="*/ 518 h 554"/>
                <a:gd name="T66" fmla="*/ 483 w 966"/>
                <a:gd name="T67" fmla="*/ 0 h 554"/>
                <a:gd name="T68" fmla="*/ 462 w 966"/>
                <a:gd name="T69" fmla="*/ 6 h 554"/>
                <a:gd name="T70" fmla="*/ 7 w 966"/>
                <a:gd name="T71" fmla="*/ 269 h 554"/>
                <a:gd name="T72" fmla="*/ 7 w 966"/>
                <a:gd name="T73" fmla="*/ 286 h 554"/>
                <a:gd name="T74" fmla="*/ 462 w 966"/>
                <a:gd name="T75" fmla="*/ 548 h 554"/>
                <a:gd name="T76" fmla="*/ 483 w 966"/>
                <a:gd name="T77" fmla="*/ 554 h 554"/>
                <a:gd name="T78" fmla="*/ 505 w 966"/>
                <a:gd name="T79" fmla="*/ 548 h 554"/>
                <a:gd name="T80" fmla="*/ 960 w 966"/>
                <a:gd name="T81" fmla="*/ 286 h 554"/>
                <a:gd name="T82" fmla="*/ 960 w 966"/>
                <a:gd name="T83" fmla="*/ 269 h 554"/>
                <a:gd name="T84" fmla="*/ 505 w 966"/>
                <a:gd name="T85" fmla="*/ 6 h 554"/>
                <a:gd name="T86" fmla="*/ 483 w 966"/>
                <a:gd name="T87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66" h="554">
                  <a:moveTo>
                    <a:pt x="483" y="466"/>
                  </a:moveTo>
                  <a:cubicBezTo>
                    <a:pt x="157" y="277"/>
                    <a:pt x="157" y="277"/>
                    <a:pt x="157" y="277"/>
                  </a:cubicBezTo>
                  <a:cubicBezTo>
                    <a:pt x="483" y="89"/>
                    <a:pt x="483" y="89"/>
                    <a:pt x="483" y="89"/>
                  </a:cubicBezTo>
                  <a:cubicBezTo>
                    <a:pt x="810" y="277"/>
                    <a:pt x="810" y="277"/>
                    <a:pt x="810" y="277"/>
                  </a:cubicBezTo>
                  <a:cubicBezTo>
                    <a:pt x="483" y="466"/>
                    <a:pt x="483" y="466"/>
                    <a:pt x="483" y="466"/>
                  </a:cubicBezTo>
                  <a:moveTo>
                    <a:pt x="483" y="48"/>
                  </a:moveTo>
                  <a:cubicBezTo>
                    <a:pt x="479" y="48"/>
                    <a:pt x="475" y="49"/>
                    <a:pt x="472" y="51"/>
                  </a:cubicBezTo>
                  <a:cubicBezTo>
                    <a:pt x="82" y="276"/>
                    <a:pt x="82" y="276"/>
                    <a:pt x="82" y="276"/>
                  </a:cubicBezTo>
                  <a:cubicBezTo>
                    <a:pt x="82" y="277"/>
                    <a:pt x="81" y="277"/>
                    <a:pt x="81" y="277"/>
                  </a:cubicBezTo>
                  <a:cubicBezTo>
                    <a:pt x="81" y="278"/>
                    <a:pt x="82" y="278"/>
                    <a:pt x="82" y="278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5" y="505"/>
                    <a:pt x="479" y="506"/>
                    <a:pt x="483" y="506"/>
                  </a:cubicBezTo>
                  <a:cubicBezTo>
                    <a:pt x="487" y="506"/>
                    <a:pt x="491" y="505"/>
                    <a:pt x="494" y="503"/>
                  </a:cubicBezTo>
                  <a:cubicBezTo>
                    <a:pt x="884" y="278"/>
                    <a:pt x="884" y="278"/>
                    <a:pt x="884" y="278"/>
                  </a:cubicBezTo>
                  <a:cubicBezTo>
                    <a:pt x="885" y="278"/>
                    <a:pt x="885" y="278"/>
                    <a:pt x="885" y="277"/>
                  </a:cubicBezTo>
                  <a:cubicBezTo>
                    <a:pt x="885" y="277"/>
                    <a:pt x="885" y="277"/>
                    <a:pt x="884" y="276"/>
                  </a:cubicBezTo>
                  <a:cubicBezTo>
                    <a:pt x="494" y="51"/>
                    <a:pt x="494" y="51"/>
                    <a:pt x="494" y="51"/>
                  </a:cubicBezTo>
                  <a:cubicBezTo>
                    <a:pt x="491" y="49"/>
                    <a:pt x="487" y="48"/>
                    <a:pt x="483" y="48"/>
                  </a:cubicBezTo>
                  <a:moveTo>
                    <a:pt x="483" y="518"/>
                  </a:moveTo>
                  <a:cubicBezTo>
                    <a:pt x="477" y="518"/>
                    <a:pt x="471" y="517"/>
                    <a:pt x="466" y="514"/>
                  </a:cubicBezTo>
                  <a:cubicBezTo>
                    <a:pt x="466" y="514"/>
                    <a:pt x="466" y="514"/>
                    <a:pt x="466" y="514"/>
                  </a:cubicBezTo>
                  <a:cubicBezTo>
                    <a:pt x="76" y="289"/>
                    <a:pt x="76" y="289"/>
                    <a:pt x="76" y="289"/>
                  </a:cubicBezTo>
                  <a:cubicBezTo>
                    <a:pt x="72" y="286"/>
                    <a:pt x="69" y="282"/>
                    <a:pt x="69" y="277"/>
                  </a:cubicBezTo>
                  <a:cubicBezTo>
                    <a:pt x="69" y="273"/>
                    <a:pt x="72" y="268"/>
                    <a:pt x="76" y="266"/>
                  </a:cubicBezTo>
                  <a:cubicBezTo>
                    <a:pt x="466" y="41"/>
                    <a:pt x="466" y="41"/>
                    <a:pt x="466" y="41"/>
                  </a:cubicBezTo>
                  <a:cubicBezTo>
                    <a:pt x="471" y="38"/>
                    <a:pt x="477" y="36"/>
                    <a:pt x="483" y="36"/>
                  </a:cubicBezTo>
                  <a:cubicBezTo>
                    <a:pt x="489" y="36"/>
                    <a:pt x="495" y="38"/>
                    <a:pt x="500" y="41"/>
                  </a:cubicBezTo>
                  <a:cubicBezTo>
                    <a:pt x="890" y="266"/>
                    <a:pt x="890" y="266"/>
                    <a:pt x="890" y="266"/>
                  </a:cubicBezTo>
                  <a:cubicBezTo>
                    <a:pt x="894" y="268"/>
                    <a:pt x="897" y="273"/>
                    <a:pt x="897" y="277"/>
                  </a:cubicBezTo>
                  <a:cubicBezTo>
                    <a:pt x="897" y="282"/>
                    <a:pt x="894" y="286"/>
                    <a:pt x="890" y="289"/>
                  </a:cubicBezTo>
                  <a:cubicBezTo>
                    <a:pt x="500" y="514"/>
                    <a:pt x="500" y="514"/>
                    <a:pt x="500" y="514"/>
                  </a:cubicBezTo>
                  <a:cubicBezTo>
                    <a:pt x="495" y="517"/>
                    <a:pt x="489" y="518"/>
                    <a:pt x="483" y="518"/>
                  </a:cubicBezTo>
                  <a:moveTo>
                    <a:pt x="483" y="0"/>
                  </a:moveTo>
                  <a:cubicBezTo>
                    <a:pt x="476" y="0"/>
                    <a:pt x="468" y="2"/>
                    <a:pt x="462" y="6"/>
                  </a:cubicBezTo>
                  <a:cubicBezTo>
                    <a:pt x="7" y="269"/>
                    <a:pt x="7" y="269"/>
                    <a:pt x="7" y="269"/>
                  </a:cubicBezTo>
                  <a:cubicBezTo>
                    <a:pt x="0" y="273"/>
                    <a:pt x="0" y="282"/>
                    <a:pt x="7" y="286"/>
                  </a:cubicBezTo>
                  <a:cubicBezTo>
                    <a:pt x="462" y="548"/>
                    <a:pt x="462" y="548"/>
                    <a:pt x="462" y="548"/>
                  </a:cubicBezTo>
                  <a:cubicBezTo>
                    <a:pt x="468" y="552"/>
                    <a:pt x="476" y="554"/>
                    <a:pt x="483" y="554"/>
                  </a:cubicBezTo>
                  <a:cubicBezTo>
                    <a:pt x="491" y="554"/>
                    <a:pt x="498" y="552"/>
                    <a:pt x="505" y="548"/>
                  </a:cubicBezTo>
                  <a:cubicBezTo>
                    <a:pt x="960" y="286"/>
                    <a:pt x="960" y="286"/>
                    <a:pt x="960" y="286"/>
                  </a:cubicBezTo>
                  <a:cubicBezTo>
                    <a:pt x="966" y="282"/>
                    <a:pt x="966" y="273"/>
                    <a:pt x="960" y="269"/>
                  </a:cubicBezTo>
                  <a:cubicBezTo>
                    <a:pt x="505" y="6"/>
                    <a:pt x="505" y="6"/>
                    <a:pt x="505" y="6"/>
                  </a:cubicBezTo>
                  <a:cubicBezTo>
                    <a:pt x="498" y="2"/>
                    <a:pt x="491" y="0"/>
                    <a:pt x="483" y="0"/>
                  </a:cubicBezTo>
                </a:path>
              </a:pathLst>
            </a:custGeom>
            <a:solidFill>
              <a:srgbClr val="5E5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C71528E-8757-4884-83C1-214745F9F21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69238" y="4108450"/>
              <a:ext cx="2730500" cy="1592262"/>
            </a:xfrm>
            <a:custGeom>
              <a:avLst/>
              <a:gdLst>
                <a:gd name="T0" fmla="*/ 403 w 828"/>
                <a:gd name="T1" fmla="*/ 467 h 482"/>
                <a:gd name="T2" fmla="*/ 13 w 828"/>
                <a:gd name="T3" fmla="*/ 242 h 482"/>
                <a:gd name="T4" fmla="*/ 12 w 828"/>
                <a:gd name="T5" fmla="*/ 241 h 482"/>
                <a:gd name="T6" fmla="*/ 13 w 828"/>
                <a:gd name="T7" fmla="*/ 240 h 482"/>
                <a:gd name="T8" fmla="*/ 403 w 828"/>
                <a:gd name="T9" fmla="*/ 15 h 482"/>
                <a:gd name="T10" fmla="*/ 414 w 828"/>
                <a:gd name="T11" fmla="*/ 12 h 482"/>
                <a:gd name="T12" fmla="*/ 425 w 828"/>
                <a:gd name="T13" fmla="*/ 15 h 482"/>
                <a:gd name="T14" fmla="*/ 815 w 828"/>
                <a:gd name="T15" fmla="*/ 240 h 482"/>
                <a:gd name="T16" fmla="*/ 816 w 828"/>
                <a:gd name="T17" fmla="*/ 241 h 482"/>
                <a:gd name="T18" fmla="*/ 815 w 828"/>
                <a:gd name="T19" fmla="*/ 242 h 482"/>
                <a:gd name="T20" fmla="*/ 425 w 828"/>
                <a:gd name="T21" fmla="*/ 467 h 482"/>
                <a:gd name="T22" fmla="*/ 414 w 828"/>
                <a:gd name="T23" fmla="*/ 470 h 482"/>
                <a:gd name="T24" fmla="*/ 403 w 828"/>
                <a:gd name="T25" fmla="*/ 467 h 482"/>
                <a:gd name="T26" fmla="*/ 403 w 828"/>
                <a:gd name="T27" fmla="*/ 467 h 482"/>
                <a:gd name="T28" fmla="*/ 414 w 828"/>
                <a:gd name="T29" fmla="*/ 0 h 482"/>
                <a:gd name="T30" fmla="*/ 397 w 828"/>
                <a:gd name="T31" fmla="*/ 5 h 482"/>
                <a:gd name="T32" fmla="*/ 7 w 828"/>
                <a:gd name="T33" fmla="*/ 230 h 482"/>
                <a:gd name="T34" fmla="*/ 0 w 828"/>
                <a:gd name="T35" fmla="*/ 241 h 482"/>
                <a:gd name="T36" fmla="*/ 7 w 828"/>
                <a:gd name="T37" fmla="*/ 253 h 482"/>
                <a:gd name="T38" fmla="*/ 397 w 828"/>
                <a:gd name="T39" fmla="*/ 478 h 482"/>
                <a:gd name="T40" fmla="*/ 397 w 828"/>
                <a:gd name="T41" fmla="*/ 478 h 482"/>
                <a:gd name="T42" fmla="*/ 414 w 828"/>
                <a:gd name="T43" fmla="*/ 482 h 482"/>
                <a:gd name="T44" fmla="*/ 431 w 828"/>
                <a:gd name="T45" fmla="*/ 478 h 482"/>
                <a:gd name="T46" fmla="*/ 821 w 828"/>
                <a:gd name="T47" fmla="*/ 253 h 482"/>
                <a:gd name="T48" fmla="*/ 828 w 828"/>
                <a:gd name="T49" fmla="*/ 241 h 482"/>
                <a:gd name="T50" fmla="*/ 821 w 828"/>
                <a:gd name="T51" fmla="*/ 230 h 482"/>
                <a:gd name="T52" fmla="*/ 431 w 828"/>
                <a:gd name="T53" fmla="*/ 5 h 482"/>
                <a:gd name="T54" fmla="*/ 414 w 828"/>
                <a:gd name="T55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28" h="482">
                  <a:moveTo>
                    <a:pt x="403" y="467"/>
                  </a:moveTo>
                  <a:cubicBezTo>
                    <a:pt x="13" y="242"/>
                    <a:pt x="13" y="242"/>
                    <a:pt x="13" y="242"/>
                  </a:cubicBezTo>
                  <a:cubicBezTo>
                    <a:pt x="13" y="242"/>
                    <a:pt x="12" y="242"/>
                    <a:pt x="12" y="241"/>
                  </a:cubicBezTo>
                  <a:cubicBezTo>
                    <a:pt x="12" y="241"/>
                    <a:pt x="13" y="241"/>
                    <a:pt x="13" y="240"/>
                  </a:cubicBezTo>
                  <a:cubicBezTo>
                    <a:pt x="403" y="15"/>
                    <a:pt x="403" y="15"/>
                    <a:pt x="403" y="15"/>
                  </a:cubicBezTo>
                  <a:cubicBezTo>
                    <a:pt x="406" y="13"/>
                    <a:pt x="410" y="12"/>
                    <a:pt x="414" y="12"/>
                  </a:cubicBezTo>
                  <a:cubicBezTo>
                    <a:pt x="418" y="12"/>
                    <a:pt x="422" y="13"/>
                    <a:pt x="425" y="15"/>
                  </a:cubicBezTo>
                  <a:cubicBezTo>
                    <a:pt x="815" y="240"/>
                    <a:pt x="815" y="240"/>
                    <a:pt x="815" y="240"/>
                  </a:cubicBezTo>
                  <a:cubicBezTo>
                    <a:pt x="816" y="241"/>
                    <a:pt x="816" y="241"/>
                    <a:pt x="816" y="241"/>
                  </a:cubicBezTo>
                  <a:cubicBezTo>
                    <a:pt x="816" y="242"/>
                    <a:pt x="816" y="242"/>
                    <a:pt x="815" y="242"/>
                  </a:cubicBezTo>
                  <a:cubicBezTo>
                    <a:pt x="425" y="467"/>
                    <a:pt x="425" y="467"/>
                    <a:pt x="425" y="467"/>
                  </a:cubicBezTo>
                  <a:cubicBezTo>
                    <a:pt x="422" y="469"/>
                    <a:pt x="418" y="470"/>
                    <a:pt x="414" y="470"/>
                  </a:cubicBezTo>
                  <a:cubicBezTo>
                    <a:pt x="410" y="470"/>
                    <a:pt x="406" y="469"/>
                    <a:pt x="403" y="467"/>
                  </a:cubicBezTo>
                  <a:cubicBezTo>
                    <a:pt x="403" y="467"/>
                    <a:pt x="403" y="467"/>
                    <a:pt x="403" y="467"/>
                  </a:cubicBezTo>
                  <a:moveTo>
                    <a:pt x="414" y="0"/>
                  </a:moveTo>
                  <a:cubicBezTo>
                    <a:pt x="408" y="0"/>
                    <a:pt x="402" y="2"/>
                    <a:pt x="397" y="5"/>
                  </a:cubicBezTo>
                  <a:cubicBezTo>
                    <a:pt x="7" y="230"/>
                    <a:pt x="7" y="230"/>
                    <a:pt x="7" y="230"/>
                  </a:cubicBezTo>
                  <a:cubicBezTo>
                    <a:pt x="3" y="232"/>
                    <a:pt x="0" y="237"/>
                    <a:pt x="0" y="241"/>
                  </a:cubicBezTo>
                  <a:cubicBezTo>
                    <a:pt x="0" y="246"/>
                    <a:pt x="3" y="250"/>
                    <a:pt x="7" y="253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402" y="481"/>
                    <a:pt x="408" y="482"/>
                    <a:pt x="414" y="482"/>
                  </a:cubicBezTo>
                  <a:cubicBezTo>
                    <a:pt x="420" y="482"/>
                    <a:pt x="426" y="481"/>
                    <a:pt x="431" y="478"/>
                  </a:cubicBezTo>
                  <a:cubicBezTo>
                    <a:pt x="821" y="253"/>
                    <a:pt x="821" y="253"/>
                    <a:pt x="821" y="253"/>
                  </a:cubicBezTo>
                  <a:cubicBezTo>
                    <a:pt x="825" y="250"/>
                    <a:pt x="828" y="246"/>
                    <a:pt x="828" y="241"/>
                  </a:cubicBezTo>
                  <a:cubicBezTo>
                    <a:pt x="828" y="237"/>
                    <a:pt x="825" y="232"/>
                    <a:pt x="821" y="230"/>
                  </a:cubicBezTo>
                  <a:cubicBezTo>
                    <a:pt x="431" y="5"/>
                    <a:pt x="431" y="5"/>
                    <a:pt x="431" y="5"/>
                  </a:cubicBezTo>
                  <a:cubicBezTo>
                    <a:pt x="426" y="2"/>
                    <a:pt x="420" y="0"/>
                    <a:pt x="414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74000"/>
                  </a:srgbClr>
                </a:gs>
                <a:gs pos="37000">
                  <a:srgbClr val="41E4DE">
                    <a:alpha val="71000"/>
                  </a:srgbClr>
                </a:gs>
                <a:gs pos="0">
                  <a:srgbClr val="19145F"/>
                </a:gs>
                <a:gs pos="100000">
                  <a:srgbClr val="19125E">
                    <a:alpha val="8200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ED5565D2-665C-4D02-AF53-29AFF656BF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100B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8470F6EC-9358-4962-9498-35900AC547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55">
              <a:extLst>
                <a:ext uri="{FF2B5EF4-FFF2-40B4-BE49-F238E27FC236}">
                  <a16:creationId xmlns:a16="http://schemas.microsoft.com/office/drawing/2014/main" id="{1B8B1E90-E8E6-474C-A9F4-D613AE0CAB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3861" y="58102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3"/>
                    <a:pt x="17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56">
              <a:extLst>
                <a:ext uri="{FF2B5EF4-FFF2-40B4-BE49-F238E27FC236}">
                  <a16:creationId xmlns:a16="http://schemas.microsoft.com/office/drawing/2014/main" id="{069847D9-8534-4608-A15D-B6E42ACE98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05936" y="5756275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4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4" y="24"/>
                  </a:cubicBezTo>
                  <a:cubicBezTo>
                    <a:pt x="16" y="24"/>
                    <a:pt x="18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57">
              <a:extLst>
                <a:ext uri="{FF2B5EF4-FFF2-40B4-BE49-F238E27FC236}">
                  <a16:creationId xmlns:a16="http://schemas.microsoft.com/office/drawing/2014/main" id="{48EC9D43-F746-48CA-9F08-8E6CB81079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01186" y="5702300"/>
              <a:ext cx="85725" cy="77787"/>
            </a:xfrm>
            <a:custGeom>
              <a:avLst/>
              <a:gdLst>
                <a:gd name="T0" fmla="*/ 13 w 26"/>
                <a:gd name="T1" fmla="*/ 0 h 23"/>
                <a:gd name="T2" fmla="*/ 7 w 26"/>
                <a:gd name="T3" fmla="*/ 1 h 23"/>
                <a:gd name="T4" fmla="*/ 3 w 26"/>
                <a:gd name="T5" fmla="*/ 18 h 23"/>
                <a:gd name="T6" fmla="*/ 13 w 26"/>
                <a:gd name="T7" fmla="*/ 23 h 23"/>
                <a:gd name="T8" fmla="*/ 19 w 26"/>
                <a:gd name="T9" fmla="*/ 22 h 23"/>
                <a:gd name="T10" fmla="*/ 23 w 26"/>
                <a:gd name="T11" fmla="*/ 6 h 23"/>
                <a:gd name="T12" fmla="*/ 13 w 26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3">
                  <a:moveTo>
                    <a:pt x="13" y="0"/>
                  </a:moveTo>
                  <a:cubicBezTo>
                    <a:pt x="11" y="0"/>
                    <a:pt x="9" y="0"/>
                    <a:pt x="7" y="1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58">
              <a:extLst>
                <a:ext uri="{FF2B5EF4-FFF2-40B4-BE49-F238E27FC236}">
                  <a16:creationId xmlns:a16="http://schemas.microsoft.com/office/drawing/2014/main" id="{54203647-D14B-459B-A874-D5CE3FF3B5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3261" y="5649912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4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3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59">
              <a:extLst>
                <a:ext uri="{FF2B5EF4-FFF2-40B4-BE49-F238E27FC236}">
                  <a16:creationId xmlns:a16="http://schemas.microsoft.com/office/drawing/2014/main" id="{08820E61-22DB-4B15-9C62-34AE5ADA75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6924" y="559593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1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60">
              <a:extLst>
                <a:ext uri="{FF2B5EF4-FFF2-40B4-BE49-F238E27FC236}">
                  <a16:creationId xmlns:a16="http://schemas.microsoft.com/office/drawing/2014/main" id="{AEDA835B-253D-49A4-AD92-D38F3FD8A5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82174" y="5538787"/>
              <a:ext cx="88900" cy="80962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61">
              <a:extLst>
                <a:ext uri="{FF2B5EF4-FFF2-40B4-BE49-F238E27FC236}">
                  <a16:creationId xmlns:a16="http://schemas.microsoft.com/office/drawing/2014/main" id="{EAAF6E4C-9F9A-49F1-8348-DF77685638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3161" y="5372100"/>
              <a:ext cx="88900" cy="77787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62">
              <a:extLst>
                <a:ext uri="{FF2B5EF4-FFF2-40B4-BE49-F238E27FC236}">
                  <a16:creationId xmlns:a16="http://schemas.microsoft.com/office/drawing/2014/main" id="{0347101B-1CD1-4977-A202-28F12251DD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1086" y="5426075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63">
              <a:extLst>
                <a:ext uri="{FF2B5EF4-FFF2-40B4-BE49-F238E27FC236}">
                  <a16:creationId xmlns:a16="http://schemas.microsoft.com/office/drawing/2014/main" id="{A65CBAA9-9DF4-4F79-A533-CE5F4A3231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74249" y="5480050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57EA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64">
              <a:extLst>
                <a:ext uri="{FF2B5EF4-FFF2-40B4-BE49-F238E27FC236}">
                  <a16:creationId xmlns:a16="http://schemas.microsoft.com/office/drawing/2014/main" id="{306AC6B0-8C0B-470D-9853-86D766DEA4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23561" y="5372100"/>
              <a:ext cx="88900" cy="77787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8 w 27"/>
                <a:gd name="T5" fmla="*/ 22 h 23"/>
                <a:gd name="T6" fmla="*/ 13 w 27"/>
                <a:gd name="T7" fmla="*/ 23 h 23"/>
                <a:gd name="T8" fmla="*/ 24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8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8" y="23"/>
                    <a:pt x="21" y="21"/>
                    <a:pt x="24" y="17"/>
                  </a:cubicBezTo>
                  <a:cubicBezTo>
                    <a:pt x="27" y="11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65">
              <a:extLst>
                <a:ext uri="{FF2B5EF4-FFF2-40B4-BE49-F238E27FC236}">
                  <a16:creationId xmlns:a16="http://schemas.microsoft.com/office/drawing/2014/main" id="{D8CA5445-3AAF-46BA-84D0-F11755E0E5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5636" y="5426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4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7 h 23"/>
                <a:gd name="T10" fmla="*/ 20 w 27"/>
                <a:gd name="T11" fmla="*/ 1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7"/>
                  </a:cubicBezTo>
                  <a:cubicBezTo>
                    <a:pt x="27" y="12"/>
                    <a:pt x="25" y="5"/>
                    <a:pt x="20" y="1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66">
              <a:extLst>
                <a:ext uri="{FF2B5EF4-FFF2-40B4-BE49-F238E27FC236}">
                  <a16:creationId xmlns:a16="http://schemas.microsoft.com/office/drawing/2014/main" id="{6E0F6EDD-9620-4A0A-9E52-85896B6B3E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10886" y="54800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67">
              <a:extLst>
                <a:ext uri="{FF2B5EF4-FFF2-40B4-BE49-F238E27FC236}">
                  <a16:creationId xmlns:a16="http://schemas.microsoft.com/office/drawing/2014/main" id="{2B23DE40-FEA9-419A-A012-944D8879A7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04549" y="55324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68">
              <a:extLst>
                <a:ext uri="{FF2B5EF4-FFF2-40B4-BE49-F238E27FC236}">
                  <a16:creationId xmlns:a16="http://schemas.microsoft.com/office/drawing/2014/main" id="{467CDEB9-2068-43B0-9F98-13F176B669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99799" y="558641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7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3"/>
                    <a:pt x="3" y="6"/>
                  </a:cubicBezTo>
                  <a:cubicBezTo>
                    <a:pt x="0" y="12"/>
                    <a:pt x="2" y="19"/>
                    <a:pt x="7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2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1"/>
                    <a:pt x="15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71">
              <a:extLst>
                <a:ext uri="{FF2B5EF4-FFF2-40B4-BE49-F238E27FC236}">
                  <a16:creationId xmlns:a16="http://schemas.microsoft.com/office/drawing/2014/main" id="{2BA56708-F51B-4820-B39A-C5A8772A9E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45911" y="5972175"/>
              <a:ext cx="90488" cy="80962"/>
            </a:xfrm>
            <a:custGeom>
              <a:avLst/>
              <a:gdLst>
                <a:gd name="T0" fmla="*/ 14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1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72">
              <a:extLst>
                <a:ext uri="{FF2B5EF4-FFF2-40B4-BE49-F238E27FC236}">
                  <a16:creationId xmlns:a16="http://schemas.microsoft.com/office/drawing/2014/main" id="{3A242F8D-27D2-48B9-B89B-292D52ED31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53836" y="5919787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6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5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73">
              <a:extLst>
                <a:ext uri="{FF2B5EF4-FFF2-40B4-BE49-F238E27FC236}">
                  <a16:creationId xmlns:a16="http://schemas.microsoft.com/office/drawing/2014/main" id="{2B847F8F-E746-4ABE-9736-9BBD73E82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58586" y="58626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74">
              <a:extLst>
                <a:ext uri="{FF2B5EF4-FFF2-40B4-BE49-F238E27FC236}">
                  <a16:creationId xmlns:a16="http://schemas.microsoft.com/office/drawing/2014/main" id="{F9BFC2B0-E8DC-476C-8440-1E265F6C55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6511" y="5810250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3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8 h 23"/>
                <a:gd name="T10" fmla="*/ 19 w 27"/>
                <a:gd name="T11" fmla="*/ 2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75">
              <a:extLst>
                <a:ext uri="{FF2B5EF4-FFF2-40B4-BE49-F238E27FC236}">
                  <a16:creationId xmlns:a16="http://schemas.microsoft.com/office/drawing/2014/main" id="{F68124A6-7643-4752-A093-522E178E22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2849" y="5756275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77">
              <a:extLst>
                <a:ext uri="{FF2B5EF4-FFF2-40B4-BE49-F238E27FC236}">
                  <a16:creationId xmlns:a16="http://schemas.microsoft.com/office/drawing/2014/main" id="{7479CF2F-F825-4ED9-8980-9CDC581AD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87124" y="5699125"/>
              <a:ext cx="79375" cy="73025"/>
            </a:xfrm>
            <a:custGeom>
              <a:avLst/>
              <a:gdLst>
                <a:gd name="T0" fmla="*/ 11 w 24"/>
                <a:gd name="T1" fmla="*/ 0 h 22"/>
                <a:gd name="T2" fmla="*/ 6 w 24"/>
                <a:gd name="T3" fmla="*/ 1 h 22"/>
                <a:gd name="T4" fmla="*/ 3 w 24"/>
                <a:gd name="T5" fmla="*/ 5 h 22"/>
                <a:gd name="T6" fmla="*/ 7 w 24"/>
                <a:gd name="T7" fmla="*/ 21 h 22"/>
                <a:gd name="T8" fmla="*/ 13 w 24"/>
                <a:gd name="T9" fmla="*/ 22 h 22"/>
                <a:gd name="T10" fmla="*/ 18 w 24"/>
                <a:gd name="T11" fmla="*/ 21 h 22"/>
                <a:gd name="T12" fmla="*/ 21 w 24"/>
                <a:gd name="T13" fmla="*/ 18 h 22"/>
                <a:gd name="T14" fmla="*/ 17 w 24"/>
                <a:gd name="T15" fmla="*/ 2 h 22"/>
                <a:gd name="T16" fmla="*/ 11 w 24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2">
                  <a:moveTo>
                    <a:pt x="11" y="0"/>
                  </a:moveTo>
                  <a:cubicBezTo>
                    <a:pt x="9" y="0"/>
                    <a:pt x="8" y="0"/>
                    <a:pt x="6" y="1"/>
                  </a:cubicBezTo>
                  <a:cubicBezTo>
                    <a:pt x="5" y="2"/>
                    <a:pt x="4" y="3"/>
                    <a:pt x="3" y="5"/>
                  </a:cubicBezTo>
                  <a:cubicBezTo>
                    <a:pt x="0" y="10"/>
                    <a:pt x="2" y="18"/>
                    <a:pt x="7" y="21"/>
                  </a:cubicBezTo>
                  <a:cubicBezTo>
                    <a:pt x="9" y="22"/>
                    <a:pt x="11" y="22"/>
                    <a:pt x="13" y="22"/>
                  </a:cubicBezTo>
                  <a:cubicBezTo>
                    <a:pt x="15" y="22"/>
                    <a:pt x="16" y="22"/>
                    <a:pt x="18" y="21"/>
                  </a:cubicBezTo>
                  <a:cubicBezTo>
                    <a:pt x="19" y="21"/>
                    <a:pt x="20" y="19"/>
                    <a:pt x="21" y="18"/>
                  </a:cubicBezTo>
                  <a:cubicBezTo>
                    <a:pt x="24" y="12"/>
                    <a:pt x="22" y="5"/>
                    <a:pt x="17" y="2"/>
                  </a:cubicBezTo>
                  <a:cubicBezTo>
                    <a:pt x="15" y="1"/>
                    <a:pt x="13" y="0"/>
                    <a:pt x="11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79">
              <a:extLst>
                <a:ext uri="{FF2B5EF4-FFF2-40B4-BE49-F238E27FC236}">
                  <a16:creationId xmlns:a16="http://schemas.microsoft.com/office/drawing/2014/main" id="{E2AC8F3E-E460-4D8E-A14F-DE4BCDA07A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91874" y="5646737"/>
              <a:ext cx="82550" cy="73025"/>
            </a:xfrm>
            <a:custGeom>
              <a:avLst/>
              <a:gdLst>
                <a:gd name="T0" fmla="*/ 11 w 25"/>
                <a:gd name="T1" fmla="*/ 0 h 22"/>
                <a:gd name="T2" fmla="*/ 7 w 25"/>
                <a:gd name="T3" fmla="*/ 1 h 22"/>
                <a:gd name="T4" fmla="*/ 4 w 25"/>
                <a:gd name="T5" fmla="*/ 5 h 22"/>
                <a:gd name="T6" fmla="*/ 8 w 25"/>
                <a:gd name="T7" fmla="*/ 21 h 22"/>
                <a:gd name="T8" fmla="*/ 14 w 25"/>
                <a:gd name="T9" fmla="*/ 22 h 22"/>
                <a:gd name="T10" fmla="*/ 18 w 25"/>
                <a:gd name="T11" fmla="*/ 21 h 22"/>
                <a:gd name="T12" fmla="*/ 22 w 25"/>
                <a:gd name="T13" fmla="*/ 17 h 22"/>
                <a:gd name="T14" fmla="*/ 17 w 25"/>
                <a:gd name="T15" fmla="*/ 1 h 22"/>
                <a:gd name="T16" fmla="*/ 11 w 25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2">
                  <a:moveTo>
                    <a:pt x="11" y="0"/>
                  </a:moveTo>
                  <a:cubicBezTo>
                    <a:pt x="10" y="0"/>
                    <a:pt x="9" y="0"/>
                    <a:pt x="7" y="1"/>
                  </a:cubicBezTo>
                  <a:cubicBezTo>
                    <a:pt x="6" y="2"/>
                    <a:pt x="4" y="3"/>
                    <a:pt x="4" y="5"/>
                  </a:cubicBezTo>
                  <a:cubicBezTo>
                    <a:pt x="0" y="10"/>
                    <a:pt x="2" y="17"/>
                    <a:pt x="8" y="21"/>
                  </a:cubicBezTo>
                  <a:cubicBezTo>
                    <a:pt x="10" y="22"/>
                    <a:pt x="12" y="22"/>
                    <a:pt x="14" y="22"/>
                  </a:cubicBezTo>
                  <a:cubicBezTo>
                    <a:pt x="15" y="22"/>
                    <a:pt x="17" y="22"/>
                    <a:pt x="18" y="21"/>
                  </a:cubicBezTo>
                  <a:cubicBezTo>
                    <a:pt x="19" y="20"/>
                    <a:pt x="21" y="19"/>
                    <a:pt x="22" y="17"/>
                  </a:cubicBezTo>
                  <a:cubicBezTo>
                    <a:pt x="25" y="12"/>
                    <a:pt x="23" y="5"/>
                    <a:pt x="17" y="1"/>
                  </a:cubicBezTo>
                  <a:cubicBezTo>
                    <a:pt x="15" y="0"/>
                    <a:pt x="13" y="0"/>
                    <a:pt x="11" y="0"/>
                  </a:cubicBezTo>
                </a:path>
              </a:pathLst>
            </a:custGeom>
            <a:solidFill>
              <a:srgbClr val="5149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80">
              <a:extLst>
                <a:ext uri="{FF2B5EF4-FFF2-40B4-BE49-F238E27FC236}">
                  <a16:creationId xmlns:a16="http://schemas.microsoft.com/office/drawing/2014/main" id="{877DA411-2751-44F2-A7EE-AA70CF8BCC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030174" y="562610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8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81">
              <a:extLst>
                <a:ext uri="{FF2B5EF4-FFF2-40B4-BE49-F238E27FC236}">
                  <a16:creationId xmlns:a16="http://schemas.microsoft.com/office/drawing/2014/main" id="{08C14B30-69E1-436F-9656-9A670ED0AF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22249" y="5568950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3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82">
              <a:extLst>
                <a:ext uri="{FF2B5EF4-FFF2-40B4-BE49-F238E27FC236}">
                  <a16:creationId xmlns:a16="http://schemas.microsoft.com/office/drawing/2014/main" id="{81AB594C-8CCA-4332-AD1F-2ABC1E9301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17499" y="551656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83">
              <a:extLst>
                <a:ext uri="{FF2B5EF4-FFF2-40B4-BE49-F238E27FC236}">
                  <a16:creationId xmlns:a16="http://schemas.microsoft.com/office/drawing/2014/main" id="{F5473C86-4E85-479B-A4DF-0AE3B70A98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09574" y="546258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4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19" y="22"/>
                  </a:cubicBezTo>
                  <a:cubicBezTo>
                    <a:pt x="25" y="18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84">
              <a:extLst>
                <a:ext uri="{FF2B5EF4-FFF2-40B4-BE49-F238E27FC236}">
                  <a16:creationId xmlns:a16="http://schemas.microsoft.com/office/drawing/2014/main" id="{939CD653-6F1F-4C21-B0AD-212B0C319E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06411" y="5405437"/>
              <a:ext cx="85725" cy="80962"/>
            </a:xfrm>
            <a:custGeom>
              <a:avLst/>
              <a:gdLst>
                <a:gd name="T0" fmla="*/ 13 w 26"/>
                <a:gd name="T1" fmla="*/ 0 h 24"/>
                <a:gd name="T2" fmla="*/ 7 w 26"/>
                <a:gd name="T3" fmla="*/ 2 h 24"/>
                <a:gd name="T4" fmla="*/ 3 w 26"/>
                <a:gd name="T5" fmla="*/ 18 h 24"/>
                <a:gd name="T6" fmla="*/ 13 w 26"/>
                <a:gd name="T7" fmla="*/ 24 h 24"/>
                <a:gd name="T8" fmla="*/ 19 w 26"/>
                <a:gd name="T9" fmla="*/ 22 h 24"/>
                <a:gd name="T10" fmla="*/ 23 w 26"/>
                <a:gd name="T11" fmla="*/ 6 h 24"/>
                <a:gd name="T12" fmla="*/ 13 w 26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1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85">
              <a:extLst>
                <a:ext uri="{FF2B5EF4-FFF2-40B4-BE49-F238E27FC236}">
                  <a16:creationId xmlns:a16="http://schemas.microsoft.com/office/drawing/2014/main" id="{F3EE7AF8-F12B-4F2A-ADA4-D056575153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98486" y="535305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7 w 27"/>
                <a:gd name="T3" fmla="*/ 2 h 23"/>
                <a:gd name="T4" fmla="*/ 3 w 27"/>
                <a:gd name="T5" fmla="*/ 18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86">
              <a:extLst>
                <a:ext uri="{FF2B5EF4-FFF2-40B4-BE49-F238E27FC236}">
                  <a16:creationId xmlns:a16="http://schemas.microsoft.com/office/drawing/2014/main" id="{40F9DFFF-4CD4-43CD-AB17-5E0589E608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90561" y="5299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8B86A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0A3D1317-FBA6-4CE2-896A-4E1EEC200D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41802" y="5287830"/>
              <a:ext cx="827436" cy="50191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90039AA1-8B60-43A6-A6DB-294AF4C0BEC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352276" y="5405437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8C686BC3-7823-4311-971E-CED47FEC233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31243" y="5471253"/>
              <a:ext cx="328843" cy="21199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83AA01B2-BBA9-482C-AF61-FE5CC7143586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065044" y="5664134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61B26D1D-08BE-425A-97B5-DD08D3807562}"/>
                </a:ext>
              </a:extLst>
            </p:cNvPr>
            <p:cNvSpPr/>
            <p:nvPr userDrawn="1"/>
          </p:nvSpPr>
          <p:spPr>
            <a:xfrm>
              <a:off x="10861128" y="4188135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634BC058-D62E-4510-8D65-416300B44AC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0552112" y="4285080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03276EA7-5327-40E5-8F85-64AF830B6CA1}"/>
                </a:ext>
              </a:extLst>
            </p:cNvPr>
            <p:cNvSpPr/>
            <p:nvPr userDrawn="1"/>
          </p:nvSpPr>
          <p:spPr>
            <a:xfrm>
              <a:off x="9754989" y="371337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C9789196-78EC-4E5A-A04D-62DD88105C0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445973" y="381032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E4B2A535-B781-4AF0-ADDC-76897951D9BB}"/>
                </a:ext>
              </a:extLst>
            </p:cNvPr>
            <p:cNvSpPr/>
            <p:nvPr userDrawn="1"/>
          </p:nvSpPr>
          <p:spPr>
            <a:xfrm>
              <a:off x="10020604" y="4130676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28CECE6A-AC08-4EF9-B3FE-1D230C534BB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06261" y="4226956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737CB0B0-345F-4485-8D6F-9F7A19E99ABD}"/>
                </a:ext>
              </a:extLst>
            </p:cNvPr>
            <p:cNvSpPr/>
            <p:nvPr userDrawn="1"/>
          </p:nvSpPr>
          <p:spPr>
            <a:xfrm>
              <a:off x="7626655" y="417674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E066FF86-60CC-413B-A38C-5877DF3423B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12312" y="427302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3418658E-3C78-4374-B2D3-E9F25A672F8D}"/>
                </a:ext>
              </a:extLst>
            </p:cNvPr>
            <p:cNvSpPr/>
            <p:nvPr userDrawn="1"/>
          </p:nvSpPr>
          <p:spPr>
            <a:xfrm>
              <a:off x="8387012" y="336016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F8A1BA54-6C50-42DD-9E37-F4BE9AAC50C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272669" y="345644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DC5D5A44-A1EF-4532-8AD3-E8823B57F81E}"/>
                </a:ext>
              </a:extLst>
            </p:cNvPr>
            <p:cNvSpPr/>
            <p:nvPr userDrawn="1"/>
          </p:nvSpPr>
          <p:spPr>
            <a:xfrm>
              <a:off x="8071311" y="342409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055015E5-0B2E-46E6-A7AB-11C57440AE3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62295" y="352104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C463780-6B50-492E-8198-C64C39D93999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8216506" y="2821117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3EB51A2E-F9D5-43AA-8F4D-C0E2739FFE05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208402" y="2813165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Freeform 90">
              <a:extLst>
                <a:ext uri="{FF2B5EF4-FFF2-40B4-BE49-F238E27FC236}">
                  <a16:creationId xmlns:a16="http://schemas.microsoft.com/office/drawing/2014/main" id="{AF8EE743-B501-40A3-87A8-EE389C9346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solidFill>
              <a:srgbClr val="736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91">
              <a:extLst>
                <a:ext uri="{FF2B5EF4-FFF2-40B4-BE49-F238E27FC236}">
                  <a16:creationId xmlns:a16="http://schemas.microsoft.com/office/drawing/2014/main" id="{434E1605-FC1A-45F6-A9B3-8B234DCB5A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4025"/>
              <a:ext cx="2168525" cy="714375"/>
            </a:xfrm>
            <a:custGeom>
              <a:avLst/>
              <a:gdLst>
                <a:gd name="T0" fmla="*/ 10 w 538"/>
                <a:gd name="T1" fmla="*/ 165 h 177"/>
                <a:gd name="T2" fmla="*/ 31 w 538"/>
                <a:gd name="T3" fmla="*/ 177 h 177"/>
                <a:gd name="T4" fmla="*/ 249 w 538"/>
                <a:gd name="T5" fmla="*/ 52 h 177"/>
                <a:gd name="T6" fmla="*/ 287 w 538"/>
                <a:gd name="T7" fmla="*/ 50 h 177"/>
                <a:gd name="T8" fmla="*/ 507 w 538"/>
                <a:gd name="T9" fmla="*/ 177 h 177"/>
                <a:gd name="T10" fmla="*/ 525 w 538"/>
                <a:gd name="T11" fmla="*/ 167 h 177"/>
                <a:gd name="T12" fmla="*/ 528 w 538"/>
                <a:gd name="T13" fmla="*/ 145 h 177"/>
                <a:gd name="T14" fmla="*/ 287 w 538"/>
                <a:gd name="T15" fmla="*/ 5 h 177"/>
                <a:gd name="T16" fmla="*/ 249 w 538"/>
                <a:gd name="T17" fmla="*/ 7 h 177"/>
                <a:gd name="T18" fmla="*/ 13 w 538"/>
                <a:gd name="T19" fmla="*/ 143 h 177"/>
                <a:gd name="T20" fmla="*/ 10 w 538"/>
                <a:gd name="T21" fmla="*/ 1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177">
                  <a:moveTo>
                    <a:pt x="10" y="165"/>
                  </a:moveTo>
                  <a:cubicBezTo>
                    <a:pt x="31" y="177"/>
                    <a:pt x="31" y="177"/>
                    <a:pt x="31" y="177"/>
                  </a:cubicBezTo>
                  <a:cubicBezTo>
                    <a:pt x="249" y="52"/>
                    <a:pt x="249" y="52"/>
                    <a:pt x="249" y="52"/>
                  </a:cubicBezTo>
                  <a:cubicBezTo>
                    <a:pt x="260" y="45"/>
                    <a:pt x="277" y="45"/>
                    <a:pt x="287" y="50"/>
                  </a:cubicBezTo>
                  <a:cubicBezTo>
                    <a:pt x="507" y="177"/>
                    <a:pt x="507" y="177"/>
                    <a:pt x="507" y="177"/>
                  </a:cubicBezTo>
                  <a:cubicBezTo>
                    <a:pt x="525" y="167"/>
                    <a:pt x="525" y="167"/>
                    <a:pt x="525" y="167"/>
                  </a:cubicBezTo>
                  <a:cubicBezTo>
                    <a:pt x="537" y="160"/>
                    <a:pt x="538" y="150"/>
                    <a:pt x="528" y="145"/>
                  </a:cubicBezTo>
                  <a:cubicBezTo>
                    <a:pt x="287" y="5"/>
                    <a:pt x="287" y="5"/>
                    <a:pt x="287" y="5"/>
                  </a:cubicBezTo>
                  <a:cubicBezTo>
                    <a:pt x="277" y="0"/>
                    <a:pt x="260" y="0"/>
                    <a:pt x="249" y="7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2" y="150"/>
                    <a:pt x="0" y="159"/>
                    <a:pt x="10" y="165"/>
                  </a:cubicBezTo>
                  <a:close/>
                </a:path>
              </a:pathLst>
            </a:custGeom>
            <a:solidFill>
              <a:srgbClr val="42E8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90">
              <a:extLst>
                <a:ext uri="{FF2B5EF4-FFF2-40B4-BE49-F238E27FC236}">
                  <a16:creationId xmlns:a16="http://schemas.microsoft.com/office/drawing/2014/main" id="{8CC5DB59-0C2F-44B5-9B7F-1F2AD177C7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2017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gradFill>
              <a:gsLst>
                <a:gs pos="22000">
                  <a:srgbClr val="180D5B">
                    <a:alpha val="34000"/>
                  </a:srgbClr>
                </a:gs>
                <a:gs pos="100000">
                  <a:srgbClr val="42E8E0">
                    <a:alpha val="74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66" name="任意多边形: 形状 65" hidden="1">
              <a:extLst>
                <a:ext uri="{FF2B5EF4-FFF2-40B4-BE49-F238E27FC236}">
                  <a16:creationId xmlns:a16="http://schemas.microsoft.com/office/drawing/2014/main" id="{CA81584A-65BF-4DB2-BCDC-906ECBF8F7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78938" y="3259138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7" name="任意多边形: 形状 66" hidden="1">
              <a:extLst>
                <a:ext uri="{FF2B5EF4-FFF2-40B4-BE49-F238E27FC236}">
                  <a16:creationId xmlns:a16="http://schemas.microsoft.com/office/drawing/2014/main" id="{79F8DF02-08D3-40AF-8A42-A376AB444B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501188" y="3767138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8" name="任意多边形: 形状 67" hidden="1">
              <a:extLst>
                <a:ext uri="{FF2B5EF4-FFF2-40B4-BE49-F238E27FC236}">
                  <a16:creationId xmlns:a16="http://schemas.microsoft.com/office/drawing/2014/main" id="{2E910DF9-4B42-45E0-8930-43DB730251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613" y="4365625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9" name="任意多边形: 形状 68" hidden="1">
              <a:extLst>
                <a:ext uri="{FF2B5EF4-FFF2-40B4-BE49-F238E27FC236}">
                  <a16:creationId xmlns:a16="http://schemas.microsoft.com/office/drawing/2014/main" id="{5EC3441C-AA60-434F-89C7-FAE737B82B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45688" y="4695825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0" name="任意多边形: 形状 69" hidden="1">
              <a:extLst>
                <a:ext uri="{FF2B5EF4-FFF2-40B4-BE49-F238E27FC236}">
                  <a16:creationId xmlns:a16="http://schemas.microsoft.com/office/drawing/2014/main" id="{E5982589-29D3-4142-AE6E-E82171962760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9056822" y="3261347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1" name="任意多边形: 形状 70" hidden="1">
              <a:extLst>
                <a:ext uri="{FF2B5EF4-FFF2-40B4-BE49-F238E27FC236}">
                  <a16:creationId xmlns:a16="http://schemas.microsoft.com/office/drawing/2014/main" id="{06FDC9FE-130B-4BB1-B7E7-2875335138B5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836159" y="3769347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2" name="任意多边形: 形状 71" hidden="1">
              <a:extLst>
                <a:ext uri="{FF2B5EF4-FFF2-40B4-BE49-F238E27FC236}">
                  <a16:creationId xmlns:a16="http://schemas.microsoft.com/office/drawing/2014/main" id="{D0408D99-7102-4AE9-903E-0A3463396D8E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613909" y="4367834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3" name="任意多边形: 形状 72" hidden="1">
              <a:extLst>
                <a:ext uri="{FF2B5EF4-FFF2-40B4-BE49-F238E27FC236}">
                  <a16:creationId xmlns:a16="http://schemas.microsoft.com/office/drawing/2014/main" id="{AEB11552-24CE-450D-BC4B-BD0B224E7CD7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391659" y="4698034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4" name="Freeform 106">
              <a:extLst>
                <a:ext uri="{FF2B5EF4-FFF2-40B4-BE49-F238E27FC236}">
                  <a16:creationId xmlns:a16="http://schemas.microsoft.com/office/drawing/2014/main" id="{802652E2-13D5-4D4D-A1C1-D4A24DA696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55909" y="2437995"/>
              <a:ext cx="1951037" cy="3057525"/>
            </a:xfrm>
            <a:custGeom>
              <a:avLst/>
              <a:gdLst>
                <a:gd name="T0" fmla="*/ 531 w 531"/>
                <a:gd name="T1" fmla="*/ 0 h 835"/>
                <a:gd name="T2" fmla="*/ 0 w 531"/>
                <a:gd name="T3" fmla="*/ 0 h 835"/>
                <a:gd name="T4" fmla="*/ 0 w 531"/>
                <a:gd name="T5" fmla="*/ 682 h 835"/>
                <a:gd name="T6" fmla="*/ 0 w 531"/>
                <a:gd name="T7" fmla="*/ 682 h 835"/>
                <a:gd name="T8" fmla="*/ 6 w 531"/>
                <a:gd name="T9" fmla="*/ 692 h 835"/>
                <a:gd name="T10" fmla="*/ 248 w 531"/>
                <a:gd name="T11" fmla="*/ 831 h 835"/>
                <a:gd name="T12" fmla="*/ 264 w 531"/>
                <a:gd name="T13" fmla="*/ 835 h 835"/>
                <a:gd name="T14" fmla="*/ 286 w 531"/>
                <a:gd name="T15" fmla="*/ 830 h 835"/>
                <a:gd name="T16" fmla="*/ 522 w 531"/>
                <a:gd name="T17" fmla="*/ 693 h 835"/>
                <a:gd name="T18" fmla="*/ 531 w 531"/>
                <a:gd name="T19" fmla="*/ 682 h 835"/>
                <a:gd name="T20" fmla="*/ 531 w 531"/>
                <a:gd name="T21" fmla="*/ 682 h 835"/>
                <a:gd name="T22" fmla="*/ 531 w 531"/>
                <a:gd name="T23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1" h="835">
                  <a:moveTo>
                    <a:pt x="5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5"/>
                    <a:pt x="2" y="689"/>
                    <a:pt x="6" y="692"/>
                  </a:cubicBezTo>
                  <a:cubicBezTo>
                    <a:pt x="248" y="831"/>
                    <a:pt x="248" y="831"/>
                    <a:pt x="248" y="831"/>
                  </a:cubicBezTo>
                  <a:cubicBezTo>
                    <a:pt x="252" y="834"/>
                    <a:pt x="258" y="835"/>
                    <a:pt x="264" y="835"/>
                  </a:cubicBezTo>
                  <a:cubicBezTo>
                    <a:pt x="272" y="835"/>
                    <a:pt x="280" y="833"/>
                    <a:pt x="286" y="830"/>
                  </a:cubicBezTo>
                  <a:cubicBezTo>
                    <a:pt x="522" y="693"/>
                    <a:pt x="522" y="693"/>
                    <a:pt x="522" y="693"/>
                  </a:cubicBezTo>
                  <a:cubicBezTo>
                    <a:pt x="528" y="690"/>
                    <a:pt x="531" y="686"/>
                    <a:pt x="531" y="682"/>
                  </a:cubicBezTo>
                  <a:cubicBezTo>
                    <a:pt x="531" y="682"/>
                    <a:pt x="531" y="682"/>
                    <a:pt x="531" y="682"/>
                  </a:cubicBezTo>
                  <a:cubicBezTo>
                    <a:pt x="531" y="0"/>
                    <a:pt x="531" y="0"/>
                    <a:pt x="531" y="0"/>
                  </a:cubicBezTo>
                </a:path>
              </a:pathLst>
            </a:custGeom>
            <a:gradFill>
              <a:gsLst>
                <a:gs pos="100000">
                  <a:srgbClr val="42E6E0">
                    <a:alpha val="20000"/>
                  </a:srgbClr>
                </a:gs>
                <a:gs pos="0">
                  <a:srgbClr val="180D5B">
                    <a:alpha val="5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2026/3/26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2026/3/26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矩形 75">
            <a:extLst>
              <a:ext uri="{FF2B5EF4-FFF2-40B4-BE49-F238E27FC236}">
                <a16:creationId xmlns:a16="http://schemas.microsoft.com/office/drawing/2014/main" id="{818B7027-5C92-45CB-BBAA-AB7DCDF6E2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405683" y="1846467"/>
            <a:ext cx="5079462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405683" y="4152703"/>
            <a:ext cx="5079462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05685" y="3856432"/>
            <a:ext cx="5079462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3383A2F-1BBF-442C-B637-EC75AFBB314F}"/>
              </a:ext>
            </a:extLst>
          </p:cNvPr>
          <p:cNvGrpSpPr/>
          <p:nvPr userDrawn="1"/>
        </p:nvGrpSpPr>
        <p:grpSpPr>
          <a:xfrm flipH="1">
            <a:off x="140435" y="835838"/>
            <a:ext cx="9680127" cy="5377577"/>
            <a:chOff x="4656138" y="2437995"/>
            <a:chExt cx="6846887" cy="3803634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9C554A3D-024E-478A-AA3F-7C9AC070E6DE}"/>
                </a:ext>
              </a:extLst>
            </p:cNvPr>
            <p:cNvSpPr/>
            <p:nvPr userDrawn="1"/>
          </p:nvSpPr>
          <p:spPr>
            <a:xfrm>
              <a:off x="9791994" y="5509651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CC78CBC-9FE1-4BEC-900F-4C15400789B4}"/>
                </a:ext>
              </a:extLst>
            </p:cNvPr>
            <p:cNvSpPr/>
            <p:nvPr userDrawn="1"/>
          </p:nvSpPr>
          <p:spPr>
            <a:xfrm>
              <a:off x="8951536" y="5923755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22C2BE32-0DCF-4892-BE44-3D28A9D09EA9}"/>
                </a:ext>
              </a:extLst>
            </p:cNvPr>
            <p:cNvSpPr/>
            <p:nvPr userDrawn="1"/>
          </p:nvSpPr>
          <p:spPr>
            <a:xfrm>
              <a:off x="7681196" y="5266157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EE4A866-47D1-4299-A8BC-68ECE5F053D6}"/>
                </a:ext>
              </a:extLst>
            </p:cNvPr>
            <p:cNvSpPr/>
            <p:nvPr userDrawn="1"/>
          </p:nvSpPr>
          <p:spPr>
            <a:xfrm>
              <a:off x="6269331" y="5704329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20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68F80A6-5641-486A-AF6D-506CE3D7EC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56138" y="4818063"/>
              <a:ext cx="6846887" cy="1335087"/>
            </a:xfrm>
            <a:custGeom>
              <a:avLst/>
              <a:gdLst>
                <a:gd name="T0" fmla="*/ 2059 w 2076"/>
                <a:gd name="T1" fmla="*/ 0 h 404"/>
                <a:gd name="T2" fmla="*/ 2053 w 2076"/>
                <a:gd name="T3" fmla="*/ 2 h 404"/>
                <a:gd name="T4" fmla="*/ 1420 w 2076"/>
                <a:gd name="T5" fmla="*/ 368 h 404"/>
                <a:gd name="T6" fmla="*/ 1388 w 2076"/>
                <a:gd name="T7" fmla="*/ 376 h 404"/>
                <a:gd name="T8" fmla="*/ 1357 w 2076"/>
                <a:gd name="T9" fmla="*/ 368 h 404"/>
                <a:gd name="T10" fmla="*/ 949 w 2076"/>
                <a:gd name="T11" fmla="*/ 132 h 404"/>
                <a:gd name="T12" fmla="*/ 903 w 2076"/>
                <a:gd name="T13" fmla="*/ 120 h 404"/>
                <a:gd name="T14" fmla="*/ 858 w 2076"/>
                <a:gd name="T15" fmla="*/ 132 h 404"/>
                <a:gd name="T16" fmla="*/ 521 w 2076"/>
                <a:gd name="T17" fmla="*/ 326 h 404"/>
                <a:gd name="T18" fmla="*/ 490 w 2076"/>
                <a:gd name="T19" fmla="*/ 335 h 404"/>
                <a:gd name="T20" fmla="*/ 459 w 2076"/>
                <a:gd name="T21" fmla="*/ 326 h 404"/>
                <a:gd name="T22" fmla="*/ 23 w 2076"/>
                <a:gd name="T23" fmla="*/ 75 h 404"/>
                <a:gd name="T24" fmla="*/ 16 w 2076"/>
                <a:gd name="T25" fmla="*/ 73 h 404"/>
                <a:gd name="T26" fmla="*/ 4 w 2076"/>
                <a:gd name="T27" fmla="*/ 80 h 404"/>
                <a:gd name="T28" fmla="*/ 9 w 2076"/>
                <a:gd name="T29" fmla="*/ 99 h 404"/>
                <a:gd name="T30" fmla="*/ 445 w 2076"/>
                <a:gd name="T31" fmla="*/ 351 h 404"/>
                <a:gd name="T32" fmla="*/ 490 w 2076"/>
                <a:gd name="T33" fmla="*/ 363 h 404"/>
                <a:gd name="T34" fmla="*/ 535 w 2076"/>
                <a:gd name="T35" fmla="*/ 351 h 404"/>
                <a:gd name="T36" fmla="*/ 872 w 2076"/>
                <a:gd name="T37" fmla="*/ 156 h 404"/>
                <a:gd name="T38" fmla="*/ 903 w 2076"/>
                <a:gd name="T39" fmla="*/ 148 h 404"/>
                <a:gd name="T40" fmla="*/ 935 w 2076"/>
                <a:gd name="T41" fmla="*/ 156 h 404"/>
                <a:gd name="T42" fmla="*/ 1343 w 2076"/>
                <a:gd name="T43" fmla="*/ 392 h 404"/>
                <a:gd name="T44" fmla="*/ 1388 w 2076"/>
                <a:gd name="T45" fmla="*/ 404 h 404"/>
                <a:gd name="T46" fmla="*/ 1434 w 2076"/>
                <a:gd name="T47" fmla="*/ 392 h 404"/>
                <a:gd name="T48" fmla="*/ 2067 w 2076"/>
                <a:gd name="T49" fmla="*/ 26 h 404"/>
                <a:gd name="T50" fmla="*/ 2072 w 2076"/>
                <a:gd name="T51" fmla="*/ 7 h 404"/>
                <a:gd name="T52" fmla="*/ 2059 w 2076"/>
                <a:gd name="T53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076" h="404">
                  <a:moveTo>
                    <a:pt x="2059" y="0"/>
                  </a:moveTo>
                  <a:cubicBezTo>
                    <a:pt x="2057" y="0"/>
                    <a:pt x="2055" y="1"/>
                    <a:pt x="2053" y="2"/>
                  </a:cubicBezTo>
                  <a:cubicBezTo>
                    <a:pt x="1420" y="368"/>
                    <a:pt x="1420" y="368"/>
                    <a:pt x="1420" y="368"/>
                  </a:cubicBezTo>
                  <a:cubicBezTo>
                    <a:pt x="1410" y="373"/>
                    <a:pt x="1399" y="376"/>
                    <a:pt x="1388" y="376"/>
                  </a:cubicBezTo>
                  <a:cubicBezTo>
                    <a:pt x="1378" y="376"/>
                    <a:pt x="1367" y="373"/>
                    <a:pt x="1357" y="368"/>
                  </a:cubicBezTo>
                  <a:cubicBezTo>
                    <a:pt x="949" y="132"/>
                    <a:pt x="949" y="132"/>
                    <a:pt x="949" y="132"/>
                  </a:cubicBezTo>
                  <a:cubicBezTo>
                    <a:pt x="935" y="124"/>
                    <a:pt x="919" y="120"/>
                    <a:pt x="903" y="120"/>
                  </a:cubicBezTo>
                  <a:cubicBezTo>
                    <a:pt x="888" y="120"/>
                    <a:pt x="872" y="124"/>
                    <a:pt x="858" y="132"/>
                  </a:cubicBezTo>
                  <a:cubicBezTo>
                    <a:pt x="521" y="326"/>
                    <a:pt x="521" y="326"/>
                    <a:pt x="521" y="326"/>
                  </a:cubicBezTo>
                  <a:cubicBezTo>
                    <a:pt x="511" y="332"/>
                    <a:pt x="501" y="335"/>
                    <a:pt x="490" y="335"/>
                  </a:cubicBezTo>
                  <a:cubicBezTo>
                    <a:pt x="479" y="335"/>
                    <a:pt x="468" y="332"/>
                    <a:pt x="459" y="326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1" y="74"/>
                    <a:pt x="19" y="73"/>
                    <a:pt x="16" y="73"/>
                  </a:cubicBezTo>
                  <a:cubicBezTo>
                    <a:pt x="11" y="73"/>
                    <a:pt x="7" y="76"/>
                    <a:pt x="4" y="80"/>
                  </a:cubicBezTo>
                  <a:cubicBezTo>
                    <a:pt x="0" y="87"/>
                    <a:pt x="3" y="95"/>
                    <a:pt x="9" y="99"/>
                  </a:cubicBezTo>
                  <a:cubicBezTo>
                    <a:pt x="445" y="351"/>
                    <a:pt x="445" y="351"/>
                    <a:pt x="445" y="351"/>
                  </a:cubicBezTo>
                  <a:cubicBezTo>
                    <a:pt x="459" y="359"/>
                    <a:pt x="474" y="363"/>
                    <a:pt x="490" y="363"/>
                  </a:cubicBezTo>
                  <a:cubicBezTo>
                    <a:pt x="506" y="363"/>
                    <a:pt x="521" y="359"/>
                    <a:pt x="535" y="351"/>
                  </a:cubicBezTo>
                  <a:cubicBezTo>
                    <a:pt x="872" y="156"/>
                    <a:pt x="872" y="156"/>
                    <a:pt x="872" y="156"/>
                  </a:cubicBezTo>
                  <a:cubicBezTo>
                    <a:pt x="882" y="150"/>
                    <a:pt x="893" y="148"/>
                    <a:pt x="903" y="148"/>
                  </a:cubicBezTo>
                  <a:cubicBezTo>
                    <a:pt x="914" y="148"/>
                    <a:pt x="925" y="150"/>
                    <a:pt x="935" y="156"/>
                  </a:cubicBezTo>
                  <a:cubicBezTo>
                    <a:pt x="1343" y="392"/>
                    <a:pt x="1343" y="392"/>
                    <a:pt x="1343" y="392"/>
                  </a:cubicBezTo>
                  <a:cubicBezTo>
                    <a:pt x="1357" y="400"/>
                    <a:pt x="1373" y="404"/>
                    <a:pt x="1388" y="404"/>
                  </a:cubicBezTo>
                  <a:cubicBezTo>
                    <a:pt x="1404" y="404"/>
                    <a:pt x="1420" y="400"/>
                    <a:pt x="1434" y="392"/>
                  </a:cubicBezTo>
                  <a:cubicBezTo>
                    <a:pt x="2067" y="26"/>
                    <a:pt x="2067" y="26"/>
                    <a:pt x="2067" y="26"/>
                  </a:cubicBezTo>
                  <a:cubicBezTo>
                    <a:pt x="2073" y="23"/>
                    <a:pt x="2076" y="14"/>
                    <a:pt x="2072" y="7"/>
                  </a:cubicBezTo>
                  <a:cubicBezTo>
                    <a:pt x="2069" y="3"/>
                    <a:pt x="2064" y="0"/>
                    <a:pt x="2059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50000"/>
                  </a:srgbClr>
                </a:gs>
                <a:gs pos="37000">
                  <a:srgbClr val="41E4DE">
                    <a:alpha val="50000"/>
                  </a:srgbClr>
                </a:gs>
                <a:gs pos="0">
                  <a:srgbClr val="19145F">
                    <a:alpha val="50000"/>
                  </a:srgbClr>
                </a:gs>
                <a:gs pos="100000">
                  <a:srgbClr val="19125E">
                    <a:alpha val="50000"/>
                  </a:srgbClr>
                </a:gs>
              </a:gsLst>
              <a:lin ang="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EC823025-CC4D-448B-B923-ED6EE7BAFF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40638" y="3989388"/>
              <a:ext cx="3186112" cy="1830387"/>
            </a:xfrm>
            <a:custGeom>
              <a:avLst/>
              <a:gdLst>
                <a:gd name="T0" fmla="*/ 483 w 966"/>
                <a:gd name="T1" fmla="*/ 466 h 554"/>
                <a:gd name="T2" fmla="*/ 157 w 966"/>
                <a:gd name="T3" fmla="*/ 277 h 554"/>
                <a:gd name="T4" fmla="*/ 483 w 966"/>
                <a:gd name="T5" fmla="*/ 89 h 554"/>
                <a:gd name="T6" fmla="*/ 810 w 966"/>
                <a:gd name="T7" fmla="*/ 277 h 554"/>
                <a:gd name="T8" fmla="*/ 483 w 966"/>
                <a:gd name="T9" fmla="*/ 466 h 554"/>
                <a:gd name="T10" fmla="*/ 483 w 966"/>
                <a:gd name="T11" fmla="*/ 48 h 554"/>
                <a:gd name="T12" fmla="*/ 472 w 966"/>
                <a:gd name="T13" fmla="*/ 51 h 554"/>
                <a:gd name="T14" fmla="*/ 82 w 966"/>
                <a:gd name="T15" fmla="*/ 276 h 554"/>
                <a:gd name="T16" fmla="*/ 81 w 966"/>
                <a:gd name="T17" fmla="*/ 277 h 554"/>
                <a:gd name="T18" fmla="*/ 82 w 966"/>
                <a:gd name="T19" fmla="*/ 278 h 554"/>
                <a:gd name="T20" fmla="*/ 472 w 966"/>
                <a:gd name="T21" fmla="*/ 503 h 554"/>
                <a:gd name="T22" fmla="*/ 472 w 966"/>
                <a:gd name="T23" fmla="*/ 503 h 554"/>
                <a:gd name="T24" fmla="*/ 483 w 966"/>
                <a:gd name="T25" fmla="*/ 506 h 554"/>
                <a:gd name="T26" fmla="*/ 494 w 966"/>
                <a:gd name="T27" fmla="*/ 503 h 554"/>
                <a:gd name="T28" fmla="*/ 884 w 966"/>
                <a:gd name="T29" fmla="*/ 278 h 554"/>
                <a:gd name="T30" fmla="*/ 885 w 966"/>
                <a:gd name="T31" fmla="*/ 277 h 554"/>
                <a:gd name="T32" fmla="*/ 884 w 966"/>
                <a:gd name="T33" fmla="*/ 276 h 554"/>
                <a:gd name="T34" fmla="*/ 494 w 966"/>
                <a:gd name="T35" fmla="*/ 51 h 554"/>
                <a:gd name="T36" fmla="*/ 483 w 966"/>
                <a:gd name="T37" fmla="*/ 48 h 554"/>
                <a:gd name="T38" fmla="*/ 483 w 966"/>
                <a:gd name="T39" fmla="*/ 518 h 554"/>
                <a:gd name="T40" fmla="*/ 466 w 966"/>
                <a:gd name="T41" fmla="*/ 514 h 554"/>
                <a:gd name="T42" fmla="*/ 466 w 966"/>
                <a:gd name="T43" fmla="*/ 514 h 554"/>
                <a:gd name="T44" fmla="*/ 76 w 966"/>
                <a:gd name="T45" fmla="*/ 289 h 554"/>
                <a:gd name="T46" fmla="*/ 69 w 966"/>
                <a:gd name="T47" fmla="*/ 277 h 554"/>
                <a:gd name="T48" fmla="*/ 76 w 966"/>
                <a:gd name="T49" fmla="*/ 266 h 554"/>
                <a:gd name="T50" fmla="*/ 466 w 966"/>
                <a:gd name="T51" fmla="*/ 41 h 554"/>
                <a:gd name="T52" fmla="*/ 483 w 966"/>
                <a:gd name="T53" fmla="*/ 36 h 554"/>
                <a:gd name="T54" fmla="*/ 500 w 966"/>
                <a:gd name="T55" fmla="*/ 41 h 554"/>
                <a:gd name="T56" fmla="*/ 890 w 966"/>
                <a:gd name="T57" fmla="*/ 266 h 554"/>
                <a:gd name="T58" fmla="*/ 897 w 966"/>
                <a:gd name="T59" fmla="*/ 277 h 554"/>
                <a:gd name="T60" fmla="*/ 890 w 966"/>
                <a:gd name="T61" fmla="*/ 289 h 554"/>
                <a:gd name="T62" fmla="*/ 500 w 966"/>
                <a:gd name="T63" fmla="*/ 514 h 554"/>
                <a:gd name="T64" fmla="*/ 483 w 966"/>
                <a:gd name="T65" fmla="*/ 518 h 554"/>
                <a:gd name="T66" fmla="*/ 483 w 966"/>
                <a:gd name="T67" fmla="*/ 0 h 554"/>
                <a:gd name="T68" fmla="*/ 462 w 966"/>
                <a:gd name="T69" fmla="*/ 6 h 554"/>
                <a:gd name="T70" fmla="*/ 7 w 966"/>
                <a:gd name="T71" fmla="*/ 269 h 554"/>
                <a:gd name="T72" fmla="*/ 7 w 966"/>
                <a:gd name="T73" fmla="*/ 286 h 554"/>
                <a:gd name="T74" fmla="*/ 462 w 966"/>
                <a:gd name="T75" fmla="*/ 548 h 554"/>
                <a:gd name="T76" fmla="*/ 483 w 966"/>
                <a:gd name="T77" fmla="*/ 554 h 554"/>
                <a:gd name="T78" fmla="*/ 505 w 966"/>
                <a:gd name="T79" fmla="*/ 548 h 554"/>
                <a:gd name="T80" fmla="*/ 960 w 966"/>
                <a:gd name="T81" fmla="*/ 286 h 554"/>
                <a:gd name="T82" fmla="*/ 960 w 966"/>
                <a:gd name="T83" fmla="*/ 269 h 554"/>
                <a:gd name="T84" fmla="*/ 505 w 966"/>
                <a:gd name="T85" fmla="*/ 6 h 554"/>
                <a:gd name="T86" fmla="*/ 483 w 966"/>
                <a:gd name="T87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66" h="554">
                  <a:moveTo>
                    <a:pt x="483" y="466"/>
                  </a:moveTo>
                  <a:cubicBezTo>
                    <a:pt x="157" y="277"/>
                    <a:pt x="157" y="277"/>
                    <a:pt x="157" y="277"/>
                  </a:cubicBezTo>
                  <a:cubicBezTo>
                    <a:pt x="483" y="89"/>
                    <a:pt x="483" y="89"/>
                    <a:pt x="483" y="89"/>
                  </a:cubicBezTo>
                  <a:cubicBezTo>
                    <a:pt x="810" y="277"/>
                    <a:pt x="810" y="277"/>
                    <a:pt x="810" y="277"/>
                  </a:cubicBezTo>
                  <a:cubicBezTo>
                    <a:pt x="483" y="466"/>
                    <a:pt x="483" y="466"/>
                    <a:pt x="483" y="466"/>
                  </a:cubicBezTo>
                  <a:moveTo>
                    <a:pt x="483" y="48"/>
                  </a:moveTo>
                  <a:cubicBezTo>
                    <a:pt x="479" y="48"/>
                    <a:pt x="475" y="49"/>
                    <a:pt x="472" y="51"/>
                  </a:cubicBezTo>
                  <a:cubicBezTo>
                    <a:pt x="82" y="276"/>
                    <a:pt x="82" y="276"/>
                    <a:pt x="82" y="276"/>
                  </a:cubicBezTo>
                  <a:cubicBezTo>
                    <a:pt x="82" y="277"/>
                    <a:pt x="81" y="277"/>
                    <a:pt x="81" y="277"/>
                  </a:cubicBezTo>
                  <a:cubicBezTo>
                    <a:pt x="81" y="278"/>
                    <a:pt x="82" y="278"/>
                    <a:pt x="82" y="278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5" y="505"/>
                    <a:pt x="479" y="506"/>
                    <a:pt x="483" y="506"/>
                  </a:cubicBezTo>
                  <a:cubicBezTo>
                    <a:pt x="487" y="506"/>
                    <a:pt x="491" y="505"/>
                    <a:pt x="494" y="503"/>
                  </a:cubicBezTo>
                  <a:cubicBezTo>
                    <a:pt x="884" y="278"/>
                    <a:pt x="884" y="278"/>
                    <a:pt x="884" y="278"/>
                  </a:cubicBezTo>
                  <a:cubicBezTo>
                    <a:pt x="885" y="278"/>
                    <a:pt x="885" y="278"/>
                    <a:pt x="885" y="277"/>
                  </a:cubicBezTo>
                  <a:cubicBezTo>
                    <a:pt x="885" y="277"/>
                    <a:pt x="885" y="277"/>
                    <a:pt x="884" y="276"/>
                  </a:cubicBezTo>
                  <a:cubicBezTo>
                    <a:pt x="494" y="51"/>
                    <a:pt x="494" y="51"/>
                    <a:pt x="494" y="51"/>
                  </a:cubicBezTo>
                  <a:cubicBezTo>
                    <a:pt x="491" y="49"/>
                    <a:pt x="487" y="48"/>
                    <a:pt x="483" y="48"/>
                  </a:cubicBezTo>
                  <a:moveTo>
                    <a:pt x="483" y="518"/>
                  </a:moveTo>
                  <a:cubicBezTo>
                    <a:pt x="477" y="518"/>
                    <a:pt x="471" y="517"/>
                    <a:pt x="466" y="514"/>
                  </a:cubicBezTo>
                  <a:cubicBezTo>
                    <a:pt x="466" y="514"/>
                    <a:pt x="466" y="514"/>
                    <a:pt x="466" y="514"/>
                  </a:cubicBezTo>
                  <a:cubicBezTo>
                    <a:pt x="76" y="289"/>
                    <a:pt x="76" y="289"/>
                    <a:pt x="76" y="289"/>
                  </a:cubicBezTo>
                  <a:cubicBezTo>
                    <a:pt x="72" y="286"/>
                    <a:pt x="69" y="282"/>
                    <a:pt x="69" y="277"/>
                  </a:cubicBezTo>
                  <a:cubicBezTo>
                    <a:pt x="69" y="273"/>
                    <a:pt x="72" y="268"/>
                    <a:pt x="76" y="266"/>
                  </a:cubicBezTo>
                  <a:cubicBezTo>
                    <a:pt x="466" y="41"/>
                    <a:pt x="466" y="41"/>
                    <a:pt x="466" y="41"/>
                  </a:cubicBezTo>
                  <a:cubicBezTo>
                    <a:pt x="471" y="38"/>
                    <a:pt x="477" y="36"/>
                    <a:pt x="483" y="36"/>
                  </a:cubicBezTo>
                  <a:cubicBezTo>
                    <a:pt x="489" y="36"/>
                    <a:pt x="495" y="38"/>
                    <a:pt x="500" y="41"/>
                  </a:cubicBezTo>
                  <a:cubicBezTo>
                    <a:pt x="890" y="266"/>
                    <a:pt x="890" y="266"/>
                    <a:pt x="890" y="266"/>
                  </a:cubicBezTo>
                  <a:cubicBezTo>
                    <a:pt x="894" y="268"/>
                    <a:pt x="897" y="273"/>
                    <a:pt x="897" y="277"/>
                  </a:cubicBezTo>
                  <a:cubicBezTo>
                    <a:pt x="897" y="282"/>
                    <a:pt x="894" y="286"/>
                    <a:pt x="890" y="289"/>
                  </a:cubicBezTo>
                  <a:cubicBezTo>
                    <a:pt x="500" y="514"/>
                    <a:pt x="500" y="514"/>
                    <a:pt x="500" y="514"/>
                  </a:cubicBezTo>
                  <a:cubicBezTo>
                    <a:pt x="495" y="517"/>
                    <a:pt x="489" y="518"/>
                    <a:pt x="483" y="518"/>
                  </a:cubicBezTo>
                  <a:moveTo>
                    <a:pt x="483" y="0"/>
                  </a:moveTo>
                  <a:cubicBezTo>
                    <a:pt x="476" y="0"/>
                    <a:pt x="468" y="2"/>
                    <a:pt x="462" y="6"/>
                  </a:cubicBezTo>
                  <a:cubicBezTo>
                    <a:pt x="7" y="269"/>
                    <a:pt x="7" y="269"/>
                    <a:pt x="7" y="269"/>
                  </a:cubicBezTo>
                  <a:cubicBezTo>
                    <a:pt x="0" y="273"/>
                    <a:pt x="0" y="282"/>
                    <a:pt x="7" y="286"/>
                  </a:cubicBezTo>
                  <a:cubicBezTo>
                    <a:pt x="462" y="548"/>
                    <a:pt x="462" y="548"/>
                    <a:pt x="462" y="548"/>
                  </a:cubicBezTo>
                  <a:cubicBezTo>
                    <a:pt x="468" y="552"/>
                    <a:pt x="476" y="554"/>
                    <a:pt x="483" y="554"/>
                  </a:cubicBezTo>
                  <a:cubicBezTo>
                    <a:pt x="491" y="554"/>
                    <a:pt x="498" y="552"/>
                    <a:pt x="505" y="548"/>
                  </a:cubicBezTo>
                  <a:cubicBezTo>
                    <a:pt x="960" y="286"/>
                    <a:pt x="960" y="286"/>
                    <a:pt x="960" y="286"/>
                  </a:cubicBezTo>
                  <a:cubicBezTo>
                    <a:pt x="966" y="282"/>
                    <a:pt x="966" y="273"/>
                    <a:pt x="960" y="269"/>
                  </a:cubicBezTo>
                  <a:cubicBezTo>
                    <a:pt x="505" y="6"/>
                    <a:pt x="505" y="6"/>
                    <a:pt x="505" y="6"/>
                  </a:cubicBezTo>
                  <a:cubicBezTo>
                    <a:pt x="498" y="2"/>
                    <a:pt x="491" y="0"/>
                    <a:pt x="483" y="0"/>
                  </a:cubicBezTo>
                </a:path>
              </a:pathLst>
            </a:custGeom>
            <a:solidFill>
              <a:srgbClr val="5E5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6DA1449B-9DF5-422D-8D4F-8ECFC57F0F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69238" y="4108450"/>
              <a:ext cx="2730500" cy="1592262"/>
            </a:xfrm>
            <a:custGeom>
              <a:avLst/>
              <a:gdLst>
                <a:gd name="T0" fmla="*/ 403 w 828"/>
                <a:gd name="T1" fmla="*/ 467 h 482"/>
                <a:gd name="T2" fmla="*/ 13 w 828"/>
                <a:gd name="T3" fmla="*/ 242 h 482"/>
                <a:gd name="T4" fmla="*/ 12 w 828"/>
                <a:gd name="T5" fmla="*/ 241 h 482"/>
                <a:gd name="T6" fmla="*/ 13 w 828"/>
                <a:gd name="T7" fmla="*/ 240 h 482"/>
                <a:gd name="T8" fmla="*/ 403 w 828"/>
                <a:gd name="T9" fmla="*/ 15 h 482"/>
                <a:gd name="T10" fmla="*/ 414 w 828"/>
                <a:gd name="T11" fmla="*/ 12 h 482"/>
                <a:gd name="T12" fmla="*/ 425 w 828"/>
                <a:gd name="T13" fmla="*/ 15 h 482"/>
                <a:gd name="T14" fmla="*/ 815 w 828"/>
                <a:gd name="T15" fmla="*/ 240 h 482"/>
                <a:gd name="T16" fmla="*/ 816 w 828"/>
                <a:gd name="T17" fmla="*/ 241 h 482"/>
                <a:gd name="T18" fmla="*/ 815 w 828"/>
                <a:gd name="T19" fmla="*/ 242 h 482"/>
                <a:gd name="T20" fmla="*/ 425 w 828"/>
                <a:gd name="T21" fmla="*/ 467 h 482"/>
                <a:gd name="T22" fmla="*/ 414 w 828"/>
                <a:gd name="T23" fmla="*/ 470 h 482"/>
                <a:gd name="T24" fmla="*/ 403 w 828"/>
                <a:gd name="T25" fmla="*/ 467 h 482"/>
                <a:gd name="T26" fmla="*/ 403 w 828"/>
                <a:gd name="T27" fmla="*/ 467 h 482"/>
                <a:gd name="T28" fmla="*/ 414 w 828"/>
                <a:gd name="T29" fmla="*/ 0 h 482"/>
                <a:gd name="T30" fmla="*/ 397 w 828"/>
                <a:gd name="T31" fmla="*/ 5 h 482"/>
                <a:gd name="T32" fmla="*/ 7 w 828"/>
                <a:gd name="T33" fmla="*/ 230 h 482"/>
                <a:gd name="T34" fmla="*/ 0 w 828"/>
                <a:gd name="T35" fmla="*/ 241 h 482"/>
                <a:gd name="T36" fmla="*/ 7 w 828"/>
                <a:gd name="T37" fmla="*/ 253 h 482"/>
                <a:gd name="T38" fmla="*/ 397 w 828"/>
                <a:gd name="T39" fmla="*/ 478 h 482"/>
                <a:gd name="T40" fmla="*/ 397 w 828"/>
                <a:gd name="T41" fmla="*/ 478 h 482"/>
                <a:gd name="T42" fmla="*/ 414 w 828"/>
                <a:gd name="T43" fmla="*/ 482 h 482"/>
                <a:gd name="T44" fmla="*/ 431 w 828"/>
                <a:gd name="T45" fmla="*/ 478 h 482"/>
                <a:gd name="T46" fmla="*/ 821 w 828"/>
                <a:gd name="T47" fmla="*/ 253 h 482"/>
                <a:gd name="T48" fmla="*/ 828 w 828"/>
                <a:gd name="T49" fmla="*/ 241 h 482"/>
                <a:gd name="T50" fmla="*/ 821 w 828"/>
                <a:gd name="T51" fmla="*/ 230 h 482"/>
                <a:gd name="T52" fmla="*/ 431 w 828"/>
                <a:gd name="T53" fmla="*/ 5 h 482"/>
                <a:gd name="T54" fmla="*/ 414 w 828"/>
                <a:gd name="T55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28" h="482">
                  <a:moveTo>
                    <a:pt x="403" y="467"/>
                  </a:moveTo>
                  <a:cubicBezTo>
                    <a:pt x="13" y="242"/>
                    <a:pt x="13" y="242"/>
                    <a:pt x="13" y="242"/>
                  </a:cubicBezTo>
                  <a:cubicBezTo>
                    <a:pt x="13" y="242"/>
                    <a:pt x="12" y="242"/>
                    <a:pt x="12" y="241"/>
                  </a:cubicBezTo>
                  <a:cubicBezTo>
                    <a:pt x="12" y="241"/>
                    <a:pt x="13" y="241"/>
                    <a:pt x="13" y="240"/>
                  </a:cubicBezTo>
                  <a:cubicBezTo>
                    <a:pt x="403" y="15"/>
                    <a:pt x="403" y="15"/>
                    <a:pt x="403" y="15"/>
                  </a:cubicBezTo>
                  <a:cubicBezTo>
                    <a:pt x="406" y="13"/>
                    <a:pt x="410" y="12"/>
                    <a:pt x="414" y="12"/>
                  </a:cubicBezTo>
                  <a:cubicBezTo>
                    <a:pt x="418" y="12"/>
                    <a:pt x="422" y="13"/>
                    <a:pt x="425" y="15"/>
                  </a:cubicBezTo>
                  <a:cubicBezTo>
                    <a:pt x="815" y="240"/>
                    <a:pt x="815" y="240"/>
                    <a:pt x="815" y="240"/>
                  </a:cubicBezTo>
                  <a:cubicBezTo>
                    <a:pt x="816" y="241"/>
                    <a:pt x="816" y="241"/>
                    <a:pt x="816" y="241"/>
                  </a:cubicBezTo>
                  <a:cubicBezTo>
                    <a:pt x="816" y="242"/>
                    <a:pt x="816" y="242"/>
                    <a:pt x="815" y="242"/>
                  </a:cubicBezTo>
                  <a:cubicBezTo>
                    <a:pt x="425" y="467"/>
                    <a:pt x="425" y="467"/>
                    <a:pt x="425" y="467"/>
                  </a:cubicBezTo>
                  <a:cubicBezTo>
                    <a:pt x="422" y="469"/>
                    <a:pt x="418" y="470"/>
                    <a:pt x="414" y="470"/>
                  </a:cubicBezTo>
                  <a:cubicBezTo>
                    <a:pt x="410" y="470"/>
                    <a:pt x="406" y="469"/>
                    <a:pt x="403" y="467"/>
                  </a:cubicBezTo>
                  <a:cubicBezTo>
                    <a:pt x="403" y="467"/>
                    <a:pt x="403" y="467"/>
                    <a:pt x="403" y="467"/>
                  </a:cubicBezTo>
                  <a:moveTo>
                    <a:pt x="414" y="0"/>
                  </a:moveTo>
                  <a:cubicBezTo>
                    <a:pt x="408" y="0"/>
                    <a:pt x="402" y="2"/>
                    <a:pt x="397" y="5"/>
                  </a:cubicBezTo>
                  <a:cubicBezTo>
                    <a:pt x="7" y="230"/>
                    <a:pt x="7" y="230"/>
                    <a:pt x="7" y="230"/>
                  </a:cubicBezTo>
                  <a:cubicBezTo>
                    <a:pt x="3" y="232"/>
                    <a:pt x="0" y="237"/>
                    <a:pt x="0" y="241"/>
                  </a:cubicBezTo>
                  <a:cubicBezTo>
                    <a:pt x="0" y="246"/>
                    <a:pt x="3" y="250"/>
                    <a:pt x="7" y="253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402" y="481"/>
                    <a:pt x="408" y="482"/>
                    <a:pt x="414" y="482"/>
                  </a:cubicBezTo>
                  <a:cubicBezTo>
                    <a:pt x="420" y="482"/>
                    <a:pt x="426" y="481"/>
                    <a:pt x="431" y="478"/>
                  </a:cubicBezTo>
                  <a:cubicBezTo>
                    <a:pt x="821" y="253"/>
                    <a:pt x="821" y="253"/>
                    <a:pt x="821" y="253"/>
                  </a:cubicBezTo>
                  <a:cubicBezTo>
                    <a:pt x="825" y="250"/>
                    <a:pt x="828" y="246"/>
                    <a:pt x="828" y="241"/>
                  </a:cubicBezTo>
                  <a:cubicBezTo>
                    <a:pt x="828" y="237"/>
                    <a:pt x="825" y="232"/>
                    <a:pt x="821" y="230"/>
                  </a:cubicBezTo>
                  <a:cubicBezTo>
                    <a:pt x="431" y="5"/>
                    <a:pt x="431" y="5"/>
                    <a:pt x="431" y="5"/>
                  </a:cubicBezTo>
                  <a:cubicBezTo>
                    <a:pt x="426" y="2"/>
                    <a:pt x="420" y="0"/>
                    <a:pt x="414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74000"/>
                  </a:srgbClr>
                </a:gs>
                <a:gs pos="37000">
                  <a:srgbClr val="41E4DE">
                    <a:alpha val="71000"/>
                  </a:srgbClr>
                </a:gs>
                <a:gs pos="0">
                  <a:srgbClr val="19145F"/>
                </a:gs>
                <a:gs pos="100000">
                  <a:srgbClr val="19125E">
                    <a:alpha val="8200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10B2BFE2-CBF3-401C-AE0A-ABD3A26EA6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100B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27BD26F7-83BE-43A6-ADDF-5050C8D1A5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55">
              <a:extLst>
                <a:ext uri="{FF2B5EF4-FFF2-40B4-BE49-F238E27FC236}">
                  <a16:creationId xmlns:a16="http://schemas.microsoft.com/office/drawing/2014/main" id="{6E07EA3C-1B70-4FDE-B7A1-5C2C57B1F9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3861" y="58102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3"/>
                    <a:pt x="17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56">
              <a:extLst>
                <a:ext uri="{FF2B5EF4-FFF2-40B4-BE49-F238E27FC236}">
                  <a16:creationId xmlns:a16="http://schemas.microsoft.com/office/drawing/2014/main" id="{36A0F9D0-6FD0-4967-B8F9-B088C32BD0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05936" y="5756275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4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4" y="24"/>
                  </a:cubicBezTo>
                  <a:cubicBezTo>
                    <a:pt x="16" y="24"/>
                    <a:pt x="18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57">
              <a:extLst>
                <a:ext uri="{FF2B5EF4-FFF2-40B4-BE49-F238E27FC236}">
                  <a16:creationId xmlns:a16="http://schemas.microsoft.com/office/drawing/2014/main" id="{9CE429ED-D423-4FF2-8997-F925A4EE3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01186" y="5702300"/>
              <a:ext cx="85725" cy="77787"/>
            </a:xfrm>
            <a:custGeom>
              <a:avLst/>
              <a:gdLst>
                <a:gd name="T0" fmla="*/ 13 w 26"/>
                <a:gd name="T1" fmla="*/ 0 h 23"/>
                <a:gd name="T2" fmla="*/ 7 w 26"/>
                <a:gd name="T3" fmla="*/ 1 h 23"/>
                <a:gd name="T4" fmla="*/ 3 w 26"/>
                <a:gd name="T5" fmla="*/ 18 h 23"/>
                <a:gd name="T6" fmla="*/ 13 w 26"/>
                <a:gd name="T7" fmla="*/ 23 h 23"/>
                <a:gd name="T8" fmla="*/ 19 w 26"/>
                <a:gd name="T9" fmla="*/ 22 h 23"/>
                <a:gd name="T10" fmla="*/ 23 w 26"/>
                <a:gd name="T11" fmla="*/ 6 h 23"/>
                <a:gd name="T12" fmla="*/ 13 w 26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3">
                  <a:moveTo>
                    <a:pt x="13" y="0"/>
                  </a:moveTo>
                  <a:cubicBezTo>
                    <a:pt x="11" y="0"/>
                    <a:pt x="9" y="0"/>
                    <a:pt x="7" y="1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58">
              <a:extLst>
                <a:ext uri="{FF2B5EF4-FFF2-40B4-BE49-F238E27FC236}">
                  <a16:creationId xmlns:a16="http://schemas.microsoft.com/office/drawing/2014/main" id="{3AD1FA30-1A5F-45B7-8F47-0495666ED6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3261" y="5649912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4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3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59">
              <a:extLst>
                <a:ext uri="{FF2B5EF4-FFF2-40B4-BE49-F238E27FC236}">
                  <a16:creationId xmlns:a16="http://schemas.microsoft.com/office/drawing/2014/main" id="{5AF43635-36A7-45F9-A4B6-9FC4A78501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6924" y="559593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1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60">
              <a:extLst>
                <a:ext uri="{FF2B5EF4-FFF2-40B4-BE49-F238E27FC236}">
                  <a16:creationId xmlns:a16="http://schemas.microsoft.com/office/drawing/2014/main" id="{2C941137-2484-49B8-AF1F-1BDF791815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82174" y="5538787"/>
              <a:ext cx="88900" cy="80962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61">
              <a:extLst>
                <a:ext uri="{FF2B5EF4-FFF2-40B4-BE49-F238E27FC236}">
                  <a16:creationId xmlns:a16="http://schemas.microsoft.com/office/drawing/2014/main" id="{4035D36C-9987-492B-8D32-29DACD2F0B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3161" y="5372100"/>
              <a:ext cx="88900" cy="77787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62">
              <a:extLst>
                <a:ext uri="{FF2B5EF4-FFF2-40B4-BE49-F238E27FC236}">
                  <a16:creationId xmlns:a16="http://schemas.microsoft.com/office/drawing/2014/main" id="{3B4E7CED-FE5C-49BE-9362-C2587E4A94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1086" y="5426075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63">
              <a:extLst>
                <a:ext uri="{FF2B5EF4-FFF2-40B4-BE49-F238E27FC236}">
                  <a16:creationId xmlns:a16="http://schemas.microsoft.com/office/drawing/2014/main" id="{531F4641-AD0A-4223-9658-0A902DDBCE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74249" y="5480050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57EA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64">
              <a:extLst>
                <a:ext uri="{FF2B5EF4-FFF2-40B4-BE49-F238E27FC236}">
                  <a16:creationId xmlns:a16="http://schemas.microsoft.com/office/drawing/2014/main" id="{05E0E6C8-D006-42F6-8C42-980DEB3AC5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23561" y="5372100"/>
              <a:ext cx="88900" cy="77787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8 w 27"/>
                <a:gd name="T5" fmla="*/ 22 h 23"/>
                <a:gd name="T6" fmla="*/ 13 w 27"/>
                <a:gd name="T7" fmla="*/ 23 h 23"/>
                <a:gd name="T8" fmla="*/ 24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8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8" y="23"/>
                    <a:pt x="21" y="21"/>
                    <a:pt x="24" y="17"/>
                  </a:cubicBezTo>
                  <a:cubicBezTo>
                    <a:pt x="27" y="11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65">
              <a:extLst>
                <a:ext uri="{FF2B5EF4-FFF2-40B4-BE49-F238E27FC236}">
                  <a16:creationId xmlns:a16="http://schemas.microsoft.com/office/drawing/2014/main" id="{E0F525E9-9A56-4973-AFFE-546EA91421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5636" y="5426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4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7 h 23"/>
                <a:gd name="T10" fmla="*/ 20 w 27"/>
                <a:gd name="T11" fmla="*/ 1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7"/>
                  </a:cubicBezTo>
                  <a:cubicBezTo>
                    <a:pt x="27" y="12"/>
                    <a:pt x="25" y="5"/>
                    <a:pt x="20" y="1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66">
              <a:extLst>
                <a:ext uri="{FF2B5EF4-FFF2-40B4-BE49-F238E27FC236}">
                  <a16:creationId xmlns:a16="http://schemas.microsoft.com/office/drawing/2014/main" id="{BEAE6FF4-C501-4C1E-BE5C-FD002C7403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10886" y="54800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67">
              <a:extLst>
                <a:ext uri="{FF2B5EF4-FFF2-40B4-BE49-F238E27FC236}">
                  <a16:creationId xmlns:a16="http://schemas.microsoft.com/office/drawing/2014/main" id="{220CDB65-2265-4F3C-900F-82CA48E66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04549" y="55324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68">
              <a:extLst>
                <a:ext uri="{FF2B5EF4-FFF2-40B4-BE49-F238E27FC236}">
                  <a16:creationId xmlns:a16="http://schemas.microsoft.com/office/drawing/2014/main" id="{ECAD736F-A86C-4A0E-9501-9B69D6915A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99799" y="558641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7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3"/>
                    <a:pt x="3" y="6"/>
                  </a:cubicBezTo>
                  <a:cubicBezTo>
                    <a:pt x="0" y="12"/>
                    <a:pt x="2" y="19"/>
                    <a:pt x="7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2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1"/>
                    <a:pt x="15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71">
              <a:extLst>
                <a:ext uri="{FF2B5EF4-FFF2-40B4-BE49-F238E27FC236}">
                  <a16:creationId xmlns:a16="http://schemas.microsoft.com/office/drawing/2014/main" id="{98532914-5A4F-4DDE-A3CD-6827FFEBCA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45911" y="5972175"/>
              <a:ext cx="90488" cy="80962"/>
            </a:xfrm>
            <a:custGeom>
              <a:avLst/>
              <a:gdLst>
                <a:gd name="T0" fmla="*/ 14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1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72">
              <a:extLst>
                <a:ext uri="{FF2B5EF4-FFF2-40B4-BE49-F238E27FC236}">
                  <a16:creationId xmlns:a16="http://schemas.microsoft.com/office/drawing/2014/main" id="{A7BDCC71-1F86-4B47-B459-2477B26D26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53836" y="5919787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6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5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73">
              <a:extLst>
                <a:ext uri="{FF2B5EF4-FFF2-40B4-BE49-F238E27FC236}">
                  <a16:creationId xmlns:a16="http://schemas.microsoft.com/office/drawing/2014/main" id="{8EDB264D-3D4F-4F98-A42E-3355C4154F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58586" y="58626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74">
              <a:extLst>
                <a:ext uri="{FF2B5EF4-FFF2-40B4-BE49-F238E27FC236}">
                  <a16:creationId xmlns:a16="http://schemas.microsoft.com/office/drawing/2014/main" id="{33638A6C-CE95-4C7E-B7B4-8FC32CD0D2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6511" y="5810250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3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8 h 23"/>
                <a:gd name="T10" fmla="*/ 19 w 27"/>
                <a:gd name="T11" fmla="*/ 2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75">
              <a:extLst>
                <a:ext uri="{FF2B5EF4-FFF2-40B4-BE49-F238E27FC236}">
                  <a16:creationId xmlns:a16="http://schemas.microsoft.com/office/drawing/2014/main" id="{C23CA099-DAC1-432C-8C4E-11E19A22FD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2849" y="5756275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77">
              <a:extLst>
                <a:ext uri="{FF2B5EF4-FFF2-40B4-BE49-F238E27FC236}">
                  <a16:creationId xmlns:a16="http://schemas.microsoft.com/office/drawing/2014/main" id="{07FA81A5-EEEB-44AB-9090-766B35EE42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87124" y="5699125"/>
              <a:ext cx="79375" cy="73025"/>
            </a:xfrm>
            <a:custGeom>
              <a:avLst/>
              <a:gdLst>
                <a:gd name="T0" fmla="*/ 11 w 24"/>
                <a:gd name="T1" fmla="*/ 0 h 22"/>
                <a:gd name="T2" fmla="*/ 6 w 24"/>
                <a:gd name="T3" fmla="*/ 1 h 22"/>
                <a:gd name="T4" fmla="*/ 3 w 24"/>
                <a:gd name="T5" fmla="*/ 5 h 22"/>
                <a:gd name="T6" fmla="*/ 7 w 24"/>
                <a:gd name="T7" fmla="*/ 21 h 22"/>
                <a:gd name="T8" fmla="*/ 13 w 24"/>
                <a:gd name="T9" fmla="*/ 22 h 22"/>
                <a:gd name="T10" fmla="*/ 18 w 24"/>
                <a:gd name="T11" fmla="*/ 21 h 22"/>
                <a:gd name="T12" fmla="*/ 21 w 24"/>
                <a:gd name="T13" fmla="*/ 18 h 22"/>
                <a:gd name="T14" fmla="*/ 17 w 24"/>
                <a:gd name="T15" fmla="*/ 2 h 22"/>
                <a:gd name="T16" fmla="*/ 11 w 24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2">
                  <a:moveTo>
                    <a:pt x="11" y="0"/>
                  </a:moveTo>
                  <a:cubicBezTo>
                    <a:pt x="9" y="0"/>
                    <a:pt x="8" y="0"/>
                    <a:pt x="6" y="1"/>
                  </a:cubicBezTo>
                  <a:cubicBezTo>
                    <a:pt x="5" y="2"/>
                    <a:pt x="4" y="3"/>
                    <a:pt x="3" y="5"/>
                  </a:cubicBezTo>
                  <a:cubicBezTo>
                    <a:pt x="0" y="10"/>
                    <a:pt x="2" y="18"/>
                    <a:pt x="7" y="21"/>
                  </a:cubicBezTo>
                  <a:cubicBezTo>
                    <a:pt x="9" y="22"/>
                    <a:pt x="11" y="22"/>
                    <a:pt x="13" y="22"/>
                  </a:cubicBezTo>
                  <a:cubicBezTo>
                    <a:pt x="15" y="22"/>
                    <a:pt x="16" y="22"/>
                    <a:pt x="18" y="21"/>
                  </a:cubicBezTo>
                  <a:cubicBezTo>
                    <a:pt x="19" y="21"/>
                    <a:pt x="20" y="19"/>
                    <a:pt x="21" y="18"/>
                  </a:cubicBezTo>
                  <a:cubicBezTo>
                    <a:pt x="24" y="12"/>
                    <a:pt x="22" y="5"/>
                    <a:pt x="17" y="2"/>
                  </a:cubicBezTo>
                  <a:cubicBezTo>
                    <a:pt x="15" y="1"/>
                    <a:pt x="13" y="0"/>
                    <a:pt x="11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79">
              <a:extLst>
                <a:ext uri="{FF2B5EF4-FFF2-40B4-BE49-F238E27FC236}">
                  <a16:creationId xmlns:a16="http://schemas.microsoft.com/office/drawing/2014/main" id="{40C15D7D-C48E-4DE3-B760-B9144BDAA1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91874" y="5646737"/>
              <a:ext cx="82550" cy="73025"/>
            </a:xfrm>
            <a:custGeom>
              <a:avLst/>
              <a:gdLst>
                <a:gd name="T0" fmla="*/ 11 w 25"/>
                <a:gd name="T1" fmla="*/ 0 h 22"/>
                <a:gd name="T2" fmla="*/ 7 w 25"/>
                <a:gd name="T3" fmla="*/ 1 h 22"/>
                <a:gd name="T4" fmla="*/ 4 w 25"/>
                <a:gd name="T5" fmla="*/ 5 h 22"/>
                <a:gd name="T6" fmla="*/ 8 w 25"/>
                <a:gd name="T7" fmla="*/ 21 h 22"/>
                <a:gd name="T8" fmla="*/ 14 w 25"/>
                <a:gd name="T9" fmla="*/ 22 h 22"/>
                <a:gd name="T10" fmla="*/ 18 w 25"/>
                <a:gd name="T11" fmla="*/ 21 h 22"/>
                <a:gd name="T12" fmla="*/ 22 w 25"/>
                <a:gd name="T13" fmla="*/ 17 h 22"/>
                <a:gd name="T14" fmla="*/ 17 w 25"/>
                <a:gd name="T15" fmla="*/ 1 h 22"/>
                <a:gd name="T16" fmla="*/ 11 w 25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2">
                  <a:moveTo>
                    <a:pt x="11" y="0"/>
                  </a:moveTo>
                  <a:cubicBezTo>
                    <a:pt x="10" y="0"/>
                    <a:pt x="9" y="0"/>
                    <a:pt x="7" y="1"/>
                  </a:cubicBezTo>
                  <a:cubicBezTo>
                    <a:pt x="6" y="2"/>
                    <a:pt x="4" y="3"/>
                    <a:pt x="4" y="5"/>
                  </a:cubicBezTo>
                  <a:cubicBezTo>
                    <a:pt x="0" y="10"/>
                    <a:pt x="2" y="17"/>
                    <a:pt x="8" y="21"/>
                  </a:cubicBezTo>
                  <a:cubicBezTo>
                    <a:pt x="10" y="22"/>
                    <a:pt x="12" y="22"/>
                    <a:pt x="14" y="22"/>
                  </a:cubicBezTo>
                  <a:cubicBezTo>
                    <a:pt x="15" y="22"/>
                    <a:pt x="17" y="22"/>
                    <a:pt x="18" y="21"/>
                  </a:cubicBezTo>
                  <a:cubicBezTo>
                    <a:pt x="19" y="20"/>
                    <a:pt x="21" y="19"/>
                    <a:pt x="22" y="17"/>
                  </a:cubicBezTo>
                  <a:cubicBezTo>
                    <a:pt x="25" y="12"/>
                    <a:pt x="23" y="5"/>
                    <a:pt x="17" y="1"/>
                  </a:cubicBezTo>
                  <a:cubicBezTo>
                    <a:pt x="15" y="0"/>
                    <a:pt x="13" y="0"/>
                    <a:pt x="11" y="0"/>
                  </a:cubicBezTo>
                </a:path>
              </a:pathLst>
            </a:custGeom>
            <a:solidFill>
              <a:srgbClr val="5149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80">
              <a:extLst>
                <a:ext uri="{FF2B5EF4-FFF2-40B4-BE49-F238E27FC236}">
                  <a16:creationId xmlns:a16="http://schemas.microsoft.com/office/drawing/2014/main" id="{6779B2B1-D922-4492-BD11-EBA2348D0B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030174" y="562610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8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81">
              <a:extLst>
                <a:ext uri="{FF2B5EF4-FFF2-40B4-BE49-F238E27FC236}">
                  <a16:creationId xmlns:a16="http://schemas.microsoft.com/office/drawing/2014/main" id="{8DC4648F-D8C5-4ED1-87D1-6178D01C91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22249" y="5568950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3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82">
              <a:extLst>
                <a:ext uri="{FF2B5EF4-FFF2-40B4-BE49-F238E27FC236}">
                  <a16:creationId xmlns:a16="http://schemas.microsoft.com/office/drawing/2014/main" id="{DAAB9D96-B8A7-4454-9A5F-02E1F41C26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17499" y="551656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83">
              <a:extLst>
                <a:ext uri="{FF2B5EF4-FFF2-40B4-BE49-F238E27FC236}">
                  <a16:creationId xmlns:a16="http://schemas.microsoft.com/office/drawing/2014/main" id="{1B036E91-4C69-4222-A490-26DAD84EB3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09574" y="546258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4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19" y="22"/>
                  </a:cubicBezTo>
                  <a:cubicBezTo>
                    <a:pt x="25" y="18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84">
              <a:extLst>
                <a:ext uri="{FF2B5EF4-FFF2-40B4-BE49-F238E27FC236}">
                  <a16:creationId xmlns:a16="http://schemas.microsoft.com/office/drawing/2014/main" id="{B1B66889-09F0-4432-A227-802D35A643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06411" y="5405437"/>
              <a:ext cx="85725" cy="80962"/>
            </a:xfrm>
            <a:custGeom>
              <a:avLst/>
              <a:gdLst>
                <a:gd name="T0" fmla="*/ 13 w 26"/>
                <a:gd name="T1" fmla="*/ 0 h 24"/>
                <a:gd name="T2" fmla="*/ 7 w 26"/>
                <a:gd name="T3" fmla="*/ 2 h 24"/>
                <a:gd name="T4" fmla="*/ 3 w 26"/>
                <a:gd name="T5" fmla="*/ 18 h 24"/>
                <a:gd name="T6" fmla="*/ 13 w 26"/>
                <a:gd name="T7" fmla="*/ 24 h 24"/>
                <a:gd name="T8" fmla="*/ 19 w 26"/>
                <a:gd name="T9" fmla="*/ 22 h 24"/>
                <a:gd name="T10" fmla="*/ 23 w 26"/>
                <a:gd name="T11" fmla="*/ 6 h 24"/>
                <a:gd name="T12" fmla="*/ 13 w 26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1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85">
              <a:extLst>
                <a:ext uri="{FF2B5EF4-FFF2-40B4-BE49-F238E27FC236}">
                  <a16:creationId xmlns:a16="http://schemas.microsoft.com/office/drawing/2014/main" id="{2F47A813-4EED-4E9B-B0F3-284D629F43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98486" y="535305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7 w 27"/>
                <a:gd name="T3" fmla="*/ 2 h 23"/>
                <a:gd name="T4" fmla="*/ 3 w 27"/>
                <a:gd name="T5" fmla="*/ 18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86">
              <a:extLst>
                <a:ext uri="{FF2B5EF4-FFF2-40B4-BE49-F238E27FC236}">
                  <a16:creationId xmlns:a16="http://schemas.microsoft.com/office/drawing/2014/main" id="{C6845FB4-EB66-4A79-B099-375E8788F0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90561" y="5299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8B86A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AF1A2538-5051-469B-8640-A4CD17CE4FE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41802" y="5287830"/>
              <a:ext cx="827436" cy="50191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EBC8B80E-FE5E-4E19-85A2-95C8DD2CB0A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352276" y="5405437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E2B74C08-DAB2-4B60-BE63-31B1EF58C774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31243" y="5471253"/>
              <a:ext cx="328843" cy="21199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E0CA069-C0B0-4E7A-B11B-4ACD2B3E0552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065044" y="5664134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C535D6E5-49D9-45E0-A8B6-B2D1231A1859}"/>
                </a:ext>
              </a:extLst>
            </p:cNvPr>
            <p:cNvSpPr/>
            <p:nvPr userDrawn="1"/>
          </p:nvSpPr>
          <p:spPr>
            <a:xfrm>
              <a:off x="10861128" y="4188135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316616A3-795D-402D-BC50-063C43F0436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0552112" y="4285080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DBFB945A-9C54-49A8-93AD-3E9D6BB6536C}"/>
                </a:ext>
              </a:extLst>
            </p:cNvPr>
            <p:cNvSpPr/>
            <p:nvPr userDrawn="1"/>
          </p:nvSpPr>
          <p:spPr>
            <a:xfrm>
              <a:off x="9754989" y="371337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8FCF84FC-3336-420C-9745-AFFA473676B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445973" y="381032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7993B824-2430-4010-8ADC-F1F4A4D36729}"/>
                </a:ext>
              </a:extLst>
            </p:cNvPr>
            <p:cNvSpPr/>
            <p:nvPr userDrawn="1"/>
          </p:nvSpPr>
          <p:spPr>
            <a:xfrm>
              <a:off x="10020604" y="4130676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E2BC9A81-D7DF-4CAF-8B08-A6DE7D5ACCB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06261" y="4226956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8868605B-D722-4164-B21F-08BFE13E61E2}"/>
                </a:ext>
              </a:extLst>
            </p:cNvPr>
            <p:cNvSpPr/>
            <p:nvPr userDrawn="1"/>
          </p:nvSpPr>
          <p:spPr>
            <a:xfrm>
              <a:off x="7626655" y="417674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CEA79255-9C71-432C-B4D0-195CB612AB0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12312" y="427302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130C72F6-B790-4963-829E-CC6199EAA068}"/>
                </a:ext>
              </a:extLst>
            </p:cNvPr>
            <p:cNvSpPr/>
            <p:nvPr userDrawn="1"/>
          </p:nvSpPr>
          <p:spPr>
            <a:xfrm>
              <a:off x="8387012" y="336016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3C4643EB-2B36-4F72-BC7D-553950FDE15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272669" y="345644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BA2B3455-F5C8-4779-912D-30053B105227}"/>
                </a:ext>
              </a:extLst>
            </p:cNvPr>
            <p:cNvSpPr/>
            <p:nvPr userDrawn="1"/>
          </p:nvSpPr>
          <p:spPr>
            <a:xfrm>
              <a:off x="8071311" y="342409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07D7C74C-5DD7-4AF7-99FD-900C366926D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62295" y="352104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36428A0B-65F9-46F4-9E1C-ABB7B30059FA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8216506" y="2821117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848627E4-D75D-4A0C-88BB-46A1C4837B9C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208402" y="2813165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Freeform 90">
              <a:extLst>
                <a:ext uri="{FF2B5EF4-FFF2-40B4-BE49-F238E27FC236}">
                  <a16:creationId xmlns:a16="http://schemas.microsoft.com/office/drawing/2014/main" id="{40F9FBC8-FE03-45D5-BD33-637B1B60C5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solidFill>
              <a:srgbClr val="736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91">
              <a:extLst>
                <a:ext uri="{FF2B5EF4-FFF2-40B4-BE49-F238E27FC236}">
                  <a16:creationId xmlns:a16="http://schemas.microsoft.com/office/drawing/2014/main" id="{4AD0337E-0914-4CCE-BFFF-D0311277AC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4025"/>
              <a:ext cx="2168525" cy="714375"/>
            </a:xfrm>
            <a:custGeom>
              <a:avLst/>
              <a:gdLst>
                <a:gd name="T0" fmla="*/ 10 w 538"/>
                <a:gd name="T1" fmla="*/ 165 h 177"/>
                <a:gd name="T2" fmla="*/ 31 w 538"/>
                <a:gd name="T3" fmla="*/ 177 h 177"/>
                <a:gd name="T4" fmla="*/ 249 w 538"/>
                <a:gd name="T5" fmla="*/ 52 h 177"/>
                <a:gd name="T6" fmla="*/ 287 w 538"/>
                <a:gd name="T7" fmla="*/ 50 h 177"/>
                <a:gd name="T8" fmla="*/ 507 w 538"/>
                <a:gd name="T9" fmla="*/ 177 h 177"/>
                <a:gd name="T10" fmla="*/ 525 w 538"/>
                <a:gd name="T11" fmla="*/ 167 h 177"/>
                <a:gd name="T12" fmla="*/ 528 w 538"/>
                <a:gd name="T13" fmla="*/ 145 h 177"/>
                <a:gd name="T14" fmla="*/ 287 w 538"/>
                <a:gd name="T15" fmla="*/ 5 h 177"/>
                <a:gd name="T16" fmla="*/ 249 w 538"/>
                <a:gd name="T17" fmla="*/ 7 h 177"/>
                <a:gd name="T18" fmla="*/ 13 w 538"/>
                <a:gd name="T19" fmla="*/ 143 h 177"/>
                <a:gd name="T20" fmla="*/ 10 w 538"/>
                <a:gd name="T21" fmla="*/ 1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177">
                  <a:moveTo>
                    <a:pt x="10" y="165"/>
                  </a:moveTo>
                  <a:cubicBezTo>
                    <a:pt x="31" y="177"/>
                    <a:pt x="31" y="177"/>
                    <a:pt x="31" y="177"/>
                  </a:cubicBezTo>
                  <a:cubicBezTo>
                    <a:pt x="249" y="52"/>
                    <a:pt x="249" y="52"/>
                    <a:pt x="249" y="52"/>
                  </a:cubicBezTo>
                  <a:cubicBezTo>
                    <a:pt x="260" y="45"/>
                    <a:pt x="277" y="45"/>
                    <a:pt x="287" y="50"/>
                  </a:cubicBezTo>
                  <a:cubicBezTo>
                    <a:pt x="507" y="177"/>
                    <a:pt x="507" y="177"/>
                    <a:pt x="507" y="177"/>
                  </a:cubicBezTo>
                  <a:cubicBezTo>
                    <a:pt x="525" y="167"/>
                    <a:pt x="525" y="167"/>
                    <a:pt x="525" y="167"/>
                  </a:cubicBezTo>
                  <a:cubicBezTo>
                    <a:pt x="537" y="160"/>
                    <a:pt x="538" y="150"/>
                    <a:pt x="528" y="145"/>
                  </a:cubicBezTo>
                  <a:cubicBezTo>
                    <a:pt x="287" y="5"/>
                    <a:pt x="287" y="5"/>
                    <a:pt x="287" y="5"/>
                  </a:cubicBezTo>
                  <a:cubicBezTo>
                    <a:pt x="277" y="0"/>
                    <a:pt x="260" y="0"/>
                    <a:pt x="249" y="7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2" y="150"/>
                    <a:pt x="0" y="159"/>
                    <a:pt x="10" y="165"/>
                  </a:cubicBezTo>
                  <a:close/>
                </a:path>
              </a:pathLst>
            </a:custGeom>
            <a:solidFill>
              <a:srgbClr val="42E8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90">
              <a:extLst>
                <a:ext uri="{FF2B5EF4-FFF2-40B4-BE49-F238E27FC236}">
                  <a16:creationId xmlns:a16="http://schemas.microsoft.com/office/drawing/2014/main" id="{911FC156-5CDB-4E0E-92E9-AD223BC37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2017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gradFill>
              <a:gsLst>
                <a:gs pos="22000">
                  <a:srgbClr val="180D5B">
                    <a:alpha val="34000"/>
                  </a:srgbClr>
                </a:gs>
                <a:gs pos="100000">
                  <a:srgbClr val="42E8E0">
                    <a:alpha val="74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5CB8E1C3-E366-4D22-9AF9-FBB35170BB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78938" y="3259138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20E11BDB-3C31-439E-9DDB-16AA665E41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501188" y="3767138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F7AE4EF4-FD61-4FC6-8585-EC7A430BAE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613" y="4365625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95F02460-F328-4C7B-811F-E3D7D6C35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45688" y="4695825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044DA748-443B-4276-8AB5-330D73460CE3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9056822" y="3261347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8E6C05D2-B2A6-4C87-B0F6-6FB68429918C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836159" y="3769347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69418B36-BBFD-4077-8C67-A8378FA40868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613909" y="4367834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EF0C0E3C-2AFE-47E6-B968-7228E9662A2B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391659" y="4698034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5" name="Freeform 106">
              <a:extLst>
                <a:ext uri="{FF2B5EF4-FFF2-40B4-BE49-F238E27FC236}">
                  <a16:creationId xmlns:a16="http://schemas.microsoft.com/office/drawing/2014/main" id="{CCBE267B-8FF3-4D30-9A4A-1C1BC6BBDF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55909" y="2437995"/>
              <a:ext cx="1951037" cy="3057525"/>
            </a:xfrm>
            <a:custGeom>
              <a:avLst/>
              <a:gdLst>
                <a:gd name="T0" fmla="*/ 531 w 531"/>
                <a:gd name="T1" fmla="*/ 0 h 835"/>
                <a:gd name="T2" fmla="*/ 0 w 531"/>
                <a:gd name="T3" fmla="*/ 0 h 835"/>
                <a:gd name="T4" fmla="*/ 0 w 531"/>
                <a:gd name="T5" fmla="*/ 682 h 835"/>
                <a:gd name="T6" fmla="*/ 0 w 531"/>
                <a:gd name="T7" fmla="*/ 682 h 835"/>
                <a:gd name="T8" fmla="*/ 6 w 531"/>
                <a:gd name="T9" fmla="*/ 692 h 835"/>
                <a:gd name="T10" fmla="*/ 248 w 531"/>
                <a:gd name="T11" fmla="*/ 831 h 835"/>
                <a:gd name="T12" fmla="*/ 264 w 531"/>
                <a:gd name="T13" fmla="*/ 835 h 835"/>
                <a:gd name="T14" fmla="*/ 286 w 531"/>
                <a:gd name="T15" fmla="*/ 830 h 835"/>
                <a:gd name="T16" fmla="*/ 522 w 531"/>
                <a:gd name="T17" fmla="*/ 693 h 835"/>
                <a:gd name="T18" fmla="*/ 531 w 531"/>
                <a:gd name="T19" fmla="*/ 682 h 835"/>
                <a:gd name="T20" fmla="*/ 531 w 531"/>
                <a:gd name="T21" fmla="*/ 682 h 835"/>
                <a:gd name="T22" fmla="*/ 531 w 531"/>
                <a:gd name="T23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1" h="835">
                  <a:moveTo>
                    <a:pt x="5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5"/>
                    <a:pt x="2" y="689"/>
                    <a:pt x="6" y="692"/>
                  </a:cubicBezTo>
                  <a:cubicBezTo>
                    <a:pt x="248" y="831"/>
                    <a:pt x="248" y="831"/>
                    <a:pt x="248" y="831"/>
                  </a:cubicBezTo>
                  <a:cubicBezTo>
                    <a:pt x="252" y="834"/>
                    <a:pt x="258" y="835"/>
                    <a:pt x="264" y="835"/>
                  </a:cubicBezTo>
                  <a:cubicBezTo>
                    <a:pt x="272" y="835"/>
                    <a:pt x="280" y="833"/>
                    <a:pt x="286" y="830"/>
                  </a:cubicBezTo>
                  <a:cubicBezTo>
                    <a:pt x="522" y="693"/>
                    <a:pt x="522" y="693"/>
                    <a:pt x="522" y="693"/>
                  </a:cubicBezTo>
                  <a:cubicBezTo>
                    <a:pt x="528" y="690"/>
                    <a:pt x="531" y="686"/>
                    <a:pt x="531" y="682"/>
                  </a:cubicBezTo>
                  <a:cubicBezTo>
                    <a:pt x="531" y="682"/>
                    <a:pt x="531" y="682"/>
                    <a:pt x="531" y="682"/>
                  </a:cubicBezTo>
                  <a:cubicBezTo>
                    <a:pt x="531" y="0"/>
                    <a:pt x="531" y="0"/>
                    <a:pt x="531" y="0"/>
                  </a:cubicBezTo>
                </a:path>
              </a:pathLst>
            </a:custGeom>
            <a:gradFill>
              <a:gsLst>
                <a:gs pos="100000">
                  <a:srgbClr val="42E6E0">
                    <a:alpha val="20000"/>
                  </a:srgbClr>
                </a:gs>
                <a:gs pos="0">
                  <a:srgbClr val="180D5B">
                    <a:alpha val="5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alphaModFix amt="31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sp>
        <p:nvSpPr>
          <p:cNvPr id="8" name="日期占位符 3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pPr/>
              <a:t>2026/3/26</a:t>
            </a:fld>
            <a:endParaRPr lang="zh-CN" altLang="en-US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6.xml"/><Relationship Id="rId4" Type="http://schemas.openxmlformats.org/officeDocument/2006/relationships/slide" Target="slide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image" Target="../media/image12.tmp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image" Target="../media/image12.tmp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5" Type="http://schemas.openxmlformats.org/officeDocument/2006/relationships/image" Target="../media/image12.tmp"/><Relationship Id="rId10" Type="http://schemas.openxmlformats.org/officeDocument/2006/relationships/tags" Target="../tags/tag43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17" Type="http://schemas.openxmlformats.org/officeDocument/2006/relationships/tags" Target="../tags/tag63.xml"/><Relationship Id="rId2" Type="http://schemas.openxmlformats.org/officeDocument/2006/relationships/tags" Target="../tags/tag48.xml"/><Relationship Id="rId16" Type="http://schemas.openxmlformats.org/officeDocument/2006/relationships/tags" Target="../tags/tag62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5" Type="http://schemas.openxmlformats.org/officeDocument/2006/relationships/tags" Target="../tags/tag51.xml"/><Relationship Id="rId15" Type="http://schemas.openxmlformats.org/officeDocument/2006/relationships/tags" Target="../tags/tag61.xml"/><Relationship Id="rId10" Type="http://schemas.openxmlformats.org/officeDocument/2006/relationships/tags" Target="../tags/tag56.xml"/><Relationship Id="rId19" Type="http://schemas.openxmlformats.org/officeDocument/2006/relationships/image" Target="../media/image12.tmp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tags" Target="../tags/tag6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38.xml"/><Relationship Id="rId3" Type="http://schemas.openxmlformats.org/officeDocument/2006/relationships/slide" Target="slide43.xml"/><Relationship Id="rId7" Type="http://schemas.openxmlformats.org/officeDocument/2006/relationships/slide" Target="slide39.xml"/><Relationship Id="rId12" Type="http://schemas.openxmlformats.org/officeDocument/2006/relationships/slide" Target="slide34.xml"/><Relationship Id="rId2" Type="http://schemas.openxmlformats.org/officeDocument/2006/relationships/slide" Target="slide3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0.xml"/><Relationship Id="rId11" Type="http://schemas.openxmlformats.org/officeDocument/2006/relationships/slide" Target="slide35.xml"/><Relationship Id="rId5" Type="http://schemas.openxmlformats.org/officeDocument/2006/relationships/slide" Target="slide41.xml"/><Relationship Id="rId10" Type="http://schemas.openxmlformats.org/officeDocument/2006/relationships/slide" Target="slide36.xml"/><Relationship Id="rId4" Type="http://schemas.openxmlformats.org/officeDocument/2006/relationships/slide" Target="slide42.xml"/><Relationship Id="rId9" Type="http://schemas.openxmlformats.org/officeDocument/2006/relationships/slide" Target="slide3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13" Type="http://schemas.openxmlformats.org/officeDocument/2006/relationships/tags" Target="../tags/tag78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68.xml"/><Relationship Id="rId7" Type="http://schemas.openxmlformats.org/officeDocument/2006/relationships/tags" Target="../tags/tag72.xml"/><Relationship Id="rId12" Type="http://schemas.openxmlformats.org/officeDocument/2006/relationships/tags" Target="../tags/tag77.xml"/><Relationship Id="rId17" Type="http://schemas.openxmlformats.org/officeDocument/2006/relationships/tags" Target="../tags/tag82.xml"/><Relationship Id="rId2" Type="http://schemas.openxmlformats.org/officeDocument/2006/relationships/tags" Target="../tags/tag67.xml"/><Relationship Id="rId16" Type="http://schemas.openxmlformats.org/officeDocument/2006/relationships/tags" Target="../tags/tag81.xml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tags" Target="../tags/tag76.xml"/><Relationship Id="rId5" Type="http://schemas.openxmlformats.org/officeDocument/2006/relationships/tags" Target="../tags/tag70.xml"/><Relationship Id="rId15" Type="http://schemas.openxmlformats.org/officeDocument/2006/relationships/tags" Target="../tags/tag80.xml"/><Relationship Id="rId10" Type="http://schemas.openxmlformats.org/officeDocument/2006/relationships/tags" Target="../tags/tag75.xml"/><Relationship Id="rId19" Type="http://schemas.openxmlformats.org/officeDocument/2006/relationships/image" Target="../media/image12.tmp"/><Relationship Id="rId4" Type="http://schemas.openxmlformats.org/officeDocument/2006/relationships/tags" Target="../tags/tag69.xml"/><Relationship Id="rId9" Type="http://schemas.openxmlformats.org/officeDocument/2006/relationships/tags" Target="../tags/tag74.xml"/><Relationship Id="rId14" Type="http://schemas.openxmlformats.org/officeDocument/2006/relationships/tags" Target="../tags/tag7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44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02627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2576" y="3205343"/>
            <a:ext cx="6950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42E6E0"/>
                </a:solidFill>
              </a:rPr>
              <a:t>STM32F10x</a:t>
            </a:r>
            <a:r>
              <a:rPr lang="zh-CN" altLang="en-US" sz="2800" b="1" dirty="0">
                <a:solidFill>
                  <a:srgbClr val="42E6E0"/>
                </a:solidFill>
              </a:rPr>
              <a:t>系列芯片的命名、资源与引脚</a:t>
            </a:r>
            <a:endParaRPr lang="en-US" altLang="zh-CN" sz="2800" b="1" dirty="0">
              <a:solidFill>
                <a:srgbClr val="42E6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268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0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STM32F10X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系列芯片的命名、资源与引脚</a:t>
            </a: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974942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芯片命名规则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482232"/>
              </p:ext>
            </p:extLst>
          </p:nvPr>
        </p:nvGraphicFramePr>
        <p:xfrm>
          <a:off x="1101969" y="2122605"/>
          <a:ext cx="10152185" cy="31828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0798">
                  <a:extLst>
                    <a:ext uri="{9D8B030D-6E8A-4147-A177-3AD203B41FA5}">
                      <a16:colId xmlns:a16="http://schemas.microsoft.com/office/drawing/2014/main" val="1588782996"/>
                    </a:ext>
                  </a:extLst>
                </a:gridCol>
                <a:gridCol w="1239977">
                  <a:extLst>
                    <a:ext uri="{9D8B030D-6E8A-4147-A177-3AD203B41FA5}">
                      <a16:colId xmlns:a16="http://schemas.microsoft.com/office/drawing/2014/main" val="4058797585"/>
                    </a:ext>
                  </a:extLst>
                </a:gridCol>
                <a:gridCol w="2173756">
                  <a:extLst>
                    <a:ext uri="{9D8B030D-6E8A-4147-A177-3AD203B41FA5}">
                      <a16:colId xmlns:a16="http://schemas.microsoft.com/office/drawing/2014/main" val="576070281"/>
                    </a:ext>
                  </a:extLst>
                </a:gridCol>
                <a:gridCol w="940777">
                  <a:extLst>
                    <a:ext uri="{9D8B030D-6E8A-4147-A177-3AD203B41FA5}">
                      <a16:colId xmlns:a16="http://schemas.microsoft.com/office/drawing/2014/main" val="3289756482"/>
                    </a:ext>
                  </a:extLst>
                </a:gridCol>
                <a:gridCol w="1019908">
                  <a:extLst>
                    <a:ext uri="{9D8B030D-6E8A-4147-A177-3AD203B41FA5}">
                      <a16:colId xmlns:a16="http://schemas.microsoft.com/office/drawing/2014/main" val="4036562885"/>
                    </a:ext>
                  </a:extLst>
                </a:gridCol>
                <a:gridCol w="1310053">
                  <a:extLst>
                    <a:ext uri="{9D8B030D-6E8A-4147-A177-3AD203B41FA5}">
                      <a16:colId xmlns:a16="http://schemas.microsoft.com/office/drawing/2014/main" val="86519647"/>
                    </a:ext>
                  </a:extLst>
                </a:gridCol>
                <a:gridCol w="1696916">
                  <a:extLst>
                    <a:ext uri="{9D8B030D-6E8A-4147-A177-3AD203B41FA5}">
                      <a16:colId xmlns:a16="http://schemas.microsoft.com/office/drawing/2014/main" val="2689812553"/>
                    </a:ext>
                  </a:extLst>
                </a:gridCol>
              </a:tblGrid>
              <a:tr h="48922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STM32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F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103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</a:rPr>
                        <a:t>V</a:t>
                      </a:r>
                      <a:endParaRPr lang="zh-CN" sz="1600" b="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</a:rPr>
                        <a:t>C</a:t>
                      </a:r>
                      <a:endParaRPr lang="zh-CN" sz="1600" b="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</a:rPr>
                        <a:t>T</a:t>
                      </a:r>
                      <a:endParaRPr lang="zh-CN" sz="1600" b="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543050" algn="just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</a:rPr>
                        <a:t>6</a:t>
                      </a:r>
                      <a:endParaRPr lang="zh-CN" sz="1600" b="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56004"/>
                  </a:ext>
                </a:extLst>
              </a:tr>
              <a:tr h="49529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STM32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F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407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Z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</a:rPr>
                        <a:t>E</a:t>
                      </a:r>
                      <a:endParaRPr lang="zh-CN" sz="1600" b="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</a:rPr>
                        <a:t>T</a:t>
                      </a:r>
                      <a:endParaRPr lang="zh-CN" sz="1600" b="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543050"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6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981300"/>
                  </a:ext>
                </a:extLst>
              </a:tr>
              <a:tr h="219830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Cortex-Mx,32</a:t>
                      </a:r>
                      <a:r>
                        <a:rPr lang="zh-CN" sz="1600" b="0" kern="100" dirty="0">
                          <a:effectLst/>
                        </a:rPr>
                        <a:t>位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Flash</a:t>
                      </a:r>
                      <a:r>
                        <a:rPr lang="zh-CN" sz="1600" b="0" kern="100" dirty="0">
                          <a:effectLst/>
                        </a:rPr>
                        <a:t>产品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103 </a:t>
                      </a:r>
                      <a:endParaRPr 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Cortex-M3</a:t>
                      </a:r>
                      <a:r>
                        <a:rPr lang="zh-CN" sz="1600" b="0" kern="100" dirty="0">
                          <a:effectLst/>
                        </a:rPr>
                        <a:t>增强型系列</a:t>
                      </a:r>
                      <a:endParaRPr lang="en-US" alt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405/407</a:t>
                      </a:r>
                      <a:endParaRPr 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Cortex-M4</a:t>
                      </a:r>
                      <a:r>
                        <a:rPr lang="zh-CN" sz="1600" b="0" kern="100" dirty="0">
                          <a:effectLst/>
                        </a:rPr>
                        <a:t>内核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Pin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T  36</a:t>
                      </a:r>
                      <a:endParaRPr 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C  48</a:t>
                      </a:r>
                      <a:endParaRPr 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R  64</a:t>
                      </a:r>
                      <a:endParaRPr 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V  100</a:t>
                      </a:r>
                      <a:endParaRPr 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Z  144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FLASH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6  32kB</a:t>
                      </a:r>
                      <a:endParaRPr 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8  64kB</a:t>
                      </a:r>
                      <a:endParaRPr 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B 128kB</a:t>
                      </a:r>
                      <a:endParaRPr 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C 256kB</a:t>
                      </a:r>
                      <a:endParaRPr 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D 384kB</a:t>
                      </a:r>
                      <a:endParaRPr 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E 512kB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</a:rPr>
                        <a:t>封装</a:t>
                      </a:r>
                      <a:endParaRPr lang="en-US" alt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H  BGA</a:t>
                      </a:r>
                      <a:endParaRPr 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T  LQFP</a:t>
                      </a:r>
                      <a:endParaRPr 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U  VFQFPN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</a:rPr>
                        <a:t>温度</a:t>
                      </a:r>
                      <a:endParaRPr lang="en-US" alt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6</a:t>
                      </a:r>
                      <a:r>
                        <a:rPr lang="en-US" sz="1600" b="0" kern="100" baseline="0" dirty="0">
                          <a:effectLst/>
                        </a:rPr>
                        <a:t>   </a:t>
                      </a:r>
                      <a:r>
                        <a:rPr lang="en-US" sz="1600" b="0" kern="100" dirty="0">
                          <a:effectLst/>
                        </a:rPr>
                        <a:t>-40</a:t>
                      </a:r>
                      <a:r>
                        <a:rPr lang="zh-CN" altLang="en-US" sz="1600" b="0" kern="100" dirty="0">
                          <a:effectLst/>
                        </a:rPr>
                        <a:t>℃</a:t>
                      </a:r>
                      <a:r>
                        <a:rPr lang="en-US" sz="1600" b="0" kern="100" dirty="0">
                          <a:effectLst/>
                        </a:rPr>
                        <a:t>~85</a:t>
                      </a:r>
                      <a:r>
                        <a:rPr lang="zh-CN" altLang="en-US" sz="1600" b="0" kern="100" dirty="0">
                          <a:effectLst/>
                        </a:rPr>
                        <a:t>℃</a:t>
                      </a:r>
                      <a:endParaRPr lang="zh-CN" sz="1600" b="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7</a:t>
                      </a:r>
                      <a:r>
                        <a:rPr lang="en-US" sz="1600" b="0" kern="100" baseline="0" dirty="0">
                          <a:effectLst/>
                        </a:rPr>
                        <a:t>   </a:t>
                      </a:r>
                      <a:r>
                        <a:rPr lang="en-US" sz="1600" b="0" kern="100" dirty="0">
                          <a:effectLst/>
                        </a:rPr>
                        <a:t>-40</a:t>
                      </a:r>
                      <a:r>
                        <a:rPr lang="zh-CN" altLang="en-US" sz="1600" b="0" kern="100" dirty="0">
                          <a:effectLst/>
                        </a:rPr>
                        <a:t>℃</a:t>
                      </a:r>
                      <a:r>
                        <a:rPr lang="en-US" sz="1600" b="0" kern="100" dirty="0">
                          <a:effectLst/>
                        </a:rPr>
                        <a:t>~105</a:t>
                      </a:r>
                      <a:r>
                        <a:rPr lang="zh-CN" altLang="en-US" sz="1600" b="0" kern="100" dirty="0">
                          <a:effectLst/>
                        </a:rPr>
                        <a:t>℃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185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93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CBDE00C-7E18-4BE9-89EF-739E0C34E693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       STM32F10X</a:t>
            </a:r>
            <a:r>
              <a:rPr lang="zh-CN" altLang="en-US" sz="2800" b="1" dirty="0">
                <a:cs typeface="+mn-ea"/>
                <a:sym typeface="+mn-lt"/>
              </a:rPr>
              <a:t>系列芯片的命名、资源与引脚</a:t>
            </a:r>
          </a:p>
        </p:txBody>
      </p:sp>
      <p:sp>
        <p:nvSpPr>
          <p:cNvPr id="3" name="hdmi_130129">
            <a:extLst>
              <a:ext uri="{FF2B5EF4-FFF2-40B4-BE49-F238E27FC236}">
                <a16:creationId xmlns:a16="http://schemas.microsoft.com/office/drawing/2014/main" id="{17FA6FFF-0C2F-4469-94CB-69BFA11A52B4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B247EB-BE95-4040-8E11-CE52970B60C2}"/>
              </a:ext>
            </a:extLst>
          </p:cNvPr>
          <p:cNvSpPr txBox="1"/>
          <p:nvPr/>
        </p:nvSpPr>
        <p:spPr>
          <a:xfrm>
            <a:off x="627797" y="843858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芯片资源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536205"/>
              </p:ext>
            </p:extLst>
          </p:nvPr>
        </p:nvGraphicFramePr>
        <p:xfrm>
          <a:off x="1185985" y="1460309"/>
          <a:ext cx="9820032" cy="51694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2294">
                  <a:extLst>
                    <a:ext uri="{9D8B030D-6E8A-4147-A177-3AD203B41FA5}">
                      <a16:colId xmlns:a16="http://schemas.microsoft.com/office/drawing/2014/main" val="1771686530"/>
                    </a:ext>
                  </a:extLst>
                </a:gridCol>
                <a:gridCol w="2043551">
                  <a:extLst>
                    <a:ext uri="{9D8B030D-6E8A-4147-A177-3AD203B41FA5}">
                      <a16:colId xmlns:a16="http://schemas.microsoft.com/office/drawing/2014/main" val="629018503"/>
                    </a:ext>
                  </a:extLst>
                </a:gridCol>
                <a:gridCol w="1063869">
                  <a:extLst>
                    <a:ext uri="{9D8B030D-6E8A-4147-A177-3AD203B41FA5}">
                      <a16:colId xmlns:a16="http://schemas.microsoft.com/office/drawing/2014/main" val="1672392062"/>
                    </a:ext>
                  </a:extLst>
                </a:gridCol>
                <a:gridCol w="852931">
                  <a:extLst>
                    <a:ext uri="{9D8B030D-6E8A-4147-A177-3AD203B41FA5}">
                      <a16:colId xmlns:a16="http://schemas.microsoft.com/office/drawing/2014/main" val="2225106750"/>
                    </a:ext>
                  </a:extLst>
                </a:gridCol>
                <a:gridCol w="741055">
                  <a:extLst>
                    <a:ext uri="{9D8B030D-6E8A-4147-A177-3AD203B41FA5}">
                      <a16:colId xmlns:a16="http://schemas.microsoft.com/office/drawing/2014/main" val="3554694851"/>
                    </a:ext>
                  </a:extLst>
                </a:gridCol>
                <a:gridCol w="741055">
                  <a:extLst>
                    <a:ext uri="{9D8B030D-6E8A-4147-A177-3AD203B41FA5}">
                      <a16:colId xmlns:a16="http://schemas.microsoft.com/office/drawing/2014/main" val="115433239"/>
                    </a:ext>
                  </a:extLst>
                </a:gridCol>
                <a:gridCol w="741056">
                  <a:extLst>
                    <a:ext uri="{9D8B030D-6E8A-4147-A177-3AD203B41FA5}">
                      <a16:colId xmlns:a16="http://schemas.microsoft.com/office/drawing/2014/main" val="3971026247"/>
                    </a:ext>
                  </a:extLst>
                </a:gridCol>
                <a:gridCol w="741055">
                  <a:extLst>
                    <a:ext uri="{9D8B030D-6E8A-4147-A177-3AD203B41FA5}">
                      <a16:colId xmlns:a16="http://schemas.microsoft.com/office/drawing/2014/main" val="2960421898"/>
                    </a:ext>
                  </a:extLst>
                </a:gridCol>
                <a:gridCol w="741055">
                  <a:extLst>
                    <a:ext uri="{9D8B030D-6E8A-4147-A177-3AD203B41FA5}">
                      <a16:colId xmlns:a16="http://schemas.microsoft.com/office/drawing/2014/main" val="2297078302"/>
                    </a:ext>
                  </a:extLst>
                </a:gridCol>
                <a:gridCol w="741056">
                  <a:extLst>
                    <a:ext uri="{9D8B030D-6E8A-4147-A177-3AD203B41FA5}">
                      <a16:colId xmlns:a16="http://schemas.microsoft.com/office/drawing/2014/main" val="2559567994"/>
                    </a:ext>
                  </a:extLst>
                </a:gridCol>
                <a:gridCol w="741055">
                  <a:extLst>
                    <a:ext uri="{9D8B030D-6E8A-4147-A177-3AD203B41FA5}">
                      <a16:colId xmlns:a16="http://schemas.microsoft.com/office/drawing/2014/main" val="4179576624"/>
                    </a:ext>
                  </a:extLst>
                </a:gridCol>
              </a:tblGrid>
              <a:tr h="333804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b="0" dirty="0"/>
                        <a:t>外设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STM32F103RX</a:t>
                      </a:r>
                      <a:endParaRPr lang="zh-CN" alt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STM32F103VX</a:t>
                      </a:r>
                      <a:endParaRPr lang="zh-CN" alt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STM32F103ZX</a:t>
                      </a:r>
                      <a:endParaRPr lang="zh-CN" alt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642642"/>
                  </a:ext>
                </a:extLst>
              </a:tr>
              <a:tr h="333804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b="0" dirty="0"/>
                        <a:t>闪存（</a:t>
                      </a:r>
                      <a:r>
                        <a:rPr lang="en-US" altLang="zh-CN" b="0" dirty="0"/>
                        <a:t>k</a:t>
                      </a:r>
                      <a:r>
                        <a:rPr lang="zh-CN" altLang="en-US" b="0" dirty="0"/>
                        <a:t>字节）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256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384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512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256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384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512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256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384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512</a:t>
                      </a:r>
                      <a:endParaRPr lang="zh-CN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10848"/>
                  </a:ext>
                </a:extLst>
              </a:tr>
              <a:tr h="33380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SRAM</a:t>
                      </a:r>
                      <a:r>
                        <a:rPr lang="zh-CN" altLang="en-US" b="0" dirty="0"/>
                        <a:t>（</a:t>
                      </a:r>
                      <a:r>
                        <a:rPr lang="en-US" altLang="zh-CN" b="0" dirty="0"/>
                        <a:t>k</a:t>
                      </a:r>
                      <a:r>
                        <a:rPr lang="zh-CN" altLang="en-US" b="0" dirty="0"/>
                        <a:t>字节）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48</a:t>
                      </a:r>
                      <a:endParaRPr lang="zh-CN" altLang="en-US" b="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64</a:t>
                      </a:r>
                      <a:endParaRPr lang="zh-CN" alt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48</a:t>
                      </a:r>
                      <a:endParaRPr lang="zh-CN" alt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64</a:t>
                      </a:r>
                      <a:endParaRPr lang="zh-CN" alt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48</a:t>
                      </a:r>
                      <a:endParaRPr lang="zh-CN" altLang="en-US" b="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64</a:t>
                      </a:r>
                      <a:endParaRPr lang="zh-CN" alt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737692"/>
                  </a:ext>
                </a:extLst>
              </a:tr>
              <a:tr h="414882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/>
                        <a:t>FSMC</a:t>
                      </a:r>
                      <a:r>
                        <a:rPr lang="zh-CN" altLang="en-US" sz="1600" b="0" dirty="0"/>
                        <a:t>（静态储存器控制器）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b="0" dirty="0"/>
                        <a:t>无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b="0" dirty="0"/>
                        <a:t>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216314"/>
                  </a:ext>
                </a:extLst>
              </a:tr>
              <a:tr h="333804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b="0" dirty="0"/>
                        <a:t>定</a:t>
                      </a:r>
                      <a:endParaRPr lang="en-US" altLang="zh-CN" b="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b="0" dirty="0"/>
                        <a:t>时</a:t>
                      </a:r>
                      <a:endParaRPr lang="en-US" altLang="zh-CN" b="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b="0" dirty="0"/>
                        <a:t>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/>
                        <a:t>通用</a:t>
                      </a:r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个</a:t>
                      </a:r>
                      <a:r>
                        <a:rPr lang="zh-CN" altLang="en-US" b="0" dirty="0"/>
                        <a:t>（</a:t>
                      </a:r>
                      <a:r>
                        <a:rPr lang="en-US" altLang="zh-CN" b="0" dirty="0"/>
                        <a:t>TIM2</a:t>
                      </a:r>
                      <a:r>
                        <a:rPr lang="zh-CN" altLang="en-US" b="0" dirty="0"/>
                        <a:t>、</a:t>
                      </a:r>
                      <a:r>
                        <a:rPr lang="en-US" altLang="zh-CN" b="0" dirty="0"/>
                        <a:t>TIM3</a:t>
                      </a:r>
                      <a:r>
                        <a:rPr lang="zh-CN" altLang="en-US" b="0" dirty="0"/>
                        <a:t>、</a:t>
                      </a:r>
                      <a:r>
                        <a:rPr lang="en-US" altLang="zh-CN" b="0" dirty="0"/>
                        <a:t>TIM4</a:t>
                      </a:r>
                      <a:r>
                        <a:rPr lang="zh-CN" altLang="en-US" b="0" dirty="0"/>
                        <a:t>、</a:t>
                      </a:r>
                      <a:r>
                        <a:rPr lang="en-US" altLang="zh-CN" b="0" dirty="0"/>
                        <a:t>TIM5</a:t>
                      </a:r>
                      <a:r>
                        <a:rPr lang="zh-CN" altLang="en-US" b="0" dirty="0"/>
                        <a:t>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189442"/>
                  </a:ext>
                </a:extLst>
              </a:tr>
              <a:tr h="456894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/>
                        <a:t>高级控制</a:t>
                      </a:r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个</a:t>
                      </a:r>
                      <a:r>
                        <a:rPr lang="zh-CN" altLang="en-US" b="0" dirty="0"/>
                        <a:t>（</a:t>
                      </a:r>
                      <a:r>
                        <a:rPr lang="en-US" altLang="zh-CN" b="0" dirty="0"/>
                        <a:t>TIM1</a:t>
                      </a:r>
                      <a:r>
                        <a:rPr lang="zh-CN" altLang="en-US" b="0" dirty="0"/>
                        <a:t>、</a:t>
                      </a:r>
                      <a:r>
                        <a:rPr lang="en-US" altLang="zh-CN" b="0" dirty="0"/>
                        <a:t>TIM8</a:t>
                      </a:r>
                      <a:r>
                        <a:rPr lang="zh-CN" altLang="en-US" b="0" dirty="0"/>
                        <a:t>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684504"/>
                  </a:ext>
                </a:extLst>
              </a:tr>
              <a:tr h="333804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/>
                        <a:t>基本</a:t>
                      </a:r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个</a:t>
                      </a:r>
                      <a:r>
                        <a:rPr lang="zh-CN" altLang="en-US" b="0" dirty="0"/>
                        <a:t>（</a:t>
                      </a:r>
                      <a:r>
                        <a:rPr lang="en-US" altLang="zh-CN" b="0" dirty="0"/>
                        <a:t>TIM6</a:t>
                      </a:r>
                      <a:r>
                        <a:rPr lang="zh-CN" altLang="en-US" b="0" dirty="0"/>
                        <a:t>、</a:t>
                      </a:r>
                      <a:r>
                        <a:rPr lang="en-US" altLang="zh-CN" b="0" dirty="0"/>
                        <a:t>TIM7</a:t>
                      </a:r>
                      <a:r>
                        <a:rPr lang="zh-CN" altLang="en-US" b="0" dirty="0"/>
                        <a:t>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291711"/>
                  </a:ext>
                </a:extLst>
              </a:tr>
              <a:tr h="333804">
                <a:tc rowSpan="6">
                  <a:txBody>
                    <a:bodyPr/>
                    <a:lstStyle/>
                    <a:p>
                      <a:pPr algn="ctr"/>
                      <a:endParaRPr lang="en-US" altLang="zh-CN" b="0" dirty="0"/>
                    </a:p>
                    <a:p>
                      <a:pPr algn="ctr"/>
                      <a:endParaRPr lang="en-US" altLang="zh-CN" b="0" dirty="0"/>
                    </a:p>
                    <a:p>
                      <a:pPr algn="ctr"/>
                      <a:r>
                        <a:rPr lang="zh-CN" altLang="en-US" b="0" dirty="0"/>
                        <a:t>通</a:t>
                      </a:r>
                      <a:endParaRPr lang="en-US" altLang="zh-CN" b="0" dirty="0"/>
                    </a:p>
                    <a:p>
                      <a:pPr algn="ctr"/>
                      <a:r>
                        <a:rPr lang="zh-CN" altLang="en-US" b="0" dirty="0"/>
                        <a:t>信</a:t>
                      </a:r>
                      <a:endParaRPr lang="en-US" altLang="zh-CN" b="0" dirty="0"/>
                    </a:p>
                    <a:p>
                      <a:pPr algn="ctr"/>
                      <a:r>
                        <a:rPr lang="zh-CN" altLang="en-US" b="0" dirty="0"/>
                        <a:t>接</a:t>
                      </a:r>
                      <a:endParaRPr lang="en-US" altLang="zh-CN" b="0" dirty="0"/>
                    </a:p>
                    <a:p>
                      <a:pPr algn="ctr"/>
                      <a:r>
                        <a:rPr lang="zh-CN" altLang="en-US" b="0" dirty="0"/>
                        <a:t>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SPI(I</a:t>
                      </a:r>
                      <a:r>
                        <a:rPr lang="en-US" altLang="zh-CN" b="0" baseline="30000" dirty="0"/>
                        <a:t>2</a:t>
                      </a:r>
                      <a:r>
                        <a:rPr lang="en-US" altLang="zh-CN" b="0" baseline="0" dirty="0"/>
                        <a:t>S)</a:t>
                      </a:r>
                      <a:endParaRPr lang="zh-CN" altLang="en-US" sz="1800" b="0" baseline="30000" dirty="0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个</a:t>
                      </a:r>
                      <a:r>
                        <a:rPr lang="zh-CN" altLang="en-US" b="0" dirty="0"/>
                        <a:t>（</a:t>
                      </a:r>
                      <a:r>
                        <a:rPr lang="en-US" altLang="zh-CN" b="0" dirty="0"/>
                        <a:t>SPI1</a:t>
                      </a:r>
                      <a:r>
                        <a:rPr lang="zh-CN" altLang="en-US" b="0" dirty="0"/>
                        <a:t>、</a:t>
                      </a:r>
                      <a:r>
                        <a:rPr lang="en-US" altLang="zh-CN" b="0" dirty="0"/>
                        <a:t>SPI2</a:t>
                      </a:r>
                      <a:r>
                        <a:rPr lang="zh-CN" altLang="en-US" b="0" dirty="0"/>
                        <a:t>、</a:t>
                      </a:r>
                      <a:r>
                        <a:rPr lang="en-US" altLang="zh-CN" b="0" dirty="0"/>
                        <a:t>SPI3</a:t>
                      </a:r>
                      <a:r>
                        <a:rPr lang="zh-CN" altLang="en-US" b="0" dirty="0"/>
                        <a:t>）其中</a:t>
                      </a:r>
                      <a:r>
                        <a:rPr lang="en-US" altLang="zh-CN" b="0" dirty="0"/>
                        <a:t>SPI2</a:t>
                      </a:r>
                      <a:r>
                        <a:rPr lang="zh-CN" altLang="en-US" b="0" dirty="0"/>
                        <a:t>和</a:t>
                      </a:r>
                      <a:r>
                        <a:rPr lang="en-US" altLang="zh-CN" b="0" dirty="0"/>
                        <a:t>SPI3</a:t>
                      </a:r>
                      <a:r>
                        <a:rPr lang="zh-CN" altLang="en-US" b="0" dirty="0"/>
                        <a:t>可作为</a:t>
                      </a:r>
                      <a:r>
                        <a:rPr lang="en-US" altLang="zh-CN" b="0" dirty="0"/>
                        <a:t>I</a:t>
                      </a:r>
                      <a:r>
                        <a:rPr lang="en-US" altLang="zh-CN" b="0" baseline="30000" dirty="0"/>
                        <a:t>2</a:t>
                      </a:r>
                      <a:r>
                        <a:rPr lang="en-US" altLang="zh-CN" b="0" dirty="0"/>
                        <a:t>S</a:t>
                      </a:r>
                      <a:r>
                        <a:rPr lang="zh-CN" altLang="en-US" b="0" dirty="0"/>
                        <a:t>通信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495754"/>
                  </a:ext>
                </a:extLst>
              </a:tr>
              <a:tr h="333804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I</a:t>
                      </a:r>
                      <a:r>
                        <a:rPr lang="en-US" altLang="zh-CN" b="0" baseline="30000" dirty="0"/>
                        <a:t>2</a:t>
                      </a:r>
                      <a:r>
                        <a:rPr lang="en-US" altLang="zh-CN" b="0" dirty="0"/>
                        <a:t>C</a:t>
                      </a:r>
                      <a:endParaRPr lang="zh-CN" altLang="en-US" b="0" dirty="0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个</a:t>
                      </a:r>
                      <a:r>
                        <a:rPr lang="zh-CN" altLang="en-US" b="0" dirty="0"/>
                        <a:t>（</a:t>
                      </a:r>
                      <a:r>
                        <a:rPr lang="en-US" altLang="zh-CN" b="0" dirty="0"/>
                        <a:t>I</a:t>
                      </a:r>
                      <a:r>
                        <a:rPr lang="en-US" altLang="zh-CN" b="0" baseline="30000" dirty="0"/>
                        <a:t>2</a:t>
                      </a:r>
                      <a:r>
                        <a:rPr lang="en-US" altLang="zh-CN" b="0" dirty="0"/>
                        <a:t>C1</a:t>
                      </a:r>
                      <a:r>
                        <a:rPr lang="zh-CN" altLang="en-US" b="0" dirty="0"/>
                        <a:t>、</a:t>
                      </a:r>
                      <a:r>
                        <a:rPr lang="en-US" altLang="zh-CN" b="0" dirty="0"/>
                        <a:t>I</a:t>
                      </a:r>
                      <a:r>
                        <a:rPr lang="en-US" altLang="zh-CN" b="0" baseline="30000" dirty="0"/>
                        <a:t>2</a:t>
                      </a:r>
                      <a:r>
                        <a:rPr lang="en-US" altLang="zh-CN" b="0" dirty="0"/>
                        <a:t>C2</a:t>
                      </a:r>
                      <a:r>
                        <a:rPr lang="zh-CN" altLang="en-US" b="0" dirty="0"/>
                        <a:t>）</a:t>
                      </a:r>
                      <a:endParaRPr lang="en-US" altLang="zh-CN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90311"/>
                  </a:ext>
                </a:extLst>
              </a:tr>
              <a:tr h="333804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USART/UART</a:t>
                      </a:r>
                      <a:endParaRPr lang="zh-CN" altLang="en-US" b="0" dirty="0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个</a:t>
                      </a:r>
                      <a:r>
                        <a:rPr lang="zh-CN" altLang="en-US" b="0" dirty="0"/>
                        <a:t>（</a:t>
                      </a:r>
                      <a:r>
                        <a:rPr lang="en-US" altLang="zh-CN" b="0" dirty="0"/>
                        <a:t>USART1</a:t>
                      </a:r>
                      <a:r>
                        <a:rPr lang="zh-CN" altLang="en-US" b="0" dirty="0"/>
                        <a:t>、</a:t>
                      </a:r>
                      <a:r>
                        <a:rPr lang="en-US" altLang="zh-CN" b="0" dirty="0"/>
                        <a:t>USART2</a:t>
                      </a:r>
                      <a:r>
                        <a:rPr lang="zh-CN" altLang="en-US" b="0" dirty="0"/>
                        <a:t>、</a:t>
                      </a:r>
                      <a:r>
                        <a:rPr lang="en-US" altLang="zh-CN" b="0" dirty="0"/>
                        <a:t>USART3</a:t>
                      </a:r>
                      <a:r>
                        <a:rPr lang="zh-CN" altLang="en-US" b="0" dirty="0"/>
                        <a:t>、</a:t>
                      </a:r>
                      <a:r>
                        <a:rPr lang="en-US" altLang="zh-CN" b="0" dirty="0"/>
                        <a:t>UART4</a:t>
                      </a:r>
                      <a:r>
                        <a:rPr lang="zh-CN" altLang="en-US" b="0" dirty="0"/>
                        <a:t>、</a:t>
                      </a:r>
                      <a:r>
                        <a:rPr lang="en-US" altLang="zh-CN" b="0" dirty="0"/>
                        <a:t>UART5</a:t>
                      </a:r>
                      <a:r>
                        <a:rPr lang="zh-CN" altLang="en-US" b="0" dirty="0"/>
                        <a:t>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973741"/>
                  </a:ext>
                </a:extLst>
              </a:tr>
              <a:tr h="333804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USB</a:t>
                      </a:r>
                      <a:endParaRPr lang="zh-CN" altLang="en-US" b="0" dirty="0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个</a:t>
                      </a:r>
                      <a:r>
                        <a:rPr lang="zh-CN" altLang="en-US" b="0" dirty="0"/>
                        <a:t>（</a:t>
                      </a:r>
                      <a:r>
                        <a:rPr lang="en-US" altLang="zh-CN" b="0" dirty="0"/>
                        <a:t>USB2.0</a:t>
                      </a:r>
                      <a:r>
                        <a:rPr lang="zh-CN" altLang="en-US" b="0" dirty="0"/>
                        <a:t>全速 </a:t>
                      </a:r>
                      <a:r>
                        <a:rPr lang="en-US" altLang="zh-CN" b="0" dirty="0"/>
                        <a:t>12Mbps</a:t>
                      </a:r>
                      <a:r>
                        <a:rPr lang="zh-CN" altLang="en-US" b="0" dirty="0"/>
                        <a:t>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159165"/>
                  </a:ext>
                </a:extLst>
              </a:tr>
              <a:tr h="333804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CAN</a:t>
                      </a:r>
                      <a:endParaRPr lang="zh-CN" altLang="en-US" b="0" dirty="0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个</a:t>
                      </a:r>
                      <a:r>
                        <a:rPr lang="zh-CN" altLang="en-US" b="0" dirty="0"/>
                        <a:t>（</a:t>
                      </a:r>
                      <a:r>
                        <a:rPr lang="en-US" altLang="zh-CN" b="0" dirty="0"/>
                        <a:t>2.0B</a:t>
                      </a:r>
                      <a:r>
                        <a:rPr lang="zh-CN" altLang="en-US" b="0" dirty="0"/>
                        <a:t>主动）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39370"/>
                  </a:ext>
                </a:extLst>
              </a:tr>
              <a:tr h="333804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SDIO</a:t>
                      </a:r>
                      <a:endParaRPr lang="zh-CN" altLang="en-US" b="0" dirty="0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个</a:t>
                      </a:r>
                      <a:r>
                        <a:rPr lang="zh-CN" altLang="en-US" b="0" dirty="0"/>
                        <a:t>（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在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内存卡接口的基础上发展起来的接口，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SDIO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接口兼容以前的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内存卡，并且可以连接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SDIO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接口的设备</a:t>
                      </a:r>
                      <a:r>
                        <a:rPr lang="zh-CN" altLang="en-US" b="0" dirty="0"/>
                        <a:t>）</a:t>
                      </a:r>
                      <a:endParaRPr lang="zh-CN" alt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355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7280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CBDE00C-7E18-4BE9-89EF-739E0C34E693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       STM32F10X</a:t>
            </a:r>
            <a:r>
              <a:rPr lang="zh-CN" altLang="en-US" sz="2800" b="1" dirty="0">
                <a:cs typeface="+mn-ea"/>
                <a:sym typeface="+mn-lt"/>
              </a:rPr>
              <a:t>系列芯片的命名、资源与引脚</a:t>
            </a:r>
          </a:p>
        </p:txBody>
      </p:sp>
      <p:sp>
        <p:nvSpPr>
          <p:cNvPr id="3" name="hdmi_130129">
            <a:extLst>
              <a:ext uri="{FF2B5EF4-FFF2-40B4-BE49-F238E27FC236}">
                <a16:creationId xmlns:a16="http://schemas.microsoft.com/office/drawing/2014/main" id="{17FA6FFF-0C2F-4469-94CB-69BFA11A52B4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B247EB-BE95-4040-8E11-CE52970B60C2}"/>
              </a:ext>
            </a:extLst>
          </p:cNvPr>
          <p:cNvSpPr txBox="1"/>
          <p:nvPr/>
        </p:nvSpPr>
        <p:spPr>
          <a:xfrm>
            <a:off x="627797" y="944577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芯片资源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128616"/>
              </p:ext>
            </p:extLst>
          </p:nvPr>
        </p:nvGraphicFramePr>
        <p:xfrm>
          <a:off x="1427286" y="1661747"/>
          <a:ext cx="9337430" cy="4441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1208">
                  <a:extLst>
                    <a:ext uri="{9D8B030D-6E8A-4147-A177-3AD203B41FA5}">
                      <a16:colId xmlns:a16="http://schemas.microsoft.com/office/drawing/2014/main" val="1034192558"/>
                    </a:ext>
                  </a:extLst>
                </a:gridCol>
                <a:gridCol w="2365407">
                  <a:extLst>
                    <a:ext uri="{9D8B030D-6E8A-4147-A177-3AD203B41FA5}">
                      <a16:colId xmlns:a16="http://schemas.microsoft.com/office/drawing/2014/main" val="2362975890"/>
                    </a:ext>
                  </a:extLst>
                </a:gridCol>
                <a:gridCol w="2365408">
                  <a:extLst>
                    <a:ext uri="{9D8B030D-6E8A-4147-A177-3AD203B41FA5}">
                      <a16:colId xmlns:a16="http://schemas.microsoft.com/office/drawing/2014/main" val="4079490844"/>
                    </a:ext>
                  </a:extLst>
                </a:gridCol>
                <a:gridCol w="2365407">
                  <a:extLst>
                    <a:ext uri="{9D8B030D-6E8A-4147-A177-3AD203B41FA5}">
                      <a16:colId xmlns:a16="http://schemas.microsoft.com/office/drawing/2014/main" val="1432720576"/>
                    </a:ext>
                  </a:extLst>
                </a:gridCol>
              </a:tblGrid>
              <a:tr h="436364"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外设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STM32F103RX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STM32F103VX</a:t>
                      </a:r>
                      <a:endParaRPr lang="zh-CN" altLang="en-US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STM32F103ZX</a:t>
                      </a:r>
                      <a:endParaRPr lang="zh-CN" altLang="en-US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612115"/>
                  </a:ext>
                </a:extLst>
              </a:tr>
              <a:tr h="436364"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GPIO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端口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zh-CN" alt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112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626418"/>
                  </a:ext>
                </a:extLst>
              </a:tr>
              <a:tr h="753177"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ADC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模块</a:t>
                      </a:r>
                      <a:endParaRPr lang="en-US" altLang="zh-CN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354" rtl="0" eaLnBrk="1" latinLnBrk="0" hangingPunct="1"/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（通道数）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160871"/>
                  </a:ext>
                </a:extLst>
              </a:tr>
              <a:tr h="753177"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DAC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转换器（通道数）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algn="ctr" defTabSz="914354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462920"/>
                  </a:ext>
                </a:extLst>
              </a:tr>
              <a:tr h="436364"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CPU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频率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72MHz</a:t>
                      </a:r>
                      <a:endParaRPr lang="zh-CN" alt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754486"/>
                  </a:ext>
                </a:extLst>
              </a:tr>
              <a:tr h="436364"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工作电压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2.0~3.6V</a:t>
                      </a:r>
                      <a:endParaRPr lang="zh-CN" alt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574371"/>
                  </a:ext>
                </a:extLst>
              </a:tr>
              <a:tr h="753177">
                <a:tc>
                  <a:txBody>
                    <a:bodyPr/>
                    <a:lstStyle/>
                    <a:p>
                      <a:pPr marL="0" algn="ctr" defTabSz="914354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工作温度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环境温度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-40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~+85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/-40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~+105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endParaRPr lang="en-US" altLang="zh-CN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354" rtl="0" eaLnBrk="1" latinLnBrk="0" hangingPunct="1"/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结温度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-40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~+125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076481"/>
                  </a:ext>
                </a:extLst>
              </a:tr>
              <a:tr h="436364"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封装形式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LQFP64,WLCSP64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LQFP100,BGA100</a:t>
                      </a:r>
                      <a:endParaRPr lang="zh-CN" alt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LQFP144,BGA144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416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7734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0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STM32F10X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系列芯片的命名、资源与引脚</a:t>
            </a: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B247EB-BE95-4040-8E11-CE52970B60C2}"/>
              </a:ext>
            </a:extLst>
          </p:cNvPr>
          <p:cNvSpPr txBox="1"/>
          <p:nvPr/>
        </p:nvSpPr>
        <p:spPr>
          <a:xfrm>
            <a:off x="627797" y="944577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芯片资源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2311EB-EF92-40C2-BFF4-007E4A043BEA}"/>
              </a:ext>
            </a:extLst>
          </p:cNvPr>
          <p:cNvSpPr txBox="1"/>
          <p:nvPr/>
        </p:nvSpPr>
        <p:spPr>
          <a:xfrm>
            <a:off x="566251" y="1661747"/>
            <a:ext cx="4761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7675" indent="-447675"/>
            <a:r>
              <a:rPr lang="zh-CN" altLang="en-US" sz="2400" b="1" dirty="0">
                <a:solidFill>
                  <a:srgbClr val="180D5B"/>
                </a:solidFill>
                <a:latin typeface="楷体_GB2312" pitchFamily="49" charset="-122"/>
                <a:ea typeface="楷体_GB2312" pitchFamily="49" charset="-122"/>
              </a:rPr>
              <a:t>以</a:t>
            </a:r>
            <a:r>
              <a:rPr lang="en-US" altLang="zh-CN" sz="2400" b="1" dirty="0">
                <a:solidFill>
                  <a:srgbClr val="180D5B"/>
                </a:solidFill>
                <a:latin typeface="楷体_GB2312" pitchFamily="49" charset="-122"/>
                <a:ea typeface="楷体_GB2312" pitchFamily="49" charset="-122"/>
              </a:rPr>
              <a:t>STM32F103VCT6</a:t>
            </a:r>
            <a:r>
              <a:rPr lang="zh-CN" altLang="en-US" sz="2400" b="1" dirty="0">
                <a:solidFill>
                  <a:srgbClr val="180D5B"/>
                </a:solidFill>
                <a:latin typeface="楷体_GB2312" pitchFamily="49" charset="-122"/>
                <a:ea typeface="楷体_GB2312" pitchFamily="49" charset="-122"/>
              </a:rPr>
              <a:t>为例：</a:t>
            </a:r>
            <a:endParaRPr lang="en-US" altLang="zh-CN" sz="2400" b="1" dirty="0">
              <a:solidFill>
                <a:srgbClr val="180D5B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74377" y="2123412"/>
            <a:ext cx="768740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+mn-ea"/>
              </a:rPr>
              <a:t>CPU</a:t>
            </a:r>
            <a:r>
              <a:rPr lang="zh-CN" altLang="en-US" sz="2000" dirty="0">
                <a:latin typeface="+mn-ea"/>
              </a:rPr>
              <a:t>频率：</a:t>
            </a:r>
            <a:r>
              <a:rPr lang="en-US" altLang="zh-CN" sz="2000" dirty="0">
                <a:latin typeface="+mn-ea"/>
              </a:rPr>
              <a:t>72MHz</a:t>
            </a:r>
            <a:br>
              <a:rPr lang="en-US" altLang="zh-CN" sz="2000" dirty="0">
                <a:latin typeface="+mn-ea"/>
              </a:rPr>
            </a:br>
            <a:r>
              <a:rPr lang="zh-CN" altLang="en-US" sz="2000" dirty="0">
                <a:latin typeface="+mn-ea"/>
              </a:rPr>
              <a:t>接口：</a:t>
            </a:r>
            <a:r>
              <a:rPr lang="en-US" altLang="zh-CN" sz="2000" dirty="0">
                <a:latin typeface="+mn-ea"/>
              </a:rPr>
              <a:t>CAN</a:t>
            </a:r>
            <a:r>
              <a:rPr lang="zh-CN" altLang="en-US" sz="2000" dirty="0">
                <a:latin typeface="+mn-ea"/>
              </a:rPr>
              <a:t>，</a:t>
            </a:r>
            <a:r>
              <a:rPr lang="en-US" altLang="zh-CN" sz="2000" dirty="0">
                <a:latin typeface="+mn-ea"/>
              </a:rPr>
              <a:t>I2C</a:t>
            </a:r>
            <a:r>
              <a:rPr lang="zh-CN" altLang="en-US" sz="2000" dirty="0">
                <a:latin typeface="+mn-ea"/>
              </a:rPr>
              <a:t>，</a:t>
            </a:r>
            <a:r>
              <a:rPr lang="en-US" altLang="zh-CN" sz="2000" dirty="0">
                <a:latin typeface="+mn-ea"/>
              </a:rPr>
              <a:t>IrDA</a:t>
            </a:r>
            <a:r>
              <a:rPr lang="zh-CN" altLang="en-US" sz="2000" dirty="0">
                <a:latin typeface="+mn-ea"/>
              </a:rPr>
              <a:t>，</a:t>
            </a:r>
            <a:r>
              <a:rPr lang="en-US" altLang="zh-CN" sz="2000" dirty="0">
                <a:latin typeface="+mn-ea"/>
              </a:rPr>
              <a:t>SPI</a:t>
            </a:r>
            <a:r>
              <a:rPr lang="zh-CN" altLang="en-US" sz="2000" dirty="0">
                <a:latin typeface="+mn-ea"/>
              </a:rPr>
              <a:t>，</a:t>
            </a:r>
            <a:r>
              <a:rPr lang="en-US" altLang="zh-CN" sz="2000" dirty="0">
                <a:latin typeface="+mn-ea"/>
              </a:rPr>
              <a:t>UART/USART</a:t>
            </a:r>
            <a:r>
              <a:rPr lang="zh-CN" altLang="en-US" sz="2000" dirty="0">
                <a:latin typeface="+mn-ea"/>
              </a:rPr>
              <a:t>，</a:t>
            </a:r>
            <a:r>
              <a:rPr lang="en-US" altLang="zh-CN" sz="2000" dirty="0">
                <a:latin typeface="+mn-ea"/>
              </a:rPr>
              <a:t>USB</a:t>
            </a:r>
          </a:p>
          <a:p>
            <a:r>
              <a:rPr lang="en-US" altLang="zh-CN" sz="2000" dirty="0">
                <a:latin typeface="+mn-ea"/>
              </a:rPr>
              <a:t>GPIO</a:t>
            </a:r>
            <a:r>
              <a:rPr lang="zh-CN" altLang="en-US" sz="2000" dirty="0">
                <a:latin typeface="+mn-ea"/>
              </a:rPr>
              <a:t>：</a:t>
            </a:r>
            <a:r>
              <a:rPr lang="en-US" altLang="zh-CN" sz="2000" dirty="0">
                <a:latin typeface="+mn-ea"/>
              </a:rPr>
              <a:t>80</a:t>
            </a:r>
            <a:br>
              <a:rPr lang="en-US" altLang="zh-CN" sz="2000" dirty="0">
                <a:latin typeface="+mn-ea"/>
              </a:rPr>
            </a:br>
            <a:r>
              <a:rPr lang="zh-CN" altLang="en-US" sz="2000" dirty="0">
                <a:latin typeface="+mn-ea"/>
              </a:rPr>
              <a:t>程序存储器容量：</a:t>
            </a:r>
            <a:r>
              <a:rPr lang="en-US" altLang="zh-CN" sz="2000" dirty="0">
                <a:latin typeface="+mn-ea"/>
              </a:rPr>
              <a:t>256kB (256k x 8)</a:t>
            </a:r>
          </a:p>
          <a:p>
            <a:r>
              <a:rPr lang="zh-CN" altLang="en-US" sz="2000" dirty="0">
                <a:latin typeface="+mn-ea"/>
              </a:rPr>
              <a:t>程序存储器类型：</a:t>
            </a:r>
            <a:r>
              <a:rPr lang="en-US" altLang="zh-CN" sz="2000" dirty="0">
                <a:latin typeface="+mn-ea"/>
              </a:rPr>
              <a:t>FLASH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dirty="0">
                <a:latin typeface="+mn-ea"/>
              </a:rPr>
              <a:t>RAM </a:t>
            </a:r>
            <a:r>
              <a:rPr lang="zh-CN" altLang="en-US" sz="2000" dirty="0">
                <a:latin typeface="+mn-ea"/>
              </a:rPr>
              <a:t>容量：</a:t>
            </a:r>
            <a:r>
              <a:rPr lang="en-US" altLang="zh-CN" sz="2000" dirty="0">
                <a:latin typeface="+mn-ea"/>
              </a:rPr>
              <a:t>48k x 8</a:t>
            </a:r>
            <a:br>
              <a:rPr lang="en-US" altLang="zh-CN" sz="2000" dirty="0">
                <a:latin typeface="+mn-ea"/>
              </a:rPr>
            </a:br>
            <a:r>
              <a:rPr lang="zh-CN" altLang="en-US" sz="2000" dirty="0">
                <a:latin typeface="+mn-ea"/>
              </a:rPr>
              <a:t>电压 </a:t>
            </a:r>
            <a:r>
              <a:rPr lang="en-US" altLang="zh-CN" sz="2000" dirty="0">
                <a:latin typeface="+mn-ea"/>
              </a:rPr>
              <a:t>- </a:t>
            </a:r>
            <a:r>
              <a:rPr lang="zh-CN" altLang="en-US" sz="2000" dirty="0">
                <a:latin typeface="+mn-ea"/>
              </a:rPr>
              <a:t>电源 </a:t>
            </a:r>
            <a:r>
              <a:rPr lang="en-US" altLang="zh-CN" sz="2000" dirty="0">
                <a:latin typeface="+mn-ea"/>
              </a:rPr>
              <a:t>(</a:t>
            </a:r>
            <a:r>
              <a:rPr lang="en-US" altLang="zh-CN" sz="2000" dirty="0" err="1">
                <a:latin typeface="+mn-ea"/>
              </a:rPr>
              <a:t>Vcc</a:t>
            </a:r>
            <a:r>
              <a:rPr lang="en-US" altLang="zh-CN" sz="2000" dirty="0">
                <a:latin typeface="+mn-ea"/>
              </a:rPr>
              <a:t>/</a:t>
            </a:r>
            <a:r>
              <a:rPr lang="en-US" altLang="zh-CN" sz="2000" dirty="0" err="1">
                <a:latin typeface="+mn-ea"/>
              </a:rPr>
              <a:t>Vdd</a:t>
            </a:r>
            <a:r>
              <a:rPr lang="en-US" altLang="zh-CN" sz="2000" dirty="0">
                <a:latin typeface="+mn-ea"/>
              </a:rPr>
              <a:t>)</a:t>
            </a:r>
            <a:r>
              <a:rPr lang="zh-CN" altLang="en-US" sz="2000" dirty="0">
                <a:latin typeface="+mn-ea"/>
              </a:rPr>
              <a:t>：</a:t>
            </a:r>
            <a:r>
              <a:rPr lang="en-US" altLang="zh-CN" sz="2000" dirty="0">
                <a:latin typeface="+mn-ea"/>
              </a:rPr>
              <a:t>2V ~ 3.6V</a:t>
            </a:r>
            <a:br>
              <a:rPr lang="en-US" altLang="zh-CN" sz="2000" dirty="0">
                <a:latin typeface="+mn-ea"/>
              </a:rPr>
            </a:br>
            <a:r>
              <a:rPr lang="zh-CN" altLang="en-US" sz="2000" dirty="0">
                <a:latin typeface="+mn-ea"/>
              </a:rPr>
              <a:t>数模转换器：</a:t>
            </a:r>
            <a:r>
              <a:rPr lang="en-US" altLang="zh-CN" sz="2000" dirty="0">
                <a:latin typeface="+mn-ea"/>
              </a:rPr>
              <a:t>3</a:t>
            </a:r>
            <a:r>
              <a:rPr lang="zh-CN" altLang="en-US" sz="2000" dirty="0">
                <a:latin typeface="+mn-ea"/>
              </a:rPr>
              <a:t>个</a:t>
            </a:r>
            <a:r>
              <a:rPr lang="en-US" altLang="zh-CN" sz="2000" dirty="0">
                <a:latin typeface="+mn-ea"/>
              </a:rPr>
              <a:t>ADC </a:t>
            </a:r>
            <a:r>
              <a:rPr lang="zh-CN" altLang="en-US" sz="2000" dirty="0">
                <a:latin typeface="+mn-ea"/>
              </a:rPr>
              <a:t>支持</a:t>
            </a:r>
            <a:r>
              <a:rPr lang="en-US" altLang="zh-CN" sz="2000" dirty="0">
                <a:latin typeface="+mn-ea"/>
              </a:rPr>
              <a:t>16</a:t>
            </a:r>
            <a:r>
              <a:rPr lang="zh-CN" altLang="en-US" sz="2000" dirty="0">
                <a:latin typeface="+mn-ea"/>
              </a:rPr>
              <a:t>个通道</a:t>
            </a:r>
            <a:r>
              <a:rPr lang="en-US" altLang="zh-CN" sz="2000" dirty="0">
                <a:latin typeface="+mn-ea"/>
              </a:rPr>
              <a:t>x12</a:t>
            </a:r>
            <a:r>
              <a:rPr lang="zh-CN" altLang="en-US" sz="2000" dirty="0">
                <a:latin typeface="+mn-ea"/>
              </a:rPr>
              <a:t>位精度</a:t>
            </a:r>
            <a:r>
              <a:rPr lang="en-US" altLang="zh-CN" sz="2000" dirty="0">
                <a:latin typeface="+mn-ea"/>
              </a:rPr>
              <a:t>; </a:t>
            </a:r>
          </a:p>
          <a:p>
            <a:r>
              <a:rPr lang="zh-CN" altLang="en-US" sz="2000" dirty="0">
                <a:latin typeface="+mn-ea"/>
              </a:rPr>
              <a:t>模数转换器：</a:t>
            </a:r>
            <a:r>
              <a:rPr lang="en-US" altLang="zh-CN" sz="2000" dirty="0">
                <a:latin typeface="+mn-ea"/>
              </a:rPr>
              <a:t>2</a:t>
            </a:r>
            <a:r>
              <a:rPr lang="zh-CN" altLang="en-US" sz="2000" dirty="0">
                <a:latin typeface="+mn-ea"/>
              </a:rPr>
              <a:t>个</a:t>
            </a:r>
            <a:r>
              <a:rPr lang="en-US" altLang="zh-CN" sz="2000" dirty="0">
                <a:latin typeface="+mn-ea"/>
              </a:rPr>
              <a:t>DAC </a:t>
            </a:r>
            <a:r>
              <a:rPr lang="zh-CN" altLang="en-US" sz="2000" dirty="0">
                <a:latin typeface="+mn-ea"/>
              </a:rPr>
              <a:t>支持</a:t>
            </a:r>
            <a:r>
              <a:rPr lang="en-US" altLang="zh-CN" sz="2000" dirty="0">
                <a:latin typeface="+mn-ea"/>
              </a:rPr>
              <a:t>2x12b</a:t>
            </a:r>
            <a:br>
              <a:rPr lang="en-US" altLang="zh-CN" sz="2000" dirty="0">
                <a:latin typeface="+mn-ea"/>
              </a:rPr>
            </a:br>
            <a:r>
              <a:rPr lang="zh-CN" altLang="en-US" sz="2000" dirty="0">
                <a:latin typeface="+mn-ea"/>
              </a:rPr>
              <a:t>振荡器型：内部</a:t>
            </a:r>
            <a:br>
              <a:rPr lang="zh-CN" altLang="en-US" sz="2000" dirty="0">
                <a:latin typeface="+mn-ea"/>
              </a:rPr>
            </a:br>
            <a:r>
              <a:rPr lang="zh-CN" altLang="en-US" sz="2000" dirty="0">
                <a:latin typeface="+mn-ea"/>
              </a:rPr>
              <a:t>工作温度：</a:t>
            </a:r>
            <a:r>
              <a:rPr lang="en-US" altLang="zh-CN" sz="2000" dirty="0">
                <a:latin typeface="+mn-ea"/>
              </a:rPr>
              <a:t>-40°C ~ 85°C</a:t>
            </a:r>
            <a:br>
              <a:rPr lang="en-US" altLang="zh-CN" sz="2000" dirty="0">
                <a:latin typeface="+mn-ea"/>
              </a:rPr>
            </a:br>
            <a:r>
              <a:rPr lang="zh-CN" altLang="en-US" sz="2000" dirty="0">
                <a:latin typeface="+mn-ea"/>
              </a:rPr>
              <a:t>封装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外壳：</a:t>
            </a:r>
            <a:r>
              <a:rPr lang="en-US" altLang="zh-CN" sz="2000" dirty="0">
                <a:latin typeface="+mn-ea"/>
              </a:rPr>
              <a:t>100-LQFP</a:t>
            </a:r>
          </a:p>
        </p:txBody>
      </p:sp>
    </p:spTree>
    <p:extLst>
      <p:ext uri="{BB962C8B-B14F-4D97-AF65-F5344CB8AC3E}">
        <p14:creationId xmlns:p14="http://schemas.microsoft.com/office/powerpoint/2010/main" val="184430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CBDE00C-7E18-4BE9-89EF-739E0C34E693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       STM32F10X</a:t>
            </a:r>
            <a:r>
              <a:rPr lang="zh-CN" altLang="en-US" sz="2800" b="1" dirty="0">
                <a:cs typeface="+mn-ea"/>
                <a:sym typeface="+mn-lt"/>
              </a:rPr>
              <a:t>系列芯片的命名、资源与引脚</a:t>
            </a:r>
          </a:p>
        </p:txBody>
      </p:sp>
      <p:sp>
        <p:nvSpPr>
          <p:cNvPr id="3" name="hdmi_130129">
            <a:extLst>
              <a:ext uri="{FF2B5EF4-FFF2-40B4-BE49-F238E27FC236}">
                <a16:creationId xmlns:a16="http://schemas.microsoft.com/office/drawing/2014/main" id="{17FA6FFF-0C2F-4469-94CB-69BFA11A52B4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B247EB-BE95-4040-8E11-CE52970B60C2}"/>
              </a:ext>
            </a:extLst>
          </p:cNvPr>
          <p:cNvSpPr txBox="1"/>
          <p:nvPr/>
        </p:nvSpPr>
        <p:spPr>
          <a:xfrm>
            <a:off x="627797" y="1028496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芯片引脚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2311EB-EF92-40C2-BFF4-007E4A043BEA}"/>
              </a:ext>
            </a:extLst>
          </p:cNvPr>
          <p:cNvSpPr txBox="1"/>
          <p:nvPr/>
        </p:nvSpPr>
        <p:spPr>
          <a:xfrm>
            <a:off x="627796" y="1735167"/>
            <a:ext cx="5615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7675" indent="-447675"/>
            <a:r>
              <a:rPr lang="zh-CN" altLang="en-US" sz="2400" b="1" dirty="0">
                <a:solidFill>
                  <a:srgbClr val="180D5B"/>
                </a:solidFill>
                <a:latin typeface="楷体_GB2312" pitchFamily="49" charset="-122"/>
                <a:ea typeface="楷体_GB2312" pitchFamily="49" charset="-122"/>
              </a:rPr>
              <a:t>以</a:t>
            </a:r>
            <a:r>
              <a:rPr lang="en-US" altLang="zh-CN" sz="2400" b="1" dirty="0">
                <a:solidFill>
                  <a:srgbClr val="180D5B"/>
                </a:solidFill>
                <a:latin typeface="楷体_GB2312" pitchFamily="49" charset="-122"/>
                <a:ea typeface="楷体_GB2312" pitchFamily="49" charset="-122"/>
              </a:rPr>
              <a:t>STM32F103VCT6</a:t>
            </a:r>
            <a:r>
              <a:rPr lang="zh-CN" altLang="en-US" sz="2400" b="1" dirty="0">
                <a:solidFill>
                  <a:srgbClr val="180D5B"/>
                </a:solidFill>
                <a:latin typeface="楷体_GB2312" pitchFamily="49" charset="-122"/>
                <a:ea typeface="楷体_GB2312" pitchFamily="49" charset="-122"/>
              </a:rPr>
              <a:t>为例：共</a:t>
            </a:r>
            <a:r>
              <a:rPr lang="en-US" altLang="zh-CN" sz="2400" b="1" dirty="0">
                <a:solidFill>
                  <a:srgbClr val="180D5B"/>
                </a:solidFill>
                <a:latin typeface="楷体_GB2312" pitchFamily="49" charset="-122"/>
                <a:ea typeface="楷体_GB2312" pitchFamily="49" charset="-122"/>
              </a:rPr>
              <a:t>100pin</a:t>
            </a:r>
          </a:p>
        </p:txBody>
      </p:sp>
      <p:sp>
        <p:nvSpPr>
          <p:cNvPr id="4" name="矩形 3"/>
          <p:cNvSpPr/>
          <p:nvPr/>
        </p:nvSpPr>
        <p:spPr>
          <a:xfrm>
            <a:off x="627797" y="2370246"/>
            <a:ext cx="578634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GPIO</a:t>
            </a:r>
            <a:r>
              <a:rPr lang="zh-CN" altLang="en-US" dirty="0">
                <a:latin typeface="+mn-ea"/>
              </a:rPr>
              <a:t>共</a:t>
            </a:r>
            <a:r>
              <a:rPr lang="en-US" altLang="zh-CN" b="1" dirty="0">
                <a:solidFill>
                  <a:srgbClr val="180D5B"/>
                </a:solidFill>
                <a:latin typeface="+mn-ea"/>
              </a:rPr>
              <a:t>80pin</a:t>
            </a:r>
          </a:p>
          <a:p>
            <a:r>
              <a:rPr lang="en-US" altLang="zh-CN" dirty="0">
                <a:latin typeface="+mn-ea"/>
              </a:rPr>
              <a:t>PA0~15   PB0~15    PC0~15    PD0~15    PE0~15</a:t>
            </a:r>
          </a:p>
          <a:p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5</a:t>
            </a:r>
            <a:r>
              <a:rPr lang="zh-CN" altLang="en-US" dirty="0">
                <a:latin typeface="+mn-ea"/>
              </a:rPr>
              <a:t>组电源、接地共</a:t>
            </a:r>
            <a:r>
              <a:rPr lang="en-US" altLang="zh-CN" b="1" dirty="0">
                <a:solidFill>
                  <a:srgbClr val="180D5B"/>
                </a:solidFill>
                <a:latin typeface="+mn-ea"/>
              </a:rPr>
              <a:t>10pin</a:t>
            </a:r>
          </a:p>
          <a:p>
            <a:r>
              <a:rPr lang="en-US" altLang="zh-CN" dirty="0">
                <a:latin typeface="+mn-ea"/>
              </a:rPr>
              <a:t>AD</a:t>
            </a:r>
            <a:r>
              <a:rPr lang="zh-CN" altLang="en-US" dirty="0">
                <a:latin typeface="+mn-ea"/>
              </a:rPr>
              <a:t>变换的电源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组  </a:t>
            </a:r>
            <a:r>
              <a:rPr lang="en-US" altLang="zh-CN" dirty="0">
                <a:latin typeface="+mn-ea"/>
              </a:rPr>
              <a:t>VDDA(22)   VSSA(19)   </a:t>
            </a:r>
            <a:r>
              <a:rPr lang="en-US" altLang="zh-CN" b="1" dirty="0">
                <a:solidFill>
                  <a:srgbClr val="180D5B"/>
                </a:solidFill>
                <a:latin typeface="+mn-ea"/>
              </a:rPr>
              <a:t>2pin</a:t>
            </a:r>
          </a:p>
          <a:p>
            <a:r>
              <a:rPr lang="zh-CN" altLang="en-US" dirty="0">
                <a:latin typeface="+mn-ea"/>
              </a:rPr>
              <a:t>参考电压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组          </a:t>
            </a:r>
            <a:r>
              <a:rPr lang="en-US" altLang="zh-CN" dirty="0">
                <a:latin typeface="+mn-ea"/>
              </a:rPr>
              <a:t>VREF+(21)  VREF-(20)  </a:t>
            </a:r>
            <a:r>
              <a:rPr lang="en-US" altLang="zh-CN" b="1" dirty="0">
                <a:solidFill>
                  <a:srgbClr val="180D5B"/>
                </a:solidFill>
                <a:latin typeface="+mn-ea"/>
              </a:rPr>
              <a:t>2pin</a:t>
            </a:r>
          </a:p>
          <a:p>
            <a:r>
              <a:rPr lang="zh-CN" altLang="en-US" dirty="0">
                <a:latin typeface="+mn-ea"/>
              </a:rPr>
              <a:t>电池  </a:t>
            </a:r>
            <a:r>
              <a:rPr lang="en-US" altLang="zh-CN" dirty="0">
                <a:latin typeface="+mn-ea"/>
              </a:rPr>
              <a:t>VBAT</a:t>
            </a:r>
            <a:r>
              <a:rPr lang="zh-CN" altLang="en-US" dirty="0">
                <a:latin typeface="+mn-ea"/>
              </a:rPr>
              <a:t>（</a:t>
            </a:r>
            <a:r>
              <a:rPr lang="en-US" altLang="zh-CN" dirty="0">
                <a:latin typeface="+mn-ea"/>
              </a:rPr>
              <a:t>6</a:t>
            </a:r>
            <a:r>
              <a:rPr lang="zh-CN" altLang="en-US" dirty="0">
                <a:latin typeface="+mn-ea"/>
              </a:rPr>
              <a:t>） </a:t>
            </a:r>
            <a:r>
              <a:rPr lang="en-US" altLang="zh-CN" b="1" dirty="0">
                <a:solidFill>
                  <a:srgbClr val="180D5B"/>
                </a:solidFill>
                <a:latin typeface="+mn-ea"/>
              </a:rPr>
              <a:t>1pin</a:t>
            </a:r>
          </a:p>
          <a:p>
            <a:r>
              <a:rPr lang="en-US" altLang="zh-CN" dirty="0">
                <a:latin typeface="+mn-ea"/>
              </a:rPr>
              <a:t>12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13 </a:t>
            </a:r>
            <a:r>
              <a:rPr lang="zh-CN" altLang="en-US" dirty="0">
                <a:latin typeface="+mn-ea"/>
              </a:rPr>
              <a:t>外时钟    </a:t>
            </a:r>
            <a:r>
              <a:rPr lang="en-US" altLang="zh-CN" b="1" dirty="0">
                <a:solidFill>
                  <a:srgbClr val="180D5B"/>
                </a:solidFill>
                <a:latin typeface="+mn-ea"/>
              </a:rPr>
              <a:t>2pin 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高速 </a:t>
            </a:r>
            <a:r>
              <a:rPr lang="en-US" altLang="zh-CN" dirty="0">
                <a:latin typeface="+mn-ea"/>
              </a:rPr>
              <a:t>8MHz,</a:t>
            </a:r>
            <a:r>
              <a:rPr lang="zh-CN" altLang="en-US" dirty="0">
                <a:latin typeface="+mn-ea"/>
              </a:rPr>
              <a:t>内部变成</a:t>
            </a:r>
            <a:r>
              <a:rPr lang="en-US" altLang="zh-CN" dirty="0">
                <a:latin typeface="+mn-ea"/>
              </a:rPr>
              <a:t>72MHz)</a:t>
            </a:r>
          </a:p>
          <a:p>
            <a:pPr marL="342900" indent="-342900">
              <a:buAutoNum type="arabicPlain" startAt="14"/>
            </a:pPr>
            <a:r>
              <a:rPr lang="zh-CN" altLang="en-US" dirty="0">
                <a:latin typeface="+mn-ea"/>
              </a:rPr>
              <a:t>低电平复位</a:t>
            </a:r>
            <a:r>
              <a:rPr lang="zh-CN" altLang="en-US" b="1" dirty="0">
                <a:solidFill>
                  <a:srgbClr val="180D5B"/>
                </a:solidFill>
                <a:latin typeface="+mn-ea"/>
              </a:rPr>
              <a:t>     </a:t>
            </a:r>
            <a:r>
              <a:rPr lang="en-US" altLang="zh-CN" b="1" dirty="0">
                <a:solidFill>
                  <a:srgbClr val="180D5B"/>
                </a:solidFill>
                <a:latin typeface="+mn-ea"/>
              </a:rPr>
              <a:t>1pin  </a:t>
            </a:r>
          </a:p>
          <a:p>
            <a:endParaRPr lang="en-US" altLang="zh-CN" b="1" dirty="0">
              <a:solidFill>
                <a:srgbClr val="180D5B"/>
              </a:solidFill>
              <a:latin typeface="+mn-ea"/>
            </a:endParaRPr>
          </a:p>
          <a:p>
            <a:r>
              <a:rPr lang="zh-CN" altLang="en-US" dirty="0">
                <a:latin typeface="+mn-ea"/>
              </a:rPr>
              <a:t>启动方式</a:t>
            </a:r>
          </a:p>
          <a:p>
            <a:r>
              <a:rPr lang="en-US" altLang="zh-CN" dirty="0">
                <a:latin typeface="+mn-ea"/>
              </a:rPr>
              <a:t>BOOT0 (94)        </a:t>
            </a:r>
            <a:r>
              <a:rPr lang="en-US" altLang="zh-CN" b="1" dirty="0">
                <a:solidFill>
                  <a:srgbClr val="180D5B"/>
                </a:solidFill>
                <a:latin typeface="+mn-ea"/>
              </a:rPr>
              <a:t>1pin</a:t>
            </a:r>
            <a:r>
              <a:rPr lang="en-US" altLang="zh-CN" dirty="0">
                <a:latin typeface="+mn-ea"/>
              </a:rPr>
              <a:t>   BOOT1(PB2) </a:t>
            </a:r>
            <a:r>
              <a:rPr lang="zh-CN" altLang="en-US" b="1" dirty="0">
                <a:solidFill>
                  <a:srgbClr val="180D5B"/>
                </a:solidFill>
                <a:latin typeface="+mn-ea"/>
              </a:rPr>
              <a:t>复用</a:t>
            </a:r>
          </a:p>
          <a:p>
            <a:r>
              <a:rPr lang="en-US" altLang="zh-CN" dirty="0">
                <a:latin typeface="+mn-ea"/>
              </a:rPr>
              <a:t>NC       (73)        </a:t>
            </a:r>
            <a:r>
              <a:rPr lang="en-US" altLang="zh-CN" b="1" dirty="0">
                <a:solidFill>
                  <a:srgbClr val="180D5B"/>
                </a:solidFill>
                <a:latin typeface="+mn-ea"/>
              </a:rPr>
              <a:t>1pin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D8AFC1E-7E75-45F9-90A2-A8C7E363EDFD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02159" y="1586886"/>
            <a:ext cx="4998180" cy="4486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34162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02627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2578" y="3167390"/>
            <a:ext cx="4423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42E6E0"/>
                </a:solidFill>
              </a:rPr>
              <a:t>STM32F10x</a:t>
            </a:r>
            <a:r>
              <a:rPr lang="zh-CN" altLang="en-US" sz="2800" b="1" dirty="0">
                <a:solidFill>
                  <a:srgbClr val="42E6E0"/>
                </a:solidFill>
              </a:rPr>
              <a:t>最小系统组成</a:t>
            </a:r>
            <a:endParaRPr lang="en-US" altLang="zh-CN" sz="2800" b="1" dirty="0">
              <a:solidFill>
                <a:srgbClr val="42E6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006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STM32F10×</a:t>
            </a:r>
            <a:r>
              <a:rPr lang="zh-CN" altLang="en-US" sz="2800" b="1" dirty="0">
                <a:cs typeface="+mn-ea"/>
                <a:sym typeface="+mn-lt"/>
              </a:rPr>
              <a:t>最小系统组成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006206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最小系统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8" name="组合 20"/>
          <p:cNvGrpSpPr>
            <a:grpSpLocks/>
          </p:cNvGrpSpPr>
          <p:nvPr/>
        </p:nvGrpSpPr>
        <p:grpSpPr bwMode="auto">
          <a:xfrm>
            <a:off x="2640013" y="3463456"/>
            <a:ext cx="6911975" cy="2486025"/>
            <a:chOff x="1385863" y="4440783"/>
            <a:chExt cx="6912768" cy="2485579"/>
          </a:xfrm>
          <a:solidFill>
            <a:schemeClr val="bg1">
              <a:lumMod val="8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6336256" y="5224867"/>
              <a:ext cx="1962375" cy="1630070"/>
            </a:xfrm>
            <a:prstGeom prst="rect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0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385863" y="5621671"/>
              <a:ext cx="1844887" cy="1304691"/>
            </a:xfrm>
            <a:prstGeom prst="rect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0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9" name="Rectangle 4"/>
            <p:cNvSpPr>
              <a:spLocks noChangeArrowheads="1"/>
            </p:cNvSpPr>
            <p:nvPr/>
          </p:nvSpPr>
          <p:spPr bwMode="auto">
            <a:xfrm>
              <a:off x="3635896" y="4486821"/>
              <a:ext cx="2295525" cy="224948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宋体" pitchFamily="2" charset="-122"/>
                </a:rPr>
                <a:t>Cortex-M3</a:t>
              </a:r>
            </a:p>
            <a:p>
              <a:pPr algn="ctr"/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宋体" pitchFamily="2" charset="-122"/>
              </a:endParaRPr>
            </a:p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宋体" pitchFamily="2" charset="-122"/>
                </a:rPr>
                <a:t>MPU</a:t>
              </a:r>
            </a:p>
          </p:txBody>
        </p:sp>
        <p:sp>
          <p:nvSpPr>
            <p:cNvPr id="30" name="AutoShape 5"/>
            <p:cNvSpPr>
              <a:spLocks noChangeArrowheads="1"/>
            </p:cNvSpPr>
            <p:nvPr/>
          </p:nvSpPr>
          <p:spPr bwMode="auto">
            <a:xfrm>
              <a:off x="5931421" y="5486202"/>
              <a:ext cx="809625" cy="269875"/>
            </a:xfrm>
            <a:prstGeom prst="leftRightArrow">
              <a:avLst>
                <a:gd name="adj1" fmla="val 50000"/>
                <a:gd name="adj2" fmla="val 6000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31" name="AutoShape 6"/>
            <p:cNvSpPr>
              <a:spLocks noChangeArrowheads="1"/>
            </p:cNvSpPr>
            <p:nvPr/>
          </p:nvSpPr>
          <p:spPr bwMode="auto">
            <a:xfrm>
              <a:off x="5931421" y="6307113"/>
              <a:ext cx="809625" cy="269875"/>
            </a:xfrm>
            <a:prstGeom prst="leftRightArrow">
              <a:avLst>
                <a:gd name="adj1" fmla="val 50000"/>
                <a:gd name="adj2" fmla="val 6000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32" name="AutoShape 7"/>
            <p:cNvSpPr>
              <a:spLocks noChangeArrowheads="1"/>
            </p:cNvSpPr>
            <p:nvPr/>
          </p:nvSpPr>
          <p:spPr bwMode="auto">
            <a:xfrm>
              <a:off x="2826271" y="6421983"/>
              <a:ext cx="809625" cy="269875"/>
            </a:xfrm>
            <a:prstGeom prst="leftRightArrow">
              <a:avLst>
                <a:gd name="adj1" fmla="val 50000"/>
                <a:gd name="adj2" fmla="val 6000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33" name="AutoShape 8"/>
            <p:cNvSpPr>
              <a:spLocks noChangeArrowheads="1"/>
            </p:cNvSpPr>
            <p:nvPr/>
          </p:nvSpPr>
          <p:spPr bwMode="auto">
            <a:xfrm>
              <a:off x="2826271" y="5791746"/>
              <a:ext cx="809625" cy="269875"/>
            </a:xfrm>
            <a:prstGeom prst="leftRightArrow">
              <a:avLst>
                <a:gd name="adj1" fmla="val 50000"/>
                <a:gd name="adj2" fmla="val 6000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34" name="AutoShape 9"/>
            <p:cNvSpPr>
              <a:spLocks noChangeArrowheads="1"/>
            </p:cNvSpPr>
            <p:nvPr/>
          </p:nvSpPr>
          <p:spPr bwMode="auto">
            <a:xfrm>
              <a:off x="2826271" y="5161508"/>
              <a:ext cx="809625" cy="269875"/>
            </a:xfrm>
            <a:prstGeom prst="leftRightArrow">
              <a:avLst>
                <a:gd name="adj1" fmla="val 50000"/>
                <a:gd name="adj2" fmla="val 6000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35" name="AutoShape 10"/>
            <p:cNvSpPr>
              <a:spLocks noChangeArrowheads="1"/>
            </p:cNvSpPr>
            <p:nvPr/>
          </p:nvSpPr>
          <p:spPr bwMode="auto">
            <a:xfrm>
              <a:off x="2826271" y="4531271"/>
              <a:ext cx="809625" cy="269875"/>
            </a:xfrm>
            <a:prstGeom prst="leftRightArrow">
              <a:avLst>
                <a:gd name="adj1" fmla="val 50000"/>
                <a:gd name="adj2" fmla="val 6000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36" name="Rectangle 11"/>
            <p:cNvSpPr>
              <a:spLocks noChangeArrowheads="1"/>
            </p:cNvSpPr>
            <p:nvPr/>
          </p:nvSpPr>
          <p:spPr bwMode="auto">
            <a:xfrm>
              <a:off x="6741046" y="5342186"/>
              <a:ext cx="1125537" cy="5842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宋体" pitchFamily="2" charset="-122"/>
                </a:rPr>
                <a:t>Flash</a:t>
              </a:r>
            </a:p>
          </p:txBody>
        </p:sp>
        <p:sp>
          <p:nvSpPr>
            <p:cNvPr id="37" name="Rectangle 12"/>
            <p:cNvSpPr>
              <a:spLocks noChangeArrowheads="1"/>
            </p:cNvSpPr>
            <p:nvPr/>
          </p:nvSpPr>
          <p:spPr bwMode="auto">
            <a:xfrm>
              <a:off x="6741046" y="6126138"/>
              <a:ext cx="1125537" cy="5842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宋体" pitchFamily="2" charset="-122"/>
                </a:rPr>
                <a:t>SRAM</a:t>
              </a:r>
            </a:p>
          </p:txBody>
        </p:sp>
        <p:sp>
          <p:nvSpPr>
            <p:cNvPr id="38" name="Rectangle 13"/>
            <p:cNvSpPr>
              <a:spLocks noChangeArrowheads="1"/>
            </p:cNvSpPr>
            <p:nvPr/>
          </p:nvSpPr>
          <p:spPr bwMode="auto">
            <a:xfrm>
              <a:off x="1700733" y="4440783"/>
              <a:ext cx="1125538" cy="45085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宋体" pitchFamily="2" charset="-122"/>
                </a:rPr>
                <a:t>Clock</a:t>
              </a:r>
            </a:p>
          </p:txBody>
        </p:sp>
        <p:sp>
          <p:nvSpPr>
            <p:cNvPr id="39" name="Rectangle 14"/>
            <p:cNvSpPr>
              <a:spLocks noChangeArrowheads="1"/>
            </p:cNvSpPr>
            <p:nvPr/>
          </p:nvSpPr>
          <p:spPr bwMode="auto">
            <a:xfrm>
              <a:off x="1700733" y="5071021"/>
              <a:ext cx="1125538" cy="45085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宋体" pitchFamily="2" charset="-122"/>
                </a:rPr>
                <a:t>Reset</a:t>
              </a:r>
            </a:p>
          </p:txBody>
        </p:sp>
        <p:sp>
          <p:nvSpPr>
            <p:cNvPr id="40" name="Rectangle 15"/>
            <p:cNvSpPr>
              <a:spLocks noChangeArrowheads="1"/>
            </p:cNvSpPr>
            <p:nvPr/>
          </p:nvSpPr>
          <p:spPr bwMode="auto">
            <a:xfrm>
              <a:off x="1700733" y="5701258"/>
              <a:ext cx="1125538" cy="45085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宋体" pitchFamily="2" charset="-122"/>
                </a:rPr>
                <a:t>JTAG</a:t>
              </a:r>
            </a:p>
          </p:txBody>
        </p:sp>
        <p:sp>
          <p:nvSpPr>
            <p:cNvPr id="41" name="Rectangle 16"/>
            <p:cNvSpPr>
              <a:spLocks noChangeArrowheads="1"/>
            </p:cNvSpPr>
            <p:nvPr/>
          </p:nvSpPr>
          <p:spPr bwMode="auto">
            <a:xfrm>
              <a:off x="1700732" y="6314014"/>
              <a:ext cx="1125538" cy="45085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宋体" pitchFamily="2" charset="-122"/>
                </a:rPr>
                <a:t>UART</a:t>
              </a:r>
            </a:p>
          </p:txBody>
        </p:sp>
        <p:sp>
          <p:nvSpPr>
            <p:cNvPr id="42" name="AutoShape 5"/>
            <p:cNvSpPr>
              <a:spLocks noChangeArrowheads="1"/>
            </p:cNvSpPr>
            <p:nvPr/>
          </p:nvSpPr>
          <p:spPr bwMode="auto">
            <a:xfrm>
              <a:off x="5931421" y="4694114"/>
              <a:ext cx="809625" cy="269875"/>
            </a:xfrm>
            <a:prstGeom prst="leftRightArrow">
              <a:avLst>
                <a:gd name="adj1" fmla="val 50000"/>
                <a:gd name="adj2" fmla="val 6000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43" name="Rectangle 11"/>
            <p:cNvSpPr>
              <a:spLocks noChangeArrowheads="1"/>
            </p:cNvSpPr>
            <p:nvPr/>
          </p:nvSpPr>
          <p:spPr bwMode="auto">
            <a:xfrm>
              <a:off x="6741046" y="4550098"/>
              <a:ext cx="1125537" cy="5842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宋体" pitchFamily="2" charset="-122"/>
                </a:rPr>
                <a:t>Power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1691055" y="1881401"/>
            <a:ext cx="880989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/>
              <a:t>在尽可能减少上层应用的情况下，能够使系统运行的最小化模块配置。</a:t>
            </a:r>
          </a:p>
          <a:p>
            <a:pPr>
              <a:lnSpc>
                <a:spcPct val="200000"/>
              </a:lnSpc>
            </a:pPr>
            <a:r>
              <a:rPr lang="zh-CN" altLang="en-US" sz="2000" dirty="0"/>
              <a:t>最小系统的组成： ①电源 ②时钟 ③复位电路 ④存储系统 ⑤调试系统。</a:t>
            </a:r>
          </a:p>
        </p:txBody>
      </p:sp>
    </p:spTree>
    <p:extLst>
      <p:ext uri="{BB962C8B-B14F-4D97-AF65-F5344CB8AC3E}">
        <p14:creationId xmlns:p14="http://schemas.microsoft.com/office/powerpoint/2010/main" val="2401977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STM32F10×</a:t>
            </a:r>
            <a:r>
              <a:rPr lang="zh-CN" altLang="en-US" sz="2800" b="1" dirty="0">
                <a:cs typeface="+mn-ea"/>
                <a:sym typeface="+mn-lt"/>
              </a:rPr>
              <a:t>最小系统组成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006206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最小系统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内容占位符 2"/>
          <p:cNvSpPr txBox="1">
            <a:spLocks/>
          </p:cNvSpPr>
          <p:nvPr/>
        </p:nvSpPr>
        <p:spPr>
          <a:xfrm>
            <a:off x="690503" y="1712301"/>
            <a:ext cx="10810995" cy="4724400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spcBef>
                <a:spcPct val="0"/>
              </a:spcBef>
              <a:buNone/>
            </a:pPr>
            <a:r>
              <a:rPr lang="zh-CN" altLang="en-US" sz="2000" dirty="0">
                <a:hlinkClick r:id="rId2" action="ppaction://hlinksldjump"/>
              </a:rPr>
              <a:t>电源系统</a:t>
            </a:r>
            <a:r>
              <a:rPr lang="en-US" altLang="zh-CN" sz="2000" dirty="0"/>
              <a:t>:</a:t>
            </a:r>
            <a:r>
              <a:rPr lang="zh-CN" altLang="en-US" sz="2000" dirty="0"/>
              <a:t>为芯片工作提供多种所需的电源。</a:t>
            </a:r>
            <a:endParaRPr lang="en-US" altLang="zh-CN" sz="2000" dirty="0"/>
          </a:p>
          <a:p>
            <a:pPr marL="355600" indent="-355600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000" dirty="0"/>
          </a:p>
          <a:p>
            <a:pPr marL="355600" indent="-35560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hlinkClick r:id="rId3" action="ppaction://hlinksldjump"/>
              </a:rPr>
              <a:t>时钟模块</a:t>
            </a:r>
            <a:r>
              <a:rPr lang="en-US" altLang="zh-CN" sz="2000" dirty="0"/>
              <a:t>:</a:t>
            </a:r>
            <a:r>
              <a:rPr lang="zh-CN" altLang="en-US" sz="2000" dirty="0"/>
              <a:t>通常经</a:t>
            </a:r>
            <a:r>
              <a:rPr lang="en-US" altLang="zh-CN" sz="2000" dirty="0"/>
              <a:t>ARM</a:t>
            </a:r>
            <a:r>
              <a:rPr lang="zh-CN" altLang="en-US" sz="2000" dirty="0"/>
              <a:t>内部锁相环进行相应的倍频，以提供系统各模块运行所需的时钟频率输入。</a:t>
            </a:r>
            <a:endParaRPr lang="en-US" altLang="zh-CN" sz="2000" dirty="0"/>
          </a:p>
          <a:p>
            <a:pPr marL="355600" indent="-355600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000" dirty="0"/>
          </a:p>
          <a:p>
            <a:pPr marL="355600" indent="-35560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hlinkClick r:id="rId4" action="ppaction://hlinksldjump"/>
              </a:rPr>
              <a:t>复位模块</a:t>
            </a:r>
            <a:r>
              <a:rPr lang="en-US" altLang="zh-CN" sz="2000" dirty="0"/>
              <a:t>:</a:t>
            </a:r>
            <a:r>
              <a:rPr lang="zh-CN" altLang="en-US" sz="2000" dirty="0"/>
              <a:t>实现对系统的复位。</a:t>
            </a:r>
            <a:endParaRPr lang="en-US" altLang="zh-CN" sz="2000" dirty="0"/>
          </a:p>
          <a:p>
            <a:pPr marL="355600" indent="-355600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000" dirty="0"/>
          </a:p>
          <a:p>
            <a:pPr marL="355600" indent="-355600">
              <a:spcBef>
                <a:spcPct val="0"/>
              </a:spcBef>
              <a:buNone/>
            </a:pPr>
            <a:r>
              <a:rPr lang="zh-CN" altLang="en-US" sz="2000" dirty="0"/>
              <a:t>存储系统：</a:t>
            </a:r>
            <a:endParaRPr lang="en-US" altLang="zh-CN" sz="2000" dirty="0"/>
          </a:p>
          <a:p>
            <a:pPr marL="755650" lvl="1" indent="-355600">
              <a:spcBef>
                <a:spcPct val="0"/>
              </a:spcBef>
              <a:buNone/>
            </a:pPr>
            <a:r>
              <a:rPr lang="en-US" altLang="zh-CN" sz="2000" dirty="0"/>
              <a:t>          Flash</a:t>
            </a:r>
            <a:r>
              <a:rPr lang="zh-CN" altLang="en-US" sz="2000" dirty="0"/>
              <a:t>存储模块</a:t>
            </a:r>
            <a:r>
              <a:rPr lang="en-US" altLang="zh-CN" sz="2000" dirty="0"/>
              <a:t>——</a:t>
            </a:r>
            <a:r>
              <a:rPr lang="zh-CN" altLang="en-US" sz="2000" dirty="0"/>
              <a:t>存放启动代码、操作系统和用户应用程序代码。</a:t>
            </a:r>
            <a:endParaRPr lang="en-US" altLang="zh-CN" sz="2000" dirty="0"/>
          </a:p>
          <a:p>
            <a:pPr marL="755650" lvl="1" indent="-355600">
              <a:spcBef>
                <a:spcPct val="0"/>
              </a:spcBef>
              <a:buNone/>
            </a:pPr>
            <a:r>
              <a:rPr lang="en-US" altLang="zh-CN" sz="2000" dirty="0"/>
              <a:t>          SRAM</a:t>
            </a:r>
            <a:r>
              <a:rPr lang="zh-CN" altLang="en-US" sz="2000" dirty="0"/>
              <a:t>模块</a:t>
            </a:r>
            <a:r>
              <a:rPr lang="en-US" altLang="zh-CN" sz="2000" dirty="0"/>
              <a:t>——</a:t>
            </a:r>
            <a:r>
              <a:rPr lang="zh-CN" altLang="en-US" sz="2000" dirty="0"/>
              <a:t>为系统运行提供动态存储空间，是系统代码运行的主要区域。</a:t>
            </a:r>
            <a:endParaRPr lang="en-US" altLang="zh-CN" sz="2000" dirty="0"/>
          </a:p>
          <a:p>
            <a:pPr marL="355600" indent="-355600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2000" dirty="0"/>
          </a:p>
          <a:p>
            <a:pPr marL="355600" indent="-35560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hlinkClick r:id="rId5" action="ppaction://hlinksldjump"/>
              </a:rPr>
              <a:t>调试系统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marL="755650" lvl="1" indent="-35560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dirty="0"/>
              <a:t>          JTAG</a:t>
            </a:r>
            <a:r>
              <a:rPr lang="zh-CN" altLang="en-US" sz="2000" dirty="0"/>
              <a:t>模块</a:t>
            </a:r>
            <a:r>
              <a:rPr lang="en-US" altLang="zh-CN" sz="2000" dirty="0"/>
              <a:t>——</a:t>
            </a:r>
            <a:r>
              <a:rPr lang="zh-CN" altLang="en-US" sz="2000" dirty="0"/>
              <a:t>实现对程序代码的下载和调试。</a:t>
            </a:r>
            <a:endParaRPr lang="en-US" altLang="zh-CN" sz="2000" dirty="0"/>
          </a:p>
          <a:p>
            <a:pPr marL="755650" lvl="1" indent="-35560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dirty="0"/>
              <a:t>          UART</a:t>
            </a:r>
            <a:r>
              <a:rPr lang="zh-CN" altLang="en-US" sz="2000" dirty="0"/>
              <a:t>模块</a:t>
            </a:r>
            <a:r>
              <a:rPr lang="en-US" altLang="zh-CN" sz="2000" dirty="0"/>
              <a:t>——</a:t>
            </a:r>
            <a:r>
              <a:rPr lang="zh-CN" altLang="en-US" sz="2000" dirty="0"/>
              <a:t>实现对调试信息的终端显示。</a:t>
            </a:r>
            <a:endParaRPr lang="en-US" altLang="zh-CN" sz="2000" dirty="0"/>
          </a:p>
          <a:p>
            <a:pPr marL="355600" indent="-355600">
              <a:spcBef>
                <a:spcPct val="0"/>
              </a:spcBef>
            </a:pPr>
            <a:endParaRPr lang="en-US" altLang="zh-CN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7650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-17165" y="570351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最小系统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999068" y="0"/>
            <a:ext cx="9642190" cy="6857999"/>
            <a:chOff x="1181100" y="1114425"/>
            <a:chExt cx="7641213" cy="5614989"/>
          </a:xfrm>
        </p:grpSpPr>
        <p:grpSp>
          <p:nvGrpSpPr>
            <p:cNvPr id="25" name="组合 8"/>
            <p:cNvGrpSpPr>
              <a:grpSpLocks/>
            </p:cNvGrpSpPr>
            <p:nvPr/>
          </p:nvGrpSpPr>
          <p:grpSpPr bwMode="auto">
            <a:xfrm>
              <a:off x="1181100" y="1114425"/>
              <a:ext cx="7641213" cy="5614989"/>
              <a:chOff x="7939" y="14685"/>
              <a:chExt cx="9127269" cy="6870701"/>
            </a:xfrm>
          </p:grpSpPr>
          <p:pic>
            <p:nvPicPr>
              <p:cNvPr id="27" name="Picture 2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6460270" y="30560"/>
                <a:ext cx="2674938" cy="6854826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</p:pic>
          <p:pic>
            <p:nvPicPr>
              <p:cNvPr id="44" name="Picture 3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947989" y="14685"/>
                <a:ext cx="3521076" cy="687070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</p:pic>
          <p:pic>
            <p:nvPicPr>
              <p:cNvPr id="45" name="Picture 4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7939" y="19802"/>
                <a:ext cx="2943225" cy="6854826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</p:pic>
        </p:grpSp>
        <p:sp>
          <p:nvSpPr>
            <p:cNvPr id="26" name="TextBox 4"/>
            <p:cNvSpPr txBox="1">
              <a:spLocks noChangeArrowheads="1"/>
            </p:cNvSpPr>
            <p:nvPr/>
          </p:nvSpPr>
          <p:spPr bwMode="auto">
            <a:xfrm>
              <a:off x="5017660" y="6350000"/>
              <a:ext cx="3729547" cy="3282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en-US" altLang="zh-CN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基于</a:t>
              </a:r>
              <a:r>
                <a:rPr lang="en-US" altLang="zh-CN" b="1" dirty="0">
                  <a:solidFill>
                    <a:srgbClr val="000000"/>
                  </a:solidFill>
                  <a:latin typeface="Calibri" pitchFamily="34" charset="0"/>
                  <a:cs typeface="Times New Roman" pitchFamily="18" charset="0"/>
                </a:rPr>
                <a:t>Cortex-M3</a:t>
              </a:r>
              <a:r>
                <a:rPr lang="en-US" altLang="zh-CN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的</a:t>
              </a:r>
              <a:r>
                <a:rPr lang="en-US" altLang="zh-CN" b="1" dirty="0">
                  <a:solidFill>
                    <a:srgbClr val="000000"/>
                  </a:solidFill>
                  <a:latin typeface="Calibri" pitchFamily="34" charset="0"/>
                  <a:cs typeface="Times New Roman" pitchFamily="18" charset="0"/>
                </a:rPr>
                <a:t>STM32F10x</a:t>
              </a:r>
              <a:r>
                <a:rPr lang="en-US" altLang="zh-CN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最小系统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1336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STM32F10×</a:t>
            </a:r>
            <a:r>
              <a:rPr lang="zh-CN" altLang="en-US" sz="2800" b="1" dirty="0">
                <a:cs typeface="+mn-ea"/>
                <a:sym typeface="+mn-lt"/>
              </a:rPr>
              <a:t>最小系统组成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006206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启动模式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6CCE4DFF-6BCB-41B3-A2EE-2F44E7E01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658509"/>
              </p:ext>
            </p:extLst>
          </p:nvPr>
        </p:nvGraphicFramePr>
        <p:xfrm>
          <a:off x="2032001" y="2425701"/>
          <a:ext cx="8127999" cy="2016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78948">
                  <a:extLst>
                    <a:ext uri="{9D8B030D-6E8A-4147-A177-3AD203B41FA5}">
                      <a16:colId xmlns:a16="http://schemas.microsoft.com/office/drawing/2014/main" val="137847186"/>
                    </a:ext>
                  </a:extLst>
                </a:gridCol>
                <a:gridCol w="924339">
                  <a:extLst>
                    <a:ext uri="{9D8B030D-6E8A-4147-A177-3AD203B41FA5}">
                      <a16:colId xmlns:a16="http://schemas.microsoft.com/office/drawing/2014/main" val="1282665477"/>
                    </a:ext>
                  </a:extLst>
                </a:gridCol>
                <a:gridCol w="6124712">
                  <a:extLst>
                    <a:ext uri="{9D8B030D-6E8A-4147-A177-3AD203B41FA5}">
                      <a16:colId xmlns:a16="http://schemas.microsoft.com/office/drawing/2014/main" val="39713036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i="0" dirty="0">
                          <a:solidFill>
                            <a:schemeClr val="tx1"/>
                          </a:solidFill>
                        </a:rPr>
                        <a:t>Boot1</a:t>
                      </a:r>
                      <a:endParaRPr lang="zh-CN" altLang="en-US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Boot0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启动方式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992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b="0" dirty="0"/>
                        <a:t>x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/>
                        <a:t>0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effectLst/>
                        </a:rPr>
                        <a:t>从用户闪存（</a:t>
                      </a:r>
                      <a:r>
                        <a:rPr lang="en-US" altLang="zh-CN" sz="1800" kern="1200" dirty="0">
                          <a:effectLst/>
                        </a:rPr>
                        <a:t>flash</a:t>
                      </a:r>
                      <a:r>
                        <a:rPr lang="zh-CN" altLang="en-US" sz="1800" kern="1200" dirty="0">
                          <a:effectLst/>
                        </a:rPr>
                        <a:t>）启动，这是正常模式  </a:t>
                      </a:r>
                      <a:endParaRPr lang="en-US" altLang="zh-CN" sz="1800" kern="1200" dirty="0">
                        <a:effectLst/>
                      </a:endParaRPr>
                    </a:p>
                    <a:p>
                      <a:pPr algn="ctr"/>
                      <a:r>
                        <a:rPr lang="zh-CN" altLang="en-US" sz="1800" kern="1200" dirty="0">
                          <a:effectLst/>
                        </a:rPr>
                        <a:t>较多情况下使用这种模式</a:t>
                      </a:r>
                      <a:r>
                        <a:rPr lang="en-US" altLang="zh-CN" sz="1800" kern="1200" dirty="0">
                          <a:effectLst/>
                        </a:rPr>
                        <a:t>0x08000000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027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/>
                        <a:t>0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/>
                        <a:t>1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effectLst/>
                        </a:rPr>
                        <a:t>从系统存储器启动，厂家设置了</a:t>
                      </a:r>
                      <a:r>
                        <a:rPr lang="en-US" altLang="zh-CN" sz="1800" kern="1200" dirty="0">
                          <a:effectLst/>
                        </a:rPr>
                        <a:t>bootloader</a:t>
                      </a:r>
                      <a:r>
                        <a:rPr lang="zh-CN" altLang="en-US" sz="1800" kern="1200" dirty="0">
                          <a:effectLst/>
                        </a:rPr>
                        <a:t>程序，即</a:t>
                      </a:r>
                      <a:r>
                        <a:rPr lang="en-US" altLang="zh-CN" sz="1800" kern="1200" dirty="0">
                          <a:effectLst/>
                        </a:rPr>
                        <a:t>ISP</a:t>
                      </a:r>
                      <a:r>
                        <a:rPr lang="zh-CN" altLang="en-US" sz="1800" kern="1200" dirty="0">
                          <a:effectLst/>
                        </a:rPr>
                        <a:t>，可用于从串口下载程序 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0x1FFF F000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88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从</a:t>
                      </a:r>
                      <a:r>
                        <a:rPr lang="en-US" altLang="zh-CN" dirty="0"/>
                        <a:t>SRAM</a:t>
                      </a:r>
                      <a:r>
                        <a:rPr lang="zh-CN" altLang="en-US" dirty="0"/>
                        <a:t>启动，多用于调试</a:t>
                      </a:r>
                      <a:r>
                        <a:rPr lang="en-US" altLang="zh-CN" dirty="0"/>
                        <a:t>0x20000000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150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960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339" y="1922142"/>
            <a:ext cx="5725324" cy="379147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STM32F10×</a:t>
            </a:r>
            <a:r>
              <a:rPr lang="zh-CN" altLang="en-US" sz="2800" b="1" dirty="0">
                <a:cs typeface="+mn-ea"/>
                <a:sym typeface="+mn-lt"/>
              </a:rPr>
              <a:t>最小系统组成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006206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启动模式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>
            <a:hlinkClick r:id="rId3" action="ppaction://hlinksldjump"/>
          </p:cNvPr>
          <p:cNvSpPr txBox="1"/>
          <p:nvPr/>
        </p:nvSpPr>
        <p:spPr>
          <a:xfrm>
            <a:off x="8958663" y="5921671"/>
            <a:ext cx="2715768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本节结束</a:t>
            </a:r>
            <a:r>
              <a:rPr lang="zh-CN" altLang="en-US" b="1" dirty="0">
                <a:hlinkClick r:id="rId3" action="ppaction://hlinksldjump"/>
              </a:rPr>
              <a:t>，</a:t>
            </a:r>
            <a:r>
              <a:rPr lang="zh-CN" altLang="en-US" b="1" dirty="0"/>
              <a:t>跳到下一节</a:t>
            </a:r>
          </a:p>
        </p:txBody>
      </p:sp>
    </p:spTree>
    <p:extLst>
      <p:ext uri="{BB962C8B-B14F-4D97-AF65-F5344CB8AC3E}">
        <p14:creationId xmlns:p14="http://schemas.microsoft.com/office/powerpoint/2010/main" val="1148669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STM32F10×</a:t>
            </a:r>
            <a:r>
              <a:rPr lang="zh-CN" altLang="en-US" sz="2800" b="1" dirty="0">
                <a:cs typeface="+mn-ea"/>
                <a:sym typeface="+mn-lt"/>
              </a:rPr>
              <a:t>最小系统组成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006206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电源系统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动作按钮: 后退或前一项 6">
            <a:hlinkClick r:id="" action="ppaction://hlinkshowjump?jump=lastslideviewed" highlightClick="1"/>
          </p:cNvPr>
          <p:cNvSpPr/>
          <p:nvPr/>
        </p:nvSpPr>
        <p:spPr>
          <a:xfrm>
            <a:off x="11094721" y="5774108"/>
            <a:ext cx="1042416" cy="1042416"/>
          </a:xfrm>
          <a:prstGeom prst="actionButtonBackPrevio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972" y="1267816"/>
            <a:ext cx="5746058" cy="530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04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STM32F10×</a:t>
            </a:r>
            <a:r>
              <a:rPr lang="zh-CN" altLang="en-US" sz="2800" b="1" dirty="0">
                <a:cs typeface="+mn-ea"/>
                <a:sym typeface="+mn-lt"/>
              </a:rPr>
              <a:t>最小系统组成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006206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时钟系统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140" y="1529426"/>
            <a:ext cx="5561721" cy="5049359"/>
          </a:xfrm>
          <a:prstGeom prst="rect">
            <a:avLst/>
          </a:prstGeom>
        </p:spPr>
      </p:pic>
      <p:sp>
        <p:nvSpPr>
          <p:cNvPr id="7" name="动作按钮: 后退或前一项 6">
            <a:hlinkClick r:id="" action="ppaction://hlinkshowjump?jump=lastslideviewed" highlightClick="1"/>
          </p:cNvPr>
          <p:cNvSpPr/>
          <p:nvPr/>
        </p:nvSpPr>
        <p:spPr>
          <a:xfrm>
            <a:off x="11094721" y="5774108"/>
            <a:ext cx="1042416" cy="1042416"/>
          </a:xfrm>
          <a:prstGeom prst="actionButtonBackPrevio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27797" y="2660266"/>
            <a:ext cx="2399182" cy="1230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/>
              <a:t>LSE</a:t>
            </a:r>
            <a:r>
              <a:rPr lang="zh-CN" altLang="en-US" sz="2000" dirty="0"/>
              <a:t> 低速外部时钟</a:t>
            </a:r>
            <a:r>
              <a:rPr lang="en-US" altLang="zh-CN" sz="2000" dirty="0"/>
              <a:t>HSE </a:t>
            </a:r>
            <a:r>
              <a:rPr lang="zh-CN" altLang="en-US" sz="2000" dirty="0"/>
              <a:t>高速外部时钟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71940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STM32F10×</a:t>
            </a:r>
            <a:r>
              <a:rPr lang="zh-CN" altLang="en-US" sz="2800" b="1" dirty="0">
                <a:cs typeface="+mn-ea"/>
                <a:sym typeface="+mn-lt"/>
              </a:rPr>
              <a:t>最小系统组成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006206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复位模块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动作按钮: 后退或前一项 6">
            <a:hlinkClick r:id="" action="ppaction://hlinkshowjump?jump=lastslideviewed" highlightClick="1"/>
          </p:cNvPr>
          <p:cNvSpPr/>
          <p:nvPr/>
        </p:nvSpPr>
        <p:spPr>
          <a:xfrm>
            <a:off x="11094721" y="5774108"/>
            <a:ext cx="1042416" cy="1042416"/>
          </a:xfrm>
          <a:prstGeom prst="actionButtonBackPrevio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338" y="1785005"/>
            <a:ext cx="6811326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41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STM32F10×</a:t>
            </a:r>
            <a:r>
              <a:rPr lang="zh-CN" altLang="en-US" sz="2800" b="1" dirty="0">
                <a:cs typeface="+mn-ea"/>
                <a:sym typeface="+mn-lt"/>
              </a:rPr>
              <a:t>最小系统组成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006206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调试系统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 rotWithShape="1">
          <a:blip r:embed="rId2" cstate="print"/>
          <a:srcRect l="2449" t="6977" r="23603" b="55875"/>
          <a:stretch/>
        </p:blipFill>
        <p:spPr bwMode="auto">
          <a:xfrm>
            <a:off x="4258259" y="1763984"/>
            <a:ext cx="3675483" cy="404303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7" name="动作按钮: 后退或前一项 6">
            <a:hlinkClick r:id="" action="ppaction://hlinkshowjump?jump=lastslideviewed" highlightClick="1"/>
          </p:cNvPr>
          <p:cNvSpPr/>
          <p:nvPr/>
        </p:nvSpPr>
        <p:spPr>
          <a:xfrm>
            <a:off x="11094721" y="5774108"/>
            <a:ext cx="1042416" cy="1042416"/>
          </a:xfrm>
          <a:prstGeom prst="actionButtonBackPrevio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71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02627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2578" y="3167390"/>
            <a:ext cx="4423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42E6E0"/>
                </a:solidFill>
              </a:rPr>
              <a:t>STM32</a:t>
            </a:r>
            <a:r>
              <a:rPr lang="zh-CN" altLang="en-US" sz="2800" b="1" dirty="0">
                <a:solidFill>
                  <a:srgbClr val="42E6E0"/>
                </a:solidFill>
              </a:rPr>
              <a:t>的时钟系统组成</a:t>
            </a:r>
            <a:endParaRPr lang="en-US" altLang="zh-CN" sz="2800" b="1" dirty="0">
              <a:solidFill>
                <a:srgbClr val="42E6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768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</a:t>
            </a:r>
            <a:r>
              <a:rPr lang="zh-CN" altLang="en-US" sz="2800" b="1" dirty="0">
                <a:cs typeface="+mn-ea"/>
                <a:sym typeface="+mn-lt"/>
              </a:rPr>
              <a:t>的时钟系统组成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006206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时钟系统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内容占位符 2"/>
          <p:cNvSpPr txBox="1">
            <a:spLocks/>
          </p:cNvSpPr>
          <p:nvPr/>
        </p:nvSpPr>
        <p:spPr>
          <a:xfrm>
            <a:off x="627797" y="1994761"/>
            <a:ext cx="11127518" cy="3667485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2000" dirty="0"/>
              <a:t>STM32</a:t>
            </a:r>
            <a:r>
              <a:rPr lang="zh-CN" altLang="en-US" sz="2000" dirty="0"/>
              <a:t>的</a:t>
            </a:r>
            <a:r>
              <a:rPr lang="en-US" altLang="zh-CN" sz="2000" dirty="0"/>
              <a:t>4</a:t>
            </a:r>
            <a:r>
              <a:rPr lang="zh-CN" altLang="en-US" sz="2000" dirty="0"/>
              <a:t>个时钟源</a:t>
            </a:r>
            <a:r>
              <a:rPr lang="en-US" altLang="zh-CN" sz="2000" dirty="0"/>
              <a:t>:</a:t>
            </a:r>
            <a:endParaRPr lang="zh-CN" altLang="en-US" sz="2000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000" dirty="0"/>
              <a:t>高速外部时钟（</a:t>
            </a:r>
            <a:r>
              <a:rPr lang="en-US" altLang="zh-CN" sz="2000" dirty="0"/>
              <a:t>HSE</a:t>
            </a:r>
            <a:r>
              <a:rPr lang="zh-CN" altLang="en-US" sz="2000" dirty="0"/>
              <a:t>）：外部晶振时钟源，晶振频率</a:t>
            </a:r>
            <a:r>
              <a:rPr lang="en-US" altLang="zh-CN" sz="2000" dirty="0"/>
              <a:t>4—16MHz</a:t>
            </a:r>
            <a:r>
              <a:rPr lang="zh-CN" altLang="en-US" sz="2000" dirty="0"/>
              <a:t>，一般</a:t>
            </a:r>
            <a:r>
              <a:rPr lang="en-US" altLang="zh-CN" sz="2000" dirty="0"/>
              <a:t>8MHz</a:t>
            </a:r>
            <a:r>
              <a:rPr lang="zh-CN" altLang="en-US" sz="2000" dirty="0"/>
              <a:t>的晶振。 </a:t>
            </a:r>
            <a:endParaRPr lang="en-US" altLang="zh-CN" sz="2000" dirty="0"/>
          </a:p>
          <a:p>
            <a:pPr>
              <a:buFont typeface="Arial" panose="020B0604020202020204" pitchFamily="34" charset="0"/>
              <a:buNone/>
              <a:defRPr/>
            </a:pPr>
            <a:endParaRPr lang="zh-CN" altLang="en-US" sz="2000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000" dirty="0"/>
              <a:t>高速内部时钟（</a:t>
            </a:r>
            <a:r>
              <a:rPr lang="en-US" altLang="zh-CN" sz="2000" dirty="0"/>
              <a:t>HSI</a:t>
            </a:r>
            <a:r>
              <a:rPr lang="zh-CN" altLang="en-US" sz="2000" dirty="0"/>
              <a:t>）：内部</a:t>
            </a:r>
            <a:r>
              <a:rPr lang="en-US" altLang="zh-CN" sz="2000" dirty="0"/>
              <a:t>RC</a:t>
            </a:r>
            <a:r>
              <a:rPr lang="zh-CN" altLang="en-US" sz="2000" dirty="0"/>
              <a:t>振荡器产生，频率为</a:t>
            </a:r>
            <a:r>
              <a:rPr lang="en-US" altLang="zh-CN" sz="2000" dirty="0"/>
              <a:t>8MHz</a:t>
            </a:r>
            <a:r>
              <a:rPr lang="zh-CN" altLang="en-US" sz="2000" dirty="0"/>
              <a:t>，但不稳定。</a:t>
            </a:r>
            <a:endParaRPr lang="en-US" altLang="zh-CN" sz="2000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000" dirty="0"/>
              <a:t> 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000" dirty="0"/>
              <a:t>低速外部时钟（</a:t>
            </a:r>
            <a:r>
              <a:rPr lang="en-US" altLang="zh-CN" sz="2000" dirty="0"/>
              <a:t>LSE</a:t>
            </a:r>
            <a:r>
              <a:rPr lang="zh-CN" altLang="en-US" sz="2000" dirty="0"/>
              <a:t>）：外部晶振作时钟源，主要提供给实时时钟模块，一般采用</a:t>
            </a:r>
            <a:r>
              <a:rPr lang="en-US" altLang="zh-CN" sz="2000" dirty="0"/>
              <a:t>32.768KHz</a:t>
            </a:r>
            <a:r>
              <a:rPr lang="zh-CN" altLang="en-US" sz="2000" dirty="0"/>
              <a:t>。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zh-CN" sz="2000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000" dirty="0"/>
              <a:t>低速内部时钟（</a:t>
            </a:r>
            <a:r>
              <a:rPr lang="en-US" altLang="zh-CN" sz="2000" dirty="0"/>
              <a:t>LSI</a:t>
            </a:r>
            <a:r>
              <a:rPr lang="zh-CN" altLang="en-US" sz="2000" dirty="0"/>
              <a:t>）：内部</a:t>
            </a:r>
            <a:r>
              <a:rPr lang="en-US" altLang="zh-CN" sz="2000" dirty="0"/>
              <a:t>RC</a:t>
            </a:r>
            <a:r>
              <a:rPr lang="zh-CN" altLang="en-US" sz="2000" dirty="0"/>
              <a:t>振荡器产生，也主要提供给实时时钟模块，频率大约为</a:t>
            </a:r>
            <a:r>
              <a:rPr lang="en-US" altLang="zh-CN" sz="2000" dirty="0"/>
              <a:t>40KHz</a:t>
            </a:r>
            <a:r>
              <a:rPr lang="zh-CN" altLang="en-US" sz="2000" dirty="0"/>
              <a:t>。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535227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</a:t>
            </a:r>
            <a:r>
              <a:rPr lang="zh-CN" altLang="en-US" sz="2800" b="1" dirty="0">
                <a:cs typeface="+mn-ea"/>
                <a:sym typeface="+mn-lt"/>
              </a:rPr>
              <a:t>的时钟系统组成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006206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时钟系统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3759" y="1925516"/>
            <a:ext cx="95044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STM32</a:t>
            </a:r>
            <a:r>
              <a:rPr lang="zh-CN" altLang="en-US" sz="2000" dirty="0"/>
              <a:t>芯片为了实现低功耗，设计了一个功能完善但却非常复杂的时钟系统。</a:t>
            </a:r>
          </a:p>
          <a:p>
            <a:endParaRPr lang="zh-CN" altLang="en-US" sz="2000" dirty="0"/>
          </a:p>
          <a:p>
            <a:r>
              <a:rPr lang="zh-CN" altLang="en-US" sz="2000" dirty="0">
                <a:solidFill>
                  <a:srgbClr val="FF0000"/>
                </a:solidFill>
              </a:rPr>
              <a:t>高速时钟</a:t>
            </a:r>
            <a:r>
              <a:rPr lang="zh-CN" altLang="en-US" sz="2000" dirty="0"/>
              <a:t>是提供给芯片主体的主时钟，</a:t>
            </a:r>
            <a:r>
              <a:rPr lang="zh-CN" altLang="en-US" sz="2000" dirty="0">
                <a:solidFill>
                  <a:srgbClr val="FF0000"/>
                </a:solidFill>
              </a:rPr>
              <a:t>低速时钟</a:t>
            </a:r>
            <a:r>
              <a:rPr lang="zh-CN" altLang="en-US" sz="2000" dirty="0"/>
              <a:t>只是提供给芯片中的</a:t>
            </a:r>
            <a:r>
              <a:rPr lang="en-US" altLang="zh-CN" sz="2000" dirty="0"/>
              <a:t>RTC</a:t>
            </a:r>
            <a:r>
              <a:rPr lang="zh-CN" altLang="en-US" sz="2000" dirty="0"/>
              <a:t>（实时时钟）及独立看门狗使用。</a:t>
            </a:r>
            <a:endParaRPr lang="en-US" altLang="zh-CN" sz="2000" dirty="0"/>
          </a:p>
          <a:p>
            <a:endParaRPr lang="zh-CN" altLang="en-US" sz="2000" dirty="0"/>
          </a:p>
          <a:p>
            <a:r>
              <a:rPr lang="zh-CN" altLang="en-US" sz="2000" dirty="0">
                <a:solidFill>
                  <a:srgbClr val="FF0000"/>
                </a:solidFill>
              </a:rPr>
              <a:t>内部时钟</a:t>
            </a:r>
            <a:r>
              <a:rPr lang="zh-CN" altLang="en-US" sz="2000" dirty="0"/>
              <a:t>是在芯片内部</a:t>
            </a:r>
            <a:r>
              <a:rPr lang="en-US" altLang="zh-CN" sz="2000" dirty="0"/>
              <a:t>RC</a:t>
            </a:r>
            <a:r>
              <a:rPr lang="zh-CN" altLang="en-US" sz="2000" dirty="0"/>
              <a:t>振荡器产生的，起振较快，芯片刚上电的时候使用内部高速时钟（</a:t>
            </a:r>
            <a:r>
              <a:rPr lang="en-US" altLang="zh-CN" sz="2000" dirty="0"/>
              <a:t>HSI</a:t>
            </a:r>
            <a:r>
              <a:rPr lang="zh-CN" altLang="en-US" sz="2000" dirty="0"/>
              <a:t>）。</a:t>
            </a:r>
            <a:endParaRPr lang="en-US" altLang="zh-CN" sz="2000" dirty="0"/>
          </a:p>
          <a:p>
            <a:endParaRPr lang="zh-CN" altLang="en-US" sz="2000" dirty="0"/>
          </a:p>
          <a:p>
            <a:r>
              <a:rPr lang="zh-CN" altLang="en-US" sz="2000" dirty="0">
                <a:solidFill>
                  <a:srgbClr val="FF0000"/>
                </a:solidFill>
              </a:rPr>
              <a:t>外部时钟</a:t>
            </a:r>
            <a:r>
              <a:rPr lang="zh-CN" altLang="en-US" sz="2000" dirty="0"/>
              <a:t>信号是由外部的晶振输入的，精度和稳定性好，上电之后通过软件配置再转用外部时钟信号。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下图说明了</a:t>
            </a:r>
            <a:r>
              <a:rPr lang="en-US" altLang="zh-CN" sz="2000" dirty="0"/>
              <a:t>STM32</a:t>
            </a:r>
            <a:r>
              <a:rPr lang="zh-CN" altLang="en-US" sz="2000" dirty="0"/>
              <a:t>的时钟走向，从图的左边开始，从时钟源一步步分配到外设时钟。</a:t>
            </a:r>
          </a:p>
        </p:txBody>
      </p:sp>
    </p:spTree>
    <p:extLst>
      <p:ext uri="{BB962C8B-B14F-4D97-AF65-F5344CB8AC3E}">
        <p14:creationId xmlns:p14="http://schemas.microsoft.com/office/powerpoint/2010/main" val="1658190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-53274" y="608915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STM32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时钟树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691" y="-19880"/>
            <a:ext cx="6768840" cy="687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709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</a:t>
            </a:r>
            <a:r>
              <a:rPr lang="zh-CN" altLang="en-US" sz="2800" b="1" dirty="0">
                <a:cs typeface="+mn-ea"/>
                <a:sym typeface="+mn-lt"/>
              </a:rPr>
              <a:t>的时钟系统组成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056655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问题与思考</a:t>
            </a:r>
            <a:endParaRPr lang="en-US" altLang="zh-CN" sz="28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ADD8F0-B6E9-4410-9796-C2BA8C01330C}"/>
              </a:ext>
            </a:extLst>
          </p:cNvPr>
          <p:cNvSpPr/>
          <p:nvPr/>
        </p:nvSpPr>
        <p:spPr>
          <a:xfrm>
            <a:off x="1653309" y="1776029"/>
            <a:ext cx="735214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低速外部时钟（</a:t>
            </a: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LSE</a:t>
            </a:r>
            <a:r>
              <a:rPr lang="zh-CN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）可以作为</a:t>
            </a: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RTC</a:t>
            </a:r>
            <a:r>
              <a:rPr lang="zh-CN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及独立看门狗时钟 </a:t>
            </a: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</a:t>
            </a:r>
          </a:p>
          <a:p>
            <a:pPr algn="just">
              <a:spcAft>
                <a:spcPts val="0"/>
              </a:spcAft>
            </a:pP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HCLK</a:t>
            </a:r>
            <a:r>
              <a:rPr lang="zh-CN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72MHz</a:t>
            </a:r>
            <a:r>
              <a:rPr lang="zh-CN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，则定时器</a:t>
            </a: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的时钟必为</a:t>
            </a: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72MHz       </a:t>
            </a:r>
          </a:p>
          <a:p>
            <a:pPr algn="just">
              <a:spcAft>
                <a:spcPts val="0"/>
              </a:spcAft>
            </a:pP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HCLK</a:t>
            </a:r>
            <a:r>
              <a:rPr lang="zh-CN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72MHz</a:t>
            </a:r>
            <a:r>
              <a:rPr lang="zh-CN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b="1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Systick</a:t>
            </a:r>
            <a:r>
              <a:rPr lang="zh-CN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时钟频率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一定</a:t>
            </a:r>
            <a:r>
              <a:rPr lang="zh-CN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9MHz</a:t>
            </a:r>
            <a:r>
              <a:rPr lang="zh-CN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</a:p>
          <a:p>
            <a:pPr algn="just">
              <a:spcAft>
                <a:spcPts val="0"/>
              </a:spcAft>
            </a:pP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STM32</a:t>
            </a:r>
            <a:r>
              <a:rPr lang="zh-CN" altLang="zh-CN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芯片刚上电时，其主时钟使用的是（</a:t>
            </a:r>
            <a:r>
              <a:rPr lang="en-US" altLang="zh-CN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lang="zh-CN" altLang="zh-CN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HSE          B.HSI            C.LSE          D.LSI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471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1"/>
            <a:ext cx="9753600" cy="122267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低速外部时钟（</a:t>
            </a:r>
            <a:r>
              <a:rPr lang="en-US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LSE</a:t>
            </a:r>
            <a:r>
              <a:rPr lang="zh-CN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）可以作为</a:t>
            </a:r>
            <a:r>
              <a:rPr lang="en-US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RTC</a:t>
            </a:r>
            <a:r>
              <a:rPr lang="zh-CN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及独立看门狗时钟 </a:t>
            </a:r>
            <a:r>
              <a:rPr lang="en-US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9998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HCLK</a:t>
            </a:r>
            <a:r>
              <a:rPr lang="zh-CN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72MHz</a:t>
            </a:r>
            <a:r>
              <a:rPr lang="zh-CN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，则定时器</a:t>
            </a:r>
            <a:r>
              <a:rPr lang="en-US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的时钟必为</a:t>
            </a:r>
            <a:r>
              <a:rPr lang="en-US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72MHz       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92408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HCLK</a:t>
            </a:r>
            <a:r>
              <a:rPr lang="zh-CN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72MHz</a:t>
            </a:r>
            <a:r>
              <a:rPr lang="zh-CN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2800" b="1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Systick</a:t>
            </a:r>
            <a:r>
              <a:rPr lang="zh-CN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时钟频率</a:t>
            </a:r>
            <a:r>
              <a:rPr lang="zh-CN" altLang="en-US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一定</a:t>
            </a:r>
            <a:r>
              <a:rPr lang="zh-CN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9MHz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8985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indent="266700" algn="just"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STM32</a:t>
            </a:r>
            <a:r>
              <a:rPr lang="zh-CN" altLang="zh-CN" sz="28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芯片刚上电时，其主时钟使用的是（</a:t>
            </a:r>
            <a:r>
              <a:rPr lang="en-US" altLang="zh-CN" sz="28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lang="zh-CN" altLang="zh-CN" sz="28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zh-CN" sz="28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HSE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HSI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LSE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LSI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64540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</a:t>
            </a:r>
            <a:r>
              <a:rPr lang="zh-CN" altLang="en-US" sz="2800" b="1" dirty="0">
                <a:cs typeface="+mn-ea"/>
                <a:sym typeface="+mn-lt"/>
              </a:rPr>
              <a:t>的时钟系统组成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056655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问题与思考</a:t>
            </a:r>
            <a:endParaRPr lang="en-US" altLang="zh-CN" sz="28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ADD8F0-B6E9-4410-9796-C2BA8C01330C}"/>
              </a:ext>
            </a:extLst>
          </p:cNvPr>
          <p:cNvSpPr/>
          <p:nvPr/>
        </p:nvSpPr>
        <p:spPr>
          <a:xfrm>
            <a:off x="1653308" y="1776029"/>
            <a:ext cx="855644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低速外部时钟（</a:t>
            </a:r>
            <a:r>
              <a:rPr lang="en-US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LSE</a:t>
            </a:r>
            <a:r>
              <a:rPr lang="zh-CN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）可以作为</a:t>
            </a:r>
            <a:r>
              <a:rPr lang="en-US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RTC</a:t>
            </a:r>
            <a:r>
              <a:rPr lang="zh-CN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及独立看门狗时钟 </a:t>
            </a:r>
            <a:r>
              <a:rPr lang="en-US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(</a:t>
            </a:r>
            <a:r>
              <a:rPr lang="zh-CN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错</a:t>
            </a:r>
            <a:r>
              <a:rPr lang="en-US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algn="just">
              <a:spcAft>
                <a:spcPts val="0"/>
              </a:spcAft>
            </a:pP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HCLK</a:t>
            </a:r>
            <a:r>
              <a:rPr lang="zh-CN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72MHz</a:t>
            </a:r>
            <a:r>
              <a:rPr lang="zh-CN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，则定时器</a:t>
            </a:r>
            <a:r>
              <a:rPr lang="en-US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的时钟必为</a:t>
            </a:r>
            <a:r>
              <a:rPr lang="en-US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72MHz      (</a:t>
            </a:r>
            <a:r>
              <a:rPr lang="zh-CN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错</a:t>
            </a:r>
            <a:r>
              <a:rPr lang="en-US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algn="just">
              <a:spcAft>
                <a:spcPts val="0"/>
              </a:spcAft>
            </a:pP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HCLK</a:t>
            </a:r>
            <a:r>
              <a:rPr lang="zh-CN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72MHz</a:t>
            </a:r>
            <a:r>
              <a:rPr lang="zh-CN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2400" b="1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Systick</a:t>
            </a:r>
            <a:r>
              <a:rPr lang="zh-CN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时钟频率</a:t>
            </a:r>
            <a:r>
              <a:rPr lang="zh-CN" altLang="en-US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一定</a:t>
            </a:r>
            <a:r>
              <a:rPr lang="zh-CN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9MHz</a:t>
            </a:r>
            <a:r>
              <a:rPr lang="zh-CN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zh-CN" altLang="en-US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错</a:t>
            </a:r>
            <a:r>
              <a:rPr lang="en-US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algn="just">
              <a:spcAft>
                <a:spcPts val="0"/>
              </a:spcAft>
            </a:pP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STM32</a:t>
            </a:r>
            <a:r>
              <a:rPr lang="zh-CN" altLang="zh-CN" sz="2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芯片刚上电时，其主时钟使用的是</a:t>
            </a:r>
            <a:r>
              <a:rPr lang="en-US" altLang="zh-CN" sz="2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sz="2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B  </a:t>
            </a:r>
            <a:r>
              <a:rPr lang="zh-CN" altLang="zh-CN" sz="2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zh-CN" sz="2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HSE          B.HSI            C.LSE          D.LSI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0963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02627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2578" y="3167390"/>
            <a:ext cx="5204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42E6E0"/>
                </a:solidFill>
              </a:rPr>
              <a:t>STM32</a:t>
            </a:r>
            <a:r>
              <a:rPr lang="zh-CN" altLang="en-US" sz="2800" b="1" dirty="0">
                <a:solidFill>
                  <a:srgbClr val="42E6E0"/>
                </a:solidFill>
              </a:rPr>
              <a:t>的时钟频率及控制方法</a:t>
            </a:r>
            <a:endParaRPr lang="en-US" altLang="zh-CN" sz="2800" b="1" dirty="0">
              <a:solidFill>
                <a:srgbClr val="42E6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684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</a:t>
            </a:r>
            <a:r>
              <a:rPr lang="zh-CN" altLang="en-US" sz="2800" b="1" dirty="0">
                <a:cs typeface="+mn-ea"/>
                <a:sym typeface="+mn-lt"/>
              </a:rPr>
              <a:t>的时钟频率及控制方法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006206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时钟系统控制方法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4239" y="1785005"/>
            <a:ext cx="1060352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以最常用的</a:t>
            </a:r>
            <a:r>
              <a:rPr lang="zh-CN" altLang="en-US" sz="2000" dirty="0">
                <a:hlinkClick r:id="rId2" action="ppaction://hlinksldjump"/>
              </a:rPr>
              <a:t>高速外部时钟</a:t>
            </a:r>
            <a:r>
              <a:rPr lang="zh-CN" altLang="en-US" sz="2000" dirty="0"/>
              <a:t>为例：</a:t>
            </a:r>
            <a:endParaRPr lang="en-US" altLang="zh-CN" sz="2000" dirty="0"/>
          </a:p>
          <a:p>
            <a:endParaRPr lang="zh-CN" altLang="en-US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从左端的</a:t>
            </a:r>
            <a:r>
              <a:rPr lang="en-US" altLang="zh-CN" sz="2000" dirty="0"/>
              <a:t>OSC_OUT</a:t>
            </a:r>
            <a:r>
              <a:rPr lang="zh-CN" altLang="en-US" sz="2000" dirty="0"/>
              <a:t>和</a:t>
            </a:r>
            <a:r>
              <a:rPr lang="en-US" altLang="zh-CN" sz="2000" dirty="0"/>
              <a:t>OSC_IN</a:t>
            </a:r>
            <a:r>
              <a:rPr lang="zh-CN" altLang="en-US" sz="2000" dirty="0"/>
              <a:t>开始，这两个引脚分别接到外部晶振</a:t>
            </a:r>
            <a:r>
              <a:rPr lang="en-US" altLang="zh-CN" sz="2000" dirty="0"/>
              <a:t>8MHz</a:t>
            </a:r>
            <a:r>
              <a:rPr lang="zh-CN" altLang="en-US" sz="2000" dirty="0"/>
              <a:t>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遇到第一个分频器</a:t>
            </a:r>
            <a:r>
              <a:rPr lang="en-US" altLang="zh-CN" sz="2000" dirty="0"/>
              <a:t>PLLXTPRE</a:t>
            </a:r>
            <a:r>
              <a:rPr lang="zh-CN" altLang="en-US" sz="2000" dirty="0"/>
              <a:t>，没二分频，继续</a:t>
            </a:r>
            <a:r>
              <a:rPr lang="en-US" altLang="zh-CN" sz="2000" dirty="0"/>
              <a:t>8MHz</a:t>
            </a:r>
            <a:r>
              <a:rPr lang="zh-CN" altLang="en-US" sz="2000" dirty="0"/>
              <a:t>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遇到选择外部</a:t>
            </a:r>
            <a:r>
              <a:rPr lang="en-US" altLang="zh-CN" sz="2000" dirty="0"/>
              <a:t>HSE</a:t>
            </a:r>
            <a:r>
              <a:rPr lang="zh-CN" altLang="en-US" sz="2000" dirty="0"/>
              <a:t>还是内部</a:t>
            </a:r>
            <a:r>
              <a:rPr lang="en-US" altLang="zh-CN" sz="2000" dirty="0"/>
              <a:t>HSI</a:t>
            </a:r>
            <a:r>
              <a:rPr lang="zh-CN" altLang="en-US" sz="2000" dirty="0"/>
              <a:t>时钟开关</a:t>
            </a:r>
            <a:r>
              <a:rPr lang="en-US" altLang="zh-CN" sz="2000" dirty="0"/>
              <a:t>PLLSRC</a:t>
            </a:r>
            <a:r>
              <a:rPr lang="zh-CN" altLang="en-US" sz="2000" dirty="0"/>
              <a:t>，选</a:t>
            </a:r>
            <a:r>
              <a:rPr lang="en-US" altLang="zh-CN" sz="2000" dirty="0"/>
              <a:t>HSE;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遇到可倍频的锁相环</a:t>
            </a:r>
            <a:r>
              <a:rPr lang="en-US" altLang="zh-CN" sz="2000" dirty="0"/>
              <a:t>PLL</a:t>
            </a:r>
            <a:r>
              <a:rPr lang="zh-CN" altLang="en-US" sz="2000" dirty="0"/>
              <a:t>，倍频因子</a:t>
            </a:r>
            <a:r>
              <a:rPr lang="en-US" altLang="zh-CN" sz="2000" dirty="0"/>
              <a:t>PLLMUL</a:t>
            </a:r>
            <a:r>
              <a:rPr lang="zh-CN" altLang="en-US" sz="2000" dirty="0"/>
              <a:t>选为</a:t>
            </a:r>
            <a:r>
              <a:rPr lang="en-US" altLang="zh-CN" sz="2000" dirty="0"/>
              <a:t>9</a:t>
            </a:r>
            <a:r>
              <a:rPr lang="zh-CN" altLang="en-US" sz="2000" dirty="0"/>
              <a:t>倍，则得到</a:t>
            </a:r>
            <a:r>
              <a:rPr lang="en-US" altLang="zh-CN" sz="2000" dirty="0"/>
              <a:t>72MHz</a:t>
            </a:r>
            <a:r>
              <a:rPr lang="zh-CN" altLang="en-US" sz="2000" dirty="0"/>
              <a:t>的</a:t>
            </a:r>
            <a:r>
              <a:rPr lang="en-US" altLang="zh-CN" sz="2000" dirty="0"/>
              <a:t>PLLCLK</a:t>
            </a:r>
            <a:r>
              <a:rPr lang="zh-CN" altLang="en-US" sz="2000" dirty="0"/>
              <a:t>时钟；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又经过了一个开关</a:t>
            </a:r>
            <a:r>
              <a:rPr lang="en-US" altLang="zh-CN" sz="2000" dirty="0"/>
              <a:t>SW</a:t>
            </a:r>
            <a:r>
              <a:rPr lang="zh-CN" altLang="en-US" sz="2000" dirty="0"/>
              <a:t>之后就是</a:t>
            </a:r>
            <a:r>
              <a:rPr lang="en-US" altLang="zh-CN" sz="2000" dirty="0"/>
              <a:t>STM32</a:t>
            </a:r>
            <a:r>
              <a:rPr lang="zh-CN" altLang="en-US" sz="2000" dirty="0"/>
              <a:t>的系统时钟</a:t>
            </a:r>
            <a:r>
              <a:rPr lang="en-US" altLang="zh-CN" sz="2000" dirty="0"/>
              <a:t>SYSCLK</a:t>
            </a:r>
            <a:r>
              <a:rPr lang="zh-CN" altLang="en-US" sz="2000" dirty="0"/>
              <a:t>了；</a:t>
            </a:r>
          </a:p>
          <a:p>
            <a:r>
              <a:rPr lang="zh-CN" altLang="en-US" sz="2000" dirty="0"/>
              <a:t>经过各种预分频器得到各种外设的时钟源：如</a:t>
            </a:r>
            <a:r>
              <a:rPr lang="en-US" altLang="zh-CN" sz="2000" dirty="0"/>
              <a:t>USBCLK</a:t>
            </a:r>
            <a:r>
              <a:rPr lang="zh-CN" altLang="en-US" sz="2000" dirty="0"/>
              <a:t>、</a:t>
            </a:r>
            <a:r>
              <a:rPr lang="en-US" altLang="zh-CN" sz="2000" dirty="0"/>
              <a:t>HCLK</a:t>
            </a:r>
            <a:r>
              <a:rPr lang="zh-CN" altLang="en-US" sz="2000" dirty="0"/>
              <a:t>、</a:t>
            </a:r>
            <a:r>
              <a:rPr lang="en-US" altLang="zh-CN" sz="2000" dirty="0"/>
              <a:t>FCLK</a:t>
            </a:r>
            <a:r>
              <a:rPr lang="zh-CN" altLang="en-US" sz="2000" dirty="0"/>
              <a:t>、</a:t>
            </a:r>
            <a:r>
              <a:rPr lang="en-US" altLang="zh-CN" sz="2000" dirty="0"/>
              <a:t>SDIOCLK</a:t>
            </a:r>
            <a:r>
              <a:rPr lang="zh-CN" altLang="en-US" sz="2000" dirty="0"/>
              <a:t>等等时钟。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94239" y="4668714"/>
            <a:ext cx="101990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每个外设都配备了外设时钟的开关，当我们不使用某个外设时，可以把这个外设时钟关闭，从而降低</a:t>
            </a:r>
            <a:r>
              <a:rPr lang="en-US" altLang="zh-CN" sz="2000" dirty="0"/>
              <a:t>STM32</a:t>
            </a:r>
            <a:r>
              <a:rPr lang="zh-CN" altLang="en-US" sz="2000" dirty="0"/>
              <a:t>的整体功耗。</a:t>
            </a:r>
            <a:endParaRPr lang="en-US" altLang="zh-CN" sz="2000" dirty="0"/>
          </a:p>
          <a:p>
            <a:endParaRPr lang="zh-CN" altLang="en-US" sz="2000" dirty="0"/>
          </a:p>
          <a:p>
            <a:r>
              <a:rPr lang="zh-CN" altLang="en-US" sz="2000" dirty="0"/>
              <a:t>当使用某个外设时，一定要记得开启外设的时钟。</a:t>
            </a:r>
          </a:p>
        </p:txBody>
      </p:sp>
    </p:spTree>
    <p:extLst>
      <p:ext uri="{BB962C8B-B14F-4D97-AF65-F5344CB8AC3E}">
        <p14:creationId xmlns:p14="http://schemas.microsoft.com/office/powerpoint/2010/main" val="33224795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</a:t>
            </a:r>
            <a:r>
              <a:rPr lang="zh-CN" altLang="en-US" sz="2800" b="1" dirty="0">
                <a:cs typeface="+mn-ea"/>
                <a:sym typeface="+mn-lt"/>
              </a:rPr>
              <a:t>的时钟频率及控制方法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006206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时钟系统控制方法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81806" y="1670369"/>
            <a:ext cx="101580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>
              <a:buNone/>
              <a:defRPr/>
            </a:pPr>
            <a:r>
              <a:rPr lang="zh-CN" altLang="en-US" sz="2000" dirty="0"/>
              <a:t>例：</a:t>
            </a:r>
            <a:r>
              <a:rPr lang="zh-CN" altLang="zh-CN" sz="2000" dirty="0">
                <a:hlinkClick r:id="rId2" action="ppaction://hlinksldjump"/>
              </a:rPr>
              <a:t>高速外部时钟</a:t>
            </a:r>
            <a:r>
              <a:rPr lang="en-US" altLang="zh-CN" sz="2000" dirty="0"/>
              <a:t>HSE</a:t>
            </a:r>
            <a:r>
              <a:rPr lang="zh-CN" altLang="zh-CN" sz="2000" dirty="0"/>
              <a:t>接</a:t>
            </a:r>
            <a:r>
              <a:rPr lang="en-US" altLang="zh-CN" sz="2000" dirty="0"/>
              <a:t>8MHz</a:t>
            </a:r>
            <a:r>
              <a:rPr lang="zh-CN" altLang="zh-CN" sz="2000" dirty="0"/>
              <a:t>晶振，当把</a:t>
            </a:r>
            <a:r>
              <a:rPr lang="en-US" altLang="zh-CN" sz="2000" dirty="0"/>
              <a:t>RCC-&gt;CFGR</a:t>
            </a:r>
            <a:r>
              <a:rPr lang="zh-CN" altLang="zh-CN" sz="2000" dirty="0"/>
              <a:t>寄存器的值设为</a:t>
            </a:r>
            <a:r>
              <a:rPr lang="en-US" altLang="zh-CN" sz="2000" dirty="0"/>
              <a:t>0x001D6402</a:t>
            </a:r>
            <a:r>
              <a:rPr lang="zh-CN" altLang="zh-CN" sz="2000" dirty="0"/>
              <a:t>，请问</a:t>
            </a:r>
            <a:r>
              <a:rPr lang="en-US" altLang="zh-CN" sz="2000" dirty="0"/>
              <a:t>SYSCLK</a:t>
            </a:r>
            <a:r>
              <a:rPr lang="zh-CN" altLang="zh-CN" sz="2000" dirty="0"/>
              <a:t>、</a:t>
            </a:r>
            <a:r>
              <a:rPr lang="en-US" altLang="zh-CN" sz="2000" dirty="0"/>
              <a:t>HCLK</a:t>
            </a:r>
            <a:r>
              <a:rPr lang="zh-CN" altLang="zh-CN" sz="2000" dirty="0"/>
              <a:t>、</a:t>
            </a:r>
            <a:r>
              <a:rPr lang="en-US" altLang="zh-CN" sz="2000" dirty="0"/>
              <a:t>PCLK1</a:t>
            </a:r>
            <a:r>
              <a:rPr lang="zh-CN" altLang="en-US" sz="2000" dirty="0"/>
              <a:t>、</a:t>
            </a:r>
            <a:r>
              <a:rPr lang="en-US" altLang="zh-CN" sz="2000" dirty="0"/>
              <a:t>PCLK2</a:t>
            </a:r>
            <a:r>
              <a:rPr lang="zh-CN" altLang="en-US" sz="2000" dirty="0"/>
              <a:t>、</a:t>
            </a:r>
            <a:r>
              <a:rPr lang="en-US" altLang="zh-CN" sz="2000" dirty="0"/>
              <a:t> TIM1</a:t>
            </a:r>
            <a:r>
              <a:rPr lang="zh-CN" altLang="en-US" sz="2000" dirty="0"/>
              <a:t>、</a:t>
            </a:r>
            <a:r>
              <a:rPr lang="en-US" altLang="zh-CN" sz="2000" dirty="0"/>
              <a:t>TIM2</a:t>
            </a:r>
            <a:r>
              <a:rPr lang="zh-CN" altLang="en-US" sz="2000" dirty="0"/>
              <a:t>、</a:t>
            </a:r>
            <a:r>
              <a:rPr lang="en-US" altLang="zh-CN" sz="2000" dirty="0"/>
              <a:t>USART1</a:t>
            </a:r>
            <a:r>
              <a:rPr lang="zh-CN" altLang="en-US" sz="2000" dirty="0"/>
              <a:t>、</a:t>
            </a:r>
            <a:r>
              <a:rPr lang="en-US" altLang="zh-CN" sz="2000" dirty="0"/>
              <a:t>USART2</a:t>
            </a:r>
            <a:r>
              <a:rPr lang="zh-CN" altLang="en-US" sz="2000" dirty="0"/>
              <a:t>、</a:t>
            </a:r>
            <a:r>
              <a:rPr lang="en-US" altLang="zh-CN" sz="2000" dirty="0"/>
              <a:t>ADC</a:t>
            </a:r>
            <a:r>
              <a:rPr lang="zh-CN" altLang="zh-CN" sz="2000" dirty="0"/>
              <a:t>的时钟频率分别为多少？</a:t>
            </a:r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6" name="文本框 5"/>
          <p:cNvSpPr txBox="1"/>
          <p:nvPr/>
        </p:nvSpPr>
        <p:spPr>
          <a:xfrm>
            <a:off x="981806" y="3576451"/>
            <a:ext cx="4994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n-ea"/>
              </a:rPr>
              <a:t>0000 0</a:t>
            </a:r>
            <a:r>
              <a:rPr lang="en-US" altLang="zh-CN" u="sng" dirty="0">
                <a:solidFill>
                  <a:srgbClr val="FF0000"/>
                </a:solidFill>
                <a:latin typeface="+mn-ea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000</a:t>
            </a:r>
            <a:r>
              <a:rPr lang="en-US" altLang="zh-CN" u="sng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0</a:t>
            </a:r>
            <a:r>
              <a:rPr lang="en-US" altLang="zh-CN" u="sng" dirty="0">
                <a:solidFill>
                  <a:srgbClr val="0070C0"/>
                </a:solidFill>
                <a:latin typeface="+mn-ea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</a:t>
            </a:r>
            <a:r>
              <a:rPr lang="en-US" altLang="zh-CN" u="sng" dirty="0">
                <a:solidFill>
                  <a:srgbClr val="FF0000"/>
                </a:solidFill>
                <a:latin typeface="+mn-ea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01 11</a:t>
            </a:r>
            <a:r>
              <a:rPr lang="en-US" altLang="zh-CN" u="sng" dirty="0">
                <a:solidFill>
                  <a:srgbClr val="0070C0"/>
                </a:solidFill>
                <a:latin typeface="+mn-ea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</a:t>
            </a:r>
            <a:r>
              <a:rPr lang="en-US" altLang="zh-CN" u="sng" dirty="0">
                <a:solidFill>
                  <a:srgbClr val="FF0000"/>
                </a:solidFill>
                <a:latin typeface="+mn-ea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u="sng" dirty="0">
                <a:solidFill>
                  <a:srgbClr val="0070C0"/>
                </a:solidFill>
                <a:latin typeface="+mn-ea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r>
              <a:rPr lang="en-US" altLang="zh-CN" u="sng" dirty="0">
                <a:solidFill>
                  <a:srgbClr val="FF0000"/>
                </a:solidFill>
                <a:latin typeface="+mn-ea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10 0</a:t>
            </a:r>
            <a:r>
              <a:rPr lang="en-US" altLang="zh-CN" u="sng" dirty="0">
                <a:solidFill>
                  <a:schemeClr val="accent2"/>
                </a:solidFill>
                <a:latin typeface="+mn-ea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u="sng" dirty="0">
                <a:solidFill>
                  <a:srgbClr val="FF0000"/>
                </a:solidFill>
                <a:latin typeface="+mn-ea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0000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>
                <a:solidFill>
                  <a:srgbClr val="0070C0"/>
                </a:solidFill>
                <a:latin typeface="+mn-ea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00</a:t>
            </a:r>
            <a:r>
              <a:rPr lang="en-US" altLang="zh-CN" u="sng" dirty="0">
                <a:solidFill>
                  <a:srgbClr val="FF0000"/>
                </a:solidFill>
                <a:latin typeface="+mn-ea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</a:t>
            </a:r>
            <a:endParaRPr lang="zh-CN" altLang="en-US" u="sng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C3C5E6-8EC0-406B-8B94-34E5E09DAE7E}"/>
              </a:ext>
            </a:extLst>
          </p:cNvPr>
          <p:cNvSpPr/>
          <p:nvPr/>
        </p:nvSpPr>
        <p:spPr>
          <a:xfrm>
            <a:off x="7873614" y="3087465"/>
            <a:ext cx="393016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dirty="0"/>
              <a:t>SYSCLK  72MHz</a:t>
            </a:r>
            <a:endParaRPr lang="zh-CN" altLang="zh-CN" sz="2000" dirty="0"/>
          </a:p>
          <a:p>
            <a:pPr algn="just">
              <a:spcAft>
                <a:spcPts val="0"/>
              </a:spcAft>
            </a:pPr>
            <a:r>
              <a:rPr lang="en-US" altLang="zh-CN" sz="2000" dirty="0"/>
              <a:t>HCLK 72MHz</a:t>
            </a:r>
            <a:endParaRPr lang="zh-CN" altLang="zh-CN" sz="2000" dirty="0"/>
          </a:p>
          <a:p>
            <a:pPr algn="just">
              <a:spcAft>
                <a:spcPts val="0"/>
              </a:spcAft>
            </a:pPr>
            <a:r>
              <a:rPr lang="en-US" altLang="zh-CN" sz="2000" dirty="0"/>
              <a:t>PCLK1 36MHz</a:t>
            </a:r>
          </a:p>
          <a:p>
            <a:pPr algn="just"/>
            <a:r>
              <a:rPr lang="en-US" altLang="zh-CN" sz="2000" dirty="0"/>
              <a:t>PCLK2 36MHz</a:t>
            </a:r>
          </a:p>
          <a:p>
            <a:pPr algn="just">
              <a:spcAft>
                <a:spcPts val="0"/>
              </a:spcAft>
            </a:pPr>
            <a:r>
              <a:rPr lang="en-US" altLang="zh-CN" sz="2000" dirty="0"/>
              <a:t>TIM1</a:t>
            </a:r>
            <a:r>
              <a:rPr lang="zh-CN" altLang="zh-CN" sz="2000" dirty="0"/>
              <a:t>时钟为</a:t>
            </a:r>
            <a:r>
              <a:rPr lang="en-US" altLang="zh-CN" sz="2000" dirty="0"/>
              <a:t>2xPCLK2=72MHz</a:t>
            </a:r>
          </a:p>
          <a:p>
            <a:pPr algn="just">
              <a:spcAft>
                <a:spcPts val="0"/>
              </a:spcAft>
            </a:pPr>
            <a:r>
              <a:rPr lang="en-US" altLang="zh-CN" sz="2000" dirty="0"/>
              <a:t>TIM2</a:t>
            </a:r>
            <a:r>
              <a:rPr lang="zh-CN" altLang="zh-CN" sz="2000" dirty="0"/>
              <a:t>时钟为</a:t>
            </a:r>
            <a:r>
              <a:rPr lang="en-US" altLang="zh-CN" sz="2000" dirty="0"/>
              <a:t>2xPCLK1=72MHz</a:t>
            </a:r>
          </a:p>
          <a:p>
            <a:pPr algn="just">
              <a:spcAft>
                <a:spcPts val="0"/>
              </a:spcAft>
            </a:pPr>
            <a:r>
              <a:rPr lang="en-US" altLang="zh-CN" sz="2000" dirty="0"/>
              <a:t>USART1</a:t>
            </a:r>
            <a:r>
              <a:rPr lang="zh-CN" altLang="zh-CN" sz="2000" dirty="0"/>
              <a:t>时钟为</a:t>
            </a:r>
            <a:r>
              <a:rPr lang="en-US" altLang="zh-CN" sz="2000" dirty="0"/>
              <a:t>PCLK2, 36MHz</a:t>
            </a:r>
            <a:endParaRPr lang="zh-CN" altLang="zh-CN" sz="2000" dirty="0"/>
          </a:p>
          <a:p>
            <a:pPr algn="just">
              <a:spcAft>
                <a:spcPts val="0"/>
              </a:spcAft>
            </a:pPr>
            <a:r>
              <a:rPr lang="en-US" altLang="zh-CN" sz="2000" dirty="0"/>
              <a:t>USART2</a:t>
            </a:r>
            <a:r>
              <a:rPr lang="zh-CN" altLang="zh-CN" sz="2000" dirty="0"/>
              <a:t>时钟为</a:t>
            </a:r>
            <a:r>
              <a:rPr lang="en-US" altLang="zh-CN" sz="2000" dirty="0"/>
              <a:t>PCLK1, 36MHz</a:t>
            </a:r>
            <a:endParaRPr lang="zh-CN" altLang="zh-CN" sz="2000" dirty="0"/>
          </a:p>
          <a:p>
            <a:pPr algn="just">
              <a:spcAft>
                <a:spcPts val="0"/>
              </a:spcAft>
            </a:pPr>
            <a:r>
              <a:rPr lang="en-US" altLang="zh-CN" sz="2000" dirty="0"/>
              <a:t>ADC</a:t>
            </a:r>
            <a:r>
              <a:rPr lang="zh-CN" altLang="zh-CN" sz="2000" dirty="0"/>
              <a:t>时钟为</a:t>
            </a:r>
            <a:r>
              <a:rPr lang="en-US" altLang="zh-CN" sz="2000" dirty="0"/>
              <a:t>PCLK2/4, 9MHz</a:t>
            </a:r>
            <a:endParaRPr lang="zh-CN" altLang="zh-CN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5477608" y="4284914"/>
            <a:ext cx="2400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hlinkClick r:id="rId12" action="ppaction://hlinksldjump"/>
              </a:rPr>
              <a:t>10</a:t>
            </a:r>
            <a:r>
              <a:rPr lang="zh-CN" altLang="en-US" sz="1400" dirty="0">
                <a:hlinkClick r:id="rId12" action="ppaction://hlinksldjump"/>
              </a:rPr>
              <a:t>：</a:t>
            </a:r>
            <a:r>
              <a:rPr lang="en-US" altLang="zh-CN" sz="1400" dirty="0">
                <a:hlinkClick r:id="rId12" action="ppaction://hlinksldjump"/>
              </a:rPr>
              <a:t>PLL</a:t>
            </a:r>
            <a:r>
              <a:rPr lang="zh-CN" altLang="en-US" sz="1400" dirty="0">
                <a:hlinkClick r:id="rId12" action="ppaction://hlinksldjump"/>
              </a:rPr>
              <a:t>输出作为系统时钟</a:t>
            </a:r>
            <a:endParaRPr lang="zh-CN" altLang="en-US" sz="1400" dirty="0"/>
          </a:p>
        </p:txBody>
      </p:sp>
      <p:sp>
        <p:nvSpPr>
          <p:cNvPr id="9" name="文本框 8"/>
          <p:cNvSpPr txBox="1"/>
          <p:nvPr/>
        </p:nvSpPr>
        <p:spPr>
          <a:xfrm>
            <a:off x="4775687" y="4592691"/>
            <a:ext cx="2627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hlinkClick r:id="rId11" action="ppaction://hlinksldjump"/>
              </a:rPr>
              <a:t>0xxx</a:t>
            </a:r>
            <a:r>
              <a:rPr lang="zh-CN" altLang="en-US" sz="1400" dirty="0">
                <a:hlinkClick r:id="rId11" action="ppaction://hlinksldjump"/>
              </a:rPr>
              <a:t>：</a:t>
            </a:r>
            <a:r>
              <a:rPr lang="en-US" altLang="zh-CN" sz="1400" dirty="0">
                <a:hlinkClick r:id="rId11" action="ppaction://hlinksldjump"/>
              </a:rPr>
              <a:t>SYSCLK</a:t>
            </a:r>
            <a:r>
              <a:rPr lang="zh-CN" altLang="en-US" sz="1400" dirty="0">
                <a:hlinkClick r:id="rId11" action="ppaction://hlinksldjump"/>
              </a:rPr>
              <a:t>不分频到</a:t>
            </a:r>
            <a:r>
              <a:rPr lang="en-US" altLang="zh-CN" sz="1400" dirty="0">
                <a:hlinkClick r:id="rId11" action="ppaction://hlinksldjump"/>
              </a:rPr>
              <a:t>HCLK</a:t>
            </a:r>
            <a:endParaRPr lang="zh-CN" altLang="en-US" sz="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4163890" y="4900468"/>
            <a:ext cx="2627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hlinkClick r:id="rId10" action="ppaction://hlinksldjump"/>
              </a:rPr>
              <a:t>100</a:t>
            </a:r>
            <a:r>
              <a:rPr lang="zh-CN" altLang="en-US" sz="1400" dirty="0">
                <a:hlinkClick r:id="rId10" action="ppaction://hlinksldjump"/>
              </a:rPr>
              <a:t>：</a:t>
            </a:r>
            <a:r>
              <a:rPr lang="en-US" altLang="zh-CN" sz="1400" dirty="0">
                <a:hlinkClick r:id="rId10" action="ppaction://hlinksldjump"/>
              </a:rPr>
              <a:t>HCLK2</a:t>
            </a:r>
            <a:r>
              <a:rPr lang="zh-CN" altLang="en-US" sz="1400" dirty="0">
                <a:hlinkClick r:id="rId10" action="ppaction://hlinksldjump"/>
              </a:rPr>
              <a:t>分频到</a:t>
            </a:r>
            <a:r>
              <a:rPr lang="en-US" altLang="zh-CN" sz="1400" dirty="0">
                <a:hlinkClick r:id="rId10" action="ppaction://hlinksldjump"/>
              </a:rPr>
              <a:t>APB1</a:t>
            </a:r>
            <a:endParaRPr lang="zh-CN" altLang="en-US" sz="1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3815129" y="5210009"/>
            <a:ext cx="2627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hlinkClick r:id="rId9" action="ppaction://hlinksldjump"/>
              </a:rPr>
              <a:t>100</a:t>
            </a:r>
            <a:r>
              <a:rPr lang="zh-CN" altLang="en-US" sz="1400" dirty="0">
                <a:hlinkClick r:id="rId9" action="ppaction://hlinksldjump"/>
              </a:rPr>
              <a:t>：</a:t>
            </a:r>
            <a:r>
              <a:rPr lang="en-US" altLang="zh-CN" sz="1400" dirty="0">
                <a:hlinkClick r:id="rId9" action="ppaction://hlinksldjump"/>
              </a:rPr>
              <a:t>HCLK2</a:t>
            </a:r>
            <a:r>
              <a:rPr lang="zh-CN" altLang="en-US" sz="1400" dirty="0">
                <a:hlinkClick r:id="rId9" action="ppaction://hlinksldjump"/>
              </a:rPr>
              <a:t>分频到</a:t>
            </a:r>
            <a:r>
              <a:rPr lang="en-US" altLang="zh-CN" sz="1400" dirty="0">
                <a:hlinkClick r:id="rId9" action="ppaction://hlinksldjump"/>
              </a:rPr>
              <a:t>APB2</a:t>
            </a:r>
            <a:endParaRPr lang="zh-CN" altLang="en-US" sz="1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3431654" y="5516022"/>
            <a:ext cx="29163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hlinkClick r:id="rId8" action="ppaction://hlinksldjump"/>
              </a:rPr>
              <a:t>01</a:t>
            </a:r>
            <a:r>
              <a:rPr lang="zh-CN" altLang="en-US" sz="1400" dirty="0">
                <a:hlinkClick r:id="rId8" action="ppaction://hlinksldjump"/>
              </a:rPr>
              <a:t>：</a:t>
            </a:r>
            <a:r>
              <a:rPr lang="en-US" altLang="zh-CN" sz="1400" dirty="0">
                <a:hlinkClick r:id="rId8" action="ppaction://hlinksldjump"/>
              </a:rPr>
              <a:t>PCLK2 4</a:t>
            </a:r>
            <a:r>
              <a:rPr lang="zh-CN" altLang="en-US" sz="1400" dirty="0">
                <a:hlinkClick r:id="rId8" action="ppaction://hlinksldjump"/>
              </a:rPr>
              <a:t>分频后作为</a:t>
            </a:r>
            <a:r>
              <a:rPr lang="en-US" altLang="zh-CN" sz="1400" dirty="0">
                <a:hlinkClick r:id="rId8" action="ppaction://hlinksldjump"/>
              </a:rPr>
              <a:t>ADC</a:t>
            </a:r>
            <a:r>
              <a:rPr lang="zh-CN" altLang="en-US" sz="1400" dirty="0">
                <a:hlinkClick r:id="rId8" action="ppaction://hlinksldjump"/>
              </a:rPr>
              <a:t>时钟</a:t>
            </a:r>
            <a:endParaRPr lang="zh-CN" altLang="en-US" sz="1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3249944" y="5773364"/>
            <a:ext cx="2605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hlinkClick r:id="rId7" action="ppaction://hlinksldjump"/>
              </a:rPr>
              <a:t>1</a:t>
            </a:r>
            <a:r>
              <a:rPr lang="zh-CN" altLang="en-US" sz="1400" dirty="0">
                <a:hlinkClick r:id="rId7" action="ppaction://hlinksldjump"/>
              </a:rPr>
              <a:t>：</a:t>
            </a:r>
            <a:r>
              <a:rPr lang="en-US" altLang="zh-CN" sz="1400" dirty="0">
                <a:hlinkClick r:id="rId7" action="ppaction://hlinksldjump"/>
              </a:rPr>
              <a:t>HSE</a:t>
            </a:r>
            <a:r>
              <a:rPr lang="zh-CN" altLang="en-US" sz="1400" dirty="0">
                <a:hlinkClick r:id="rId7" action="ppaction://hlinksldjump"/>
              </a:rPr>
              <a:t>时钟作为</a:t>
            </a:r>
            <a:r>
              <a:rPr lang="en-US" altLang="zh-CN" sz="1400" dirty="0">
                <a:hlinkClick r:id="rId7" action="ppaction://hlinksldjump"/>
              </a:rPr>
              <a:t>PLL</a:t>
            </a:r>
            <a:r>
              <a:rPr lang="zh-CN" altLang="en-US" sz="1400" dirty="0">
                <a:hlinkClick r:id="rId7" action="ppaction://hlinksldjump"/>
              </a:rPr>
              <a:t>输入时钟</a:t>
            </a:r>
            <a:endParaRPr lang="zh-CN" altLang="en-US" sz="1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3129784" y="6073062"/>
            <a:ext cx="284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hlinkClick r:id="rId6" action="ppaction://hlinksldjump"/>
              </a:rPr>
              <a:t>0</a:t>
            </a:r>
            <a:r>
              <a:rPr lang="zh-CN" altLang="en-US" sz="1400" dirty="0">
                <a:hlinkClick r:id="rId6" action="ppaction://hlinksldjump"/>
              </a:rPr>
              <a:t>：</a:t>
            </a:r>
            <a:r>
              <a:rPr lang="en-US" altLang="zh-CN" sz="1400" dirty="0">
                <a:hlinkClick r:id="rId6" action="ppaction://hlinksldjump"/>
              </a:rPr>
              <a:t>HSE</a:t>
            </a:r>
            <a:r>
              <a:rPr lang="zh-CN" altLang="en-US" sz="1400" dirty="0">
                <a:hlinkClick r:id="rId6" action="ppaction://hlinksldjump"/>
              </a:rPr>
              <a:t>不分频作为</a:t>
            </a:r>
            <a:r>
              <a:rPr lang="en-US" altLang="zh-CN" sz="1400" dirty="0">
                <a:hlinkClick r:id="rId6" action="ppaction://hlinksldjump"/>
              </a:rPr>
              <a:t>PLL</a:t>
            </a:r>
            <a:r>
              <a:rPr lang="zh-CN" altLang="en-US" sz="1400" dirty="0">
                <a:hlinkClick r:id="rId6" action="ppaction://hlinksldjump"/>
              </a:rPr>
              <a:t>输入时钟</a:t>
            </a:r>
            <a:endParaRPr lang="zh-CN" altLang="en-US" sz="1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2740863" y="6330404"/>
            <a:ext cx="284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hlinkClick r:id="rId5" action="ppaction://hlinksldjump"/>
              </a:rPr>
              <a:t>0111</a:t>
            </a:r>
            <a:r>
              <a:rPr lang="zh-CN" altLang="en-US" sz="1400" dirty="0">
                <a:hlinkClick r:id="rId5" action="ppaction://hlinksldjump"/>
              </a:rPr>
              <a:t>：</a:t>
            </a:r>
            <a:r>
              <a:rPr lang="en-US" altLang="zh-CN" sz="1400" dirty="0">
                <a:hlinkClick r:id="rId5" action="ppaction://hlinksldjump"/>
              </a:rPr>
              <a:t>PLL9</a:t>
            </a:r>
            <a:r>
              <a:rPr lang="zh-CN" altLang="en-US" sz="1400" dirty="0">
                <a:hlinkClick r:id="rId5" action="ppaction://hlinksldjump"/>
              </a:rPr>
              <a:t>倍频输出</a:t>
            </a:r>
            <a:endParaRPr lang="zh-CN" altLang="en-US" sz="1400" dirty="0"/>
          </a:p>
        </p:txBody>
      </p:sp>
      <p:sp>
        <p:nvSpPr>
          <p:cNvPr id="19" name="文本框 18"/>
          <p:cNvSpPr txBox="1"/>
          <p:nvPr/>
        </p:nvSpPr>
        <p:spPr>
          <a:xfrm>
            <a:off x="1829986" y="2756163"/>
            <a:ext cx="2400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hlinkClick r:id="rId3" action="ppaction://hlinksldjump"/>
              </a:rPr>
              <a:t>0xx</a:t>
            </a:r>
            <a:r>
              <a:rPr lang="zh-CN" altLang="en-US" sz="1400" dirty="0">
                <a:hlinkClick r:id="rId3" action="ppaction://hlinksldjump"/>
              </a:rPr>
              <a:t>：没有时钟输出</a:t>
            </a:r>
            <a:endParaRPr lang="zh-CN" altLang="en-US" sz="1400" dirty="0"/>
          </a:p>
        </p:txBody>
      </p:sp>
      <p:sp>
        <p:nvSpPr>
          <p:cNvPr id="20" name="文本框 19"/>
          <p:cNvSpPr txBox="1"/>
          <p:nvPr/>
        </p:nvSpPr>
        <p:spPr>
          <a:xfrm>
            <a:off x="2375386" y="3083567"/>
            <a:ext cx="2996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hlinkClick r:id="rId4" action="ppaction://hlinksldjump"/>
              </a:rPr>
              <a:t>0</a:t>
            </a:r>
            <a:r>
              <a:rPr lang="zh-CN" altLang="en-US" sz="1400" dirty="0">
                <a:hlinkClick r:id="rId4" action="ppaction://hlinksldjump"/>
              </a:rPr>
              <a:t>：</a:t>
            </a:r>
            <a:r>
              <a:rPr lang="en-US" altLang="zh-CN" sz="1400" dirty="0">
                <a:hlinkClick r:id="rId4" action="ppaction://hlinksldjump"/>
              </a:rPr>
              <a:t>PLL</a:t>
            </a:r>
            <a:r>
              <a:rPr lang="zh-CN" altLang="en-US" sz="1400" dirty="0">
                <a:hlinkClick r:id="rId4" action="ppaction://hlinksldjump"/>
              </a:rPr>
              <a:t>时钟</a:t>
            </a:r>
            <a:r>
              <a:rPr lang="en-US" altLang="zh-CN" sz="1400" dirty="0">
                <a:hlinkClick r:id="rId4" action="ppaction://hlinksldjump"/>
              </a:rPr>
              <a:t>1.5</a:t>
            </a:r>
            <a:r>
              <a:rPr lang="zh-CN" altLang="en-US" sz="1400" dirty="0">
                <a:hlinkClick r:id="rId4" action="ppaction://hlinksldjump"/>
              </a:rPr>
              <a:t>倍分频作为</a:t>
            </a:r>
            <a:r>
              <a:rPr lang="en-US" altLang="zh-CN" sz="1400" dirty="0">
                <a:hlinkClick r:id="rId4" action="ppaction://hlinksldjump"/>
              </a:rPr>
              <a:t>USB</a:t>
            </a:r>
            <a:r>
              <a:rPr lang="zh-CN" altLang="en-US" sz="1400" dirty="0">
                <a:hlinkClick r:id="rId4" action="ppaction://hlinksldjump"/>
              </a:rPr>
              <a:t>时钟</a:t>
            </a:r>
            <a:endParaRPr lang="zh-CN" altLang="en-US" sz="1400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5679831" y="3878820"/>
            <a:ext cx="0" cy="406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4985238" y="3878820"/>
            <a:ext cx="8793" cy="713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4450094" y="3878820"/>
            <a:ext cx="0" cy="1021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4018085" y="3878820"/>
            <a:ext cx="8792" cy="13294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3671248" y="3878820"/>
            <a:ext cx="0" cy="1637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3349869" y="3878820"/>
            <a:ext cx="0" cy="1944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3223568" y="3878820"/>
            <a:ext cx="0" cy="22023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H="1">
            <a:off x="2831123" y="3878820"/>
            <a:ext cx="17585" cy="25020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V="1">
            <a:off x="2488223" y="3324905"/>
            <a:ext cx="0" cy="2515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V="1">
            <a:off x="2049794" y="3063940"/>
            <a:ext cx="0" cy="577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5103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</a:t>
            </a:r>
            <a:r>
              <a:rPr lang="zh-CN" altLang="en-US" sz="2800" b="1" dirty="0">
                <a:cs typeface="+mn-ea"/>
                <a:sym typeface="+mn-lt"/>
              </a:rPr>
              <a:t>的时钟频率及控制方法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006206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问题与思考</a:t>
            </a:r>
            <a:endParaRPr lang="en-US" altLang="zh-CN" sz="28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D8BCE8-6687-46CE-A021-430004499B0B}"/>
              </a:ext>
            </a:extLst>
          </p:cNvPr>
          <p:cNvSpPr/>
          <p:nvPr/>
        </p:nvSpPr>
        <p:spPr>
          <a:xfrm>
            <a:off x="1625599" y="1785005"/>
            <a:ext cx="69734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SYSCLK</a:t>
            </a:r>
            <a:r>
              <a:rPr lang="zh-CN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的时钟频率为</a:t>
            </a:r>
            <a:r>
              <a:rPr lang="en-US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72MHz</a:t>
            </a:r>
            <a:r>
              <a:rPr lang="zh-CN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HCLK</a:t>
            </a:r>
            <a:r>
              <a:rPr lang="zh-CN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的频率不能设置为</a:t>
            </a:r>
            <a:r>
              <a:rPr lang="en-US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  )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A.9MHz        B.18MHz          C.24MHz          D.36MHz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9966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SYSCLK</a:t>
            </a:r>
            <a:r>
              <a:rPr lang="zh-CN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的时钟频率为</a:t>
            </a:r>
            <a:r>
              <a:rPr lang="en-US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72MHz</a:t>
            </a:r>
            <a:r>
              <a:rPr lang="zh-CN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HCLK</a:t>
            </a:r>
            <a:r>
              <a:rPr lang="zh-CN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的频率不能设置为</a:t>
            </a:r>
            <a:r>
              <a:rPr lang="en-US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  )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9MHz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18MHz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24MHz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36MHz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144907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</a:t>
            </a:r>
            <a:r>
              <a:rPr lang="zh-CN" altLang="en-US" sz="2800" b="1" dirty="0">
                <a:cs typeface="+mn-ea"/>
                <a:sym typeface="+mn-lt"/>
              </a:rPr>
              <a:t>的时钟频率及控制方法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006206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问题与思考</a:t>
            </a:r>
            <a:endParaRPr lang="en-US" altLang="zh-CN" sz="28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D8BCE8-6687-46CE-A021-430004499B0B}"/>
              </a:ext>
            </a:extLst>
          </p:cNvPr>
          <p:cNvSpPr/>
          <p:nvPr/>
        </p:nvSpPr>
        <p:spPr>
          <a:xfrm>
            <a:off x="1625599" y="1785005"/>
            <a:ext cx="69734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SYSCLK</a:t>
            </a:r>
            <a:r>
              <a:rPr lang="zh-CN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的时钟频率为</a:t>
            </a:r>
            <a:r>
              <a:rPr lang="en-US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72MHz</a:t>
            </a:r>
            <a:r>
              <a:rPr lang="zh-CN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HCLK</a:t>
            </a:r>
            <a:r>
              <a:rPr lang="zh-CN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的频率不能设置为</a:t>
            </a:r>
            <a:r>
              <a:rPr lang="en-US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C  )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A.9MHz        B.18MHz          C.24MHz          D.36MHz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hlinkClick r:id="rId2" action="ppaction://hlinksldjump"/>
          </p:cNvPr>
          <p:cNvSpPr txBox="1"/>
          <p:nvPr/>
        </p:nvSpPr>
        <p:spPr>
          <a:xfrm>
            <a:off x="8958663" y="5921671"/>
            <a:ext cx="2715768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本节结束</a:t>
            </a:r>
            <a:r>
              <a:rPr lang="zh-CN" altLang="en-US" b="1" dirty="0">
                <a:hlinkClick r:id="rId3" action="ppaction://hlinksldjump"/>
              </a:rPr>
              <a:t>，</a:t>
            </a:r>
            <a:r>
              <a:rPr lang="zh-CN" altLang="en-US" b="1" dirty="0"/>
              <a:t>跳到下一节</a:t>
            </a:r>
          </a:p>
        </p:txBody>
      </p:sp>
    </p:spTree>
    <p:extLst>
      <p:ext uri="{BB962C8B-B14F-4D97-AF65-F5344CB8AC3E}">
        <p14:creationId xmlns:p14="http://schemas.microsoft.com/office/powerpoint/2010/main" val="11044494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</a:t>
            </a:r>
            <a:r>
              <a:rPr lang="zh-CN" altLang="en-US" sz="2800" b="1" dirty="0">
                <a:cs typeface="+mn-ea"/>
                <a:sym typeface="+mn-lt"/>
              </a:rPr>
              <a:t>的时钟频率及控制方法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006206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STM32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时钟树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413" y="812833"/>
            <a:ext cx="5641176" cy="6045167"/>
          </a:xfrm>
          <a:prstGeom prst="rect">
            <a:avLst/>
          </a:prstGeom>
        </p:spPr>
      </p:pic>
      <p:sp>
        <p:nvSpPr>
          <p:cNvPr id="8" name="动作按钮: 后退或前一项 7">
            <a:hlinkClick r:id="" action="ppaction://hlinkshowjump?jump=lastslideviewed" highlightClick="1"/>
          </p:cNvPr>
          <p:cNvSpPr/>
          <p:nvPr/>
        </p:nvSpPr>
        <p:spPr>
          <a:xfrm>
            <a:off x="11094721" y="5774108"/>
            <a:ext cx="1042416" cy="1042416"/>
          </a:xfrm>
          <a:prstGeom prst="actionButtonBackPrevio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313898" y="3608937"/>
            <a:ext cx="3043451" cy="58477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2B6C95"/>
                </a:solidFill>
                <a:cs typeface="+mn-ea"/>
                <a:sym typeface="+mn-lt"/>
              </a:rPr>
              <a:t>CSS</a:t>
            </a:r>
            <a:r>
              <a:rPr lang="zh-CN" altLang="en-US" sz="1600" b="1" dirty="0">
                <a:solidFill>
                  <a:srgbClr val="2B6C95"/>
                </a:solidFill>
                <a:cs typeface="+mn-ea"/>
                <a:sym typeface="+mn-lt"/>
              </a:rPr>
              <a:t>时钟安全系统，用于检测</a:t>
            </a:r>
            <a:r>
              <a:rPr lang="en-US" altLang="zh-CN" sz="1600" b="1" dirty="0">
                <a:solidFill>
                  <a:srgbClr val="2B6C95"/>
                </a:solidFill>
                <a:cs typeface="+mn-ea"/>
                <a:sym typeface="+mn-lt"/>
              </a:rPr>
              <a:t>HSE</a:t>
            </a:r>
            <a:r>
              <a:rPr lang="zh-CN" altLang="en-US" sz="1600" b="1" dirty="0">
                <a:solidFill>
                  <a:srgbClr val="2B6C95"/>
                </a:solidFill>
                <a:cs typeface="+mn-ea"/>
                <a:sym typeface="+mn-lt"/>
              </a:rPr>
              <a:t>是否失效，以便切换到</a:t>
            </a:r>
            <a:r>
              <a:rPr lang="en-US" altLang="zh-CN" sz="1600" b="1" dirty="0">
                <a:solidFill>
                  <a:srgbClr val="2B6C95"/>
                </a:solidFill>
                <a:cs typeface="+mn-ea"/>
                <a:sym typeface="+mn-lt"/>
              </a:rPr>
              <a:t>HSI </a:t>
            </a:r>
          </a:p>
        </p:txBody>
      </p:sp>
    </p:spTree>
    <p:extLst>
      <p:ext uri="{BB962C8B-B14F-4D97-AF65-F5344CB8AC3E}">
        <p14:creationId xmlns:p14="http://schemas.microsoft.com/office/powerpoint/2010/main" val="23690486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</a:t>
            </a:r>
            <a:r>
              <a:rPr lang="zh-CN" altLang="en-US" sz="2800" b="1" dirty="0">
                <a:cs typeface="+mn-ea"/>
                <a:sym typeface="+mn-lt"/>
              </a:rPr>
              <a:t>的时钟频率及控制方法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1" y="1938721"/>
            <a:ext cx="10058400" cy="264729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182372"/>
            <a:ext cx="7738963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时钟配置寄存器（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RCC_CFGR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动作按钮: 后退或前一项 8">
            <a:hlinkClick r:id="" action="ppaction://hlinkshowjump?jump=lastslideviewed" highlightClick="1"/>
          </p:cNvPr>
          <p:cNvSpPr/>
          <p:nvPr/>
        </p:nvSpPr>
        <p:spPr>
          <a:xfrm>
            <a:off x="11094721" y="5774108"/>
            <a:ext cx="1042416" cy="1042416"/>
          </a:xfrm>
          <a:prstGeom prst="actionButtonBackPrevio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51560" y="4712307"/>
            <a:ext cx="46810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位</a:t>
            </a:r>
            <a:r>
              <a:rPr lang="en-US" altLang="zh-CN" dirty="0"/>
              <a:t>1:0 SW</a:t>
            </a:r>
            <a:r>
              <a:rPr lang="zh-CN" altLang="en-US" dirty="0"/>
              <a:t>：系统时钟切换</a:t>
            </a:r>
            <a:endParaRPr lang="en-US" altLang="zh-CN" dirty="0"/>
          </a:p>
          <a:p>
            <a:r>
              <a:rPr lang="en-US" altLang="zh-CN" dirty="0"/>
              <a:t>00</a:t>
            </a:r>
            <a:r>
              <a:rPr lang="zh-CN" altLang="en-US" dirty="0"/>
              <a:t>： </a:t>
            </a:r>
            <a:r>
              <a:rPr lang="en-US" altLang="zh-CN" dirty="0"/>
              <a:t>HSI</a:t>
            </a:r>
            <a:r>
              <a:rPr lang="zh-CN" altLang="en-US" dirty="0"/>
              <a:t>作为系统时钟</a:t>
            </a:r>
          </a:p>
          <a:p>
            <a:r>
              <a:rPr lang="en-US" altLang="zh-CN" dirty="0"/>
              <a:t>01</a:t>
            </a:r>
            <a:r>
              <a:rPr lang="zh-CN" altLang="en-US" dirty="0"/>
              <a:t>： </a:t>
            </a:r>
            <a:r>
              <a:rPr lang="en-US" altLang="zh-CN" dirty="0"/>
              <a:t>HSE</a:t>
            </a:r>
            <a:r>
              <a:rPr lang="zh-CN" altLang="en-US" dirty="0"/>
              <a:t>作为系统时钟</a:t>
            </a:r>
          </a:p>
          <a:p>
            <a:r>
              <a:rPr lang="en-US" altLang="zh-CN" dirty="0"/>
              <a:t>10</a:t>
            </a:r>
            <a:r>
              <a:rPr lang="zh-CN" altLang="en-US" dirty="0"/>
              <a:t>： </a:t>
            </a:r>
            <a:r>
              <a:rPr lang="en-US" altLang="zh-CN" dirty="0"/>
              <a:t>PLL</a:t>
            </a:r>
            <a:r>
              <a:rPr lang="zh-CN" altLang="en-US" dirty="0"/>
              <a:t>输出作为系统时钟</a:t>
            </a:r>
          </a:p>
          <a:p>
            <a:r>
              <a:rPr lang="en-US" altLang="zh-CN" dirty="0"/>
              <a:t>11</a:t>
            </a:r>
            <a:r>
              <a:rPr lang="zh-CN" altLang="en-US" dirty="0"/>
              <a:t>：不可用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35670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</a:t>
            </a:r>
            <a:r>
              <a:rPr lang="zh-CN" altLang="en-US" sz="2800" b="1" dirty="0">
                <a:cs typeface="+mn-ea"/>
                <a:sym typeface="+mn-lt"/>
              </a:rPr>
              <a:t>的时钟频率及控制方法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1" y="1938721"/>
            <a:ext cx="10058400" cy="264729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182372"/>
            <a:ext cx="7738963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时钟配置寄存器（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RCC_CFGR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动作按钮: 后退或前一项 8">
            <a:hlinkClick r:id="" action="ppaction://hlinkshowjump?jump=lastslideviewed" highlightClick="1"/>
          </p:cNvPr>
          <p:cNvSpPr/>
          <p:nvPr/>
        </p:nvSpPr>
        <p:spPr>
          <a:xfrm>
            <a:off x="11094721" y="5774108"/>
            <a:ext cx="1042416" cy="1042416"/>
          </a:xfrm>
          <a:prstGeom prst="actionButtonBackPrevio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51560" y="4712307"/>
            <a:ext cx="92178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位</a:t>
            </a:r>
            <a:r>
              <a:rPr lang="en-US" altLang="zh-CN" dirty="0"/>
              <a:t>7:4 HPRE</a:t>
            </a:r>
            <a:r>
              <a:rPr lang="zh-CN" altLang="en-US" dirty="0"/>
              <a:t>：</a:t>
            </a:r>
            <a:r>
              <a:rPr lang="en-US" altLang="zh-CN" dirty="0"/>
              <a:t>AHB</a:t>
            </a:r>
            <a:r>
              <a:rPr lang="zh-CN" altLang="en-US" dirty="0"/>
              <a:t>预分频</a:t>
            </a:r>
            <a:endParaRPr lang="en-US" altLang="zh-CN" dirty="0"/>
          </a:p>
          <a:p>
            <a:r>
              <a:rPr lang="en-US" altLang="zh-CN" dirty="0"/>
              <a:t>0xxx</a:t>
            </a:r>
            <a:r>
              <a:rPr lang="zh-CN" altLang="en-US" dirty="0"/>
              <a:t>：</a:t>
            </a:r>
            <a:r>
              <a:rPr lang="en-US" altLang="zh-CN" dirty="0"/>
              <a:t>SYSCLK</a:t>
            </a:r>
            <a:r>
              <a:rPr lang="zh-CN" altLang="en-US" dirty="0"/>
              <a:t>不分频        </a:t>
            </a:r>
            <a:r>
              <a:rPr lang="en-US" altLang="zh-CN" dirty="0"/>
              <a:t>1000</a:t>
            </a:r>
            <a:r>
              <a:rPr lang="zh-CN" altLang="en-US" dirty="0"/>
              <a:t>： </a:t>
            </a:r>
            <a:r>
              <a:rPr lang="en-US" altLang="zh-CN" dirty="0"/>
              <a:t>SYSCLK 2</a:t>
            </a:r>
            <a:r>
              <a:rPr lang="zh-CN" altLang="en-US" dirty="0"/>
              <a:t>分频       </a:t>
            </a:r>
            <a:r>
              <a:rPr lang="en-US" altLang="zh-CN" dirty="0"/>
              <a:t>1001</a:t>
            </a:r>
            <a:r>
              <a:rPr lang="zh-CN" altLang="en-US" dirty="0"/>
              <a:t>： </a:t>
            </a:r>
            <a:r>
              <a:rPr lang="en-US" altLang="zh-CN" dirty="0"/>
              <a:t>SYSCLK 4</a:t>
            </a:r>
            <a:r>
              <a:rPr lang="zh-CN" altLang="en-US" dirty="0"/>
              <a:t>分频</a:t>
            </a:r>
            <a:endParaRPr lang="en-US" altLang="zh-CN" dirty="0"/>
          </a:p>
          <a:p>
            <a:r>
              <a:rPr lang="en-US" altLang="zh-CN" dirty="0"/>
              <a:t>1010</a:t>
            </a:r>
            <a:r>
              <a:rPr lang="zh-CN" altLang="en-US" dirty="0"/>
              <a:t>：</a:t>
            </a:r>
            <a:r>
              <a:rPr lang="en-US" altLang="zh-CN" dirty="0"/>
              <a:t>SYSCLK 8</a:t>
            </a:r>
            <a:r>
              <a:rPr lang="zh-CN" altLang="en-US" dirty="0"/>
              <a:t>分频        </a:t>
            </a:r>
            <a:r>
              <a:rPr lang="en-US" altLang="zh-CN" dirty="0"/>
              <a:t>1011</a:t>
            </a:r>
            <a:r>
              <a:rPr lang="zh-CN" altLang="en-US" dirty="0"/>
              <a:t>： </a:t>
            </a:r>
            <a:r>
              <a:rPr lang="en-US" altLang="zh-CN" dirty="0"/>
              <a:t>SYSCLK 16</a:t>
            </a:r>
            <a:r>
              <a:rPr lang="zh-CN" altLang="en-US" dirty="0"/>
              <a:t>分频     </a:t>
            </a:r>
            <a:r>
              <a:rPr lang="en-US" altLang="zh-CN" dirty="0"/>
              <a:t>1100</a:t>
            </a:r>
            <a:r>
              <a:rPr lang="zh-CN" altLang="en-US" dirty="0"/>
              <a:t>： </a:t>
            </a:r>
            <a:r>
              <a:rPr lang="en-US" altLang="zh-CN" dirty="0"/>
              <a:t>SYSCLK 64</a:t>
            </a:r>
            <a:r>
              <a:rPr lang="zh-CN" altLang="en-US" dirty="0"/>
              <a:t>分频</a:t>
            </a:r>
            <a:endParaRPr lang="en-US" altLang="zh-CN" dirty="0"/>
          </a:p>
          <a:p>
            <a:r>
              <a:rPr lang="en-US" altLang="zh-CN" dirty="0"/>
              <a:t>1101</a:t>
            </a:r>
            <a:r>
              <a:rPr lang="zh-CN" altLang="en-US" dirty="0"/>
              <a:t>： </a:t>
            </a:r>
            <a:r>
              <a:rPr lang="en-US" altLang="zh-CN" dirty="0"/>
              <a:t>SYSCLK 128</a:t>
            </a:r>
            <a:r>
              <a:rPr lang="zh-CN" altLang="en-US" dirty="0"/>
              <a:t>分频    </a:t>
            </a:r>
            <a:r>
              <a:rPr lang="en-US" altLang="zh-CN" dirty="0"/>
              <a:t>1110</a:t>
            </a:r>
            <a:r>
              <a:rPr lang="zh-CN" altLang="en-US" dirty="0"/>
              <a:t>： </a:t>
            </a:r>
            <a:r>
              <a:rPr lang="en-US" altLang="zh-CN" dirty="0"/>
              <a:t>SYSCLK 256</a:t>
            </a:r>
            <a:r>
              <a:rPr lang="zh-CN" altLang="en-US" dirty="0"/>
              <a:t>分频   </a:t>
            </a:r>
            <a:r>
              <a:rPr lang="en-US" altLang="zh-CN" dirty="0"/>
              <a:t>1111</a:t>
            </a:r>
            <a:r>
              <a:rPr lang="zh-CN" altLang="en-US" dirty="0"/>
              <a:t>： </a:t>
            </a:r>
            <a:r>
              <a:rPr lang="en-US" altLang="zh-CN" dirty="0"/>
              <a:t>SYSCLK 512</a:t>
            </a:r>
            <a:r>
              <a:rPr lang="zh-CN" altLang="en-US" dirty="0"/>
              <a:t>分频</a:t>
            </a:r>
          </a:p>
        </p:txBody>
      </p:sp>
    </p:spTree>
    <p:extLst>
      <p:ext uri="{BB962C8B-B14F-4D97-AF65-F5344CB8AC3E}">
        <p14:creationId xmlns:p14="http://schemas.microsoft.com/office/powerpoint/2010/main" val="14901890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</a:t>
            </a:r>
            <a:r>
              <a:rPr lang="zh-CN" altLang="en-US" sz="2800" b="1" dirty="0">
                <a:cs typeface="+mn-ea"/>
                <a:sym typeface="+mn-lt"/>
              </a:rPr>
              <a:t>的时钟频率及控制方法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1" y="1938721"/>
            <a:ext cx="10058400" cy="264729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182372"/>
            <a:ext cx="7738963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时钟配置寄存器（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RCC_CFGR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动作按钮: 后退或前一项 8">
            <a:hlinkClick r:id="" action="ppaction://hlinkshowjump?jump=lastslideviewed" highlightClick="1"/>
          </p:cNvPr>
          <p:cNvSpPr/>
          <p:nvPr/>
        </p:nvSpPr>
        <p:spPr>
          <a:xfrm>
            <a:off x="11094721" y="5774108"/>
            <a:ext cx="1042416" cy="1042416"/>
          </a:xfrm>
          <a:prstGeom prst="actionButtonBackPrevio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51560" y="4712307"/>
            <a:ext cx="46810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位</a:t>
            </a:r>
            <a:r>
              <a:rPr lang="en-US" altLang="zh-CN" dirty="0"/>
              <a:t>10:8 PPRE1</a:t>
            </a:r>
            <a:r>
              <a:rPr lang="zh-CN" altLang="en-US" dirty="0"/>
              <a:t>：低速</a:t>
            </a:r>
            <a:r>
              <a:rPr lang="en-US" altLang="zh-CN" dirty="0"/>
              <a:t>APB</a:t>
            </a:r>
            <a:r>
              <a:rPr lang="zh-CN" altLang="en-US" dirty="0"/>
              <a:t>预分频</a:t>
            </a:r>
            <a:endParaRPr lang="en-US" altLang="zh-CN" dirty="0"/>
          </a:p>
          <a:p>
            <a:r>
              <a:rPr lang="en-US" altLang="zh-CN" dirty="0"/>
              <a:t>0xx</a:t>
            </a:r>
            <a:r>
              <a:rPr lang="zh-CN" altLang="en-US" dirty="0"/>
              <a:t>： </a:t>
            </a:r>
            <a:r>
              <a:rPr lang="en-US" altLang="zh-CN" dirty="0"/>
              <a:t>HCLK</a:t>
            </a:r>
            <a:r>
              <a:rPr lang="zh-CN" altLang="en-US" dirty="0"/>
              <a:t>不分频</a:t>
            </a:r>
          </a:p>
          <a:p>
            <a:r>
              <a:rPr lang="en-US" altLang="zh-CN" dirty="0"/>
              <a:t>100</a:t>
            </a:r>
            <a:r>
              <a:rPr lang="zh-CN" altLang="en-US" dirty="0"/>
              <a:t>： </a:t>
            </a:r>
            <a:r>
              <a:rPr lang="en-US" altLang="zh-CN" dirty="0"/>
              <a:t>HCLK 2</a:t>
            </a:r>
            <a:r>
              <a:rPr lang="zh-CN" altLang="en-US" dirty="0"/>
              <a:t>分频</a:t>
            </a:r>
          </a:p>
          <a:p>
            <a:r>
              <a:rPr lang="en-US" altLang="zh-CN" dirty="0"/>
              <a:t>101</a:t>
            </a:r>
            <a:r>
              <a:rPr lang="zh-CN" altLang="en-US" dirty="0"/>
              <a:t>： </a:t>
            </a:r>
            <a:r>
              <a:rPr lang="en-US" altLang="zh-CN" dirty="0"/>
              <a:t>HCLK 4</a:t>
            </a:r>
            <a:r>
              <a:rPr lang="zh-CN" altLang="en-US" dirty="0"/>
              <a:t>分频</a:t>
            </a:r>
          </a:p>
          <a:p>
            <a:r>
              <a:rPr lang="en-US" altLang="zh-CN" dirty="0"/>
              <a:t>110</a:t>
            </a:r>
            <a:r>
              <a:rPr lang="zh-CN" altLang="en-US" dirty="0"/>
              <a:t>： </a:t>
            </a:r>
            <a:r>
              <a:rPr lang="en-US" altLang="zh-CN" dirty="0"/>
              <a:t>HCLK 8</a:t>
            </a:r>
            <a:r>
              <a:rPr lang="zh-CN" altLang="en-US" dirty="0"/>
              <a:t>分频</a:t>
            </a:r>
          </a:p>
          <a:p>
            <a:r>
              <a:rPr lang="en-US" altLang="zh-CN" dirty="0"/>
              <a:t>111</a:t>
            </a:r>
            <a:r>
              <a:rPr lang="zh-CN" altLang="en-US" dirty="0"/>
              <a:t>： </a:t>
            </a:r>
            <a:r>
              <a:rPr lang="en-US" altLang="zh-CN" dirty="0"/>
              <a:t>HCLK 16</a:t>
            </a:r>
            <a:r>
              <a:rPr lang="zh-CN" altLang="en-US" dirty="0"/>
              <a:t>分频</a:t>
            </a:r>
          </a:p>
        </p:txBody>
      </p:sp>
    </p:spTree>
    <p:extLst>
      <p:ext uri="{BB962C8B-B14F-4D97-AF65-F5344CB8AC3E}">
        <p14:creationId xmlns:p14="http://schemas.microsoft.com/office/powerpoint/2010/main" val="1414132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</a:t>
            </a:r>
            <a:r>
              <a:rPr lang="zh-CN" altLang="en-US" sz="2800" b="1" dirty="0">
                <a:cs typeface="+mn-ea"/>
                <a:sym typeface="+mn-lt"/>
              </a:rPr>
              <a:t>的时钟频率及控制方法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1" y="1938721"/>
            <a:ext cx="10058400" cy="264729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182372"/>
            <a:ext cx="7738963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时钟配置寄存器（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RCC_CFGR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动作按钮: 后退或前一项 8">
            <a:hlinkClick r:id="" action="ppaction://hlinkshowjump?jump=lastslideviewed" highlightClick="1"/>
          </p:cNvPr>
          <p:cNvSpPr/>
          <p:nvPr/>
        </p:nvSpPr>
        <p:spPr>
          <a:xfrm>
            <a:off x="11094721" y="5774108"/>
            <a:ext cx="1042416" cy="1042416"/>
          </a:xfrm>
          <a:prstGeom prst="actionButtonBackPrevio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51560" y="4712307"/>
            <a:ext cx="46810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位</a:t>
            </a:r>
            <a:r>
              <a:rPr lang="en-US" altLang="zh-CN" dirty="0"/>
              <a:t>13:11 PPRE2</a:t>
            </a:r>
            <a:r>
              <a:rPr lang="zh-CN" altLang="en-US" dirty="0"/>
              <a:t>：高速</a:t>
            </a:r>
            <a:r>
              <a:rPr lang="en-US" altLang="zh-CN" dirty="0"/>
              <a:t>APB</a:t>
            </a:r>
            <a:r>
              <a:rPr lang="zh-CN" altLang="en-US" dirty="0"/>
              <a:t>预分频</a:t>
            </a:r>
            <a:endParaRPr lang="en-US" altLang="zh-CN" dirty="0"/>
          </a:p>
          <a:p>
            <a:r>
              <a:rPr lang="en-US" altLang="zh-CN" dirty="0"/>
              <a:t>0xx</a:t>
            </a:r>
            <a:r>
              <a:rPr lang="zh-CN" altLang="en-US" dirty="0"/>
              <a:t>： </a:t>
            </a:r>
            <a:r>
              <a:rPr lang="en-US" altLang="zh-CN" dirty="0"/>
              <a:t>HCLK</a:t>
            </a:r>
            <a:r>
              <a:rPr lang="zh-CN" altLang="en-US" dirty="0"/>
              <a:t>不分频</a:t>
            </a:r>
          </a:p>
          <a:p>
            <a:r>
              <a:rPr lang="en-US" altLang="zh-CN" dirty="0"/>
              <a:t>100</a:t>
            </a:r>
            <a:r>
              <a:rPr lang="zh-CN" altLang="en-US" dirty="0"/>
              <a:t>： </a:t>
            </a:r>
            <a:r>
              <a:rPr lang="en-US" altLang="zh-CN" dirty="0"/>
              <a:t>HCLK 2</a:t>
            </a:r>
            <a:r>
              <a:rPr lang="zh-CN" altLang="en-US" dirty="0"/>
              <a:t>分频</a:t>
            </a:r>
            <a:endParaRPr lang="en-US" altLang="zh-CN" dirty="0"/>
          </a:p>
          <a:p>
            <a:r>
              <a:rPr lang="en-US" altLang="zh-CN" dirty="0"/>
              <a:t>101</a:t>
            </a:r>
            <a:r>
              <a:rPr lang="zh-CN" altLang="en-US" dirty="0"/>
              <a:t>： </a:t>
            </a:r>
            <a:r>
              <a:rPr lang="en-US" altLang="zh-CN" dirty="0"/>
              <a:t>HCLK 4</a:t>
            </a:r>
            <a:r>
              <a:rPr lang="zh-CN" altLang="en-US" dirty="0"/>
              <a:t>分频</a:t>
            </a:r>
          </a:p>
          <a:p>
            <a:r>
              <a:rPr lang="en-US" altLang="zh-CN" dirty="0"/>
              <a:t>110</a:t>
            </a:r>
            <a:r>
              <a:rPr lang="zh-CN" altLang="en-US" dirty="0"/>
              <a:t>： </a:t>
            </a:r>
            <a:r>
              <a:rPr lang="en-US" altLang="zh-CN" dirty="0"/>
              <a:t>HCLK 8</a:t>
            </a:r>
            <a:r>
              <a:rPr lang="zh-CN" altLang="en-US" dirty="0"/>
              <a:t>分频</a:t>
            </a:r>
          </a:p>
          <a:p>
            <a:r>
              <a:rPr lang="en-US" altLang="zh-CN" dirty="0"/>
              <a:t>111</a:t>
            </a:r>
            <a:r>
              <a:rPr lang="zh-CN" altLang="en-US" dirty="0"/>
              <a:t>： </a:t>
            </a:r>
            <a:r>
              <a:rPr lang="en-US" altLang="zh-CN" dirty="0"/>
              <a:t>HCLK 16</a:t>
            </a:r>
            <a:r>
              <a:rPr lang="zh-CN" altLang="en-US" dirty="0"/>
              <a:t>分频</a:t>
            </a:r>
          </a:p>
        </p:txBody>
      </p:sp>
    </p:spTree>
    <p:extLst>
      <p:ext uri="{BB962C8B-B14F-4D97-AF65-F5344CB8AC3E}">
        <p14:creationId xmlns:p14="http://schemas.microsoft.com/office/powerpoint/2010/main" val="19884887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</a:t>
            </a:r>
            <a:r>
              <a:rPr lang="zh-CN" altLang="en-US" sz="2800" b="1" dirty="0">
                <a:cs typeface="+mn-ea"/>
                <a:sym typeface="+mn-lt"/>
              </a:rPr>
              <a:t>的时钟频率及控制方法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1" y="1938721"/>
            <a:ext cx="10058400" cy="264729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182372"/>
            <a:ext cx="7738963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时钟配置寄存器（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RCC_CFGR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动作按钮: 后退或前一项 8">
            <a:hlinkClick r:id="" action="ppaction://hlinkshowjump?jump=lastslideviewed" highlightClick="1"/>
          </p:cNvPr>
          <p:cNvSpPr/>
          <p:nvPr/>
        </p:nvSpPr>
        <p:spPr>
          <a:xfrm>
            <a:off x="11094721" y="5774108"/>
            <a:ext cx="1042416" cy="1042416"/>
          </a:xfrm>
          <a:prstGeom prst="actionButtonBackPrevio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51560" y="4712307"/>
            <a:ext cx="46810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位</a:t>
            </a:r>
            <a:r>
              <a:rPr lang="en-US" altLang="zh-CN" dirty="0"/>
              <a:t>15:14 ADCPRE</a:t>
            </a:r>
            <a:r>
              <a:rPr lang="zh-CN" altLang="en-US" dirty="0"/>
              <a:t>：</a:t>
            </a:r>
            <a:r>
              <a:rPr lang="en-US" altLang="zh-CN" dirty="0"/>
              <a:t>ADC</a:t>
            </a:r>
            <a:r>
              <a:rPr lang="zh-CN" altLang="en-US" dirty="0"/>
              <a:t>预分频</a:t>
            </a:r>
            <a:endParaRPr lang="en-US" altLang="zh-CN" dirty="0"/>
          </a:p>
          <a:p>
            <a:r>
              <a:rPr lang="en-US" altLang="zh-CN" dirty="0"/>
              <a:t>00</a:t>
            </a:r>
            <a:r>
              <a:rPr lang="zh-CN" altLang="en-US" dirty="0"/>
              <a:t>： </a:t>
            </a:r>
            <a:r>
              <a:rPr lang="en-US" altLang="zh-CN" dirty="0"/>
              <a:t>PCLK2 2</a:t>
            </a:r>
            <a:r>
              <a:rPr lang="zh-CN" altLang="en-US" dirty="0"/>
              <a:t>分频后作为</a:t>
            </a:r>
            <a:r>
              <a:rPr lang="en-US" altLang="zh-CN" dirty="0"/>
              <a:t>ADC</a:t>
            </a:r>
            <a:r>
              <a:rPr lang="zh-CN" altLang="en-US" dirty="0"/>
              <a:t>时钟</a:t>
            </a:r>
          </a:p>
          <a:p>
            <a:r>
              <a:rPr lang="en-US" altLang="zh-CN" dirty="0"/>
              <a:t>01</a:t>
            </a:r>
            <a:r>
              <a:rPr lang="zh-CN" altLang="en-US" dirty="0"/>
              <a:t>： </a:t>
            </a:r>
            <a:r>
              <a:rPr lang="en-US" altLang="zh-CN" dirty="0"/>
              <a:t>PCLK2 4</a:t>
            </a:r>
            <a:r>
              <a:rPr lang="zh-CN" altLang="en-US" dirty="0"/>
              <a:t>分频后作为</a:t>
            </a:r>
            <a:r>
              <a:rPr lang="en-US" altLang="zh-CN" dirty="0"/>
              <a:t>ADC</a:t>
            </a:r>
            <a:r>
              <a:rPr lang="zh-CN" altLang="en-US" dirty="0"/>
              <a:t>时钟</a:t>
            </a:r>
          </a:p>
          <a:p>
            <a:r>
              <a:rPr lang="en-US" altLang="zh-CN" dirty="0"/>
              <a:t>10</a:t>
            </a:r>
            <a:r>
              <a:rPr lang="zh-CN" altLang="en-US" dirty="0"/>
              <a:t>： </a:t>
            </a:r>
            <a:r>
              <a:rPr lang="en-US" altLang="zh-CN" dirty="0"/>
              <a:t>PCLK2 6</a:t>
            </a:r>
            <a:r>
              <a:rPr lang="zh-CN" altLang="en-US" dirty="0"/>
              <a:t>分频后作为</a:t>
            </a:r>
            <a:r>
              <a:rPr lang="en-US" altLang="zh-CN" dirty="0"/>
              <a:t>ADC</a:t>
            </a:r>
            <a:r>
              <a:rPr lang="zh-CN" altLang="en-US" dirty="0"/>
              <a:t>时钟</a:t>
            </a:r>
          </a:p>
          <a:p>
            <a:r>
              <a:rPr lang="en-US" altLang="zh-CN" dirty="0"/>
              <a:t>11</a:t>
            </a:r>
            <a:r>
              <a:rPr lang="zh-CN" altLang="en-US" dirty="0"/>
              <a:t>： </a:t>
            </a:r>
            <a:r>
              <a:rPr lang="en-US" altLang="zh-CN" dirty="0"/>
              <a:t>PCLK2 8</a:t>
            </a:r>
            <a:r>
              <a:rPr lang="zh-CN" altLang="en-US" dirty="0"/>
              <a:t>分频后作为</a:t>
            </a:r>
            <a:r>
              <a:rPr lang="en-US" altLang="zh-CN" dirty="0"/>
              <a:t>ADC</a:t>
            </a:r>
            <a:r>
              <a:rPr lang="zh-CN" altLang="en-US" dirty="0"/>
              <a:t>时钟</a:t>
            </a:r>
          </a:p>
        </p:txBody>
      </p:sp>
    </p:spTree>
    <p:extLst>
      <p:ext uri="{BB962C8B-B14F-4D97-AF65-F5344CB8AC3E}">
        <p14:creationId xmlns:p14="http://schemas.microsoft.com/office/powerpoint/2010/main" val="25165428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</a:t>
            </a:r>
            <a:r>
              <a:rPr lang="zh-CN" altLang="en-US" sz="2800" b="1" dirty="0">
                <a:cs typeface="+mn-ea"/>
                <a:sym typeface="+mn-lt"/>
              </a:rPr>
              <a:t>的时钟频率及控制方法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1" y="1938721"/>
            <a:ext cx="10058400" cy="264729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182372"/>
            <a:ext cx="7738963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时钟配置寄存器（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RCC_CFGR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动作按钮: 后退或前一项 8">
            <a:hlinkClick r:id="" action="ppaction://hlinkshowjump?jump=lastslideviewed" highlightClick="1"/>
          </p:cNvPr>
          <p:cNvSpPr/>
          <p:nvPr/>
        </p:nvSpPr>
        <p:spPr>
          <a:xfrm>
            <a:off x="11094721" y="5774108"/>
            <a:ext cx="1042416" cy="1042416"/>
          </a:xfrm>
          <a:prstGeom prst="actionButtonBackPrevio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51560" y="4712307"/>
            <a:ext cx="4681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位</a:t>
            </a:r>
            <a:r>
              <a:rPr lang="en-US" altLang="zh-CN" dirty="0"/>
              <a:t>16 PLLSRC</a:t>
            </a:r>
            <a:r>
              <a:rPr lang="zh-CN" altLang="en-US" dirty="0"/>
              <a:t>：</a:t>
            </a:r>
            <a:r>
              <a:rPr lang="en-US" altLang="zh-CN" dirty="0"/>
              <a:t>PLL</a:t>
            </a:r>
            <a:r>
              <a:rPr lang="zh-CN" altLang="en-US" dirty="0"/>
              <a:t>输入时钟源</a:t>
            </a:r>
            <a:endParaRPr lang="en-US" altLang="zh-CN" dirty="0"/>
          </a:p>
          <a:p>
            <a:r>
              <a:rPr lang="en-US" altLang="zh-CN" dirty="0"/>
              <a:t>0</a:t>
            </a:r>
            <a:r>
              <a:rPr lang="zh-CN" altLang="en-US" dirty="0"/>
              <a:t>： </a:t>
            </a:r>
            <a:r>
              <a:rPr lang="en-US" altLang="zh-CN" dirty="0"/>
              <a:t>HSI</a:t>
            </a:r>
            <a:r>
              <a:rPr lang="zh-CN" altLang="en-US" dirty="0"/>
              <a:t>时钟</a:t>
            </a:r>
            <a:r>
              <a:rPr lang="en-US" altLang="zh-CN" dirty="0"/>
              <a:t>2</a:t>
            </a:r>
            <a:r>
              <a:rPr lang="zh-CN" altLang="en-US" dirty="0"/>
              <a:t>分频后作为</a:t>
            </a:r>
            <a:r>
              <a:rPr lang="en-US" altLang="zh-CN" dirty="0"/>
              <a:t>PLL</a:t>
            </a:r>
            <a:r>
              <a:rPr lang="zh-CN" altLang="en-US" dirty="0"/>
              <a:t>输入时钟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： </a:t>
            </a:r>
            <a:r>
              <a:rPr lang="en-US" altLang="zh-CN" dirty="0"/>
              <a:t>HSE</a:t>
            </a:r>
            <a:r>
              <a:rPr lang="zh-CN" altLang="en-US" dirty="0"/>
              <a:t>时钟作为</a:t>
            </a:r>
            <a:r>
              <a:rPr lang="en-US" altLang="zh-CN" dirty="0"/>
              <a:t>PLL</a:t>
            </a:r>
            <a:r>
              <a:rPr lang="zh-CN" altLang="en-US" dirty="0"/>
              <a:t>输入时钟。</a:t>
            </a:r>
          </a:p>
        </p:txBody>
      </p:sp>
    </p:spTree>
    <p:extLst>
      <p:ext uri="{BB962C8B-B14F-4D97-AF65-F5344CB8AC3E}">
        <p14:creationId xmlns:p14="http://schemas.microsoft.com/office/powerpoint/2010/main" val="35866622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</a:t>
            </a:r>
            <a:r>
              <a:rPr lang="zh-CN" altLang="en-US" sz="2800" b="1" dirty="0">
                <a:cs typeface="+mn-ea"/>
                <a:sym typeface="+mn-lt"/>
              </a:rPr>
              <a:t>的时钟频率及控制方法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1" y="1938721"/>
            <a:ext cx="10058400" cy="264729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182372"/>
            <a:ext cx="7738963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时钟配置寄存器（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RCC_CFGR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动作按钮: 后退或前一项 8">
            <a:hlinkClick r:id="" action="ppaction://hlinkshowjump?jump=lastslideviewed" highlightClick="1"/>
          </p:cNvPr>
          <p:cNvSpPr/>
          <p:nvPr/>
        </p:nvSpPr>
        <p:spPr>
          <a:xfrm>
            <a:off x="11094721" y="5774108"/>
            <a:ext cx="1042416" cy="1042416"/>
          </a:xfrm>
          <a:prstGeom prst="actionButtonBackPrevio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51560" y="4712307"/>
            <a:ext cx="4681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位</a:t>
            </a:r>
            <a:r>
              <a:rPr lang="en-US" altLang="zh-CN" dirty="0"/>
              <a:t>17 PLLXTPRE</a:t>
            </a:r>
            <a:r>
              <a:rPr lang="zh-CN" altLang="en-US" dirty="0"/>
              <a:t>：</a:t>
            </a:r>
            <a:r>
              <a:rPr lang="en-US" altLang="zh-CN" dirty="0"/>
              <a:t>HSE</a:t>
            </a:r>
            <a:r>
              <a:rPr lang="zh-CN" altLang="en-US" dirty="0"/>
              <a:t>分频器作为</a:t>
            </a:r>
            <a:r>
              <a:rPr lang="en-US" altLang="zh-CN" dirty="0"/>
              <a:t>PLL</a:t>
            </a:r>
            <a:r>
              <a:rPr lang="zh-CN" altLang="en-US" dirty="0"/>
              <a:t>输入</a:t>
            </a:r>
            <a:endParaRPr lang="en-US" altLang="zh-CN" dirty="0"/>
          </a:p>
          <a:p>
            <a:r>
              <a:rPr lang="en-US" altLang="zh-CN" dirty="0"/>
              <a:t>0</a:t>
            </a:r>
            <a:r>
              <a:rPr lang="zh-CN" altLang="en-US" dirty="0"/>
              <a:t>： </a:t>
            </a:r>
            <a:r>
              <a:rPr lang="en-US" altLang="zh-CN" dirty="0"/>
              <a:t>HSE</a:t>
            </a:r>
            <a:r>
              <a:rPr lang="zh-CN" altLang="en-US" dirty="0"/>
              <a:t>不分频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： </a:t>
            </a:r>
            <a:r>
              <a:rPr lang="en-US" altLang="zh-CN" dirty="0"/>
              <a:t>HSE 2</a:t>
            </a:r>
            <a:r>
              <a:rPr lang="zh-CN" altLang="en-US" dirty="0"/>
              <a:t>分频</a:t>
            </a:r>
          </a:p>
        </p:txBody>
      </p:sp>
    </p:spTree>
    <p:extLst>
      <p:ext uri="{BB962C8B-B14F-4D97-AF65-F5344CB8AC3E}">
        <p14:creationId xmlns:p14="http://schemas.microsoft.com/office/powerpoint/2010/main" val="19851961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MDK5</a:t>
            </a:r>
            <a:r>
              <a:rPr lang="zh-CN" altLang="en-US" sz="2800" b="1" dirty="0">
                <a:cs typeface="+mn-ea"/>
                <a:sym typeface="+mn-lt"/>
              </a:rPr>
              <a:t>环境中的时钟配置函数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944979"/>
            <a:ext cx="7738963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时钟配置寄存器（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RCC_CFGR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66801" y="4373129"/>
            <a:ext cx="104454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位</a:t>
            </a:r>
            <a:r>
              <a:rPr lang="en-US" altLang="zh-CN" dirty="0"/>
              <a:t>21:18</a:t>
            </a:r>
            <a:r>
              <a:rPr lang="zh-CN" altLang="en-US" dirty="0"/>
              <a:t> </a:t>
            </a:r>
            <a:r>
              <a:rPr lang="en-US" altLang="zh-CN" dirty="0"/>
              <a:t>PLLMUL</a:t>
            </a:r>
            <a:r>
              <a:rPr lang="zh-CN" altLang="en-US" dirty="0"/>
              <a:t>：</a:t>
            </a:r>
            <a:r>
              <a:rPr lang="en-US" altLang="zh-CN" dirty="0"/>
              <a:t>PLL</a:t>
            </a:r>
            <a:r>
              <a:rPr lang="zh-CN" altLang="en-US" dirty="0"/>
              <a:t>倍频系数</a:t>
            </a:r>
            <a:endParaRPr lang="en-US" altLang="zh-CN" dirty="0"/>
          </a:p>
          <a:p>
            <a:r>
              <a:rPr lang="en-US" altLang="zh-CN" dirty="0"/>
              <a:t>0000</a:t>
            </a:r>
            <a:r>
              <a:rPr lang="zh-CN" altLang="en-US" dirty="0"/>
              <a:t>：</a:t>
            </a:r>
            <a:r>
              <a:rPr lang="en-US" altLang="zh-CN" dirty="0"/>
              <a:t>PLL 2</a:t>
            </a:r>
            <a:r>
              <a:rPr lang="zh-CN" altLang="en-US" dirty="0"/>
              <a:t>倍频输出                  </a:t>
            </a:r>
            <a:r>
              <a:rPr lang="en-US" altLang="zh-CN" dirty="0"/>
              <a:t>0001</a:t>
            </a:r>
            <a:r>
              <a:rPr lang="zh-CN" altLang="en-US" dirty="0"/>
              <a:t>：</a:t>
            </a:r>
            <a:r>
              <a:rPr lang="en-US" altLang="zh-CN" dirty="0"/>
              <a:t>PLL 3</a:t>
            </a:r>
            <a:r>
              <a:rPr lang="zh-CN" altLang="en-US" dirty="0"/>
              <a:t>倍频输出                 </a:t>
            </a:r>
            <a:r>
              <a:rPr lang="en-US" altLang="zh-CN" dirty="0"/>
              <a:t>0010</a:t>
            </a:r>
            <a:r>
              <a:rPr lang="zh-CN" altLang="en-US" dirty="0"/>
              <a:t>：</a:t>
            </a:r>
            <a:r>
              <a:rPr lang="en-US" altLang="zh-CN" dirty="0"/>
              <a:t>PLL 4</a:t>
            </a:r>
            <a:r>
              <a:rPr lang="zh-CN" altLang="en-US" dirty="0"/>
              <a:t>倍频输出</a:t>
            </a:r>
            <a:endParaRPr lang="en-US" altLang="zh-CN" dirty="0"/>
          </a:p>
          <a:p>
            <a:r>
              <a:rPr lang="en-US" altLang="zh-CN" dirty="0"/>
              <a:t>0011</a:t>
            </a:r>
            <a:r>
              <a:rPr lang="zh-CN" altLang="en-US" dirty="0"/>
              <a:t>：</a:t>
            </a:r>
            <a:r>
              <a:rPr lang="en-US" altLang="zh-CN" dirty="0"/>
              <a:t>PLL 5</a:t>
            </a:r>
            <a:r>
              <a:rPr lang="zh-CN" altLang="en-US" dirty="0"/>
              <a:t>倍频输出                  </a:t>
            </a:r>
            <a:r>
              <a:rPr lang="en-US" altLang="zh-CN" dirty="0"/>
              <a:t>0100</a:t>
            </a:r>
            <a:r>
              <a:rPr lang="zh-CN" altLang="en-US" dirty="0"/>
              <a:t>：</a:t>
            </a:r>
            <a:r>
              <a:rPr lang="en-US" altLang="zh-CN" dirty="0"/>
              <a:t>PLL 6</a:t>
            </a:r>
            <a:r>
              <a:rPr lang="zh-CN" altLang="en-US" dirty="0"/>
              <a:t>倍频输出                 </a:t>
            </a:r>
            <a:r>
              <a:rPr lang="en-US" altLang="zh-CN" dirty="0"/>
              <a:t>0101</a:t>
            </a:r>
            <a:r>
              <a:rPr lang="zh-CN" altLang="en-US" dirty="0"/>
              <a:t>：</a:t>
            </a:r>
            <a:r>
              <a:rPr lang="en-US" altLang="zh-CN" dirty="0"/>
              <a:t>PLL 7</a:t>
            </a:r>
            <a:r>
              <a:rPr lang="zh-CN" altLang="en-US" dirty="0"/>
              <a:t>倍频输出</a:t>
            </a:r>
            <a:endParaRPr lang="en-US" altLang="zh-CN" dirty="0"/>
          </a:p>
          <a:p>
            <a:r>
              <a:rPr lang="en-US" altLang="zh-CN" dirty="0"/>
              <a:t>0110</a:t>
            </a:r>
            <a:r>
              <a:rPr lang="zh-CN" altLang="en-US" dirty="0"/>
              <a:t>：</a:t>
            </a:r>
            <a:r>
              <a:rPr lang="en-US" altLang="zh-CN" dirty="0"/>
              <a:t>PLL 8</a:t>
            </a:r>
            <a:r>
              <a:rPr lang="zh-CN" altLang="en-US" dirty="0"/>
              <a:t>倍频输出                  </a:t>
            </a:r>
            <a:r>
              <a:rPr lang="en-US" altLang="zh-CN" dirty="0"/>
              <a:t>0111</a:t>
            </a:r>
            <a:r>
              <a:rPr lang="zh-CN" altLang="en-US" dirty="0"/>
              <a:t>：</a:t>
            </a:r>
            <a:r>
              <a:rPr lang="en-US" altLang="zh-CN" dirty="0"/>
              <a:t>PLL 9</a:t>
            </a:r>
            <a:r>
              <a:rPr lang="zh-CN" altLang="en-US" dirty="0"/>
              <a:t>倍频输出                 </a:t>
            </a:r>
            <a:r>
              <a:rPr lang="en-US" altLang="zh-CN" dirty="0"/>
              <a:t>1000</a:t>
            </a:r>
            <a:r>
              <a:rPr lang="zh-CN" altLang="en-US" dirty="0"/>
              <a:t>：</a:t>
            </a:r>
            <a:r>
              <a:rPr lang="en-US" altLang="zh-CN" dirty="0"/>
              <a:t>PLL 10</a:t>
            </a:r>
            <a:r>
              <a:rPr lang="zh-CN" altLang="en-US" dirty="0"/>
              <a:t>倍频输出</a:t>
            </a:r>
            <a:endParaRPr lang="en-US" altLang="zh-CN" dirty="0"/>
          </a:p>
          <a:p>
            <a:r>
              <a:rPr lang="en-US" altLang="zh-CN" dirty="0"/>
              <a:t>1001</a:t>
            </a:r>
            <a:r>
              <a:rPr lang="zh-CN" altLang="en-US" dirty="0"/>
              <a:t>：</a:t>
            </a:r>
            <a:r>
              <a:rPr lang="en-US" altLang="zh-CN" dirty="0"/>
              <a:t>PLL 11</a:t>
            </a:r>
            <a:r>
              <a:rPr lang="zh-CN" altLang="en-US" dirty="0"/>
              <a:t>倍频输出                </a:t>
            </a:r>
            <a:r>
              <a:rPr lang="en-US" altLang="zh-CN" dirty="0"/>
              <a:t>1010</a:t>
            </a:r>
            <a:r>
              <a:rPr lang="zh-CN" altLang="en-US" dirty="0"/>
              <a:t>：</a:t>
            </a:r>
            <a:r>
              <a:rPr lang="en-US" altLang="zh-CN" dirty="0"/>
              <a:t>PLL 12</a:t>
            </a:r>
            <a:r>
              <a:rPr lang="zh-CN" altLang="en-US" dirty="0"/>
              <a:t>倍频输出               </a:t>
            </a:r>
            <a:r>
              <a:rPr lang="en-US" altLang="zh-CN" dirty="0"/>
              <a:t>1011</a:t>
            </a:r>
            <a:r>
              <a:rPr lang="zh-CN" altLang="en-US" dirty="0"/>
              <a:t>：</a:t>
            </a:r>
            <a:r>
              <a:rPr lang="en-US" altLang="zh-CN" dirty="0"/>
              <a:t>PLL 13</a:t>
            </a:r>
            <a:r>
              <a:rPr lang="zh-CN" altLang="en-US" dirty="0"/>
              <a:t>倍频输出</a:t>
            </a:r>
            <a:endParaRPr lang="en-US" altLang="zh-CN" dirty="0"/>
          </a:p>
          <a:p>
            <a:r>
              <a:rPr lang="en-US" altLang="zh-CN" dirty="0"/>
              <a:t>1100</a:t>
            </a:r>
            <a:r>
              <a:rPr lang="zh-CN" altLang="en-US" dirty="0"/>
              <a:t>：</a:t>
            </a:r>
            <a:r>
              <a:rPr lang="en-US" altLang="zh-CN" dirty="0"/>
              <a:t>PLL14</a:t>
            </a:r>
            <a:r>
              <a:rPr lang="zh-CN" altLang="en-US" dirty="0"/>
              <a:t>倍频输出                 </a:t>
            </a:r>
            <a:r>
              <a:rPr lang="en-US" altLang="zh-CN" dirty="0"/>
              <a:t>1101</a:t>
            </a:r>
            <a:r>
              <a:rPr lang="zh-CN" altLang="en-US" dirty="0"/>
              <a:t>：</a:t>
            </a:r>
            <a:r>
              <a:rPr lang="en-US" altLang="zh-CN" dirty="0"/>
              <a:t>PLL 15</a:t>
            </a:r>
            <a:r>
              <a:rPr lang="zh-CN" altLang="en-US" dirty="0"/>
              <a:t>倍频输出               </a:t>
            </a:r>
            <a:r>
              <a:rPr lang="en-US" altLang="zh-CN" dirty="0"/>
              <a:t>1110/1111</a:t>
            </a:r>
            <a:r>
              <a:rPr lang="zh-CN" altLang="en-US" dirty="0"/>
              <a:t>：</a:t>
            </a:r>
            <a:r>
              <a:rPr lang="en-US" altLang="zh-CN" dirty="0"/>
              <a:t>PLL 16</a:t>
            </a:r>
            <a:r>
              <a:rPr lang="zh-CN" altLang="en-US" dirty="0"/>
              <a:t>倍频输出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1" y="1597018"/>
            <a:ext cx="10058400" cy="2647292"/>
          </a:xfrm>
          <a:prstGeom prst="rect">
            <a:avLst/>
          </a:prstGeom>
        </p:spPr>
      </p:pic>
      <p:sp>
        <p:nvSpPr>
          <p:cNvPr id="10" name="动作按钮: 后退或前一项 9">
            <a:hlinkClick r:id="" action="ppaction://hlinkshowjump?jump=lastslideviewed" highlightClick="1"/>
          </p:cNvPr>
          <p:cNvSpPr/>
          <p:nvPr/>
        </p:nvSpPr>
        <p:spPr>
          <a:xfrm>
            <a:off x="11094721" y="5774108"/>
            <a:ext cx="1042416" cy="1042416"/>
          </a:xfrm>
          <a:prstGeom prst="actionButtonBackPrevio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9551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</a:t>
            </a:r>
            <a:r>
              <a:rPr lang="zh-CN" altLang="en-US" sz="2800" b="1" dirty="0">
                <a:cs typeface="+mn-ea"/>
                <a:sym typeface="+mn-lt"/>
              </a:rPr>
              <a:t>的时钟频率及控制方法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1" y="1938721"/>
            <a:ext cx="10058400" cy="264729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182372"/>
            <a:ext cx="7738963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时钟配置寄存器（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RCC_CFGR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动作按钮: 后退或前一项 8">
            <a:hlinkClick r:id="" action="ppaction://hlinkshowjump?jump=lastslideviewed" highlightClick="1"/>
          </p:cNvPr>
          <p:cNvSpPr/>
          <p:nvPr/>
        </p:nvSpPr>
        <p:spPr>
          <a:xfrm>
            <a:off x="11094721" y="5774108"/>
            <a:ext cx="1042416" cy="1042416"/>
          </a:xfrm>
          <a:prstGeom prst="actionButtonBackPrevio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51560" y="4712307"/>
            <a:ext cx="4681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位</a:t>
            </a:r>
            <a:r>
              <a:rPr lang="en-US" altLang="zh-CN" dirty="0"/>
              <a:t>22 USBPRE</a:t>
            </a:r>
            <a:r>
              <a:rPr lang="zh-CN" altLang="en-US" dirty="0"/>
              <a:t>：</a:t>
            </a:r>
            <a:r>
              <a:rPr lang="en-US" altLang="zh-CN" dirty="0"/>
              <a:t>USB</a:t>
            </a:r>
            <a:r>
              <a:rPr lang="zh-CN" altLang="en-US" dirty="0"/>
              <a:t>预分频</a:t>
            </a:r>
            <a:endParaRPr lang="en-US" altLang="zh-CN" dirty="0"/>
          </a:p>
          <a:p>
            <a:r>
              <a:rPr lang="en-US" altLang="zh-CN" dirty="0"/>
              <a:t>0</a:t>
            </a:r>
            <a:r>
              <a:rPr lang="zh-CN" altLang="en-US" dirty="0"/>
              <a:t>： </a:t>
            </a:r>
            <a:r>
              <a:rPr lang="en-US" altLang="zh-CN" dirty="0"/>
              <a:t>PLL</a:t>
            </a:r>
            <a:r>
              <a:rPr lang="zh-CN" altLang="en-US" dirty="0"/>
              <a:t>时钟</a:t>
            </a:r>
            <a:r>
              <a:rPr lang="en-US" altLang="zh-CN" dirty="0"/>
              <a:t>1.5</a:t>
            </a:r>
            <a:r>
              <a:rPr lang="zh-CN" altLang="en-US" dirty="0"/>
              <a:t>倍分频作为</a:t>
            </a:r>
            <a:r>
              <a:rPr lang="en-US" altLang="zh-CN" dirty="0"/>
              <a:t>USB</a:t>
            </a:r>
            <a:r>
              <a:rPr lang="zh-CN" altLang="en-US" dirty="0"/>
              <a:t>时钟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： </a:t>
            </a:r>
            <a:r>
              <a:rPr lang="en-US" altLang="zh-CN" dirty="0"/>
              <a:t>PLL</a:t>
            </a:r>
            <a:r>
              <a:rPr lang="zh-CN" altLang="en-US" dirty="0"/>
              <a:t>时钟直接作为</a:t>
            </a:r>
            <a:r>
              <a:rPr lang="en-US" altLang="zh-CN" dirty="0"/>
              <a:t>USB</a:t>
            </a:r>
            <a:r>
              <a:rPr lang="zh-CN" altLang="en-US" dirty="0"/>
              <a:t>时钟</a:t>
            </a:r>
          </a:p>
        </p:txBody>
      </p:sp>
    </p:spTree>
    <p:extLst>
      <p:ext uri="{BB962C8B-B14F-4D97-AF65-F5344CB8AC3E}">
        <p14:creationId xmlns:p14="http://schemas.microsoft.com/office/powerpoint/2010/main" val="40570930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cs typeface="+mn-ea"/>
                <a:sym typeface="+mn-lt"/>
              </a:rPr>
              <a:t>STM32</a:t>
            </a:r>
            <a:r>
              <a:rPr lang="zh-CN" altLang="en-US" sz="2800" b="1" dirty="0">
                <a:cs typeface="+mn-ea"/>
                <a:sym typeface="+mn-lt"/>
              </a:rPr>
              <a:t>的时钟频率及控制方法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1" y="1938721"/>
            <a:ext cx="10058400" cy="264729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182372"/>
            <a:ext cx="7738963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时钟配置寄存器（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RCC_CFGR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动作按钮: 后退或前一项 8">
            <a:hlinkClick r:id="" action="ppaction://hlinkshowjump?jump=lastslideviewed" highlightClick="1"/>
          </p:cNvPr>
          <p:cNvSpPr/>
          <p:nvPr/>
        </p:nvSpPr>
        <p:spPr>
          <a:xfrm>
            <a:off x="11094721" y="5774108"/>
            <a:ext cx="1042416" cy="1042416"/>
          </a:xfrm>
          <a:prstGeom prst="actionButtonBackPrevio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51560" y="4712307"/>
            <a:ext cx="46810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位</a:t>
            </a:r>
            <a:r>
              <a:rPr lang="en-US" altLang="zh-CN" dirty="0"/>
              <a:t>26:24 MCO</a:t>
            </a:r>
            <a:r>
              <a:rPr lang="zh-CN" altLang="en-US" dirty="0"/>
              <a:t>：</a:t>
            </a:r>
            <a:r>
              <a:rPr lang="en-US" altLang="zh-CN" dirty="0"/>
              <a:t>MCO</a:t>
            </a:r>
            <a:r>
              <a:rPr lang="zh-CN" altLang="en-US" dirty="0"/>
              <a:t>微控制器时钟输出</a:t>
            </a:r>
            <a:endParaRPr lang="en-US" altLang="zh-CN" dirty="0"/>
          </a:p>
          <a:p>
            <a:r>
              <a:rPr lang="en-US" altLang="zh-CN" dirty="0"/>
              <a:t>0xx: </a:t>
            </a:r>
            <a:r>
              <a:rPr lang="zh-CN" altLang="en-US" dirty="0"/>
              <a:t>没有时钟输出</a:t>
            </a:r>
          </a:p>
          <a:p>
            <a:r>
              <a:rPr lang="en-US" altLang="zh-CN" dirty="0"/>
              <a:t>100: </a:t>
            </a:r>
            <a:r>
              <a:rPr lang="zh-CN" altLang="en-US" dirty="0"/>
              <a:t>系统时钟输出</a:t>
            </a:r>
          </a:p>
          <a:p>
            <a:r>
              <a:rPr lang="en-US" altLang="zh-CN" dirty="0"/>
              <a:t>101: </a:t>
            </a:r>
            <a:r>
              <a:rPr lang="zh-CN" altLang="en-US" dirty="0"/>
              <a:t>内部</a:t>
            </a:r>
            <a:r>
              <a:rPr lang="en-US" altLang="zh-CN" dirty="0"/>
              <a:t>8MHz</a:t>
            </a:r>
            <a:r>
              <a:rPr lang="zh-CN" altLang="en-US" dirty="0"/>
              <a:t>的</a:t>
            </a:r>
            <a:r>
              <a:rPr lang="en-US" altLang="zh-CN" dirty="0"/>
              <a:t>RC</a:t>
            </a:r>
            <a:r>
              <a:rPr lang="zh-CN" altLang="en-US" dirty="0"/>
              <a:t>振荡器时钟输出</a:t>
            </a:r>
            <a:endParaRPr lang="en-US" altLang="zh-CN" dirty="0"/>
          </a:p>
          <a:p>
            <a:r>
              <a:rPr lang="en-US" altLang="zh-CN" dirty="0"/>
              <a:t>110: </a:t>
            </a:r>
            <a:r>
              <a:rPr lang="zh-CN" altLang="en-US" dirty="0"/>
              <a:t>外部</a:t>
            </a:r>
            <a:r>
              <a:rPr lang="en-US" altLang="zh-CN" dirty="0"/>
              <a:t>1-25MHz</a:t>
            </a:r>
            <a:r>
              <a:rPr lang="zh-CN" altLang="en-US" dirty="0"/>
              <a:t>振荡器时钟输出</a:t>
            </a:r>
          </a:p>
          <a:p>
            <a:r>
              <a:rPr lang="en-US" altLang="zh-CN" dirty="0"/>
              <a:t>111: PLL</a:t>
            </a:r>
            <a:r>
              <a:rPr lang="zh-CN" altLang="en-US" dirty="0"/>
              <a:t>时钟</a:t>
            </a:r>
            <a:r>
              <a:rPr lang="en-US" altLang="zh-CN" dirty="0"/>
              <a:t>2</a:t>
            </a:r>
            <a:r>
              <a:rPr lang="zh-CN" altLang="en-US" dirty="0"/>
              <a:t>分频后输出</a:t>
            </a:r>
          </a:p>
        </p:txBody>
      </p:sp>
    </p:spTree>
    <p:extLst>
      <p:ext uri="{BB962C8B-B14F-4D97-AF65-F5344CB8AC3E}">
        <p14:creationId xmlns:p14="http://schemas.microsoft.com/office/powerpoint/2010/main" val="30840415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02627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2577" y="3167390"/>
            <a:ext cx="6775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42E6E0"/>
                </a:solidFill>
              </a:rPr>
              <a:t>STM32</a:t>
            </a:r>
            <a:r>
              <a:rPr lang="zh-CN" altLang="en-US" sz="2800" b="1" dirty="0">
                <a:solidFill>
                  <a:srgbClr val="42E6E0"/>
                </a:solidFill>
              </a:rPr>
              <a:t>复位序列与启动过程</a:t>
            </a:r>
            <a:endParaRPr lang="en-US" altLang="zh-CN" sz="2800" b="1" dirty="0">
              <a:solidFill>
                <a:srgbClr val="42E6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150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STM32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的复位序列与启动过程</a:t>
            </a: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962079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复位入口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3881034" y="1350808"/>
          <a:ext cx="2308772" cy="3075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8772">
                  <a:extLst>
                    <a:ext uri="{9D8B030D-6E8A-4147-A177-3AD203B41FA5}">
                      <a16:colId xmlns:a16="http://schemas.microsoft.com/office/drawing/2014/main" val="4226036092"/>
                    </a:ext>
                  </a:extLst>
                </a:gridCol>
              </a:tblGrid>
              <a:tr h="4917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其他储存器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55503"/>
                  </a:ext>
                </a:extLst>
              </a:tr>
              <a:tr h="36343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第一个入栈的元素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079837"/>
                  </a:ext>
                </a:extLst>
              </a:tr>
              <a:tr h="363436"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第二个入栈的元素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998927"/>
                  </a:ext>
                </a:extLst>
              </a:tr>
              <a:tr h="36343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42580"/>
                  </a:ext>
                </a:extLst>
              </a:tr>
              <a:tr h="36343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644318"/>
                  </a:ext>
                </a:extLst>
              </a:tr>
              <a:tr h="36343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40605"/>
                  </a:ext>
                </a:extLst>
              </a:tr>
              <a:tr h="75515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dirty="0"/>
                        <a:t>其他储存器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233077"/>
                  </a:ext>
                </a:extLst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/>
        </p:nvGraphicFramePr>
        <p:xfrm>
          <a:off x="3888039" y="4414871"/>
          <a:ext cx="2312275" cy="2039006"/>
        </p:xfrm>
        <a:graphic>
          <a:graphicData uri="http://schemas.openxmlformats.org/drawingml/2006/table">
            <a:tbl>
              <a:tblPr/>
              <a:tblGrid>
                <a:gridCol w="2312275">
                  <a:extLst>
                    <a:ext uri="{9D8B030D-6E8A-4147-A177-3AD203B41FA5}">
                      <a16:colId xmlns:a16="http://schemas.microsoft.com/office/drawing/2014/main" val="3881702713"/>
                    </a:ext>
                  </a:extLst>
                </a:gridCol>
              </a:tblGrid>
              <a:tr h="203900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闪存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2605917"/>
                  </a:ext>
                </a:extLst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3989637" y="4889515"/>
          <a:ext cx="2116085" cy="1545020"/>
        </p:xfrm>
        <a:graphic>
          <a:graphicData uri="http://schemas.openxmlformats.org/drawingml/2006/table">
            <a:tbl>
              <a:tblPr/>
              <a:tblGrid>
                <a:gridCol w="2116085">
                  <a:extLst>
                    <a:ext uri="{9D8B030D-6E8A-4147-A177-3AD203B41FA5}">
                      <a16:colId xmlns:a16="http://schemas.microsoft.com/office/drawing/2014/main" val="714606929"/>
                    </a:ext>
                  </a:extLst>
                </a:gridCol>
              </a:tblGrid>
              <a:tr h="38625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启动引导代码</a:t>
                      </a:r>
                    </a:p>
                  </a:txBody>
                  <a:tcPr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5094075"/>
                  </a:ext>
                </a:extLst>
              </a:tr>
              <a:tr h="38625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其他异常向量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866725"/>
                  </a:ext>
                </a:extLst>
              </a:tr>
              <a:tr h="38625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0×00000101</a:t>
                      </a:r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60969"/>
                  </a:ext>
                </a:extLst>
              </a:tr>
              <a:tr h="38625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0×20008000</a:t>
                      </a:r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966663"/>
                  </a:ext>
                </a:extLst>
              </a:tr>
            </a:tbl>
          </a:graphicData>
        </a:graphic>
      </p:graphicFrame>
      <p:sp>
        <p:nvSpPr>
          <p:cNvPr id="56" name="文本框 55"/>
          <p:cNvSpPr txBox="1"/>
          <p:nvPr/>
        </p:nvSpPr>
        <p:spPr>
          <a:xfrm>
            <a:off x="2269446" y="1462473"/>
            <a:ext cx="150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0×20008000</a:t>
            </a:r>
            <a:endParaRPr lang="zh-CN" altLang="en-US" dirty="0"/>
          </a:p>
        </p:txBody>
      </p:sp>
      <p:sp>
        <p:nvSpPr>
          <p:cNvPr id="57" name="文本框 56"/>
          <p:cNvSpPr txBox="1"/>
          <p:nvPr/>
        </p:nvSpPr>
        <p:spPr>
          <a:xfrm>
            <a:off x="2269446" y="1839229"/>
            <a:ext cx="1713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0×20007FFC</a:t>
            </a:r>
            <a:endParaRPr lang="zh-CN" altLang="en-US" dirty="0"/>
          </a:p>
        </p:txBody>
      </p:sp>
      <p:sp>
        <p:nvSpPr>
          <p:cNvPr id="58" name="文本框 57"/>
          <p:cNvSpPr txBox="1"/>
          <p:nvPr/>
        </p:nvSpPr>
        <p:spPr>
          <a:xfrm>
            <a:off x="2269446" y="2202820"/>
            <a:ext cx="1713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0×20007FF8</a:t>
            </a:r>
            <a:endParaRPr lang="zh-CN" altLang="en-US" dirty="0"/>
          </a:p>
        </p:txBody>
      </p:sp>
      <p:sp>
        <p:nvSpPr>
          <p:cNvPr id="59" name="文本框 58"/>
          <p:cNvSpPr txBox="1"/>
          <p:nvPr/>
        </p:nvSpPr>
        <p:spPr>
          <a:xfrm>
            <a:off x="2269446" y="3308845"/>
            <a:ext cx="1713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0×20007C00</a:t>
            </a:r>
            <a:endParaRPr lang="zh-CN" altLang="en-US" dirty="0"/>
          </a:p>
        </p:txBody>
      </p:sp>
      <p:sp>
        <p:nvSpPr>
          <p:cNvPr id="60" name="文本框 59"/>
          <p:cNvSpPr txBox="1"/>
          <p:nvPr/>
        </p:nvSpPr>
        <p:spPr>
          <a:xfrm>
            <a:off x="2269446" y="6084001"/>
            <a:ext cx="1713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0×00000000</a:t>
            </a:r>
            <a:endParaRPr lang="zh-CN" altLang="en-US" dirty="0"/>
          </a:p>
        </p:txBody>
      </p:sp>
      <p:sp>
        <p:nvSpPr>
          <p:cNvPr id="61" name="文本框 60"/>
          <p:cNvSpPr txBox="1"/>
          <p:nvPr/>
        </p:nvSpPr>
        <p:spPr>
          <a:xfrm>
            <a:off x="2269446" y="5699821"/>
            <a:ext cx="1713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0×00000004</a:t>
            </a:r>
            <a:endParaRPr lang="zh-CN" altLang="en-US" dirty="0"/>
          </a:p>
        </p:txBody>
      </p:sp>
      <p:sp>
        <p:nvSpPr>
          <p:cNvPr id="62" name="文本框 61"/>
          <p:cNvSpPr txBox="1"/>
          <p:nvPr/>
        </p:nvSpPr>
        <p:spPr>
          <a:xfrm>
            <a:off x="2269446" y="4878490"/>
            <a:ext cx="1713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0×00000100</a:t>
            </a:r>
            <a:endParaRPr lang="zh-CN" altLang="en-US" dirty="0"/>
          </a:p>
        </p:txBody>
      </p:sp>
      <p:cxnSp>
        <p:nvCxnSpPr>
          <p:cNvPr id="63" name="直接连接符 62"/>
          <p:cNvCxnSpPr/>
          <p:nvPr/>
        </p:nvCxnSpPr>
        <p:spPr>
          <a:xfrm flipV="1">
            <a:off x="6366510" y="5840730"/>
            <a:ext cx="1245870" cy="114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V="1">
            <a:off x="7612380" y="5017770"/>
            <a:ext cx="0" cy="8343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 flipH="1">
            <a:off x="6366510" y="5017770"/>
            <a:ext cx="12458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6583680" y="5118967"/>
            <a:ext cx="1028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Reset Vector</a:t>
            </a:r>
            <a:endParaRPr lang="zh-CN" altLang="en-US" dirty="0"/>
          </a:p>
        </p:txBody>
      </p:sp>
      <p:sp>
        <p:nvSpPr>
          <p:cNvPr id="67" name="右大括号 66"/>
          <p:cNvSpPr/>
          <p:nvPr/>
        </p:nvSpPr>
        <p:spPr>
          <a:xfrm>
            <a:off x="6402185" y="2030471"/>
            <a:ext cx="362990" cy="146304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6800850" y="2438825"/>
            <a:ext cx="811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堆栈内存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8366760" y="1323973"/>
            <a:ext cx="1794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MSP</a:t>
            </a:r>
            <a:r>
              <a:rPr lang="zh-CN" altLang="en-US" dirty="0"/>
              <a:t>的初始值</a:t>
            </a:r>
            <a:endParaRPr lang="en-US" altLang="zh-CN" dirty="0"/>
          </a:p>
          <a:p>
            <a:r>
              <a:rPr lang="en-US" altLang="zh-CN" dirty="0"/>
              <a:t>0×20008000</a:t>
            </a:r>
            <a:endParaRPr lang="zh-CN" altLang="en-US" dirty="0"/>
          </a:p>
        </p:txBody>
      </p:sp>
      <p:cxnSp>
        <p:nvCxnSpPr>
          <p:cNvPr id="70" name="直接连接符 69"/>
          <p:cNvCxnSpPr/>
          <p:nvPr/>
        </p:nvCxnSpPr>
        <p:spPr>
          <a:xfrm>
            <a:off x="6366510" y="6332220"/>
            <a:ext cx="43891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flipV="1">
            <a:off x="10755630" y="1588770"/>
            <a:ext cx="0" cy="4743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 flipH="1">
            <a:off x="10001250" y="1588770"/>
            <a:ext cx="754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>
            <a:stCxn id="69" idx="1"/>
          </p:cNvCxnSpPr>
          <p:nvPr/>
        </p:nvCxnSpPr>
        <p:spPr>
          <a:xfrm flipH="1">
            <a:off x="6366510" y="1647139"/>
            <a:ext cx="2000250" cy="21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下箭头 73"/>
          <p:cNvSpPr/>
          <p:nvPr/>
        </p:nvSpPr>
        <p:spPr>
          <a:xfrm>
            <a:off x="9666108" y="2722919"/>
            <a:ext cx="484632" cy="72447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9125469" y="2301955"/>
            <a:ext cx="156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堆栈向下生长</a:t>
            </a:r>
          </a:p>
        </p:txBody>
      </p:sp>
    </p:spTree>
    <p:extLst>
      <p:ext uri="{BB962C8B-B14F-4D97-AF65-F5344CB8AC3E}">
        <p14:creationId xmlns:p14="http://schemas.microsoft.com/office/powerpoint/2010/main" val="25029883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STM32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的复位序列与启动过程</a:t>
            </a: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105468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启动代码功能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858095" y="1808891"/>
            <a:ext cx="8200304" cy="3904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启动代码文件名是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STM32F10x.S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，它的作用如下：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1.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堆和栈的定义；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2.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向量表定义；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3.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复位入口程序定义，其它中断服务程序定义；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4.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通过复位程序进入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C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的实时库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_main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；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5.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由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C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的实时库实现堆栈的初始化，完成空间分配等工作；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6.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进入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C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应用程序。</a:t>
            </a:r>
          </a:p>
        </p:txBody>
      </p:sp>
    </p:spTree>
    <p:extLst>
      <p:ext uri="{BB962C8B-B14F-4D97-AF65-F5344CB8AC3E}">
        <p14:creationId xmlns:p14="http://schemas.microsoft.com/office/powerpoint/2010/main" val="20458173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STM32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的复位序列与启动过程</a:t>
            </a: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105468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启动代码实现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105360" y="1613694"/>
            <a:ext cx="9981282" cy="4662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34988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FF0000"/>
                </a:solidFill>
                <a:cs typeface="+mn-ea"/>
              </a:rPr>
              <a:t>首先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对栈和堆的大小进行定义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indent="534988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cs typeface="+mn-ea"/>
              </a:rPr>
              <a:t>栈区（</a:t>
            </a:r>
            <a:r>
              <a:rPr lang="en-US" altLang="zh-CN" dirty="0">
                <a:solidFill>
                  <a:srgbClr val="0070C0"/>
                </a:solidFill>
                <a:cs typeface="+mn-ea"/>
              </a:rPr>
              <a:t>stack</a:t>
            </a:r>
            <a:r>
              <a:rPr lang="zh-CN" altLang="en-US" dirty="0">
                <a:solidFill>
                  <a:srgbClr val="0070C0"/>
                </a:solidFill>
                <a:cs typeface="+mn-ea"/>
              </a:rPr>
              <a:t>）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―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由编译器自动分配释放，存放函数的参数值，局部变量的值等。其操作方式类似于数据结构中的栈。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indent="534988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cs typeface="+mn-ea"/>
              </a:rPr>
              <a:t>堆区（</a:t>
            </a:r>
            <a:r>
              <a:rPr lang="en-US" altLang="zh-CN" dirty="0">
                <a:solidFill>
                  <a:srgbClr val="0070C0"/>
                </a:solidFill>
                <a:cs typeface="+mn-ea"/>
              </a:rPr>
              <a:t>heap</a:t>
            </a:r>
            <a:r>
              <a:rPr lang="zh-CN" altLang="en-US" dirty="0">
                <a:solidFill>
                  <a:srgbClr val="0070C0"/>
                </a:solidFill>
                <a:cs typeface="+mn-ea"/>
              </a:rPr>
              <a:t>）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―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一般由程序员分配释放， 若程序员不释放，程序结束时可能由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OS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回收 。注意类似于链表（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malloc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 free, new delete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）。</a:t>
            </a:r>
          </a:p>
          <a:p>
            <a:pPr indent="534988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indent="534988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FF0000"/>
                </a:solidFill>
                <a:cs typeface="+mn-ea"/>
              </a:rPr>
              <a:t>其次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在代码区的起始处建立中断向量表，其第一个表项是栈顶地址，第二个表项是复位中断服务入口地址。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indent="534988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indent="534988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FF0000"/>
                </a:solidFill>
                <a:cs typeface="+mn-ea"/>
              </a:rPr>
              <a:t>然后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在复位中断服务程序中跳转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C/C++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标准实时库的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__main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函数，完成用户堆栈等的初始化后，跳转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.c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文件中的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main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函数开始执行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C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程序。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289308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STM32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的复位序列与启动过程</a:t>
            </a: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1105468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启动代码内存映象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105360" y="1678781"/>
            <a:ext cx="9981282" cy="3350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34988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假设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STM32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被设置为从内部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FLASH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启动（这也是最常见的一种情况），中断向量表起始地位为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0x8000000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，则栈顶地址存放于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0x8000000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处，而复位中断服务入口地址存放于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0x8000004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处。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indent="534988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当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STM32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遇到复位信号后，则从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0x8000004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处取出复位中断服务入口地址，继而执行复位中断服务程序，然后跳转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__main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函数，最后进入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main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函数，来到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C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的世界。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196382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A6A819F1-33AF-45D7-8BF6-2B0A9769CA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A6A819F1-33AF-45D7-8BF6-2B0A9769CA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FF51F16D-1BAD-46EE-A6F4-B8B94C9DF62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cs typeface="+mn-ea"/>
              <a:sym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6048331" y="2739847"/>
            <a:ext cx="5079462" cy="1621509"/>
          </a:xfrm>
        </p:spPr>
        <p:txBody>
          <a:bodyPr/>
          <a:lstStyle/>
          <a:p>
            <a:r>
              <a:rPr lang="en-US" altLang="zh-CN" sz="4400" dirty="0">
                <a:latin typeface="+mn-lt"/>
                <a:ea typeface="+mn-ea"/>
                <a:cs typeface="+mn-ea"/>
                <a:sym typeface="+mn-lt"/>
              </a:rPr>
              <a:t>Thanks</a:t>
            </a:r>
            <a:br>
              <a:rPr lang="en-US" altLang="zh-CN" dirty="0">
                <a:latin typeface="+mn-lt"/>
                <a:ea typeface="+mn-ea"/>
                <a:cs typeface="+mn-ea"/>
                <a:sym typeface="+mn-lt"/>
              </a:rPr>
            </a:b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29461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THINKCELLUNDODONOTDELETE" val="0"/>
  <p:tag name="ISLIDE.THEME" val="3d09a1d7-7c63-43a4-b3ee-df21fa2c8d6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mkff3fSzGMOuItfjj3Fw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170C5A"/>
      </a:accent1>
      <a:accent2>
        <a:srgbClr val="4F5DCB"/>
      </a:accent2>
      <a:accent3>
        <a:srgbClr val="265989"/>
      </a:accent3>
      <a:accent4>
        <a:srgbClr val="41E7DF"/>
      </a:accent4>
      <a:accent5>
        <a:srgbClr val="757579"/>
      </a:accent5>
      <a:accent6>
        <a:srgbClr val="5C5E60"/>
      </a:accent6>
      <a:hlink>
        <a:srgbClr val="4276AA"/>
      </a:hlink>
      <a:folHlink>
        <a:srgbClr val="BFBFBF"/>
      </a:folHlink>
    </a:clrScheme>
    <a:fontScheme name="gs4a4zn3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170C5A"/>
    </a:accent1>
    <a:accent2>
      <a:srgbClr val="4F5DCB"/>
    </a:accent2>
    <a:accent3>
      <a:srgbClr val="265989"/>
    </a:accent3>
    <a:accent4>
      <a:srgbClr val="41E7DF"/>
    </a:accent4>
    <a:accent5>
      <a:srgbClr val="757579"/>
    </a:accent5>
    <a:accent6>
      <a:srgbClr val="5C5E60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798</TotalTime>
  <Words>2924</Words>
  <Application>Microsoft Office PowerPoint</Application>
  <PresentationFormat>宽屏</PresentationFormat>
  <Paragraphs>481</Paragraphs>
  <Slides>49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0" baseType="lpstr">
      <vt:lpstr>等线</vt:lpstr>
      <vt:lpstr>楷体</vt:lpstr>
      <vt:lpstr>楷体_GB2312</vt:lpstr>
      <vt:lpstr>宋体</vt:lpstr>
      <vt:lpstr>Microsoft Yahei</vt:lpstr>
      <vt:lpstr>Arial</vt:lpstr>
      <vt:lpstr>Calibri</vt:lpstr>
      <vt:lpstr>Times New Roman</vt:lpstr>
      <vt:lpstr>Wingdings</vt:lpstr>
      <vt:lpstr>主题5</vt:lpstr>
      <vt:lpstr>think-cell Slide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Thanks 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润 史</cp:lastModifiedBy>
  <cp:revision>65</cp:revision>
  <cp:lastPrinted>2018-09-20T16:00:00Z</cp:lastPrinted>
  <dcterms:created xsi:type="dcterms:W3CDTF">2018-09-20T16:00:00Z</dcterms:created>
  <dcterms:modified xsi:type="dcterms:W3CDTF">2026-03-26T07:39:37Z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