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tmp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4"/>
  </p:notesMasterIdLst>
  <p:sldIdLst>
    <p:sldId id="436" r:id="rId2"/>
    <p:sldId id="427" r:id="rId3"/>
    <p:sldId id="433" r:id="rId4"/>
    <p:sldId id="429" r:id="rId5"/>
    <p:sldId id="434" r:id="rId6"/>
    <p:sldId id="437" r:id="rId7"/>
    <p:sldId id="438" r:id="rId8"/>
    <p:sldId id="439" r:id="rId9"/>
    <p:sldId id="440" r:id="rId10"/>
    <p:sldId id="441" r:id="rId11"/>
    <p:sldId id="442" r:id="rId12"/>
    <p:sldId id="443" r:id="rId13"/>
    <p:sldId id="444" r:id="rId14"/>
    <p:sldId id="445" r:id="rId15"/>
    <p:sldId id="446" r:id="rId16"/>
    <p:sldId id="447" r:id="rId17"/>
    <p:sldId id="448" r:id="rId18"/>
    <p:sldId id="449" r:id="rId19"/>
    <p:sldId id="450" r:id="rId20"/>
    <p:sldId id="451" r:id="rId21"/>
    <p:sldId id="452" r:id="rId22"/>
    <p:sldId id="559" r:id="rId23"/>
    <p:sldId id="453" r:id="rId24"/>
    <p:sldId id="454" r:id="rId25"/>
    <p:sldId id="455" r:id="rId26"/>
    <p:sldId id="456" r:id="rId27"/>
    <p:sldId id="457" r:id="rId28"/>
    <p:sldId id="458" r:id="rId29"/>
    <p:sldId id="459" r:id="rId30"/>
    <p:sldId id="460" r:id="rId31"/>
    <p:sldId id="461" r:id="rId32"/>
    <p:sldId id="462" r:id="rId33"/>
    <p:sldId id="463" r:id="rId34"/>
    <p:sldId id="464" r:id="rId35"/>
    <p:sldId id="465" r:id="rId36"/>
    <p:sldId id="466" r:id="rId37"/>
    <p:sldId id="561" r:id="rId38"/>
    <p:sldId id="562" r:id="rId39"/>
    <p:sldId id="560" r:id="rId40"/>
    <p:sldId id="468" r:id="rId41"/>
    <p:sldId id="469" r:id="rId42"/>
    <p:sldId id="470" r:id="rId43"/>
    <p:sldId id="471" r:id="rId44"/>
    <p:sldId id="472" r:id="rId45"/>
    <p:sldId id="473" r:id="rId46"/>
    <p:sldId id="474" r:id="rId47"/>
    <p:sldId id="475" r:id="rId48"/>
    <p:sldId id="476" r:id="rId49"/>
    <p:sldId id="477" r:id="rId50"/>
    <p:sldId id="478" r:id="rId51"/>
    <p:sldId id="563" r:id="rId52"/>
    <p:sldId id="564" r:id="rId53"/>
    <p:sldId id="479" r:id="rId54"/>
    <p:sldId id="480" r:id="rId55"/>
    <p:sldId id="481" r:id="rId56"/>
    <p:sldId id="482" r:id="rId57"/>
    <p:sldId id="483" r:id="rId58"/>
    <p:sldId id="484" r:id="rId59"/>
    <p:sldId id="485" r:id="rId60"/>
    <p:sldId id="486" r:id="rId61"/>
    <p:sldId id="487" r:id="rId62"/>
    <p:sldId id="488" r:id="rId63"/>
    <p:sldId id="565" r:id="rId64"/>
    <p:sldId id="489" r:id="rId65"/>
    <p:sldId id="490" r:id="rId66"/>
    <p:sldId id="491" r:id="rId67"/>
    <p:sldId id="492" r:id="rId68"/>
    <p:sldId id="493" r:id="rId69"/>
    <p:sldId id="494" r:id="rId70"/>
    <p:sldId id="495" r:id="rId71"/>
    <p:sldId id="496" r:id="rId72"/>
    <p:sldId id="497" r:id="rId73"/>
    <p:sldId id="498" r:id="rId74"/>
    <p:sldId id="499" r:id="rId75"/>
    <p:sldId id="500" r:id="rId76"/>
    <p:sldId id="501" r:id="rId77"/>
    <p:sldId id="502" r:id="rId78"/>
    <p:sldId id="503" r:id="rId79"/>
    <p:sldId id="504" r:id="rId80"/>
    <p:sldId id="505" r:id="rId81"/>
    <p:sldId id="506" r:id="rId82"/>
    <p:sldId id="507" r:id="rId83"/>
    <p:sldId id="508" r:id="rId84"/>
    <p:sldId id="573" r:id="rId85"/>
    <p:sldId id="509" r:id="rId86"/>
    <p:sldId id="575" r:id="rId87"/>
    <p:sldId id="510" r:id="rId88"/>
    <p:sldId id="511" r:id="rId89"/>
    <p:sldId id="512" r:id="rId90"/>
    <p:sldId id="513" r:id="rId91"/>
    <p:sldId id="514" r:id="rId92"/>
    <p:sldId id="515" r:id="rId93"/>
    <p:sldId id="516" r:id="rId94"/>
    <p:sldId id="517" r:id="rId95"/>
    <p:sldId id="518" r:id="rId96"/>
    <p:sldId id="519" r:id="rId97"/>
    <p:sldId id="520" r:id="rId98"/>
    <p:sldId id="521" r:id="rId99"/>
    <p:sldId id="522" r:id="rId100"/>
    <p:sldId id="523" r:id="rId101"/>
    <p:sldId id="524" r:id="rId102"/>
    <p:sldId id="525" r:id="rId103"/>
    <p:sldId id="568" r:id="rId104"/>
    <p:sldId id="569" r:id="rId105"/>
    <p:sldId id="570" r:id="rId106"/>
    <p:sldId id="572" r:id="rId107"/>
    <p:sldId id="526" r:id="rId108"/>
    <p:sldId id="574" r:id="rId109"/>
    <p:sldId id="527" r:id="rId110"/>
    <p:sldId id="528" r:id="rId111"/>
    <p:sldId id="529" r:id="rId112"/>
    <p:sldId id="530" r:id="rId113"/>
    <p:sldId id="531" r:id="rId114"/>
    <p:sldId id="532" r:id="rId115"/>
    <p:sldId id="533" r:id="rId116"/>
    <p:sldId id="534" r:id="rId117"/>
    <p:sldId id="535" r:id="rId118"/>
    <p:sldId id="536" r:id="rId119"/>
    <p:sldId id="537" r:id="rId120"/>
    <p:sldId id="566" r:id="rId121"/>
    <p:sldId id="538" r:id="rId122"/>
    <p:sldId id="539" r:id="rId123"/>
    <p:sldId id="540" r:id="rId124"/>
    <p:sldId id="541" r:id="rId125"/>
    <p:sldId id="542" r:id="rId126"/>
    <p:sldId id="543" r:id="rId127"/>
    <p:sldId id="544" r:id="rId128"/>
    <p:sldId id="545" r:id="rId129"/>
    <p:sldId id="546" r:id="rId130"/>
    <p:sldId id="547" r:id="rId131"/>
    <p:sldId id="548" r:id="rId132"/>
    <p:sldId id="567" r:id="rId133"/>
    <p:sldId id="549" r:id="rId134"/>
    <p:sldId id="550" r:id="rId135"/>
    <p:sldId id="551" r:id="rId136"/>
    <p:sldId id="552" r:id="rId137"/>
    <p:sldId id="553" r:id="rId138"/>
    <p:sldId id="554" r:id="rId139"/>
    <p:sldId id="555" r:id="rId140"/>
    <p:sldId id="556" r:id="rId141"/>
    <p:sldId id="557" r:id="rId142"/>
    <p:sldId id="558" r:id="rId143"/>
  </p:sldIdLst>
  <p:sldSz cx="12192000" cy="6858000"/>
  <p:notesSz cx="6858000" cy="9144000"/>
  <p:custDataLst>
    <p:tags r:id="rId1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E6E0"/>
    <a:srgbClr val="5666D7"/>
    <a:srgbClr val="180D5B"/>
    <a:srgbClr val="36A6B8"/>
    <a:srgbClr val="566BD8"/>
    <a:srgbClr val="42E8E0"/>
    <a:srgbClr val="255184"/>
    <a:srgbClr val="2B6C95"/>
    <a:srgbClr val="40DCD9"/>
    <a:srgbClr val="265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43" autoAdjust="0"/>
    <p:restoredTop sz="96182" autoAdjust="0"/>
  </p:normalViewPr>
  <p:slideViewPr>
    <p:cSldViewPr snapToGrid="0">
      <p:cViewPr varScale="1">
        <p:scale>
          <a:sx n="65" d="100"/>
          <a:sy n="65" d="100"/>
        </p:scale>
        <p:origin x="520" y="60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ableStyles" Target="tableStyle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notesMaster" Target="notesMasters/notesMaster1.xml"/><Relationship Id="rId90" Type="http://schemas.openxmlformats.org/officeDocument/2006/relationships/slide" Target="slides/slide8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7" name="矩形 992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43402" y="2737940"/>
            <a:ext cx="5087595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rgbClr val="5666D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3402" y="1525496"/>
            <a:ext cx="5087595" cy="119838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grpSp>
        <p:nvGrpSpPr>
          <p:cNvPr id="252" name="组合 251"/>
          <p:cNvGrpSpPr/>
          <p:nvPr userDrawn="1"/>
        </p:nvGrpSpPr>
        <p:grpSpPr>
          <a:xfrm>
            <a:off x="2134335" y="607950"/>
            <a:ext cx="9680127" cy="5377577"/>
            <a:chOff x="4656138" y="2437995"/>
            <a:chExt cx="6846887" cy="3803634"/>
          </a:xfrm>
        </p:grpSpPr>
        <p:sp>
          <p:nvSpPr>
            <p:cNvPr id="196" name="椭圆 195"/>
            <p:cNvSpPr/>
            <p:nvPr userDrawn="1"/>
          </p:nvSpPr>
          <p:spPr>
            <a:xfrm>
              <a:off x="9791994" y="5509651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椭圆 194"/>
            <p:cNvSpPr/>
            <p:nvPr userDrawn="1"/>
          </p:nvSpPr>
          <p:spPr>
            <a:xfrm>
              <a:off x="8951536" y="5923755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椭圆 191"/>
            <p:cNvSpPr/>
            <p:nvPr userDrawn="1"/>
          </p:nvSpPr>
          <p:spPr>
            <a:xfrm>
              <a:off x="7681196" y="5266157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99" name="椭圆 4098"/>
            <p:cNvSpPr/>
            <p:nvPr userDrawn="1"/>
          </p:nvSpPr>
          <p:spPr>
            <a:xfrm>
              <a:off x="6269331" y="5704329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20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Freeform 5"/>
            <p:cNvSpPr/>
            <p:nvPr userDrawn="1"/>
          </p:nvSpPr>
          <p:spPr bwMode="auto">
            <a:xfrm>
              <a:off x="4656138" y="4818063"/>
              <a:ext cx="6846887" cy="1335087"/>
            </a:xfrm>
            <a:custGeom>
              <a:avLst/>
              <a:gdLst>
                <a:gd name="T0" fmla="*/ 2059 w 2076"/>
                <a:gd name="T1" fmla="*/ 0 h 404"/>
                <a:gd name="T2" fmla="*/ 2053 w 2076"/>
                <a:gd name="T3" fmla="*/ 2 h 404"/>
                <a:gd name="T4" fmla="*/ 1420 w 2076"/>
                <a:gd name="T5" fmla="*/ 368 h 404"/>
                <a:gd name="T6" fmla="*/ 1388 w 2076"/>
                <a:gd name="T7" fmla="*/ 376 h 404"/>
                <a:gd name="T8" fmla="*/ 1357 w 2076"/>
                <a:gd name="T9" fmla="*/ 368 h 404"/>
                <a:gd name="T10" fmla="*/ 949 w 2076"/>
                <a:gd name="T11" fmla="*/ 132 h 404"/>
                <a:gd name="T12" fmla="*/ 903 w 2076"/>
                <a:gd name="T13" fmla="*/ 120 h 404"/>
                <a:gd name="T14" fmla="*/ 858 w 2076"/>
                <a:gd name="T15" fmla="*/ 132 h 404"/>
                <a:gd name="T16" fmla="*/ 521 w 2076"/>
                <a:gd name="T17" fmla="*/ 326 h 404"/>
                <a:gd name="T18" fmla="*/ 490 w 2076"/>
                <a:gd name="T19" fmla="*/ 335 h 404"/>
                <a:gd name="T20" fmla="*/ 459 w 2076"/>
                <a:gd name="T21" fmla="*/ 326 h 404"/>
                <a:gd name="T22" fmla="*/ 23 w 2076"/>
                <a:gd name="T23" fmla="*/ 75 h 404"/>
                <a:gd name="T24" fmla="*/ 16 w 2076"/>
                <a:gd name="T25" fmla="*/ 73 h 404"/>
                <a:gd name="T26" fmla="*/ 4 w 2076"/>
                <a:gd name="T27" fmla="*/ 80 h 404"/>
                <a:gd name="T28" fmla="*/ 9 w 2076"/>
                <a:gd name="T29" fmla="*/ 99 h 404"/>
                <a:gd name="T30" fmla="*/ 445 w 2076"/>
                <a:gd name="T31" fmla="*/ 351 h 404"/>
                <a:gd name="T32" fmla="*/ 490 w 2076"/>
                <a:gd name="T33" fmla="*/ 363 h 404"/>
                <a:gd name="T34" fmla="*/ 535 w 2076"/>
                <a:gd name="T35" fmla="*/ 351 h 404"/>
                <a:gd name="T36" fmla="*/ 872 w 2076"/>
                <a:gd name="T37" fmla="*/ 156 h 404"/>
                <a:gd name="T38" fmla="*/ 903 w 2076"/>
                <a:gd name="T39" fmla="*/ 148 h 404"/>
                <a:gd name="T40" fmla="*/ 935 w 2076"/>
                <a:gd name="T41" fmla="*/ 156 h 404"/>
                <a:gd name="T42" fmla="*/ 1343 w 2076"/>
                <a:gd name="T43" fmla="*/ 392 h 404"/>
                <a:gd name="T44" fmla="*/ 1388 w 2076"/>
                <a:gd name="T45" fmla="*/ 404 h 404"/>
                <a:gd name="T46" fmla="*/ 1434 w 2076"/>
                <a:gd name="T47" fmla="*/ 392 h 404"/>
                <a:gd name="T48" fmla="*/ 2067 w 2076"/>
                <a:gd name="T49" fmla="*/ 26 h 404"/>
                <a:gd name="T50" fmla="*/ 2072 w 2076"/>
                <a:gd name="T51" fmla="*/ 7 h 404"/>
                <a:gd name="T52" fmla="*/ 2059 w 2076"/>
                <a:gd name="T5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76" h="404">
                  <a:moveTo>
                    <a:pt x="2059" y="0"/>
                  </a:moveTo>
                  <a:cubicBezTo>
                    <a:pt x="2057" y="0"/>
                    <a:pt x="2055" y="1"/>
                    <a:pt x="2053" y="2"/>
                  </a:cubicBezTo>
                  <a:cubicBezTo>
                    <a:pt x="1420" y="368"/>
                    <a:pt x="1420" y="368"/>
                    <a:pt x="1420" y="368"/>
                  </a:cubicBezTo>
                  <a:cubicBezTo>
                    <a:pt x="1410" y="373"/>
                    <a:pt x="1399" y="376"/>
                    <a:pt x="1388" y="376"/>
                  </a:cubicBezTo>
                  <a:cubicBezTo>
                    <a:pt x="1378" y="376"/>
                    <a:pt x="1367" y="373"/>
                    <a:pt x="1357" y="368"/>
                  </a:cubicBezTo>
                  <a:cubicBezTo>
                    <a:pt x="949" y="132"/>
                    <a:pt x="949" y="132"/>
                    <a:pt x="949" y="132"/>
                  </a:cubicBezTo>
                  <a:cubicBezTo>
                    <a:pt x="935" y="124"/>
                    <a:pt x="919" y="120"/>
                    <a:pt x="903" y="120"/>
                  </a:cubicBezTo>
                  <a:cubicBezTo>
                    <a:pt x="888" y="120"/>
                    <a:pt x="872" y="124"/>
                    <a:pt x="858" y="132"/>
                  </a:cubicBezTo>
                  <a:cubicBezTo>
                    <a:pt x="521" y="326"/>
                    <a:pt x="521" y="326"/>
                    <a:pt x="521" y="326"/>
                  </a:cubicBezTo>
                  <a:cubicBezTo>
                    <a:pt x="511" y="332"/>
                    <a:pt x="501" y="335"/>
                    <a:pt x="490" y="335"/>
                  </a:cubicBezTo>
                  <a:cubicBezTo>
                    <a:pt x="479" y="335"/>
                    <a:pt x="468" y="332"/>
                    <a:pt x="459" y="32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1" y="74"/>
                    <a:pt x="19" y="73"/>
                    <a:pt x="16" y="73"/>
                  </a:cubicBezTo>
                  <a:cubicBezTo>
                    <a:pt x="11" y="73"/>
                    <a:pt x="7" y="76"/>
                    <a:pt x="4" y="80"/>
                  </a:cubicBezTo>
                  <a:cubicBezTo>
                    <a:pt x="0" y="87"/>
                    <a:pt x="3" y="95"/>
                    <a:pt x="9" y="99"/>
                  </a:cubicBezTo>
                  <a:cubicBezTo>
                    <a:pt x="445" y="351"/>
                    <a:pt x="445" y="351"/>
                    <a:pt x="445" y="351"/>
                  </a:cubicBezTo>
                  <a:cubicBezTo>
                    <a:pt x="459" y="359"/>
                    <a:pt x="474" y="363"/>
                    <a:pt x="490" y="363"/>
                  </a:cubicBezTo>
                  <a:cubicBezTo>
                    <a:pt x="506" y="363"/>
                    <a:pt x="521" y="359"/>
                    <a:pt x="535" y="351"/>
                  </a:cubicBezTo>
                  <a:cubicBezTo>
                    <a:pt x="872" y="156"/>
                    <a:pt x="872" y="156"/>
                    <a:pt x="872" y="156"/>
                  </a:cubicBezTo>
                  <a:cubicBezTo>
                    <a:pt x="882" y="150"/>
                    <a:pt x="893" y="148"/>
                    <a:pt x="903" y="148"/>
                  </a:cubicBezTo>
                  <a:cubicBezTo>
                    <a:pt x="914" y="148"/>
                    <a:pt x="925" y="150"/>
                    <a:pt x="935" y="156"/>
                  </a:cubicBezTo>
                  <a:cubicBezTo>
                    <a:pt x="1343" y="392"/>
                    <a:pt x="1343" y="392"/>
                    <a:pt x="1343" y="392"/>
                  </a:cubicBezTo>
                  <a:cubicBezTo>
                    <a:pt x="1357" y="400"/>
                    <a:pt x="1373" y="404"/>
                    <a:pt x="1388" y="404"/>
                  </a:cubicBezTo>
                  <a:cubicBezTo>
                    <a:pt x="1404" y="404"/>
                    <a:pt x="1420" y="400"/>
                    <a:pt x="1434" y="392"/>
                  </a:cubicBezTo>
                  <a:cubicBezTo>
                    <a:pt x="2067" y="26"/>
                    <a:pt x="2067" y="26"/>
                    <a:pt x="2067" y="26"/>
                  </a:cubicBezTo>
                  <a:cubicBezTo>
                    <a:pt x="2073" y="23"/>
                    <a:pt x="2076" y="14"/>
                    <a:pt x="2072" y="7"/>
                  </a:cubicBezTo>
                  <a:cubicBezTo>
                    <a:pt x="2069" y="3"/>
                    <a:pt x="2064" y="0"/>
                    <a:pt x="2059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50000"/>
                  </a:srgbClr>
                </a:gs>
                <a:gs pos="37000">
                  <a:srgbClr val="41E4DE">
                    <a:alpha val="50000"/>
                  </a:srgbClr>
                </a:gs>
                <a:gs pos="0">
                  <a:srgbClr val="19145F">
                    <a:alpha val="50000"/>
                  </a:srgbClr>
                </a:gs>
                <a:gs pos="100000">
                  <a:srgbClr val="19125E">
                    <a:alpha val="50000"/>
                  </a:srgbClr>
                </a:gs>
              </a:gsLst>
              <a:lin ang="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640638" y="3989388"/>
              <a:ext cx="3186112" cy="1830387"/>
            </a:xfrm>
            <a:custGeom>
              <a:avLst/>
              <a:gdLst>
                <a:gd name="T0" fmla="*/ 483 w 966"/>
                <a:gd name="T1" fmla="*/ 466 h 554"/>
                <a:gd name="T2" fmla="*/ 157 w 966"/>
                <a:gd name="T3" fmla="*/ 277 h 554"/>
                <a:gd name="T4" fmla="*/ 483 w 966"/>
                <a:gd name="T5" fmla="*/ 89 h 554"/>
                <a:gd name="T6" fmla="*/ 810 w 966"/>
                <a:gd name="T7" fmla="*/ 277 h 554"/>
                <a:gd name="T8" fmla="*/ 483 w 966"/>
                <a:gd name="T9" fmla="*/ 466 h 554"/>
                <a:gd name="T10" fmla="*/ 483 w 966"/>
                <a:gd name="T11" fmla="*/ 48 h 554"/>
                <a:gd name="T12" fmla="*/ 472 w 966"/>
                <a:gd name="T13" fmla="*/ 51 h 554"/>
                <a:gd name="T14" fmla="*/ 82 w 966"/>
                <a:gd name="T15" fmla="*/ 276 h 554"/>
                <a:gd name="T16" fmla="*/ 81 w 966"/>
                <a:gd name="T17" fmla="*/ 277 h 554"/>
                <a:gd name="T18" fmla="*/ 82 w 966"/>
                <a:gd name="T19" fmla="*/ 278 h 554"/>
                <a:gd name="T20" fmla="*/ 472 w 966"/>
                <a:gd name="T21" fmla="*/ 503 h 554"/>
                <a:gd name="T22" fmla="*/ 472 w 966"/>
                <a:gd name="T23" fmla="*/ 503 h 554"/>
                <a:gd name="T24" fmla="*/ 483 w 966"/>
                <a:gd name="T25" fmla="*/ 506 h 554"/>
                <a:gd name="T26" fmla="*/ 494 w 966"/>
                <a:gd name="T27" fmla="*/ 503 h 554"/>
                <a:gd name="T28" fmla="*/ 884 w 966"/>
                <a:gd name="T29" fmla="*/ 278 h 554"/>
                <a:gd name="T30" fmla="*/ 885 w 966"/>
                <a:gd name="T31" fmla="*/ 277 h 554"/>
                <a:gd name="T32" fmla="*/ 884 w 966"/>
                <a:gd name="T33" fmla="*/ 276 h 554"/>
                <a:gd name="T34" fmla="*/ 494 w 966"/>
                <a:gd name="T35" fmla="*/ 51 h 554"/>
                <a:gd name="T36" fmla="*/ 483 w 966"/>
                <a:gd name="T37" fmla="*/ 48 h 554"/>
                <a:gd name="T38" fmla="*/ 483 w 966"/>
                <a:gd name="T39" fmla="*/ 518 h 554"/>
                <a:gd name="T40" fmla="*/ 466 w 966"/>
                <a:gd name="T41" fmla="*/ 514 h 554"/>
                <a:gd name="T42" fmla="*/ 466 w 966"/>
                <a:gd name="T43" fmla="*/ 514 h 554"/>
                <a:gd name="T44" fmla="*/ 76 w 966"/>
                <a:gd name="T45" fmla="*/ 289 h 554"/>
                <a:gd name="T46" fmla="*/ 69 w 966"/>
                <a:gd name="T47" fmla="*/ 277 h 554"/>
                <a:gd name="T48" fmla="*/ 76 w 966"/>
                <a:gd name="T49" fmla="*/ 266 h 554"/>
                <a:gd name="T50" fmla="*/ 466 w 966"/>
                <a:gd name="T51" fmla="*/ 41 h 554"/>
                <a:gd name="T52" fmla="*/ 483 w 966"/>
                <a:gd name="T53" fmla="*/ 36 h 554"/>
                <a:gd name="T54" fmla="*/ 500 w 966"/>
                <a:gd name="T55" fmla="*/ 41 h 554"/>
                <a:gd name="T56" fmla="*/ 890 w 966"/>
                <a:gd name="T57" fmla="*/ 266 h 554"/>
                <a:gd name="T58" fmla="*/ 897 w 966"/>
                <a:gd name="T59" fmla="*/ 277 h 554"/>
                <a:gd name="T60" fmla="*/ 890 w 966"/>
                <a:gd name="T61" fmla="*/ 289 h 554"/>
                <a:gd name="T62" fmla="*/ 500 w 966"/>
                <a:gd name="T63" fmla="*/ 514 h 554"/>
                <a:gd name="T64" fmla="*/ 483 w 966"/>
                <a:gd name="T65" fmla="*/ 518 h 554"/>
                <a:gd name="T66" fmla="*/ 483 w 966"/>
                <a:gd name="T67" fmla="*/ 0 h 554"/>
                <a:gd name="T68" fmla="*/ 462 w 966"/>
                <a:gd name="T69" fmla="*/ 6 h 554"/>
                <a:gd name="T70" fmla="*/ 7 w 966"/>
                <a:gd name="T71" fmla="*/ 269 h 554"/>
                <a:gd name="T72" fmla="*/ 7 w 966"/>
                <a:gd name="T73" fmla="*/ 286 h 554"/>
                <a:gd name="T74" fmla="*/ 462 w 966"/>
                <a:gd name="T75" fmla="*/ 548 h 554"/>
                <a:gd name="T76" fmla="*/ 483 w 966"/>
                <a:gd name="T77" fmla="*/ 554 h 554"/>
                <a:gd name="T78" fmla="*/ 505 w 966"/>
                <a:gd name="T79" fmla="*/ 548 h 554"/>
                <a:gd name="T80" fmla="*/ 960 w 966"/>
                <a:gd name="T81" fmla="*/ 286 h 554"/>
                <a:gd name="T82" fmla="*/ 960 w 966"/>
                <a:gd name="T83" fmla="*/ 269 h 554"/>
                <a:gd name="T84" fmla="*/ 505 w 966"/>
                <a:gd name="T85" fmla="*/ 6 h 554"/>
                <a:gd name="T86" fmla="*/ 483 w 966"/>
                <a:gd name="T87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6" h="554">
                  <a:moveTo>
                    <a:pt x="483" y="466"/>
                  </a:moveTo>
                  <a:cubicBezTo>
                    <a:pt x="157" y="277"/>
                    <a:pt x="157" y="277"/>
                    <a:pt x="157" y="277"/>
                  </a:cubicBezTo>
                  <a:cubicBezTo>
                    <a:pt x="483" y="89"/>
                    <a:pt x="483" y="89"/>
                    <a:pt x="483" y="89"/>
                  </a:cubicBezTo>
                  <a:cubicBezTo>
                    <a:pt x="810" y="277"/>
                    <a:pt x="810" y="277"/>
                    <a:pt x="810" y="277"/>
                  </a:cubicBezTo>
                  <a:cubicBezTo>
                    <a:pt x="483" y="466"/>
                    <a:pt x="483" y="466"/>
                    <a:pt x="483" y="466"/>
                  </a:cubicBezTo>
                  <a:moveTo>
                    <a:pt x="483" y="48"/>
                  </a:moveTo>
                  <a:cubicBezTo>
                    <a:pt x="479" y="48"/>
                    <a:pt x="475" y="49"/>
                    <a:pt x="472" y="51"/>
                  </a:cubicBezTo>
                  <a:cubicBezTo>
                    <a:pt x="82" y="276"/>
                    <a:pt x="82" y="276"/>
                    <a:pt x="82" y="276"/>
                  </a:cubicBezTo>
                  <a:cubicBezTo>
                    <a:pt x="82" y="277"/>
                    <a:pt x="81" y="277"/>
                    <a:pt x="81" y="277"/>
                  </a:cubicBezTo>
                  <a:cubicBezTo>
                    <a:pt x="81" y="278"/>
                    <a:pt x="82" y="278"/>
                    <a:pt x="82" y="278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5" y="505"/>
                    <a:pt x="479" y="506"/>
                    <a:pt x="483" y="506"/>
                  </a:cubicBezTo>
                  <a:cubicBezTo>
                    <a:pt x="487" y="506"/>
                    <a:pt x="491" y="505"/>
                    <a:pt x="494" y="503"/>
                  </a:cubicBezTo>
                  <a:cubicBezTo>
                    <a:pt x="884" y="278"/>
                    <a:pt x="884" y="278"/>
                    <a:pt x="884" y="278"/>
                  </a:cubicBezTo>
                  <a:cubicBezTo>
                    <a:pt x="885" y="278"/>
                    <a:pt x="885" y="278"/>
                    <a:pt x="885" y="277"/>
                  </a:cubicBezTo>
                  <a:cubicBezTo>
                    <a:pt x="885" y="277"/>
                    <a:pt x="885" y="277"/>
                    <a:pt x="884" y="27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1" y="49"/>
                    <a:pt x="487" y="48"/>
                    <a:pt x="483" y="48"/>
                  </a:cubicBezTo>
                  <a:moveTo>
                    <a:pt x="483" y="518"/>
                  </a:moveTo>
                  <a:cubicBezTo>
                    <a:pt x="477" y="518"/>
                    <a:pt x="471" y="517"/>
                    <a:pt x="466" y="514"/>
                  </a:cubicBezTo>
                  <a:cubicBezTo>
                    <a:pt x="466" y="514"/>
                    <a:pt x="466" y="514"/>
                    <a:pt x="466" y="514"/>
                  </a:cubicBezTo>
                  <a:cubicBezTo>
                    <a:pt x="76" y="289"/>
                    <a:pt x="76" y="289"/>
                    <a:pt x="76" y="289"/>
                  </a:cubicBezTo>
                  <a:cubicBezTo>
                    <a:pt x="72" y="286"/>
                    <a:pt x="69" y="282"/>
                    <a:pt x="69" y="277"/>
                  </a:cubicBezTo>
                  <a:cubicBezTo>
                    <a:pt x="69" y="273"/>
                    <a:pt x="72" y="268"/>
                    <a:pt x="76" y="266"/>
                  </a:cubicBezTo>
                  <a:cubicBezTo>
                    <a:pt x="466" y="41"/>
                    <a:pt x="466" y="41"/>
                    <a:pt x="466" y="41"/>
                  </a:cubicBezTo>
                  <a:cubicBezTo>
                    <a:pt x="471" y="38"/>
                    <a:pt x="477" y="36"/>
                    <a:pt x="483" y="36"/>
                  </a:cubicBezTo>
                  <a:cubicBezTo>
                    <a:pt x="489" y="36"/>
                    <a:pt x="495" y="38"/>
                    <a:pt x="500" y="41"/>
                  </a:cubicBezTo>
                  <a:cubicBezTo>
                    <a:pt x="890" y="266"/>
                    <a:pt x="890" y="266"/>
                    <a:pt x="890" y="266"/>
                  </a:cubicBezTo>
                  <a:cubicBezTo>
                    <a:pt x="894" y="268"/>
                    <a:pt x="897" y="273"/>
                    <a:pt x="897" y="277"/>
                  </a:cubicBezTo>
                  <a:cubicBezTo>
                    <a:pt x="897" y="282"/>
                    <a:pt x="894" y="286"/>
                    <a:pt x="890" y="289"/>
                  </a:cubicBezTo>
                  <a:cubicBezTo>
                    <a:pt x="500" y="514"/>
                    <a:pt x="500" y="514"/>
                    <a:pt x="500" y="514"/>
                  </a:cubicBezTo>
                  <a:cubicBezTo>
                    <a:pt x="495" y="517"/>
                    <a:pt x="489" y="518"/>
                    <a:pt x="483" y="518"/>
                  </a:cubicBezTo>
                  <a:moveTo>
                    <a:pt x="483" y="0"/>
                  </a:moveTo>
                  <a:cubicBezTo>
                    <a:pt x="476" y="0"/>
                    <a:pt x="468" y="2"/>
                    <a:pt x="462" y="6"/>
                  </a:cubicBezTo>
                  <a:cubicBezTo>
                    <a:pt x="7" y="269"/>
                    <a:pt x="7" y="269"/>
                    <a:pt x="7" y="269"/>
                  </a:cubicBezTo>
                  <a:cubicBezTo>
                    <a:pt x="0" y="273"/>
                    <a:pt x="0" y="282"/>
                    <a:pt x="7" y="286"/>
                  </a:cubicBezTo>
                  <a:cubicBezTo>
                    <a:pt x="462" y="548"/>
                    <a:pt x="462" y="548"/>
                    <a:pt x="462" y="548"/>
                  </a:cubicBezTo>
                  <a:cubicBezTo>
                    <a:pt x="468" y="552"/>
                    <a:pt x="476" y="554"/>
                    <a:pt x="483" y="554"/>
                  </a:cubicBezTo>
                  <a:cubicBezTo>
                    <a:pt x="491" y="554"/>
                    <a:pt x="498" y="552"/>
                    <a:pt x="505" y="548"/>
                  </a:cubicBezTo>
                  <a:cubicBezTo>
                    <a:pt x="960" y="286"/>
                    <a:pt x="960" y="286"/>
                    <a:pt x="960" y="286"/>
                  </a:cubicBezTo>
                  <a:cubicBezTo>
                    <a:pt x="966" y="282"/>
                    <a:pt x="966" y="273"/>
                    <a:pt x="960" y="269"/>
                  </a:cubicBezTo>
                  <a:cubicBezTo>
                    <a:pt x="505" y="6"/>
                    <a:pt x="505" y="6"/>
                    <a:pt x="505" y="6"/>
                  </a:cubicBezTo>
                  <a:cubicBezTo>
                    <a:pt x="498" y="2"/>
                    <a:pt x="491" y="0"/>
                    <a:pt x="483" y="0"/>
                  </a:cubicBezTo>
                </a:path>
              </a:pathLst>
            </a:custGeom>
            <a:solidFill>
              <a:srgbClr val="5E5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 noEditPoints="1"/>
            </p:cNvSpPr>
            <p:nvPr userDrawn="1"/>
          </p:nvSpPr>
          <p:spPr bwMode="auto">
            <a:xfrm>
              <a:off x="7869238" y="4108450"/>
              <a:ext cx="2730500" cy="1592262"/>
            </a:xfrm>
            <a:custGeom>
              <a:avLst/>
              <a:gdLst>
                <a:gd name="T0" fmla="*/ 403 w 828"/>
                <a:gd name="T1" fmla="*/ 467 h 482"/>
                <a:gd name="T2" fmla="*/ 13 w 828"/>
                <a:gd name="T3" fmla="*/ 242 h 482"/>
                <a:gd name="T4" fmla="*/ 12 w 828"/>
                <a:gd name="T5" fmla="*/ 241 h 482"/>
                <a:gd name="T6" fmla="*/ 13 w 828"/>
                <a:gd name="T7" fmla="*/ 240 h 482"/>
                <a:gd name="T8" fmla="*/ 403 w 828"/>
                <a:gd name="T9" fmla="*/ 15 h 482"/>
                <a:gd name="T10" fmla="*/ 414 w 828"/>
                <a:gd name="T11" fmla="*/ 12 h 482"/>
                <a:gd name="T12" fmla="*/ 425 w 828"/>
                <a:gd name="T13" fmla="*/ 15 h 482"/>
                <a:gd name="T14" fmla="*/ 815 w 828"/>
                <a:gd name="T15" fmla="*/ 240 h 482"/>
                <a:gd name="T16" fmla="*/ 816 w 828"/>
                <a:gd name="T17" fmla="*/ 241 h 482"/>
                <a:gd name="T18" fmla="*/ 815 w 828"/>
                <a:gd name="T19" fmla="*/ 242 h 482"/>
                <a:gd name="T20" fmla="*/ 425 w 828"/>
                <a:gd name="T21" fmla="*/ 467 h 482"/>
                <a:gd name="T22" fmla="*/ 414 w 828"/>
                <a:gd name="T23" fmla="*/ 470 h 482"/>
                <a:gd name="T24" fmla="*/ 403 w 828"/>
                <a:gd name="T25" fmla="*/ 467 h 482"/>
                <a:gd name="T26" fmla="*/ 403 w 828"/>
                <a:gd name="T27" fmla="*/ 467 h 482"/>
                <a:gd name="T28" fmla="*/ 414 w 828"/>
                <a:gd name="T29" fmla="*/ 0 h 482"/>
                <a:gd name="T30" fmla="*/ 397 w 828"/>
                <a:gd name="T31" fmla="*/ 5 h 482"/>
                <a:gd name="T32" fmla="*/ 7 w 828"/>
                <a:gd name="T33" fmla="*/ 230 h 482"/>
                <a:gd name="T34" fmla="*/ 0 w 828"/>
                <a:gd name="T35" fmla="*/ 241 h 482"/>
                <a:gd name="T36" fmla="*/ 7 w 828"/>
                <a:gd name="T37" fmla="*/ 253 h 482"/>
                <a:gd name="T38" fmla="*/ 397 w 828"/>
                <a:gd name="T39" fmla="*/ 478 h 482"/>
                <a:gd name="T40" fmla="*/ 397 w 828"/>
                <a:gd name="T41" fmla="*/ 478 h 482"/>
                <a:gd name="T42" fmla="*/ 414 w 828"/>
                <a:gd name="T43" fmla="*/ 482 h 482"/>
                <a:gd name="T44" fmla="*/ 431 w 828"/>
                <a:gd name="T45" fmla="*/ 478 h 482"/>
                <a:gd name="T46" fmla="*/ 821 w 828"/>
                <a:gd name="T47" fmla="*/ 253 h 482"/>
                <a:gd name="T48" fmla="*/ 828 w 828"/>
                <a:gd name="T49" fmla="*/ 241 h 482"/>
                <a:gd name="T50" fmla="*/ 821 w 828"/>
                <a:gd name="T51" fmla="*/ 230 h 482"/>
                <a:gd name="T52" fmla="*/ 431 w 828"/>
                <a:gd name="T53" fmla="*/ 5 h 482"/>
                <a:gd name="T54" fmla="*/ 414 w 828"/>
                <a:gd name="T5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482">
                  <a:moveTo>
                    <a:pt x="403" y="467"/>
                  </a:moveTo>
                  <a:cubicBezTo>
                    <a:pt x="13" y="242"/>
                    <a:pt x="13" y="242"/>
                    <a:pt x="13" y="242"/>
                  </a:cubicBezTo>
                  <a:cubicBezTo>
                    <a:pt x="13" y="242"/>
                    <a:pt x="12" y="242"/>
                    <a:pt x="12" y="241"/>
                  </a:cubicBezTo>
                  <a:cubicBezTo>
                    <a:pt x="12" y="241"/>
                    <a:pt x="13" y="241"/>
                    <a:pt x="13" y="240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6" y="13"/>
                    <a:pt x="410" y="12"/>
                    <a:pt x="414" y="12"/>
                  </a:cubicBezTo>
                  <a:cubicBezTo>
                    <a:pt x="418" y="12"/>
                    <a:pt x="422" y="13"/>
                    <a:pt x="425" y="15"/>
                  </a:cubicBezTo>
                  <a:cubicBezTo>
                    <a:pt x="815" y="240"/>
                    <a:pt x="815" y="240"/>
                    <a:pt x="815" y="240"/>
                  </a:cubicBezTo>
                  <a:cubicBezTo>
                    <a:pt x="816" y="241"/>
                    <a:pt x="816" y="241"/>
                    <a:pt x="816" y="241"/>
                  </a:cubicBezTo>
                  <a:cubicBezTo>
                    <a:pt x="816" y="242"/>
                    <a:pt x="816" y="242"/>
                    <a:pt x="815" y="242"/>
                  </a:cubicBezTo>
                  <a:cubicBezTo>
                    <a:pt x="425" y="467"/>
                    <a:pt x="425" y="467"/>
                    <a:pt x="425" y="467"/>
                  </a:cubicBezTo>
                  <a:cubicBezTo>
                    <a:pt x="422" y="469"/>
                    <a:pt x="418" y="470"/>
                    <a:pt x="414" y="470"/>
                  </a:cubicBezTo>
                  <a:cubicBezTo>
                    <a:pt x="410" y="470"/>
                    <a:pt x="406" y="469"/>
                    <a:pt x="403" y="467"/>
                  </a:cubicBezTo>
                  <a:cubicBezTo>
                    <a:pt x="403" y="467"/>
                    <a:pt x="403" y="467"/>
                    <a:pt x="403" y="467"/>
                  </a:cubicBezTo>
                  <a:moveTo>
                    <a:pt x="414" y="0"/>
                  </a:moveTo>
                  <a:cubicBezTo>
                    <a:pt x="408" y="0"/>
                    <a:pt x="402" y="2"/>
                    <a:pt x="397" y="5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3" y="232"/>
                    <a:pt x="0" y="237"/>
                    <a:pt x="0" y="241"/>
                  </a:cubicBezTo>
                  <a:cubicBezTo>
                    <a:pt x="0" y="246"/>
                    <a:pt x="3" y="250"/>
                    <a:pt x="7" y="253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402" y="481"/>
                    <a:pt x="408" y="482"/>
                    <a:pt x="414" y="482"/>
                  </a:cubicBezTo>
                  <a:cubicBezTo>
                    <a:pt x="420" y="482"/>
                    <a:pt x="426" y="481"/>
                    <a:pt x="431" y="478"/>
                  </a:cubicBezTo>
                  <a:cubicBezTo>
                    <a:pt x="821" y="253"/>
                    <a:pt x="821" y="253"/>
                    <a:pt x="821" y="253"/>
                  </a:cubicBezTo>
                  <a:cubicBezTo>
                    <a:pt x="825" y="250"/>
                    <a:pt x="828" y="246"/>
                    <a:pt x="828" y="241"/>
                  </a:cubicBezTo>
                  <a:cubicBezTo>
                    <a:pt x="828" y="237"/>
                    <a:pt x="825" y="232"/>
                    <a:pt x="821" y="230"/>
                  </a:cubicBezTo>
                  <a:cubicBezTo>
                    <a:pt x="431" y="5"/>
                    <a:pt x="431" y="5"/>
                    <a:pt x="431" y="5"/>
                  </a:cubicBezTo>
                  <a:cubicBezTo>
                    <a:pt x="426" y="2"/>
                    <a:pt x="420" y="0"/>
                    <a:pt x="414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74000"/>
                  </a:srgbClr>
                </a:gs>
                <a:gs pos="37000">
                  <a:srgbClr val="41E4DE">
                    <a:alpha val="71000"/>
                  </a:srgbClr>
                </a:gs>
                <a:gs pos="0">
                  <a:srgbClr val="19145F"/>
                </a:gs>
                <a:gs pos="100000">
                  <a:srgbClr val="19125E">
                    <a:alpha val="82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8"/>
            <p:cNvSpPr/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100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55"/>
            <p:cNvSpPr/>
            <p:nvPr userDrawn="1"/>
          </p:nvSpPr>
          <p:spPr bwMode="auto">
            <a:xfrm>
              <a:off x="6513861" y="58102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3"/>
                    <a:pt x="17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56"/>
            <p:cNvSpPr/>
            <p:nvPr userDrawn="1"/>
          </p:nvSpPr>
          <p:spPr bwMode="auto">
            <a:xfrm>
              <a:off x="6605936" y="5756275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4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4" y="24"/>
                  </a:cubicBezTo>
                  <a:cubicBezTo>
                    <a:pt x="16" y="24"/>
                    <a:pt x="18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57"/>
            <p:cNvSpPr/>
            <p:nvPr userDrawn="1"/>
          </p:nvSpPr>
          <p:spPr bwMode="auto">
            <a:xfrm>
              <a:off x="6701186" y="5702300"/>
              <a:ext cx="85725" cy="77787"/>
            </a:xfrm>
            <a:custGeom>
              <a:avLst/>
              <a:gdLst>
                <a:gd name="T0" fmla="*/ 13 w 26"/>
                <a:gd name="T1" fmla="*/ 0 h 23"/>
                <a:gd name="T2" fmla="*/ 7 w 26"/>
                <a:gd name="T3" fmla="*/ 1 h 23"/>
                <a:gd name="T4" fmla="*/ 3 w 26"/>
                <a:gd name="T5" fmla="*/ 18 h 23"/>
                <a:gd name="T6" fmla="*/ 13 w 26"/>
                <a:gd name="T7" fmla="*/ 23 h 23"/>
                <a:gd name="T8" fmla="*/ 19 w 26"/>
                <a:gd name="T9" fmla="*/ 22 h 23"/>
                <a:gd name="T10" fmla="*/ 23 w 26"/>
                <a:gd name="T11" fmla="*/ 6 h 23"/>
                <a:gd name="T12" fmla="*/ 13 w 26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3">
                  <a:moveTo>
                    <a:pt x="13" y="0"/>
                  </a:moveTo>
                  <a:cubicBezTo>
                    <a:pt x="11" y="0"/>
                    <a:pt x="9" y="0"/>
                    <a:pt x="7" y="1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58"/>
            <p:cNvSpPr/>
            <p:nvPr userDrawn="1"/>
          </p:nvSpPr>
          <p:spPr bwMode="auto">
            <a:xfrm>
              <a:off x="6793261" y="5649912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4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3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59"/>
            <p:cNvSpPr/>
            <p:nvPr userDrawn="1"/>
          </p:nvSpPr>
          <p:spPr bwMode="auto">
            <a:xfrm>
              <a:off x="6886924" y="559593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1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60"/>
            <p:cNvSpPr/>
            <p:nvPr userDrawn="1"/>
          </p:nvSpPr>
          <p:spPr bwMode="auto">
            <a:xfrm>
              <a:off x="6982174" y="5538787"/>
              <a:ext cx="88900" cy="80962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61"/>
            <p:cNvSpPr/>
            <p:nvPr userDrawn="1"/>
          </p:nvSpPr>
          <p:spPr bwMode="auto">
            <a:xfrm>
              <a:off x="7263161" y="5372100"/>
              <a:ext cx="88900" cy="77787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62"/>
            <p:cNvSpPr/>
            <p:nvPr userDrawn="1"/>
          </p:nvSpPr>
          <p:spPr bwMode="auto">
            <a:xfrm>
              <a:off x="7171086" y="5426075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63"/>
            <p:cNvSpPr/>
            <p:nvPr userDrawn="1"/>
          </p:nvSpPr>
          <p:spPr bwMode="auto">
            <a:xfrm>
              <a:off x="7074249" y="5480050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57EA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64"/>
            <p:cNvSpPr/>
            <p:nvPr userDrawn="1"/>
          </p:nvSpPr>
          <p:spPr bwMode="auto">
            <a:xfrm>
              <a:off x="7923561" y="5372100"/>
              <a:ext cx="88900" cy="77787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8 w 27"/>
                <a:gd name="T5" fmla="*/ 22 h 23"/>
                <a:gd name="T6" fmla="*/ 13 w 27"/>
                <a:gd name="T7" fmla="*/ 23 h 23"/>
                <a:gd name="T8" fmla="*/ 24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8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8" y="23"/>
                    <a:pt x="21" y="21"/>
                    <a:pt x="24" y="17"/>
                  </a:cubicBezTo>
                  <a:cubicBezTo>
                    <a:pt x="27" y="11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65"/>
            <p:cNvSpPr/>
            <p:nvPr userDrawn="1"/>
          </p:nvSpPr>
          <p:spPr bwMode="auto">
            <a:xfrm>
              <a:off x="8015636" y="5426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4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7 h 23"/>
                <a:gd name="T10" fmla="*/ 20 w 27"/>
                <a:gd name="T11" fmla="*/ 1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7"/>
                  </a:cubicBezTo>
                  <a:cubicBezTo>
                    <a:pt x="27" y="12"/>
                    <a:pt x="25" y="5"/>
                    <a:pt x="20" y="1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66"/>
            <p:cNvSpPr/>
            <p:nvPr userDrawn="1"/>
          </p:nvSpPr>
          <p:spPr bwMode="auto">
            <a:xfrm>
              <a:off x="8110886" y="54800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28" name="Freeform 67"/>
            <p:cNvSpPr/>
            <p:nvPr userDrawn="1"/>
          </p:nvSpPr>
          <p:spPr bwMode="auto">
            <a:xfrm>
              <a:off x="8204549" y="55324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29" name="Freeform 68"/>
            <p:cNvSpPr/>
            <p:nvPr userDrawn="1"/>
          </p:nvSpPr>
          <p:spPr bwMode="auto">
            <a:xfrm>
              <a:off x="8299799" y="558641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7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3"/>
                    <a:pt x="3" y="6"/>
                  </a:cubicBezTo>
                  <a:cubicBezTo>
                    <a:pt x="0" y="12"/>
                    <a:pt x="2" y="19"/>
                    <a:pt x="7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2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1"/>
                    <a:pt x="15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32" name="Freeform 71"/>
            <p:cNvSpPr/>
            <p:nvPr userDrawn="1"/>
          </p:nvSpPr>
          <p:spPr bwMode="auto">
            <a:xfrm>
              <a:off x="8945911" y="5972175"/>
              <a:ext cx="90488" cy="80962"/>
            </a:xfrm>
            <a:custGeom>
              <a:avLst/>
              <a:gdLst>
                <a:gd name="T0" fmla="*/ 14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1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33" name="Freeform 72"/>
            <p:cNvSpPr/>
            <p:nvPr userDrawn="1"/>
          </p:nvSpPr>
          <p:spPr bwMode="auto">
            <a:xfrm>
              <a:off x="8853836" y="5919787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6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5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34" name="Freeform 73"/>
            <p:cNvSpPr/>
            <p:nvPr userDrawn="1"/>
          </p:nvSpPr>
          <p:spPr bwMode="auto">
            <a:xfrm>
              <a:off x="8758586" y="58626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35" name="Freeform 74"/>
            <p:cNvSpPr/>
            <p:nvPr userDrawn="1"/>
          </p:nvSpPr>
          <p:spPr bwMode="auto">
            <a:xfrm>
              <a:off x="8666511" y="5810250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3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8 h 23"/>
                <a:gd name="T10" fmla="*/ 19 w 27"/>
                <a:gd name="T11" fmla="*/ 2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36" name="Freeform 75"/>
            <p:cNvSpPr/>
            <p:nvPr userDrawn="1"/>
          </p:nvSpPr>
          <p:spPr bwMode="auto">
            <a:xfrm>
              <a:off x="8572849" y="5756275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38" name="Freeform 77"/>
            <p:cNvSpPr/>
            <p:nvPr userDrawn="1"/>
          </p:nvSpPr>
          <p:spPr bwMode="auto">
            <a:xfrm>
              <a:off x="8487124" y="5699125"/>
              <a:ext cx="79375" cy="73025"/>
            </a:xfrm>
            <a:custGeom>
              <a:avLst/>
              <a:gdLst>
                <a:gd name="T0" fmla="*/ 11 w 24"/>
                <a:gd name="T1" fmla="*/ 0 h 22"/>
                <a:gd name="T2" fmla="*/ 6 w 24"/>
                <a:gd name="T3" fmla="*/ 1 h 22"/>
                <a:gd name="T4" fmla="*/ 3 w 24"/>
                <a:gd name="T5" fmla="*/ 5 h 22"/>
                <a:gd name="T6" fmla="*/ 7 w 24"/>
                <a:gd name="T7" fmla="*/ 21 h 22"/>
                <a:gd name="T8" fmla="*/ 13 w 24"/>
                <a:gd name="T9" fmla="*/ 22 h 22"/>
                <a:gd name="T10" fmla="*/ 18 w 24"/>
                <a:gd name="T11" fmla="*/ 21 h 22"/>
                <a:gd name="T12" fmla="*/ 21 w 24"/>
                <a:gd name="T13" fmla="*/ 18 h 22"/>
                <a:gd name="T14" fmla="*/ 17 w 24"/>
                <a:gd name="T15" fmla="*/ 2 h 22"/>
                <a:gd name="T16" fmla="*/ 11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11" y="0"/>
                  </a:moveTo>
                  <a:cubicBezTo>
                    <a:pt x="9" y="0"/>
                    <a:pt x="8" y="0"/>
                    <a:pt x="6" y="1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0" y="10"/>
                    <a:pt x="2" y="18"/>
                    <a:pt x="7" y="21"/>
                  </a:cubicBezTo>
                  <a:cubicBezTo>
                    <a:pt x="9" y="22"/>
                    <a:pt x="11" y="22"/>
                    <a:pt x="13" y="22"/>
                  </a:cubicBezTo>
                  <a:cubicBezTo>
                    <a:pt x="15" y="22"/>
                    <a:pt x="16" y="22"/>
                    <a:pt x="18" y="21"/>
                  </a:cubicBezTo>
                  <a:cubicBezTo>
                    <a:pt x="19" y="21"/>
                    <a:pt x="20" y="19"/>
                    <a:pt x="21" y="18"/>
                  </a:cubicBezTo>
                  <a:cubicBezTo>
                    <a:pt x="24" y="12"/>
                    <a:pt x="22" y="5"/>
                    <a:pt x="17" y="2"/>
                  </a:cubicBezTo>
                  <a:cubicBezTo>
                    <a:pt x="15" y="1"/>
                    <a:pt x="13" y="0"/>
                    <a:pt x="11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0" name="Freeform 79"/>
            <p:cNvSpPr/>
            <p:nvPr userDrawn="1"/>
          </p:nvSpPr>
          <p:spPr bwMode="auto">
            <a:xfrm>
              <a:off x="8391874" y="5646737"/>
              <a:ext cx="82550" cy="73025"/>
            </a:xfrm>
            <a:custGeom>
              <a:avLst/>
              <a:gdLst>
                <a:gd name="T0" fmla="*/ 11 w 25"/>
                <a:gd name="T1" fmla="*/ 0 h 22"/>
                <a:gd name="T2" fmla="*/ 7 w 25"/>
                <a:gd name="T3" fmla="*/ 1 h 22"/>
                <a:gd name="T4" fmla="*/ 4 w 25"/>
                <a:gd name="T5" fmla="*/ 5 h 22"/>
                <a:gd name="T6" fmla="*/ 8 w 25"/>
                <a:gd name="T7" fmla="*/ 21 h 22"/>
                <a:gd name="T8" fmla="*/ 14 w 25"/>
                <a:gd name="T9" fmla="*/ 22 h 22"/>
                <a:gd name="T10" fmla="*/ 18 w 25"/>
                <a:gd name="T11" fmla="*/ 21 h 22"/>
                <a:gd name="T12" fmla="*/ 22 w 25"/>
                <a:gd name="T13" fmla="*/ 17 h 22"/>
                <a:gd name="T14" fmla="*/ 17 w 25"/>
                <a:gd name="T15" fmla="*/ 1 h 22"/>
                <a:gd name="T16" fmla="*/ 11 w 25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2">
                  <a:moveTo>
                    <a:pt x="11" y="0"/>
                  </a:moveTo>
                  <a:cubicBezTo>
                    <a:pt x="10" y="0"/>
                    <a:pt x="9" y="0"/>
                    <a:pt x="7" y="1"/>
                  </a:cubicBezTo>
                  <a:cubicBezTo>
                    <a:pt x="6" y="2"/>
                    <a:pt x="4" y="3"/>
                    <a:pt x="4" y="5"/>
                  </a:cubicBezTo>
                  <a:cubicBezTo>
                    <a:pt x="0" y="10"/>
                    <a:pt x="2" y="17"/>
                    <a:pt x="8" y="21"/>
                  </a:cubicBezTo>
                  <a:cubicBezTo>
                    <a:pt x="10" y="22"/>
                    <a:pt x="12" y="22"/>
                    <a:pt x="14" y="22"/>
                  </a:cubicBezTo>
                  <a:cubicBezTo>
                    <a:pt x="15" y="22"/>
                    <a:pt x="17" y="22"/>
                    <a:pt x="18" y="21"/>
                  </a:cubicBezTo>
                  <a:cubicBezTo>
                    <a:pt x="19" y="20"/>
                    <a:pt x="21" y="19"/>
                    <a:pt x="22" y="17"/>
                  </a:cubicBezTo>
                  <a:cubicBezTo>
                    <a:pt x="25" y="12"/>
                    <a:pt x="23" y="5"/>
                    <a:pt x="17" y="1"/>
                  </a:cubicBezTo>
                  <a:cubicBezTo>
                    <a:pt x="15" y="0"/>
                    <a:pt x="13" y="0"/>
                    <a:pt x="11" y="0"/>
                  </a:cubicBezTo>
                </a:path>
              </a:pathLst>
            </a:custGeom>
            <a:solidFill>
              <a:srgbClr val="5149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1" name="Freeform 80"/>
            <p:cNvSpPr/>
            <p:nvPr userDrawn="1"/>
          </p:nvSpPr>
          <p:spPr bwMode="auto">
            <a:xfrm>
              <a:off x="10030174" y="562610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8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2" name="Freeform 81"/>
            <p:cNvSpPr/>
            <p:nvPr userDrawn="1"/>
          </p:nvSpPr>
          <p:spPr bwMode="auto">
            <a:xfrm>
              <a:off x="10122249" y="5568950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3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3" name="Freeform 82"/>
            <p:cNvSpPr/>
            <p:nvPr userDrawn="1"/>
          </p:nvSpPr>
          <p:spPr bwMode="auto">
            <a:xfrm>
              <a:off x="10217499" y="551656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4" name="Freeform 83"/>
            <p:cNvSpPr/>
            <p:nvPr userDrawn="1"/>
          </p:nvSpPr>
          <p:spPr bwMode="auto">
            <a:xfrm>
              <a:off x="10309574" y="546258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4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19" y="22"/>
                  </a:cubicBezTo>
                  <a:cubicBezTo>
                    <a:pt x="25" y="18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5" name="Freeform 84"/>
            <p:cNvSpPr/>
            <p:nvPr userDrawn="1"/>
          </p:nvSpPr>
          <p:spPr bwMode="auto">
            <a:xfrm>
              <a:off x="10406411" y="5405437"/>
              <a:ext cx="85725" cy="80962"/>
            </a:xfrm>
            <a:custGeom>
              <a:avLst/>
              <a:gdLst>
                <a:gd name="T0" fmla="*/ 13 w 26"/>
                <a:gd name="T1" fmla="*/ 0 h 24"/>
                <a:gd name="T2" fmla="*/ 7 w 26"/>
                <a:gd name="T3" fmla="*/ 2 h 24"/>
                <a:gd name="T4" fmla="*/ 3 w 26"/>
                <a:gd name="T5" fmla="*/ 18 h 24"/>
                <a:gd name="T6" fmla="*/ 13 w 26"/>
                <a:gd name="T7" fmla="*/ 24 h 24"/>
                <a:gd name="T8" fmla="*/ 19 w 26"/>
                <a:gd name="T9" fmla="*/ 22 h 24"/>
                <a:gd name="T10" fmla="*/ 23 w 26"/>
                <a:gd name="T11" fmla="*/ 6 h 24"/>
                <a:gd name="T12" fmla="*/ 13 w 26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1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6" name="Freeform 85"/>
            <p:cNvSpPr/>
            <p:nvPr userDrawn="1"/>
          </p:nvSpPr>
          <p:spPr bwMode="auto">
            <a:xfrm>
              <a:off x="10498486" y="535305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7 w 27"/>
                <a:gd name="T3" fmla="*/ 2 h 23"/>
                <a:gd name="T4" fmla="*/ 3 w 27"/>
                <a:gd name="T5" fmla="*/ 18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7" name="Freeform 86"/>
            <p:cNvSpPr/>
            <p:nvPr userDrawn="1"/>
          </p:nvSpPr>
          <p:spPr bwMode="auto">
            <a:xfrm>
              <a:off x="10590561" y="5299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8B86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cxnSp>
          <p:nvCxnSpPr>
            <p:cNvPr id="4096" name="直接连接符 4095"/>
            <p:cNvCxnSpPr/>
            <p:nvPr userDrawn="1"/>
          </p:nvCxnSpPr>
          <p:spPr>
            <a:xfrm>
              <a:off x="5641802" y="5287830"/>
              <a:ext cx="827436" cy="50191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/>
            <p:nvPr userDrawn="1"/>
          </p:nvCxnSpPr>
          <p:spPr>
            <a:xfrm flipV="1">
              <a:off x="7352276" y="5405437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 userDrawn="1"/>
          </p:nvCxnSpPr>
          <p:spPr>
            <a:xfrm flipV="1">
              <a:off x="7731243" y="5471253"/>
              <a:ext cx="328843" cy="21199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 userDrawn="1"/>
          </p:nvCxnSpPr>
          <p:spPr>
            <a:xfrm flipH="1" flipV="1">
              <a:off x="10065044" y="5664134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椭圆 198"/>
            <p:cNvSpPr/>
            <p:nvPr userDrawn="1"/>
          </p:nvSpPr>
          <p:spPr>
            <a:xfrm>
              <a:off x="10861128" y="4188135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0" name="直接连接符 199"/>
            <p:cNvCxnSpPr/>
            <p:nvPr userDrawn="1"/>
          </p:nvCxnSpPr>
          <p:spPr>
            <a:xfrm flipV="1">
              <a:off x="10552112" y="4285080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椭圆 201"/>
            <p:cNvSpPr/>
            <p:nvPr userDrawn="1"/>
          </p:nvSpPr>
          <p:spPr>
            <a:xfrm>
              <a:off x="9754989" y="371337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3" name="直接连接符 202"/>
            <p:cNvCxnSpPr/>
            <p:nvPr userDrawn="1"/>
          </p:nvCxnSpPr>
          <p:spPr>
            <a:xfrm flipV="1">
              <a:off x="9445973" y="381032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椭圆 203"/>
            <p:cNvSpPr/>
            <p:nvPr userDrawn="1"/>
          </p:nvSpPr>
          <p:spPr>
            <a:xfrm>
              <a:off x="10020604" y="4130676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5" name="直接连接符 204"/>
            <p:cNvCxnSpPr/>
            <p:nvPr userDrawn="1"/>
          </p:nvCxnSpPr>
          <p:spPr>
            <a:xfrm flipV="1">
              <a:off x="9906261" y="4226956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椭圆 210"/>
            <p:cNvSpPr/>
            <p:nvPr userDrawn="1"/>
          </p:nvSpPr>
          <p:spPr>
            <a:xfrm>
              <a:off x="7626655" y="417674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2" name="直接连接符 211"/>
            <p:cNvCxnSpPr/>
            <p:nvPr userDrawn="1"/>
          </p:nvCxnSpPr>
          <p:spPr>
            <a:xfrm flipV="1">
              <a:off x="7512312" y="427302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椭圆 212"/>
            <p:cNvSpPr/>
            <p:nvPr userDrawn="1"/>
          </p:nvSpPr>
          <p:spPr>
            <a:xfrm>
              <a:off x="8387012" y="336016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4" name="直接连接符 213"/>
            <p:cNvCxnSpPr/>
            <p:nvPr userDrawn="1"/>
          </p:nvCxnSpPr>
          <p:spPr>
            <a:xfrm flipV="1">
              <a:off x="8272669" y="345644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椭圆 214"/>
            <p:cNvSpPr/>
            <p:nvPr userDrawn="1"/>
          </p:nvSpPr>
          <p:spPr>
            <a:xfrm>
              <a:off x="8071311" y="342409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6" name="直接连接符 215"/>
            <p:cNvCxnSpPr/>
            <p:nvPr userDrawn="1"/>
          </p:nvCxnSpPr>
          <p:spPr>
            <a:xfrm flipV="1">
              <a:off x="7762295" y="352104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 userDrawn="1"/>
          </p:nvCxnSpPr>
          <p:spPr>
            <a:xfrm flipH="1" flipV="1">
              <a:off x="8216506" y="2821117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 userDrawn="1"/>
          </p:nvCxnSpPr>
          <p:spPr>
            <a:xfrm flipH="1" flipV="1">
              <a:off x="10208402" y="2813165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4" name="Freeform 90"/>
            <p:cNvSpPr/>
            <p:nvPr userDrawn="1"/>
          </p:nvSpPr>
          <p:spPr bwMode="auto">
            <a:xfrm>
              <a:off x="8148638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solidFill>
              <a:srgbClr val="736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55" name="Freeform 91"/>
            <p:cNvSpPr/>
            <p:nvPr userDrawn="1"/>
          </p:nvSpPr>
          <p:spPr bwMode="auto">
            <a:xfrm>
              <a:off x="8148638" y="4264025"/>
              <a:ext cx="2168525" cy="714375"/>
            </a:xfrm>
            <a:custGeom>
              <a:avLst/>
              <a:gdLst>
                <a:gd name="T0" fmla="*/ 10 w 538"/>
                <a:gd name="T1" fmla="*/ 165 h 177"/>
                <a:gd name="T2" fmla="*/ 31 w 538"/>
                <a:gd name="T3" fmla="*/ 177 h 177"/>
                <a:gd name="T4" fmla="*/ 249 w 538"/>
                <a:gd name="T5" fmla="*/ 52 h 177"/>
                <a:gd name="T6" fmla="*/ 287 w 538"/>
                <a:gd name="T7" fmla="*/ 50 h 177"/>
                <a:gd name="T8" fmla="*/ 507 w 538"/>
                <a:gd name="T9" fmla="*/ 177 h 177"/>
                <a:gd name="T10" fmla="*/ 525 w 538"/>
                <a:gd name="T11" fmla="*/ 167 h 177"/>
                <a:gd name="T12" fmla="*/ 528 w 538"/>
                <a:gd name="T13" fmla="*/ 145 h 177"/>
                <a:gd name="T14" fmla="*/ 287 w 538"/>
                <a:gd name="T15" fmla="*/ 5 h 177"/>
                <a:gd name="T16" fmla="*/ 249 w 538"/>
                <a:gd name="T17" fmla="*/ 7 h 177"/>
                <a:gd name="T18" fmla="*/ 13 w 538"/>
                <a:gd name="T19" fmla="*/ 143 h 177"/>
                <a:gd name="T20" fmla="*/ 10 w 538"/>
                <a:gd name="T21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177">
                  <a:moveTo>
                    <a:pt x="10" y="165"/>
                  </a:moveTo>
                  <a:cubicBezTo>
                    <a:pt x="31" y="177"/>
                    <a:pt x="31" y="177"/>
                    <a:pt x="31" y="177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60" y="45"/>
                    <a:pt x="277" y="45"/>
                    <a:pt x="287" y="50"/>
                  </a:cubicBezTo>
                  <a:cubicBezTo>
                    <a:pt x="507" y="177"/>
                    <a:pt x="507" y="177"/>
                    <a:pt x="507" y="177"/>
                  </a:cubicBezTo>
                  <a:cubicBezTo>
                    <a:pt x="525" y="167"/>
                    <a:pt x="525" y="167"/>
                    <a:pt x="525" y="167"/>
                  </a:cubicBezTo>
                  <a:cubicBezTo>
                    <a:pt x="537" y="160"/>
                    <a:pt x="538" y="150"/>
                    <a:pt x="528" y="145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77" y="0"/>
                    <a:pt x="260" y="0"/>
                    <a:pt x="249" y="7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2" y="150"/>
                    <a:pt x="0" y="159"/>
                    <a:pt x="10" y="165"/>
                  </a:cubicBezTo>
                  <a:close/>
                </a:path>
              </a:pathLst>
            </a:custGeom>
            <a:solidFill>
              <a:srgbClr val="42E8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6" name="Freeform 90"/>
            <p:cNvSpPr/>
            <p:nvPr userDrawn="1"/>
          </p:nvSpPr>
          <p:spPr bwMode="auto">
            <a:xfrm>
              <a:off x="8142017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gradFill>
              <a:gsLst>
                <a:gs pos="22000">
                  <a:srgbClr val="180D5B">
                    <a:alpha val="34000"/>
                  </a:srgbClr>
                </a:gs>
                <a:gs pos="100000">
                  <a:srgbClr val="42E8E0">
                    <a:alpha val="74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247" name="任意多边形: 形状 246"/>
            <p:cNvSpPr/>
            <p:nvPr userDrawn="1"/>
          </p:nvSpPr>
          <p:spPr bwMode="auto">
            <a:xfrm>
              <a:off x="9278938" y="3259138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45" name="任意多边形: 形状 244"/>
            <p:cNvSpPr/>
            <p:nvPr userDrawn="1"/>
          </p:nvSpPr>
          <p:spPr bwMode="auto">
            <a:xfrm>
              <a:off x="9501188" y="3767138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41" name="任意多边形: 形状 240"/>
            <p:cNvSpPr/>
            <p:nvPr userDrawn="1"/>
          </p:nvSpPr>
          <p:spPr bwMode="auto">
            <a:xfrm>
              <a:off x="9726613" y="4365625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39" name="任意多边形: 形状 238"/>
            <p:cNvSpPr/>
            <p:nvPr userDrawn="1"/>
          </p:nvSpPr>
          <p:spPr bwMode="auto">
            <a:xfrm>
              <a:off x="9945688" y="4695825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48" name="任意多边形: 形状 247"/>
            <p:cNvSpPr/>
            <p:nvPr userDrawn="1"/>
          </p:nvSpPr>
          <p:spPr bwMode="auto">
            <a:xfrm flipH="1">
              <a:off x="9056822" y="3261347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49" name="任意多边形: 形状 248"/>
            <p:cNvSpPr/>
            <p:nvPr userDrawn="1"/>
          </p:nvSpPr>
          <p:spPr bwMode="auto">
            <a:xfrm flipH="1">
              <a:off x="8836159" y="3769347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50" name="任意多边形: 形状 249"/>
            <p:cNvSpPr/>
            <p:nvPr userDrawn="1"/>
          </p:nvSpPr>
          <p:spPr bwMode="auto">
            <a:xfrm flipH="1">
              <a:off x="8613909" y="4367834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51" name="任意多边形: 形状 250"/>
            <p:cNvSpPr/>
            <p:nvPr userDrawn="1"/>
          </p:nvSpPr>
          <p:spPr bwMode="auto">
            <a:xfrm flipH="1">
              <a:off x="8391659" y="4698034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46" name="Freeform 106"/>
            <p:cNvSpPr/>
            <p:nvPr userDrawn="1"/>
          </p:nvSpPr>
          <p:spPr bwMode="auto">
            <a:xfrm>
              <a:off x="8255909" y="2437995"/>
              <a:ext cx="1951037" cy="3057525"/>
            </a:xfrm>
            <a:custGeom>
              <a:avLst/>
              <a:gdLst>
                <a:gd name="T0" fmla="*/ 531 w 531"/>
                <a:gd name="T1" fmla="*/ 0 h 835"/>
                <a:gd name="T2" fmla="*/ 0 w 531"/>
                <a:gd name="T3" fmla="*/ 0 h 835"/>
                <a:gd name="T4" fmla="*/ 0 w 531"/>
                <a:gd name="T5" fmla="*/ 682 h 835"/>
                <a:gd name="T6" fmla="*/ 0 w 531"/>
                <a:gd name="T7" fmla="*/ 682 h 835"/>
                <a:gd name="T8" fmla="*/ 6 w 531"/>
                <a:gd name="T9" fmla="*/ 692 h 835"/>
                <a:gd name="T10" fmla="*/ 248 w 531"/>
                <a:gd name="T11" fmla="*/ 831 h 835"/>
                <a:gd name="T12" fmla="*/ 264 w 531"/>
                <a:gd name="T13" fmla="*/ 835 h 835"/>
                <a:gd name="T14" fmla="*/ 286 w 531"/>
                <a:gd name="T15" fmla="*/ 830 h 835"/>
                <a:gd name="T16" fmla="*/ 522 w 531"/>
                <a:gd name="T17" fmla="*/ 693 h 835"/>
                <a:gd name="T18" fmla="*/ 531 w 531"/>
                <a:gd name="T19" fmla="*/ 682 h 835"/>
                <a:gd name="T20" fmla="*/ 531 w 531"/>
                <a:gd name="T21" fmla="*/ 682 h 835"/>
                <a:gd name="T22" fmla="*/ 531 w 531"/>
                <a:gd name="T2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1" h="835">
                  <a:moveTo>
                    <a:pt x="5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5"/>
                    <a:pt x="2" y="689"/>
                    <a:pt x="6" y="692"/>
                  </a:cubicBezTo>
                  <a:cubicBezTo>
                    <a:pt x="248" y="831"/>
                    <a:pt x="248" y="831"/>
                    <a:pt x="248" y="831"/>
                  </a:cubicBezTo>
                  <a:cubicBezTo>
                    <a:pt x="252" y="834"/>
                    <a:pt x="258" y="835"/>
                    <a:pt x="264" y="835"/>
                  </a:cubicBezTo>
                  <a:cubicBezTo>
                    <a:pt x="272" y="835"/>
                    <a:pt x="280" y="833"/>
                    <a:pt x="286" y="830"/>
                  </a:cubicBezTo>
                  <a:cubicBezTo>
                    <a:pt x="522" y="693"/>
                    <a:pt x="522" y="693"/>
                    <a:pt x="522" y="693"/>
                  </a:cubicBezTo>
                  <a:cubicBezTo>
                    <a:pt x="528" y="690"/>
                    <a:pt x="531" y="686"/>
                    <a:pt x="531" y="682"/>
                  </a:cubicBezTo>
                  <a:cubicBezTo>
                    <a:pt x="531" y="682"/>
                    <a:pt x="531" y="682"/>
                    <a:pt x="531" y="682"/>
                  </a:cubicBezTo>
                  <a:cubicBezTo>
                    <a:pt x="531" y="0"/>
                    <a:pt x="531" y="0"/>
                    <a:pt x="531" y="0"/>
                  </a:cubicBezTo>
                </a:path>
              </a:pathLst>
            </a:custGeom>
            <a:gradFill>
              <a:gsLst>
                <a:gs pos="100000">
                  <a:srgbClr val="42E6E0">
                    <a:alpha val="20000"/>
                  </a:srgbClr>
                </a:gs>
                <a:gs pos="0">
                  <a:srgbClr val="180D5B">
                    <a:alpha val="5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</p:grp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43403" y="4071055"/>
            <a:ext cx="2340818" cy="296271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3402" y="4533176"/>
            <a:ext cx="508759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11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5457956" y="2573757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5459072" y="3469107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5" name="组合 4"/>
          <p:cNvGrpSpPr/>
          <p:nvPr userDrawn="1"/>
        </p:nvGrpSpPr>
        <p:grpSpPr>
          <a:xfrm flipH="1">
            <a:off x="347887" y="1993644"/>
            <a:ext cx="7140148" cy="3966548"/>
            <a:chOff x="4656138" y="2437995"/>
            <a:chExt cx="6846887" cy="3803634"/>
          </a:xfrm>
        </p:grpSpPr>
        <p:sp>
          <p:nvSpPr>
            <p:cNvPr id="6" name="椭圆 5"/>
            <p:cNvSpPr/>
            <p:nvPr userDrawn="1"/>
          </p:nvSpPr>
          <p:spPr>
            <a:xfrm>
              <a:off x="9791994" y="5509651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 userDrawn="1"/>
          </p:nvSpPr>
          <p:spPr>
            <a:xfrm>
              <a:off x="8951536" y="5923755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 userDrawn="1"/>
          </p:nvSpPr>
          <p:spPr>
            <a:xfrm>
              <a:off x="7681196" y="5266157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 userDrawn="1"/>
          </p:nvSpPr>
          <p:spPr>
            <a:xfrm>
              <a:off x="6269331" y="5704329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20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4656138" y="4818063"/>
              <a:ext cx="6846887" cy="1335087"/>
            </a:xfrm>
            <a:custGeom>
              <a:avLst/>
              <a:gdLst>
                <a:gd name="T0" fmla="*/ 2059 w 2076"/>
                <a:gd name="T1" fmla="*/ 0 h 404"/>
                <a:gd name="T2" fmla="*/ 2053 w 2076"/>
                <a:gd name="T3" fmla="*/ 2 h 404"/>
                <a:gd name="T4" fmla="*/ 1420 w 2076"/>
                <a:gd name="T5" fmla="*/ 368 h 404"/>
                <a:gd name="T6" fmla="*/ 1388 w 2076"/>
                <a:gd name="T7" fmla="*/ 376 h 404"/>
                <a:gd name="T8" fmla="*/ 1357 w 2076"/>
                <a:gd name="T9" fmla="*/ 368 h 404"/>
                <a:gd name="T10" fmla="*/ 949 w 2076"/>
                <a:gd name="T11" fmla="*/ 132 h 404"/>
                <a:gd name="T12" fmla="*/ 903 w 2076"/>
                <a:gd name="T13" fmla="*/ 120 h 404"/>
                <a:gd name="T14" fmla="*/ 858 w 2076"/>
                <a:gd name="T15" fmla="*/ 132 h 404"/>
                <a:gd name="T16" fmla="*/ 521 w 2076"/>
                <a:gd name="T17" fmla="*/ 326 h 404"/>
                <a:gd name="T18" fmla="*/ 490 w 2076"/>
                <a:gd name="T19" fmla="*/ 335 h 404"/>
                <a:gd name="T20" fmla="*/ 459 w 2076"/>
                <a:gd name="T21" fmla="*/ 326 h 404"/>
                <a:gd name="T22" fmla="*/ 23 w 2076"/>
                <a:gd name="T23" fmla="*/ 75 h 404"/>
                <a:gd name="T24" fmla="*/ 16 w 2076"/>
                <a:gd name="T25" fmla="*/ 73 h 404"/>
                <a:gd name="T26" fmla="*/ 4 w 2076"/>
                <a:gd name="T27" fmla="*/ 80 h 404"/>
                <a:gd name="T28" fmla="*/ 9 w 2076"/>
                <a:gd name="T29" fmla="*/ 99 h 404"/>
                <a:gd name="T30" fmla="*/ 445 w 2076"/>
                <a:gd name="T31" fmla="*/ 351 h 404"/>
                <a:gd name="T32" fmla="*/ 490 w 2076"/>
                <a:gd name="T33" fmla="*/ 363 h 404"/>
                <a:gd name="T34" fmla="*/ 535 w 2076"/>
                <a:gd name="T35" fmla="*/ 351 h 404"/>
                <a:gd name="T36" fmla="*/ 872 w 2076"/>
                <a:gd name="T37" fmla="*/ 156 h 404"/>
                <a:gd name="T38" fmla="*/ 903 w 2076"/>
                <a:gd name="T39" fmla="*/ 148 h 404"/>
                <a:gd name="T40" fmla="*/ 935 w 2076"/>
                <a:gd name="T41" fmla="*/ 156 h 404"/>
                <a:gd name="T42" fmla="*/ 1343 w 2076"/>
                <a:gd name="T43" fmla="*/ 392 h 404"/>
                <a:gd name="T44" fmla="*/ 1388 w 2076"/>
                <a:gd name="T45" fmla="*/ 404 h 404"/>
                <a:gd name="T46" fmla="*/ 1434 w 2076"/>
                <a:gd name="T47" fmla="*/ 392 h 404"/>
                <a:gd name="T48" fmla="*/ 2067 w 2076"/>
                <a:gd name="T49" fmla="*/ 26 h 404"/>
                <a:gd name="T50" fmla="*/ 2072 w 2076"/>
                <a:gd name="T51" fmla="*/ 7 h 404"/>
                <a:gd name="T52" fmla="*/ 2059 w 2076"/>
                <a:gd name="T5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76" h="404">
                  <a:moveTo>
                    <a:pt x="2059" y="0"/>
                  </a:moveTo>
                  <a:cubicBezTo>
                    <a:pt x="2057" y="0"/>
                    <a:pt x="2055" y="1"/>
                    <a:pt x="2053" y="2"/>
                  </a:cubicBezTo>
                  <a:cubicBezTo>
                    <a:pt x="1420" y="368"/>
                    <a:pt x="1420" y="368"/>
                    <a:pt x="1420" y="368"/>
                  </a:cubicBezTo>
                  <a:cubicBezTo>
                    <a:pt x="1410" y="373"/>
                    <a:pt x="1399" y="376"/>
                    <a:pt x="1388" y="376"/>
                  </a:cubicBezTo>
                  <a:cubicBezTo>
                    <a:pt x="1378" y="376"/>
                    <a:pt x="1367" y="373"/>
                    <a:pt x="1357" y="368"/>
                  </a:cubicBezTo>
                  <a:cubicBezTo>
                    <a:pt x="949" y="132"/>
                    <a:pt x="949" y="132"/>
                    <a:pt x="949" y="132"/>
                  </a:cubicBezTo>
                  <a:cubicBezTo>
                    <a:pt x="935" y="124"/>
                    <a:pt x="919" y="120"/>
                    <a:pt x="903" y="120"/>
                  </a:cubicBezTo>
                  <a:cubicBezTo>
                    <a:pt x="888" y="120"/>
                    <a:pt x="872" y="124"/>
                    <a:pt x="858" y="132"/>
                  </a:cubicBezTo>
                  <a:cubicBezTo>
                    <a:pt x="521" y="326"/>
                    <a:pt x="521" y="326"/>
                    <a:pt x="521" y="326"/>
                  </a:cubicBezTo>
                  <a:cubicBezTo>
                    <a:pt x="511" y="332"/>
                    <a:pt x="501" y="335"/>
                    <a:pt x="490" y="335"/>
                  </a:cubicBezTo>
                  <a:cubicBezTo>
                    <a:pt x="479" y="335"/>
                    <a:pt x="468" y="332"/>
                    <a:pt x="459" y="32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1" y="74"/>
                    <a:pt x="19" y="73"/>
                    <a:pt x="16" y="73"/>
                  </a:cubicBezTo>
                  <a:cubicBezTo>
                    <a:pt x="11" y="73"/>
                    <a:pt x="7" y="76"/>
                    <a:pt x="4" y="80"/>
                  </a:cubicBezTo>
                  <a:cubicBezTo>
                    <a:pt x="0" y="87"/>
                    <a:pt x="3" y="95"/>
                    <a:pt x="9" y="99"/>
                  </a:cubicBezTo>
                  <a:cubicBezTo>
                    <a:pt x="445" y="351"/>
                    <a:pt x="445" y="351"/>
                    <a:pt x="445" y="351"/>
                  </a:cubicBezTo>
                  <a:cubicBezTo>
                    <a:pt x="459" y="359"/>
                    <a:pt x="474" y="363"/>
                    <a:pt x="490" y="363"/>
                  </a:cubicBezTo>
                  <a:cubicBezTo>
                    <a:pt x="506" y="363"/>
                    <a:pt x="521" y="359"/>
                    <a:pt x="535" y="351"/>
                  </a:cubicBezTo>
                  <a:cubicBezTo>
                    <a:pt x="872" y="156"/>
                    <a:pt x="872" y="156"/>
                    <a:pt x="872" y="156"/>
                  </a:cubicBezTo>
                  <a:cubicBezTo>
                    <a:pt x="882" y="150"/>
                    <a:pt x="893" y="148"/>
                    <a:pt x="903" y="148"/>
                  </a:cubicBezTo>
                  <a:cubicBezTo>
                    <a:pt x="914" y="148"/>
                    <a:pt x="925" y="150"/>
                    <a:pt x="935" y="156"/>
                  </a:cubicBezTo>
                  <a:cubicBezTo>
                    <a:pt x="1343" y="392"/>
                    <a:pt x="1343" y="392"/>
                    <a:pt x="1343" y="392"/>
                  </a:cubicBezTo>
                  <a:cubicBezTo>
                    <a:pt x="1357" y="400"/>
                    <a:pt x="1373" y="404"/>
                    <a:pt x="1388" y="404"/>
                  </a:cubicBezTo>
                  <a:cubicBezTo>
                    <a:pt x="1404" y="404"/>
                    <a:pt x="1420" y="400"/>
                    <a:pt x="1434" y="392"/>
                  </a:cubicBezTo>
                  <a:cubicBezTo>
                    <a:pt x="2067" y="26"/>
                    <a:pt x="2067" y="26"/>
                    <a:pt x="2067" y="26"/>
                  </a:cubicBezTo>
                  <a:cubicBezTo>
                    <a:pt x="2073" y="23"/>
                    <a:pt x="2076" y="14"/>
                    <a:pt x="2072" y="7"/>
                  </a:cubicBezTo>
                  <a:cubicBezTo>
                    <a:pt x="2069" y="3"/>
                    <a:pt x="2064" y="0"/>
                    <a:pt x="2059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50000"/>
                  </a:srgbClr>
                </a:gs>
                <a:gs pos="37000">
                  <a:srgbClr val="41E4DE">
                    <a:alpha val="50000"/>
                  </a:srgbClr>
                </a:gs>
                <a:gs pos="0">
                  <a:srgbClr val="19145F">
                    <a:alpha val="50000"/>
                  </a:srgbClr>
                </a:gs>
                <a:gs pos="100000">
                  <a:srgbClr val="19125E">
                    <a:alpha val="50000"/>
                  </a:srgbClr>
                </a:gs>
              </a:gsLst>
              <a:lin ang="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7640638" y="3989388"/>
              <a:ext cx="3186112" cy="1830387"/>
            </a:xfrm>
            <a:custGeom>
              <a:avLst/>
              <a:gdLst>
                <a:gd name="T0" fmla="*/ 483 w 966"/>
                <a:gd name="T1" fmla="*/ 466 h 554"/>
                <a:gd name="T2" fmla="*/ 157 w 966"/>
                <a:gd name="T3" fmla="*/ 277 h 554"/>
                <a:gd name="T4" fmla="*/ 483 w 966"/>
                <a:gd name="T5" fmla="*/ 89 h 554"/>
                <a:gd name="T6" fmla="*/ 810 w 966"/>
                <a:gd name="T7" fmla="*/ 277 h 554"/>
                <a:gd name="T8" fmla="*/ 483 w 966"/>
                <a:gd name="T9" fmla="*/ 466 h 554"/>
                <a:gd name="T10" fmla="*/ 483 w 966"/>
                <a:gd name="T11" fmla="*/ 48 h 554"/>
                <a:gd name="T12" fmla="*/ 472 w 966"/>
                <a:gd name="T13" fmla="*/ 51 h 554"/>
                <a:gd name="T14" fmla="*/ 82 w 966"/>
                <a:gd name="T15" fmla="*/ 276 h 554"/>
                <a:gd name="T16" fmla="*/ 81 w 966"/>
                <a:gd name="T17" fmla="*/ 277 h 554"/>
                <a:gd name="T18" fmla="*/ 82 w 966"/>
                <a:gd name="T19" fmla="*/ 278 h 554"/>
                <a:gd name="T20" fmla="*/ 472 w 966"/>
                <a:gd name="T21" fmla="*/ 503 h 554"/>
                <a:gd name="T22" fmla="*/ 472 w 966"/>
                <a:gd name="T23" fmla="*/ 503 h 554"/>
                <a:gd name="T24" fmla="*/ 483 w 966"/>
                <a:gd name="T25" fmla="*/ 506 h 554"/>
                <a:gd name="T26" fmla="*/ 494 w 966"/>
                <a:gd name="T27" fmla="*/ 503 h 554"/>
                <a:gd name="T28" fmla="*/ 884 w 966"/>
                <a:gd name="T29" fmla="*/ 278 h 554"/>
                <a:gd name="T30" fmla="*/ 885 w 966"/>
                <a:gd name="T31" fmla="*/ 277 h 554"/>
                <a:gd name="T32" fmla="*/ 884 w 966"/>
                <a:gd name="T33" fmla="*/ 276 h 554"/>
                <a:gd name="T34" fmla="*/ 494 w 966"/>
                <a:gd name="T35" fmla="*/ 51 h 554"/>
                <a:gd name="T36" fmla="*/ 483 w 966"/>
                <a:gd name="T37" fmla="*/ 48 h 554"/>
                <a:gd name="T38" fmla="*/ 483 w 966"/>
                <a:gd name="T39" fmla="*/ 518 h 554"/>
                <a:gd name="T40" fmla="*/ 466 w 966"/>
                <a:gd name="T41" fmla="*/ 514 h 554"/>
                <a:gd name="T42" fmla="*/ 466 w 966"/>
                <a:gd name="T43" fmla="*/ 514 h 554"/>
                <a:gd name="T44" fmla="*/ 76 w 966"/>
                <a:gd name="T45" fmla="*/ 289 h 554"/>
                <a:gd name="T46" fmla="*/ 69 w 966"/>
                <a:gd name="T47" fmla="*/ 277 h 554"/>
                <a:gd name="T48" fmla="*/ 76 w 966"/>
                <a:gd name="T49" fmla="*/ 266 h 554"/>
                <a:gd name="T50" fmla="*/ 466 w 966"/>
                <a:gd name="T51" fmla="*/ 41 h 554"/>
                <a:gd name="T52" fmla="*/ 483 w 966"/>
                <a:gd name="T53" fmla="*/ 36 h 554"/>
                <a:gd name="T54" fmla="*/ 500 w 966"/>
                <a:gd name="T55" fmla="*/ 41 h 554"/>
                <a:gd name="T56" fmla="*/ 890 w 966"/>
                <a:gd name="T57" fmla="*/ 266 h 554"/>
                <a:gd name="T58" fmla="*/ 897 w 966"/>
                <a:gd name="T59" fmla="*/ 277 h 554"/>
                <a:gd name="T60" fmla="*/ 890 w 966"/>
                <a:gd name="T61" fmla="*/ 289 h 554"/>
                <a:gd name="T62" fmla="*/ 500 w 966"/>
                <a:gd name="T63" fmla="*/ 514 h 554"/>
                <a:gd name="T64" fmla="*/ 483 w 966"/>
                <a:gd name="T65" fmla="*/ 518 h 554"/>
                <a:gd name="T66" fmla="*/ 483 w 966"/>
                <a:gd name="T67" fmla="*/ 0 h 554"/>
                <a:gd name="T68" fmla="*/ 462 w 966"/>
                <a:gd name="T69" fmla="*/ 6 h 554"/>
                <a:gd name="T70" fmla="*/ 7 w 966"/>
                <a:gd name="T71" fmla="*/ 269 h 554"/>
                <a:gd name="T72" fmla="*/ 7 w 966"/>
                <a:gd name="T73" fmla="*/ 286 h 554"/>
                <a:gd name="T74" fmla="*/ 462 w 966"/>
                <a:gd name="T75" fmla="*/ 548 h 554"/>
                <a:gd name="T76" fmla="*/ 483 w 966"/>
                <a:gd name="T77" fmla="*/ 554 h 554"/>
                <a:gd name="T78" fmla="*/ 505 w 966"/>
                <a:gd name="T79" fmla="*/ 548 h 554"/>
                <a:gd name="T80" fmla="*/ 960 w 966"/>
                <a:gd name="T81" fmla="*/ 286 h 554"/>
                <a:gd name="T82" fmla="*/ 960 w 966"/>
                <a:gd name="T83" fmla="*/ 269 h 554"/>
                <a:gd name="T84" fmla="*/ 505 w 966"/>
                <a:gd name="T85" fmla="*/ 6 h 554"/>
                <a:gd name="T86" fmla="*/ 483 w 966"/>
                <a:gd name="T87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6" h="554">
                  <a:moveTo>
                    <a:pt x="483" y="466"/>
                  </a:moveTo>
                  <a:cubicBezTo>
                    <a:pt x="157" y="277"/>
                    <a:pt x="157" y="277"/>
                    <a:pt x="157" y="277"/>
                  </a:cubicBezTo>
                  <a:cubicBezTo>
                    <a:pt x="483" y="89"/>
                    <a:pt x="483" y="89"/>
                    <a:pt x="483" y="89"/>
                  </a:cubicBezTo>
                  <a:cubicBezTo>
                    <a:pt x="810" y="277"/>
                    <a:pt x="810" y="277"/>
                    <a:pt x="810" y="277"/>
                  </a:cubicBezTo>
                  <a:cubicBezTo>
                    <a:pt x="483" y="466"/>
                    <a:pt x="483" y="466"/>
                    <a:pt x="483" y="466"/>
                  </a:cubicBezTo>
                  <a:moveTo>
                    <a:pt x="483" y="48"/>
                  </a:moveTo>
                  <a:cubicBezTo>
                    <a:pt x="479" y="48"/>
                    <a:pt x="475" y="49"/>
                    <a:pt x="472" y="51"/>
                  </a:cubicBezTo>
                  <a:cubicBezTo>
                    <a:pt x="82" y="276"/>
                    <a:pt x="82" y="276"/>
                    <a:pt x="82" y="276"/>
                  </a:cubicBezTo>
                  <a:cubicBezTo>
                    <a:pt x="82" y="277"/>
                    <a:pt x="81" y="277"/>
                    <a:pt x="81" y="277"/>
                  </a:cubicBezTo>
                  <a:cubicBezTo>
                    <a:pt x="81" y="278"/>
                    <a:pt x="82" y="278"/>
                    <a:pt x="82" y="278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5" y="505"/>
                    <a:pt x="479" y="506"/>
                    <a:pt x="483" y="506"/>
                  </a:cubicBezTo>
                  <a:cubicBezTo>
                    <a:pt x="487" y="506"/>
                    <a:pt x="491" y="505"/>
                    <a:pt x="494" y="503"/>
                  </a:cubicBezTo>
                  <a:cubicBezTo>
                    <a:pt x="884" y="278"/>
                    <a:pt x="884" y="278"/>
                    <a:pt x="884" y="278"/>
                  </a:cubicBezTo>
                  <a:cubicBezTo>
                    <a:pt x="885" y="278"/>
                    <a:pt x="885" y="278"/>
                    <a:pt x="885" y="277"/>
                  </a:cubicBezTo>
                  <a:cubicBezTo>
                    <a:pt x="885" y="277"/>
                    <a:pt x="885" y="277"/>
                    <a:pt x="884" y="27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1" y="49"/>
                    <a:pt x="487" y="48"/>
                    <a:pt x="483" y="48"/>
                  </a:cubicBezTo>
                  <a:moveTo>
                    <a:pt x="483" y="518"/>
                  </a:moveTo>
                  <a:cubicBezTo>
                    <a:pt x="477" y="518"/>
                    <a:pt x="471" y="517"/>
                    <a:pt x="466" y="514"/>
                  </a:cubicBezTo>
                  <a:cubicBezTo>
                    <a:pt x="466" y="514"/>
                    <a:pt x="466" y="514"/>
                    <a:pt x="466" y="514"/>
                  </a:cubicBezTo>
                  <a:cubicBezTo>
                    <a:pt x="76" y="289"/>
                    <a:pt x="76" y="289"/>
                    <a:pt x="76" y="289"/>
                  </a:cubicBezTo>
                  <a:cubicBezTo>
                    <a:pt x="72" y="286"/>
                    <a:pt x="69" y="282"/>
                    <a:pt x="69" y="277"/>
                  </a:cubicBezTo>
                  <a:cubicBezTo>
                    <a:pt x="69" y="273"/>
                    <a:pt x="72" y="268"/>
                    <a:pt x="76" y="266"/>
                  </a:cubicBezTo>
                  <a:cubicBezTo>
                    <a:pt x="466" y="41"/>
                    <a:pt x="466" y="41"/>
                    <a:pt x="466" y="41"/>
                  </a:cubicBezTo>
                  <a:cubicBezTo>
                    <a:pt x="471" y="38"/>
                    <a:pt x="477" y="36"/>
                    <a:pt x="483" y="36"/>
                  </a:cubicBezTo>
                  <a:cubicBezTo>
                    <a:pt x="489" y="36"/>
                    <a:pt x="495" y="38"/>
                    <a:pt x="500" y="41"/>
                  </a:cubicBezTo>
                  <a:cubicBezTo>
                    <a:pt x="890" y="266"/>
                    <a:pt x="890" y="266"/>
                    <a:pt x="890" y="266"/>
                  </a:cubicBezTo>
                  <a:cubicBezTo>
                    <a:pt x="894" y="268"/>
                    <a:pt x="897" y="273"/>
                    <a:pt x="897" y="277"/>
                  </a:cubicBezTo>
                  <a:cubicBezTo>
                    <a:pt x="897" y="282"/>
                    <a:pt x="894" y="286"/>
                    <a:pt x="890" y="289"/>
                  </a:cubicBezTo>
                  <a:cubicBezTo>
                    <a:pt x="500" y="514"/>
                    <a:pt x="500" y="514"/>
                    <a:pt x="500" y="514"/>
                  </a:cubicBezTo>
                  <a:cubicBezTo>
                    <a:pt x="495" y="517"/>
                    <a:pt x="489" y="518"/>
                    <a:pt x="483" y="518"/>
                  </a:cubicBezTo>
                  <a:moveTo>
                    <a:pt x="483" y="0"/>
                  </a:moveTo>
                  <a:cubicBezTo>
                    <a:pt x="476" y="0"/>
                    <a:pt x="468" y="2"/>
                    <a:pt x="462" y="6"/>
                  </a:cubicBezTo>
                  <a:cubicBezTo>
                    <a:pt x="7" y="269"/>
                    <a:pt x="7" y="269"/>
                    <a:pt x="7" y="269"/>
                  </a:cubicBezTo>
                  <a:cubicBezTo>
                    <a:pt x="0" y="273"/>
                    <a:pt x="0" y="282"/>
                    <a:pt x="7" y="286"/>
                  </a:cubicBezTo>
                  <a:cubicBezTo>
                    <a:pt x="462" y="548"/>
                    <a:pt x="462" y="548"/>
                    <a:pt x="462" y="548"/>
                  </a:cubicBezTo>
                  <a:cubicBezTo>
                    <a:pt x="468" y="552"/>
                    <a:pt x="476" y="554"/>
                    <a:pt x="483" y="554"/>
                  </a:cubicBezTo>
                  <a:cubicBezTo>
                    <a:pt x="491" y="554"/>
                    <a:pt x="498" y="552"/>
                    <a:pt x="505" y="548"/>
                  </a:cubicBezTo>
                  <a:cubicBezTo>
                    <a:pt x="960" y="286"/>
                    <a:pt x="960" y="286"/>
                    <a:pt x="960" y="286"/>
                  </a:cubicBezTo>
                  <a:cubicBezTo>
                    <a:pt x="966" y="282"/>
                    <a:pt x="966" y="273"/>
                    <a:pt x="960" y="269"/>
                  </a:cubicBezTo>
                  <a:cubicBezTo>
                    <a:pt x="505" y="6"/>
                    <a:pt x="505" y="6"/>
                    <a:pt x="505" y="6"/>
                  </a:cubicBezTo>
                  <a:cubicBezTo>
                    <a:pt x="498" y="2"/>
                    <a:pt x="491" y="0"/>
                    <a:pt x="483" y="0"/>
                  </a:cubicBezTo>
                </a:path>
              </a:pathLst>
            </a:custGeom>
            <a:solidFill>
              <a:srgbClr val="5E5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7"/>
            <p:cNvSpPr>
              <a:spLocks noEditPoints="1"/>
            </p:cNvSpPr>
            <p:nvPr userDrawn="1"/>
          </p:nvSpPr>
          <p:spPr bwMode="auto">
            <a:xfrm>
              <a:off x="7869238" y="4108450"/>
              <a:ext cx="2730500" cy="1592262"/>
            </a:xfrm>
            <a:custGeom>
              <a:avLst/>
              <a:gdLst>
                <a:gd name="T0" fmla="*/ 403 w 828"/>
                <a:gd name="T1" fmla="*/ 467 h 482"/>
                <a:gd name="T2" fmla="*/ 13 w 828"/>
                <a:gd name="T3" fmla="*/ 242 h 482"/>
                <a:gd name="T4" fmla="*/ 12 w 828"/>
                <a:gd name="T5" fmla="*/ 241 h 482"/>
                <a:gd name="T6" fmla="*/ 13 w 828"/>
                <a:gd name="T7" fmla="*/ 240 h 482"/>
                <a:gd name="T8" fmla="*/ 403 w 828"/>
                <a:gd name="T9" fmla="*/ 15 h 482"/>
                <a:gd name="T10" fmla="*/ 414 w 828"/>
                <a:gd name="T11" fmla="*/ 12 h 482"/>
                <a:gd name="T12" fmla="*/ 425 w 828"/>
                <a:gd name="T13" fmla="*/ 15 h 482"/>
                <a:gd name="T14" fmla="*/ 815 w 828"/>
                <a:gd name="T15" fmla="*/ 240 h 482"/>
                <a:gd name="T16" fmla="*/ 816 w 828"/>
                <a:gd name="T17" fmla="*/ 241 h 482"/>
                <a:gd name="T18" fmla="*/ 815 w 828"/>
                <a:gd name="T19" fmla="*/ 242 h 482"/>
                <a:gd name="T20" fmla="*/ 425 w 828"/>
                <a:gd name="T21" fmla="*/ 467 h 482"/>
                <a:gd name="T22" fmla="*/ 414 w 828"/>
                <a:gd name="T23" fmla="*/ 470 h 482"/>
                <a:gd name="T24" fmla="*/ 403 w 828"/>
                <a:gd name="T25" fmla="*/ 467 h 482"/>
                <a:gd name="T26" fmla="*/ 403 w 828"/>
                <a:gd name="T27" fmla="*/ 467 h 482"/>
                <a:gd name="T28" fmla="*/ 414 w 828"/>
                <a:gd name="T29" fmla="*/ 0 h 482"/>
                <a:gd name="T30" fmla="*/ 397 w 828"/>
                <a:gd name="T31" fmla="*/ 5 h 482"/>
                <a:gd name="T32" fmla="*/ 7 w 828"/>
                <a:gd name="T33" fmla="*/ 230 h 482"/>
                <a:gd name="T34" fmla="*/ 0 w 828"/>
                <a:gd name="T35" fmla="*/ 241 h 482"/>
                <a:gd name="T36" fmla="*/ 7 w 828"/>
                <a:gd name="T37" fmla="*/ 253 h 482"/>
                <a:gd name="T38" fmla="*/ 397 w 828"/>
                <a:gd name="T39" fmla="*/ 478 h 482"/>
                <a:gd name="T40" fmla="*/ 397 w 828"/>
                <a:gd name="T41" fmla="*/ 478 h 482"/>
                <a:gd name="T42" fmla="*/ 414 w 828"/>
                <a:gd name="T43" fmla="*/ 482 h 482"/>
                <a:gd name="T44" fmla="*/ 431 w 828"/>
                <a:gd name="T45" fmla="*/ 478 h 482"/>
                <a:gd name="T46" fmla="*/ 821 w 828"/>
                <a:gd name="T47" fmla="*/ 253 h 482"/>
                <a:gd name="T48" fmla="*/ 828 w 828"/>
                <a:gd name="T49" fmla="*/ 241 h 482"/>
                <a:gd name="T50" fmla="*/ 821 w 828"/>
                <a:gd name="T51" fmla="*/ 230 h 482"/>
                <a:gd name="T52" fmla="*/ 431 w 828"/>
                <a:gd name="T53" fmla="*/ 5 h 482"/>
                <a:gd name="T54" fmla="*/ 414 w 828"/>
                <a:gd name="T5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482">
                  <a:moveTo>
                    <a:pt x="403" y="467"/>
                  </a:moveTo>
                  <a:cubicBezTo>
                    <a:pt x="13" y="242"/>
                    <a:pt x="13" y="242"/>
                    <a:pt x="13" y="242"/>
                  </a:cubicBezTo>
                  <a:cubicBezTo>
                    <a:pt x="13" y="242"/>
                    <a:pt x="12" y="242"/>
                    <a:pt x="12" y="241"/>
                  </a:cubicBezTo>
                  <a:cubicBezTo>
                    <a:pt x="12" y="241"/>
                    <a:pt x="13" y="241"/>
                    <a:pt x="13" y="240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6" y="13"/>
                    <a:pt x="410" y="12"/>
                    <a:pt x="414" y="12"/>
                  </a:cubicBezTo>
                  <a:cubicBezTo>
                    <a:pt x="418" y="12"/>
                    <a:pt x="422" y="13"/>
                    <a:pt x="425" y="15"/>
                  </a:cubicBezTo>
                  <a:cubicBezTo>
                    <a:pt x="815" y="240"/>
                    <a:pt x="815" y="240"/>
                    <a:pt x="815" y="240"/>
                  </a:cubicBezTo>
                  <a:cubicBezTo>
                    <a:pt x="816" y="241"/>
                    <a:pt x="816" y="241"/>
                    <a:pt x="816" y="241"/>
                  </a:cubicBezTo>
                  <a:cubicBezTo>
                    <a:pt x="816" y="242"/>
                    <a:pt x="816" y="242"/>
                    <a:pt x="815" y="242"/>
                  </a:cubicBezTo>
                  <a:cubicBezTo>
                    <a:pt x="425" y="467"/>
                    <a:pt x="425" y="467"/>
                    <a:pt x="425" y="467"/>
                  </a:cubicBezTo>
                  <a:cubicBezTo>
                    <a:pt x="422" y="469"/>
                    <a:pt x="418" y="470"/>
                    <a:pt x="414" y="470"/>
                  </a:cubicBezTo>
                  <a:cubicBezTo>
                    <a:pt x="410" y="470"/>
                    <a:pt x="406" y="469"/>
                    <a:pt x="403" y="467"/>
                  </a:cubicBezTo>
                  <a:cubicBezTo>
                    <a:pt x="403" y="467"/>
                    <a:pt x="403" y="467"/>
                    <a:pt x="403" y="467"/>
                  </a:cubicBezTo>
                  <a:moveTo>
                    <a:pt x="414" y="0"/>
                  </a:moveTo>
                  <a:cubicBezTo>
                    <a:pt x="408" y="0"/>
                    <a:pt x="402" y="2"/>
                    <a:pt x="397" y="5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3" y="232"/>
                    <a:pt x="0" y="237"/>
                    <a:pt x="0" y="241"/>
                  </a:cubicBezTo>
                  <a:cubicBezTo>
                    <a:pt x="0" y="246"/>
                    <a:pt x="3" y="250"/>
                    <a:pt x="7" y="253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402" y="481"/>
                    <a:pt x="408" y="482"/>
                    <a:pt x="414" y="482"/>
                  </a:cubicBezTo>
                  <a:cubicBezTo>
                    <a:pt x="420" y="482"/>
                    <a:pt x="426" y="481"/>
                    <a:pt x="431" y="478"/>
                  </a:cubicBezTo>
                  <a:cubicBezTo>
                    <a:pt x="821" y="253"/>
                    <a:pt x="821" y="253"/>
                    <a:pt x="821" y="253"/>
                  </a:cubicBezTo>
                  <a:cubicBezTo>
                    <a:pt x="825" y="250"/>
                    <a:pt x="828" y="246"/>
                    <a:pt x="828" y="241"/>
                  </a:cubicBezTo>
                  <a:cubicBezTo>
                    <a:pt x="828" y="237"/>
                    <a:pt x="825" y="232"/>
                    <a:pt x="821" y="230"/>
                  </a:cubicBezTo>
                  <a:cubicBezTo>
                    <a:pt x="431" y="5"/>
                    <a:pt x="431" y="5"/>
                    <a:pt x="431" y="5"/>
                  </a:cubicBezTo>
                  <a:cubicBezTo>
                    <a:pt x="426" y="2"/>
                    <a:pt x="420" y="0"/>
                    <a:pt x="414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74000"/>
                  </a:srgbClr>
                </a:gs>
                <a:gs pos="37000">
                  <a:srgbClr val="41E4DE">
                    <a:alpha val="71000"/>
                  </a:srgbClr>
                </a:gs>
                <a:gs pos="0">
                  <a:srgbClr val="19145F"/>
                </a:gs>
                <a:gs pos="100000">
                  <a:srgbClr val="19125E">
                    <a:alpha val="82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8"/>
            <p:cNvSpPr/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100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55"/>
            <p:cNvSpPr/>
            <p:nvPr userDrawn="1"/>
          </p:nvSpPr>
          <p:spPr bwMode="auto">
            <a:xfrm>
              <a:off x="6513861" y="58102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3"/>
                    <a:pt x="17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56"/>
            <p:cNvSpPr/>
            <p:nvPr userDrawn="1"/>
          </p:nvSpPr>
          <p:spPr bwMode="auto">
            <a:xfrm>
              <a:off x="6605936" y="5756275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4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4" y="24"/>
                  </a:cubicBezTo>
                  <a:cubicBezTo>
                    <a:pt x="16" y="24"/>
                    <a:pt x="18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57"/>
            <p:cNvSpPr/>
            <p:nvPr userDrawn="1"/>
          </p:nvSpPr>
          <p:spPr bwMode="auto">
            <a:xfrm>
              <a:off x="6701186" y="5702300"/>
              <a:ext cx="85725" cy="77787"/>
            </a:xfrm>
            <a:custGeom>
              <a:avLst/>
              <a:gdLst>
                <a:gd name="T0" fmla="*/ 13 w 26"/>
                <a:gd name="T1" fmla="*/ 0 h 23"/>
                <a:gd name="T2" fmla="*/ 7 w 26"/>
                <a:gd name="T3" fmla="*/ 1 h 23"/>
                <a:gd name="T4" fmla="*/ 3 w 26"/>
                <a:gd name="T5" fmla="*/ 18 h 23"/>
                <a:gd name="T6" fmla="*/ 13 w 26"/>
                <a:gd name="T7" fmla="*/ 23 h 23"/>
                <a:gd name="T8" fmla="*/ 19 w 26"/>
                <a:gd name="T9" fmla="*/ 22 h 23"/>
                <a:gd name="T10" fmla="*/ 23 w 26"/>
                <a:gd name="T11" fmla="*/ 6 h 23"/>
                <a:gd name="T12" fmla="*/ 13 w 26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3">
                  <a:moveTo>
                    <a:pt x="13" y="0"/>
                  </a:moveTo>
                  <a:cubicBezTo>
                    <a:pt x="11" y="0"/>
                    <a:pt x="9" y="0"/>
                    <a:pt x="7" y="1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58"/>
            <p:cNvSpPr/>
            <p:nvPr userDrawn="1"/>
          </p:nvSpPr>
          <p:spPr bwMode="auto">
            <a:xfrm>
              <a:off x="6793261" y="5649912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4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3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59"/>
            <p:cNvSpPr/>
            <p:nvPr userDrawn="1"/>
          </p:nvSpPr>
          <p:spPr bwMode="auto">
            <a:xfrm>
              <a:off x="6886924" y="559593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1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60"/>
            <p:cNvSpPr/>
            <p:nvPr userDrawn="1"/>
          </p:nvSpPr>
          <p:spPr bwMode="auto">
            <a:xfrm>
              <a:off x="6982174" y="5538787"/>
              <a:ext cx="88900" cy="80962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61"/>
            <p:cNvSpPr/>
            <p:nvPr userDrawn="1"/>
          </p:nvSpPr>
          <p:spPr bwMode="auto">
            <a:xfrm>
              <a:off x="7263161" y="5372100"/>
              <a:ext cx="88900" cy="77787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62"/>
            <p:cNvSpPr/>
            <p:nvPr userDrawn="1"/>
          </p:nvSpPr>
          <p:spPr bwMode="auto">
            <a:xfrm>
              <a:off x="7171086" y="5426075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63"/>
            <p:cNvSpPr/>
            <p:nvPr userDrawn="1"/>
          </p:nvSpPr>
          <p:spPr bwMode="auto">
            <a:xfrm>
              <a:off x="7074249" y="5480050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57EA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64"/>
            <p:cNvSpPr/>
            <p:nvPr userDrawn="1"/>
          </p:nvSpPr>
          <p:spPr bwMode="auto">
            <a:xfrm>
              <a:off x="7923561" y="5372100"/>
              <a:ext cx="88900" cy="77787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8 w 27"/>
                <a:gd name="T5" fmla="*/ 22 h 23"/>
                <a:gd name="T6" fmla="*/ 13 w 27"/>
                <a:gd name="T7" fmla="*/ 23 h 23"/>
                <a:gd name="T8" fmla="*/ 24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8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8" y="23"/>
                    <a:pt x="21" y="21"/>
                    <a:pt x="24" y="17"/>
                  </a:cubicBezTo>
                  <a:cubicBezTo>
                    <a:pt x="27" y="11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65"/>
            <p:cNvSpPr/>
            <p:nvPr userDrawn="1"/>
          </p:nvSpPr>
          <p:spPr bwMode="auto">
            <a:xfrm>
              <a:off x="8015636" y="5426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4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7 h 23"/>
                <a:gd name="T10" fmla="*/ 20 w 27"/>
                <a:gd name="T11" fmla="*/ 1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7"/>
                  </a:cubicBezTo>
                  <a:cubicBezTo>
                    <a:pt x="27" y="12"/>
                    <a:pt x="25" y="5"/>
                    <a:pt x="20" y="1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66"/>
            <p:cNvSpPr/>
            <p:nvPr userDrawn="1"/>
          </p:nvSpPr>
          <p:spPr bwMode="auto">
            <a:xfrm>
              <a:off x="8110886" y="54800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67"/>
            <p:cNvSpPr/>
            <p:nvPr userDrawn="1"/>
          </p:nvSpPr>
          <p:spPr bwMode="auto">
            <a:xfrm>
              <a:off x="8204549" y="55324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68"/>
            <p:cNvSpPr/>
            <p:nvPr userDrawn="1"/>
          </p:nvSpPr>
          <p:spPr bwMode="auto">
            <a:xfrm>
              <a:off x="8299799" y="558641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7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3"/>
                    <a:pt x="3" y="6"/>
                  </a:cubicBezTo>
                  <a:cubicBezTo>
                    <a:pt x="0" y="12"/>
                    <a:pt x="2" y="19"/>
                    <a:pt x="7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2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1"/>
                    <a:pt x="15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71"/>
            <p:cNvSpPr/>
            <p:nvPr userDrawn="1"/>
          </p:nvSpPr>
          <p:spPr bwMode="auto">
            <a:xfrm>
              <a:off x="8945911" y="5972175"/>
              <a:ext cx="90488" cy="80962"/>
            </a:xfrm>
            <a:custGeom>
              <a:avLst/>
              <a:gdLst>
                <a:gd name="T0" fmla="*/ 14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1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72"/>
            <p:cNvSpPr/>
            <p:nvPr userDrawn="1"/>
          </p:nvSpPr>
          <p:spPr bwMode="auto">
            <a:xfrm>
              <a:off x="8853836" y="5919787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6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5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73"/>
            <p:cNvSpPr/>
            <p:nvPr userDrawn="1"/>
          </p:nvSpPr>
          <p:spPr bwMode="auto">
            <a:xfrm>
              <a:off x="8758586" y="58626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74"/>
            <p:cNvSpPr/>
            <p:nvPr userDrawn="1"/>
          </p:nvSpPr>
          <p:spPr bwMode="auto">
            <a:xfrm>
              <a:off x="8666511" y="5810250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3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8 h 23"/>
                <a:gd name="T10" fmla="*/ 19 w 27"/>
                <a:gd name="T11" fmla="*/ 2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75"/>
            <p:cNvSpPr/>
            <p:nvPr userDrawn="1"/>
          </p:nvSpPr>
          <p:spPr bwMode="auto">
            <a:xfrm>
              <a:off x="8572849" y="5756275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77"/>
            <p:cNvSpPr/>
            <p:nvPr userDrawn="1"/>
          </p:nvSpPr>
          <p:spPr bwMode="auto">
            <a:xfrm>
              <a:off x="8487124" y="5699125"/>
              <a:ext cx="79375" cy="73025"/>
            </a:xfrm>
            <a:custGeom>
              <a:avLst/>
              <a:gdLst>
                <a:gd name="T0" fmla="*/ 11 w 24"/>
                <a:gd name="T1" fmla="*/ 0 h 22"/>
                <a:gd name="T2" fmla="*/ 6 w 24"/>
                <a:gd name="T3" fmla="*/ 1 h 22"/>
                <a:gd name="T4" fmla="*/ 3 w 24"/>
                <a:gd name="T5" fmla="*/ 5 h 22"/>
                <a:gd name="T6" fmla="*/ 7 w 24"/>
                <a:gd name="T7" fmla="*/ 21 h 22"/>
                <a:gd name="T8" fmla="*/ 13 w 24"/>
                <a:gd name="T9" fmla="*/ 22 h 22"/>
                <a:gd name="T10" fmla="*/ 18 w 24"/>
                <a:gd name="T11" fmla="*/ 21 h 22"/>
                <a:gd name="T12" fmla="*/ 21 w 24"/>
                <a:gd name="T13" fmla="*/ 18 h 22"/>
                <a:gd name="T14" fmla="*/ 17 w 24"/>
                <a:gd name="T15" fmla="*/ 2 h 22"/>
                <a:gd name="T16" fmla="*/ 11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11" y="0"/>
                  </a:moveTo>
                  <a:cubicBezTo>
                    <a:pt x="9" y="0"/>
                    <a:pt x="8" y="0"/>
                    <a:pt x="6" y="1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0" y="10"/>
                    <a:pt x="2" y="18"/>
                    <a:pt x="7" y="21"/>
                  </a:cubicBezTo>
                  <a:cubicBezTo>
                    <a:pt x="9" y="22"/>
                    <a:pt x="11" y="22"/>
                    <a:pt x="13" y="22"/>
                  </a:cubicBezTo>
                  <a:cubicBezTo>
                    <a:pt x="15" y="22"/>
                    <a:pt x="16" y="22"/>
                    <a:pt x="18" y="21"/>
                  </a:cubicBezTo>
                  <a:cubicBezTo>
                    <a:pt x="19" y="21"/>
                    <a:pt x="20" y="19"/>
                    <a:pt x="21" y="18"/>
                  </a:cubicBezTo>
                  <a:cubicBezTo>
                    <a:pt x="24" y="12"/>
                    <a:pt x="22" y="5"/>
                    <a:pt x="17" y="2"/>
                  </a:cubicBezTo>
                  <a:cubicBezTo>
                    <a:pt x="15" y="1"/>
                    <a:pt x="13" y="0"/>
                    <a:pt x="11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79"/>
            <p:cNvSpPr/>
            <p:nvPr userDrawn="1"/>
          </p:nvSpPr>
          <p:spPr bwMode="auto">
            <a:xfrm>
              <a:off x="8391874" y="5646737"/>
              <a:ext cx="82550" cy="73025"/>
            </a:xfrm>
            <a:custGeom>
              <a:avLst/>
              <a:gdLst>
                <a:gd name="T0" fmla="*/ 11 w 25"/>
                <a:gd name="T1" fmla="*/ 0 h 22"/>
                <a:gd name="T2" fmla="*/ 7 w 25"/>
                <a:gd name="T3" fmla="*/ 1 h 22"/>
                <a:gd name="T4" fmla="*/ 4 w 25"/>
                <a:gd name="T5" fmla="*/ 5 h 22"/>
                <a:gd name="T6" fmla="*/ 8 w 25"/>
                <a:gd name="T7" fmla="*/ 21 h 22"/>
                <a:gd name="T8" fmla="*/ 14 w 25"/>
                <a:gd name="T9" fmla="*/ 22 h 22"/>
                <a:gd name="T10" fmla="*/ 18 w 25"/>
                <a:gd name="T11" fmla="*/ 21 h 22"/>
                <a:gd name="T12" fmla="*/ 22 w 25"/>
                <a:gd name="T13" fmla="*/ 17 h 22"/>
                <a:gd name="T14" fmla="*/ 17 w 25"/>
                <a:gd name="T15" fmla="*/ 1 h 22"/>
                <a:gd name="T16" fmla="*/ 11 w 25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2">
                  <a:moveTo>
                    <a:pt x="11" y="0"/>
                  </a:moveTo>
                  <a:cubicBezTo>
                    <a:pt x="10" y="0"/>
                    <a:pt x="9" y="0"/>
                    <a:pt x="7" y="1"/>
                  </a:cubicBezTo>
                  <a:cubicBezTo>
                    <a:pt x="6" y="2"/>
                    <a:pt x="4" y="3"/>
                    <a:pt x="4" y="5"/>
                  </a:cubicBezTo>
                  <a:cubicBezTo>
                    <a:pt x="0" y="10"/>
                    <a:pt x="2" y="17"/>
                    <a:pt x="8" y="21"/>
                  </a:cubicBezTo>
                  <a:cubicBezTo>
                    <a:pt x="10" y="22"/>
                    <a:pt x="12" y="22"/>
                    <a:pt x="14" y="22"/>
                  </a:cubicBezTo>
                  <a:cubicBezTo>
                    <a:pt x="15" y="22"/>
                    <a:pt x="17" y="22"/>
                    <a:pt x="18" y="21"/>
                  </a:cubicBezTo>
                  <a:cubicBezTo>
                    <a:pt x="19" y="20"/>
                    <a:pt x="21" y="19"/>
                    <a:pt x="22" y="17"/>
                  </a:cubicBezTo>
                  <a:cubicBezTo>
                    <a:pt x="25" y="12"/>
                    <a:pt x="23" y="5"/>
                    <a:pt x="17" y="1"/>
                  </a:cubicBezTo>
                  <a:cubicBezTo>
                    <a:pt x="15" y="0"/>
                    <a:pt x="13" y="0"/>
                    <a:pt x="11" y="0"/>
                  </a:cubicBezTo>
                </a:path>
              </a:pathLst>
            </a:custGeom>
            <a:solidFill>
              <a:srgbClr val="5149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80"/>
            <p:cNvSpPr/>
            <p:nvPr userDrawn="1"/>
          </p:nvSpPr>
          <p:spPr bwMode="auto">
            <a:xfrm>
              <a:off x="10030174" y="562610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8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81"/>
            <p:cNvSpPr/>
            <p:nvPr userDrawn="1"/>
          </p:nvSpPr>
          <p:spPr bwMode="auto">
            <a:xfrm>
              <a:off x="10122249" y="5568950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3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82"/>
            <p:cNvSpPr/>
            <p:nvPr userDrawn="1"/>
          </p:nvSpPr>
          <p:spPr bwMode="auto">
            <a:xfrm>
              <a:off x="10217499" y="551656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83"/>
            <p:cNvSpPr/>
            <p:nvPr userDrawn="1"/>
          </p:nvSpPr>
          <p:spPr bwMode="auto">
            <a:xfrm>
              <a:off x="10309574" y="546258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4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19" y="22"/>
                  </a:cubicBezTo>
                  <a:cubicBezTo>
                    <a:pt x="25" y="18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84"/>
            <p:cNvSpPr/>
            <p:nvPr userDrawn="1"/>
          </p:nvSpPr>
          <p:spPr bwMode="auto">
            <a:xfrm>
              <a:off x="10406411" y="5405437"/>
              <a:ext cx="85725" cy="80962"/>
            </a:xfrm>
            <a:custGeom>
              <a:avLst/>
              <a:gdLst>
                <a:gd name="T0" fmla="*/ 13 w 26"/>
                <a:gd name="T1" fmla="*/ 0 h 24"/>
                <a:gd name="T2" fmla="*/ 7 w 26"/>
                <a:gd name="T3" fmla="*/ 2 h 24"/>
                <a:gd name="T4" fmla="*/ 3 w 26"/>
                <a:gd name="T5" fmla="*/ 18 h 24"/>
                <a:gd name="T6" fmla="*/ 13 w 26"/>
                <a:gd name="T7" fmla="*/ 24 h 24"/>
                <a:gd name="T8" fmla="*/ 19 w 26"/>
                <a:gd name="T9" fmla="*/ 22 h 24"/>
                <a:gd name="T10" fmla="*/ 23 w 26"/>
                <a:gd name="T11" fmla="*/ 6 h 24"/>
                <a:gd name="T12" fmla="*/ 13 w 26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1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85"/>
            <p:cNvSpPr/>
            <p:nvPr userDrawn="1"/>
          </p:nvSpPr>
          <p:spPr bwMode="auto">
            <a:xfrm>
              <a:off x="10498486" y="535305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7 w 27"/>
                <a:gd name="T3" fmla="*/ 2 h 23"/>
                <a:gd name="T4" fmla="*/ 3 w 27"/>
                <a:gd name="T5" fmla="*/ 18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86"/>
            <p:cNvSpPr/>
            <p:nvPr userDrawn="1"/>
          </p:nvSpPr>
          <p:spPr bwMode="auto">
            <a:xfrm>
              <a:off x="10590561" y="5299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8B86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cxnSp>
          <p:nvCxnSpPr>
            <p:cNvPr id="45" name="直接连接符 44"/>
            <p:cNvCxnSpPr/>
            <p:nvPr userDrawn="1"/>
          </p:nvCxnSpPr>
          <p:spPr>
            <a:xfrm>
              <a:off x="5641802" y="5287830"/>
              <a:ext cx="827436" cy="50191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 userDrawn="1"/>
          </p:nvCxnSpPr>
          <p:spPr>
            <a:xfrm flipV="1">
              <a:off x="7352276" y="5405437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 userDrawn="1"/>
          </p:nvCxnSpPr>
          <p:spPr>
            <a:xfrm flipV="1">
              <a:off x="7731243" y="5471253"/>
              <a:ext cx="328843" cy="21199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 userDrawn="1"/>
          </p:nvCxnSpPr>
          <p:spPr>
            <a:xfrm flipH="1" flipV="1">
              <a:off x="10065044" y="5664134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椭圆 48"/>
            <p:cNvSpPr/>
            <p:nvPr userDrawn="1"/>
          </p:nvSpPr>
          <p:spPr>
            <a:xfrm>
              <a:off x="10861128" y="4188135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连接符 49"/>
            <p:cNvCxnSpPr/>
            <p:nvPr userDrawn="1"/>
          </p:nvCxnSpPr>
          <p:spPr>
            <a:xfrm flipV="1">
              <a:off x="10552112" y="4285080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椭圆 50"/>
            <p:cNvSpPr/>
            <p:nvPr userDrawn="1"/>
          </p:nvSpPr>
          <p:spPr>
            <a:xfrm>
              <a:off x="9754989" y="371337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/>
            <p:cNvCxnSpPr/>
            <p:nvPr userDrawn="1"/>
          </p:nvCxnSpPr>
          <p:spPr>
            <a:xfrm flipV="1">
              <a:off x="9445973" y="381032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椭圆 52"/>
            <p:cNvSpPr/>
            <p:nvPr userDrawn="1"/>
          </p:nvSpPr>
          <p:spPr>
            <a:xfrm>
              <a:off x="10020604" y="4130676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" name="直接连接符 53"/>
            <p:cNvCxnSpPr/>
            <p:nvPr userDrawn="1"/>
          </p:nvCxnSpPr>
          <p:spPr>
            <a:xfrm flipV="1">
              <a:off x="9906261" y="4226956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椭圆 54"/>
            <p:cNvSpPr/>
            <p:nvPr userDrawn="1"/>
          </p:nvSpPr>
          <p:spPr>
            <a:xfrm>
              <a:off x="7626655" y="417674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直接连接符 55"/>
            <p:cNvCxnSpPr/>
            <p:nvPr userDrawn="1"/>
          </p:nvCxnSpPr>
          <p:spPr>
            <a:xfrm flipV="1">
              <a:off x="7512312" y="427302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 userDrawn="1"/>
          </p:nvSpPr>
          <p:spPr>
            <a:xfrm>
              <a:off x="8387012" y="336016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8" name="直接连接符 57"/>
            <p:cNvCxnSpPr/>
            <p:nvPr userDrawn="1"/>
          </p:nvCxnSpPr>
          <p:spPr>
            <a:xfrm flipV="1">
              <a:off x="8272669" y="345644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椭圆 58"/>
            <p:cNvSpPr/>
            <p:nvPr userDrawn="1"/>
          </p:nvSpPr>
          <p:spPr>
            <a:xfrm>
              <a:off x="8071311" y="342409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0" name="直接连接符 59"/>
            <p:cNvCxnSpPr/>
            <p:nvPr userDrawn="1"/>
          </p:nvCxnSpPr>
          <p:spPr>
            <a:xfrm flipV="1">
              <a:off x="7762295" y="352104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 userDrawn="1"/>
          </p:nvCxnSpPr>
          <p:spPr>
            <a:xfrm flipH="1" flipV="1">
              <a:off x="8216506" y="2821117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 userDrawn="1"/>
          </p:nvCxnSpPr>
          <p:spPr>
            <a:xfrm flipH="1" flipV="1">
              <a:off x="10208402" y="2813165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Freeform 90"/>
            <p:cNvSpPr/>
            <p:nvPr userDrawn="1"/>
          </p:nvSpPr>
          <p:spPr bwMode="auto">
            <a:xfrm>
              <a:off x="8148638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solidFill>
              <a:srgbClr val="736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91"/>
            <p:cNvSpPr/>
            <p:nvPr userDrawn="1"/>
          </p:nvSpPr>
          <p:spPr bwMode="auto">
            <a:xfrm>
              <a:off x="8148638" y="4264025"/>
              <a:ext cx="2168525" cy="714375"/>
            </a:xfrm>
            <a:custGeom>
              <a:avLst/>
              <a:gdLst>
                <a:gd name="T0" fmla="*/ 10 w 538"/>
                <a:gd name="T1" fmla="*/ 165 h 177"/>
                <a:gd name="T2" fmla="*/ 31 w 538"/>
                <a:gd name="T3" fmla="*/ 177 h 177"/>
                <a:gd name="T4" fmla="*/ 249 w 538"/>
                <a:gd name="T5" fmla="*/ 52 h 177"/>
                <a:gd name="T6" fmla="*/ 287 w 538"/>
                <a:gd name="T7" fmla="*/ 50 h 177"/>
                <a:gd name="T8" fmla="*/ 507 w 538"/>
                <a:gd name="T9" fmla="*/ 177 h 177"/>
                <a:gd name="T10" fmla="*/ 525 w 538"/>
                <a:gd name="T11" fmla="*/ 167 h 177"/>
                <a:gd name="T12" fmla="*/ 528 w 538"/>
                <a:gd name="T13" fmla="*/ 145 h 177"/>
                <a:gd name="T14" fmla="*/ 287 w 538"/>
                <a:gd name="T15" fmla="*/ 5 h 177"/>
                <a:gd name="T16" fmla="*/ 249 w 538"/>
                <a:gd name="T17" fmla="*/ 7 h 177"/>
                <a:gd name="T18" fmla="*/ 13 w 538"/>
                <a:gd name="T19" fmla="*/ 143 h 177"/>
                <a:gd name="T20" fmla="*/ 10 w 538"/>
                <a:gd name="T21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177">
                  <a:moveTo>
                    <a:pt x="10" y="165"/>
                  </a:moveTo>
                  <a:cubicBezTo>
                    <a:pt x="31" y="177"/>
                    <a:pt x="31" y="177"/>
                    <a:pt x="31" y="177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60" y="45"/>
                    <a:pt x="277" y="45"/>
                    <a:pt x="287" y="50"/>
                  </a:cubicBezTo>
                  <a:cubicBezTo>
                    <a:pt x="507" y="177"/>
                    <a:pt x="507" y="177"/>
                    <a:pt x="507" y="177"/>
                  </a:cubicBezTo>
                  <a:cubicBezTo>
                    <a:pt x="525" y="167"/>
                    <a:pt x="525" y="167"/>
                    <a:pt x="525" y="167"/>
                  </a:cubicBezTo>
                  <a:cubicBezTo>
                    <a:pt x="537" y="160"/>
                    <a:pt x="538" y="150"/>
                    <a:pt x="528" y="145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77" y="0"/>
                    <a:pt x="260" y="0"/>
                    <a:pt x="249" y="7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2" y="150"/>
                    <a:pt x="0" y="159"/>
                    <a:pt x="10" y="165"/>
                  </a:cubicBezTo>
                  <a:close/>
                </a:path>
              </a:pathLst>
            </a:custGeom>
            <a:solidFill>
              <a:srgbClr val="42E8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90"/>
            <p:cNvSpPr/>
            <p:nvPr userDrawn="1"/>
          </p:nvSpPr>
          <p:spPr bwMode="auto">
            <a:xfrm>
              <a:off x="8142017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gradFill>
              <a:gsLst>
                <a:gs pos="22000">
                  <a:srgbClr val="180D5B">
                    <a:alpha val="34000"/>
                  </a:srgbClr>
                </a:gs>
                <a:gs pos="100000">
                  <a:srgbClr val="42E8E0">
                    <a:alpha val="74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66" name="任意多边形: 形状 65" hidden="1"/>
            <p:cNvSpPr/>
            <p:nvPr userDrawn="1"/>
          </p:nvSpPr>
          <p:spPr bwMode="auto">
            <a:xfrm>
              <a:off x="9278938" y="3259138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67" name="任意多边形: 形状 66" hidden="1"/>
            <p:cNvSpPr/>
            <p:nvPr userDrawn="1"/>
          </p:nvSpPr>
          <p:spPr bwMode="auto">
            <a:xfrm>
              <a:off x="9501188" y="3767138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68" name="任意多边形: 形状 67" hidden="1"/>
            <p:cNvSpPr/>
            <p:nvPr userDrawn="1"/>
          </p:nvSpPr>
          <p:spPr bwMode="auto">
            <a:xfrm>
              <a:off x="9726613" y="4365625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69" name="任意多边形: 形状 68" hidden="1"/>
            <p:cNvSpPr/>
            <p:nvPr userDrawn="1"/>
          </p:nvSpPr>
          <p:spPr bwMode="auto">
            <a:xfrm>
              <a:off x="9945688" y="4695825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70" name="任意多边形: 形状 69" hidden="1"/>
            <p:cNvSpPr/>
            <p:nvPr userDrawn="1"/>
          </p:nvSpPr>
          <p:spPr bwMode="auto">
            <a:xfrm flipH="1">
              <a:off x="9056822" y="3261347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71" name="任意多边形: 形状 70" hidden="1"/>
            <p:cNvSpPr/>
            <p:nvPr userDrawn="1"/>
          </p:nvSpPr>
          <p:spPr bwMode="auto">
            <a:xfrm flipH="1">
              <a:off x="8836159" y="3769347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72" name="任意多边形: 形状 71" hidden="1"/>
            <p:cNvSpPr/>
            <p:nvPr userDrawn="1"/>
          </p:nvSpPr>
          <p:spPr bwMode="auto">
            <a:xfrm flipH="1">
              <a:off x="8613909" y="4367834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73" name="任意多边形: 形状 72" hidden="1"/>
            <p:cNvSpPr/>
            <p:nvPr userDrawn="1"/>
          </p:nvSpPr>
          <p:spPr bwMode="auto">
            <a:xfrm flipH="1">
              <a:off x="8391659" y="4698034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74" name="Freeform 106"/>
            <p:cNvSpPr/>
            <p:nvPr userDrawn="1"/>
          </p:nvSpPr>
          <p:spPr bwMode="auto">
            <a:xfrm>
              <a:off x="8255909" y="2437995"/>
              <a:ext cx="1951037" cy="3057525"/>
            </a:xfrm>
            <a:custGeom>
              <a:avLst/>
              <a:gdLst>
                <a:gd name="T0" fmla="*/ 531 w 531"/>
                <a:gd name="T1" fmla="*/ 0 h 835"/>
                <a:gd name="T2" fmla="*/ 0 w 531"/>
                <a:gd name="T3" fmla="*/ 0 h 835"/>
                <a:gd name="T4" fmla="*/ 0 w 531"/>
                <a:gd name="T5" fmla="*/ 682 h 835"/>
                <a:gd name="T6" fmla="*/ 0 w 531"/>
                <a:gd name="T7" fmla="*/ 682 h 835"/>
                <a:gd name="T8" fmla="*/ 6 w 531"/>
                <a:gd name="T9" fmla="*/ 692 h 835"/>
                <a:gd name="T10" fmla="*/ 248 w 531"/>
                <a:gd name="T11" fmla="*/ 831 h 835"/>
                <a:gd name="T12" fmla="*/ 264 w 531"/>
                <a:gd name="T13" fmla="*/ 835 h 835"/>
                <a:gd name="T14" fmla="*/ 286 w 531"/>
                <a:gd name="T15" fmla="*/ 830 h 835"/>
                <a:gd name="T16" fmla="*/ 522 w 531"/>
                <a:gd name="T17" fmla="*/ 693 h 835"/>
                <a:gd name="T18" fmla="*/ 531 w 531"/>
                <a:gd name="T19" fmla="*/ 682 h 835"/>
                <a:gd name="T20" fmla="*/ 531 w 531"/>
                <a:gd name="T21" fmla="*/ 682 h 835"/>
                <a:gd name="T22" fmla="*/ 531 w 531"/>
                <a:gd name="T2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1" h="835">
                  <a:moveTo>
                    <a:pt x="5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5"/>
                    <a:pt x="2" y="689"/>
                    <a:pt x="6" y="692"/>
                  </a:cubicBezTo>
                  <a:cubicBezTo>
                    <a:pt x="248" y="831"/>
                    <a:pt x="248" y="831"/>
                    <a:pt x="248" y="831"/>
                  </a:cubicBezTo>
                  <a:cubicBezTo>
                    <a:pt x="252" y="834"/>
                    <a:pt x="258" y="835"/>
                    <a:pt x="264" y="835"/>
                  </a:cubicBezTo>
                  <a:cubicBezTo>
                    <a:pt x="272" y="835"/>
                    <a:pt x="280" y="833"/>
                    <a:pt x="286" y="830"/>
                  </a:cubicBezTo>
                  <a:cubicBezTo>
                    <a:pt x="522" y="693"/>
                    <a:pt x="522" y="693"/>
                    <a:pt x="522" y="693"/>
                  </a:cubicBezTo>
                  <a:cubicBezTo>
                    <a:pt x="528" y="690"/>
                    <a:pt x="531" y="686"/>
                    <a:pt x="531" y="682"/>
                  </a:cubicBezTo>
                  <a:cubicBezTo>
                    <a:pt x="531" y="682"/>
                    <a:pt x="531" y="682"/>
                    <a:pt x="531" y="682"/>
                  </a:cubicBezTo>
                  <a:cubicBezTo>
                    <a:pt x="531" y="0"/>
                    <a:pt x="531" y="0"/>
                    <a:pt x="531" y="0"/>
                  </a:cubicBezTo>
                </a:path>
              </a:pathLst>
            </a:custGeom>
            <a:gradFill>
              <a:gsLst>
                <a:gs pos="100000">
                  <a:srgbClr val="42E6E0">
                    <a:alpha val="20000"/>
                  </a:srgbClr>
                </a:gs>
                <a:gs pos="0">
                  <a:srgbClr val="180D5B">
                    <a:alpha val="5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 7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405683" y="1846467"/>
            <a:ext cx="5079462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405683" y="4152703"/>
            <a:ext cx="507946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6405685" y="3856432"/>
            <a:ext cx="5079462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5" name="组合 4"/>
          <p:cNvGrpSpPr/>
          <p:nvPr userDrawn="1"/>
        </p:nvGrpSpPr>
        <p:grpSpPr>
          <a:xfrm flipH="1">
            <a:off x="140435" y="835838"/>
            <a:ext cx="9680127" cy="5377577"/>
            <a:chOff x="4656138" y="2437995"/>
            <a:chExt cx="6846887" cy="3803634"/>
          </a:xfrm>
        </p:grpSpPr>
        <p:sp>
          <p:nvSpPr>
            <p:cNvPr id="7" name="椭圆 6"/>
            <p:cNvSpPr/>
            <p:nvPr userDrawn="1"/>
          </p:nvSpPr>
          <p:spPr>
            <a:xfrm>
              <a:off x="9791994" y="5509651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 userDrawn="1"/>
          </p:nvSpPr>
          <p:spPr>
            <a:xfrm>
              <a:off x="8951536" y="5923755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 userDrawn="1"/>
          </p:nvSpPr>
          <p:spPr>
            <a:xfrm>
              <a:off x="7681196" y="5266157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6269331" y="5704329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20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Freeform 5"/>
            <p:cNvSpPr/>
            <p:nvPr userDrawn="1"/>
          </p:nvSpPr>
          <p:spPr bwMode="auto">
            <a:xfrm>
              <a:off x="4656138" y="4818063"/>
              <a:ext cx="6846887" cy="1335087"/>
            </a:xfrm>
            <a:custGeom>
              <a:avLst/>
              <a:gdLst>
                <a:gd name="T0" fmla="*/ 2059 w 2076"/>
                <a:gd name="T1" fmla="*/ 0 h 404"/>
                <a:gd name="T2" fmla="*/ 2053 w 2076"/>
                <a:gd name="T3" fmla="*/ 2 h 404"/>
                <a:gd name="T4" fmla="*/ 1420 w 2076"/>
                <a:gd name="T5" fmla="*/ 368 h 404"/>
                <a:gd name="T6" fmla="*/ 1388 w 2076"/>
                <a:gd name="T7" fmla="*/ 376 h 404"/>
                <a:gd name="T8" fmla="*/ 1357 w 2076"/>
                <a:gd name="T9" fmla="*/ 368 h 404"/>
                <a:gd name="T10" fmla="*/ 949 w 2076"/>
                <a:gd name="T11" fmla="*/ 132 h 404"/>
                <a:gd name="T12" fmla="*/ 903 w 2076"/>
                <a:gd name="T13" fmla="*/ 120 h 404"/>
                <a:gd name="T14" fmla="*/ 858 w 2076"/>
                <a:gd name="T15" fmla="*/ 132 h 404"/>
                <a:gd name="T16" fmla="*/ 521 w 2076"/>
                <a:gd name="T17" fmla="*/ 326 h 404"/>
                <a:gd name="T18" fmla="*/ 490 w 2076"/>
                <a:gd name="T19" fmla="*/ 335 h 404"/>
                <a:gd name="T20" fmla="*/ 459 w 2076"/>
                <a:gd name="T21" fmla="*/ 326 h 404"/>
                <a:gd name="T22" fmla="*/ 23 w 2076"/>
                <a:gd name="T23" fmla="*/ 75 h 404"/>
                <a:gd name="T24" fmla="*/ 16 w 2076"/>
                <a:gd name="T25" fmla="*/ 73 h 404"/>
                <a:gd name="T26" fmla="*/ 4 w 2076"/>
                <a:gd name="T27" fmla="*/ 80 h 404"/>
                <a:gd name="T28" fmla="*/ 9 w 2076"/>
                <a:gd name="T29" fmla="*/ 99 h 404"/>
                <a:gd name="T30" fmla="*/ 445 w 2076"/>
                <a:gd name="T31" fmla="*/ 351 h 404"/>
                <a:gd name="T32" fmla="*/ 490 w 2076"/>
                <a:gd name="T33" fmla="*/ 363 h 404"/>
                <a:gd name="T34" fmla="*/ 535 w 2076"/>
                <a:gd name="T35" fmla="*/ 351 h 404"/>
                <a:gd name="T36" fmla="*/ 872 w 2076"/>
                <a:gd name="T37" fmla="*/ 156 h 404"/>
                <a:gd name="T38" fmla="*/ 903 w 2076"/>
                <a:gd name="T39" fmla="*/ 148 h 404"/>
                <a:gd name="T40" fmla="*/ 935 w 2076"/>
                <a:gd name="T41" fmla="*/ 156 h 404"/>
                <a:gd name="T42" fmla="*/ 1343 w 2076"/>
                <a:gd name="T43" fmla="*/ 392 h 404"/>
                <a:gd name="T44" fmla="*/ 1388 w 2076"/>
                <a:gd name="T45" fmla="*/ 404 h 404"/>
                <a:gd name="T46" fmla="*/ 1434 w 2076"/>
                <a:gd name="T47" fmla="*/ 392 h 404"/>
                <a:gd name="T48" fmla="*/ 2067 w 2076"/>
                <a:gd name="T49" fmla="*/ 26 h 404"/>
                <a:gd name="T50" fmla="*/ 2072 w 2076"/>
                <a:gd name="T51" fmla="*/ 7 h 404"/>
                <a:gd name="T52" fmla="*/ 2059 w 2076"/>
                <a:gd name="T5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76" h="404">
                  <a:moveTo>
                    <a:pt x="2059" y="0"/>
                  </a:moveTo>
                  <a:cubicBezTo>
                    <a:pt x="2057" y="0"/>
                    <a:pt x="2055" y="1"/>
                    <a:pt x="2053" y="2"/>
                  </a:cubicBezTo>
                  <a:cubicBezTo>
                    <a:pt x="1420" y="368"/>
                    <a:pt x="1420" y="368"/>
                    <a:pt x="1420" y="368"/>
                  </a:cubicBezTo>
                  <a:cubicBezTo>
                    <a:pt x="1410" y="373"/>
                    <a:pt x="1399" y="376"/>
                    <a:pt x="1388" y="376"/>
                  </a:cubicBezTo>
                  <a:cubicBezTo>
                    <a:pt x="1378" y="376"/>
                    <a:pt x="1367" y="373"/>
                    <a:pt x="1357" y="368"/>
                  </a:cubicBezTo>
                  <a:cubicBezTo>
                    <a:pt x="949" y="132"/>
                    <a:pt x="949" y="132"/>
                    <a:pt x="949" y="132"/>
                  </a:cubicBezTo>
                  <a:cubicBezTo>
                    <a:pt x="935" y="124"/>
                    <a:pt x="919" y="120"/>
                    <a:pt x="903" y="120"/>
                  </a:cubicBezTo>
                  <a:cubicBezTo>
                    <a:pt x="888" y="120"/>
                    <a:pt x="872" y="124"/>
                    <a:pt x="858" y="132"/>
                  </a:cubicBezTo>
                  <a:cubicBezTo>
                    <a:pt x="521" y="326"/>
                    <a:pt x="521" y="326"/>
                    <a:pt x="521" y="326"/>
                  </a:cubicBezTo>
                  <a:cubicBezTo>
                    <a:pt x="511" y="332"/>
                    <a:pt x="501" y="335"/>
                    <a:pt x="490" y="335"/>
                  </a:cubicBezTo>
                  <a:cubicBezTo>
                    <a:pt x="479" y="335"/>
                    <a:pt x="468" y="332"/>
                    <a:pt x="459" y="32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1" y="74"/>
                    <a:pt x="19" y="73"/>
                    <a:pt x="16" y="73"/>
                  </a:cubicBezTo>
                  <a:cubicBezTo>
                    <a:pt x="11" y="73"/>
                    <a:pt x="7" y="76"/>
                    <a:pt x="4" y="80"/>
                  </a:cubicBezTo>
                  <a:cubicBezTo>
                    <a:pt x="0" y="87"/>
                    <a:pt x="3" y="95"/>
                    <a:pt x="9" y="99"/>
                  </a:cubicBezTo>
                  <a:cubicBezTo>
                    <a:pt x="445" y="351"/>
                    <a:pt x="445" y="351"/>
                    <a:pt x="445" y="351"/>
                  </a:cubicBezTo>
                  <a:cubicBezTo>
                    <a:pt x="459" y="359"/>
                    <a:pt x="474" y="363"/>
                    <a:pt x="490" y="363"/>
                  </a:cubicBezTo>
                  <a:cubicBezTo>
                    <a:pt x="506" y="363"/>
                    <a:pt x="521" y="359"/>
                    <a:pt x="535" y="351"/>
                  </a:cubicBezTo>
                  <a:cubicBezTo>
                    <a:pt x="872" y="156"/>
                    <a:pt x="872" y="156"/>
                    <a:pt x="872" y="156"/>
                  </a:cubicBezTo>
                  <a:cubicBezTo>
                    <a:pt x="882" y="150"/>
                    <a:pt x="893" y="148"/>
                    <a:pt x="903" y="148"/>
                  </a:cubicBezTo>
                  <a:cubicBezTo>
                    <a:pt x="914" y="148"/>
                    <a:pt x="925" y="150"/>
                    <a:pt x="935" y="156"/>
                  </a:cubicBezTo>
                  <a:cubicBezTo>
                    <a:pt x="1343" y="392"/>
                    <a:pt x="1343" y="392"/>
                    <a:pt x="1343" y="392"/>
                  </a:cubicBezTo>
                  <a:cubicBezTo>
                    <a:pt x="1357" y="400"/>
                    <a:pt x="1373" y="404"/>
                    <a:pt x="1388" y="404"/>
                  </a:cubicBezTo>
                  <a:cubicBezTo>
                    <a:pt x="1404" y="404"/>
                    <a:pt x="1420" y="400"/>
                    <a:pt x="1434" y="392"/>
                  </a:cubicBezTo>
                  <a:cubicBezTo>
                    <a:pt x="2067" y="26"/>
                    <a:pt x="2067" y="26"/>
                    <a:pt x="2067" y="26"/>
                  </a:cubicBezTo>
                  <a:cubicBezTo>
                    <a:pt x="2073" y="23"/>
                    <a:pt x="2076" y="14"/>
                    <a:pt x="2072" y="7"/>
                  </a:cubicBezTo>
                  <a:cubicBezTo>
                    <a:pt x="2069" y="3"/>
                    <a:pt x="2064" y="0"/>
                    <a:pt x="2059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50000"/>
                  </a:srgbClr>
                </a:gs>
                <a:gs pos="37000">
                  <a:srgbClr val="41E4DE">
                    <a:alpha val="50000"/>
                  </a:srgbClr>
                </a:gs>
                <a:gs pos="0">
                  <a:srgbClr val="19145F">
                    <a:alpha val="50000"/>
                  </a:srgbClr>
                </a:gs>
                <a:gs pos="100000">
                  <a:srgbClr val="19125E">
                    <a:alpha val="50000"/>
                  </a:srgbClr>
                </a:gs>
              </a:gsLst>
              <a:lin ang="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7640638" y="3989388"/>
              <a:ext cx="3186112" cy="1830387"/>
            </a:xfrm>
            <a:custGeom>
              <a:avLst/>
              <a:gdLst>
                <a:gd name="T0" fmla="*/ 483 w 966"/>
                <a:gd name="T1" fmla="*/ 466 h 554"/>
                <a:gd name="T2" fmla="*/ 157 w 966"/>
                <a:gd name="T3" fmla="*/ 277 h 554"/>
                <a:gd name="T4" fmla="*/ 483 w 966"/>
                <a:gd name="T5" fmla="*/ 89 h 554"/>
                <a:gd name="T6" fmla="*/ 810 w 966"/>
                <a:gd name="T7" fmla="*/ 277 h 554"/>
                <a:gd name="T8" fmla="*/ 483 w 966"/>
                <a:gd name="T9" fmla="*/ 466 h 554"/>
                <a:gd name="T10" fmla="*/ 483 w 966"/>
                <a:gd name="T11" fmla="*/ 48 h 554"/>
                <a:gd name="T12" fmla="*/ 472 w 966"/>
                <a:gd name="T13" fmla="*/ 51 h 554"/>
                <a:gd name="T14" fmla="*/ 82 w 966"/>
                <a:gd name="T15" fmla="*/ 276 h 554"/>
                <a:gd name="T16" fmla="*/ 81 w 966"/>
                <a:gd name="T17" fmla="*/ 277 h 554"/>
                <a:gd name="T18" fmla="*/ 82 w 966"/>
                <a:gd name="T19" fmla="*/ 278 h 554"/>
                <a:gd name="T20" fmla="*/ 472 w 966"/>
                <a:gd name="T21" fmla="*/ 503 h 554"/>
                <a:gd name="T22" fmla="*/ 472 w 966"/>
                <a:gd name="T23" fmla="*/ 503 h 554"/>
                <a:gd name="T24" fmla="*/ 483 w 966"/>
                <a:gd name="T25" fmla="*/ 506 h 554"/>
                <a:gd name="T26" fmla="*/ 494 w 966"/>
                <a:gd name="T27" fmla="*/ 503 h 554"/>
                <a:gd name="T28" fmla="*/ 884 w 966"/>
                <a:gd name="T29" fmla="*/ 278 h 554"/>
                <a:gd name="T30" fmla="*/ 885 w 966"/>
                <a:gd name="T31" fmla="*/ 277 h 554"/>
                <a:gd name="T32" fmla="*/ 884 w 966"/>
                <a:gd name="T33" fmla="*/ 276 h 554"/>
                <a:gd name="T34" fmla="*/ 494 w 966"/>
                <a:gd name="T35" fmla="*/ 51 h 554"/>
                <a:gd name="T36" fmla="*/ 483 w 966"/>
                <a:gd name="T37" fmla="*/ 48 h 554"/>
                <a:gd name="T38" fmla="*/ 483 w 966"/>
                <a:gd name="T39" fmla="*/ 518 h 554"/>
                <a:gd name="T40" fmla="*/ 466 w 966"/>
                <a:gd name="T41" fmla="*/ 514 h 554"/>
                <a:gd name="T42" fmla="*/ 466 w 966"/>
                <a:gd name="T43" fmla="*/ 514 h 554"/>
                <a:gd name="T44" fmla="*/ 76 w 966"/>
                <a:gd name="T45" fmla="*/ 289 h 554"/>
                <a:gd name="T46" fmla="*/ 69 w 966"/>
                <a:gd name="T47" fmla="*/ 277 h 554"/>
                <a:gd name="T48" fmla="*/ 76 w 966"/>
                <a:gd name="T49" fmla="*/ 266 h 554"/>
                <a:gd name="T50" fmla="*/ 466 w 966"/>
                <a:gd name="T51" fmla="*/ 41 h 554"/>
                <a:gd name="T52" fmla="*/ 483 w 966"/>
                <a:gd name="T53" fmla="*/ 36 h 554"/>
                <a:gd name="T54" fmla="*/ 500 w 966"/>
                <a:gd name="T55" fmla="*/ 41 h 554"/>
                <a:gd name="T56" fmla="*/ 890 w 966"/>
                <a:gd name="T57" fmla="*/ 266 h 554"/>
                <a:gd name="T58" fmla="*/ 897 w 966"/>
                <a:gd name="T59" fmla="*/ 277 h 554"/>
                <a:gd name="T60" fmla="*/ 890 w 966"/>
                <a:gd name="T61" fmla="*/ 289 h 554"/>
                <a:gd name="T62" fmla="*/ 500 w 966"/>
                <a:gd name="T63" fmla="*/ 514 h 554"/>
                <a:gd name="T64" fmla="*/ 483 w 966"/>
                <a:gd name="T65" fmla="*/ 518 h 554"/>
                <a:gd name="T66" fmla="*/ 483 w 966"/>
                <a:gd name="T67" fmla="*/ 0 h 554"/>
                <a:gd name="T68" fmla="*/ 462 w 966"/>
                <a:gd name="T69" fmla="*/ 6 h 554"/>
                <a:gd name="T70" fmla="*/ 7 w 966"/>
                <a:gd name="T71" fmla="*/ 269 h 554"/>
                <a:gd name="T72" fmla="*/ 7 w 966"/>
                <a:gd name="T73" fmla="*/ 286 h 554"/>
                <a:gd name="T74" fmla="*/ 462 w 966"/>
                <a:gd name="T75" fmla="*/ 548 h 554"/>
                <a:gd name="T76" fmla="*/ 483 w 966"/>
                <a:gd name="T77" fmla="*/ 554 h 554"/>
                <a:gd name="T78" fmla="*/ 505 w 966"/>
                <a:gd name="T79" fmla="*/ 548 h 554"/>
                <a:gd name="T80" fmla="*/ 960 w 966"/>
                <a:gd name="T81" fmla="*/ 286 h 554"/>
                <a:gd name="T82" fmla="*/ 960 w 966"/>
                <a:gd name="T83" fmla="*/ 269 h 554"/>
                <a:gd name="T84" fmla="*/ 505 w 966"/>
                <a:gd name="T85" fmla="*/ 6 h 554"/>
                <a:gd name="T86" fmla="*/ 483 w 966"/>
                <a:gd name="T87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6" h="554">
                  <a:moveTo>
                    <a:pt x="483" y="466"/>
                  </a:moveTo>
                  <a:cubicBezTo>
                    <a:pt x="157" y="277"/>
                    <a:pt x="157" y="277"/>
                    <a:pt x="157" y="277"/>
                  </a:cubicBezTo>
                  <a:cubicBezTo>
                    <a:pt x="483" y="89"/>
                    <a:pt x="483" y="89"/>
                    <a:pt x="483" y="89"/>
                  </a:cubicBezTo>
                  <a:cubicBezTo>
                    <a:pt x="810" y="277"/>
                    <a:pt x="810" y="277"/>
                    <a:pt x="810" y="277"/>
                  </a:cubicBezTo>
                  <a:cubicBezTo>
                    <a:pt x="483" y="466"/>
                    <a:pt x="483" y="466"/>
                    <a:pt x="483" y="466"/>
                  </a:cubicBezTo>
                  <a:moveTo>
                    <a:pt x="483" y="48"/>
                  </a:moveTo>
                  <a:cubicBezTo>
                    <a:pt x="479" y="48"/>
                    <a:pt x="475" y="49"/>
                    <a:pt x="472" y="51"/>
                  </a:cubicBezTo>
                  <a:cubicBezTo>
                    <a:pt x="82" y="276"/>
                    <a:pt x="82" y="276"/>
                    <a:pt x="82" y="276"/>
                  </a:cubicBezTo>
                  <a:cubicBezTo>
                    <a:pt x="82" y="277"/>
                    <a:pt x="81" y="277"/>
                    <a:pt x="81" y="277"/>
                  </a:cubicBezTo>
                  <a:cubicBezTo>
                    <a:pt x="81" y="278"/>
                    <a:pt x="82" y="278"/>
                    <a:pt x="82" y="278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5" y="505"/>
                    <a:pt x="479" y="506"/>
                    <a:pt x="483" y="506"/>
                  </a:cubicBezTo>
                  <a:cubicBezTo>
                    <a:pt x="487" y="506"/>
                    <a:pt x="491" y="505"/>
                    <a:pt x="494" y="503"/>
                  </a:cubicBezTo>
                  <a:cubicBezTo>
                    <a:pt x="884" y="278"/>
                    <a:pt x="884" y="278"/>
                    <a:pt x="884" y="278"/>
                  </a:cubicBezTo>
                  <a:cubicBezTo>
                    <a:pt x="885" y="278"/>
                    <a:pt x="885" y="278"/>
                    <a:pt x="885" y="277"/>
                  </a:cubicBezTo>
                  <a:cubicBezTo>
                    <a:pt x="885" y="277"/>
                    <a:pt x="885" y="277"/>
                    <a:pt x="884" y="27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1" y="49"/>
                    <a:pt x="487" y="48"/>
                    <a:pt x="483" y="48"/>
                  </a:cubicBezTo>
                  <a:moveTo>
                    <a:pt x="483" y="518"/>
                  </a:moveTo>
                  <a:cubicBezTo>
                    <a:pt x="477" y="518"/>
                    <a:pt x="471" y="517"/>
                    <a:pt x="466" y="514"/>
                  </a:cubicBezTo>
                  <a:cubicBezTo>
                    <a:pt x="466" y="514"/>
                    <a:pt x="466" y="514"/>
                    <a:pt x="466" y="514"/>
                  </a:cubicBezTo>
                  <a:cubicBezTo>
                    <a:pt x="76" y="289"/>
                    <a:pt x="76" y="289"/>
                    <a:pt x="76" y="289"/>
                  </a:cubicBezTo>
                  <a:cubicBezTo>
                    <a:pt x="72" y="286"/>
                    <a:pt x="69" y="282"/>
                    <a:pt x="69" y="277"/>
                  </a:cubicBezTo>
                  <a:cubicBezTo>
                    <a:pt x="69" y="273"/>
                    <a:pt x="72" y="268"/>
                    <a:pt x="76" y="266"/>
                  </a:cubicBezTo>
                  <a:cubicBezTo>
                    <a:pt x="466" y="41"/>
                    <a:pt x="466" y="41"/>
                    <a:pt x="466" y="41"/>
                  </a:cubicBezTo>
                  <a:cubicBezTo>
                    <a:pt x="471" y="38"/>
                    <a:pt x="477" y="36"/>
                    <a:pt x="483" y="36"/>
                  </a:cubicBezTo>
                  <a:cubicBezTo>
                    <a:pt x="489" y="36"/>
                    <a:pt x="495" y="38"/>
                    <a:pt x="500" y="41"/>
                  </a:cubicBezTo>
                  <a:cubicBezTo>
                    <a:pt x="890" y="266"/>
                    <a:pt x="890" y="266"/>
                    <a:pt x="890" y="266"/>
                  </a:cubicBezTo>
                  <a:cubicBezTo>
                    <a:pt x="894" y="268"/>
                    <a:pt x="897" y="273"/>
                    <a:pt x="897" y="277"/>
                  </a:cubicBezTo>
                  <a:cubicBezTo>
                    <a:pt x="897" y="282"/>
                    <a:pt x="894" y="286"/>
                    <a:pt x="890" y="289"/>
                  </a:cubicBezTo>
                  <a:cubicBezTo>
                    <a:pt x="500" y="514"/>
                    <a:pt x="500" y="514"/>
                    <a:pt x="500" y="514"/>
                  </a:cubicBezTo>
                  <a:cubicBezTo>
                    <a:pt x="495" y="517"/>
                    <a:pt x="489" y="518"/>
                    <a:pt x="483" y="518"/>
                  </a:cubicBezTo>
                  <a:moveTo>
                    <a:pt x="483" y="0"/>
                  </a:moveTo>
                  <a:cubicBezTo>
                    <a:pt x="476" y="0"/>
                    <a:pt x="468" y="2"/>
                    <a:pt x="462" y="6"/>
                  </a:cubicBezTo>
                  <a:cubicBezTo>
                    <a:pt x="7" y="269"/>
                    <a:pt x="7" y="269"/>
                    <a:pt x="7" y="269"/>
                  </a:cubicBezTo>
                  <a:cubicBezTo>
                    <a:pt x="0" y="273"/>
                    <a:pt x="0" y="282"/>
                    <a:pt x="7" y="286"/>
                  </a:cubicBezTo>
                  <a:cubicBezTo>
                    <a:pt x="462" y="548"/>
                    <a:pt x="462" y="548"/>
                    <a:pt x="462" y="548"/>
                  </a:cubicBezTo>
                  <a:cubicBezTo>
                    <a:pt x="468" y="552"/>
                    <a:pt x="476" y="554"/>
                    <a:pt x="483" y="554"/>
                  </a:cubicBezTo>
                  <a:cubicBezTo>
                    <a:pt x="491" y="554"/>
                    <a:pt x="498" y="552"/>
                    <a:pt x="505" y="548"/>
                  </a:cubicBezTo>
                  <a:cubicBezTo>
                    <a:pt x="960" y="286"/>
                    <a:pt x="960" y="286"/>
                    <a:pt x="960" y="286"/>
                  </a:cubicBezTo>
                  <a:cubicBezTo>
                    <a:pt x="966" y="282"/>
                    <a:pt x="966" y="273"/>
                    <a:pt x="960" y="269"/>
                  </a:cubicBezTo>
                  <a:cubicBezTo>
                    <a:pt x="505" y="6"/>
                    <a:pt x="505" y="6"/>
                    <a:pt x="505" y="6"/>
                  </a:cubicBezTo>
                  <a:cubicBezTo>
                    <a:pt x="498" y="2"/>
                    <a:pt x="491" y="0"/>
                    <a:pt x="483" y="0"/>
                  </a:cubicBezTo>
                </a:path>
              </a:pathLst>
            </a:custGeom>
            <a:solidFill>
              <a:srgbClr val="5E5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7"/>
            <p:cNvSpPr>
              <a:spLocks noEditPoints="1"/>
            </p:cNvSpPr>
            <p:nvPr userDrawn="1"/>
          </p:nvSpPr>
          <p:spPr bwMode="auto">
            <a:xfrm>
              <a:off x="7869238" y="4108450"/>
              <a:ext cx="2730500" cy="1592262"/>
            </a:xfrm>
            <a:custGeom>
              <a:avLst/>
              <a:gdLst>
                <a:gd name="T0" fmla="*/ 403 w 828"/>
                <a:gd name="T1" fmla="*/ 467 h 482"/>
                <a:gd name="T2" fmla="*/ 13 w 828"/>
                <a:gd name="T3" fmla="*/ 242 h 482"/>
                <a:gd name="T4" fmla="*/ 12 w 828"/>
                <a:gd name="T5" fmla="*/ 241 h 482"/>
                <a:gd name="T6" fmla="*/ 13 w 828"/>
                <a:gd name="T7" fmla="*/ 240 h 482"/>
                <a:gd name="T8" fmla="*/ 403 w 828"/>
                <a:gd name="T9" fmla="*/ 15 h 482"/>
                <a:gd name="T10" fmla="*/ 414 w 828"/>
                <a:gd name="T11" fmla="*/ 12 h 482"/>
                <a:gd name="T12" fmla="*/ 425 w 828"/>
                <a:gd name="T13" fmla="*/ 15 h 482"/>
                <a:gd name="T14" fmla="*/ 815 w 828"/>
                <a:gd name="T15" fmla="*/ 240 h 482"/>
                <a:gd name="T16" fmla="*/ 816 w 828"/>
                <a:gd name="T17" fmla="*/ 241 h 482"/>
                <a:gd name="T18" fmla="*/ 815 w 828"/>
                <a:gd name="T19" fmla="*/ 242 h 482"/>
                <a:gd name="T20" fmla="*/ 425 w 828"/>
                <a:gd name="T21" fmla="*/ 467 h 482"/>
                <a:gd name="T22" fmla="*/ 414 w 828"/>
                <a:gd name="T23" fmla="*/ 470 h 482"/>
                <a:gd name="T24" fmla="*/ 403 w 828"/>
                <a:gd name="T25" fmla="*/ 467 h 482"/>
                <a:gd name="T26" fmla="*/ 403 w 828"/>
                <a:gd name="T27" fmla="*/ 467 h 482"/>
                <a:gd name="T28" fmla="*/ 414 w 828"/>
                <a:gd name="T29" fmla="*/ 0 h 482"/>
                <a:gd name="T30" fmla="*/ 397 w 828"/>
                <a:gd name="T31" fmla="*/ 5 h 482"/>
                <a:gd name="T32" fmla="*/ 7 w 828"/>
                <a:gd name="T33" fmla="*/ 230 h 482"/>
                <a:gd name="T34" fmla="*/ 0 w 828"/>
                <a:gd name="T35" fmla="*/ 241 h 482"/>
                <a:gd name="T36" fmla="*/ 7 w 828"/>
                <a:gd name="T37" fmla="*/ 253 h 482"/>
                <a:gd name="T38" fmla="*/ 397 w 828"/>
                <a:gd name="T39" fmla="*/ 478 h 482"/>
                <a:gd name="T40" fmla="*/ 397 w 828"/>
                <a:gd name="T41" fmla="*/ 478 h 482"/>
                <a:gd name="T42" fmla="*/ 414 w 828"/>
                <a:gd name="T43" fmla="*/ 482 h 482"/>
                <a:gd name="T44" fmla="*/ 431 w 828"/>
                <a:gd name="T45" fmla="*/ 478 h 482"/>
                <a:gd name="T46" fmla="*/ 821 w 828"/>
                <a:gd name="T47" fmla="*/ 253 h 482"/>
                <a:gd name="T48" fmla="*/ 828 w 828"/>
                <a:gd name="T49" fmla="*/ 241 h 482"/>
                <a:gd name="T50" fmla="*/ 821 w 828"/>
                <a:gd name="T51" fmla="*/ 230 h 482"/>
                <a:gd name="T52" fmla="*/ 431 w 828"/>
                <a:gd name="T53" fmla="*/ 5 h 482"/>
                <a:gd name="T54" fmla="*/ 414 w 828"/>
                <a:gd name="T5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482">
                  <a:moveTo>
                    <a:pt x="403" y="467"/>
                  </a:moveTo>
                  <a:cubicBezTo>
                    <a:pt x="13" y="242"/>
                    <a:pt x="13" y="242"/>
                    <a:pt x="13" y="242"/>
                  </a:cubicBezTo>
                  <a:cubicBezTo>
                    <a:pt x="13" y="242"/>
                    <a:pt x="12" y="242"/>
                    <a:pt x="12" y="241"/>
                  </a:cubicBezTo>
                  <a:cubicBezTo>
                    <a:pt x="12" y="241"/>
                    <a:pt x="13" y="241"/>
                    <a:pt x="13" y="240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6" y="13"/>
                    <a:pt x="410" y="12"/>
                    <a:pt x="414" y="12"/>
                  </a:cubicBezTo>
                  <a:cubicBezTo>
                    <a:pt x="418" y="12"/>
                    <a:pt x="422" y="13"/>
                    <a:pt x="425" y="15"/>
                  </a:cubicBezTo>
                  <a:cubicBezTo>
                    <a:pt x="815" y="240"/>
                    <a:pt x="815" y="240"/>
                    <a:pt x="815" y="240"/>
                  </a:cubicBezTo>
                  <a:cubicBezTo>
                    <a:pt x="816" y="241"/>
                    <a:pt x="816" y="241"/>
                    <a:pt x="816" y="241"/>
                  </a:cubicBezTo>
                  <a:cubicBezTo>
                    <a:pt x="816" y="242"/>
                    <a:pt x="816" y="242"/>
                    <a:pt x="815" y="242"/>
                  </a:cubicBezTo>
                  <a:cubicBezTo>
                    <a:pt x="425" y="467"/>
                    <a:pt x="425" y="467"/>
                    <a:pt x="425" y="467"/>
                  </a:cubicBezTo>
                  <a:cubicBezTo>
                    <a:pt x="422" y="469"/>
                    <a:pt x="418" y="470"/>
                    <a:pt x="414" y="470"/>
                  </a:cubicBezTo>
                  <a:cubicBezTo>
                    <a:pt x="410" y="470"/>
                    <a:pt x="406" y="469"/>
                    <a:pt x="403" y="467"/>
                  </a:cubicBezTo>
                  <a:cubicBezTo>
                    <a:pt x="403" y="467"/>
                    <a:pt x="403" y="467"/>
                    <a:pt x="403" y="467"/>
                  </a:cubicBezTo>
                  <a:moveTo>
                    <a:pt x="414" y="0"/>
                  </a:moveTo>
                  <a:cubicBezTo>
                    <a:pt x="408" y="0"/>
                    <a:pt x="402" y="2"/>
                    <a:pt x="397" y="5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3" y="232"/>
                    <a:pt x="0" y="237"/>
                    <a:pt x="0" y="241"/>
                  </a:cubicBezTo>
                  <a:cubicBezTo>
                    <a:pt x="0" y="246"/>
                    <a:pt x="3" y="250"/>
                    <a:pt x="7" y="253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402" y="481"/>
                    <a:pt x="408" y="482"/>
                    <a:pt x="414" y="482"/>
                  </a:cubicBezTo>
                  <a:cubicBezTo>
                    <a:pt x="420" y="482"/>
                    <a:pt x="426" y="481"/>
                    <a:pt x="431" y="478"/>
                  </a:cubicBezTo>
                  <a:cubicBezTo>
                    <a:pt x="821" y="253"/>
                    <a:pt x="821" y="253"/>
                    <a:pt x="821" y="253"/>
                  </a:cubicBezTo>
                  <a:cubicBezTo>
                    <a:pt x="825" y="250"/>
                    <a:pt x="828" y="246"/>
                    <a:pt x="828" y="241"/>
                  </a:cubicBezTo>
                  <a:cubicBezTo>
                    <a:pt x="828" y="237"/>
                    <a:pt x="825" y="232"/>
                    <a:pt x="821" y="230"/>
                  </a:cubicBezTo>
                  <a:cubicBezTo>
                    <a:pt x="431" y="5"/>
                    <a:pt x="431" y="5"/>
                    <a:pt x="431" y="5"/>
                  </a:cubicBezTo>
                  <a:cubicBezTo>
                    <a:pt x="426" y="2"/>
                    <a:pt x="420" y="0"/>
                    <a:pt x="414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74000"/>
                  </a:srgbClr>
                </a:gs>
                <a:gs pos="37000">
                  <a:srgbClr val="41E4DE">
                    <a:alpha val="71000"/>
                  </a:srgbClr>
                </a:gs>
                <a:gs pos="0">
                  <a:srgbClr val="19145F"/>
                </a:gs>
                <a:gs pos="100000">
                  <a:srgbClr val="19125E">
                    <a:alpha val="82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8"/>
            <p:cNvSpPr/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100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9"/>
            <p:cNvSpPr/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55"/>
            <p:cNvSpPr/>
            <p:nvPr userDrawn="1"/>
          </p:nvSpPr>
          <p:spPr bwMode="auto">
            <a:xfrm>
              <a:off x="6513861" y="58102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3"/>
                    <a:pt x="17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56"/>
            <p:cNvSpPr/>
            <p:nvPr userDrawn="1"/>
          </p:nvSpPr>
          <p:spPr bwMode="auto">
            <a:xfrm>
              <a:off x="6605936" y="5756275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4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4" y="24"/>
                  </a:cubicBezTo>
                  <a:cubicBezTo>
                    <a:pt x="16" y="24"/>
                    <a:pt x="18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57"/>
            <p:cNvSpPr/>
            <p:nvPr userDrawn="1"/>
          </p:nvSpPr>
          <p:spPr bwMode="auto">
            <a:xfrm>
              <a:off x="6701186" y="5702300"/>
              <a:ext cx="85725" cy="77787"/>
            </a:xfrm>
            <a:custGeom>
              <a:avLst/>
              <a:gdLst>
                <a:gd name="T0" fmla="*/ 13 w 26"/>
                <a:gd name="T1" fmla="*/ 0 h 23"/>
                <a:gd name="T2" fmla="*/ 7 w 26"/>
                <a:gd name="T3" fmla="*/ 1 h 23"/>
                <a:gd name="T4" fmla="*/ 3 w 26"/>
                <a:gd name="T5" fmla="*/ 18 h 23"/>
                <a:gd name="T6" fmla="*/ 13 w 26"/>
                <a:gd name="T7" fmla="*/ 23 h 23"/>
                <a:gd name="T8" fmla="*/ 19 w 26"/>
                <a:gd name="T9" fmla="*/ 22 h 23"/>
                <a:gd name="T10" fmla="*/ 23 w 26"/>
                <a:gd name="T11" fmla="*/ 6 h 23"/>
                <a:gd name="T12" fmla="*/ 13 w 26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3">
                  <a:moveTo>
                    <a:pt x="13" y="0"/>
                  </a:moveTo>
                  <a:cubicBezTo>
                    <a:pt x="11" y="0"/>
                    <a:pt x="9" y="0"/>
                    <a:pt x="7" y="1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58"/>
            <p:cNvSpPr/>
            <p:nvPr userDrawn="1"/>
          </p:nvSpPr>
          <p:spPr bwMode="auto">
            <a:xfrm>
              <a:off x="6793261" y="5649912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4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3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59"/>
            <p:cNvSpPr/>
            <p:nvPr userDrawn="1"/>
          </p:nvSpPr>
          <p:spPr bwMode="auto">
            <a:xfrm>
              <a:off x="6886924" y="559593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1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60"/>
            <p:cNvSpPr/>
            <p:nvPr userDrawn="1"/>
          </p:nvSpPr>
          <p:spPr bwMode="auto">
            <a:xfrm>
              <a:off x="6982174" y="5538787"/>
              <a:ext cx="88900" cy="80962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61"/>
            <p:cNvSpPr/>
            <p:nvPr userDrawn="1"/>
          </p:nvSpPr>
          <p:spPr bwMode="auto">
            <a:xfrm>
              <a:off x="7263161" y="5372100"/>
              <a:ext cx="88900" cy="77787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62"/>
            <p:cNvSpPr/>
            <p:nvPr userDrawn="1"/>
          </p:nvSpPr>
          <p:spPr bwMode="auto">
            <a:xfrm>
              <a:off x="7171086" y="5426075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63"/>
            <p:cNvSpPr/>
            <p:nvPr userDrawn="1"/>
          </p:nvSpPr>
          <p:spPr bwMode="auto">
            <a:xfrm>
              <a:off x="7074249" y="5480050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57EA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64"/>
            <p:cNvSpPr/>
            <p:nvPr userDrawn="1"/>
          </p:nvSpPr>
          <p:spPr bwMode="auto">
            <a:xfrm>
              <a:off x="7923561" y="5372100"/>
              <a:ext cx="88900" cy="77787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8 w 27"/>
                <a:gd name="T5" fmla="*/ 22 h 23"/>
                <a:gd name="T6" fmla="*/ 13 w 27"/>
                <a:gd name="T7" fmla="*/ 23 h 23"/>
                <a:gd name="T8" fmla="*/ 24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8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8" y="23"/>
                    <a:pt x="21" y="21"/>
                    <a:pt x="24" y="17"/>
                  </a:cubicBezTo>
                  <a:cubicBezTo>
                    <a:pt x="27" y="11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65"/>
            <p:cNvSpPr/>
            <p:nvPr userDrawn="1"/>
          </p:nvSpPr>
          <p:spPr bwMode="auto">
            <a:xfrm>
              <a:off x="8015636" y="5426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4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7 h 23"/>
                <a:gd name="T10" fmla="*/ 20 w 27"/>
                <a:gd name="T11" fmla="*/ 1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7"/>
                  </a:cubicBezTo>
                  <a:cubicBezTo>
                    <a:pt x="27" y="12"/>
                    <a:pt x="25" y="5"/>
                    <a:pt x="20" y="1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66"/>
            <p:cNvSpPr/>
            <p:nvPr userDrawn="1"/>
          </p:nvSpPr>
          <p:spPr bwMode="auto">
            <a:xfrm>
              <a:off x="8110886" y="54800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67"/>
            <p:cNvSpPr/>
            <p:nvPr userDrawn="1"/>
          </p:nvSpPr>
          <p:spPr bwMode="auto">
            <a:xfrm>
              <a:off x="8204549" y="55324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68"/>
            <p:cNvSpPr/>
            <p:nvPr userDrawn="1"/>
          </p:nvSpPr>
          <p:spPr bwMode="auto">
            <a:xfrm>
              <a:off x="8299799" y="558641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7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3"/>
                    <a:pt x="3" y="6"/>
                  </a:cubicBezTo>
                  <a:cubicBezTo>
                    <a:pt x="0" y="12"/>
                    <a:pt x="2" y="19"/>
                    <a:pt x="7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2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1"/>
                    <a:pt x="15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71"/>
            <p:cNvSpPr/>
            <p:nvPr userDrawn="1"/>
          </p:nvSpPr>
          <p:spPr bwMode="auto">
            <a:xfrm>
              <a:off x="8945911" y="5972175"/>
              <a:ext cx="90488" cy="80962"/>
            </a:xfrm>
            <a:custGeom>
              <a:avLst/>
              <a:gdLst>
                <a:gd name="T0" fmla="*/ 14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1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72"/>
            <p:cNvSpPr/>
            <p:nvPr userDrawn="1"/>
          </p:nvSpPr>
          <p:spPr bwMode="auto">
            <a:xfrm>
              <a:off x="8853836" y="5919787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6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5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73"/>
            <p:cNvSpPr/>
            <p:nvPr userDrawn="1"/>
          </p:nvSpPr>
          <p:spPr bwMode="auto">
            <a:xfrm>
              <a:off x="8758586" y="58626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74"/>
            <p:cNvSpPr/>
            <p:nvPr userDrawn="1"/>
          </p:nvSpPr>
          <p:spPr bwMode="auto">
            <a:xfrm>
              <a:off x="8666511" y="5810250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3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8 h 23"/>
                <a:gd name="T10" fmla="*/ 19 w 27"/>
                <a:gd name="T11" fmla="*/ 2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75"/>
            <p:cNvSpPr/>
            <p:nvPr userDrawn="1"/>
          </p:nvSpPr>
          <p:spPr bwMode="auto">
            <a:xfrm>
              <a:off x="8572849" y="5756275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77"/>
            <p:cNvSpPr/>
            <p:nvPr userDrawn="1"/>
          </p:nvSpPr>
          <p:spPr bwMode="auto">
            <a:xfrm>
              <a:off x="8487124" y="5699125"/>
              <a:ext cx="79375" cy="73025"/>
            </a:xfrm>
            <a:custGeom>
              <a:avLst/>
              <a:gdLst>
                <a:gd name="T0" fmla="*/ 11 w 24"/>
                <a:gd name="T1" fmla="*/ 0 h 22"/>
                <a:gd name="T2" fmla="*/ 6 w 24"/>
                <a:gd name="T3" fmla="*/ 1 h 22"/>
                <a:gd name="T4" fmla="*/ 3 w 24"/>
                <a:gd name="T5" fmla="*/ 5 h 22"/>
                <a:gd name="T6" fmla="*/ 7 w 24"/>
                <a:gd name="T7" fmla="*/ 21 h 22"/>
                <a:gd name="T8" fmla="*/ 13 w 24"/>
                <a:gd name="T9" fmla="*/ 22 h 22"/>
                <a:gd name="T10" fmla="*/ 18 w 24"/>
                <a:gd name="T11" fmla="*/ 21 h 22"/>
                <a:gd name="T12" fmla="*/ 21 w 24"/>
                <a:gd name="T13" fmla="*/ 18 h 22"/>
                <a:gd name="T14" fmla="*/ 17 w 24"/>
                <a:gd name="T15" fmla="*/ 2 h 22"/>
                <a:gd name="T16" fmla="*/ 11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11" y="0"/>
                  </a:moveTo>
                  <a:cubicBezTo>
                    <a:pt x="9" y="0"/>
                    <a:pt x="8" y="0"/>
                    <a:pt x="6" y="1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0" y="10"/>
                    <a:pt x="2" y="18"/>
                    <a:pt x="7" y="21"/>
                  </a:cubicBezTo>
                  <a:cubicBezTo>
                    <a:pt x="9" y="22"/>
                    <a:pt x="11" y="22"/>
                    <a:pt x="13" y="22"/>
                  </a:cubicBezTo>
                  <a:cubicBezTo>
                    <a:pt x="15" y="22"/>
                    <a:pt x="16" y="22"/>
                    <a:pt x="18" y="21"/>
                  </a:cubicBezTo>
                  <a:cubicBezTo>
                    <a:pt x="19" y="21"/>
                    <a:pt x="20" y="19"/>
                    <a:pt x="21" y="18"/>
                  </a:cubicBezTo>
                  <a:cubicBezTo>
                    <a:pt x="24" y="12"/>
                    <a:pt x="22" y="5"/>
                    <a:pt x="17" y="2"/>
                  </a:cubicBezTo>
                  <a:cubicBezTo>
                    <a:pt x="15" y="1"/>
                    <a:pt x="13" y="0"/>
                    <a:pt x="11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79"/>
            <p:cNvSpPr/>
            <p:nvPr userDrawn="1"/>
          </p:nvSpPr>
          <p:spPr bwMode="auto">
            <a:xfrm>
              <a:off x="8391874" y="5646737"/>
              <a:ext cx="82550" cy="73025"/>
            </a:xfrm>
            <a:custGeom>
              <a:avLst/>
              <a:gdLst>
                <a:gd name="T0" fmla="*/ 11 w 25"/>
                <a:gd name="T1" fmla="*/ 0 h 22"/>
                <a:gd name="T2" fmla="*/ 7 w 25"/>
                <a:gd name="T3" fmla="*/ 1 h 22"/>
                <a:gd name="T4" fmla="*/ 4 w 25"/>
                <a:gd name="T5" fmla="*/ 5 h 22"/>
                <a:gd name="T6" fmla="*/ 8 w 25"/>
                <a:gd name="T7" fmla="*/ 21 h 22"/>
                <a:gd name="T8" fmla="*/ 14 w 25"/>
                <a:gd name="T9" fmla="*/ 22 h 22"/>
                <a:gd name="T10" fmla="*/ 18 w 25"/>
                <a:gd name="T11" fmla="*/ 21 h 22"/>
                <a:gd name="T12" fmla="*/ 22 w 25"/>
                <a:gd name="T13" fmla="*/ 17 h 22"/>
                <a:gd name="T14" fmla="*/ 17 w 25"/>
                <a:gd name="T15" fmla="*/ 1 h 22"/>
                <a:gd name="T16" fmla="*/ 11 w 25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2">
                  <a:moveTo>
                    <a:pt x="11" y="0"/>
                  </a:moveTo>
                  <a:cubicBezTo>
                    <a:pt x="10" y="0"/>
                    <a:pt x="9" y="0"/>
                    <a:pt x="7" y="1"/>
                  </a:cubicBezTo>
                  <a:cubicBezTo>
                    <a:pt x="6" y="2"/>
                    <a:pt x="4" y="3"/>
                    <a:pt x="4" y="5"/>
                  </a:cubicBezTo>
                  <a:cubicBezTo>
                    <a:pt x="0" y="10"/>
                    <a:pt x="2" y="17"/>
                    <a:pt x="8" y="21"/>
                  </a:cubicBezTo>
                  <a:cubicBezTo>
                    <a:pt x="10" y="22"/>
                    <a:pt x="12" y="22"/>
                    <a:pt x="14" y="22"/>
                  </a:cubicBezTo>
                  <a:cubicBezTo>
                    <a:pt x="15" y="22"/>
                    <a:pt x="17" y="22"/>
                    <a:pt x="18" y="21"/>
                  </a:cubicBezTo>
                  <a:cubicBezTo>
                    <a:pt x="19" y="20"/>
                    <a:pt x="21" y="19"/>
                    <a:pt x="22" y="17"/>
                  </a:cubicBezTo>
                  <a:cubicBezTo>
                    <a:pt x="25" y="12"/>
                    <a:pt x="23" y="5"/>
                    <a:pt x="17" y="1"/>
                  </a:cubicBezTo>
                  <a:cubicBezTo>
                    <a:pt x="15" y="0"/>
                    <a:pt x="13" y="0"/>
                    <a:pt x="11" y="0"/>
                  </a:cubicBezTo>
                </a:path>
              </a:pathLst>
            </a:custGeom>
            <a:solidFill>
              <a:srgbClr val="5149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80"/>
            <p:cNvSpPr/>
            <p:nvPr userDrawn="1"/>
          </p:nvSpPr>
          <p:spPr bwMode="auto">
            <a:xfrm>
              <a:off x="10030174" y="562610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8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81"/>
            <p:cNvSpPr/>
            <p:nvPr userDrawn="1"/>
          </p:nvSpPr>
          <p:spPr bwMode="auto">
            <a:xfrm>
              <a:off x="10122249" y="5568950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3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82"/>
            <p:cNvSpPr/>
            <p:nvPr userDrawn="1"/>
          </p:nvSpPr>
          <p:spPr bwMode="auto">
            <a:xfrm>
              <a:off x="10217499" y="551656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83"/>
            <p:cNvSpPr/>
            <p:nvPr userDrawn="1"/>
          </p:nvSpPr>
          <p:spPr bwMode="auto">
            <a:xfrm>
              <a:off x="10309574" y="546258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4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19" y="22"/>
                  </a:cubicBezTo>
                  <a:cubicBezTo>
                    <a:pt x="25" y="18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84"/>
            <p:cNvSpPr/>
            <p:nvPr userDrawn="1"/>
          </p:nvSpPr>
          <p:spPr bwMode="auto">
            <a:xfrm>
              <a:off x="10406411" y="5405437"/>
              <a:ext cx="85725" cy="80962"/>
            </a:xfrm>
            <a:custGeom>
              <a:avLst/>
              <a:gdLst>
                <a:gd name="T0" fmla="*/ 13 w 26"/>
                <a:gd name="T1" fmla="*/ 0 h 24"/>
                <a:gd name="T2" fmla="*/ 7 w 26"/>
                <a:gd name="T3" fmla="*/ 2 h 24"/>
                <a:gd name="T4" fmla="*/ 3 w 26"/>
                <a:gd name="T5" fmla="*/ 18 h 24"/>
                <a:gd name="T6" fmla="*/ 13 w 26"/>
                <a:gd name="T7" fmla="*/ 24 h 24"/>
                <a:gd name="T8" fmla="*/ 19 w 26"/>
                <a:gd name="T9" fmla="*/ 22 h 24"/>
                <a:gd name="T10" fmla="*/ 23 w 26"/>
                <a:gd name="T11" fmla="*/ 6 h 24"/>
                <a:gd name="T12" fmla="*/ 13 w 26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1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85"/>
            <p:cNvSpPr/>
            <p:nvPr userDrawn="1"/>
          </p:nvSpPr>
          <p:spPr bwMode="auto">
            <a:xfrm>
              <a:off x="10498486" y="535305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7 w 27"/>
                <a:gd name="T3" fmla="*/ 2 h 23"/>
                <a:gd name="T4" fmla="*/ 3 w 27"/>
                <a:gd name="T5" fmla="*/ 18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86"/>
            <p:cNvSpPr/>
            <p:nvPr userDrawn="1"/>
          </p:nvSpPr>
          <p:spPr bwMode="auto">
            <a:xfrm>
              <a:off x="10590561" y="5299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8B86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cxnSp>
          <p:nvCxnSpPr>
            <p:cNvPr id="46" name="直接连接符 45"/>
            <p:cNvCxnSpPr/>
            <p:nvPr userDrawn="1"/>
          </p:nvCxnSpPr>
          <p:spPr>
            <a:xfrm>
              <a:off x="5641802" y="5287830"/>
              <a:ext cx="827436" cy="50191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 userDrawn="1"/>
          </p:nvCxnSpPr>
          <p:spPr>
            <a:xfrm flipV="1">
              <a:off x="7352276" y="5405437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 userDrawn="1"/>
          </p:nvCxnSpPr>
          <p:spPr>
            <a:xfrm flipV="1">
              <a:off x="7731243" y="5471253"/>
              <a:ext cx="328843" cy="21199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 userDrawn="1"/>
          </p:nvCxnSpPr>
          <p:spPr>
            <a:xfrm flipH="1" flipV="1">
              <a:off x="10065044" y="5664134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椭圆 49"/>
            <p:cNvSpPr/>
            <p:nvPr userDrawn="1"/>
          </p:nvSpPr>
          <p:spPr>
            <a:xfrm>
              <a:off x="10861128" y="4188135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1" name="直接连接符 50"/>
            <p:cNvCxnSpPr/>
            <p:nvPr userDrawn="1"/>
          </p:nvCxnSpPr>
          <p:spPr>
            <a:xfrm flipV="1">
              <a:off x="10552112" y="4285080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椭圆 51"/>
            <p:cNvSpPr/>
            <p:nvPr userDrawn="1"/>
          </p:nvSpPr>
          <p:spPr>
            <a:xfrm>
              <a:off x="9754989" y="371337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/>
            <p:cNvCxnSpPr/>
            <p:nvPr userDrawn="1"/>
          </p:nvCxnSpPr>
          <p:spPr>
            <a:xfrm flipV="1">
              <a:off x="9445973" y="381032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椭圆 53"/>
            <p:cNvSpPr/>
            <p:nvPr userDrawn="1"/>
          </p:nvSpPr>
          <p:spPr>
            <a:xfrm>
              <a:off x="10020604" y="4130676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" name="直接连接符 54"/>
            <p:cNvCxnSpPr/>
            <p:nvPr userDrawn="1"/>
          </p:nvCxnSpPr>
          <p:spPr>
            <a:xfrm flipV="1">
              <a:off x="9906261" y="4226956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椭圆 55"/>
            <p:cNvSpPr/>
            <p:nvPr userDrawn="1"/>
          </p:nvSpPr>
          <p:spPr>
            <a:xfrm>
              <a:off x="7626655" y="417674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" name="直接连接符 56"/>
            <p:cNvCxnSpPr/>
            <p:nvPr userDrawn="1"/>
          </p:nvCxnSpPr>
          <p:spPr>
            <a:xfrm flipV="1">
              <a:off x="7512312" y="427302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57"/>
            <p:cNvSpPr/>
            <p:nvPr userDrawn="1"/>
          </p:nvSpPr>
          <p:spPr>
            <a:xfrm>
              <a:off x="8387012" y="336016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直接连接符 58"/>
            <p:cNvCxnSpPr/>
            <p:nvPr userDrawn="1"/>
          </p:nvCxnSpPr>
          <p:spPr>
            <a:xfrm flipV="1">
              <a:off x="8272669" y="345644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椭圆 59"/>
            <p:cNvSpPr/>
            <p:nvPr userDrawn="1"/>
          </p:nvSpPr>
          <p:spPr>
            <a:xfrm>
              <a:off x="8071311" y="342409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" name="直接连接符 60"/>
            <p:cNvCxnSpPr/>
            <p:nvPr userDrawn="1"/>
          </p:nvCxnSpPr>
          <p:spPr>
            <a:xfrm flipV="1">
              <a:off x="7762295" y="352104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 userDrawn="1"/>
          </p:nvCxnSpPr>
          <p:spPr>
            <a:xfrm flipH="1" flipV="1">
              <a:off x="8216506" y="2821117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 userDrawn="1"/>
          </p:nvCxnSpPr>
          <p:spPr>
            <a:xfrm flipH="1" flipV="1">
              <a:off x="10208402" y="2813165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Freeform 90"/>
            <p:cNvSpPr/>
            <p:nvPr userDrawn="1"/>
          </p:nvSpPr>
          <p:spPr bwMode="auto">
            <a:xfrm>
              <a:off x="8148638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solidFill>
              <a:srgbClr val="736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91"/>
            <p:cNvSpPr/>
            <p:nvPr userDrawn="1"/>
          </p:nvSpPr>
          <p:spPr bwMode="auto">
            <a:xfrm>
              <a:off x="8148638" y="4264025"/>
              <a:ext cx="2168525" cy="714375"/>
            </a:xfrm>
            <a:custGeom>
              <a:avLst/>
              <a:gdLst>
                <a:gd name="T0" fmla="*/ 10 w 538"/>
                <a:gd name="T1" fmla="*/ 165 h 177"/>
                <a:gd name="T2" fmla="*/ 31 w 538"/>
                <a:gd name="T3" fmla="*/ 177 h 177"/>
                <a:gd name="T4" fmla="*/ 249 w 538"/>
                <a:gd name="T5" fmla="*/ 52 h 177"/>
                <a:gd name="T6" fmla="*/ 287 w 538"/>
                <a:gd name="T7" fmla="*/ 50 h 177"/>
                <a:gd name="T8" fmla="*/ 507 w 538"/>
                <a:gd name="T9" fmla="*/ 177 h 177"/>
                <a:gd name="T10" fmla="*/ 525 w 538"/>
                <a:gd name="T11" fmla="*/ 167 h 177"/>
                <a:gd name="T12" fmla="*/ 528 w 538"/>
                <a:gd name="T13" fmla="*/ 145 h 177"/>
                <a:gd name="T14" fmla="*/ 287 w 538"/>
                <a:gd name="T15" fmla="*/ 5 h 177"/>
                <a:gd name="T16" fmla="*/ 249 w 538"/>
                <a:gd name="T17" fmla="*/ 7 h 177"/>
                <a:gd name="T18" fmla="*/ 13 w 538"/>
                <a:gd name="T19" fmla="*/ 143 h 177"/>
                <a:gd name="T20" fmla="*/ 10 w 538"/>
                <a:gd name="T21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177">
                  <a:moveTo>
                    <a:pt x="10" y="165"/>
                  </a:moveTo>
                  <a:cubicBezTo>
                    <a:pt x="31" y="177"/>
                    <a:pt x="31" y="177"/>
                    <a:pt x="31" y="177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60" y="45"/>
                    <a:pt x="277" y="45"/>
                    <a:pt x="287" y="50"/>
                  </a:cubicBezTo>
                  <a:cubicBezTo>
                    <a:pt x="507" y="177"/>
                    <a:pt x="507" y="177"/>
                    <a:pt x="507" y="177"/>
                  </a:cubicBezTo>
                  <a:cubicBezTo>
                    <a:pt x="525" y="167"/>
                    <a:pt x="525" y="167"/>
                    <a:pt x="525" y="167"/>
                  </a:cubicBezTo>
                  <a:cubicBezTo>
                    <a:pt x="537" y="160"/>
                    <a:pt x="538" y="150"/>
                    <a:pt x="528" y="145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77" y="0"/>
                    <a:pt x="260" y="0"/>
                    <a:pt x="249" y="7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2" y="150"/>
                    <a:pt x="0" y="159"/>
                    <a:pt x="10" y="165"/>
                  </a:cubicBezTo>
                  <a:close/>
                </a:path>
              </a:pathLst>
            </a:custGeom>
            <a:solidFill>
              <a:srgbClr val="42E8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90"/>
            <p:cNvSpPr/>
            <p:nvPr userDrawn="1"/>
          </p:nvSpPr>
          <p:spPr bwMode="auto">
            <a:xfrm>
              <a:off x="8142017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gradFill>
              <a:gsLst>
                <a:gs pos="22000">
                  <a:srgbClr val="180D5B">
                    <a:alpha val="34000"/>
                  </a:srgbClr>
                </a:gs>
                <a:gs pos="100000">
                  <a:srgbClr val="42E8E0">
                    <a:alpha val="74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67" name="任意多边形: 形状 66"/>
            <p:cNvSpPr/>
            <p:nvPr userDrawn="1"/>
          </p:nvSpPr>
          <p:spPr bwMode="auto">
            <a:xfrm>
              <a:off x="9278938" y="3259138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68" name="任意多边形: 形状 67"/>
            <p:cNvSpPr/>
            <p:nvPr userDrawn="1"/>
          </p:nvSpPr>
          <p:spPr bwMode="auto">
            <a:xfrm>
              <a:off x="9501188" y="3767138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 userDrawn="1"/>
          </p:nvSpPr>
          <p:spPr bwMode="auto">
            <a:xfrm>
              <a:off x="9726613" y="4365625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70" name="任意多边形: 形状 69"/>
            <p:cNvSpPr/>
            <p:nvPr userDrawn="1"/>
          </p:nvSpPr>
          <p:spPr bwMode="auto">
            <a:xfrm>
              <a:off x="9945688" y="4695825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 userDrawn="1"/>
          </p:nvSpPr>
          <p:spPr bwMode="auto">
            <a:xfrm flipH="1">
              <a:off x="9056822" y="3261347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72" name="任意多边形: 形状 71"/>
            <p:cNvSpPr/>
            <p:nvPr userDrawn="1"/>
          </p:nvSpPr>
          <p:spPr bwMode="auto">
            <a:xfrm flipH="1">
              <a:off x="8836159" y="3769347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 userDrawn="1"/>
          </p:nvSpPr>
          <p:spPr bwMode="auto">
            <a:xfrm flipH="1">
              <a:off x="8613909" y="4367834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74" name="任意多边形: 形状 73"/>
            <p:cNvSpPr/>
            <p:nvPr userDrawn="1"/>
          </p:nvSpPr>
          <p:spPr bwMode="auto">
            <a:xfrm flipH="1">
              <a:off x="8391659" y="4698034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75" name="Freeform 106"/>
            <p:cNvSpPr/>
            <p:nvPr userDrawn="1"/>
          </p:nvSpPr>
          <p:spPr bwMode="auto">
            <a:xfrm>
              <a:off x="8255909" y="2437995"/>
              <a:ext cx="1951037" cy="3057525"/>
            </a:xfrm>
            <a:custGeom>
              <a:avLst/>
              <a:gdLst>
                <a:gd name="T0" fmla="*/ 531 w 531"/>
                <a:gd name="T1" fmla="*/ 0 h 835"/>
                <a:gd name="T2" fmla="*/ 0 w 531"/>
                <a:gd name="T3" fmla="*/ 0 h 835"/>
                <a:gd name="T4" fmla="*/ 0 w 531"/>
                <a:gd name="T5" fmla="*/ 682 h 835"/>
                <a:gd name="T6" fmla="*/ 0 w 531"/>
                <a:gd name="T7" fmla="*/ 682 h 835"/>
                <a:gd name="T8" fmla="*/ 6 w 531"/>
                <a:gd name="T9" fmla="*/ 692 h 835"/>
                <a:gd name="T10" fmla="*/ 248 w 531"/>
                <a:gd name="T11" fmla="*/ 831 h 835"/>
                <a:gd name="T12" fmla="*/ 264 w 531"/>
                <a:gd name="T13" fmla="*/ 835 h 835"/>
                <a:gd name="T14" fmla="*/ 286 w 531"/>
                <a:gd name="T15" fmla="*/ 830 h 835"/>
                <a:gd name="T16" fmla="*/ 522 w 531"/>
                <a:gd name="T17" fmla="*/ 693 h 835"/>
                <a:gd name="T18" fmla="*/ 531 w 531"/>
                <a:gd name="T19" fmla="*/ 682 h 835"/>
                <a:gd name="T20" fmla="*/ 531 w 531"/>
                <a:gd name="T21" fmla="*/ 682 h 835"/>
                <a:gd name="T22" fmla="*/ 531 w 531"/>
                <a:gd name="T2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1" h="835">
                  <a:moveTo>
                    <a:pt x="5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5"/>
                    <a:pt x="2" y="689"/>
                    <a:pt x="6" y="692"/>
                  </a:cubicBezTo>
                  <a:cubicBezTo>
                    <a:pt x="248" y="831"/>
                    <a:pt x="248" y="831"/>
                    <a:pt x="248" y="831"/>
                  </a:cubicBezTo>
                  <a:cubicBezTo>
                    <a:pt x="252" y="834"/>
                    <a:pt x="258" y="835"/>
                    <a:pt x="264" y="835"/>
                  </a:cubicBezTo>
                  <a:cubicBezTo>
                    <a:pt x="272" y="835"/>
                    <a:pt x="280" y="833"/>
                    <a:pt x="286" y="830"/>
                  </a:cubicBezTo>
                  <a:cubicBezTo>
                    <a:pt x="522" y="693"/>
                    <a:pt x="522" y="693"/>
                    <a:pt x="522" y="693"/>
                  </a:cubicBezTo>
                  <a:cubicBezTo>
                    <a:pt x="528" y="690"/>
                    <a:pt x="531" y="686"/>
                    <a:pt x="531" y="682"/>
                  </a:cubicBezTo>
                  <a:cubicBezTo>
                    <a:pt x="531" y="682"/>
                    <a:pt x="531" y="682"/>
                    <a:pt x="531" y="682"/>
                  </a:cubicBezTo>
                  <a:cubicBezTo>
                    <a:pt x="531" y="0"/>
                    <a:pt x="531" y="0"/>
                    <a:pt x="531" y="0"/>
                  </a:cubicBezTo>
                </a:path>
              </a:pathLst>
            </a:custGeom>
            <a:gradFill>
              <a:gsLst>
                <a:gs pos="100000">
                  <a:srgbClr val="42E6E0">
                    <a:alpha val="20000"/>
                  </a:srgbClr>
                </a:gs>
                <a:gs pos="0">
                  <a:srgbClr val="180D5B">
                    <a:alpha val="5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alphaModFix amt="31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../media/image6.tmp"/><Relationship Id="rId5" Type="http://schemas.openxmlformats.org/officeDocument/2006/relationships/tags" Target="../tags/tag12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11.xml"/><Relationship Id="rId9" Type="http://schemas.openxmlformats.org/officeDocument/2006/relationships/tags" Target="../tags/tag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4.bin"/><Relationship Id="rId4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image" Target="../media/image6.tmp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33.xml"/><Relationship Id="rId21" Type="http://schemas.openxmlformats.org/officeDocument/2006/relationships/image" Target="../media/image6.tmp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20" Type="http://schemas.openxmlformats.org/officeDocument/2006/relationships/image" Target="../media/image12.emf"/><Relationship Id="rId1" Type="http://schemas.openxmlformats.org/officeDocument/2006/relationships/vmlDrawing" Target="../drawings/vmlDrawing6.v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10" Type="http://schemas.openxmlformats.org/officeDocument/2006/relationships/tags" Target="../tags/tag40.xml"/><Relationship Id="rId19" Type="http://schemas.openxmlformats.org/officeDocument/2006/relationships/oleObject" Target="../embeddings/oleObject6.bin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2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8.bin"/><Relationship Id="rId4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tags" Target="../tags/tag62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" Type="http://schemas.openxmlformats.org/officeDocument/2006/relationships/tags" Target="../tags/tag51.xml"/><Relationship Id="rId16" Type="http://schemas.openxmlformats.org/officeDocument/2006/relationships/tags" Target="../tags/tag65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5" Type="http://schemas.openxmlformats.org/officeDocument/2006/relationships/tags" Target="../tags/tag54.xml"/><Relationship Id="rId15" Type="http://schemas.openxmlformats.org/officeDocument/2006/relationships/tags" Target="../tags/tag64.xml"/><Relationship Id="rId10" Type="http://schemas.openxmlformats.org/officeDocument/2006/relationships/tags" Target="../tags/tag59.xml"/><Relationship Id="rId19" Type="http://schemas.openxmlformats.org/officeDocument/2006/relationships/image" Target="../media/image6.tmp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tags" Target="../tags/tag63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image" Target="../media/image6.tmp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9.bin"/><Relationship Id="rId4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../media/image6.tmp"/><Relationship Id="rId5" Type="http://schemas.openxmlformats.org/officeDocument/2006/relationships/tags" Target="../tags/tag86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85.xml"/><Relationship Id="rId9" Type="http://schemas.openxmlformats.org/officeDocument/2006/relationships/tags" Target="../tags/tag9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0.bin"/><Relationship Id="rId4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2.em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2.bin"/><Relationship Id="rId4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image" Target="../media/image6.tmp"/><Relationship Id="rId5" Type="http://schemas.openxmlformats.org/officeDocument/2006/relationships/tags" Target="../tags/tag99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98.xml"/><Relationship Id="rId9" Type="http://schemas.openxmlformats.org/officeDocument/2006/relationships/tags" Target="../tags/tag10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4.xml"/><Relationship Id="rId4" Type="http://schemas.openxmlformats.org/officeDocument/2006/relationships/image" Target="../media/image4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3.bin"/><Relationship Id="rId4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4.bin"/><Relationship Id="rId4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13" Type="http://schemas.openxmlformats.org/officeDocument/2006/relationships/tags" Target="../tags/tag121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12" Type="http://schemas.openxmlformats.org/officeDocument/2006/relationships/tags" Target="../tags/tag120.xml"/><Relationship Id="rId17" Type="http://schemas.openxmlformats.org/officeDocument/2006/relationships/tags" Target="../tags/tag125.xml"/><Relationship Id="rId2" Type="http://schemas.openxmlformats.org/officeDocument/2006/relationships/tags" Target="../tags/tag110.xml"/><Relationship Id="rId16" Type="http://schemas.openxmlformats.org/officeDocument/2006/relationships/tags" Target="../tags/tag124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tags" Target="../tags/tag119.xml"/><Relationship Id="rId5" Type="http://schemas.openxmlformats.org/officeDocument/2006/relationships/tags" Target="../tags/tag113.xml"/><Relationship Id="rId15" Type="http://schemas.openxmlformats.org/officeDocument/2006/relationships/tags" Target="../tags/tag123.xml"/><Relationship Id="rId10" Type="http://schemas.openxmlformats.org/officeDocument/2006/relationships/tags" Target="../tags/tag118.xml"/><Relationship Id="rId19" Type="http://schemas.openxmlformats.org/officeDocument/2006/relationships/image" Target="../media/image6.tmp"/><Relationship Id="rId4" Type="http://schemas.openxmlformats.org/officeDocument/2006/relationships/tags" Target="../tags/tag112.xml"/><Relationship Id="rId9" Type="http://schemas.openxmlformats.org/officeDocument/2006/relationships/tags" Target="../tags/tag117.xml"/><Relationship Id="rId14" Type="http://schemas.openxmlformats.org/officeDocument/2006/relationships/tags" Target="../tags/tag122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13" Type="http://schemas.openxmlformats.org/officeDocument/2006/relationships/tags" Target="../tags/tag138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128.xml"/><Relationship Id="rId7" Type="http://schemas.openxmlformats.org/officeDocument/2006/relationships/tags" Target="../tags/tag132.xml"/><Relationship Id="rId12" Type="http://schemas.openxmlformats.org/officeDocument/2006/relationships/tags" Target="../tags/tag137.xml"/><Relationship Id="rId17" Type="http://schemas.openxmlformats.org/officeDocument/2006/relationships/tags" Target="../tags/tag142.xml"/><Relationship Id="rId2" Type="http://schemas.openxmlformats.org/officeDocument/2006/relationships/tags" Target="../tags/tag127.xml"/><Relationship Id="rId16" Type="http://schemas.openxmlformats.org/officeDocument/2006/relationships/tags" Target="../tags/tag141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tags" Target="../tags/tag136.xml"/><Relationship Id="rId5" Type="http://schemas.openxmlformats.org/officeDocument/2006/relationships/tags" Target="../tags/tag130.xml"/><Relationship Id="rId15" Type="http://schemas.openxmlformats.org/officeDocument/2006/relationships/tags" Target="../tags/tag140.xml"/><Relationship Id="rId10" Type="http://schemas.openxmlformats.org/officeDocument/2006/relationships/tags" Target="../tags/tag135.xml"/><Relationship Id="rId19" Type="http://schemas.openxmlformats.org/officeDocument/2006/relationships/image" Target="../media/image6.tmp"/><Relationship Id="rId4" Type="http://schemas.openxmlformats.org/officeDocument/2006/relationships/tags" Target="../tags/tag129.xml"/><Relationship Id="rId9" Type="http://schemas.openxmlformats.org/officeDocument/2006/relationships/tags" Target="../tags/tag134.xml"/><Relationship Id="rId14" Type="http://schemas.openxmlformats.org/officeDocument/2006/relationships/tags" Target="../tags/tag139.xml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tags" Target="../tags/tag150.xml"/><Relationship Id="rId3" Type="http://schemas.openxmlformats.org/officeDocument/2006/relationships/tags" Target="../tags/tag145.xml"/><Relationship Id="rId7" Type="http://schemas.openxmlformats.org/officeDocument/2006/relationships/tags" Target="../tags/tag149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tags" Target="../tags/tag148.xml"/><Relationship Id="rId11" Type="http://schemas.openxmlformats.org/officeDocument/2006/relationships/image" Target="../media/image6.tmp"/><Relationship Id="rId5" Type="http://schemas.openxmlformats.org/officeDocument/2006/relationships/tags" Target="../tags/tag147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146.xml"/><Relationship Id="rId9" Type="http://schemas.openxmlformats.org/officeDocument/2006/relationships/tags" Target="../tags/tag151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tags" Target="../tags/tag159.xml"/><Relationship Id="rId13" Type="http://schemas.openxmlformats.org/officeDocument/2006/relationships/tags" Target="../tags/tag164.xml"/><Relationship Id="rId3" Type="http://schemas.openxmlformats.org/officeDocument/2006/relationships/tags" Target="../tags/tag154.xml"/><Relationship Id="rId7" Type="http://schemas.openxmlformats.org/officeDocument/2006/relationships/tags" Target="../tags/tag158.xml"/><Relationship Id="rId12" Type="http://schemas.openxmlformats.org/officeDocument/2006/relationships/tags" Target="../tags/tag163.xml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11" Type="http://schemas.openxmlformats.org/officeDocument/2006/relationships/tags" Target="../tags/tag162.xml"/><Relationship Id="rId5" Type="http://schemas.openxmlformats.org/officeDocument/2006/relationships/tags" Target="../tags/tag156.xml"/><Relationship Id="rId15" Type="http://schemas.openxmlformats.org/officeDocument/2006/relationships/image" Target="../media/image6.tmp"/><Relationship Id="rId10" Type="http://schemas.openxmlformats.org/officeDocument/2006/relationships/tags" Target="../tags/tag161.xml"/><Relationship Id="rId4" Type="http://schemas.openxmlformats.org/officeDocument/2006/relationships/tags" Target="../tags/tag155.xml"/><Relationship Id="rId9" Type="http://schemas.openxmlformats.org/officeDocument/2006/relationships/tags" Target="../tags/tag160.xml"/><Relationship Id="rId14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5.bin"/><Relationship Id="rId4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tags" Target="../tags/tag174.xml"/><Relationship Id="rId3" Type="http://schemas.openxmlformats.org/officeDocument/2006/relationships/tags" Target="../tags/tag169.xml"/><Relationship Id="rId7" Type="http://schemas.openxmlformats.org/officeDocument/2006/relationships/tags" Target="../tags/tag173.xml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6" Type="http://schemas.openxmlformats.org/officeDocument/2006/relationships/tags" Target="../tags/tag172.xml"/><Relationship Id="rId11" Type="http://schemas.openxmlformats.org/officeDocument/2006/relationships/image" Target="../media/image6.tmp"/><Relationship Id="rId5" Type="http://schemas.openxmlformats.org/officeDocument/2006/relationships/tags" Target="../tags/tag171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170.xml"/><Relationship Id="rId9" Type="http://schemas.openxmlformats.org/officeDocument/2006/relationships/tags" Target="../tags/tag17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6.bin"/><Relationship Id="rId4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11" Type="http://schemas.openxmlformats.org/officeDocument/2006/relationships/image" Target="../media/image6.tmp"/><Relationship Id="rId5" Type="http://schemas.openxmlformats.org/officeDocument/2006/relationships/tags" Target="../tags/tag182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181.xml"/><Relationship Id="rId9" Type="http://schemas.openxmlformats.org/officeDocument/2006/relationships/tags" Target="../tags/tag186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7.bin"/><Relationship Id="rId4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5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5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8.bin"/><Relationship Id="rId4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0" name="think-cell Slide" r:id="rId5" imgW="9525" imgH="9525" progId="TCLayout.ActiveDocument.1">
                  <p:embed/>
                </p:oleObj>
              </mc:Choice>
              <mc:Fallback>
                <p:oleObj name="think-cell Slide" r:id="rId5" imgW="9525" imgH="9525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</a:t>
            </a:r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原理及其应用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</a:t>
            </a:r>
            <a:r>
              <a:rPr lang="zh-CN" altLang="en-US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  电气</a:t>
            </a:r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工程</a:t>
            </a:r>
            <a:r>
              <a:rPr lang="zh-CN" altLang="en-US" sz="20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学院</a:t>
            </a:r>
            <a:endParaRPr lang="zh-CN" alt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 smtClean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 smtClean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300" y="3167380"/>
            <a:ext cx="86753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dirty="0">
                <a:solidFill>
                  <a:srgbClr val="42E6E0"/>
                </a:solidFill>
                <a:sym typeface="+mn-ea"/>
              </a:rPr>
              <a:t>CM3微控制器结构及CM3微处理器特点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anose="020B0503020204020204" pitchFamily="34" charset="-122"/>
              </a:rPr>
              <a:t>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anose="020B0503020204020204" pitchFamily="34" charset="-122"/>
              </a:rPr>
              <a:t>微控制器结构及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anose="020B0503020204020204" pitchFamily="34" charset="-122"/>
              </a:rPr>
              <a:t>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anose="020B0503020204020204" pitchFamily="34" charset="-122"/>
              </a:rPr>
              <a:t>微处理器特点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矩形 10"/>
          <p:cNvSpPr>
            <a:spLocks noChangeArrowheads="1"/>
          </p:cNvSpPr>
          <p:nvPr/>
        </p:nvSpPr>
        <p:spPr bwMode="auto">
          <a:xfrm>
            <a:off x="482714" y="773776"/>
            <a:ext cx="46508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Cortex-M3</a:t>
            </a:r>
            <a:r>
              <a:rPr lang="zh-CN" altLang="zh-CN" sz="2800" dirty="0">
                <a:solidFill>
                  <a:srgbClr val="FF0000"/>
                </a:solidFill>
                <a:latin typeface="+mn-ea"/>
                <a:ea typeface="+mn-ea"/>
              </a:rPr>
              <a:t>微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控制</a:t>
            </a:r>
            <a:r>
              <a:rPr lang="zh-CN" altLang="zh-CN" sz="2800" dirty="0">
                <a:solidFill>
                  <a:srgbClr val="FF0000"/>
                </a:solidFill>
                <a:latin typeface="+mn-ea"/>
                <a:ea typeface="+mn-ea"/>
              </a:rPr>
              <a:t>器结构</a:t>
            </a:r>
            <a:endParaRPr lang="en-US" altLang="zh-CN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077028" y="1807363"/>
            <a:ext cx="3554361" cy="434735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3197476" y="2298975"/>
            <a:ext cx="1511710" cy="100531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Cortex-M3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内核</a:t>
            </a:r>
          </a:p>
        </p:txBody>
      </p:sp>
      <p:sp>
        <p:nvSpPr>
          <p:cNvPr id="38" name="矩形 37"/>
          <p:cNvSpPr/>
          <p:nvPr/>
        </p:nvSpPr>
        <p:spPr>
          <a:xfrm>
            <a:off x="5156641" y="2298975"/>
            <a:ext cx="1287837" cy="10053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调试系统</a:t>
            </a:r>
          </a:p>
        </p:txBody>
      </p:sp>
      <p:sp>
        <p:nvSpPr>
          <p:cNvPr id="39" name="箭头: 左右 38"/>
          <p:cNvSpPr/>
          <p:nvPr/>
        </p:nvSpPr>
        <p:spPr>
          <a:xfrm>
            <a:off x="4709186" y="2726678"/>
            <a:ext cx="442449" cy="17080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3128651" y="1925349"/>
            <a:ext cx="3409332" cy="144940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ysClr val="windowText" lastClr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126682" y="1925349"/>
            <a:ext cx="3409332" cy="144940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740978" y="1908453"/>
            <a:ext cx="128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Cortex-M3</a:t>
            </a:r>
            <a:endParaRPr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4946483" y="1915301"/>
            <a:ext cx="128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微处理器</a:t>
            </a:r>
          </a:p>
        </p:txBody>
      </p:sp>
      <p:sp>
        <p:nvSpPr>
          <p:cNvPr id="45" name="矩形 44"/>
          <p:cNvSpPr/>
          <p:nvPr/>
        </p:nvSpPr>
        <p:spPr>
          <a:xfrm>
            <a:off x="3197476" y="3618462"/>
            <a:ext cx="3247002" cy="367722"/>
          </a:xfrm>
          <a:prstGeom prst="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内部总线</a:t>
            </a:r>
          </a:p>
        </p:txBody>
      </p:sp>
      <p:sp>
        <p:nvSpPr>
          <p:cNvPr id="46" name="箭头: 下 45"/>
          <p:cNvSpPr/>
          <p:nvPr/>
        </p:nvSpPr>
        <p:spPr>
          <a:xfrm rot="10800000">
            <a:off x="3740976" y="3311154"/>
            <a:ext cx="263151" cy="30506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3197476" y="4160041"/>
            <a:ext cx="1511710" cy="1005313"/>
          </a:xfrm>
          <a:prstGeom prst="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外设</a:t>
            </a:r>
          </a:p>
        </p:txBody>
      </p:sp>
      <p:sp>
        <p:nvSpPr>
          <p:cNvPr id="48" name="矩形 47"/>
          <p:cNvSpPr/>
          <p:nvPr/>
        </p:nvSpPr>
        <p:spPr>
          <a:xfrm>
            <a:off x="4930410" y="4170089"/>
            <a:ext cx="1511710" cy="1005313"/>
          </a:xfrm>
          <a:prstGeom prst="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存储器</a:t>
            </a:r>
          </a:p>
        </p:txBody>
      </p:sp>
      <p:sp>
        <p:nvSpPr>
          <p:cNvPr id="49" name="矩形 48"/>
          <p:cNvSpPr/>
          <p:nvPr/>
        </p:nvSpPr>
        <p:spPr>
          <a:xfrm>
            <a:off x="3197476" y="5261990"/>
            <a:ext cx="1511710" cy="803351"/>
          </a:xfrm>
          <a:prstGeom prst="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时钟和复位</a:t>
            </a:r>
          </a:p>
        </p:txBody>
      </p:sp>
      <p:sp>
        <p:nvSpPr>
          <p:cNvPr id="50" name="矩形 49"/>
          <p:cNvSpPr/>
          <p:nvPr/>
        </p:nvSpPr>
        <p:spPr>
          <a:xfrm>
            <a:off x="4930410" y="5264611"/>
            <a:ext cx="1511710" cy="800749"/>
          </a:xfrm>
          <a:prstGeom prst="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I/O</a:t>
            </a:r>
            <a:endParaRPr lang="zh-CN" altLang="en-US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53" name="箭头: 下 52"/>
          <p:cNvSpPr/>
          <p:nvPr/>
        </p:nvSpPr>
        <p:spPr>
          <a:xfrm>
            <a:off x="5541852" y="3997058"/>
            <a:ext cx="341876" cy="161791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箭头: 下 53"/>
          <p:cNvSpPr/>
          <p:nvPr/>
        </p:nvSpPr>
        <p:spPr>
          <a:xfrm>
            <a:off x="3701614" y="3997058"/>
            <a:ext cx="341876" cy="161791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6" name="直接连接符 55"/>
          <p:cNvCxnSpPr/>
          <p:nvPr/>
        </p:nvCxnSpPr>
        <p:spPr>
          <a:xfrm flipV="1">
            <a:off x="4709186" y="2871508"/>
            <a:ext cx="2722128" cy="2991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6442120" y="2871508"/>
            <a:ext cx="989194" cy="2825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6760482" y="1807363"/>
            <a:ext cx="774366" cy="2593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 flipV="1">
            <a:off x="6760482" y="4400737"/>
            <a:ext cx="774366" cy="17698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7431314" y="2655394"/>
            <a:ext cx="14278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ARM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设计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7446020" y="4141051"/>
            <a:ext cx="1727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由芯片制造商（如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ST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）设计开发</a:t>
            </a:r>
          </a:p>
        </p:txBody>
      </p:sp>
      <p:sp>
        <p:nvSpPr>
          <p:cNvPr id="88" name="矩形 87"/>
          <p:cNvSpPr/>
          <p:nvPr/>
        </p:nvSpPr>
        <p:spPr>
          <a:xfrm>
            <a:off x="2873829" y="1363205"/>
            <a:ext cx="6168571" cy="4923295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/>
          <p:cNvSpPr txBox="1"/>
          <p:nvPr/>
        </p:nvSpPr>
        <p:spPr>
          <a:xfrm>
            <a:off x="2987672" y="1394331"/>
            <a:ext cx="128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Cortex-M3</a:t>
            </a:r>
            <a:endParaRPr lang="zh-CN" altLang="en-US" dirty="0"/>
          </a:p>
        </p:txBody>
      </p:sp>
      <p:sp>
        <p:nvSpPr>
          <p:cNvPr id="92" name="矩形 91"/>
          <p:cNvSpPr/>
          <p:nvPr/>
        </p:nvSpPr>
        <p:spPr>
          <a:xfrm>
            <a:off x="3207719" y="3614807"/>
            <a:ext cx="3234401" cy="37945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207719" y="4173341"/>
            <a:ext cx="1501467" cy="9921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4946483" y="4180737"/>
            <a:ext cx="1501467" cy="9921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3202597" y="5268823"/>
            <a:ext cx="1506589" cy="8033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4946483" y="5269861"/>
            <a:ext cx="1501467" cy="8023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20" name="组合 219"/>
          <p:cNvGrpSpPr/>
          <p:nvPr/>
        </p:nvGrpSpPr>
        <p:grpSpPr>
          <a:xfrm>
            <a:off x="3351595" y="1685073"/>
            <a:ext cx="3100818" cy="120896"/>
            <a:chOff x="3351595" y="1685073"/>
            <a:chExt cx="3100818" cy="120896"/>
          </a:xfrm>
        </p:grpSpPr>
        <p:sp>
          <p:nvSpPr>
            <p:cNvPr id="111" name="矩形 110"/>
            <p:cNvSpPr/>
            <p:nvPr/>
          </p:nvSpPr>
          <p:spPr>
            <a:xfrm>
              <a:off x="6388055" y="1689888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6202980" y="1689887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6028198" y="1685340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 113"/>
            <p:cNvSpPr/>
            <p:nvPr/>
          </p:nvSpPr>
          <p:spPr>
            <a:xfrm>
              <a:off x="5848270" y="1689621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5671334" y="1689621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5490702" y="1687795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5320151" y="1690104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5135076" y="1690103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4960294" y="1685556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矩形 119"/>
            <p:cNvSpPr/>
            <p:nvPr/>
          </p:nvSpPr>
          <p:spPr>
            <a:xfrm>
              <a:off x="4780366" y="1689837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4603430" y="1689837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4422798" y="1688011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4248948" y="1689621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4063873" y="1689620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矩形 124"/>
            <p:cNvSpPr/>
            <p:nvPr/>
          </p:nvSpPr>
          <p:spPr>
            <a:xfrm>
              <a:off x="3889091" y="1685073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3709163" y="1689354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矩形 126"/>
            <p:cNvSpPr/>
            <p:nvPr/>
          </p:nvSpPr>
          <p:spPr>
            <a:xfrm>
              <a:off x="3532227" y="1689354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8" name="矩形 127"/>
            <p:cNvSpPr/>
            <p:nvPr/>
          </p:nvSpPr>
          <p:spPr>
            <a:xfrm>
              <a:off x="3351595" y="1687528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4" name="组合 193"/>
          <p:cNvGrpSpPr/>
          <p:nvPr/>
        </p:nvGrpSpPr>
        <p:grpSpPr>
          <a:xfrm>
            <a:off x="6630196" y="1963563"/>
            <a:ext cx="122807" cy="4006071"/>
            <a:chOff x="6630196" y="1963563"/>
            <a:chExt cx="122807" cy="4006071"/>
          </a:xfrm>
        </p:grpSpPr>
        <p:grpSp>
          <p:nvGrpSpPr>
            <p:cNvPr id="171" name="组合 170"/>
            <p:cNvGrpSpPr/>
            <p:nvPr/>
          </p:nvGrpSpPr>
          <p:grpSpPr>
            <a:xfrm rot="16200000">
              <a:off x="5142146" y="3453524"/>
              <a:ext cx="3100818" cy="120896"/>
              <a:chOff x="5485026" y="2929588"/>
              <a:chExt cx="3100818" cy="120896"/>
            </a:xfrm>
          </p:grpSpPr>
          <p:sp>
            <p:nvSpPr>
              <p:cNvPr id="153" name="矩形 152"/>
              <p:cNvSpPr/>
              <p:nvPr/>
            </p:nvSpPr>
            <p:spPr>
              <a:xfrm>
                <a:off x="8521486" y="2934403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矩形 153"/>
              <p:cNvSpPr/>
              <p:nvPr/>
            </p:nvSpPr>
            <p:spPr>
              <a:xfrm>
                <a:off x="8336411" y="2934402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矩形 154"/>
              <p:cNvSpPr/>
              <p:nvPr/>
            </p:nvSpPr>
            <p:spPr>
              <a:xfrm>
                <a:off x="8161629" y="2929855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矩形 155"/>
              <p:cNvSpPr/>
              <p:nvPr/>
            </p:nvSpPr>
            <p:spPr>
              <a:xfrm>
                <a:off x="7981701" y="2934136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矩形 156"/>
              <p:cNvSpPr/>
              <p:nvPr/>
            </p:nvSpPr>
            <p:spPr>
              <a:xfrm>
                <a:off x="7804765" y="2934136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8" name="矩形 157"/>
              <p:cNvSpPr/>
              <p:nvPr/>
            </p:nvSpPr>
            <p:spPr>
              <a:xfrm>
                <a:off x="7624133" y="2932310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矩形 158"/>
              <p:cNvSpPr/>
              <p:nvPr/>
            </p:nvSpPr>
            <p:spPr>
              <a:xfrm>
                <a:off x="7453582" y="2934619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矩形 159"/>
              <p:cNvSpPr/>
              <p:nvPr/>
            </p:nvSpPr>
            <p:spPr>
              <a:xfrm>
                <a:off x="7268507" y="2934618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矩形 160"/>
              <p:cNvSpPr/>
              <p:nvPr/>
            </p:nvSpPr>
            <p:spPr>
              <a:xfrm>
                <a:off x="7093725" y="2930071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矩形 161"/>
              <p:cNvSpPr/>
              <p:nvPr/>
            </p:nvSpPr>
            <p:spPr>
              <a:xfrm>
                <a:off x="6913797" y="2934352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矩形 162"/>
              <p:cNvSpPr/>
              <p:nvPr/>
            </p:nvSpPr>
            <p:spPr>
              <a:xfrm>
                <a:off x="6736861" y="2934352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4" name="矩形 163"/>
              <p:cNvSpPr/>
              <p:nvPr/>
            </p:nvSpPr>
            <p:spPr>
              <a:xfrm>
                <a:off x="6556229" y="2932526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矩形 164"/>
              <p:cNvSpPr/>
              <p:nvPr/>
            </p:nvSpPr>
            <p:spPr>
              <a:xfrm>
                <a:off x="6382379" y="2934136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矩形 165"/>
              <p:cNvSpPr/>
              <p:nvPr/>
            </p:nvSpPr>
            <p:spPr>
              <a:xfrm>
                <a:off x="6197304" y="2934135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矩形 166"/>
              <p:cNvSpPr/>
              <p:nvPr/>
            </p:nvSpPr>
            <p:spPr>
              <a:xfrm>
                <a:off x="6022522" y="2929588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矩形 167"/>
              <p:cNvSpPr/>
              <p:nvPr/>
            </p:nvSpPr>
            <p:spPr>
              <a:xfrm>
                <a:off x="5842594" y="2933869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矩形 168"/>
              <p:cNvSpPr/>
              <p:nvPr/>
            </p:nvSpPr>
            <p:spPr>
              <a:xfrm>
                <a:off x="5665658" y="2933869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0" name="矩形 169"/>
              <p:cNvSpPr/>
              <p:nvPr/>
            </p:nvSpPr>
            <p:spPr>
              <a:xfrm>
                <a:off x="5485026" y="2932043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6" name="矩形 185"/>
            <p:cNvSpPr/>
            <p:nvPr/>
          </p:nvSpPr>
          <p:spPr>
            <a:xfrm rot="16200000">
              <a:off x="6660498" y="5162801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矩形 186"/>
            <p:cNvSpPr/>
            <p:nvPr/>
          </p:nvSpPr>
          <p:spPr>
            <a:xfrm rot="16200000">
              <a:off x="6660497" y="5347876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 187"/>
            <p:cNvSpPr/>
            <p:nvPr/>
          </p:nvSpPr>
          <p:spPr>
            <a:xfrm rot="16200000">
              <a:off x="6655950" y="5522658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矩形 188"/>
            <p:cNvSpPr/>
            <p:nvPr/>
          </p:nvSpPr>
          <p:spPr>
            <a:xfrm rot="16200000">
              <a:off x="6660231" y="5702586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矩形 189"/>
            <p:cNvSpPr/>
            <p:nvPr/>
          </p:nvSpPr>
          <p:spPr>
            <a:xfrm rot="16200000">
              <a:off x="6660231" y="5879522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95" name="组合 194"/>
          <p:cNvGrpSpPr/>
          <p:nvPr/>
        </p:nvGrpSpPr>
        <p:grpSpPr>
          <a:xfrm>
            <a:off x="2934435" y="1963563"/>
            <a:ext cx="122807" cy="4006071"/>
            <a:chOff x="6630196" y="1963563"/>
            <a:chExt cx="122807" cy="4006071"/>
          </a:xfrm>
        </p:grpSpPr>
        <p:grpSp>
          <p:nvGrpSpPr>
            <p:cNvPr id="196" name="组合 195"/>
            <p:cNvGrpSpPr/>
            <p:nvPr/>
          </p:nvGrpSpPr>
          <p:grpSpPr>
            <a:xfrm rot="16200000">
              <a:off x="5142146" y="3453524"/>
              <a:ext cx="3100818" cy="120896"/>
              <a:chOff x="5485026" y="2929588"/>
              <a:chExt cx="3100818" cy="120896"/>
            </a:xfrm>
          </p:grpSpPr>
          <p:sp>
            <p:nvSpPr>
              <p:cNvPr id="202" name="矩形 201"/>
              <p:cNvSpPr/>
              <p:nvPr/>
            </p:nvSpPr>
            <p:spPr>
              <a:xfrm>
                <a:off x="8521486" y="2934403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" name="矩形 202"/>
              <p:cNvSpPr/>
              <p:nvPr/>
            </p:nvSpPr>
            <p:spPr>
              <a:xfrm>
                <a:off x="8336411" y="2934402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8161629" y="2929855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矩形 204"/>
              <p:cNvSpPr/>
              <p:nvPr/>
            </p:nvSpPr>
            <p:spPr>
              <a:xfrm>
                <a:off x="7981701" y="2934136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矩形 205"/>
              <p:cNvSpPr/>
              <p:nvPr/>
            </p:nvSpPr>
            <p:spPr>
              <a:xfrm>
                <a:off x="7804765" y="2934136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7" name="矩形 206"/>
              <p:cNvSpPr/>
              <p:nvPr/>
            </p:nvSpPr>
            <p:spPr>
              <a:xfrm>
                <a:off x="7624133" y="2932310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矩形 207"/>
              <p:cNvSpPr/>
              <p:nvPr/>
            </p:nvSpPr>
            <p:spPr>
              <a:xfrm>
                <a:off x="7453582" y="2934619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" name="矩形 208"/>
              <p:cNvSpPr/>
              <p:nvPr/>
            </p:nvSpPr>
            <p:spPr>
              <a:xfrm>
                <a:off x="7268507" y="2934618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矩形 209"/>
              <p:cNvSpPr/>
              <p:nvPr/>
            </p:nvSpPr>
            <p:spPr>
              <a:xfrm>
                <a:off x="7093725" y="2930071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" name="矩形 210"/>
              <p:cNvSpPr/>
              <p:nvPr/>
            </p:nvSpPr>
            <p:spPr>
              <a:xfrm>
                <a:off x="6913797" y="2934352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矩形 211"/>
              <p:cNvSpPr/>
              <p:nvPr/>
            </p:nvSpPr>
            <p:spPr>
              <a:xfrm>
                <a:off x="6736861" y="2934352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3" name="矩形 212"/>
              <p:cNvSpPr/>
              <p:nvPr/>
            </p:nvSpPr>
            <p:spPr>
              <a:xfrm>
                <a:off x="6556229" y="2932526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" name="矩形 213"/>
              <p:cNvSpPr/>
              <p:nvPr/>
            </p:nvSpPr>
            <p:spPr>
              <a:xfrm>
                <a:off x="6382379" y="2934136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" name="矩形 214"/>
              <p:cNvSpPr/>
              <p:nvPr/>
            </p:nvSpPr>
            <p:spPr>
              <a:xfrm>
                <a:off x="6197304" y="2934135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矩形 215"/>
              <p:cNvSpPr/>
              <p:nvPr/>
            </p:nvSpPr>
            <p:spPr>
              <a:xfrm>
                <a:off x="6022522" y="2929588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矩形 216"/>
              <p:cNvSpPr/>
              <p:nvPr/>
            </p:nvSpPr>
            <p:spPr>
              <a:xfrm>
                <a:off x="5842594" y="2933869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矩形 217"/>
              <p:cNvSpPr/>
              <p:nvPr/>
            </p:nvSpPr>
            <p:spPr>
              <a:xfrm>
                <a:off x="5665658" y="2933869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9" name="矩形 218"/>
              <p:cNvSpPr/>
              <p:nvPr/>
            </p:nvSpPr>
            <p:spPr>
              <a:xfrm>
                <a:off x="5485026" y="2932043"/>
                <a:ext cx="64358" cy="1158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7" name="矩形 196"/>
            <p:cNvSpPr/>
            <p:nvPr/>
          </p:nvSpPr>
          <p:spPr>
            <a:xfrm rot="16200000">
              <a:off x="6660498" y="5162801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矩形 197"/>
            <p:cNvSpPr/>
            <p:nvPr/>
          </p:nvSpPr>
          <p:spPr>
            <a:xfrm rot="16200000">
              <a:off x="6660497" y="5347876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矩形 198"/>
            <p:cNvSpPr/>
            <p:nvPr/>
          </p:nvSpPr>
          <p:spPr>
            <a:xfrm rot="16200000">
              <a:off x="6655950" y="5522658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矩形 199"/>
            <p:cNvSpPr/>
            <p:nvPr/>
          </p:nvSpPr>
          <p:spPr>
            <a:xfrm rot="16200000">
              <a:off x="6660231" y="5702586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矩形 200"/>
            <p:cNvSpPr/>
            <p:nvPr/>
          </p:nvSpPr>
          <p:spPr>
            <a:xfrm rot="16200000">
              <a:off x="6660231" y="5879522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21" name="组合 220"/>
          <p:cNvGrpSpPr/>
          <p:nvPr/>
        </p:nvGrpSpPr>
        <p:grpSpPr>
          <a:xfrm>
            <a:off x="3294531" y="6148383"/>
            <a:ext cx="3100818" cy="120896"/>
            <a:chOff x="3351595" y="1685073"/>
            <a:chExt cx="3100818" cy="120896"/>
          </a:xfrm>
        </p:grpSpPr>
        <p:sp>
          <p:nvSpPr>
            <p:cNvPr id="222" name="矩形 221"/>
            <p:cNvSpPr/>
            <p:nvPr/>
          </p:nvSpPr>
          <p:spPr>
            <a:xfrm>
              <a:off x="6388055" y="1689888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矩形 222"/>
            <p:cNvSpPr/>
            <p:nvPr/>
          </p:nvSpPr>
          <p:spPr>
            <a:xfrm>
              <a:off x="6202980" y="1689887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矩形 223"/>
            <p:cNvSpPr/>
            <p:nvPr/>
          </p:nvSpPr>
          <p:spPr>
            <a:xfrm>
              <a:off x="6028198" y="1685340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矩形 224"/>
            <p:cNvSpPr/>
            <p:nvPr/>
          </p:nvSpPr>
          <p:spPr>
            <a:xfrm>
              <a:off x="5848270" y="1689621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矩形 225"/>
            <p:cNvSpPr/>
            <p:nvPr/>
          </p:nvSpPr>
          <p:spPr>
            <a:xfrm>
              <a:off x="5671334" y="1689621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7" name="矩形 226"/>
            <p:cNvSpPr/>
            <p:nvPr/>
          </p:nvSpPr>
          <p:spPr>
            <a:xfrm>
              <a:off x="5490702" y="1687795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矩形 227"/>
            <p:cNvSpPr/>
            <p:nvPr/>
          </p:nvSpPr>
          <p:spPr>
            <a:xfrm>
              <a:off x="5320151" y="1690104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矩形 228"/>
            <p:cNvSpPr/>
            <p:nvPr/>
          </p:nvSpPr>
          <p:spPr>
            <a:xfrm>
              <a:off x="5135076" y="1690103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矩形 229"/>
            <p:cNvSpPr/>
            <p:nvPr/>
          </p:nvSpPr>
          <p:spPr>
            <a:xfrm>
              <a:off x="4960294" y="1685556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矩形 230"/>
            <p:cNvSpPr/>
            <p:nvPr/>
          </p:nvSpPr>
          <p:spPr>
            <a:xfrm>
              <a:off x="4780366" y="1689837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矩形 231"/>
            <p:cNvSpPr/>
            <p:nvPr/>
          </p:nvSpPr>
          <p:spPr>
            <a:xfrm>
              <a:off x="4603430" y="1689837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3" name="矩形 232"/>
            <p:cNvSpPr/>
            <p:nvPr/>
          </p:nvSpPr>
          <p:spPr>
            <a:xfrm>
              <a:off x="4422798" y="1688011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矩形 233"/>
            <p:cNvSpPr/>
            <p:nvPr/>
          </p:nvSpPr>
          <p:spPr>
            <a:xfrm>
              <a:off x="4248948" y="1689621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矩形 234"/>
            <p:cNvSpPr/>
            <p:nvPr/>
          </p:nvSpPr>
          <p:spPr>
            <a:xfrm>
              <a:off x="4063873" y="1689620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矩形 235"/>
            <p:cNvSpPr/>
            <p:nvPr/>
          </p:nvSpPr>
          <p:spPr>
            <a:xfrm>
              <a:off x="3889091" y="1685073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矩形 236"/>
            <p:cNvSpPr/>
            <p:nvPr/>
          </p:nvSpPr>
          <p:spPr>
            <a:xfrm>
              <a:off x="3709163" y="1689354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8" name="矩形 237"/>
            <p:cNvSpPr/>
            <p:nvPr/>
          </p:nvSpPr>
          <p:spPr>
            <a:xfrm>
              <a:off x="3532227" y="1689354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9" name="矩形 238"/>
            <p:cNvSpPr/>
            <p:nvPr/>
          </p:nvSpPr>
          <p:spPr>
            <a:xfrm>
              <a:off x="3351595" y="1687528"/>
              <a:ext cx="64358" cy="1158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4249030" y="1378991"/>
            <a:ext cx="128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微控制器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90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1"/>
      <p:bldP spid="86" grpId="0"/>
      <p:bldP spid="87" grpId="0"/>
      <p:bldP spid="92" grpId="0" animBg="1"/>
      <p:bldP spid="93" grpId="0" animBg="1"/>
      <p:bldP spid="94" grpId="0" animBg="1"/>
      <p:bldP spid="95" grpId="0" animBg="1"/>
      <p:bldP spid="96" grpId="0" animBg="1"/>
      <p:bldP spid="9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anose="020B0503020204020204" pitchFamily="34" charset="-122"/>
              </a:rPr>
              <a:t>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anose="020B0503020204020204" pitchFamily="34" charset="-122"/>
              </a:rPr>
              <a:t>微控制器结构及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anose="020B0503020204020204" pitchFamily="34" charset="-122"/>
              </a:rPr>
              <a:t>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anose="020B0503020204020204" pitchFamily="34" charset="-122"/>
              </a:rPr>
              <a:t>微处理器特点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7193" y="925530"/>
            <a:ext cx="43976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Cortex‐M3处理器结构 </a:t>
            </a:r>
          </a:p>
        </p:txBody>
      </p:sp>
      <p:sp>
        <p:nvSpPr>
          <p:cNvPr id="2" name="矩形 1"/>
          <p:cNvSpPr/>
          <p:nvPr/>
        </p:nvSpPr>
        <p:spPr>
          <a:xfrm>
            <a:off x="588118" y="3502724"/>
            <a:ext cx="36423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CM3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微处理器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结构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简化图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76" b="21790"/>
          <a:stretch>
            <a:fillRect/>
          </a:stretch>
        </p:blipFill>
        <p:spPr>
          <a:xfrm>
            <a:off x="4656612" y="879439"/>
            <a:ext cx="7482693" cy="553405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675005" y="1290655"/>
            <a:ext cx="4120793" cy="23574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03605" y="1498357"/>
            <a:ext cx="774700" cy="16891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903605" y="3187457"/>
            <a:ext cx="774700" cy="3429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805305" y="1523999"/>
            <a:ext cx="2882098" cy="20063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446655" y="3778007"/>
            <a:ext cx="1320800" cy="7112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967604" y="1290655"/>
            <a:ext cx="957572" cy="244290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637883" y="4527307"/>
            <a:ext cx="1131102" cy="5969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58552" y="3811452"/>
            <a:ext cx="1148049" cy="5446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907509" y="3830565"/>
            <a:ext cx="1148049" cy="5446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16930" y="4519477"/>
            <a:ext cx="3681070" cy="6047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338054" y="5486400"/>
            <a:ext cx="3131032" cy="7728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anose="020B0503020204020204" pitchFamily="34" charset="-122"/>
              </a:rPr>
              <a:t>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anose="020B0503020204020204" pitchFamily="34" charset="-122"/>
              </a:rPr>
              <a:t>微控制器结构及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anose="020B0503020204020204" pitchFamily="34" charset="-122"/>
              </a:rPr>
              <a:t>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anose="020B0503020204020204" pitchFamily="34" charset="-122"/>
              </a:rPr>
              <a:t>微处理器特点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3" name="矩形 1"/>
          <p:cNvSpPr>
            <a:spLocks noChangeArrowheads="1"/>
          </p:cNvSpPr>
          <p:nvPr/>
        </p:nvSpPr>
        <p:spPr bwMode="auto">
          <a:xfrm>
            <a:off x="195401" y="986712"/>
            <a:ext cx="42918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Cortex‐M3处理器特点</a:t>
            </a:r>
            <a:endParaRPr lang="en-US" altLang="zh-CN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67138" y="1614903"/>
            <a:ext cx="4947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CM3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处理器主要具有以下一些特点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: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35088" y="2227213"/>
            <a:ext cx="9209087" cy="3644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ts val="3500"/>
              </a:lnSpc>
              <a:spcAft>
                <a:spcPts val="0"/>
              </a:spcAft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）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三级流水线设计；</a:t>
            </a:r>
          </a:p>
          <a:p>
            <a:pPr lvl="0" algn="just">
              <a:lnSpc>
                <a:spcPts val="3500"/>
              </a:lnSpc>
              <a:spcAft>
                <a:spcPts val="0"/>
              </a:spcAft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）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哈佛总线架构；</a:t>
            </a:r>
          </a:p>
          <a:p>
            <a:pPr lvl="0" algn="just">
              <a:lnSpc>
                <a:spcPts val="3500"/>
              </a:lnSpc>
              <a:spcAft>
                <a:spcPts val="0"/>
              </a:spcAft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）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32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位寻址，支持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4G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存储器空间；</a:t>
            </a:r>
          </a:p>
          <a:p>
            <a:pPr lvl="0" algn="just">
              <a:lnSpc>
                <a:spcPts val="3500"/>
              </a:lnSpc>
              <a:spcAft>
                <a:spcPts val="0"/>
              </a:spcAft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4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）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基于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ARM AMBA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技术的片上接口，支持高吞吐量的流水线总线操作；</a:t>
            </a:r>
          </a:p>
          <a:p>
            <a:pPr lvl="0" algn="just">
              <a:lnSpc>
                <a:spcPts val="3500"/>
              </a:lnSpc>
              <a:spcAft>
                <a:spcPts val="0"/>
              </a:spcAft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5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）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嵌套向量中断控制器（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NVIC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），支持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11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个系统异常，最多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240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个中断请求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，以及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8~256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个中断优先级；</a:t>
            </a:r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lvl="0" algn="just">
              <a:lnSpc>
                <a:spcPts val="3500"/>
              </a:lnSpc>
              <a:spcAft>
                <a:spcPts val="0"/>
              </a:spcAft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6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）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支持操作系统的多种特性；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57350" y="1227088"/>
            <a:ext cx="8724899" cy="1848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ts val="3500"/>
              </a:lnSpc>
              <a:spcAft>
                <a:spcPts val="0"/>
              </a:spcAft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7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）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休眠模式和多种低功耗特性，降低了处理器的功耗；</a:t>
            </a:r>
          </a:p>
          <a:p>
            <a:pPr lvl="0" algn="just">
              <a:lnSpc>
                <a:spcPts val="3500"/>
              </a:lnSpc>
              <a:spcAft>
                <a:spcPts val="0"/>
              </a:spcAft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8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）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支持可选的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MPU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（存储器保护单元）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；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  <a:p>
            <a:pPr lvl="0" algn="just">
              <a:lnSpc>
                <a:spcPts val="3500"/>
              </a:lnSpc>
              <a:spcAft>
                <a:spcPts val="0"/>
              </a:spcAft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9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）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通过位带操作支持两个特定存储器区域中的位数据访问；</a:t>
            </a:r>
          </a:p>
          <a:p>
            <a:pPr lvl="0" algn="just">
              <a:lnSpc>
                <a:spcPts val="3500"/>
              </a:lnSpc>
              <a:spcAft>
                <a:spcPts val="0"/>
              </a:spcAft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10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）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支持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Thumb-2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指令集。</a:t>
            </a: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anose="020B0503020204020204" pitchFamily="34" charset="-122"/>
              </a:rPr>
              <a:t>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anose="020B0503020204020204" pitchFamily="34" charset="-122"/>
              </a:rPr>
              <a:t>微控制器结构及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anose="020B0503020204020204" pitchFamily="34" charset="-122"/>
              </a:rPr>
              <a:t>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anose="020B0503020204020204" pitchFamily="34" charset="-122"/>
              </a:rPr>
              <a:t>微处理器特点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0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577" y="3167390"/>
            <a:ext cx="6044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42E6E0"/>
                </a:solidFill>
              </a:rPr>
              <a:t>CM3</a:t>
            </a:r>
            <a:r>
              <a:rPr lang="zh-CN" altLang="en-US" sz="2800" b="1" dirty="0">
                <a:solidFill>
                  <a:srgbClr val="42E6E0"/>
                </a:solidFill>
              </a:rPr>
              <a:t>微处理器的工作模式和特权级别</a:t>
            </a:r>
            <a:endParaRPr lang="en-US" altLang="zh-CN" sz="2800" b="1" dirty="0">
              <a:solidFill>
                <a:srgbClr val="42E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21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DF78705-ACCC-4ABC-8C38-1DFBDD87A177}"/>
              </a:ext>
            </a:extLst>
          </p:cNvPr>
          <p:cNvSpPr/>
          <p:nvPr/>
        </p:nvSpPr>
        <p:spPr>
          <a:xfrm>
            <a:off x="4615543" y="4724400"/>
            <a:ext cx="5437110" cy="63671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1E846C-362E-4269-8C32-AEB4B301BFF3}"/>
              </a:ext>
            </a:extLst>
          </p:cNvPr>
          <p:cNvSpPr/>
          <p:nvPr/>
        </p:nvSpPr>
        <p:spPr>
          <a:xfrm>
            <a:off x="4615543" y="4082143"/>
            <a:ext cx="2721428" cy="64225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5"/>
          <p:cNvSpPr>
            <a:spLocks noChangeArrowheads="1"/>
          </p:cNvSpPr>
          <p:nvPr/>
        </p:nvSpPr>
        <p:spPr bwMode="auto">
          <a:xfrm>
            <a:off x="313898" y="913099"/>
            <a:ext cx="80857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Cortex‐M3 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处理器的操作模式和特权级别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0F00413-9090-44CD-AC38-459E69B98172}"/>
              </a:ext>
            </a:extLst>
          </p:cNvPr>
          <p:cNvSpPr txBox="1">
            <a:spLocks/>
          </p:cNvSpPr>
          <p:nvPr/>
        </p:nvSpPr>
        <p:spPr>
          <a:xfrm>
            <a:off x="1924654" y="1667311"/>
            <a:ext cx="8682831" cy="2019299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US" altLang="zh-CN" sz="2400" dirty="0">
                <a:latin typeface="+mn-ea"/>
                <a:sym typeface="Arial" charset="0"/>
              </a:rPr>
              <a:t>       Cortex-M3</a:t>
            </a:r>
            <a:r>
              <a:rPr lang="zh-CN" altLang="en-US" sz="2400" dirty="0">
                <a:latin typeface="+mn-ea"/>
                <a:sym typeface="Arial" charset="0"/>
              </a:rPr>
              <a:t>处理器支持两种              和                     。</a:t>
            </a:r>
            <a:endParaRPr lang="en-US" altLang="zh-CN" sz="2400" dirty="0">
              <a:latin typeface="+mn-ea"/>
              <a:sym typeface="Arial" charset="0"/>
            </a:endParaRPr>
          </a:p>
          <a:p>
            <a:pPr>
              <a:defRPr/>
            </a:pPr>
            <a:r>
              <a:rPr lang="zh-CN" altLang="en-US" sz="2400" dirty="0">
                <a:latin typeface="+mn-ea"/>
                <a:sym typeface="Arial" charset="0"/>
              </a:rPr>
              <a:t>两种操作模式分别为：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Arial" charset="0"/>
              </a:rPr>
              <a:t>处理者模式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Arial" charset="0"/>
              </a:rPr>
              <a:t>(handler mode)</a:t>
            </a:r>
            <a:r>
              <a:rPr lang="zh-CN" altLang="en-US" sz="2400" dirty="0">
                <a:latin typeface="+mn-ea"/>
                <a:sym typeface="Arial" charset="0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Arial" charset="0"/>
              </a:rPr>
              <a:t>线程模式（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Arial" charset="0"/>
              </a:rPr>
              <a:t>thread mode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Arial" charset="0"/>
              </a:rPr>
              <a:t>）</a:t>
            </a:r>
            <a:r>
              <a:rPr lang="zh-CN" altLang="en-US" sz="2400" dirty="0">
                <a:latin typeface="+mn-ea"/>
                <a:sym typeface="Arial" charset="0"/>
              </a:rPr>
              <a:t>。</a:t>
            </a:r>
            <a:endParaRPr lang="en-US" altLang="zh-CN" sz="2400" dirty="0">
              <a:latin typeface="+mn-ea"/>
              <a:sym typeface="Arial" charset="0"/>
            </a:endParaRPr>
          </a:p>
          <a:p>
            <a:pPr>
              <a:defRPr/>
            </a:pPr>
            <a:r>
              <a:rPr lang="zh-CN" altLang="en-US" sz="2400" dirty="0">
                <a:latin typeface="+mn-ea"/>
                <a:sym typeface="Arial" charset="0"/>
              </a:rPr>
              <a:t>两级特权分别为：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Arial" charset="0"/>
              </a:rPr>
              <a:t>特权级</a:t>
            </a:r>
            <a:r>
              <a:rPr lang="zh-CN" altLang="en-US" sz="2400" dirty="0">
                <a:latin typeface="+mn-ea"/>
                <a:sym typeface="Arial" charset="0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Arial" charset="0"/>
              </a:rPr>
              <a:t>用户级</a:t>
            </a:r>
            <a:r>
              <a:rPr lang="zh-CN" altLang="en-US" sz="2400" dirty="0">
                <a:latin typeface="+mn-ea"/>
                <a:sym typeface="Arial" charset="0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91FC79-18F9-4E3F-9EF8-BD5AD3C1CC80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微处理器的操作模式和特权级别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hdmi_130129">
            <a:extLst>
              <a:ext uri="{FF2B5EF4-FFF2-40B4-BE49-F238E27FC236}">
                <a16:creationId xmlns:a16="http://schemas.microsoft.com/office/drawing/2014/main" id="{66BC26F2-E5F3-4585-85F8-FAFB263B26C4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CAC0714-8577-4B7C-9C2F-B11B2A15D80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924654" y="3556299"/>
          <a:ext cx="8127999" cy="180481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8250182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573781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37062945"/>
                    </a:ext>
                  </a:extLst>
                </a:gridCol>
              </a:tblGrid>
              <a:tr h="524659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特权级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用户级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324990"/>
                  </a:ext>
                </a:extLst>
              </a:tr>
              <a:tr h="52465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异常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handler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的代码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处理者模式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handler mode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错误的用法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279333"/>
                  </a:ext>
                </a:extLst>
              </a:tr>
              <a:tr h="52465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主应用程序的代码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线程模式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thread mode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线程模式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thread mode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697814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A5486900-3D28-4374-9124-20C90947357B}"/>
              </a:ext>
            </a:extLst>
          </p:cNvPr>
          <p:cNvSpPr txBox="1"/>
          <p:nvPr/>
        </p:nvSpPr>
        <p:spPr>
          <a:xfrm>
            <a:off x="6292573" y="1633052"/>
            <a:ext cx="1450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Microsoft YaHei"/>
                <a:sym typeface="Arial" charset="0"/>
              </a:rPr>
              <a:t>操作模式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E343E6-5A06-406C-A60B-6A25127E8DFA}"/>
              </a:ext>
            </a:extLst>
          </p:cNvPr>
          <p:cNvSpPr txBox="1"/>
          <p:nvPr/>
        </p:nvSpPr>
        <p:spPr>
          <a:xfrm>
            <a:off x="7881179" y="1633051"/>
            <a:ext cx="2129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  <a:sym typeface="Arial" charset="0"/>
              </a:rPr>
              <a:t>两级特权操作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mph" presetSubtype="1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1B1B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mph" presetSubtype="1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7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1B1B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  <p:bldP spid="3" grpId="0"/>
      <p:bldP spid="3" grpId="1"/>
      <p:bldP spid="12" grpId="0"/>
      <p:bldP spid="1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微处理器的操作模式和特权级别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7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2107939" y="1623918"/>
            <a:ext cx="8229600" cy="1700307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主应用程序时（线程模式）</a:t>
            </a:r>
            <a:r>
              <a:rPr lang="zh-CN" altLang="en-US" sz="2400" dirty="0">
                <a:latin typeface="+mn-ea"/>
              </a:rPr>
              <a:t>，既可以使用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特权级</a:t>
            </a:r>
            <a:r>
              <a:rPr lang="zh-CN" altLang="en-US" sz="2400" dirty="0">
                <a:latin typeface="+mn-ea"/>
              </a:rPr>
              <a:t>，也可以使用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用户级</a:t>
            </a:r>
            <a:r>
              <a:rPr lang="zh-CN" altLang="en-US" sz="2400" dirty="0">
                <a:latin typeface="+mn-ea"/>
              </a:rPr>
              <a:t>；</a:t>
            </a:r>
            <a:endParaRPr lang="en-US" altLang="zh-CN" sz="2400" dirty="0">
              <a:latin typeface="+mn-ea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异常服务例程（处理者模式）</a:t>
            </a:r>
            <a:r>
              <a:rPr lang="zh-CN" altLang="en-US" sz="2400" dirty="0">
                <a:latin typeface="+mn-ea"/>
              </a:rPr>
              <a:t>，必须在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特权级</a:t>
            </a:r>
            <a:r>
              <a:rPr lang="zh-CN" altLang="en-US" sz="2400" dirty="0">
                <a:latin typeface="+mn-ea"/>
              </a:rPr>
              <a:t>下执行。</a:t>
            </a:r>
            <a:endParaRPr lang="en-US" altLang="zh-CN" sz="2400" dirty="0">
              <a:latin typeface="+mn-ea"/>
            </a:endParaRPr>
          </a:p>
          <a:p>
            <a:r>
              <a:rPr lang="zh-CN" altLang="en-US" sz="2400" dirty="0">
                <a:latin typeface="+mn-ea"/>
              </a:rPr>
              <a:t>复位后，处理器默认进入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“线程模式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+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特权级” </a:t>
            </a:r>
            <a:r>
              <a:rPr lang="zh-CN" altLang="en-US" sz="2400" dirty="0">
                <a:latin typeface="+mn-ea"/>
              </a:rPr>
              <a:t>。</a:t>
            </a:r>
          </a:p>
        </p:txBody>
      </p:sp>
      <p:sp>
        <p:nvSpPr>
          <p:cNvPr id="7" name="矩形 11"/>
          <p:cNvSpPr>
            <a:spLocks noChangeArrowheads="1"/>
          </p:cNvSpPr>
          <p:nvPr/>
        </p:nvSpPr>
        <p:spPr bwMode="auto">
          <a:xfrm>
            <a:off x="2082006" y="4373634"/>
            <a:ext cx="8123238" cy="11127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marL="228589" indent="-228589" defTabSz="914354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  <a:ea typeface="+mn-ea"/>
              </a:rPr>
              <a:t>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用户级</a:t>
            </a:r>
            <a:r>
              <a:rPr lang="zh-CN" altLang="en-US" sz="2400" dirty="0">
                <a:latin typeface="+mn-ea"/>
                <a:ea typeface="+mn-ea"/>
              </a:rPr>
              <a:t>下，禁止访问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系统控制空间</a:t>
            </a: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SCS</a:t>
            </a:r>
            <a:r>
              <a:rPr lang="zh-CN" altLang="en-US" sz="2400" dirty="0">
                <a:latin typeface="+mn-ea"/>
                <a:ea typeface="+mn-ea"/>
              </a:rPr>
              <a:t>），以及几乎所有的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特殊功能寄存器</a:t>
            </a: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</a:rPr>
              <a:t> </a:t>
            </a:r>
            <a:r>
              <a:rPr lang="en-US" altLang="zh-CN" sz="2400" dirty="0">
                <a:latin typeface="+mn-ea"/>
                <a:ea typeface="+mn-ea"/>
              </a:rPr>
              <a:t>APSR </a:t>
            </a:r>
            <a:r>
              <a:rPr lang="zh-CN" altLang="en-US" sz="2400" dirty="0">
                <a:latin typeface="+mn-ea"/>
                <a:ea typeface="+mn-ea"/>
              </a:rPr>
              <a:t>除外）和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NVIC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寄存器</a:t>
            </a:r>
            <a:r>
              <a:rPr lang="zh-CN" altLang="en-US" sz="2400" dirty="0">
                <a:latin typeface="+mn-ea"/>
                <a:ea typeface="+mn-ea"/>
              </a:rPr>
              <a:t>（软件触发中断寄存器</a:t>
            </a:r>
            <a:r>
              <a:rPr lang="en-US" altLang="zh-CN" sz="2400" dirty="0">
                <a:latin typeface="+mn-ea"/>
                <a:ea typeface="+mn-ea"/>
              </a:rPr>
              <a:t>STIR</a:t>
            </a:r>
            <a:r>
              <a:rPr lang="zh-CN" altLang="en-US" sz="2400" dirty="0">
                <a:latin typeface="+mn-ea"/>
                <a:ea typeface="+mn-ea"/>
              </a:rPr>
              <a:t>除外）。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E998A6-48EC-49FA-B93B-73602B223959}"/>
              </a:ext>
            </a:extLst>
          </p:cNvPr>
          <p:cNvSpPr/>
          <p:nvPr/>
        </p:nvSpPr>
        <p:spPr>
          <a:xfrm>
            <a:off x="2107939" y="3457576"/>
            <a:ext cx="8229600" cy="768516"/>
          </a:xfrm>
          <a:prstGeom prst="rect">
            <a:avLst/>
          </a:prstGeom>
        </p:spPr>
        <p:txBody>
          <a:bodyPr/>
          <a:lstStyle/>
          <a:p>
            <a:pPr marL="228589" indent="-228589" defTabSz="914354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特权级</a:t>
            </a:r>
            <a:r>
              <a:rPr lang="zh-CN" altLang="en-US" sz="2400" dirty="0">
                <a:latin typeface="+mn-ea"/>
              </a:rPr>
              <a:t>下，程序可以访问所有的存储空间（</a:t>
            </a:r>
            <a:r>
              <a:rPr lang="en-US" altLang="zh-CN" sz="2400" dirty="0">
                <a:latin typeface="+mn-ea"/>
              </a:rPr>
              <a:t>MPU</a:t>
            </a:r>
            <a:r>
              <a:rPr lang="zh-CN" altLang="en-US" sz="2400" dirty="0">
                <a:latin typeface="+mn-ea"/>
              </a:rPr>
              <a:t>禁止的区域除外），并且可以执行所有指令。</a:t>
            </a:r>
          </a:p>
        </p:txBody>
      </p:sp>
      <p:sp>
        <p:nvSpPr>
          <p:cNvPr id="9" name="矩形 5">
            <a:extLst>
              <a:ext uri="{FF2B5EF4-FFF2-40B4-BE49-F238E27FC236}">
                <a16:creationId xmlns:a16="http://schemas.microsoft.com/office/drawing/2014/main" id="{B04B3ADE-2542-48F2-B4D5-C92601355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98" y="925662"/>
            <a:ext cx="80857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Cortex‐M3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的操作模式和特权级别的特点</a:t>
            </a:r>
          </a:p>
        </p:txBody>
      </p:sp>
    </p:spTree>
    <p:extLst>
      <p:ext uri="{BB962C8B-B14F-4D97-AF65-F5344CB8AC3E}">
        <p14:creationId xmlns:p14="http://schemas.microsoft.com/office/powerpoint/2010/main" val="15552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微处理器的操作模式和特权级别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矩形 5">
            <a:extLst>
              <a:ext uri="{FF2B5EF4-FFF2-40B4-BE49-F238E27FC236}">
                <a16:creationId xmlns:a16="http://schemas.microsoft.com/office/drawing/2014/main" id="{33D6DAC6-8A63-4E35-8FED-AD3B139EC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4" y="922648"/>
            <a:ext cx="42370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合法的工作模式转换图</a:t>
            </a: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7BD17FD5-1149-409B-8CC0-A5DDEBAAD695}"/>
              </a:ext>
            </a:extLst>
          </p:cNvPr>
          <p:cNvGrpSpPr/>
          <p:nvPr/>
        </p:nvGrpSpPr>
        <p:grpSpPr>
          <a:xfrm>
            <a:off x="2380164" y="737927"/>
            <a:ext cx="8364270" cy="6696772"/>
            <a:chOff x="5048539" y="256796"/>
            <a:chExt cx="8364270" cy="6696772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B015060C-8175-4D28-8B4C-4B8E3F21D16B}"/>
                </a:ext>
              </a:extLst>
            </p:cNvPr>
            <p:cNvGrpSpPr/>
            <p:nvPr/>
          </p:nvGrpSpPr>
          <p:grpSpPr>
            <a:xfrm rot="3290020" flipV="1">
              <a:off x="5616301" y="1566561"/>
              <a:ext cx="5377158" cy="2856859"/>
              <a:chOff x="3947491" y="2227199"/>
              <a:chExt cx="5592417" cy="3213105"/>
            </a:xfrm>
          </p:grpSpPr>
          <p:sp>
            <p:nvSpPr>
              <p:cNvPr id="38" name="弧形 37">
                <a:extLst>
                  <a:ext uri="{FF2B5EF4-FFF2-40B4-BE49-F238E27FC236}">
                    <a16:creationId xmlns:a16="http://schemas.microsoft.com/office/drawing/2014/main" id="{9B6F99D1-E84F-4971-814C-FF586FF810F1}"/>
                  </a:ext>
                </a:extLst>
              </p:cNvPr>
              <p:cNvSpPr/>
              <p:nvPr/>
            </p:nvSpPr>
            <p:spPr>
              <a:xfrm>
                <a:off x="3947491" y="2227199"/>
                <a:ext cx="5592417" cy="3213105"/>
              </a:xfrm>
              <a:prstGeom prst="arc">
                <a:avLst>
                  <a:gd name="adj1" fmla="val 15736371"/>
                  <a:gd name="adj2" fmla="val 20731637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箭头: 右 38">
                <a:extLst>
                  <a:ext uri="{FF2B5EF4-FFF2-40B4-BE49-F238E27FC236}">
                    <a16:creationId xmlns:a16="http://schemas.microsoft.com/office/drawing/2014/main" id="{61FC1651-B21B-46BF-A0EE-6BA3D091BE9B}"/>
                  </a:ext>
                </a:extLst>
              </p:cNvPr>
              <p:cNvSpPr/>
              <p:nvPr/>
            </p:nvSpPr>
            <p:spPr>
              <a:xfrm rot="2918907">
                <a:off x="9185531" y="3078962"/>
                <a:ext cx="198770" cy="185734"/>
              </a:xfrm>
              <a:prstGeom prst="rightArrow">
                <a:avLst>
                  <a:gd name="adj1" fmla="val 0"/>
                  <a:gd name="adj2" fmla="val 107019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C893C938-6322-4855-80A8-9C6CC8411AC7}"/>
                </a:ext>
              </a:extLst>
            </p:cNvPr>
            <p:cNvGrpSpPr/>
            <p:nvPr/>
          </p:nvGrpSpPr>
          <p:grpSpPr>
            <a:xfrm rot="6351568" flipV="1">
              <a:off x="9461024" y="1336493"/>
              <a:ext cx="5031482" cy="2872088"/>
              <a:chOff x="3947491" y="2227199"/>
              <a:chExt cx="5592417" cy="3213105"/>
            </a:xfrm>
          </p:grpSpPr>
          <p:sp>
            <p:nvSpPr>
              <p:cNvPr id="41" name="弧形 40">
                <a:extLst>
                  <a:ext uri="{FF2B5EF4-FFF2-40B4-BE49-F238E27FC236}">
                    <a16:creationId xmlns:a16="http://schemas.microsoft.com/office/drawing/2014/main" id="{C91FB70D-5E99-48AB-B8D9-5FFC2D825FD5}"/>
                  </a:ext>
                </a:extLst>
              </p:cNvPr>
              <p:cNvSpPr/>
              <p:nvPr/>
            </p:nvSpPr>
            <p:spPr>
              <a:xfrm>
                <a:off x="3947491" y="2227199"/>
                <a:ext cx="5592417" cy="3213105"/>
              </a:xfrm>
              <a:prstGeom prst="arc">
                <a:avLst>
                  <a:gd name="adj1" fmla="val 15736371"/>
                  <a:gd name="adj2" fmla="val 20731637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箭头: 右 41">
                <a:extLst>
                  <a:ext uri="{FF2B5EF4-FFF2-40B4-BE49-F238E27FC236}">
                    <a16:creationId xmlns:a16="http://schemas.microsoft.com/office/drawing/2014/main" id="{C52FE0E3-8EF7-44E8-914F-E5B4C4BA810E}"/>
                  </a:ext>
                </a:extLst>
              </p:cNvPr>
              <p:cNvSpPr/>
              <p:nvPr/>
            </p:nvSpPr>
            <p:spPr>
              <a:xfrm rot="2918907">
                <a:off x="9185531" y="3078962"/>
                <a:ext cx="198770" cy="185734"/>
              </a:xfrm>
              <a:prstGeom prst="rightArrow">
                <a:avLst>
                  <a:gd name="adj1" fmla="val 0"/>
                  <a:gd name="adj2" fmla="val 107019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28F6DA53-9C81-4A36-B5A3-DB6FF3EECB46}"/>
                </a:ext>
              </a:extLst>
            </p:cNvPr>
            <p:cNvGrpSpPr/>
            <p:nvPr/>
          </p:nvGrpSpPr>
          <p:grpSpPr>
            <a:xfrm>
              <a:off x="5048539" y="1049007"/>
              <a:ext cx="7776139" cy="5904561"/>
              <a:chOff x="5048539" y="1049007"/>
              <a:chExt cx="7776139" cy="5904561"/>
            </a:xfrm>
          </p:grpSpPr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5ABD1247-FBB4-448A-8452-FE000B7701CD}"/>
                  </a:ext>
                </a:extLst>
              </p:cNvPr>
              <p:cNvGrpSpPr/>
              <p:nvPr/>
            </p:nvGrpSpPr>
            <p:grpSpPr>
              <a:xfrm rot="20687724" flipV="1">
                <a:off x="5640900" y="1293837"/>
                <a:ext cx="4326499" cy="2099952"/>
                <a:chOff x="3947491" y="2227199"/>
                <a:chExt cx="5592417" cy="3213105"/>
              </a:xfrm>
            </p:grpSpPr>
            <p:sp>
              <p:nvSpPr>
                <p:cNvPr id="32" name="弧形 31">
                  <a:extLst>
                    <a:ext uri="{FF2B5EF4-FFF2-40B4-BE49-F238E27FC236}">
                      <a16:creationId xmlns:a16="http://schemas.microsoft.com/office/drawing/2014/main" id="{8639DC69-D6DC-4310-A19A-55EE9DE9AAAE}"/>
                    </a:ext>
                  </a:extLst>
                </p:cNvPr>
                <p:cNvSpPr/>
                <p:nvPr/>
              </p:nvSpPr>
              <p:spPr>
                <a:xfrm>
                  <a:off x="3947491" y="2227199"/>
                  <a:ext cx="5592417" cy="3213105"/>
                </a:xfrm>
                <a:prstGeom prst="arc">
                  <a:avLst>
                    <a:gd name="adj1" fmla="val 15736371"/>
                    <a:gd name="adj2" fmla="val 20731637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箭头: 右 32">
                  <a:extLst>
                    <a:ext uri="{FF2B5EF4-FFF2-40B4-BE49-F238E27FC236}">
                      <a16:creationId xmlns:a16="http://schemas.microsoft.com/office/drawing/2014/main" id="{A661667F-A49F-415A-AB24-9A0921857BF4}"/>
                    </a:ext>
                  </a:extLst>
                </p:cNvPr>
                <p:cNvSpPr/>
                <p:nvPr/>
              </p:nvSpPr>
              <p:spPr>
                <a:xfrm rot="2918907">
                  <a:off x="9185531" y="3078962"/>
                  <a:ext cx="198770" cy="185734"/>
                </a:xfrm>
                <a:prstGeom prst="rightArrow">
                  <a:avLst>
                    <a:gd name="adj1" fmla="val 0"/>
                    <a:gd name="adj2" fmla="val 107019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44F4C156-93B0-4E85-A817-4F6179916A37}"/>
                  </a:ext>
                </a:extLst>
              </p:cNvPr>
              <p:cNvGrpSpPr/>
              <p:nvPr/>
            </p:nvGrpSpPr>
            <p:grpSpPr>
              <a:xfrm rot="4030306" flipV="1">
                <a:off x="4832379" y="1530637"/>
                <a:ext cx="2131035" cy="1167775"/>
                <a:chOff x="3947491" y="2227199"/>
                <a:chExt cx="5592417" cy="3213105"/>
              </a:xfrm>
            </p:grpSpPr>
            <p:sp>
              <p:nvSpPr>
                <p:cNvPr id="35" name="弧形 34">
                  <a:extLst>
                    <a:ext uri="{FF2B5EF4-FFF2-40B4-BE49-F238E27FC236}">
                      <a16:creationId xmlns:a16="http://schemas.microsoft.com/office/drawing/2014/main" id="{A8D1B39A-0E6C-4D0F-9CE9-9924C7C1491D}"/>
                    </a:ext>
                  </a:extLst>
                </p:cNvPr>
                <p:cNvSpPr/>
                <p:nvPr/>
              </p:nvSpPr>
              <p:spPr>
                <a:xfrm>
                  <a:off x="3947491" y="2227199"/>
                  <a:ext cx="5592417" cy="3213105"/>
                </a:xfrm>
                <a:prstGeom prst="arc">
                  <a:avLst>
                    <a:gd name="adj1" fmla="val 15736371"/>
                    <a:gd name="adj2" fmla="val 20731637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" name="箭头: 右 35">
                  <a:extLst>
                    <a:ext uri="{FF2B5EF4-FFF2-40B4-BE49-F238E27FC236}">
                      <a16:creationId xmlns:a16="http://schemas.microsoft.com/office/drawing/2014/main" id="{B6DDE8C2-ACB4-4CC0-AEA5-F285DB16E338}"/>
                    </a:ext>
                  </a:extLst>
                </p:cNvPr>
                <p:cNvSpPr/>
                <p:nvPr/>
              </p:nvSpPr>
              <p:spPr>
                <a:xfrm rot="2918907">
                  <a:off x="9185531" y="3078962"/>
                  <a:ext cx="198770" cy="185734"/>
                </a:xfrm>
                <a:prstGeom prst="rightArrow">
                  <a:avLst>
                    <a:gd name="adj1" fmla="val 0"/>
                    <a:gd name="adj2" fmla="val 107019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CC8A552-907A-4720-A36D-3D2D78F27224}"/>
                  </a:ext>
                </a:extLst>
              </p:cNvPr>
              <p:cNvGrpSpPr/>
              <p:nvPr/>
            </p:nvGrpSpPr>
            <p:grpSpPr>
              <a:xfrm rot="17491280" flipV="1">
                <a:off x="6740824" y="2375045"/>
                <a:ext cx="5587610" cy="3569436"/>
                <a:chOff x="3947491" y="2227199"/>
                <a:chExt cx="5592417" cy="3213105"/>
              </a:xfrm>
            </p:grpSpPr>
            <p:sp>
              <p:nvSpPr>
                <p:cNvPr id="44" name="弧形 43">
                  <a:extLst>
                    <a:ext uri="{FF2B5EF4-FFF2-40B4-BE49-F238E27FC236}">
                      <a16:creationId xmlns:a16="http://schemas.microsoft.com/office/drawing/2014/main" id="{07074B10-622D-447D-8B4C-CE36B8B8546E}"/>
                    </a:ext>
                  </a:extLst>
                </p:cNvPr>
                <p:cNvSpPr/>
                <p:nvPr/>
              </p:nvSpPr>
              <p:spPr>
                <a:xfrm>
                  <a:off x="3947491" y="2227199"/>
                  <a:ext cx="5592417" cy="3213105"/>
                </a:xfrm>
                <a:prstGeom prst="arc">
                  <a:avLst>
                    <a:gd name="adj1" fmla="val 15736371"/>
                    <a:gd name="adj2" fmla="val 20731637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箭头: 右 44">
                  <a:extLst>
                    <a:ext uri="{FF2B5EF4-FFF2-40B4-BE49-F238E27FC236}">
                      <a16:creationId xmlns:a16="http://schemas.microsoft.com/office/drawing/2014/main" id="{5C844E6D-F4FD-4CB9-9103-C189C4F8FBFA}"/>
                    </a:ext>
                  </a:extLst>
                </p:cNvPr>
                <p:cNvSpPr/>
                <p:nvPr/>
              </p:nvSpPr>
              <p:spPr>
                <a:xfrm rot="2918907">
                  <a:off x="9185531" y="3078962"/>
                  <a:ext cx="198770" cy="185734"/>
                </a:xfrm>
                <a:prstGeom prst="rightArrow">
                  <a:avLst>
                    <a:gd name="adj1" fmla="val 0"/>
                    <a:gd name="adj2" fmla="val 107019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74ACFBA1-0387-4468-ADE5-DD67105760C0}"/>
                  </a:ext>
                </a:extLst>
              </p:cNvPr>
              <p:cNvGrpSpPr/>
              <p:nvPr/>
            </p:nvGrpSpPr>
            <p:grpSpPr>
              <a:xfrm>
                <a:off x="5048539" y="1273044"/>
                <a:ext cx="7776139" cy="4475686"/>
                <a:chOff x="5048539" y="1273044"/>
                <a:chExt cx="7776139" cy="4475686"/>
              </a:xfrm>
            </p:grpSpPr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BD019B10-9869-4302-8F46-478E3FD82722}"/>
                    </a:ext>
                  </a:extLst>
                </p:cNvPr>
                <p:cNvSpPr/>
                <p:nvPr/>
              </p:nvSpPr>
              <p:spPr>
                <a:xfrm>
                  <a:off x="6096000" y="2706653"/>
                  <a:ext cx="1958453" cy="95415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600" dirty="0">
                      <a:solidFill>
                        <a:schemeClr val="tx1"/>
                      </a:solidFill>
                    </a:rPr>
                    <a:t>特权级线程模式</a:t>
                  </a:r>
                </a:p>
              </p:txBody>
            </p: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92AF5AA6-DA0F-4FED-936C-524CC2C1A213}"/>
                    </a:ext>
                  </a:extLst>
                </p:cNvPr>
                <p:cNvSpPr/>
                <p:nvPr/>
              </p:nvSpPr>
              <p:spPr>
                <a:xfrm>
                  <a:off x="9303027" y="4794575"/>
                  <a:ext cx="1934817" cy="95415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600" dirty="0">
                      <a:solidFill>
                        <a:schemeClr val="tx1"/>
                      </a:solidFill>
                    </a:rPr>
                    <a:t>用户级线程模式</a:t>
                  </a:r>
                </a:p>
              </p:txBody>
            </p:sp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940AE0BC-7630-47C1-9570-0159BED38780}"/>
                    </a:ext>
                  </a:extLst>
                </p:cNvPr>
                <p:cNvSpPr/>
                <p:nvPr/>
              </p:nvSpPr>
              <p:spPr>
                <a:xfrm>
                  <a:off x="9254863" y="1273044"/>
                  <a:ext cx="1934817" cy="95415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600" dirty="0">
                      <a:solidFill>
                        <a:schemeClr val="tx1"/>
                      </a:solidFill>
                    </a:rPr>
                    <a:t>特权级</a:t>
                  </a:r>
                  <a:r>
                    <a:rPr lang="en-US" altLang="zh-CN" sz="1600" dirty="0">
                      <a:solidFill>
                        <a:schemeClr val="tx1"/>
                      </a:solidFill>
                    </a:rPr>
                    <a:t>handler</a:t>
                  </a:r>
                  <a:r>
                    <a:rPr lang="zh-CN" altLang="en-US" sz="1600" dirty="0">
                      <a:solidFill>
                        <a:schemeClr val="tx1"/>
                      </a:solidFill>
                    </a:rPr>
                    <a:t>模式</a:t>
                  </a:r>
                </a:p>
              </p:txBody>
            </p:sp>
            <p:grpSp>
              <p:nvGrpSpPr>
                <p:cNvPr id="30" name="组合 29">
                  <a:extLst>
                    <a:ext uri="{FF2B5EF4-FFF2-40B4-BE49-F238E27FC236}">
                      <a16:creationId xmlns:a16="http://schemas.microsoft.com/office/drawing/2014/main" id="{6CC5EF05-AAF3-4608-B8A0-C0AEA4640602}"/>
                    </a:ext>
                  </a:extLst>
                </p:cNvPr>
                <p:cNvGrpSpPr/>
                <p:nvPr/>
              </p:nvGrpSpPr>
              <p:grpSpPr>
                <a:xfrm rot="10271840" flipV="1">
                  <a:off x="6896697" y="1409428"/>
                  <a:ext cx="5377158" cy="2856859"/>
                  <a:chOff x="3947491" y="2227199"/>
                  <a:chExt cx="5592417" cy="3213105"/>
                </a:xfrm>
              </p:grpSpPr>
              <p:sp>
                <p:nvSpPr>
                  <p:cNvPr id="28" name="弧形 27">
                    <a:extLst>
                      <a:ext uri="{FF2B5EF4-FFF2-40B4-BE49-F238E27FC236}">
                        <a16:creationId xmlns:a16="http://schemas.microsoft.com/office/drawing/2014/main" id="{CBD09533-1B2B-4B92-96E6-8FC9943A4F3C}"/>
                      </a:ext>
                    </a:extLst>
                  </p:cNvPr>
                  <p:cNvSpPr/>
                  <p:nvPr/>
                </p:nvSpPr>
                <p:spPr>
                  <a:xfrm>
                    <a:off x="3947491" y="2227199"/>
                    <a:ext cx="5592417" cy="3213105"/>
                  </a:xfrm>
                  <a:prstGeom prst="arc">
                    <a:avLst>
                      <a:gd name="adj1" fmla="val 15736371"/>
                      <a:gd name="adj2" fmla="val 20731637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9" name="箭头: 右 28">
                    <a:extLst>
                      <a:ext uri="{FF2B5EF4-FFF2-40B4-BE49-F238E27FC236}">
                        <a16:creationId xmlns:a16="http://schemas.microsoft.com/office/drawing/2014/main" id="{1DE1F27F-E75A-4719-AF84-DD364B2FC3AA}"/>
                      </a:ext>
                    </a:extLst>
                  </p:cNvPr>
                  <p:cNvSpPr/>
                  <p:nvPr/>
                </p:nvSpPr>
                <p:spPr>
                  <a:xfrm rot="2918907">
                    <a:off x="9185531" y="3078962"/>
                    <a:ext cx="198770" cy="185734"/>
                  </a:xfrm>
                  <a:prstGeom prst="rightArrow">
                    <a:avLst>
                      <a:gd name="adj1" fmla="val 0"/>
                      <a:gd name="adj2" fmla="val 107019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DEE5F47E-7F1D-445B-AE72-BE86D1AB7838}"/>
                    </a:ext>
                  </a:extLst>
                </p:cNvPr>
                <p:cNvSpPr txBox="1"/>
                <p:nvPr/>
              </p:nvSpPr>
              <p:spPr>
                <a:xfrm>
                  <a:off x="5048539" y="1908943"/>
                  <a:ext cx="65475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/>
                    <a:t>复位</a:t>
                  </a:r>
                </a:p>
              </p:txBody>
            </p:sp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37B9BDD1-387B-436B-851D-A98D46F40E82}"/>
                    </a:ext>
                  </a:extLst>
                </p:cNvPr>
                <p:cNvSpPr txBox="1"/>
                <p:nvPr/>
              </p:nvSpPr>
              <p:spPr>
                <a:xfrm>
                  <a:off x="7298173" y="1380789"/>
                  <a:ext cx="110309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/>
                    <a:t>异常返回</a:t>
                  </a:r>
                </a:p>
              </p:txBody>
            </p:sp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F44E16FB-C30A-4096-A6B7-C8214F69B7B6}"/>
                    </a:ext>
                  </a:extLst>
                </p:cNvPr>
                <p:cNvSpPr txBox="1"/>
                <p:nvPr/>
              </p:nvSpPr>
              <p:spPr>
                <a:xfrm>
                  <a:off x="8234890" y="2556837"/>
                  <a:ext cx="11697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/>
                    <a:t>触发异常</a:t>
                  </a:r>
                </a:p>
              </p:txBody>
            </p:sp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61FF6824-0C5F-48FF-92B6-6A44A78A58F7}"/>
                    </a:ext>
                  </a:extLst>
                </p:cNvPr>
                <p:cNvSpPr txBox="1"/>
                <p:nvPr/>
              </p:nvSpPr>
              <p:spPr>
                <a:xfrm>
                  <a:off x="6932913" y="4493886"/>
                  <a:ext cx="1386954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/>
                    <a:t>修改</a:t>
                  </a:r>
                  <a:r>
                    <a:rPr lang="en-US" altLang="zh-CN" dirty="0"/>
                    <a:t>CONTROL</a:t>
                  </a:r>
                  <a:r>
                    <a:rPr lang="zh-CN" altLang="en-US" dirty="0"/>
                    <a:t>寄存器</a:t>
                  </a:r>
                </a:p>
              </p:txBody>
            </p:sp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308079E9-F38F-4D17-B5CF-D0279ACB8EA6}"/>
                    </a:ext>
                  </a:extLst>
                </p:cNvPr>
                <p:cNvSpPr txBox="1"/>
                <p:nvPr/>
              </p:nvSpPr>
              <p:spPr>
                <a:xfrm>
                  <a:off x="10356048" y="3377574"/>
                  <a:ext cx="11410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/>
                    <a:t>异常返回</a:t>
                  </a:r>
                </a:p>
              </p:txBody>
            </p: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0B45ECE2-AC51-45F4-BF3D-EEA919B68911}"/>
                    </a:ext>
                  </a:extLst>
                </p:cNvPr>
                <p:cNvSpPr txBox="1"/>
                <p:nvPr/>
              </p:nvSpPr>
              <p:spPr>
                <a:xfrm>
                  <a:off x="11449074" y="2788645"/>
                  <a:ext cx="13756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/>
                    <a:t>触发异常</a:t>
                  </a:r>
                </a:p>
              </p:txBody>
            </p:sp>
          </p:grpSp>
        </p:grp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8E07E709-26DD-428F-9960-7682C1501967}"/>
              </a:ext>
            </a:extLst>
          </p:cNvPr>
          <p:cNvSpPr txBox="1"/>
          <p:nvPr/>
        </p:nvSpPr>
        <p:spPr>
          <a:xfrm>
            <a:off x="2384621" y="2390074"/>
            <a:ext cx="654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复位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C6B0BF4E-F73D-42A2-ABEB-A1936054B9B8}"/>
              </a:ext>
            </a:extLst>
          </p:cNvPr>
          <p:cNvGrpSpPr/>
          <p:nvPr/>
        </p:nvGrpSpPr>
        <p:grpSpPr>
          <a:xfrm>
            <a:off x="2643664" y="1525040"/>
            <a:ext cx="1167775" cy="2131035"/>
            <a:chOff x="2505965" y="1653762"/>
            <a:chExt cx="1167775" cy="2131035"/>
          </a:xfrm>
        </p:grpSpPr>
        <p:sp>
          <p:nvSpPr>
            <p:cNvPr id="80" name="弧形 79">
              <a:extLst>
                <a:ext uri="{FF2B5EF4-FFF2-40B4-BE49-F238E27FC236}">
                  <a16:creationId xmlns:a16="http://schemas.microsoft.com/office/drawing/2014/main" id="{36265744-362B-4B1D-A049-EA3000D8AE2E}"/>
                </a:ext>
              </a:extLst>
            </p:cNvPr>
            <p:cNvSpPr/>
            <p:nvPr/>
          </p:nvSpPr>
          <p:spPr>
            <a:xfrm rot="4030306" flipV="1">
              <a:off x="2024335" y="2135392"/>
              <a:ext cx="2131035" cy="1167775"/>
            </a:xfrm>
            <a:prstGeom prst="arc">
              <a:avLst>
                <a:gd name="adj1" fmla="val 15736371"/>
                <a:gd name="adj2" fmla="val 20731637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箭头: 右 80">
              <a:extLst>
                <a:ext uri="{FF2B5EF4-FFF2-40B4-BE49-F238E27FC236}">
                  <a16:creationId xmlns:a16="http://schemas.microsoft.com/office/drawing/2014/main" id="{79E9910D-F00C-4741-AF87-FADD3D161EBD}"/>
                </a:ext>
              </a:extLst>
            </p:cNvPr>
            <p:cNvSpPr/>
            <p:nvPr/>
          </p:nvSpPr>
          <p:spPr>
            <a:xfrm rot="1111399" flipV="1">
              <a:off x="3207696" y="3669728"/>
              <a:ext cx="72241" cy="70775"/>
            </a:xfrm>
            <a:prstGeom prst="rightArrow">
              <a:avLst>
                <a:gd name="adj1" fmla="val 0"/>
                <a:gd name="adj2" fmla="val 107019"/>
              </a:avLst>
            </a:prstGeom>
            <a:solidFill>
              <a:srgbClr val="FF00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3" name="椭圆 82">
            <a:extLst>
              <a:ext uri="{FF2B5EF4-FFF2-40B4-BE49-F238E27FC236}">
                <a16:creationId xmlns:a16="http://schemas.microsoft.com/office/drawing/2014/main" id="{FC74FA3B-C989-498E-9BA4-97E53D1BFDD6}"/>
              </a:ext>
            </a:extLst>
          </p:cNvPr>
          <p:cNvSpPr/>
          <p:nvPr/>
        </p:nvSpPr>
        <p:spPr>
          <a:xfrm>
            <a:off x="3415431" y="3187783"/>
            <a:ext cx="1958453" cy="95415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rgbClr val="FF0000"/>
              </a:solidFill>
            </a:endParaRP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5E4CB7E2-11CD-4B27-B17E-0CEC852E468A}"/>
              </a:ext>
            </a:extLst>
          </p:cNvPr>
          <p:cNvGrpSpPr/>
          <p:nvPr/>
        </p:nvGrpSpPr>
        <p:grpSpPr>
          <a:xfrm>
            <a:off x="3008249" y="1746120"/>
            <a:ext cx="4326499" cy="2099952"/>
            <a:chOff x="3158222" y="2061948"/>
            <a:chExt cx="4326499" cy="2099952"/>
          </a:xfrm>
        </p:grpSpPr>
        <p:sp>
          <p:nvSpPr>
            <p:cNvPr id="86" name="弧形 85">
              <a:extLst>
                <a:ext uri="{FF2B5EF4-FFF2-40B4-BE49-F238E27FC236}">
                  <a16:creationId xmlns:a16="http://schemas.microsoft.com/office/drawing/2014/main" id="{07739710-0240-4DB3-B8F4-28038542146C}"/>
                </a:ext>
              </a:extLst>
            </p:cNvPr>
            <p:cNvSpPr/>
            <p:nvPr/>
          </p:nvSpPr>
          <p:spPr>
            <a:xfrm rot="20687724" flipV="1">
              <a:off x="3158222" y="2061948"/>
              <a:ext cx="4326499" cy="2099952"/>
            </a:xfrm>
            <a:prstGeom prst="arc">
              <a:avLst>
                <a:gd name="adj1" fmla="val 15736371"/>
                <a:gd name="adj2" fmla="val 20731637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箭头: 右 86">
              <a:extLst>
                <a:ext uri="{FF2B5EF4-FFF2-40B4-BE49-F238E27FC236}">
                  <a16:creationId xmlns:a16="http://schemas.microsoft.com/office/drawing/2014/main" id="{1EA32435-9CFF-4368-ADD3-4FAED413DABD}"/>
                </a:ext>
              </a:extLst>
            </p:cNvPr>
            <p:cNvSpPr/>
            <p:nvPr/>
          </p:nvSpPr>
          <p:spPr>
            <a:xfrm rot="17768817" flipV="1">
              <a:off x="7241950" y="2966738"/>
              <a:ext cx="129908" cy="143691"/>
            </a:xfrm>
            <a:prstGeom prst="rightArrow">
              <a:avLst>
                <a:gd name="adj1" fmla="val 0"/>
                <a:gd name="adj2" fmla="val 107019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9" name="文本框 88">
            <a:extLst>
              <a:ext uri="{FF2B5EF4-FFF2-40B4-BE49-F238E27FC236}">
                <a16:creationId xmlns:a16="http://schemas.microsoft.com/office/drawing/2014/main" id="{8D74A9CE-D771-428B-B42E-54C46A050D20}"/>
              </a:ext>
            </a:extLst>
          </p:cNvPr>
          <p:cNvSpPr txBox="1"/>
          <p:nvPr/>
        </p:nvSpPr>
        <p:spPr>
          <a:xfrm>
            <a:off x="5559514" y="3033545"/>
            <a:ext cx="1169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触发异常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64252E51-8F51-42D8-A009-9EB56087F36A}"/>
              </a:ext>
            </a:extLst>
          </p:cNvPr>
          <p:cNvSpPr/>
          <p:nvPr/>
        </p:nvSpPr>
        <p:spPr>
          <a:xfrm>
            <a:off x="6587339" y="1739921"/>
            <a:ext cx="1934817" cy="95415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A690B270-D938-4531-AE24-F1252168DDF5}"/>
              </a:ext>
            </a:extLst>
          </p:cNvPr>
          <p:cNvGrpSpPr/>
          <p:nvPr/>
        </p:nvGrpSpPr>
        <p:grpSpPr>
          <a:xfrm>
            <a:off x="4191909" y="1904889"/>
            <a:ext cx="5377158" cy="2856859"/>
            <a:chOff x="4341882" y="2220307"/>
            <a:chExt cx="5377158" cy="2856859"/>
          </a:xfrm>
        </p:grpSpPr>
        <p:sp>
          <p:nvSpPr>
            <p:cNvPr id="91" name="弧形 90">
              <a:extLst>
                <a:ext uri="{FF2B5EF4-FFF2-40B4-BE49-F238E27FC236}">
                  <a16:creationId xmlns:a16="http://schemas.microsoft.com/office/drawing/2014/main" id="{A13290B1-3B4A-4C3F-AC03-3673C20389EC}"/>
                </a:ext>
              </a:extLst>
            </p:cNvPr>
            <p:cNvSpPr/>
            <p:nvPr/>
          </p:nvSpPr>
          <p:spPr>
            <a:xfrm rot="10271840" flipV="1">
              <a:off x="4341882" y="2220307"/>
              <a:ext cx="5377158" cy="2856859"/>
            </a:xfrm>
            <a:prstGeom prst="arc">
              <a:avLst>
                <a:gd name="adj1" fmla="val 15736371"/>
                <a:gd name="adj2" fmla="val 20731637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箭头: 右 91">
              <a:extLst>
                <a:ext uri="{FF2B5EF4-FFF2-40B4-BE49-F238E27FC236}">
                  <a16:creationId xmlns:a16="http://schemas.microsoft.com/office/drawing/2014/main" id="{3BEA912E-3E7A-4576-9CE0-8E9B9CD70DDF}"/>
                </a:ext>
              </a:extLst>
            </p:cNvPr>
            <p:cNvSpPr/>
            <p:nvPr/>
          </p:nvSpPr>
          <p:spPr>
            <a:xfrm rot="7352933" flipV="1">
              <a:off x="4476249" y="3334164"/>
              <a:ext cx="176732" cy="178585"/>
            </a:xfrm>
            <a:prstGeom prst="rightArrow">
              <a:avLst>
                <a:gd name="adj1" fmla="val 0"/>
                <a:gd name="adj2" fmla="val 107019"/>
              </a:avLst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4" name="文本框 93">
            <a:extLst>
              <a:ext uri="{FF2B5EF4-FFF2-40B4-BE49-F238E27FC236}">
                <a16:creationId xmlns:a16="http://schemas.microsoft.com/office/drawing/2014/main" id="{E5B941ED-CD8A-4605-882A-3D797A7EF009}"/>
              </a:ext>
            </a:extLst>
          </p:cNvPr>
          <p:cNvSpPr txBox="1"/>
          <p:nvPr/>
        </p:nvSpPr>
        <p:spPr>
          <a:xfrm>
            <a:off x="4623110" y="1859561"/>
            <a:ext cx="1103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异常返回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C93549F3-89E9-427E-BC48-8796936C5DF6}"/>
              </a:ext>
            </a:extLst>
          </p:cNvPr>
          <p:cNvGrpSpPr/>
          <p:nvPr/>
        </p:nvGrpSpPr>
        <p:grpSpPr>
          <a:xfrm>
            <a:off x="4204832" y="787798"/>
            <a:ext cx="2856859" cy="5377158"/>
            <a:chOff x="4304465" y="1322334"/>
            <a:chExt cx="2856859" cy="5377158"/>
          </a:xfrm>
        </p:grpSpPr>
        <p:sp>
          <p:nvSpPr>
            <p:cNvPr id="97" name="弧形 96">
              <a:extLst>
                <a:ext uri="{FF2B5EF4-FFF2-40B4-BE49-F238E27FC236}">
                  <a16:creationId xmlns:a16="http://schemas.microsoft.com/office/drawing/2014/main" id="{1C3FB5CA-124A-4B24-AD7C-B6D464A413C1}"/>
                </a:ext>
              </a:extLst>
            </p:cNvPr>
            <p:cNvSpPr/>
            <p:nvPr/>
          </p:nvSpPr>
          <p:spPr>
            <a:xfrm rot="3290020" flipV="1">
              <a:off x="3044316" y="2582483"/>
              <a:ext cx="5377158" cy="2856859"/>
            </a:xfrm>
            <a:prstGeom prst="arc">
              <a:avLst>
                <a:gd name="adj1" fmla="val 15736371"/>
                <a:gd name="adj2" fmla="val 20731637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箭头: 右 97">
              <a:extLst>
                <a:ext uri="{FF2B5EF4-FFF2-40B4-BE49-F238E27FC236}">
                  <a16:creationId xmlns:a16="http://schemas.microsoft.com/office/drawing/2014/main" id="{40E1B1C4-D934-4088-8FAA-BE7CC37DB4A4}"/>
                </a:ext>
              </a:extLst>
            </p:cNvPr>
            <p:cNvSpPr/>
            <p:nvPr/>
          </p:nvSpPr>
          <p:spPr>
            <a:xfrm rot="371113" flipV="1">
              <a:off x="6570695" y="6258028"/>
              <a:ext cx="176732" cy="178585"/>
            </a:xfrm>
            <a:prstGeom prst="rightArrow">
              <a:avLst>
                <a:gd name="adj1" fmla="val 0"/>
                <a:gd name="adj2" fmla="val 107019"/>
              </a:avLst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0" name="文本框 99">
            <a:extLst>
              <a:ext uri="{FF2B5EF4-FFF2-40B4-BE49-F238E27FC236}">
                <a16:creationId xmlns:a16="http://schemas.microsoft.com/office/drawing/2014/main" id="{A699C4F6-A817-4ED7-B765-0CE20B8FF999}"/>
              </a:ext>
            </a:extLst>
          </p:cNvPr>
          <p:cNvSpPr txBox="1"/>
          <p:nvPr/>
        </p:nvSpPr>
        <p:spPr>
          <a:xfrm>
            <a:off x="4269976" y="4987494"/>
            <a:ext cx="1386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修改</a:t>
            </a:r>
            <a:r>
              <a:rPr lang="en-US" altLang="zh-CN" b="1" dirty="0">
                <a:solidFill>
                  <a:srgbClr val="FF0000"/>
                </a:solidFill>
              </a:rPr>
              <a:t>CONTROL</a:t>
            </a:r>
            <a:r>
              <a:rPr lang="zh-CN" altLang="en-US" b="1" dirty="0">
                <a:solidFill>
                  <a:srgbClr val="FF0000"/>
                </a:solidFill>
              </a:rPr>
              <a:t>寄存器</a:t>
            </a: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8C880F41-2701-4F1B-B2E8-58A4856E982C}"/>
              </a:ext>
            </a:extLst>
          </p:cNvPr>
          <p:cNvSpPr/>
          <p:nvPr/>
        </p:nvSpPr>
        <p:spPr>
          <a:xfrm>
            <a:off x="6640591" y="5284127"/>
            <a:ext cx="1934817" cy="95415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E854F599-C717-4CEE-BB23-C21B39BA9A6F}"/>
              </a:ext>
            </a:extLst>
          </p:cNvPr>
          <p:cNvGrpSpPr/>
          <p:nvPr/>
        </p:nvGrpSpPr>
        <p:grpSpPr>
          <a:xfrm>
            <a:off x="5088224" y="1861920"/>
            <a:ext cx="3569436" cy="5587610"/>
            <a:chOff x="5233936" y="1999489"/>
            <a:chExt cx="3569436" cy="5587610"/>
          </a:xfrm>
        </p:grpSpPr>
        <p:sp>
          <p:nvSpPr>
            <p:cNvPr id="102" name="弧形 101">
              <a:extLst>
                <a:ext uri="{FF2B5EF4-FFF2-40B4-BE49-F238E27FC236}">
                  <a16:creationId xmlns:a16="http://schemas.microsoft.com/office/drawing/2014/main" id="{520452D8-385D-4F15-9FE5-2892DA47FB19}"/>
                </a:ext>
              </a:extLst>
            </p:cNvPr>
            <p:cNvSpPr/>
            <p:nvPr/>
          </p:nvSpPr>
          <p:spPr>
            <a:xfrm rot="17491280" flipV="1">
              <a:off x="4224849" y="3008576"/>
              <a:ext cx="5587610" cy="3569436"/>
            </a:xfrm>
            <a:prstGeom prst="arc">
              <a:avLst>
                <a:gd name="adj1" fmla="val 15736371"/>
                <a:gd name="adj2" fmla="val 20731637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箭头: 右 102">
              <a:extLst>
                <a:ext uri="{FF2B5EF4-FFF2-40B4-BE49-F238E27FC236}">
                  <a16:creationId xmlns:a16="http://schemas.microsoft.com/office/drawing/2014/main" id="{9E08B952-CE5A-4A08-A1B0-55B712208261}"/>
                </a:ext>
              </a:extLst>
            </p:cNvPr>
            <p:cNvSpPr/>
            <p:nvPr/>
          </p:nvSpPr>
          <p:spPr>
            <a:xfrm rot="14572373" flipV="1">
              <a:off x="8523748" y="2608247"/>
              <a:ext cx="220813" cy="185574"/>
            </a:xfrm>
            <a:prstGeom prst="rightArrow">
              <a:avLst>
                <a:gd name="adj1" fmla="val 0"/>
                <a:gd name="adj2" fmla="val 107019"/>
              </a:avLst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5" name="文本框 104">
            <a:extLst>
              <a:ext uri="{FF2B5EF4-FFF2-40B4-BE49-F238E27FC236}">
                <a16:creationId xmlns:a16="http://schemas.microsoft.com/office/drawing/2014/main" id="{C6CF9521-DD27-4A22-83F4-3439080920DD}"/>
              </a:ext>
            </a:extLst>
          </p:cNvPr>
          <p:cNvSpPr txBox="1"/>
          <p:nvPr/>
        </p:nvSpPr>
        <p:spPr>
          <a:xfrm>
            <a:off x="8786639" y="3270295"/>
            <a:ext cx="1375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触发异常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03338576-00C8-4F23-A33B-370960D2741F}"/>
              </a:ext>
            </a:extLst>
          </p:cNvPr>
          <p:cNvSpPr/>
          <p:nvPr/>
        </p:nvSpPr>
        <p:spPr>
          <a:xfrm>
            <a:off x="6608414" y="1749880"/>
            <a:ext cx="1934817" cy="95415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92C7CCAC-75FD-47FF-BEB6-18F04EC663BE}"/>
              </a:ext>
            </a:extLst>
          </p:cNvPr>
          <p:cNvGrpSpPr/>
          <p:nvPr/>
        </p:nvGrpSpPr>
        <p:grpSpPr>
          <a:xfrm>
            <a:off x="7860467" y="737927"/>
            <a:ext cx="2872088" cy="5031482"/>
            <a:chOff x="8024746" y="890327"/>
            <a:chExt cx="2872088" cy="5031482"/>
          </a:xfrm>
        </p:grpSpPr>
        <p:sp>
          <p:nvSpPr>
            <p:cNvPr id="107" name="弧形 106">
              <a:extLst>
                <a:ext uri="{FF2B5EF4-FFF2-40B4-BE49-F238E27FC236}">
                  <a16:creationId xmlns:a16="http://schemas.microsoft.com/office/drawing/2014/main" id="{1D9A6B62-F935-485C-9578-290CB5C77CC8}"/>
                </a:ext>
              </a:extLst>
            </p:cNvPr>
            <p:cNvSpPr/>
            <p:nvPr/>
          </p:nvSpPr>
          <p:spPr>
            <a:xfrm rot="6351568" flipV="1">
              <a:off x="6945049" y="1970024"/>
              <a:ext cx="5031482" cy="2872088"/>
            </a:xfrm>
            <a:prstGeom prst="arc">
              <a:avLst>
                <a:gd name="adj1" fmla="val 15736371"/>
                <a:gd name="adj2" fmla="val 20731637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箭头: 右 107">
              <a:extLst>
                <a:ext uri="{FF2B5EF4-FFF2-40B4-BE49-F238E27FC236}">
                  <a16:creationId xmlns:a16="http://schemas.microsoft.com/office/drawing/2014/main" id="{467FCD57-FA6E-4828-88B3-21BD96C52B9D}"/>
                </a:ext>
              </a:extLst>
            </p:cNvPr>
            <p:cNvSpPr/>
            <p:nvPr/>
          </p:nvSpPr>
          <p:spPr>
            <a:xfrm rot="3432661" flipV="1">
              <a:off x="8178000" y="5360121"/>
              <a:ext cx="177674" cy="167104"/>
            </a:xfrm>
            <a:prstGeom prst="rightArrow">
              <a:avLst>
                <a:gd name="adj1" fmla="val 0"/>
                <a:gd name="adj2" fmla="val 107019"/>
              </a:avLst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0" name="文本框 109">
            <a:extLst>
              <a:ext uri="{FF2B5EF4-FFF2-40B4-BE49-F238E27FC236}">
                <a16:creationId xmlns:a16="http://schemas.microsoft.com/office/drawing/2014/main" id="{5042387F-D5F6-4E63-A4AC-9B026C1B09D2}"/>
              </a:ext>
            </a:extLst>
          </p:cNvPr>
          <p:cNvSpPr txBox="1"/>
          <p:nvPr/>
        </p:nvSpPr>
        <p:spPr>
          <a:xfrm>
            <a:off x="7687673" y="3858186"/>
            <a:ext cx="114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异常返回</a:t>
            </a:r>
          </a:p>
        </p:txBody>
      </p: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4FB426C-79FE-4EE5-936E-636B623B01C1}"/>
              </a:ext>
            </a:extLst>
          </p:cNvPr>
          <p:cNvGrpSpPr/>
          <p:nvPr/>
        </p:nvGrpSpPr>
        <p:grpSpPr>
          <a:xfrm>
            <a:off x="4224351" y="1901413"/>
            <a:ext cx="5377158" cy="2835704"/>
            <a:chOff x="4371465" y="2193980"/>
            <a:chExt cx="5377158" cy="2856859"/>
          </a:xfrm>
        </p:grpSpPr>
        <p:sp>
          <p:nvSpPr>
            <p:cNvPr id="112" name="弧形 111">
              <a:extLst>
                <a:ext uri="{FF2B5EF4-FFF2-40B4-BE49-F238E27FC236}">
                  <a16:creationId xmlns:a16="http://schemas.microsoft.com/office/drawing/2014/main" id="{F11287D9-00CA-4F7F-9E17-0DAFF2B1291B}"/>
                </a:ext>
              </a:extLst>
            </p:cNvPr>
            <p:cNvSpPr/>
            <p:nvPr/>
          </p:nvSpPr>
          <p:spPr>
            <a:xfrm rot="10271840" flipV="1">
              <a:off x="4371465" y="2193980"/>
              <a:ext cx="5377158" cy="2856859"/>
            </a:xfrm>
            <a:prstGeom prst="arc">
              <a:avLst>
                <a:gd name="adj1" fmla="val 15736371"/>
                <a:gd name="adj2" fmla="val 20731637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箭头: 右 112">
              <a:extLst>
                <a:ext uri="{FF2B5EF4-FFF2-40B4-BE49-F238E27FC236}">
                  <a16:creationId xmlns:a16="http://schemas.microsoft.com/office/drawing/2014/main" id="{5DE0A615-0EC9-49A6-A8B8-8D1325A5B001}"/>
                </a:ext>
              </a:extLst>
            </p:cNvPr>
            <p:cNvSpPr/>
            <p:nvPr/>
          </p:nvSpPr>
          <p:spPr>
            <a:xfrm rot="7352933" flipV="1">
              <a:off x="4466701" y="3342770"/>
              <a:ext cx="176732" cy="178585"/>
            </a:xfrm>
            <a:prstGeom prst="rightArrow">
              <a:avLst>
                <a:gd name="adj1" fmla="val 0"/>
                <a:gd name="adj2" fmla="val 107019"/>
              </a:avLst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4" name="文本框 113">
            <a:extLst>
              <a:ext uri="{FF2B5EF4-FFF2-40B4-BE49-F238E27FC236}">
                <a16:creationId xmlns:a16="http://schemas.microsoft.com/office/drawing/2014/main" id="{6382A644-8122-43E3-A83E-6F5B12459268}"/>
              </a:ext>
            </a:extLst>
          </p:cNvPr>
          <p:cNvSpPr txBox="1"/>
          <p:nvPr/>
        </p:nvSpPr>
        <p:spPr>
          <a:xfrm>
            <a:off x="4619949" y="1851743"/>
            <a:ext cx="1103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异常返回</a:t>
            </a:r>
          </a:p>
        </p:txBody>
      </p:sp>
    </p:spTree>
    <p:extLst>
      <p:ext uri="{BB962C8B-B14F-4D97-AF65-F5344CB8AC3E}">
        <p14:creationId xmlns:p14="http://schemas.microsoft.com/office/powerpoint/2010/main" val="111473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8" grpId="1"/>
      <p:bldP spid="83" grpId="0" animBg="1"/>
      <p:bldP spid="83" grpId="1" animBg="1"/>
      <p:bldP spid="89" grpId="0"/>
      <p:bldP spid="89" grpId="1"/>
      <p:bldP spid="90" grpId="0" animBg="1"/>
      <p:bldP spid="90" grpId="1" animBg="1"/>
      <p:bldP spid="94" grpId="0"/>
      <p:bldP spid="94" grpId="1"/>
      <p:bldP spid="100" grpId="0"/>
      <p:bldP spid="101" grpId="0" animBg="1"/>
      <p:bldP spid="105" grpId="0"/>
      <p:bldP spid="106" grpId="0" animBg="1"/>
      <p:bldP spid="110" grpId="0"/>
      <p:bldP spid="1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8E24F90-6336-4C39-9139-E5D08C613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675" y="1804987"/>
            <a:ext cx="9010650" cy="324802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31DC77D-5687-4E0A-AC4D-2CD2652EC81F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微处理器的操作模式和特权级别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>
            <a:extLst>
              <a:ext uri="{FF2B5EF4-FFF2-40B4-BE49-F238E27FC236}">
                <a16:creationId xmlns:a16="http://schemas.microsoft.com/office/drawing/2014/main" id="{763E6768-16DF-4200-B8DD-28657EFD45B3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矩形 5">
            <a:extLst>
              <a:ext uri="{FF2B5EF4-FFF2-40B4-BE49-F238E27FC236}">
                <a16:creationId xmlns:a16="http://schemas.microsoft.com/office/drawing/2014/main" id="{F36D4636-D224-4F8C-B5A5-D38F3FD67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797" y="1000316"/>
            <a:ext cx="55799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特权级和处理器模式的改变图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6B910A1-9764-48E9-A3DD-A642BC966D6E}"/>
              </a:ext>
            </a:extLst>
          </p:cNvPr>
          <p:cNvSpPr/>
          <p:nvPr/>
        </p:nvSpPr>
        <p:spPr>
          <a:xfrm>
            <a:off x="2623930" y="3428999"/>
            <a:ext cx="940905" cy="56809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8C922EC-B7A5-4E34-8F1C-7CCF826CBF94}"/>
              </a:ext>
            </a:extLst>
          </p:cNvPr>
          <p:cNvSpPr/>
          <p:nvPr/>
        </p:nvSpPr>
        <p:spPr>
          <a:xfrm>
            <a:off x="4087664" y="4318226"/>
            <a:ext cx="722875" cy="57182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40B4044-16E6-489B-8CC8-AFC0B75E80D5}"/>
              </a:ext>
            </a:extLst>
          </p:cNvPr>
          <p:cNvSpPr/>
          <p:nvPr/>
        </p:nvSpPr>
        <p:spPr>
          <a:xfrm>
            <a:off x="5300871" y="2451652"/>
            <a:ext cx="967408" cy="67565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181BD5E-51F5-48FE-8814-6DB18B805074}"/>
              </a:ext>
            </a:extLst>
          </p:cNvPr>
          <p:cNvSpPr/>
          <p:nvPr/>
        </p:nvSpPr>
        <p:spPr>
          <a:xfrm>
            <a:off x="6739352" y="4318226"/>
            <a:ext cx="840891" cy="57182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F95E624-5916-4090-8726-D63668A08B1D}"/>
              </a:ext>
            </a:extLst>
          </p:cNvPr>
          <p:cNvSpPr/>
          <p:nvPr/>
        </p:nvSpPr>
        <p:spPr>
          <a:xfrm>
            <a:off x="9465049" y="3428999"/>
            <a:ext cx="1159073" cy="5839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E9FEFA2-58A6-468B-9B6E-36007AAD7C5F}"/>
              </a:ext>
            </a:extLst>
          </p:cNvPr>
          <p:cNvSpPr/>
          <p:nvPr/>
        </p:nvSpPr>
        <p:spPr>
          <a:xfrm>
            <a:off x="1613472" y="3925721"/>
            <a:ext cx="1589847" cy="2913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A0A3A51-D1F5-4685-982A-D9E21FF6156E}"/>
              </a:ext>
            </a:extLst>
          </p:cNvPr>
          <p:cNvSpPr/>
          <p:nvPr/>
        </p:nvSpPr>
        <p:spPr>
          <a:xfrm>
            <a:off x="2497818" y="4728357"/>
            <a:ext cx="1589847" cy="2913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8BB0D03-F6EB-4C49-A70E-05BE4FD1FC0D}"/>
              </a:ext>
            </a:extLst>
          </p:cNvPr>
          <p:cNvSpPr/>
          <p:nvPr/>
        </p:nvSpPr>
        <p:spPr>
          <a:xfrm>
            <a:off x="5035826" y="3730691"/>
            <a:ext cx="530087" cy="26640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33E4C3E-BBEA-4E89-8432-B0A00B5BF36C}"/>
              </a:ext>
            </a:extLst>
          </p:cNvPr>
          <p:cNvSpPr/>
          <p:nvPr/>
        </p:nvSpPr>
        <p:spPr>
          <a:xfrm>
            <a:off x="8590742" y="2242312"/>
            <a:ext cx="1589847" cy="2913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68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5"/>
          <p:cNvSpPr>
            <a:spLocks noChangeArrowheads="1"/>
          </p:cNvSpPr>
          <p:nvPr/>
        </p:nvSpPr>
        <p:spPr bwMode="auto">
          <a:xfrm>
            <a:off x="2014750" y="1970396"/>
            <a:ext cx="796131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2400" dirty="0">
                <a:latin typeface="+mn-ea"/>
                <a:ea typeface="+mn-ea"/>
              </a:rPr>
              <a:t>通过引入特权级和用户级，就能够在硬件水平上限制某些不受信任的或者还没有调试好的程序，不让它们随便地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配置重要的寄存器</a:t>
            </a:r>
            <a:r>
              <a:rPr lang="zh-CN" altLang="en-US" sz="2400" dirty="0">
                <a:latin typeface="+mn-ea"/>
                <a:ea typeface="+mn-ea"/>
              </a:rPr>
              <a:t>，因而系统的可靠性得到了提高。</a:t>
            </a:r>
          </a:p>
        </p:txBody>
      </p:sp>
      <p:sp>
        <p:nvSpPr>
          <p:cNvPr id="3" name="矩形 10"/>
          <p:cNvSpPr>
            <a:spLocks noChangeArrowheads="1"/>
          </p:cNvSpPr>
          <p:nvPr/>
        </p:nvSpPr>
        <p:spPr bwMode="auto">
          <a:xfrm>
            <a:off x="2014750" y="4552114"/>
            <a:ext cx="78978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zh-CN" sz="2400" dirty="0">
                <a:latin typeface="+mn-ea"/>
                <a:ea typeface="+mn-ea"/>
              </a:rPr>
              <a:t>处理器的特权机制非常适合对</a:t>
            </a:r>
            <a:r>
              <a:rPr lang="zh-CN" altLang="zh-CN" sz="2400" dirty="0">
                <a:solidFill>
                  <a:srgbClr val="C00000"/>
                </a:solidFill>
                <a:latin typeface="+mn-ea"/>
                <a:ea typeface="+mn-ea"/>
              </a:rPr>
              <a:t>操作系统</a:t>
            </a:r>
            <a:r>
              <a:rPr lang="zh-CN" altLang="zh-CN" sz="2400" dirty="0">
                <a:latin typeface="+mn-ea"/>
                <a:ea typeface="+mn-ea"/>
              </a:rPr>
              <a:t>的支持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4B386C-2383-4D8B-A552-FD4F13CA71D2}"/>
              </a:ext>
            </a:extLst>
          </p:cNvPr>
          <p:cNvSpPr/>
          <p:nvPr/>
        </p:nvSpPr>
        <p:spPr>
          <a:xfrm>
            <a:off x="2014750" y="3261255"/>
            <a:ext cx="796131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0"/>
              </a:spcBef>
              <a:buChar char="•"/>
            </a:pPr>
            <a:r>
              <a:rPr lang="zh-CN" altLang="zh-CN" sz="2400" dirty="0">
                <a:latin typeface="+mn-ea"/>
              </a:rPr>
              <a:t>如果配有</a:t>
            </a:r>
            <a:r>
              <a:rPr lang="en-US" altLang="zh-CN" sz="2400" dirty="0">
                <a:latin typeface="+mn-ea"/>
              </a:rPr>
              <a:t>MPU</a:t>
            </a:r>
            <a:r>
              <a:rPr lang="zh-CN" altLang="zh-CN" sz="2400" dirty="0">
                <a:latin typeface="+mn-ea"/>
              </a:rPr>
              <a:t>，</a:t>
            </a:r>
            <a:r>
              <a:rPr lang="en-US" altLang="zh-CN" sz="2400" dirty="0">
                <a:latin typeface="+mn-ea"/>
              </a:rPr>
              <a:t>MPU</a:t>
            </a:r>
            <a:r>
              <a:rPr lang="zh-CN" altLang="zh-CN" sz="2400" dirty="0">
                <a:latin typeface="+mn-ea"/>
              </a:rPr>
              <a:t>可以和特权机制配合，阻止用户代码</a:t>
            </a:r>
            <a:r>
              <a:rPr lang="zh-CN" altLang="zh-CN" sz="2400" dirty="0">
                <a:solidFill>
                  <a:srgbClr val="C00000"/>
                </a:solidFill>
                <a:latin typeface="+mn-ea"/>
                <a:sym typeface="Arial" pitchFamily="34" charset="0"/>
              </a:rPr>
              <a:t>访问不属于它的存储区域</a:t>
            </a:r>
            <a:r>
              <a:rPr lang="zh-CN" altLang="zh-CN" sz="2400" dirty="0">
                <a:latin typeface="+mn-ea"/>
              </a:rPr>
              <a:t>，保护关键的存储区域不被破坏。</a:t>
            </a:r>
            <a:endParaRPr lang="zh-CN" altLang="en-US" sz="2400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14DBA7-7D21-454B-8E4A-1F39A32FA5AC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微处理器的操作模式和特权级别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hdmi_130129">
            <a:extLst>
              <a:ext uri="{FF2B5EF4-FFF2-40B4-BE49-F238E27FC236}">
                <a16:creationId xmlns:a16="http://schemas.microsoft.com/office/drawing/2014/main" id="{3B8CF849-92FF-4D39-93B5-ECF1C98DBCD1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矩形 5">
            <a:extLst>
              <a:ext uri="{FF2B5EF4-FFF2-40B4-BE49-F238E27FC236}">
                <a16:creationId xmlns:a16="http://schemas.microsoft.com/office/drawing/2014/main" id="{35D10B7E-81CD-449B-B063-C8C603C94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797" y="948262"/>
            <a:ext cx="80857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特权级别的作用</a:t>
            </a:r>
          </a:p>
        </p:txBody>
      </p:sp>
    </p:spTree>
    <p:extLst>
      <p:ext uri="{BB962C8B-B14F-4D97-AF65-F5344CB8AC3E}">
        <p14:creationId xmlns:p14="http://schemas.microsoft.com/office/powerpoint/2010/main" val="241134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4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577" y="3167390"/>
            <a:ext cx="5023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42E6E0"/>
                </a:solidFill>
              </a:rPr>
              <a:t>CM3</a:t>
            </a:r>
            <a:r>
              <a:rPr lang="zh-CN" altLang="en-US" sz="2800" b="1" dirty="0">
                <a:solidFill>
                  <a:srgbClr val="42E6E0"/>
                </a:solidFill>
              </a:rPr>
              <a:t>的通用寄存器、</a:t>
            </a:r>
            <a:r>
              <a:rPr lang="en-US" altLang="zh-CN" sz="2800" b="1" dirty="0">
                <a:solidFill>
                  <a:srgbClr val="42E6E0"/>
                </a:solidFill>
              </a:rPr>
              <a:t>LR</a:t>
            </a:r>
            <a:r>
              <a:rPr lang="zh-CN" altLang="en-US" sz="2800" b="1" dirty="0">
                <a:solidFill>
                  <a:srgbClr val="42E6E0"/>
                </a:solidFill>
              </a:rPr>
              <a:t>、</a:t>
            </a:r>
            <a:r>
              <a:rPr lang="en-US" altLang="zh-CN" sz="2800" b="1" dirty="0">
                <a:solidFill>
                  <a:srgbClr val="42E6E0"/>
                </a:solidFill>
              </a:rPr>
              <a:t>PC</a:t>
            </a:r>
          </a:p>
        </p:txBody>
      </p:sp>
    </p:spTree>
    <p:extLst>
      <p:ext uri="{BB962C8B-B14F-4D97-AF65-F5344CB8AC3E}">
        <p14:creationId xmlns:p14="http://schemas.microsoft.com/office/powerpoint/2010/main" val="3453234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微处理器的通用寄存器、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LR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PC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228556" y="3023541"/>
            <a:ext cx="430368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latin typeface="+mn-ea"/>
                <a:ea typeface="+mn-ea"/>
              </a:rPr>
              <a:t>      Cortex‐M3 </a:t>
            </a:r>
            <a:r>
              <a:rPr lang="zh-CN" altLang="en-US" sz="2400" b="0" dirty="0">
                <a:latin typeface="+mn-ea"/>
                <a:ea typeface="+mn-ea"/>
              </a:rPr>
              <a:t>处理器拥有</a:t>
            </a:r>
            <a:r>
              <a:rPr lang="en-US" altLang="zh-CN" sz="2400" b="0" dirty="0">
                <a:latin typeface="+mn-ea"/>
                <a:ea typeface="+mn-ea"/>
              </a:rPr>
              <a:t>R0‐R15 </a:t>
            </a:r>
            <a:r>
              <a:rPr lang="zh-CN" altLang="en-US" sz="2400" b="0" dirty="0">
                <a:latin typeface="+mn-ea"/>
                <a:ea typeface="+mn-ea"/>
              </a:rPr>
              <a:t>的寄存器组。</a:t>
            </a:r>
          </a:p>
        </p:txBody>
      </p:sp>
      <p:pic>
        <p:nvPicPr>
          <p:cNvPr id="11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03686" y="800817"/>
            <a:ext cx="6530891" cy="5014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A49532E-C007-4C91-AC85-D22D7FD44DF7}"/>
              </a:ext>
            </a:extLst>
          </p:cNvPr>
          <p:cNvSpPr/>
          <p:nvPr/>
        </p:nvSpPr>
        <p:spPr>
          <a:xfrm>
            <a:off x="1" y="871527"/>
            <a:ext cx="380337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FF0000"/>
                </a:solidFill>
              </a:rPr>
              <a:t>Cortex‐M3 </a:t>
            </a:r>
            <a:r>
              <a:rPr lang="zh-CN" altLang="en-US" sz="2800" dirty="0">
                <a:solidFill>
                  <a:srgbClr val="FF0000"/>
                </a:solidFill>
              </a:rPr>
              <a:t>处理器的寄存器组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9544B7-3571-4609-A37C-B5499322DD04}"/>
              </a:ext>
            </a:extLst>
          </p:cNvPr>
          <p:cNvSpPr/>
          <p:nvPr/>
        </p:nvSpPr>
        <p:spPr>
          <a:xfrm>
            <a:off x="4399723" y="871527"/>
            <a:ext cx="1283693" cy="39875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A62702-80D9-413A-A51B-581511D26A75}"/>
              </a:ext>
            </a:extLst>
          </p:cNvPr>
          <p:cNvSpPr/>
          <p:nvPr/>
        </p:nvSpPr>
        <p:spPr>
          <a:xfrm>
            <a:off x="4399723" y="871528"/>
            <a:ext cx="6275366" cy="2473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FB2937-5BE4-4763-9FC6-BC7E4B061AD7}"/>
              </a:ext>
            </a:extLst>
          </p:cNvPr>
          <p:cNvSpPr/>
          <p:nvPr/>
        </p:nvSpPr>
        <p:spPr>
          <a:xfrm>
            <a:off x="4399724" y="3346687"/>
            <a:ext cx="6275365" cy="15123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1D89ED-70AE-478F-B8D2-38A3FD98D2D7}"/>
              </a:ext>
            </a:extLst>
          </p:cNvPr>
          <p:cNvSpPr/>
          <p:nvPr/>
        </p:nvSpPr>
        <p:spPr>
          <a:xfrm>
            <a:off x="4406349" y="4885186"/>
            <a:ext cx="2556416" cy="2269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FF0A77-4668-4027-831B-A41F28757389}"/>
              </a:ext>
            </a:extLst>
          </p:cNvPr>
          <p:cNvSpPr/>
          <p:nvPr/>
        </p:nvSpPr>
        <p:spPr>
          <a:xfrm>
            <a:off x="4406349" y="5200138"/>
            <a:ext cx="1244474" cy="2269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939234-A3D7-43C9-AD82-507BD9137E5D}"/>
              </a:ext>
            </a:extLst>
          </p:cNvPr>
          <p:cNvSpPr/>
          <p:nvPr/>
        </p:nvSpPr>
        <p:spPr>
          <a:xfrm>
            <a:off x="4389482" y="5488379"/>
            <a:ext cx="1278208" cy="2269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14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3" grpId="0" animBg="1"/>
      <p:bldP spid="8" grpId="0" animBg="1"/>
      <p:bldP spid="9" grpId="0" animBg="1"/>
      <p:bldP spid="12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微处理器的通用寄存器、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LR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PC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5" name="标题 1"/>
          <p:cNvSpPr txBox="1">
            <a:spLocks/>
          </p:cNvSpPr>
          <p:nvPr/>
        </p:nvSpPr>
        <p:spPr bwMode="auto">
          <a:xfrm>
            <a:off x="-2028825" y="896107"/>
            <a:ext cx="82296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en-US" altLang="zh-CN" sz="2800" kern="0" dirty="0">
                <a:solidFill>
                  <a:srgbClr val="FF0000"/>
                </a:solidFill>
                <a:latin typeface="+mn-ea"/>
                <a:ea typeface="+mn-ea"/>
              </a:rPr>
              <a:t> R14: </a:t>
            </a:r>
            <a:r>
              <a:rPr lang="zh-CN" altLang="en-US" sz="2800" kern="0" dirty="0">
                <a:solidFill>
                  <a:srgbClr val="FF0000"/>
                </a:solidFill>
                <a:latin typeface="+mn-ea"/>
                <a:ea typeface="+mn-ea"/>
              </a:rPr>
              <a:t>链接寄存器</a:t>
            </a:r>
            <a:r>
              <a:rPr lang="en-US" altLang="zh-CN" sz="2800" kern="0" dirty="0">
                <a:solidFill>
                  <a:srgbClr val="FF0000"/>
                </a:solidFill>
                <a:latin typeface="+mn-ea"/>
                <a:ea typeface="+mn-ea"/>
              </a:rPr>
              <a:t>(LR)</a:t>
            </a:r>
            <a:endParaRPr lang="zh-CN" altLang="en-US" sz="2800" kern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6" name="矩形 2"/>
          <p:cNvSpPr>
            <a:spLocks noChangeArrowheads="1"/>
          </p:cNvSpPr>
          <p:nvPr/>
        </p:nvSpPr>
        <p:spPr bwMode="auto">
          <a:xfrm>
            <a:off x="1716572" y="1856204"/>
            <a:ext cx="73866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+mn-ea"/>
                <a:ea typeface="+mn-ea"/>
              </a:rPr>
              <a:t>      </a:t>
            </a:r>
            <a:r>
              <a:rPr lang="zh-CN" altLang="zh-CN" sz="2400" b="0" dirty="0">
                <a:latin typeface="+mn-ea"/>
                <a:ea typeface="+mn-ea"/>
              </a:rPr>
              <a:t>在一个汇编程序中，可以写</a:t>
            </a:r>
            <a:r>
              <a:rPr lang="zh-CN" altLang="en-US" sz="2400" dirty="0">
                <a:latin typeface="+mn-ea"/>
                <a:ea typeface="+mn-ea"/>
              </a:rPr>
              <a:t>成</a:t>
            </a:r>
            <a:r>
              <a:rPr lang="en-US" altLang="zh-CN" sz="2400" b="0" dirty="0">
                <a:latin typeface="+mn-ea"/>
                <a:ea typeface="+mn-ea"/>
              </a:rPr>
              <a:t>LR</a:t>
            </a:r>
            <a:r>
              <a:rPr lang="zh-CN" altLang="en-US" sz="2400" b="0" dirty="0">
                <a:latin typeface="+mn-ea"/>
                <a:ea typeface="+mn-ea"/>
              </a:rPr>
              <a:t>或</a:t>
            </a:r>
            <a:r>
              <a:rPr lang="en-US" altLang="zh-CN" sz="2400" b="0" dirty="0">
                <a:latin typeface="+mn-ea"/>
                <a:ea typeface="+mn-ea"/>
              </a:rPr>
              <a:t>R14</a:t>
            </a:r>
            <a:r>
              <a:rPr lang="zh-CN" altLang="zh-CN" sz="2400" b="0" dirty="0">
                <a:latin typeface="+mn-ea"/>
                <a:ea typeface="+mn-ea"/>
              </a:rPr>
              <a:t>。</a:t>
            </a:r>
            <a:r>
              <a:rPr lang="en-US" altLang="zh-CN" sz="2400" b="0" dirty="0">
                <a:latin typeface="+mn-ea"/>
                <a:ea typeface="+mn-ea"/>
              </a:rPr>
              <a:t>LR</a:t>
            </a:r>
            <a:r>
              <a:rPr lang="zh-CN" altLang="zh-CN" sz="2400" b="0" dirty="0">
                <a:latin typeface="+mn-ea"/>
                <a:ea typeface="+mn-ea"/>
              </a:rPr>
              <a:t>用于在调用子程序时存储返回地址。</a:t>
            </a:r>
            <a:endParaRPr lang="zh-CN" altLang="en-US" sz="2400" b="0" dirty="0">
              <a:latin typeface="+mn-ea"/>
              <a:ea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ADDFBC-2AE9-464B-B8EF-FBC0826686F9}"/>
              </a:ext>
            </a:extLst>
          </p:cNvPr>
          <p:cNvSpPr/>
          <p:nvPr/>
        </p:nvSpPr>
        <p:spPr>
          <a:xfrm>
            <a:off x="4619007" y="2936098"/>
            <a:ext cx="158176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solidFill>
                  <a:srgbClr val="0000CC"/>
                </a:solidFill>
                <a:latin typeface="+mn-ea"/>
              </a:rPr>
              <a:t>BX  LR</a:t>
            </a:r>
          </a:p>
          <a:p>
            <a:pPr>
              <a:spcBef>
                <a:spcPct val="0"/>
              </a:spcBef>
            </a:pPr>
            <a:r>
              <a:rPr lang="en-US" altLang="zh-CN" sz="2400" dirty="0">
                <a:solidFill>
                  <a:srgbClr val="0000CC"/>
                </a:solidFill>
                <a:latin typeface="+mn-ea"/>
              </a:rPr>
              <a:t>BX  R14 </a:t>
            </a:r>
            <a:endParaRPr lang="zh-CN" altLang="en-US" sz="240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9" name="矩形 5">
            <a:extLst>
              <a:ext uri="{FF2B5EF4-FFF2-40B4-BE49-F238E27FC236}">
                <a16:creationId xmlns:a16="http://schemas.microsoft.com/office/drawing/2014/main" id="{A44E755F-293C-48F4-B5E9-E21258ED2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007" y="3838267"/>
            <a:ext cx="4572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PUSH {R0-R3, </a:t>
            </a:r>
            <a:r>
              <a:rPr lang="en-US" altLang="zh-C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LR</a:t>
            </a:r>
            <a:r>
              <a:rPr lang="en-US" altLang="zh-CN" sz="2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POP {R0-R3, </a:t>
            </a:r>
            <a:r>
              <a:rPr lang="en-US" altLang="zh-C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R14</a:t>
            </a:r>
            <a:r>
              <a:rPr lang="en-US" altLang="zh-CN" sz="2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}</a:t>
            </a:r>
            <a:endParaRPr lang="zh-CN" altLang="en-US" sz="2400" dirty="0">
              <a:solidFill>
                <a:schemeClr val="accent1">
                  <a:lumMod val="60000"/>
                  <a:lumOff val="4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3C6B6C-8F89-49D4-BE85-340DCDD0174D}"/>
              </a:ext>
            </a:extLst>
          </p:cNvPr>
          <p:cNvSpPr/>
          <p:nvPr/>
        </p:nvSpPr>
        <p:spPr>
          <a:xfrm>
            <a:off x="5181564" y="2935655"/>
            <a:ext cx="5437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LR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F91FBB-B09A-46B4-9E82-A77970FDB249}"/>
              </a:ext>
            </a:extLst>
          </p:cNvPr>
          <p:cNvSpPr/>
          <p:nvPr/>
        </p:nvSpPr>
        <p:spPr>
          <a:xfrm>
            <a:off x="5181564" y="3305368"/>
            <a:ext cx="747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R14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4A217B-BD15-42F0-9EEC-AF52C2F0E49C}"/>
              </a:ext>
            </a:extLst>
          </p:cNvPr>
          <p:cNvSpPr/>
          <p:nvPr/>
        </p:nvSpPr>
        <p:spPr>
          <a:xfrm>
            <a:off x="6687567" y="3837961"/>
            <a:ext cx="5437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LR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EEBC1F-0AC3-444E-9190-65A42ECC847F}"/>
              </a:ext>
            </a:extLst>
          </p:cNvPr>
          <p:cNvSpPr/>
          <p:nvPr/>
        </p:nvSpPr>
        <p:spPr>
          <a:xfrm>
            <a:off x="6483986" y="4207599"/>
            <a:ext cx="747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R14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84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微处理器的通用寄存器、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LR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PC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Rectangle 44"/>
          <p:cNvSpPr>
            <a:spLocks noChangeArrowheads="1"/>
          </p:cNvSpPr>
          <p:nvPr/>
        </p:nvSpPr>
        <p:spPr bwMode="auto">
          <a:xfrm>
            <a:off x="-1352759" y="1111006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marL="457200" indent="-457200" algn="ctr"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R14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寄存器与子程序调用</a:t>
            </a:r>
          </a:p>
        </p:txBody>
      </p:sp>
      <p:grpSp>
        <p:nvGrpSpPr>
          <p:cNvPr id="13" name="Group 48"/>
          <p:cNvGrpSpPr>
            <a:grpSpLocks/>
          </p:cNvGrpSpPr>
          <p:nvPr/>
        </p:nvGrpSpPr>
        <p:grpSpPr bwMode="auto">
          <a:xfrm>
            <a:off x="3411329" y="2312988"/>
            <a:ext cx="5181600" cy="2819400"/>
            <a:chOff x="2400" y="1776"/>
            <a:chExt cx="3264" cy="1776"/>
          </a:xfrm>
        </p:grpSpPr>
        <p:grpSp>
          <p:nvGrpSpPr>
            <p:cNvPr id="14" name="Group 49"/>
            <p:cNvGrpSpPr>
              <a:grpSpLocks/>
            </p:cNvGrpSpPr>
            <p:nvPr/>
          </p:nvGrpSpPr>
          <p:grpSpPr bwMode="auto">
            <a:xfrm>
              <a:off x="2400" y="1776"/>
              <a:ext cx="3264" cy="1776"/>
              <a:chOff x="2400" y="1776"/>
              <a:chExt cx="3264" cy="1776"/>
            </a:xfrm>
          </p:grpSpPr>
          <p:sp>
            <p:nvSpPr>
              <p:cNvPr id="16" name="Text Box 50"/>
              <p:cNvSpPr txBox="1">
                <a:spLocks noChangeArrowheads="1"/>
              </p:cNvSpPr>
              <p:nvPr/>
            </p:nvSpPr>
            <p:spPr bwMode="auto">
              <a:xfrm>
                <a:off x="4176" y="2064"/>
                <a:ext cx="57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imes New Roman" pitchFamily="18" charset="0"/>
                  </a:rPr>
                  <a:t>Lable</a:t>
                </a:r>
              </a:p>
            </p:txBody>
          </p:sp>
          <p:sp>
            <p:nvSpPr>
              <p:cNvPr id="17" name="Rectangle 51"/>
              <p:cNvSpPr>
                <a:spLocks noChangeArrowheads="1"/>
              </p:cNvSpPr>
              <p:nvPr/>
            </p:nvSpPr>
            <p:spPr bwMode="auto">
              <a:xfrm>
                <a:off x="2928" y="2112"/>
                <a:ext cx="960" cy="100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8" name="Rectangle 52"/>
              <p:cNvSpPr>
                <a:spLocks noChangeArrowheads="1"/>
              </p:cNvSpPr>
              <p:nvPr/>
            </p:nvSpPr>
            <p:spPr bwMode="auto">
              <a:xfrm>
                <a:off x="4608" y="2112"/>
                <a:ext cx="960" cy="100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zh-CN" sz="2800">
                  <a:latin typeface="Courier New" pitchFamily="49" charset="0"/>
                </a:endParaRPr>
              </a:p>
            </p:txBody>
          </p:sp>
          <p:sp>
            <p:nvSpPr>
              <p:cNvPr id="19" name="Text Box 53"/>
              <p:cNvSpPr txBox="1">
                <a:spLocks noChangeArrowheads="1"/>
              </p:cNvSpPr>
              <p:nvPr/>
            </p:nvSpPr>
            <p:spPr bwMode="auto">
              <a:xfrm>
                <a:off x="3072" y="1920"/>
                <a:ext cx="67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Times New Roman" pitchFamily="18" charset="0"/>
                  </a:rPr>
                  <a:t>程序</a:t>
                </a:r>
                <a:r>
                  <a:rPr lang="en-US" altLang="zh-CN" sz="18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20" name="Text Box 54"/>
              <p:cNvSpPr txBox="1">
                <a:spLocks noChangeArrowheads="1"/>
              </p:cNvSpPr>
              <p:nvPr/>
            </p:nvSpPr>
            <p:spPr bwMode="auto">
              <a:xfrm>
                <a:off x="4800" y="1920"/>
                <a:ext cx="67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pitchFamily="49" charset="0"/>
                  </a:rPr>
                  <a:t>程序</a:t>
                </a:r>
                <a:r>
                  <a:rPr lang="en-US" altLang="zh-CN" sz="1800">
                    <a:latin typeface="Courier New" pitchFamily="49" charset="0"/>
                  </a:rPr>
                  <a:t>B</a:t>
                </a:r>
              </a:p>
            </p:txBody>
          </p:sp>
          <p:sp>
            <p:nvSpPr>
              <p:cNvPr id="21" name="Rectangle 55"/>
              <p:cNvSpPr>
                <a:spLocks noChangeArrowheads="1"/>
              </p:cNvSpPr>
              <p:nvPr/>
            </p:nvSpPr>
            <p:spPr bwMode="auto">
              <a:xfrm>
                <a:off x="2400" y="1776"/>
                <a:ext cx="3264" cy="177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sym typeface="Arial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</p:grpSp>
        <p:sp>
          <p:nvSpPr>
            <p:cNvPr id="15" name="Rectangle 56"/>
            <p:cNvSpPr>
              <a:spLocks noChangeArrowheads="1"/>
            </p:cNvSpPr>
            <p:nvPr/>
          </p:nvSpPr>
          <p:spPr bwMode="auto">
            <a:xfrm>
              <a:off x="3744" y="3264"/>
              <a:ext cx="1104" cy="1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itchFamily="49" charset="0"/>
                </a:rPr>
                <a:t>R14</a:t>
              </a:r>
            </a:p>
          </p:txBody>
        </p:sp>
      </p:grpSp>
      <p:sp>
        <p:nvSpPr>
          <p:cNvPr id="22" name="AutoShape 57"/>
          <p:cNvSpPr>
            <a:spLocks noChangeArrowheads="1"/>
          </p:cNvSpPr>
          <p:nvPr/>
        </p:nvSpPr>
        <p:spPr bwMode="auto">
          <a:xfrm>
            <a:off x="4832141" y="2900363"/>
            <a:ext cx="304800" cy="533400"/>
          </a:xfrm>
          <a:prstGeom prst="downArrow">
            <a:avLst>
              <a:gd name="adj1" fmla="val 50000"/>
              <a:gd name="adj2" fmla="val 4375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23" name="Group 58"/>
          <p:cNvGrpSpPr>
            <a:grpSpLocks/>
          </p:cNvGrpSpPr>
          <p:nvPr/>
        </p:nvGrpSpPr>
        <p:grpSpPr bwMode="auto">
          <a:xfrm>
            <a:off x="3552616" y="3475038"/>
            <a:ext cx="2209800" cy="641350"/>
            <a:chOff x="2496" y="2544"/>
            <a:chExt cx="1392" cy="404"/>
          </a:xfrm>
        </p:grpSpPr>
        <p:sp>
          <p:nvSpPr>
            <p:cNvPr id="24" name="Rectangle 59"/>
            <p:cNvSpPr>
              <a:spLocks noChangeArrowheads="1"/>
            </p:cNvSpPr>
            <p:nvPr/>
          </p:nvSpPr>
          <p:spPr bwMode="auto">
            <a:xfrm>
              <a:off x="2928" y="2544"/>
              <a:ext cx="960" cy="1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itchFamily="49" charset="0"/>
                </a:rPr>
                <a:t>BL   Lable</a:t>
              </a:r>
            </a:p>
          </p:txBody>
        </p:sp>
        <p:sp>
          <p:nvSpPr>
            <p:cNvPr id="25" name="Text Box 60"/>
            <p:cNvSpPr txBox="1">
              <a:spLocks noChangeArrowheads="1"/>
            </p:cNvSpPr>
            <p:nvPr/>
          </p:nvSpPr>
          <p:spPr bwMode="auto">
            <a:xfrm>
              <a:off x="2496" y="2736"/>
              <a:ext cx="57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600">
                  <a:latin typeface="Times New Roman" pitchFamily="18" charset="0"/>
                </a:rPr>
                <a:t>地址</a:t>
              </a:r>
              <a:r>
                <a:rPr lang="en-US" altLang="zh-CN" sz="16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6" name="Rectangle 61"/>
            <p:cNvSpPr>
              <a:spLocks noChangeArrowheads="1"/>
            </p:cNvSpPr>
            <p:nvPr/>
          </p:nvSpPr>
          <p:spPr bwMode="auto">
            <a:xfrm>
              <a:off x="2928" y="2736"/>
              <a:ext cx="960" cy="1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itchFamily="49" charset="0"/>
                </a:rPr>
                <a:t>???</a:t>
              </a:r>
            </a:p>
          </p:txBody>
        </p:sp>
      </p:grpSp>
      <p:sp>
        <p:nvSpPr>
          <p:cNvPr id="27" name="AutoShape 62"/>
          <p:cNvSpPr>
            <a:spLocks noChangeArrowheads="1"/>
          </p:cNvSpPr>
          <p:nvPr/>
        </p:nvSpPr>
        <p:spPr bwMode="auto">
          <a:xfrm>
            <a:off x="4848016" y="4124325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28" name="Group 75"/>
          <p:cNvGrpSpPr>
            <a:grpSpLocks/>
          </p:cNvGrpSpPr>
          <p:nvPr/>
        </p:nvGrpSpPr>
        <p:grpSpPr bwMode="auto">
          <a:xfrm>
            <a:off x="6216441" y="2755900"/>
            <a:ext cx="2232025" cy="357188"/>
            <a:chOff x="4014" y="1404"/>
            <a:chExt cx="1406" cy="225"/>
          </a:xfrm>
        </p:grpSpPr>
        <p:sp>
          <p:nvSpPr>
            <p:cNvPr id="29" name="Text Box 65"/>
            <p:cNvSpPr txBox="1">
              <a:spLocks noChangeArrowheads="1"/>
            </p:cNvSpPr>
            <p:nvPr/>
          </p:nvSpPr>
          <p:spPr bwMode="auto">
            <a:xfrm>
              <a:off x="4014" y="1404"/>
              <a:ext cx="485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</a:rPr>
                <a:t>Lable</a:t>
              </a:r>
            </a:p>
          </p:txBody>
        </p:sp>
        <p:sp>
          <p:nvSpPr>
            <p:cNvPr id="30" name="Rectangle 66"/>
            <p:cNvSpPr>
              <a:spLocks noChangeArrowheads="1"/>
            </p:cNvSpPr>
            <p:nvPr/>
          </p:nvSpPr>
          <p:spPr bwMode="auto">
            <a:xfrm>
              <a:off x="4450" y="1437"/>
              <a:ext cx="970" cy="1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sym typeface="Arial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itchFamily="49" charset="0"/>
                </a:rPr>
                <a:t>???</a:t>
              </a:r>
            </a:p>
          </p:txBody>
        </p:sp>
      </p:grpSp>
      <p:sp>
        <p:nvSpPr>
          <p:cNvPr id="31" name="AutoShape 67"/>
          <p:cNvSpPr>
            <a:spLocks noChangeArrowheads="1"/>
          </p:cNvSpPr>
          <p:nvPr/>
        </p:nvSpPr>
        <p:spPr bwMode="auto">
          <a:xfrm>
            <a:off x="7511841" y="3187700"/>
            <a:ext cx="304800" cy="762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32" name="Rectangle 68"/>
          <p:cNvSpPr>
            <a:spLocks noChangeArrowheads="1"/>
          </p:cNvSpPr>
          <p:nvPr/>
        </p:nvSpPr>
        <p:spPr bwMode="auto">
          <a:xfrm>
            <a:off x="6924466" y="4051300"/>
            <a:ext cx="1524000" cy="381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itchFamily="49" charset="0"/>
              </a:rPr>
              <a:t>MOV  PC,LR</a:t>
            </a:r>
          </a:p>
        </p:txBody>
      </p:sp>
      <p:sp>
        <p:nvSpPr>
          <p:cNvPr id="33" name="Rectangle 69"/>
          <p:cNvSpPr>
            <a:spLocks noChangeArrowheads="1"/>
          </p:cNvSpPr>
          <p:nvPr/>
        </p:nvSpPr>
        <p:spPr bwMode="auto">
          <a:xfrm>
            <a:off x="5543341" y="4683125"/>
            <a:ext cx="17526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Courier New" pitchFamily="49" charset="0"/>
              </a:rPr>
              <a:t>R14(</a:t>
            </a:r>
            <a:r>
              <a:rPr lang="zh-CN" altLang="en-US" sz="1800">
                <a:solidFill>
                  <a:srgbClr val="FF0000"/>
                </a:solidFill>
                <a:latin typeface="Courier New" pitchFamily="49" charset="0"/>
              </a:rPr>
              <a:t>地址</a:t>
            </a:r>
            <a:r>
              <a:rPr lang="en-US" altLang="zh-CN" sz="2000">
                <a:solidFill>
                  <a:srgbClr val="FF0000"/>
                </a:solidFill>
                <a:latin typeface="Courier New" pitchFamily="49" charset="0"/>
              </a:rPr>
              <a:t>A)</a:t>
            </a:r>
          </a:p>
        </p:txBody>
      </p:sp>
      <p:sp>
        <p:nvSpPr>
          <p:cNvPr id="34" name="Line 70"/>
          <p:cNvSpPr>
            <a:spLocks noChangeShapeType="1"/>
          </p:cNvSpPr>
          <p:nvPr/>
        </p:nvSpPr>
        <p:spPr bwMode="auto">
          <a:xfrm flipV="1">
            <a:off x="5711616" y="2971800"/>
            <a:ext cx="13716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71"/>
          <p:cNvSpPr>
            <a:spLocks noChangeShapeType="1"/>
          </p:cNvSpPr>
          <p:nvPr/>
        </p:nvSpPr>
        <p:spPr bwMode="auto">
          <a:xfrm flipH="1" flipV="1">
            <a:off x="5713204" y="3962400"/>
            <a:ext cx="129540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72"/>
          <p:cNvSpPr>
            <a:spLocks/>
          </p:cNvSpPr>
          <p:nvPr/>
        </p:nvSpPr>
        <p:spPr bwMode="auto">
          <a:xfrm>
            <a:off x="7368966" y="4340225"/>
            <a:ext cx="762000" cy="457200"/>
          </a:xfrm>
          <a:custGeom>
            <a:avLst/>
            <a:gdLst>
              <a:gd name="T0" fmla="*/ 0 w 480"/>
              <a:gd name="T1" fmla="*/ 2147483647 h 288"/>
              <a:gd name="T2" fmla="*/ 2147483647 w 480"/>
              <a:gd name="T3" fmla="*/ 2147483647 h 288"/>
              <a:gd name="T4" fmla="*/ 2147483647 w 480"/>
              <a:gd name="T5" fmla="*/ 0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80" h="288">
                <a:moveTo>
                  <a:pt x="0" y="288"/>
                </a:moveTo>
                <a:cubicBezTo>
                  <a:pt x="152" y="288"/>
                  <a:pt x="304" y="288"/>
                  <a:pt x="384" y="240"/>
                </a:cubicBezTo>
                <a:cubicBezTo>
                  <a:pt x="464" y="192"/>
                  <a:pt x="464" y="24"/>
                  <a:pt x="480" y="0"/>
                </a:cubicBezTo>
              </a:path>
            </a:pathLst>
          </a:custGeom>
          <a:noFill/>
          <a:ln w="28575" cap="flat" cmpd="sng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73"/>
          <p:cNvSpPr>
            <a:spLocks/>
          </p:cNvSpPr>
          <p:nvPr/>
        </p:nvSpPr>
        <p:spPr bwMode="auto">
          <a:xfrm>
            <a:off x="3768516" y="4124325"/>
            <a:ext cx="1727200" cy="685800"/>
          </a:xfrm>
          <a:custGeom>
            <a:avLst/>
            <a:gdLst>
              <a:gd name="T0" fmla="*/ 2147483647 w 1088"/>
              <a:gd name="T1" fmla="*/ 0 h 432"/>
              <a:gd name="T2" fmla="*/ 2147483647 w 1088"/>
              <a:gd name="T3" fmla="*/ 2147483647 h 432"/>
              <a:gd name="T4" fmla="*/ 2147483647 w 1088"/>
              <a:gd name="T5" fmla="*/ 2147483647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88" h="432">
                <a:moveTo>
                  <a:pt x="32" y="0"/>
                </a:moveTo>
                <a:cubicBezTo>
                  <a:pt x="16" y="108"/>
                  <a:pt x="0" y="216"/>
                  <a:pt x="176" y="288"/>
                </a:cubicBezTo>
                <a:cubicBezTo>
                  <a:pt x="352" y="360"/>
                  <a:pt x="720" y="396"/>
                  <a:pt x="1088" y="432"/>
                </a:cubicBezTo>
              </a:path>
            </a:pathLst>
          </a:custGeom>
          <a:noFill/>
          <a:ln w="28575" cap="flat" cmpd="sng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Oval 74"/>
          <p:cNvSpPr>
            <a:spLocks noChangeArrowheads="1"/>
          </p:cNvSpPr>
          <p:nvPr/>
        </p:nvSpPr>
        <p:spPr bwMode="auto">
          <a:xfrm>
            <a:off x="3552616" y="3692525"/>
            <a:ext cx="6858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114002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7" grpId="0" animBg="1"/>
      <p:bldP spid="31" grpId="0" animBg="1"/>
      <p:bldP spid="32" grpId="0" animBg="1" autoUpdateAnimBg="0"/>
      <p:bldP spid="33" grpId="0" animBg="1" autoUpdateAnimBg="0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微处理器的通用寄存器、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LR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PC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矩形 10"/>
          <p:cNvSpPr>
            <a:spLocks noChangeArrowheads="1"/>
          </p:cNvSpPr>
          <p:nvPr/>
        </p:nvSpPr>
        <p:spPr bwMode="auto">
          <a:xfrm>
            <a:off x="2133601" y="2032286"/>
            <a:ext cx="8229600" cy="12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lnSpc>
                <a:spcPts val="3200"/>
              </a:lnSpc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+mn-ea"/>
                <a:ea typeface="+mn-ea"/>
              </a:rPr>
              <a:t>ARM </a:t>
            </a:r>
            <a:r>
              <a:rPr lang="zh-CN" altLang="en-US" sz="2400" b="0" dirty="0">
                <a:latin typeface="+mn-ea"/>
                <a:ea typeface="+mn-ea"/>
              </a:rPr>
              <a:t>为了减少访问内存的次数，把返回地址直接存储在寄存器</a:t>
            </a:r>
            <a:r>
              <a:rPr lang="en-US" altLang="zh-CN" sz="2400" b="0" dirty="0">
                <a:latin typeface="+mn-ea"/>
                <a:ea typeface="+mn-ea"/>
              </a:rPr>
              <a:t>LR</a:t>
            </a:r>
            <a:r>
              <a:rPr lang="zh-CN" altLang="en-US" sz="2400" b="0" dirty="0">
                <a:latin typeface="+mn-ea"/>
                <a:ea typeface="+mn-ea"/>
              </a:rPr>
              <a:t>中。</a:t>
            </a:r>
            <a:r>
              <a:rPr lang="zh-CN" altLang="en-US" sz="2400" dirty="0">
                <a:latin typeface="+mn-ea"/>
                <a:ea typeface="+mn-ea"/>
              </a:rPr>
              <a:t>这样可以使很多只有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1 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级子程序调用的代码无需访问内存</a:t>
            </a:r>
            <a:r>
              <a:rPr lang="zh-CN" altLang="en-US" sz="2400" dirty="0">
                <a:latin typeface="+mn-ea"/>
                <a:ea typeface="+mn-ea"/>
              </a:rPr>
              <a:t>（堆栈内存），从而提高了子程序调用的效率。</a:t>
            </a:r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-1727451" y="937506"/>
            <a:ext cx="82296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en-US" altLang="zh-CN" sz="2800" kern="0" dirty="0">
                <a:solidFill>
                  <a:srgbClr val="FF0000"/>
                </a:solidFill>
                <a:latin typeface="+mn-ea"/>
                <a:ea typeface="+mn-ea"/>
              </a:rPr>
              <a:t> R14: </a:t>
            </a:r>
            <a:r>
              <a:rPr lang="zh-CN" altLang="en-US" sz="2800" kern="0" dirty="0">
                <a:solidFill>
                  <a:srgbClr val="FF0000"/>
                </a:solidFill>
                <a:latin typeface="+mn-ea"/>
                <a:ea typeface="+mn-ea"/>
              </a:rPr>
              <a:t>连接寄存器</a:t>
            </a:r>
            <a:r>
              <a:rPr lang="en-US" altLang="zh-CN" sz="2800" kern="0" dirty="0">
                <a:solidFill>
                  <a:srgbClr val="FF0000"/>
                </a:solidFill>
                <a:latin typeface="+mn-ea"/>
                <a:ea typeface="+mn-ea"/>
              </a:rPr>
              <a:t>(LR)</a:t>
            </a:r>
            <a:endParaRPr lang="zh-CN" altLang="en-US" sz="2800" kern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073C61-F582-4FC3-B36B-1553F9482493}"/>
              </a:ext>
            </a:extLst>
          </p:cNvPr>
          <p:cNvSpPr/>
          <p:nvPr/>
        </p:nvSpPr>
        <p:spPr>
          <a:xfrm>
            <a:off x="2133601" y="3506762"/>
            <a:ext cx="8229600" cy="883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Bef>
                <a:spcPct val="0"/>
              </a:spcBef>
            </a:pPr>
            <a:r>
              <a:rPr lang="zh-CN" altLang="en-US" sz="2400" dirty="0">
                <a:latin typeface="+mn-ea"/>
              </a:rPr>
              <a:t>如果子程序调用多于</a:t>
            </a:r>
            <a:r>
              <a:rPr lang="en-US" altLang="zh-CN" sz="2400" dirty="0">
                <a:latin typeface="+mn-ea"/>
              </a:rPr>
              <a:t>1 </a:t>
            </a:r>
            <a:r>
              <a:rPr lang="zh-CN" altLang="en-US" sz="2400" dirty="0">
                <a:latin typeface="+mn-ea"/>
              </a:rPr>
              <a:t>级，则需要把前一级的</a:t>
            </a:r>
            <a:r>
              <a:rPr lang="en-US" altLang="zh-CN" sz="2400" dirty="0">
                <a:latin typeface="+mn-ea"/>
              </a:rPr>
              <a:t>R14 </a:t>
            </a:r>
            <a:r>
              <a:rPr lang="zh-CN" altLang="en-US" sz="2400" dirty="0">
                <a:latin typeface="+mn-ea"/>
              </a:rPr>
              <a:t>值压到堆栈里。</a:t>
            </a:r>
          </a:p>
        </p:txBody>
      </p:sp>
    </p:spTree>
    <p:extLst>
      <p:ext uri="{BB962C8B-B14F-4D97-AF65-F5344CB8AC3E}">
        <p14:creationId xmlns:p14="http://schemas.microsoft.com/office/powerpoint/2010/main" val="395715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微处理器的通用寄存器、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LR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PC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842066" y="1800225"/>
            <a:ext cx="81803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在进入异常服务程序后，</a:t>
            </a:r>
            <a:r>
              <a:rPr lang="en-US" altLang="zh-CN" sz="2400" b="0" dirty="0">
                <a:latin typeface="+mn-ea"/>
                <a:ea typeface="+mn-ea"/>
              </a:rPr>
              <a:t>LR</a:t>
            </a:r>
            <a:r>
              <a:rPr lang="zh-CN" altLang="en-US" sz="2400" b="0" dirty="0">
                <a:latin typeface="+mn-ea"/>
                <a:ea typeface="+mn-ea"/>
              </a:rPr>
              <a:t>的值被自动更新为特殊的</a:t>
            </a:r>
            <a:r>
              <a:rPr lang="en-US" altLang="zh-CN" sz="2400" b="0" dirty="0">
                <a:solidFill>
                  <a:srgbClr val="FF0000"/>
                </a:solidFill>
                <a:latin typeface="+mn-ea"/>
                <a:ea typeface="+mn-ea"/>
              </a:rPr>
              <a:t>EXC_RETURN</a:t>
            </a:r>
            <a:r>
              <a:rPr lang="zh-CN" altLang="en-US" sz="2400" b="0" dirty="0">
                <a:latin typeface="+mn-ea"/>
                <a:ea typeface="+mn-ea"/>
              </a:rPr>
              <a:t>。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135377-454D-4007-A91B-F7BCCB9A745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341096" y="3033130"/>
          <a:ext cx="7182326" cy="29298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8524">
                  <a:extLst>
                    <a:ext uri="{9D8B030D-6E8A-4147-A177-3AD203B41FA5}">
                      <a16:colId xmlns:a16="http://schemas.microsoft.com/office/drawing/2014/main" val="2187381523"/>
                    </a:ext>
                  </a:extLst>
                </a:gridCol>
                <a:gridCol w="5503802">
                  <a:extLst>
                    <a:ext uri="{9D8B030D-6E8A-4147-A177-3AD203B41FA5}">
                      <a16:colId xmlns:a16="http://schemas.microsoft.com/office/drawing/2014/main" val="1638588015"/>
                    </a:ext>
                  </a:extLst>
                </a:gridCol>
              </a:tblGrid>
              <a:tr h="3255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位段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含义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8330545"/>
                  </a:ext>
                </a:extLst>
              </a:tr>
              <a:tr h="3255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[31:4]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EXC_RETURN</a:t>
                      </a:r>
                      <a:r>
                        <a:rPr lang="zh-CN" sz="2000" kern="0" dirty="0">
                          <a:effectLst/>
                        </a:rPr>
                        <a:t>的标识：必须全为</a:t>
                      </a:r>
                      <a:r>
                        <a:rPr lang="en-US" sz="2000" kern="0" dirty="0">
                          <a:effectLst/>
                        </a:rPr>
                        <a:t>1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2881053"/>
                  </a:ext>
                </a:extLst>
              </a:tr>
              <a:tr h="6510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3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0=</a:t>
                      </a:r>
                      <a:r>
                        <a:rPr lang="zh-CN" sz="2000" kern="0" dirty="0">
                          <a:effectLst/>
                        </a:rPr>
                        <a:t>返回后进入</a:t>
                      </a:r>
                      <a:r>
                        <a:rPr lang="en-US" sz="2000" kern="0" dirty="0">
                          <a:effectLst/>
                        </a:rPr>
                        <a:t>Handler</a:t>
                      </a:r>
                      <a:r>
                        <a:rPr lang="zh-CN" sz="2000" kern="0" dirty="0">
                          <a:effectLst/>
                        </a:rPr>
                        <a:t>模式</a:t>
                      </a:r>
                      <a:endParaRPr lang="zh-CN" sz="20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1=</a:t>
                      </a:r>
                      <a:r>
                        <a:rPr lang="zh-CN" sz="2000" kern="0" dirty="0">
                          <a:effectLst/>
                        </a:rPr>
                        <a:t>返回后进入线程模式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7923575"/>
                  </a:ext>
                </a:extLst>
              </a:tr>
              <a:tr h="6510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2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0=</a:t>
                      </a:r>
                      <a:r>
                        <a:rPr lang="zh-CN" sz="2000" kern="0" dirty="0">
                          <a:effectLst/>
                        </a:rPr>
                        <a:t>从主堆栈中做出栈操作，返回后使用</a:t>
                      </a:r>
                      <a:r>
                        <a:rPr lang="en-US" sz="2000" kern="0" dirty="0">
                          <a:effectLst/>
                        </a:rPr>
                        <a:t>MSP</a:t>
                      </a:r>
                      <a:endParaRPr lang="zh-CN" sz="20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1=</a:t>
                      </a:r>
                      <a:r>
                        <a:rPr lang="zh-CN" sz="2000" kern="0" dirty="0">
                          <a:effectLst/>
                        </a:rPr>
                        <a:t>从进程堆栈中做出栈操作，返回后使用</a:t>
                      </a:r>
                      <a:r>
                        <a:rPr lang="en-US" sz="2000" kern="0" dirty="0">
                          <a:effectLst/>
                        </a:rPr>
                        <a:t>PSP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628976"/>
                  </a:ext>
                </a:extLst>
              </a:tr>
              <a:tr h="3255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保留，必须为</a:t>
                      </a:r>
                      <a:r>
                        <a:rPr lang="en-US" sz="2000" kern="0" dirty="0">
                          <a:effectLst/>
                        </a:rPr>
                        <a:t>0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1072169"/>
                  </a:ext>
                </a:extLst>
              </a:tr>
              <a:tr h="6510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0=</a:t>
                      </a:r>
                      <a:r>
                        <a:rPr lang="zh-CN" sz="2000" kern="0" dirty="0">
                          <a:effectLst/>
                        </a:rPr>
                        <a:t>返回</a:t>
                      </a:r>
                      <a:r>
                        <a:rPr lang="en-US" sz="2000" kern="0" dirty="0">
                          <a:effectLst/>
                        </a:rPr>
                        <a:t>ARM</a:t>
                      </a:r>
                      <a:r>
                        <a:rPr lang="zh-CN" sz="2000" kern="0" dirty="0">
                          <a:effectLst/>
                        </a:rPr>
                        <a:t>状态</a:t>
                      </a:r>
                      <a:endParaRPr lang="zh-CN" sz="20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1=</a:t>
                      </a:r>
                      <a:r>
                        <a:rPr lang="zh-CN" sz="2000" kern="0" dirty="0">
                          <a:effectLst/>
                        </a:rPr>
                        <a:t>返回</a:t>
                      </a:r>
                      <a:r>
                        <a:rPr lang="en-US" sz="2000" kern="0" dirty="0">
                          <a:effectLst/>
                        </a:rPr>
                        <a:t>Thumb</a:t>
                      </a:r>
                      <a:r>
                        <a:rPr lang="zh-CN" sz="2000" kern="0" dirty="0">
                          <a:effectLst/>
                        </a:rPr>
                        <a:t>状态。在</a:t>
                      </a:r>
                      <a:r>
                        <a:rPr lang="en-US" sz="2000" kern="0" dirty="0">
                          <a:effectLst/>
                        </a:rPr>
                        <a:t>CM3</a:t>
                      </a:r>
                      <a:r>
                        <a:rPr lang="zh-CN" sz="2000" kern="0" dirty="0">
                          <a:effectLst/>
                        </a:rPr>
                        <a:t>中必须为</a:t>
                      </a:r>
                      <a:r>
                        <a:rPr lang="en-US" sz="2000" kern="0" dirty="0">
                          <a:effectLst/>
                        </a:rPr>
                        <a:t>1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8197348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7254B446-44F0-41BF-90E5-B4E09B120B52}"/>
              </a:ext>
            </a:extLst>
          </p:cNvPr>
          <p:cNvSpPr/>
          <p:nvPr/>
        </p:nvSpPr>
        <p:spPr>
          <a:xfrm>
            <a:off x="2341096" y="3348231"/>
            <a:ext cx="7182326" cy="3345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695061-18BE-4F8A-86B6-AE651CDA76AD}"/>
              </a:ext>
            </a:extLst>
          </p:cNvPr>
          <p:cNvSpPr/>
          <p:nvPr/>
        </p:nvSpPr>
        <p:spPr>
          <a:xfrm>
            <a:off x="2341096" y="3682819"/>
            <a:ext cx="7182326" cy="22801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38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微处理器的通用寄存器、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LR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PC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313898" y="1105468"/>
            <a:ext cx="82296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u"/>
              <a:defRPr/>
            </a:pPr>
            <a:r>
              <a:rPr lang="en-US" altLang="zh-CN" sz="2800" kern="0" dirty="0">
                <a:solidFill>
                  <a:srgbClr val="FF0000"/>
                </a:solidFill>
                <a:latin typeface="+mn-ea"/>
                <a:ea typeface="+mn-ea"/>
              </a:rPr>
              <a:t> R15:</a:t>
            </a:r>
            <a:r>
              <a:rPr lang="zh-CN" altLang="zh-CN" sz="2800" kern="0" dirty="0">
                <a:solidFill>
                  <a:srgbClr val="FF0000"/>
                </a:solidFill>
                <a:latin typeface="+mn-ea"/>
                <a:ea typeface="+mn-ea"/>
              </a:rPr>
              <a:t>程序计数器</a:t>
            </a:r>
            <a:r>
              <a:rPr lang="en-US" altLang="zh-CN" sz="2800" kern="0" dirty="0">
                <a:solidFill>
                  <a:srgbClr val="FF0000"/>
                </a:solidFill>
                <a:latin typeface="+mn-ea"/>
                <a:ea typeface="+mn-ea"/>
              </a:rPr>
              <a:t>R15</a:t>
            </a:r>
            <a:endParaRPr lang="zh-CN" altLang="en-US" sz="2800" kern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941832" y="2169922"/>
            <a:ext cx="9957816" cy="1381125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zh-CN" sz="2400" dirty="0"/>
              <a:t>        R15 </a:t>
            </a:r>
            <a:r>
              <a:rPr lang="zh-CN" altLang="zh-CN" sz="2400" dirty="0"/>
              <a:t>是程序计数器，在汇编代码中也可以使用名字“</a:t>
            </a:r>
            <a:r>
              <a:rPr lang="en-US" altLang="zh-CN" sz="2400" dirty="0"/>
              <a:t>PC</a:t>
            </a:r>
            <a:r>
              <a:rPr lang="zh-CN" altLang="zh-CN" sz="2400" dirty="0"/>
              <a:t>”来访问它。因为</a:t>
            </a:r>
            <a:r>
              <a:rPr lang="en-US" altLang="zh-CN" sz="2400" dirty="0"/>
              <a:t>CM3 </a:t>
            </a:r>
            <a:r>
              <a:rPr lang="zh-CN" altLang="zh-CN" sz="2400" dirty="0"/>
              <a:t>内部使用了指令流水线，读</a:t>
            </a:r>
            <a:r>
              <a:rPr lang="en-US" altLang="zh-CN" sz="2400" dirty="0"/>
              <a:t>PC </a:t>
            </a:r>
            <a:r>
              <a:rPr lang="zh-CN" altLang="zh-CN" sz="2400" dirty="0"/>
              <a:t>时返回的值是当前</a:t>
            </a:r>
            <a:r>
              <a:rPr lang="zh-CN" altLang="en-US" sz="2400" dirty="0"/>
              <a:t>正执行的</a:t>
            </a:r>
            <a:r>
              <a:rPr lang="zh-CN" altLang="zh-CN" sz="2400" dirty="0"/>
              <a:t>指令地址</a:t>
            </a:r>
            <a:r>
              <a:rPr lang="en-US" altLang="zh-CN" sz="2400" dirty="0"/>
              <a:t>+4</a:t>
            </a:r>
            <a:r>
              <a:rPr lang="zh-CN" altLang="zh-CN" sz="2400" dirty="0"/>
              <a:t>。</a:t>
            </a:r>
            <a:endParaRPr lang="en-US" altLang="zh-CN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CB5726-4AE1-4A24-A844-AA5369B9769D}"/>
              </a:ext>
            </a:extLst>
          </p:cNvPr>
          <p:cNvSpPr/>
          <p:nvPr/>
        </p:nvSpPr>
        <p:spPr>
          <a:xfrm>
            <a:off x="2650434" y="3905888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sz="2400" dirty="0">
                <a:latin typeface="+mn-ea"/>
              </a:rPr>
              <a:t>比如：</a:t>
            </a:r>
          </a:p>
          <a:p>
            <a:r>
              <a:rPr lang="en-US" altLang="zh-CN" sz="2400" dirty="0">
                <a:solidFill>
                  <a:srgbClr val="0000CC"/>
                </a:solidFill>
                <a:latin typeface="+mn-ea"/>
              </a:rPr>
              <a:t>      0x1000: MOV R0, PC ; R0 = 0x1004</a:t>
            </a:r>
            <a:endParaRPr lang="zh-CN" altLang="en-US" sz="2400" dirty="0">
              <a:solidFill>
                <a:srgbClr val="0000CC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3948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微处理器的通用寄存器、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LR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PC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矩形 9"/>
          <p:cNvSpPr>
            <a:spLocks noChangeArrowheads="1"/>
          </p:cNvSpPr>
          <p:nvPr/>
        </p:nvSpPr>
        <p:spPr bwMode="auto">
          <a:xfrm>
            <a:off x="2385012" y="1971675"/>
            <a:ext cx="76543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400" b="0" dirty="0">
                <a:latin typeface="+mn-ea"/>
                <a:ea typeface="+mn-ea"/>
              </a:rPr>
              <a:t>CM3 </a:t>
            </a:r>
            <a:r>
              <a:rPr lang="zh-CN" altLang="en-US" sz="2400" b="0" dirty="0">
                <a:latin typeface="+mn-ea"/>
                <a:ea typeface="+mn-ea"/>
              </a:rPr>
              <a:t>中的指令至少是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半字对齐</a:t>
            </a:r>
            <a:r>
              <a:rPr lang="zh-CN" altLang="en-US" sz="2400" b="0" dirty="0">
                <a:latin typeface="+mn-ea"/>
                <a:ea typeface="+mn-ea"/>
              </a:rPr>
              <a:t>的，所以读</a:t>
            </a:r>
            <a:r>
              <a:rPr lang="en-US" altLang="zh-CN" sz="2400" b="0" dirty="0">
                <a:latin typeface="+mn-ea"/>
                <a:ea typeface="+mn-ea"/>
              </a:rPr>
              <a:t>PC </a:t>
            </a:r>
            <a:r>
              <a:rPr lang="zh-CN" altLang="en-US" sz="2400" b="0" dirty="0">
                <a:latin typeface="+mn-ea"/>
                <a:ea typeface="+mn-ea"/>
              </a:rPr>
              <a:t>的时候</a:t>
            </a:r>
            <a:r>
              <a:rPr lang="en-US" altLang="zh-CN" sz="2400" b="0" dirty="0">
                <a:latin typeface="+mn-ea"/>
                <a:ea typeface="+mn-ea"/>
              </a:rPr>
              <a:t>LSB</a:t>
            </a:r>
            <a:r>
              <a:rPr lang="zh-CN" altLang="en-US" sz="2400" b="0" dirty="0">
                <a:latin typeface="+mn-ea"/>
                <a:ea typeface="+mn-ea"/>
              </a:rPr>
              <a:t>的值总是为</a:t>
            </a:r>
            <a:r>
              <a:rPr lang="en-US" altLang="zh-CN" sz="2400" b="0" dirty="0">
                <a:latin typeface="+mn-ea"/>
                <a:ea typeface="+mn-ea"/>
              </a:rPr>
              <a:t>0</a:t>
            </a:r>
            <a:r>
              <a:rPr lang="zh-CN" altLang="en-US" sz="2400" b="0" dirty="0">
                <a:latin typeface="+mn-ea"/>
                <a:ea typeface="+mn-ea"/>
              </a:rPr>
              <a:t>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627797" y="977590"/>
            <a:ext cx="82296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u"/>
              <a:defRPr/>
            </a:pPr>
            <a:r>
              <a:rPr lang="en-US" altLang="zh-CN" sz="2800" kern="0" dirty="0">
                <a:solidFill>
                  <a:srgbClr val="FF0000"/>
                </a:solidFill>
                <a:latin typeface="+mn-ea"/>
                <a:ea typeface="+mn-ea"/>
              </a:rPr>
              <a:t> R15:</a:t>
            </a:r>
            <a:r>
              <a:rPr lang="zh-CN" altLang="zh-CN" sz="2800" kern="0" dirty="0">
                <a:solidFill>
                  <a:srgbClr val="FF0000"/>
                </a:solidFill>
                <a:latin typeface="+mn-ea"/>
                <a:ea typeface="+mn-ea"/>
              </a:rPr>
              <a:t>程序计数器</a:t>
            </a:r>
            <a:r>
              <a:rPr lang="en-US" altLang="zh-CN" sz="2800" kern="0" dirty="0">
                <a:solidFill>
                  <a:srgbClr val="FF0000"/>
                </a:solidFill>
                <a:latin typeface="+mn-ea"/>
                <a:ea typeface="+mn-ea"/>
              </a:rPr>
              <a:t>R15</a:t>
            </a:r>
            <a:endParaRPr lang="zh-CN" altLang="en-US" sz="2800" kern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8559FD-C99E-4D4E-AB00-F1DA162B8CCA}"/>
              </a:ext>
            </a:extLst>
          </p:cNvPr>
          <p:cNvSpPr/>
          <p:nvPr/>
        </p:nvSpPr>
        <p:spPr>
          <a:xfrm>
            <a:off x="2385012" y="4087595"/>
            <a:ext cx="765433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0"/>
              </a:spcBef>
              <a:buChar char="•"/>
            </a:pPr>
            <a:r>
              <a:rPr lang="zh-CN" altLang="en-US" sz="2400" dirty="0">
                <a:latin typeface="+mn-ea"/>
              </a:rPr>
              <a:t>无论是直接写</a:t>
            </a:r>
            <a:r>
              <a:rPr lang="en-US" altLang="zh-CN" sz="2400" dirty="0">
                <a:latin typeface="+mn-ea"/>
              </a:rPr>
              <a:t>PC </a:t>
            </a:r>
            <a:r>
              <a:rPr lang="zh-CN" altLang="en-US" sz="2400" dirty="0">
                <a:latin typeface="+mn-ea"/>
              </a:rPr>
              <a:t>的值还是使用分支指令，都必须保证加载到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PC 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的数值是奇数</a:t>
            </a:r>
            <a:r>
              <a:rPr lang="zh-CN" altLang="en-US" sz="2400" dirty="0">
                <a:latin typeface="+mn-ea"/>
              </a:rPr>
              <a:t>（即</a:t>
            </a:r>
            <a:r>
              <a:rPr lang="en-US" altLang="zh-CN" sz="2400" dirty="0">
                <a:latin typeface="+mn-ea"/>
              </a:rPr>
              <a:t>LSB=1</a:t>
            </a:r>
            <a:r>
              <a:rPr lang="zh-CN" altLang="en-US" sz="2400" dirty="0">
                <a:latin typeface="+mn-ea"/>
              </a:rPr>
              <a:t>），用以表明这是在</a:t>
            </a:r>
            <a:r>
              <a:rPr lang="en-US" altLang="zh-CN" sz="2400" dirty="0">
                <a:latin typeface="+mn-ea"/>
              </a:rPr>
              <a:t>Thumb </a:t>
            </a:r>
            <a:r>
              <a:rPr lang="zh-CN" altLang="en-US" sz="2400" dirty="0">
                <a:latin typeface="+mn-ea"/>
              </a:rPr>
              <a:t>状态下执行。倘若写了</a:t>
            </a:r>
            <a:r>
              <a:rPr lang="en-US" altLang="zh-CN" sz="2400" dirty="0">
                <a:latin typeface="+mn-ea"/>
              </a:rPr>
              <a:t>0</a:t>
            </a:r>
            <a:r>
              <a:rPr lang="zh-CN" altLang="en-US" sz="2400" dirty="0">
                <a:latin typeface="+mn-ea"/>
              </a:rPr>
              <a:t>，则视为企图转入</a:t>
            </a:r>
            <a:r>
              <a:rPr lang="en-US" altLang="zh-CN" sz="2400" dirty="0">
                <a:latin typeface="+mn-ea"/>
              </a:rPr>
              <a:t>ARM </a:t>
            </a:r>
            <a:r>
              <a:rPr lang="zh-CN" altLang="en-US" sz="2400" dirty="0">
                <a:latin typeface="+mn-ea"/>
              </a:rPr>
              <a:t>模式，</a:t>
            </a:r>
            <a:r>
              <a:rPr lang="en-US" altLang="zh-CN" sz="2400" dirty="0">
                <a:latin typeface="+mn-ea"/>
              </a:rPr>
              <a:t>CM3 </a:t>
            </a:r>
            <a:r>
              <a:rPr lang="zh-CN" altLang="en-US" sz="2400" dirty="0">
                <a:latin typeface="+mn-ea"/>
              </a:rPr>
              <a:t>将产生一个</a:t>
            </a:r>
            <a:r>
              <a:rPr lang="en-US" altLang="zh-CN" sz="2400" dirty="0">
                <a:latin typeface="+mn-ea"/>
              </a:rPr>
              <a:t>fault </a:t>
            </a:r>
            <a:r>
              <a:rPr lang="zh-CN" altLang="en-US" sz="2400" dirty="0">
                <a:latin typeface="+mn-ea"/>
              </a:rPr>
              <a:t>异常。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2AFDDE-C1E8-4A9A-A734-FAA349E8B0CC}"/>
              </a:ext>
            </a:extLst>
          </p:cNvPr>
          <p:cNvSpPr/>
          <p:nvPr/>
        </p:nvSpPr>
        <p:spPr>
          <a:xfrm>
            <a:off x="2385012" y="3029635"/>
            <a:ext cx="76543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0"/>
              </a:spcBef>
              <a:buChar char="•"/>
            </a:pPr>
            <a:r>
              <a:rPr lang="zh-CN" altLang="en-US" sz="2400" dirty="0">
                <a:latin typeface="+mn-ea"/>
              </a:rPr>
              <a:t>如果向</a:t>
            </a:r>
            <a:r>
              <a:rPr lang="en-US" altLang="zh-CN" sz="2400" dirty="0">
                <a:latin typeface="+mn-ea"/>
              </a:rPr>
              <a:t>PC </a:t>
            </a:r>
            <a:r>
              <a:rPr lang="zh-CN" altLang="en-US" sz="2400" dirty="0">
                <a:latin typeface="+mn-ea"/>
              </a:rPr>
              <a:t>中写数据，就会引起一次程序的分支（但是不更新</a:t>
            </a:r>
            <a:r>
              <a:rPr lang="en-US" altLang="zh-CN" sz="2400" dirty="0">
                <a:latin typeface="+mn-ea"/>
              </a:rPr>
              <a:t>LR </a:t>
            </a:r>
            <a:r>
              <a:rPr lang="zh-CN" altLang="en-US" sz="2400" dirty="0">
                <a:latin typeface="+mn-ea"/>
              </a:rPr>
              <a:t>寄存器）。</a:t>
            </a:r>
          </a:p>
        </p:txBody>
      </p:sp>
    </p:spTree>
    <p:extLst>
      <p:ext uri="{BB962C8B-B14F-4D97-AF65-F5344CB8AC3E}">
        <p14:creationId xmlns:p14="http://schemas.microsoft.com/office/powerpoint/2010/main" val="200088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2" grpId="0" build="p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3610EE99-C64D-4F69-A816-0759353CB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787" y="2422786"/>
            <a:ext cx="8303214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00CC"/>
                </a:solidFill>
              </a:rPr>
              <a:t>main ;</a:t>
            </a:r>
            <a:r>
              <a:rPr lang="zh-CN" altLang="zh-CN" sz="2000" b="0" dirty="0">
                <a:solidFill>
                  <a:srgbClr val="0000CC"/>
                </a:solidFill>
              </a:rPr>
              <a:t>主程序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00CC"/>
                </a:solidFill>
              </a:rPr>
              <a:t>…</a:t>
            </a:r>
            <a:endParaRPr lang="zh-CN" altLang="zh-CN" sz="2000" b="0" dirty="0">
              <a:solidFill>
                <a:srgbClr val="0000CC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00CC"/>
                </a:solidFill>
              </a:rPr>
              <a:t>BL function1 ; </a:t>
            </a:r>
            <a:r>
              <a:rPr lang="zh-CN" altLang="zh-CN" sz="2000" b="0" dirty="0">
                <a:solidFill>
                  <a:srgbClr val="00B050"/>
                </a:solidFill>
              </a:rPr>
              <a:t>使用“分支并连接”指令</a:t>
            </a:r>
            <a:r>
              <a:rPr lang="zh-CN" altLang="en-US" sz="2000" b="0" dirty="0">
                <a:solidFill>
                  <a:srgbClr val="00B050"/>
                </a:solidFill>
              </a:rPr>
              <a:t>调用</a:t>
            </a:r>
            <a:r>
              <a:rPr lang="en-US" altLang="zh-CN" sz="2000" b="0" dirty="0">
                <a:solidFill>
                  <a:srgbClr val="00B050"/>
                </a:solidFill>
              </a:rPr>
              <a:t>function1</a:t>
            </a:r>
            <a:endParaRPr lang="zh-CN" altLang="zh-CN" sz="2000" b="0" dirty="0">
              <a:solidFill>
                <a:srgbClr val="00B05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B050"/>
                </a:solidFill>
              </a:rPr>
              <a:t>                     ; PC= function1</a:t>
            </a:r>
            <a:r>
              <a:rPr lang="zh-CN" altLang="zh-CN" sz="2000" b="0" dirty="0">
                <a:solidFill>
                  <a:srgbClr val="00B050"/>
                </a:solidFill>
              </a:rPr>
              <a:t>，并且</a:t>
            </a:r>
            <a:r>
              <a:rPr lang="en-US" altLang="zh-CN" sz="2000" b="0" dirty="0">
                <a:solidFill>
                  <a:srgbClr val="00B050"/>
                </a:solidFill>
              </a:rPr>
              <a:t>LR=main </a:t>
            </a:r>
            <a:r>
              <a:rPr lang="zh-CN" altLang="zh-CN" sz="2000" b="0" dirty="0">
                <a:solidFill>
                  <a:srgbClr val="00B050"/>
                </a:solidFill>
              </a:rPr>
              <a:t>的下一条指令地址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CC"/>
                </a:solidFill>
              </a:rPr>
              <a:t>MOV   R8, R3;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00CC"/>
                </a:solidFill>
              </a:rPr>
              <a:t>…                 ;</a:t>
            </a:r>
            <a:r>
              <a:rPr lang="en-US" altLang="zh-CN" sz="2000" b="0" dirty="0">
                <a:solidFill>
                  <a:srgbClr val="00B050"/>
                </a:solidFill>
              </a:rPr>
              <a:t>main</a:t>
            </a:r>
            <a:r>
              <a:rPr lang="zh-CN" altLang="en-US" sz="2000" b="0" dirty="0">
                <a:solidFill>
                  <a:srgbClr val="00B050"/>
                </a:solidFill>
              </a:rPr>
              <a:t>的其它代码</a:t>
            </a:r>
            <a:endParaRPr lang="zh-CN" altLang="zh-CN" sz="2000" b="0" dirty="0">
              <a:solidFill>
                <a:srgbClr val="00B05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00CC"/>
                </a:solidFill>
              </a:rPr>
              <a:t>Function1;</a:t>
            </a:r>
            <a:r>
              <a:rPr lang="zh-CN" altLang="en-US" sz="2000" b="0" dirty="0">
                <a:solidFill>
                  <a:srgbClr val="00B050"/>
                </a:solidFill>
              </a:rPr>
              <a:t>子程序</a:t>
            </a:r>
            <a:endParaRPr lang="zh-CN" altLang="zh-CN" sz="2000" b="0" dirty="0">
              <a:solidFill>
                <a:srgbClr val="00B05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00CC"/>
                </a:solidFill>
              </a:rPr>
              <a:t>…                 ; </a:t>
            </a:r>
            <a:r>
              <a:rPr lang="en-US" altLang="zh-CN" sz="2000" b="0" dirty="0">
                <a:solidFill>
                  <a:srgbClr val="00B050"/>
                </a:solidFill>
              </a:rPr>
              <a:t>function1 </a:t>
            </a:r>
            <a:r>
              <a:rPr lang="zh-CN" altLang="zh-CN" sz="2000" b="0" dirty="0">
                <a:solidFill>
                  <a:srgbClr val="00B050"/>
                </a:solidFill>
              </a:rPr>
              <a:t>的代码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00CC"/>
                </a:solidFill>
              </a:rPr>
              <a:t>BX LR ; </a:t>
            </a:r>
            <a:r>
              <a:rPr lang="zh-CN" altLang="en-US" sz="2000" b="0" dirty="0">
                <a:solidFill>
                  <a:srgbClr val="00B050"/>
                </a:solidFill>
              </a:rPr>
              <a:t>子程序</a:t>
            </a:r>
            <a:r>
              <a:rPr lang="zh-CN" altLang="zh-CN" sz="2000" b="0" dirty="0">
                <a:solidFill>
                  <a:srgbClr val="00B050"/>
                </a:solidFill>
              </a:rPr>
              <a:t>返回（如果</a:t>
            </a:r>
            <a:r>
              <a:rPr lang="en-US" altLang="zh-CN" sz="2000" b="0" dirty="0">
                <a:solidFill>
                  <a:srgbClr val="00B050"/>
                </a:solidFill>
              </a:rPr>
              <a:t>function1 </a:t>
            </a:r>
            <a:r>
              <a:rPr lang="zh-CN" altLang="zh-CN" sz="2000" b="0" dirty="0">
                <a:solidFill>
                  <a:srgbClr val="00B050"/>
                </a:solidFill>
              </a:rPr>
              <a:t>要使用</a:t>
            </a:r>
            <a:r>
              <a:rPr lang="en-US" altLang="zh-CN" sz="2000" b="0" dirty="0">
                <a:solidFill>
                  <a:srgbClr val="00B050"/>
                </a:solidFill>
              </a:rPr>
              <a:t>LR</a:t>
            </a:r>
            <a:r>
              <a:rPr lang="zh-CN" altLang="zh-CN" sz="2000" b="0" dirty="0">
                <a:solidFill>
                  <a:srgbClr val="00B050"/>
                </a:solidFill>
              </a:rPr>
              <a:t>，必须在使用前</a:t>
            </a:r>
            <a:r>
              <a:rPr lang="en-US" altLang="zh-CN" sz="2000" b="0" dirty="0">
                <a:solidFill>
                  <a:srgbClr val="00B050"/>
                </a:solidFill>
              </a:rPr>
              <a:t>PUSH,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00CC"/>
                </a:solidFill>
              </a:rPr>
              <a:t>           ; </a:t>
            </a:r>
            <a:r>
              <a:rPr lang="zh-CN" altLang="zh-CN" sz="2000" b="0" dirty="0">
                <a:solidFill>
                  <a:srgbClr val="00B050"/>
                </a:solidFill>
              </a:rPr>
              <a:t>否则返回时程序就可能跑飞）</a:t>
            </a:r>
            <a:endParaRPr lang="zh-CN" altLang="en-US" sz="2000" b="0" dirty="0">
              <a:solidFill>
                <a:srgbClr val="00B05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317E2E-97C7-4799-8DD5-AEAADB27E0B7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微处理器的通用寄存器、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LR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PC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>
            <a:extLst>
              <a:ext uri="{FF2B5EF4-FFF2-40B4-BE49-F238E27FC236}">
                <a16:creationId xmlns:a16="http://schemas.microsoft.com/office/drawing/2014/main" id="{DB4406FF-C57D-4D04-BDF4-E63CC0F14998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542EC3C-BF03-4E83-9D69-BDD3126AAAD8}"/>
              </a:ext>
            </a:extLst>
          </p:cNvPr>
          <p:cNvSpPr txBox="1">
            <a:spLocks/>
          </p:cNvSpPr>
          <p:nvPr/>
        </p:nvSpPr>
        <p:spPr bwMode="auto">
          <a:xfrm>
            <a:off x="1548401" y="1231900"/>
            <a:ext cx="82296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defRPr/>
            </a:pPr>
            <a:r>
              <a:rPr lang="en-US" altLang="zh-CN" sz="2800" kern="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2800" kern="0" dirty="0">
                <a:solidFill>
                  <a:srgbClr val="FF0000"/>
                </a:solidFill>
                <a:latin typeface="+mn-ea"/>
                <a:ea typeface="+mn-ea"/>
              </a:rPr>
              <a:t>例子</a:t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75FB5BF4-7FBD-4B01-B51C-21208F7C5B42}"/>
              </a:ext>
            </a:extLst>
          </p:cNvPr>
          <p:cNvSpPr/>
          <p:nvPr/>
        </p:nvSpPr>
        <p:spPr>
          <a:xfrm>
            <a:off x="1033670" y="3163958"/>
            <a:ext cx="1214688" cy="1355033"/>
          </a:xfrm>
          <a:prstGeom prst="arc">
            <a:avLst>
              <a:gd name="adj1" fmla="val 6401758"/>
              <a:gd name="adj2" fmla="val 15168858"/>
            </a:avLst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0C994F-7CCA-44A1-9163-BCDC8658FB18}"/>
              </a:ext>
            </a:extLst>
          </p:cNvPr>
          <p:cNvSpPr/>
          <p:nvPr/>
        </p:nvSpPr>
        <p:spPr>
          <a:xfrm>
            <a:off x="10434917" y="1941513"/>
            <a:ext cx="1425389" cy="615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function1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AE6BD3C-42F2-45DE-9AF2-8AD637EF7904}"/>
              </a:ext>
            </a:extLst>
          </p:cNvPr>
          <p:cNvGrpSpPr/>
          <p:nvPr/>
        </p:nvGrpSpPr>
        <p:grpSpPr>
          <a:xfrm>
            <a:off x="9562437" y="1867332"/>
            <a:ext cx="855640" cy="615951"/>
            <a:chOff x="8216153" y="1792563"/>
            <a:chExt cx="989583" cy="630223"/>
          </a:xfrm>
        </p:grpSpPr>
        <p:sp>
          <p:nvSpPr>
            <p:cNvPr id="7" name="箭头: 右 6">
              <a:extLst>
                <a:ext uri="{FF2B5EF4-FFF2-40B4-BE49-F238E27FC236}">
                  <a16:creationId xmlns:a16="http://schemas.microsoft.com/office/drawing/2014/main" id="{0EE4EBD3-C4A6-4026-8AA4-CF333D5AAA0F}"/>
                </a:ext>
              </a:extLst>
            </p:cNvPr>
            <p:cNvSpPr/>
            <p:nvPr/>
          </p:nvSpPr>
          <p:spPr>
            <a:xfrm>
              <a:off x="8216153" y="2023353"/>
              <a:ext cx="989583" cy="39943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3664C27-7A68-433F-9348-D7662EA91053}"/>
                </a:ext>
              </a:extLst>
            </p:cNvPr>
            <p:cNvSpPr txBox="1"/>
            <p:nvPr/>
          </p:nvSpPr>
          <p:spPr>
            <a:xfrm>
              <a:off x="8369477" y="1792563"/>
              <a:ext cx="645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PC</a:t>
              </a:r>
              <a:endParaRPr lang="zh-CN" altLang="en-US" dirty="0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36CE8BF4-6B82-4EA1-A0A5-62740580E67D}"/>
              </a:ext>
            </a:extLst>
          </p:cNvPr>
          <p:cNvSpPr/>
          <p:nvPr/>
        </p:nvSpPr>
        <p:spPr>
          <a:xfrm>
            <a:off x="10434916" y="2793160"/>
            <a:ext cx="1425390" cy="615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MOV R8,R3;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3609B37-08FA-45BC-9175-F15C9BA4729E}"/>
              </a:ext>
            </a:extLst>
          </p:cNvPr>
          <p:cNvGrpSpPr/>
          <p:nvPr/>
        </p:nvGrpSpPr>
        <p:grpSpPr>
          <a:xfrm>
            <a:off x="9587753" y="2707696"/>
            <a:ext cx="836694" cy="701414"/>
            <a:chOff x="8216153" y="1792563"/>
            <a:chExt cx="989583" cy="630223"/>
          </a:xfrm>
        </p:grpSpPr>
        <p:sp>
          <p:nvSpPr>
            <p:cNvPr id="13" name="箭头: 右 12">
              <a:extLst>
                <a:ext uri="{FF2B5EF4-FFF2-40B4-BE49-F238E27FC236}">
                  <a16:creationId xmlns:a16="http://schemas.microsoft.com/office/drawing/2014/main" id="{DDBE7B7A-00A6-49A2-A855-D92295EEAC61}"/>
                </a:ext>
              </a:extLst>
            </p:cNvPr>
            <p:cNvSpPr/>
            <p:nvPr/>
          </p:nvSpPr>
          <p:spPr>
            <a:xfrm>
              <a:off x="8216153" y="2023353"/>
              <a:ext cx="989583" cy="39943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E7705EE-29FF-4981-A009-AB2C6A7056FC}"/>
                </a:ext>
              </a:extLst>
            </p:cNvPr>
            <p:cNvSpPr txBox="1"/>
            <p:nvPr/>
          </p:nvSpPr>
          <p:spPr>
            <a:xfrm>
              <a:off x="8369477" y="1792563"/>
              <a:ext cx="645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LR</a:t>
              </a:r>
              <a:endParaRPr lang="zh-CN" altLang="en-US" dirty="0"/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AF6EB0BE-8DCA-4815-A805-FDD456BC0658}"/>
              </a:ext>
            </a:extLst>
          </p:cNvPr>
          <p:cNvSpPr/>
          <p:nvPr/>
        </p:nvSpPr>
        <p:spPr>
          <a:xfrm>
            <a:off x="10437894" y="2793160"/>
            <a:ext cx="1425390" cy="615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MOV R8,R3;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90651ED4-70B3-4CC0-9998-ED631CC29EF3}"/>
              </a:ext>
            </a:extLst>
          </p:cNvPr>
          <p:cNvSpPr/>
          <p:nvPr/>
        </p:nvSpPr>
        <p:spPr>
          <a:xfrm flipV="1">
            <a:off x="1033670" y="3779468"/>
            <a:ext cx="1214688" cy="1355033"/>
          </a:xfrm>
          <a:prstGeom prst="arc">
            <a:avLst>
              <a:gd name="adj1" fmla="val 6401758"/>
              <a:gd name="adj2" fmla="val 15168858"/>
            </a:avLst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67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decel="2000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mph" presetSubtype="1" decel="2000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9" dur="indefinite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1" dur="indefinite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5" dur="indefinite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7" dur="indefinite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-0.00026 -0.12453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622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3" dur="indefinite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3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5" dur="indefinite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B317E2E-97C7-4799-8DD5-AEAADB27E0B7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微处理器的通用寄存器、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LR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PC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>
            <a:extLst>
              <a:ext uri="{FF2B5EF4-FFF2-40B4-BE49-F238E27FC236}">
                <a16:creationId xmlns:a16="http://schemas.microsoft.com/office/drawing/2014/main" id="{DB4406FF-C57D-4D04-BDF4-E63CC0F14998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542EC3C-BF03-4E83-9D69-BDD3126AAAD8}"/>
              </a:ext>
            </a:extLst>
          </p:cNvPr>
          <p:cNvSpPr txBox="1">
            <a:spLocks/>
          </p:cNvSpPr>
          <p:nvPr/>
        </p:nvSpPr>
        <p:spPr bwMode="auto">
          <a:xfrm>
            <a:off x="791019" y="1250373"/>
            <a:ext cx="218309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defRPr/>
            </a:pPr>
            <a:r>
              <a:rPr lang="en-US" altLang="zh-CN" sz="2800" b="1" kern="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2800" b="1" kern="0" dirty="0">
                <a:solidFill>
                  <a:srgbClr val="FF0000"/>
                </a:solidFill>
                <a:latin typeface="+mn-ea"/>
                <a:ea typeface="+mn-ea"/>
              </a:rPr>
              <a:t>问题与思考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59BD58-8FC7-4273-ACC3-33D65802E4EE}"/>
              </a:ext>
            </a:extLst>
          </p:cNvPr>
          <p:cNvSpPr/>
          <p:nvPr/>
        </p:nvSpPr>
        <p:spPr>
          <a:xfrm>
            <a:off x="1339271" y="1959986"/>
            <a:ext cx="936567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若进入中断程序后，</a:t>
            </a:r>
            <a:r>
              <a:rPr lang="en-US" altLang="zh-CN" sz="2400" dirty="0"/>
              <a:t>LR</a:t>
            </a:r>
            <a:r>
              <a:rPr lang="zh-CN" altLang="zh-CN" sz="2400" dirty="0"/>
              <a:t>寄存器的值为</a:t>
            </a:r>
            <a:r>
              <a:rPr lang="en-US" altLang="zh-CN" sz="2400" dirty="0"/>
              <a:t>0xfffffff9,</a:t>
            </a:r>
            <a:r>
              <a:rPr lang="zh-CN" altLang="zh-CN" sz="2400" dirty="0"/>
              <a:t>则意味着进入中断前，程序使用的（</a:t>
            </a:r>
            <a:r>
              <a:rPr lang="en-US" altLang="zh-CN" sz="2400" dirty="0"/>
              <a:t>		 </a:t>
            </a:r>
            <a:r>
              <a:rPr lang="zh-CN" altLang="zh-CN" sz="2400" dirty="0"/>
              <a:t>）堆栈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zh-CN" sz="2400" dirty="0"/>
              <a:t>链接寄存器的主要功能是</a:t>
            </a:r>
            <a:r>
              <a:rPr lang="en-US" altLang="zh-CN" sz="2400" dirty="0"/>
              <a:t>(			)</a:t>
            </a:r>
          </a:p>
          <a:p>
            <a:endParaRPr lang="en-US" altLang="zh-CN" sz="2400" dirty="0"/>
          </a:p>
          <a:p>
            <a:r>
              <a:rPr lang="zh-CN" altLang="en-US" sz="2400" dirty="0"/>
              <a:t>进入中断程序后，</a:t>
            </a:r>
            <a:r>
              <a:rPr lang="en-US" altLang="zh-CN" sz="2400" dirty="0"/>
              <a:t>LR</a:t>
            </a:r>
            <a:r>
              <a:rPr lang="zh-CN" altLang="en-US" sz="2400" dirty="0"/>
              <a:t>存放的是</a:t>
            </a:r>
            <a:r>
              <a:rPr lang="en-US" altLang="zh-CN" sz="2400" dirty="0"/>
              <a:t>EXEC_RETURN</a:t>
            </a:r>
            <a:r>
              <a:rPr lang="zh-CN" altLang="en-US" sz="2400" dirty="0"/>
              <a:t>，不是中断返回地址，中断如何返回？</a:t>
            </a:r>
            <a:endParaRPr lang="en-US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981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71716" y="112268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/>
              <a:t>若进入中断程序后，</a:t>
            </a:r>
            <a:r>
              <a:rPr lang="en-US" altLang="zh-CN" sz="2800" dirty="0"/>
              <a:t>LR</a:t>
            </a:r>
            <a:r>
              <a:rPr lang="zh-CN" altLang="zh-CN" sz="2800" dirty="0"/>
              <a:t>寄存器的值为</a:t>
            </a:r>
            <a:r>
              <a:rPr lang="en-US" altLang="zh-CN" sz="2800" dirty="0"/>
              <a:t>0xfffffff9,</a:t>
            </a:r>
            <a:r>
              <a:rPr lang="zh-CN" altLang="zh-CN" sz="2800" dirty="0"/>
              <a:t>则意味着进入中断前，程序使用的（</a:t>
            </a:r>
            <a:r>
              <a:rPr lang="en-US" altLang="zh-CN" sz="2800" dirty="0"/>
              <a:t>	</a:t>
            </a:r>
            <a:r>
              <a:rPr lang="zh-CN" altLang="en-US" sz="2800" dirty="0" smtClean="0">
                <a:solidFill>
                  <a:srgbClr val="639EF4"/>
                </a:solidFill>
              </a:rPr>
              <a:t> </a:t>
            </a:r>
            <a:r>
              <a:rPr lang="en-US" altLang="zh-CN" sz="2800" dirty="0" smtClean="0">
                <a:solidFill>
                  <a:srgbClr val="639EF4"/>
                </a:solidFill>
              </a:rPr>
              <a:t>[</a:t>
            </a:r>
            <a:r>
              <a:rPr lang="zh-CN" altLang="en-US" sz="2800" dirty="0" smtClean="0">
                <a:solidFill>
                  <a:srgbClr val="639EF4"/>
                </a:solidFill>
              </a:rPr>
              <a:t>填空</a:t>
            </a:r>
            <a:r>
              <a:rPr lang="en-US" altLang="zh-CN" sz="2800" dirty="0" smtClean="0">
                <a:solidFill>
                  <a:srgbClr val="639EF4"/>
                </a:solidFill>
              </a:rPr>
              <a:t>1]</a:t>
            </a:r>
            <a:r>
              <a:rPr lang="en-US" altLang="zh-CN" sz="2800" dirty="0" smtClean="0">
                <a:solidFill>
                  <a:srgbClr val="000000"/>
                </a:solidFill>
              </a:rPr>
              <a:t> </a:t>
            </a:r>
            <a:r>
              <a:rPr lang="en-US" altLang="zh-CN" sz="2800" dirty="0"/>
              <a:t>	 </a:t>
            </a:r>
            <a:r>
              <a:rPr lang="zh-CN" altLang="zh-CN" sz="2800" dirty="0"/>
              <a:t>）堆栈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zh-CN" sz="2800" dirty="0"/>
              <a:t>链接寄存器的主要功能是</a:t>
            </a:r>
            <a:r>
              <a:rPr lang="en-US" altLang="zh-CN" sz="2800" dirty="0"/>
              <a:t>(	</a:t>
            </a:r>
            <a:r>
              <a:rPr lang="zh-CN" altLang="en-US" sz="2800" dirty="0" smtClean="0">
                <a:solidFill>
                  <a:srgbClr val="639EF4"/>
                </a:solidFill>
              </a:rPr>
              <a:t> </a:t>
            </a:r>
            <a:r>
              <a:rPr lang="en-US" altLang="zh-CN" sz="2800" dirty="0" smtClean="0">
                <a:solidFill>
                  <a:srgbClr val="639EF4"/>
                </a:solidFill>
              </a:rPr>
              <a:t>[</a:t>
            </a:r>
            <a:r>
              <a:rPr lang="zh-CN" altLang="en-US" sz="2800" dirty="0" smtClean="0">
                <a:solidFill>
                  <a:srgbClr val="639EF4"/>
                </a:solidFill>
              </a:rPr>
              <a:t>填空</a:t>
            </a:r>
            <a:r>
              <a:rPr lang="en-US" altLang="zh-CN" sz="2800" dirty="0" smtClean="0">
                <a:solidFill>
                  <a:srgbClr val="639EF4"/>
                </a:solidFill>
              </a:rPr>
              <a:t>2]</a:t>
            </a:r>
            <a:r>
              <a:rPr lang="en-US" altLang="zh-CN" sz="2800" dirty="0" smtClean="0">
                <a:solidFill>
                  <a:srgbClr val="000000"/>
                </a:solidFill>
              </a:rPr>
              <a:t>  </a:t>
            </a:r>
            <a:r>
              <a:rPr lang="en-US" altLang="zh-CN" sz="2800" dirty="0" smtClean="0"/>
              <a:t>)</a:t>
            </a:r>
            <a:endParaRPr lang="en-US" altLang="zh-CN" sz="2800" dirty="0"/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1331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B317E2E-97C7-4799-8DD5-AEAADB27E0B7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微处理器的通用寄存器、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LR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、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微软雅黑" pitchFamily="34" charset="-122"/>
              </a:rPr>
              <a:t>PC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>
            <a:extLst>
              <a:ext uri="{FF2B5EF4-FFF2-40B4-BE49-F238E27FC236}">
                <a16:creationId xmlns:a16="http://schemas.microsoft.com/office/drawing/2014/main" id="{DB4406FF-C57D-4D04-BDF4-E63CC0F14998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542EC3C-BF03-4E83-9D69-BDD3126AAAD8}"/>
              </a:ext>
            </a:extLst>
          </p:cNvPr>
          <p:cNvSpPr txBox="1">
            <a:spLocks/>
          </p:cNvSpPr>
          <p:nvPr/>
        </p:nvSpPr>
        <p:spPr bwMode="auto">
          <a:xfrm>
            <a:off x="791019" y="1250373"/>
            <a:ext cx="218309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defRPr/>
            </a:pPr>
            <a:r>
              <a:rPr lang="en-US" altLang="zh-CN" sz="2800" b="1" kern="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2800" b="1" kern="0" dirty="0">
                <a:solidFill>
                  <a:srgbClr val="FF0000"/>
                </a:solidFill>
                <a:latin typeface="+mn-ea"/>
                <a:ea typeface="+mn-ea"/>
              </a:rPr>
              <a:t>问题与思考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59BD58-8FC7-4273-ACC3-33D65802E4EE}"/>
              </a:ext>
            </a:extLst>
          </p:cNvPr>
          <p:cNvSpPr/>
          <p:nvPr/>
        </p:nvSpPr>
        <p:spPr>
          <a:xfrm>
            <a:off x="1339271" y="1959986"/>
            <a:ext cx="936567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若进入中断程序后，</a:t>
            </a:r>
            <a:r>
              <a:rPr lang="en-US" altLang="zh-CN" sz="2400" dirty="0"/>
              <a:t>LR</a:t>
            </a:r>
            <a:r>
              <a:rPr lang="zh-CN" altLang="zh-CN" sz="2400" dirty="0"/>
              <a:t>寄存器的值为</a:t>
            </a:r>
            <a:r>
              <a:rPr lang="en-US" altLang="zh-CN" sz="2400" dirty="0"/>
              <a:t>0xfffffff9,</a:t>
            </a:r>
            <a:r>
              <a:rPr lang="zh-CN" altLang="zh-CN" sz="2400" dirty="0"/>
              <a:t>则意味着进入中断前，程序使用的（</a:t>
            </a:r>
            <a:r>
              <a:rPr lang="en-US" altLang="zh-CN" sz="2400" dirty="0"/>
              <a:t>  	</a:t>
            </a:r>
            <a:r>
              <a:rPr lang="zh-CN" altLang="en-US" sz="2400" dirty="0"/>
              <a:t>主</a:t>
            </a:r>
            <a:r>
              <a:rPr lang="en-US" altLang="zh-CN" sz="2400" dirty="0"/>
              <a:t>  	   </a:t>
            </a:r>
            <a:r>
              <a:rPr lang="zh-CN" altLang="zh-CN" sz="2400" dirty="0"/>
              <a:t>）堆栈</a:t>
            </a:r>
            <a:endParaRPr lang="en-US" altLang="zh-CN" sz="2400" dirty="0"/>
          </a:p>
          <a:p>
            <a:r>
              <a:rPr lang="zh-CN" altLang="zh-CN" sz="2400" dirty="0"/>
              <a:t>链接寄存器的主要功能是</a:t>
            </a:r>
            <a:r>
              <a:rPr lang="en-US" altLang="zh-CN" sz="2400" dirty="0"/>
              <a:t>( </a:t>
            </a:r>
            <a:r>
              <a:rPr lang="zh-CN" altLang="zh-CN" sz="2400" dirty="0"/>
              <a:t>存放返回地址</a:t>
            </a:r>
            <a:r>
              <a:rPr lang="en-US" altLang="zh-CN" sz="2400" dirty="0"/>
              <a:t>     )</a:t>
            </a:r>
            <a:endParaRPr lang="zh-CN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0863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8" name="think-cell Slide" r:id="rId5" imgW="9525" imgH="9525" progId="TCLayout.ActiveDocument.1">
                  <p:embed/>
                </p:oleObj>
              </mc:Choice>
              <mc:Fallback>
                <p:oleObj name="think-cell Slide" r:id="rId5" imgW="9525" imgH="9525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6280" y="3167380"/>
            <a:ext cx="4460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2E6E0"/>
                </a:solidFill>
              </a:rPr>
              <a:t>堆栈指针</a:t>
            </a:r>
            <a:r>
              <a:rPr lang="en-US" altLang="zh-CN" sz="2800" b="1" dirty="0">
                <a:solidFill>
                  <a:srgbClr val="42E6E0"/>
                </a:solidFill>
              </a:rPr>
              <a:t>SP</a:t>
            </a:r>
            <a:r>
              <a:rPr lang="zh-CN" altLang="en-US" sz="2800" b="1" dirty="0">
                <a:solidFill>
                  <a:srgbClr val="42E6E0"/>
                </a:solidFill>
              </a:rPr>
              <a:t>与堆栈</a:t>
            </a:r>
            <a:endParaRPr lang="en-US" altLang="zh-CN" sz="2800" b="1" dirty="0">
              <a:solidFill>
                <a:srgbClr val="42E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4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13898" y="1034460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rgbClr val="FF0000"/>
                </a:solidFill>
              </a:rPr>
              <a:t> R13: </a:t>
            </a:r>
            <a:r>
              <a:rPr lang="zh-CN" altLang="en-US" sz="3200" dirty="0">
                <a:solidFill>
                  <a:srgbClr val="FF0000"/>
                </a:solidFill>
              </a:rPr>
              <a:t>堆栈指针</a:t>
            </a:r>
            <a:r>
              <a:rPr lang="en-US" altLang="zh-CN" sz="3200" dirty="0">
                <a:solidFill>
                  <a:srgbClr val="FF0000"/>
                </a:solidFill>
              </a:rPr>
              <a:t>(SP)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1822000" y="1931724"/>
            <a:ext cx="8839904" cy="40306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US" altLang="zh-CN" sz="2400" dirty="0"/>
              <a:t>       Cortex‐M3 </a:t>
            </a:r>
            <a:r>
              <a:rPr lang="zh-CN" altLang="en-US" sz="2400" dirty="0"/>
              <a:t>拥有两个堆栈指针，但是任一时刻只能使用其中的一个。</a:t>
            </a:r>
            <a:endParaRPr lang="en-US" altLang="zh-CN" sz="2400" dirty="0"/>
          </a:p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主堆栈指针（</a:t>
            </a:r>
            <a:r>
              <a:rPr lang="en-US" altLang="zh-CN" sz="2400" dirty="0">
                <a:solidFill>
                  <a:srgbClr val="FF0000"/>
                </a:solidFill>
              </a:rPr>
              <a:t>MSP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zh-CN" altLang="en-US" sz="2400" dirty="0"/>
              <a:t>：复位后缺省使用的堆栈指针，用于操作系统内核以及异常处理例程（包括中断服务例程）</a:t>
            </a:r>
          </a:p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进程堆栈指针（</a:t>
            </a:r>
            <a:r>
              <a:rPr lang="en-US" altLang="zh-CN" sz="2400" dirty="0">
                <a:solidFill>
                  <a:srgbClr val="FF0000"/>
                </a:solidFill>
              </a:rPr>
              <a:t>PSP</a:t>
            </a:r>
            <a:r>
              <a:rPr lang="zh-CN" altLang="en-US" sz="2400" dirty="0"/>
              <a:t>）：由用户的应用程序代码使用。</a:t>
            </a:r>
          </a:p>
        </p:txBody>
      </p:sp>
      <p:sp>
        <p:nvSpPr>
          <p:cNvPr id="4" name="矩形 9"/>
          <p:cNvSpPr>
            <a:spLocks noChangeArrowheads="1"/>
          </p:cNvSpPr>
          <p:nvPr/>
        </p:nvSpPr>
        <p:spPr bwMode="auto">
          <a:xfrm>
            <a:off x="1368996" y="4431561"/>
            <a:ext cx="91356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+mn-ea"/>
                <a:ea typeface="+mn-ea"/>
              </a:rPr>
              <a:t>    </a:t>
            </a:r>
            <a:r>
              <a:rPr lang="zh-CN" altLang="en-US" sz="2400" dirty="0">
                <a:latin typeface="+mn-ea"/>
                <a:ea typeface="+mn-ea"/>
              </a:rPr>
              <a:t>堆栈指针的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最低两位永远是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，这意味着堆栈总是</a:t>
            </a:r>
            <a:r>
              <a:rPr lang="en-US" altLang="zh-CN" sz="2400" dirty="0">
                <a:latin typeface="+mn-ea"/>
                <a:ea typeface="+mn-ea"/>
              </a:rPr>
              <a:t>4 </a:t>
            </a:r>
            <a:r>
              <a:rPr lang="zh-CN" altLang="en-US" sz="2400" dirty="0">
                <a:latin typeface="+mn-ea"/>
                <a:ea typeface="+mn-ea"/>
              </a:rPr>
              <a:t>字节对齐的。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堆栈指针与堆栈</a:t>
            </a:r>
          </a:p>
        </p:txBody>
      </p:sp>
      <p:sp>
        <p:nvSpPr>
          <p:cNvPr id="6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286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7" dur="indefinite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4" grpId="1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240814" y="1847656"/>
            <a:ext cx="7632700" cy="433965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latin typeface="+mn-ea"/>
                <a:ea typeface="+mn-ea"/>
              </a:rPr>
              <a:t>        </a:t>
            </a:r>
            <a:r>
              <a:rPr kumimoji="1" lang="zh-CN" altLang="en-US" sz="2400" dirty="0">
                <a:latin typeface="+mn-ea"/>
                <a:ea typeface="+mn-ea"/>
              </a:rPr>
              <a:t>堆栈是一种存储器的使用模型，是一个按特定顺序进行存取的存储区，操作顺序为</a:t>
            </a:r>
            <a:endParaRPr kumimoji="1" lang="en-US" altLang="zh-CN" sz="2400" dirty="0">
              <a:latin typeface="+mn-ea"/>
              <a:ea typeface="+mn-ea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+mn-ea"/>
                <a:ea typeface="+mn-ea"/>
              </a:rPr>
              <a:t>            </a:t>
            </a:r>
            <a:endParaRPr kumimoji="1" lang="en-US" altLang="zh-CN" sz="2400" dirty="0">
              <a:latin typeface="+mn-ea"/>
              <a:ea typeface="+mn-ea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+mn-ea"/>
                <a:ea typeface="+mn-ea"/>
              </a:rPr>
              <a:t>       它使用一个专门的寄存器</a:t>
            </a:r>
            <a:r>
              <a:rPr kumimoji="1" lang="en-US" altLang="zh-CN" sz="2400" dirty="0">
                <a:latin typeface="+mn-ea"/>
                <a:ea typeface="+mn-ea"/>
              </a:rPr>
              <a:t>(</a:t>
            </a:r>
            <a:r>
              <a:rPr kumimoji="1" lang="zh-CN" altLang="en-US" sz="2400" dirty="0">
                <a:latin typeface="+mn-ea"/>
                <a:ea typeface="+mn-ea"/>
              </a:rPr>
              <a:t>堆栈指针</a:t>
            </a:r>
            <a:r>
              <a:rPr kumimoji="1" lang="en-US" altLang="zh-CN" sz="2400" dirty="0">
                <a:latin typeface="+mn-ea"/>
                <a:ea typeface="+mn-ea"/>
              </a:rPr>
              <a:t>)</a:t>
            </a:r>
            <a:r>
              <a:rPr kumimoji="1" lang="zh-CN" altLang="en-US" sz="2400" dirty="0">
                <a:latin typeface="+mn-ea"/>
                <a:ea typeface="+mn-ea"/>
              </a:rPr>
              <a:t>指向一块存储区域</a:t>
            </a:r>
            <a:r>
              <a:rPr kumimoji="1" lang="en-US" altLang="zh-CN" sz="2400" dirty="0">
                <a:latin typeface="+mn-ea"/>
                <a:ea typeface="+mn-ea"/>
              </a:rPr>
              <a:t>(</a:t>
            </a:r>
            <a:r>
              <a:rPr kumimoji="1" lang="zh-CN" altLang="en-US" sz="2400" dirty="0">
                <a:latin typeface="+mn-ea"/>
                <a:ea typeface="+mn-ea"/>
              </a:rPr>
              <a:t>堆栈</a:t>
            </a:r>
            <a:r>
              <a:rPr kumimoji="1" lang="en-US" altLang="zh-CN" sz="2400" dirty="0">
                <a:latin typeface="+mn-ea"/>
                <a:ea typeface="+mn-ea"/>
              </a:rPr>
              <a:t>)</a:t>
            </a:r>
            <a:r>
              <a:rPr kumimoji="1" lang="zh-CN" altLang="en-US" sz="2400" dirty="0">
                <a:latin typeface="+mn-ea"/>
                <a:ea typeface="+mn-ea"/>
              </a:rPr>
              <a:t>，指针所指向的存储单元即是堆栈的栈顶。存储器堆栈分为两种： </a:t>
            </a:r>
          </a:p>
          <a:p>
            <a:pPr lvl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§"/>
            </a:pPr>
            <a:r>
              <a:rPr kumimoji="1" lang="zh-CN" altLang="en-US" sz="2400" dirty="0">
                <a:latin typeface="+mn-ea"/>
                <a:ea typeface="+mn-ea"/>
              </a:rPr>
              <a:t>向上生长：向高地址方向生长，称为递增堆栈</a:t>
            </a:r>
          </a:p>
          <a:p>
            <a:pPr lvl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§"/>
            </a:pPr>
            <a:r>
              <a:rPr kumimoji="1" lang="zh-CN" altLang="en-US" sz="2400" dirty="0">
                <a:latin typeface="+mn-ea"/>
                <a:ea typeface="+mn-ea"/>
              </a:rPr>
              <a:t>向下生长：向低地址方向生长，称为递减堆栈</a:t>
            </a:r>
          </a:p>
          <a:p>
            <a:pPr lvl="1" algn="just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§"/>
            </a:pPr>
            <a:endParaRPr kumimoji="1" lang="en-US" altLang="zh-CN" sz="2400" dirty="0">
              <a:latin typeface="+mn-ea"/>
              <a:ea typeface="+mn-ea"/>
            </a:endParaRPr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>
            <a:off x="7804906" y="5012562"/>
            <a:ext cx="1223963" cy="0"/>
          </a:xfrm>
          <a:prstGeom prst="line">
            <a:avLst/>
          </a:prstGeom>
          <a:noFill/>
          <a:ln w="571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7804906" y="5586906"/>
            <a:ext cx="1223963" cy="0"/>
          </a:xfrm>
          <a:prstGeom prst="line">
            <a:avLst/>
          </a:prstGeom>
          <a:noFill/>
          <a:ln w="571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422892" y="1163897"/>
            <a:ext cx="1817922" cy="535531"/>
          </a:xfrm>
          <a:prstGeom prst="rect">
            <a:avLst/>
          </a:prstGeom>
        </p:spPr>
        <p:txBody>
          <a:bodyPr/>
          <a:lstStyle/>
          <a:p>
            <a:pPr marL="457200" indent="-457200" defTabSz="91440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32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堆栈</a:t>
            </a:r>
          </a:p>
        </p:txBody>
      </p:sp>
      <p:sp>
        <p:nvSpPr>
          <p:cNvPr id="6" name="矩形 5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堆栈指针与堆栈</a:t>
            </a:r>
          </a:p>
        </p:txBody>
      </p:sp>
      <p:sp>
        <p:nvSpPr>
          <p:cNvPr id="7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188330" y="2223798"/>
            <a:ext cx="7563027" cy="956397"/>
            <a:chOff x="2227166" y="2488841"/>
            <a:chExt cx="7563027" cy="956397"/>
          </a:xfrm>
        </p:grpSpPr>
        <p:sp>
          <p:nvSpPr>
            <p:cNvPr id="8" name="文本框 7"/>
            <p:cNvSpPr txBox="1"/>
            <p:nvPr/>
          </p:nvSpPr>
          <p:spPr>
            <a:xfrm>
              <a:off x="6450645" y="2488841"/>
              <a:ext cx="33395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“先进后出”</a:t>
              </a:r>
              <a:r>
                <a:rPr lang="zh-CN" altLang="en-US" sz="2400" dirty="0">
                  <a:solidFill>
                    <a:srgbClr val="000000"/>
                  </a:solidFill>
                </a:rPr>
                <a:t>、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“后进</a:t>
              </a:r>
              <a:endParaRPr lang="zh-CN" altLang="en-US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227166" y="2983573"/>
              <a:ext cx="33395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ea typeface="楷体_GB2312"/>
                </a:rPr>
                <a:t>后出”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188330" y="2221208"/>
            <a:ext cx="7563027" cy="956397"/>
            <a:chOff x="2227166" y="2488841"/>
            <a:chExt cx="7563027" cy="956397"/>
          </a:xfrm>
        </p:grpSpPr>
        <p:sp>
          <p:nvSpPr>
            <p:cNvPr id="12" name="文本框 11"/>
            <p:cNvSpPr txBox="1"/>
            <p:nvPr/>
          </p:nvSpPr>
          <p:spPr>
            <a:xfrm>
              <a:off x="6450645" y="2488841"/>
              <a:ext cx="33395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“先进后出”</a:t>
              </a:r>
              <a:r>
                <a:rPr lang="zh-CN" altLang="en-US" sz="2400" dirty="0">
                  <a:solidFill>
                    <a:srgbClr val="FF0000"/>
                  </a:solidFill>
                </a:rPr>
                <a:t>、</a:t>
              </a:r>
              <a:r>
                <a:rPr kumimoji="1"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“后进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227166" y="2983573"/>
              <a:ext cx="33395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ea typeface="楷体_GB2312"/>
                </a:rPr>
                <a:t>后出”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013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/>
          <p:nvPr/>
        </p:nvGrpSpPr>
        <p:grpSpPr bwMode="auto">
          <a:xfrm>
            <a:off x="2185936" y="2645174"/>
            <a:ext cx="1371600" cy="2759075"/>
            <a:chOff x="672" y="2064"/>
            <a:chExt cx="864" cy="1738"/>
          </a:xfrm>
        </p:grpSpPr>
        <p:sp>
          <p:nvSpPr>
            <p:cNvPr id="3" name="Text Box 5"/>
            <p:cNvSpPr txBox="1">
              <a:spLocks noChangeArrowheads="1"/>
            </p:cNvSpPr>
            <p:nvPr/>
          </p:nvSpPr>
          <p:spPr bwMode="auto">
            <a:xfrm>
              <a:off x="1008" y="3552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zh-CN" altLang="en-US" sz="2000" b="0">
                  <a:latin typeface="Times New Roman" panose="02020603050405020304" pitchFamily="18" charset="0"/>
                  <a:ea typeface="华文新魏" panose="02010800040101010101" pitchFamily="2" charset="-122"/>
                </a:rPr>
                <a:t>栈底</a:t>
              </a:r>
            </a:p>
          </p:txBody>
        </p:sp>
        <p:sp>
          <p:nvSpPr>
            <p:cNvPr id="4" name="Text Box 6"/>
            <p:cNvSpPr txBox="1">
              <a:spLocks noChangeArrowheads="1"/>
            </p:cNvSpPr>
            <p:nvPr/>
          </p:nvSpPr>
          <p:spPr bwMode="auto">
            <a:xfrm>
              <a:off x="1008" y="2064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zh-CN" altLang="en-US" sz="2000" b="0">
                  <a:latin typeface="Times New Roman" panose="02020603050405020304" pitchFamily="18" charset="0"/>
                  <a:ea typeface="华文新魏" panose="02010800040101010101" pitchFamily="2" charset="-122"/>
                </a:rPr>
                <a:t>栈顶</a:t>
              </a:r>
            </a:p>
          </p:txBody>
        </p:sp>
        <p:sp>
          <p:nvSpPr>
            <p:cNvPr id="5" name="Text Box 7"/>
            <p:cNvSpPr txBox="1">
              <a:spLocks noChangeArrowheads="1"/>
            </p:cNvSpPr>
            <p:nvPr/>
          </p:nvSpPr>
          <p:spPr bwMode="auto">
            <a:xfrm>
              <a:off x="1008" y="2832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zh-CN" altLang="en-US" sz="2000" b="0">
                  <a:latin typeface="Times New Roman" panose="02020603050405020304" pitchFamily="18" charset="0"/>
                  <a:ea typeface="华文新魏" panose="02010800040101010101" pitchFamily="2" charset="-122"/>
                </a:rPr>
                <a:t>栈区</a:t>
              </a:r>
            </a:p>
          </p:txBody>
        </p:sp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672" y="2064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SP</a:t>
              </a:r>
              <a:r>
                <a:rPr kumimoji="1" lang="en-US" altLang="zh-CN" sz="2000" b="0">
                  <a:latin typeface="Times New Roman" panose="02020603050405020304" pitchFamily="18" charset="0"/>
                  <a:ea typeface="华文新魏" panose="02010800040101010101" pitchFamily="2" charset="-122"/>
                  <a:sym typeface="Wingdings" panose="05000000000000000000" pitchFamily="2" charset="2"/>
                </a:rPr>
                <a:t></a:t>
              </a:r>
              <a:endParaRPr kumimoji="1" lang="en-US" altLang="zh-CN" sz="2000" b="0"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</p:txBody>
        </p:sp>
      </p:grpSp>
      <p:grpSp>
        <p:nvGrpSpPr>
          <p:cNvPr id="7" name="Group 9"/>
          <p:cNvGrpSpPr/>
          <p:nvPr/>
        </p:nvGrpSpPr>
        <p:grpSpPr bwMode="auto">
          <a:xfrm>
            <a:off x="5081536" y="2645174"/>
            <a:ext cx="1752600" cy="2743200"/>
            <a:chOff x="2496" y="2064"/>
            <a:chExt cx="1104" cy="1728"/>
          </a:xfrm>
        </p:grpSpPr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2736" y="2736"/>
              <a:ext cx="6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zh-CN" altLang="en-US" sz="2000" b="0">
                  <a:latin typeface="Times New Roman" panose="02020603050405020304" pitchFamily="18" charset="0"/>
                  <a:ea typeface="华文新魏" panose="02010800040101010101" pitchFamily="2" charset="-122"/>
                </a:rPr>
                <a:t>堆栈存储区</a:t>
              </a:r>
            </a:p>
          </p:txBody>
        </p:sp>
        <p:sp>
          <p:nvSpPr>
            <p:cNvPr id="9" name="AutoShape 11"/>
            <p:cNvSpPr/>
            <p:nvPr/>
          </p:nvSpPr>
          <p:spPr bwMode="auto">
            <a:xfrm flipH="1">
              <a:off x="2496" y="2064"/>
              <a:ext cx="240" cy="1728"/>
            </a:xfrm>
            <a:prstGeom prst="leftBrace">
              <a:avLst>
                <a:gd name="adj1" fmla="val 6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0" name="AutoShape 12"/>
            <p:cNvSpPr/>
            <p:nvPr/>
          </p:nvSpPr>
          <p:spPr bwMode="auto">
            <a:xfrm>
              <a:off x="3360" y="2064"/>
              <a:ext cx="240" cy="1728"/>
            </a:xfrm>
            <a:prstGeom prst="leftBrace">
              <a:avLst>
                <a:gd name="adj1" fmla="val 6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grpSp>
        <p:nvGrpSpPr>
          <p:cNvPr id="11" name="Group 13"/>
          <p:cNvGrpSpPr/>
          <p:nvPr/>
        </p:nvGrpSpPr>
        <p:grpSpPr bwMode="auto">
          <a:xfrm>
            <a:off x="8358136" y="2645174"/>
            <a:ext cx="1371600" cy="2759075"/>
            <a:chOff x="4560" y="2064"/>
            <a:chExt cx="864" cy="1738"/>
          </a:xfrm>
        </p:grpSpPr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4560" y="3552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zh-CN" altLang="en-US" sz="2000" b="0">
                  <a:latin typeface="Times New Roman" panose="02020603050405020304" pitchFamily="18" charset="0"/>
                  <a:ea typeface="华文新魏" panose="02010800040101010101" pitchFamily="2" charset="-122"/>
                </a:rPr>
                <a:t>栈顶</a:t>
              </a:r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4560" y="2064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zh-CN" altLang="en-US" sz="2000" b="0">
                  <a:latin typeface="Times New Roman" panose="02020603050405020304" pitchFamily="18" charset="0"/>
                  <a:ea typeface="华文新魏" panose="02010800040101010101" pitchFamily="2" charset="-122"/>
                </a:rPr>
                <a:t>栈底</a:t>
              </a:r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4560" y="2832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zh-CN" altLang="en-US" sz="2000" b="0">
                  <a:latin typeface="Times New Roman" panose="02020603050405020304" pitchFamily="18" charset="0"/>
                  <a:ea typeface="华文新魏" panose="02010800040101010101" pitchFamily="2" charset="-122"/>
                </a:rPr>
                <a:t>栈区</a:t>
              </a:r>
            </a:p>
          </p:txBody>
        </p: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4896" y="3552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zh-CN" sz="2000" b="0">
                  <a:latin typeface="Times New Roman" panose="02020603050405020304" pitchFamily="18" charset="0"/>
                  <a:ea typeface="华文新魏" panose="02010800040101010101" pitchFamily="2" charset="-122"/>
                  <a:sym typeface="Wingdings" panose="05000000000000000000" pitchFamily="2" charset="2"/>
                </a:rPr>
                <a:t></a:t>
              </a:r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SP</a:t>
              </a:r>
              <a:endParaRPr kumimoji="1" lang="en-US" altLang="zh-CN" sz="2000"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</p:txBody>
        </p:sp>
      </p:grpSp>
      <p:grpSp>
        <p:nvGrpSpPr>
          <p:cNvPr id="16" name="Group 18"/>
          <p:cNvGrpSpPr/>
          <p:nvPr/>
        </p:nvGrpSpPr>
        <p:grpSpPr bwMode="auto">
          <a:xfrm>
            <a:off x="3557536" y="2340374"/>
            <a:ext cx="4800600" cy="3352800"/>
            <a:chOff x="1536" y="1872"/>
            <a:chExt cx="3024" cy="2112"/>
          </a:xfrm>
        </p:grpSpPr>
        <p:grpSp>
          <p:nvGrpSpPr>
            <p:cNvPr id="17" name="Group 19"/>
            <p:cNvGrpSpPr/>
            <p:nvPr/>
          </p:nvGrpSpPr>
          <p:grpSpPr bwMode="auto">
            <a:xfrm>
              <a:off x="3600" y="1872"/>
              <a:ext cx="960" cy="2112"/>
              <a:chOff x="3600" y="1872"/>
              <a:chExt cx="960" cy="2112"/>
            </a:xfrm>
          </p:grpSpPr>
          <p:sp>
            <p:nvSpPr>
              <p:cNvPr id="29" name="Rectangle 20"/>
              <p:cNvSpPr>
                <a:spLocks noChangeArrowheads="1"/>
              </p:cNvSpPr>
              <p:nvPr/>
            </p:nvSpPr>
            <p:spPr bwMode="auto">
              <a:xfrm>
                <a:off x="3600" y="2064"/>
                <a:ext cx="960" cy="240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30" name="Line 21"/>
              <p:cNvSpPr>
                <a:spLocks noChangeShapeType="1"/>
              </p:cNvSpPr>
              <p:nvPr/>
            </p:nvSpPr>
            <p:spPr bwMode="auto">
              <a:xfrm flipV="1">
                <a:off x="3600" y="1872"/>
                <a:ext cx="0" cy="21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Line 22"/>
              <p:cNvSpPr>
                <a:spLocks noChangeShapeType="1"/>
              </p:cNvSpPr>
              <p:nvPr/>
            </p:nvSpPr>
            <p:spPr bwMode="auto">
              <a:xfrm flipV="1">
                <a:off x="4560" y="1872"/>
                <a:ext cx="0" cy="21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Rectangle 23"/>
              <p:cNvSpPr>
                <a:spLocks noChangeArrowheads="1"/>
              </p:cNvSpPr>
              <p:nvPr/>
            </p:nvSpPr>
            <p:spPr bwMode="auto">
              <a:xfrm>
                <a:off x="3600" y="2304"/>
                <a:ext cx="960" cy="240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33" name="Rectangle 24"/>
              <p:cNvSpPr>
                <a:spLocks noChangeArrowheads="1"/>
              </p:cNvSpPr>
              <p:nvPr/>
            </p:nvSpPr>
            <p:spPr bwMode="auto">
              <a:xfrm>
                <a:off x="3600" y="2544"/>
                <a:ext cx="960" cy="7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34" name="Rectangle 25"/>
              <p:cNvSpPr>
                <a:spLocks noChangeArrowheads="1"/>
              </p:cNvSpPr>
              <p:nvPr/>
            </p:nvSpPr>
            <p:spPr bwMode="auto">
              <a:xfrm>
                <a:off x="3600" y="3312"/>
                <a:ext cx="960" cy="240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35" name="Rectangle 26"/>
              <p:cNvSpPr>
                <a:spLocks noChangeArrowheads="1"/>
              </p:cNvSpPr>
              <p:nvPr/>
            </p:nvSpPr>
            <p:spPr bwMode="auto">
              <a:xfrm>
                <a:off x="3600" y="3552"/>
                <a:ext cx="960" cy="240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36" name="Text Box 27"/>
              <p:cNvSpPr txBox="1">
                <a:spLocks noChangeArrowheads="1"/>
              </p:cNvSpPr>
              <p:nvPr/>
            </p:nvSpPr>
            <p:spPr bwMode="auto">
              <a:xfrm>
                <a:off x="3936" y="2688"/>
                <a:ext cx="528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000" b="0"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向下增长</a:t>
                </a:r>
              </a:p>
            </p:txBody>
          </p:sp>
          <p:sp>
            <p:nvSpPr>
              <p:cNvPr id="37" name="AutoShape 28"/>
              <p:cNvSpPr>
                <a:spLocks noChangeArrowheads="1"/>
              </p:cNvSpPr>
              <p:nvPr/>
            </p:nvSpPr>
            <p:spPr bwMode="auto">
              <a:xfrm>
                <a:off x="3792" y="2640"/>
                <a:ext cx="144" cy="624"/>
              </a:xfrm>
              <a:prstGeom prst="downArrow">
                <a:avLst>
                  <a:gd name="adj1" fmla="val 50000"/>
                  <a:gd name="adj2" fmla="val 108333"/>
                </a:avLst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</p:grpSp>
        <p:grpSp>
          <p:nvGrpSpPr>
            <p:cNvPr id="18" name="Group 29"/>
            <p:cNvGrpSpPr/>
            <p:nvPr/>
          </p:nvGrpSpPr>
          <p:grpSpPr bwMode="auto">
            <a:xfrm>
              <a:off x="1536" y="1872"/>
              <a:ext cx="960" cy="2112"/>
              <a:chOff x="1536" y="1872"/>
              <a:chExt cx="960" cy="2112"/>
            </a:xfrm>
          </p:grpSpPr>
          <p:sp>
            <p:nvSpPr>
              <p:cNvPr id="19" name="Rectangle 30"/>
              <p:cNvSpPr>
                <a:spLocks noChangeArrowheads="1"/>
              </p:cNvSpPr>
              <p:nvPr/>
            </p:nvSpPr>
            <p:spPr bwMode="auto">
              <a:xfrm>
                <a:off x="1536" y="2544"/>
                <a:ext cx="960" cy="7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grpSp>
            <p:nvGrpSpPr>
              <p:cNvPr id="20" name="Group 31"/>
              <p:cNvGrpSpPr/>
              <p:nvPr/>
            </p:nvGrpSpPr>
            <p:grpSpPr bwMode="auto">
              <a:xfrm>
                <a:off x="1536" y="1872"/>
                <a:ext cx="960" cy="2112"/>
                <a:chOff x="1536" y="1872"/>
                <a:chExt cx="960" cy="2112"/>
              </a:xfrm>
            </p:grpSpPr>
            <p:sp>
              <p:nvSpPr>
                <p:cNvPr id="21" name="Rectangle 32"/>
                <p:cNvSpPr>
                  <a:spLocks noChangeArrowheads="1"/>
                </p:cNvSpPr>
                <p:nvPr/>
              </p:nvSpPr>
              <p:spPr bwMode="auto">
                <a:xfrm>
                  <a:off x="1536" y="2064"/>
                  <a:ext cx="960" cy="240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22" name="Line 33"/>
                <p:cNvSpPr>
                  <a:spLocks noChangeShapeType="1"/>
                </p:cNvSpPr>
                <p:nvPr/>
              </p:nvSpPr>
              <p:spPr bwMode="auto">
                <a:xfrm flipV="1">
                  <a:off x="1536" y="1872"/>
                  <a:ext cx="0" cy="21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2496" y="1872"/>
                  <a:ext cx="0" cy="21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Rectangle 35"/>
                <p:cNvSpPr>
                  <a:spLocks noChangeArrowheads="1"/>
                </p:cNvSpPr>
                <p:nvPr/>
              </p:nvSpPr>
              <p:spPr bwMode="auto">
                <a:xfrm>
                  <a:off x="1536" y="2304"/>
                  <a:ext cx="960" cy="240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25" name="Rectangle 36"/>
                <p:cNvSpPr>
                  <a:spLocks noChangeArrowheads="1"/>
                </p:cNvSpPr>
                <p:nvPr/>
              </p:nvSpPr>
              <p:spPr bwMode="auto">
                <a:xfrm>
                  <a:off x="1536" y="3312"/>
                  <a:ext cx="960" cy="240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26" name="Rectangle 37"/>
                <p:cNvSpPr>
                  <a:spLocks noChangeArrowheads="1"/>
                </p:cNvSpPr>
                <p:nvPr/>
              </p:nvSpPr>
              <p:spPr bwMode="auto">
                <a:xfrm>
                  <a:off x="1536" y="3552"/>
                  <a:ext cx="960" cy="240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27" name="AutoShape 38"/>
                <p:cNvSpPr>
                  <a:spLocks noChangeArrowheads="1"/>
                </p:cNvSpPr>
                <p:nvPr/>
              </p:nvSpPr>
              <p:spPr bwMode="auto">
                <a:xfrm>
                  <a:off x="2160" y="2640"/>
                  <a:ext cx="144" cy="624"/>
                </a:xfrm>
                <a:prstGeom prst="upArrow">
                  <a:avLst>
                    <a:gd name="adj1" fmla="val 50000"/>
                    <a:gd name="adj2" fmla="val 108333"/>
                  </a:avLst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28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1584" y="2688"/>
                  <a:ext cx="528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CC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kumimoji="1" lang="zh-CN" altLang="en-US" sz="2000" b="0">
                      <a:latin typeface="Times New Roman" panose="02020603050405020304" pitchFamily="18" charset="0"/>
                      <a:ea typeface="华文新魏" panose="02010800040101010101" pitchFamily="2" charset="-122"/>
                    </a:rPr>
                    <a:t>向上增长</a:t>
                  </a:r>
                </a:p>
              </p:txBody>
            </p:sp>
          </p:grpSp>
        </p:grpSp>
      </p:grpSp>
      <p:sp>
        <p:nvSpPr>
          <p:cNvPr id="38" name="Rectangle 40"/>
          <p:cNvSpPr>
            <a:spLocks noChangeArrowheads="1"/>
          </p:cNvSpPr>
          <p:nvPr/>
        </p:nvSpPr>
        <p:spPr bwMode="auto">
          <a:xfrm>
            <a:off x="5233936" y="5693174"/>
            <a:ext cx="1524000" cy="3810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000" b="0">
                <a:latin typeface="Times New Roman" panose="02020603050405020304" pitchFamily="18" charset="0"/>
              </a:rPr>
              <a:t>0x12345678</a:t>
            </a:r>
          </a:p>
        </p:txBody>
      </p:sp>
      <p:sp>
        <p:nvSpPr>
          <p:cNvPr id="39" name="Rectangle 41"/>
          <p:cNvSpPr>
            <a:spLocks noChangeArrowheads="1"/>
          </p:cNvSpPr>
          <p:nvPr/>
        </p:nvSpPr>
        <p:spPr bwMode="auto">
          <a:xfrm>
            <a:off x="5157736" y="1959374"/>
            <a:ext cx="1524000" cy="3810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000" b="0">
                <a:latin typeface="Times New Roman" panose="02020603050405020304" pitchFamily="18" charset="0"/>
              </a:rPr>
              <a:t>0x12345678</a:t>
            </a:r>
          </a:p>
        </p:txBody>
      </p:sp>
      <p:grpSp>
        <p:nvGrpSpPr>
          <p:cNvPr id="40" name="Group 42"/>
          <p:cNvGrpSpPr/>
          <p:nvPr/>
        </p:nvGrpSpPr>
        <p:grpSpPr bwMode="auto">
          <a:xfrm>
            <a:off x="3709936" y="2035574"/>
            <a:ext cx="1447800" cy="609600"/>
            <a:chOff x="1632" y="1680"/>
            <a:chExt cx="912" cy="384"/>
          </a:xfrm>
        </p:grpSpPr>
        <p:sp>
          <p:nvSpPr>
            <p:cNvPr id="41" name="Freeform 43"/>
            <p:cNvSpPr/>
            <p:nvPr/>
          </p:nvSpPr>
          <p:spPr bwMode="auto">
            <a:xfrm>
              <a:off x="2016" y="1728"/>
              <a:ext cx="528" cy="336"/>
            </a:xfrm>
            <a:custGeom>
              <a:avLst/>
              <a:gdLst>
                <a:gd name="T0" fmla="*/ 0 w 480"/>
                <a:gd name="T1" fmla="*/ 457 h 288"/>
                <a:gd name="T2" fmla="*/ 129 w 480"/>
                <a:gd name="T3" fmla="*/ 76 h 288"/>
                <a:gd name="T4" fmla="*/ 639 w 480"/>
                <a:gd name="T5" fmla="*/ 0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0" h="288">
                  <a:moveTo>
                    <a:pt x="0" y="288"/>
                  </a:moveTo>
                  <a:cubicBezTo>
                    <a:pt x="8" y="192"/>
                    <a:pt x="16" y="96"/>
                    <a:pt x="96" y="48"/>
                  </a:cubicBezTo>
                  <a:cubicBezTo>
                    <a:pt x="176" y="0"/>
                    <a:pt x="328" y="0"/>
                    <a:pt x="480" y="0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Text Box 44"/>
            <p:cNvSpPr txBox="1">
              <a:spLocks noChangeArrowheads="1"/>
            </p:cNvSpPr>
            <p:nvPr/>
          </p:nvSpPr>
          <p:spPr bwMode="auto">
            <a:xfrm>
              <a:off x="1632" y="1680"/>
              <a:ext cx="816" cy="250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zh-CN" altLang="en-US" sz="2000" b="0">
                  <a:latin typeface="Times New Roman" panose="02020603050405020304" pitchFamily="18" charset="0"/>
                  <a:ea typeface="华文新魏" panose="02010800040101010101" pitchFamily="2" charset="-122"/>
                </a:rPr>
                <a:t>堆栈压栈</a:t>
              </a:r>
            </a:p>
          </p:txBody>
        </p:sp>
      </p:grpSp>
      <p:grpSp>
        <p:nvGrpSpPr>
          <p:cNvPr id="43" name="Group 45"/>
          <p:cNvGrpSpPr/>
          <p:nvPr/>
        </p:nvGrpSpPr>
        <p:grpSpPr bwMode="auto">
          <a:xfrm>
            <a:off x="6757936" y="5388374"/>
            <a:ext cx="1524000" cy="625475"/>
            <a:chOff x="3552" y="3792"/>
            <a:chExt cx="960" cy="394"/>
          </a:xfrm>
        </p:grpSpPr>
        <p:sp>
          <p:nvSpPr>
            <p:cNvPr id="44" name="Freeform 46"/>
            <p:cNvSpPr/>
            <p:nvPr/>
          </p:nvSpPr>
          <p:spPr bwMode="auto">
            <a:xfrm flipH="1" flipV="1">
              <a:off x="3552" y="3792"/>
              <a:ext cx="528" cy="336"/>
            </a:xfrm>
            <a:custGeom>
              <a:avLst/>
              <a:gdLst>
                <a:gd name="T0" fmla="*/ 0 w 480"/>
                <a:gd name="T1" fmla="*/ 457 h 288"/>
                <a:gd name="T2" fmla="*/ 129 w 480"/>
                <a:gd name="T3" fmla="*/ 76 h 288"/>
                <a:gd name="T4" fmla="*/ 639 w 480"/>
                <a:gd name="T5" fmla="*/ 0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0" h="288">
                  <a:moveTo>
                    <a:pt x="0" y="288"/>
                  </a:moveTo>
                  <a:cubicBezTo>
                    <a:pt x="8" y="192"/>
                    <a:pt x="16" y="96"/>
                    <a:pt x="96" y="48"/>
                  </a:cubicBezTo>
                  <a:cubicBezTo>
                    <a:pt x="176" y="0"/>
                    <a:pt x="328" y="0"/>
                    <a:pt x="480" y="0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Text Box 47"/>
            <p:cNvSpPr txBox="1">
              <a:spLocks noChangeArrowheads="1"/>
            </p:cNvSpPr>
            <p:nvPr/>
          </p:nvSpPr>
          <p:spPr bwMode="auto">
            <a:xfrm>
              <a:off x="3696" y="3936"/>
              <a:ext cx="816" cy="250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zh-CN" altLang="en-US" sz="2000" b="0">
                  <a:latin typeface="Times New Roman" panose="02020603050405020304" pitchFamily="18" charset="0"/>
                  <a:ea typeface="华文新魏" panose="02010800040101010101" pitchFamily="2" charset="-122"/>
                </a:rPr>
                <a:t>堆栈压栈</a:t>
              </a:r>
            </a:p>
          </p:txBody>
        </p:sp>
      </p:grpSp>
      <p:sp>
        <p:nvSpPr>
          <p:cNvPr id="46" name="矩形 45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堆栈指针与堆栈</a:t>
            </a:r>
          </a:p>
        </p:txBody>
      </p:sp>
      <p:sp>
        <p:nvSpPr>
          <p:cNvPr id="47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605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 autoUpdateAnimBg="0"/>
      <p:bldP spid="39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561799" y="3071813"/>
            <a:ext cx="7543800" cy="2895600"/>
            <a:chOff x="624" y="2448"/>
            <a:chExt cx="4752" cy="1824"/>
          </a:xfrm>
        </p:grpSpPr>
        <p:sp>
          <p:nvSpPr>
            <p:cNvPr id="3" name="Rectangle 3"/>
            <p:cNvSpPr>
              <a:spLocks noChangeArrowheads="1"/>
            </p:cNvSpPr>
            <p:nvPr/>
          </p:nvSpPr>
          <p:spPr bwMode="auto">
            <a:xfrm>
              <a:off x="624" y="2448"/>
              <a:ext cx="4752" cy="182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4" name="Group 4"/>
            <p:cNvGrpSpPr/>
            <p:nvPr/>
          </p:nvGrpSpPr>
          <p:grpSpPr bwMode="auto">
            <a:xfrm>
              <a:off x="720" y="2832"/>
              <a:ext cx="4128" cy="1392"/>
              <a:chOff x="720" y="2832"/>
              <a:chExt cx="4128" cy="1392"/>
            </a:xfrm>
          </p:grpSpPr>
          <p:grpSp>
            <p:nvGrpSpPr>
              <p:cNvPr id="5" name="Group 5"/>
              <p:cNvGrpSpPr/>
              <p:nvPr/>
            </p:nvGrpSpPr>
            <p:grpSpPr bwMode="auto">
              <a:xfrm>
                <a:off x="3024" y="3024"/>
                <a:ext cx="864" cy="250"/>
                <a:chOff x="3024" y="3024"/>
                <a:chExt cx="864" cy="250"/>
              </a:xfrm>
            </p:grpSpPr>
            <p:sp>
              <p:nvSpPr>
                <p:cNvPr id="29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3360" y="3024"/>
                  <a:ext cx="5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CC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kumimoji="1" lang="zh-CN" altLang="en-US" sz="2000">
                      <a:latin typeface="Times New Roman" panose="02020603050405020304" pitchFamily="18" charset="0"/>
                      <a:ea typeface="楷体_GB2312" pitchFamily="49" charset="-122"/>
                    </a:rPr>
                    <a:t>栈顶</a:t>
                  </a:r>
                </a:p>
              </p:txBody>
            </p:sp>
            <p:sp>
              <p:nvSpPr>
                <p:cNvPr id="30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3024" y="3024"/>
                  <a:ext cx="5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CC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sym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kumimoji="1" lang="en-US" altLang="zh-CN" sz="200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SP</a:t>
                  </a:r>
                  <a:r>
                    <a:rPr kumimoji="1" lang="en-US" altLang="zh-CN" sz="2000">
                      <a:latin typeface="Times New Roman" panose="02020603050405020304" pitchFamily="18" charset="0"/>
                      <a:ea typeface="楷体_GB2312" pitchFamily="49" charset="-122"/>
                      <a:sym typeface="Wingdings" panose="05000000000000000000" pitchFamily="2" charset="2"/>
                    </a:rPr>
                    <a:t></a:t>
                  </a:r>
                  <a:endParaRPr kumimoji="1" lang="en-US" altLang="zh-CN" sz="200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6" name="Group 8"/>
              <p:cNvGrpSpPr/>
              <p:nvPr/>
            </p:nvGrpSpPr>
            <p:grpSpPr bwMode="auto">
              <a:xfrm>
                <a:off x="720" y="2832"/>
                <a:ext cx="4128" cy="1392"/>
                <a:chOff x="720" y="2832"/>
                <a:chExt cx="4128" cy="1392"/>
              </a:xfrm>
            </p:grpSpPr>
            <p:grpSp>
              <p:nvGrpSpPr>
                <p:cNvPr id="7" name="Group 9"/>
                <p:cNvGrpSpPr/>
                <p:nvPr/>
              </p:nvGrpSpPr>
              <p:grpSpPr bwMode="auto">
                <a:xfrm>
                  <a:off x="720" y="3264"/>
                  <a:ext cx="864" cy="250"/>
                  <a:chOff x="720" y="3264"/>
                  <a:chExt cx="864" cy="250"/>
                </a:xfrm>
              </p:grpSpPr>
              <p:sp>
                <p:nvSpPr>
                  <p:cNvPr id="27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56" y="3264"/>
                    <a:ext cx="5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CC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  <a:buFontTx/>
                      <a:buNone/>
                    </a:pPr>
                    <a:r>
                      <a:rPr kumimoji="1" lang="zh-CN" altLang="en-US" sz="2000">
                        <a:latin typeface="Times New Roman" panose="02020603050405020304" pitchFamily="18" charset="0"/>
                        <a:ea typeface="楷体_GB2312" pitchFamily="49" charset="-122"/>
                      </a:rPr>
                      <a:t>栈顶</a:t>
                    </a:r>
                  </a:p>
                </p:txBody>
              </p:sp>
              <p:sp>
                <p:nvSpPr>
                  <p:cNvPr id="28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20" y="3264"/>
                    <a:ext cx="52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CC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Arial" panose="020B0604020202020204" pitchFamily="34" charset="0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  <a:buFontTx/>
                      <a:buNone/>
                    </a:pPr>
                    <a:r>
                      <a:rPr kumimoji="1" lang="en-US" altLang="zh-CN" sz="200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rPr>
                      <a:t>SP</a:t>
                    </a:r>
                    <a:r>
                      <a:rPr kumimoji="1" lang="en-US" altLang="zh-CN" sz="2000">
                        <a:latin typeface="Times New Roman" panose="02020603050405020304" pitchFamily="18" charset="0"/>
                        <a:ea typeface="楷体_GB2312" pitchFamily="49" charset="-122"/>
                        <a:sym typeface="Wingdings" panose="05000000000000000000" pitchFamily="2" charset="2"/>
                      </a:rPr>
                      <a:t></a:t>
                    </a:r>
                    <a:endParaRPr kumimoji="1" lang="en-US" altLang="zh-CN" sz="2000"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8" name="Group 12"/>
                <p:cNvGrpSpPr/>
                <p:nvPr/>
              </p:nvGrpSpPr>
              <p:grpSpPr bwMode="auto">
                <a:xfrm>
                  <a:off x="1056" y="2832"/>
                  <a:ext cx="3792" cy="1392"/>
                  <a:chOff x="1056" y="2832"/>
                  <a:chExt cx="3792" cy="1392"/>
                </a:xfrm>
              </p:grpSpPr>
              <p:grpSp>
                <p:nvGrpSpPr>
                  <p:cNvPr id="9" name="Group 13"/>
                  <p:cNvGrpSpPr/>
                  <p:nvPr/>
                </p:nvGrpSpPr>
                <p:grpSpPr bwMode="auto">
                  <a:xfrm>
                    <a:off x="3360" y="2832"/>
                    <a:ext cx="1488" cy="1392"/>
                    <a:chOff x="3504" y="2832"/>
                    <a:chExt cx="1488" cy="1392"/>
                  </a:xfrm>
                </p:grpSpPr>
                <p:grpSp>
                  <p:nvGrpSpPr>
                    <p:cNvPr id="19" name="Group 14"/>
                    <p:cNvGrpSpPr/>
                    <p:nvPr/>
                  </p:nvGrpSpPr>
                  <p:grpSpPr bwMode="auto">
                    <a:xfrm>
                      <a:off x="3504" y="2832"/>
                      <a:ext cx="1488" cy="1392"/>
                      <a:chOff x="3504" y="2832"/>
                      <a:chExt cx="1488" cy="1392"/>
                    </a:xfrm>
                  </p:grpSpPr>
                  <p:sp>
                    <p:nvSpPr>
                      <p:cNvPr id="21" name="Rectangle 1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32" y="3264"/>
                        <a:ext cx="960" cy="24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9525">
                        <a:solidFill>
                          <a:schemeClr val="tx1"/>
                        </a:solidFill>
                        <a:miter lim="800000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/>
                      </a:p>
                    </p:txBody>
                  </p:sp>
                  <p:sp>
                    <p:nvSpPr>
                      <p:cNvPr id="22" name="Line 16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992" y="2832"/>
                        <a:ext cx="0" cy="139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3" name="Rectangle 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32" y="3504"/>
                        <a:ext cx="960" cy="43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9525">
                        <a:solidFill>
                          <a:schemeClr val="tx1"/>
                        </a:solidFill>
                        <a:miter lim="800000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/>
                      </a:p>
                    </p:txBody>
                  </p:sp>
                  <p:sp>
                    <p:nvSpPr>
                      <p:cNvPr id="24" name="Text Box 1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504" y="3936"/>
                        <a:ext cx="5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9pPr>
                      </a:lstStyle>
                      <a:p>
                        <a:pPr algn="ctr">
                          <a:spcBef>
                            <a:spcPct val="50000"/>
                          </a:spcBef>
                          <a:buFontTx/>
                          <a:buNone/>
                        </a:pPr>
                        <a:r>
                          <a:rPr kumimoji="1" lang="zh-CN" altLang="en-US" sz="2000">
                            <a:latin typeface="Times New Roman" panose="02020603050405020304" pitchFamily="18" charset="0"/>
                            <a:ea typeface="楷体_GB2312" pitchFamily="49" charset="-122"/>
                          </a:rPr>
                          <a:t>栈底</a:t>
                        </a:r>
                      </a:p>
                    </p:txBody>
                  </p:sp>
                  <p:sp>
                    <p:nvSpPr>
                      <p:cNvPr id="25" name="Line 19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032" y="2832"/>
                        <a:ext cx="0" cy="139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6" name="Rectangle 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32" y="3936"/>
                        <a:ext cx="960" cy="24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9525">
                        <a:solidFill>
                          <a:schemeClr val="tx1"/>
                        </a:solidFill>
                        <a:miter lim="800000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/>
                      </a:p>
                    </p:txBody>
                  </p:sp>
                </p:grpSp>
                <p:sp>
                  <p:nvSpPr>
                    <p:cNvPr id="20" name="Text Box 2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224" y="3600"/>
                      <a:ext cx="624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CC99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9pPr>
                    </a:lstStyle>
                    <a:p>
                      <a:pPr algn="ctr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1" lang="zh-CN" altLang="en-US" sz="200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空堆栈</a:t>
                      </a:r>
                    </a:p>
                  </p:txBody>
                </p:sp>
              </p:grpSp>
              <p:grpSp>
                <p:nvGrpSpPr>
                  <p:cNvPr id="10" name="Group 22"/>
                  <p:cNvGrpSpPr/>
                  <p:nvPr/>
                </p:nvGrpSpPr>
                <p:grpSpPr bwMode="auto">
                  <a:xfrm>
                    <a:off x="1056" y="2832"/>
                    <a:ext cx="1488" cy="1392"/>
                    <a:chOff x="1200" y="2832"/>
                    <a:chExt cx="1488" cy="1392"/>
                  </a:xfrm>
                </p:grpSpPr>
                <p:grpSp>
                  <p:nvGrpSpPr>
                    <p:cNvPr id="11" name="Group 23"/>
                    <p:cNvGrpSpPr/>
                    <p:nvPr/>
                  </p:nvGrpSpPr>
                  <p:grpSpPr bwMode="auto">
                    <a:xfrm>
                      <a:off x="1200" y="2832"/>
                      <a:ext cx="1488" cy="1392"/>
                      <a:chOff x="1200" y="2832"/>
                      <a:chExt cx="1488" cy="1392"/>
                    </a:xfrm>
                  </p:grpSpPr>
                  <p:sp>
                    <p:nvSpPr>
                      <p:cNvPr id="13" name="Rectangle 2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28" y="3264"/>
                        <a:ext cx="960" cy="24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9525">
                        <a:solidFill>
                          <a:schemeClr val="tx1"/>
                        </a:solidFill>
                        <a:miter lim="800000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/>
                      </a:p>
                    </p:txBody>
                  </p:sp>
                  <p:sp>
                    <p:nvSpPr>
                      <p:cNvPr id="14" name="Line 25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688" y="2832"/>
                        <a:ext cx="0" cy="139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5" name="Rectangle 2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28" y="3504"/>
                        <a:ext cx="960" cy="43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9525">
                        <a:solidFill>
                          <a:schemeClr val="tx1"/>
                        </a:solidFill>
                        <a:miter lim="800000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/>
                      </a:p>
                    </p:txBody>
                  </p:sp>
                  <p:sp>
                    <p:nvSpPr>
                      <p:cNvPr id="16" name="Text Box 27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200" y="3936"/>
                        <a:ext cx="52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9pPr>
                      </a:lstStyle>
                      <a:p>
                        <a:pPr algn="ctr">
                          <a:spcBef>
                            <a:spcPct val="50000"/>
                          </a:spcBef>
                          <a:buFontTx/>
                          <a:buNone/>
                        </a:pPr>
                        <a:r>
                          <a:rPr kumimoji="1" lang="zh-CN" altLang="en-US" sz="2000">
                            <a:latin typeface="Times New Roman" panose="02020603050405020304" pitchFamily="18" charset="0"/>
                            <a:ea typeface="楷体_GB2312" pitchFamily="49" charset="-122"/>
                          </a:rPr>
                          <a:t>栈底</a:t>
                        </a:r>
                      </a:p>
                    </p:txBody>
                  </p:sp>
                  <p:sp>
                    <p:nvSpPr>
                      <p:cNvPr id="17" name="Line 28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1728" y="2832"/>
                        <a:ext cx="0" cy="139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8" name="Rectangle 2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28" y="3936"/>
                        <a:ext cx="960" cy="24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9525">
                        <a:solidFill>
                          <a:schemeClr val="tx1"/>
                        </a:solidFill>
                        <a:miter lim="800000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  <a:sym typeface="Arial" panose="020B0604020202020204" pitchFamily="34" charset="0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/>
                      </a:p>
                    </p:txBody>
                  </p:sp>
                </p:grpSp>
                <p:sp>
                  <p:nvSpPr>
                    <p:cNvPr id="12" name="Text Box 3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920" y="3600"/>
                      <a:ext cx="624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CC99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Arial" panose="020B0604020202020204" pitchFamily="34" charset="0"/>
                        </a:defRPr>
                      </a:lvl9pPr>
                    </a:lstStyle>
                    <a:p>
                      <a:pPr algn="ctr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1" lang="zh-CN" altLang="en-US" sz="200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满堆栈</a:t>
                      </a:r>
                    </a:p>
                  </p:txBody>
                </p:sp>
              </p:grpSp>
            </p:grpSp>
          </p:grpSp>
        </p:grpSp>
      </p:grp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2561799" y="1509713"/>
            <a:ext cx="777282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marL="342900" indent="-342900" algn="just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满堆栈：</a:t>
            </a:r>
            <a:r>
              <a:rPr kumimoji="1" lang="zh-CN" altLang="en-US" sz="2400" dirty="0">
                <a:latin typeface="+mn-ea"/>
                <a:ea typeface="+mn-ea"/>
              </a:rPr>
              <a:t>堆栈指针指向最后压入的堆栈的有效数据项；</a:t>
            </a:r>
            <a:endParaRPr kumimoji="1" lang="en-US" altLang="zh-CN" sz="2400" dirty="0">
              <a:latin typeface="+mn-ea"/>
              <a:ea typeface="+mn-ea"/>
            </a:endParaRPr>
          </a:p>
          <a:p>
            <a:pPr marL="342900" indent="-342900" algn="just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空堆栈：</a:t>
            </a:r>
            <a:r>
              <a:rPr kumimoji="1" lang="zh-CN" altLang="en-US" sz="2400" dirty="0">
                <a:latin typeface="+mn-ea"/>
                <a:ea typeface="+mn-ea"/>
              </a:rPr>
              <a:t>堆栈指针指向下一个待压入数据的空位置。 </a:t>
            </a:r>
          </a:p>
        </p:txBody>
      </p:sp>
      <p:sp>
        <p:nvSpPr>
          <p:cNvPr id="32" name="Rectangle 34"/>
          <p:cNvSpPr>
            <a:spLocks noChangeArrowheads="1"/>
          </p:cNvSpPr>
          <p:nvPr/>
        </p:nvSpPr>
        <p:spPr bwMode="auto">
          <a:xfrm>
            <a:off x="5838399" y="3148013"/>
            <a:ext cx="1524000" cy="3810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000" b="0">
                <a:latin typeface="Times New Roman" panose="02020603050405020304" pitchFamily="18" charset="0"/>
              </a:rPr>
              <a:t>0x12345678</a:t>
            </a:r>
          </a:p>
        </p:txBody>
      </p:sp>
      <p:grpSp>
        <p:nvGrpSpPr>
          <p:cNvPr id="33" name="Group 35"/>
          <p:cNvGrpSpPr/>
          <p:nvPr/>
        </p:nvGrpSpPr>
        <p:grpSpPr bwMode="auto">
          <a:xfrm>
            <a:off x="2714199" y="3986213"/>
            <a:ext cx="2895600" cy="396875"/>
            <a:chOff x="720" y="3024"/>
            <a:chExt cx="1824" cy="250"/>
          </a:xfrm>
        </p:grpSpPr>
        <p:sp>
          <p:nvSpPr>
            <p:cNvPr id="34" name="Rectangle 36"/>
            <p:cNvSpPr>
              <a:spLocks noChangeArrowheads="1"/>
            </p:cNvSpPr>
            <p:nvPr/>
          </p:nvSpPr>
          <p:spPr bwMode="auto">
            <a:xfrm>
              <a:off x="1584" y="3024"/>
              <a:ext cx="960" cy="24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000" b="0">
                  <a:solidFill>
                    <a:srgbClr val="FF0000"/>
                  </a:solidFill>
                  <a:latin typeface="Times New Roman" panose="02020603050405020304" pitchFamily="18" charset="0"/>
                </a:rPr>
                <a:t>0x12345678</a:t>
              </a:r>
            </a:p>
          </p:txBody>
        </p:sp>
        <p:grpSp>
          <p:nvGrpSpPr>
            <p:cNvPr id="35" name="Group 37"/>
            <p:cNvGrpSpPr/>
            <p:nvPr/>
          </p:nvGrpSpPr>
          <p:grpSpPr bwMode="auto">
            <a:xfrm>
              <a:off x="720" y="3024"/>
              <a:ext cx="864" cy="250"/>
              <a:chOff x="720" y="3024"/>
              <a:chExt cx="864" cy="250"/>
            </a:xfrm>
          </p:grpSpPr>
          <p:sp>
            <p:nvSpPr>
              <p:cNvPr id="36" name="Text Box 38"/>
              <p:cNvSpPr txBox="1">
                <a:spLocks noChangeArrowheads="1"/>
              </p:cNvSpPr>
              <p:nvPr/>
            </p:nvSpPr>
            <p:spPr bwMode="auto">
              <a:xfrm>
                <a:off x="1056" y="3024"/>
                <a:ext cx="52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000" b="0"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栈顶</a:t>
                </a:r>
              </a:p>
            </p:txBody>
          </p:sp>
          <p:sp>
            <p:nvSpPr>
              <p:cNvPr id="37" name="Text Box 39"/>
              <p:cNvSpPr txBox="1">
                <a:spLocks noChangeArrowheads="1"/>
              </p:cNvSpPr>
              <p:nvPr/>
            </p:nvSpPr>
            <p:spPr bwMode="auto">
              <a:xfrm>
                <a:off x="720" y="3024"/>
                <a:ext cx="52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SP</a:t>
                </a:r>
                <a:r>
                  <a:rPr kumimoji="1" lang="en-US" altLang="zh-CN" sz="2000" b="0">
                    <a:latin typeface="Times New Roman" panose="02020603050405020304" pitchFamily="18" charset="0"/>
                    <a:ea typeface="华文新魏" panose="02010800040101010101" pitchFamily="2" charset="-122"/>
                    <a:sym typeface="Wingdings" panose="05000000000000000000" pitchFamily="2" charset="2"/>
                  </a:rPr>
                  <a:t></a:t>
                </a:r>
                <a:endParaRPr kumimoji="1" lang="en-US" altLang="zh-CN" sz="2000" b="0"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</p:txBody>
          </p:sp>
        </p:grpSp>
      </p:grpSp>
      <p:grpSp>
        <p:nvGrpSpPr>
          <p:cNvPr id="38" name="Group 40"/>
          <p:cNvGrpSpPr/>
          <p:nvPr/>
        </p:nvGrpSpPr>
        <p:grpSpPr bwMode="auto">
          <a:xfrm>
            <a:off x="6371799" y="3605213"/>
            <a:ext cx="2895600" cy="762000"/>
            <a:chOff x="3024" y="2784"/>
            <a:chExt cx="1824" cy="480"/>
          </a:xfrm>
        </p:grpSpPr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3888" y="3024"/>
              <a:ext cx="960" cy="24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000" b="0">
                  <a:solidFill>
                    <a:srgbClr val="FF0000"/>
                  </a:solidFill>
                  <a:latin typeface="Times New Roman" panose="02020603050405020304" pitchFamily="18" charset="0"/>
                </a:rPr>
                <a:t>0x12345678</a:t>
              </a:r>
            </a:p>
          </p:txBody>
        </p:sp>
        <p:grpSp>
          <p:nvGrpSpPr>
            <p:cNvPr id="40" name="Group 42"/>
            <p:cNvGrpSpPr/>
            <p:nvPr/>
          </p:nvGrpSpPr>
          <p:grpSpPr bwMode="auto">
            <a:xfrm>
              <a:off x="3024" y="2784"/>
              <a:ext cx="864" cy="250"/>
              <a:chOff x="3024" y="2784"/>
              <a:chExt cx="864" cy="250"/>
            </a:xfrm>
          </p:grpSpPr>
          <p:sp>
            <p:nvSpPr>
              <p:cNvPr id="41" name="Text Box 43"/>
              <p:cNvSpPr txBox="1">
                <a:spLocks noChangeArrowheads="1"/>
              </p:cNvSpPr>
              <p:nvPr/>
            </p:nvSpPr>
            <p:spPr bwMode="auto">
              <a:xfrm>
                <a:off x="3360" y="2784"/>
                <a:ext cx="52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000" b="0"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栈顶</a:t>
                </a:r>
              </a:p>
            </p:txBody>
          </p:sp>
          <p:sp>
            <p:nvSpPr>
              <p:cNvPr id="42" name="Text Box 44"/>
              <p:cNvSpPr txBox="1">
                <a:spLocks noChangeArrowheads="1"/>
              </p:cNvSpPr>
              <p:nvPr/>
            </p:nvSpPr>
            <p:spPr bwMode="auto">
              <a:xfrm>
                <a:off x="3024" y="2784"/>
                <a:ext cx="52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SP</a:t>
                </a:r>
                <a:r>
                  <a:rPr kumimoji="1" lang="en-US" altLang="zh-CN" sz="2000" b="0">
                    <a:latin typeface="Times New Roman" panose="02020603050405020304" pitchFamily="18" charset="0"/>
                    <a:ea typeface="华文新魏" panose="02010800040101010101" pitchFamily="2" charset="-122"/>
                    <a:sym typeface="Wingdings" panose="05000000000000000000" pitchFamily="2" charset="2"/>
                  </a:rPr>
                  <a:t></a:t>
                </a:r>
                <a:endParaRPr kumimoji="1" lang="en-US" altLang="zh-CN" sz="2000" b="0"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</p:txBody>
          </p:sp>
        </p:grpSp>
      </p:grpSp>
      <p:sp>
        <p:nvSpPr>
          <p:cNvPr id="43" name="Rectangle 45"/>
          <p:cNvSpPr>
            <a:spLocks noChangeArrowheads="1"/>
          </p:cNvSpPr>
          <p:nvPr/>
        </p:nvSpPr>
        <p:spPr bwMode="auto">
          <a:xfrm>
            <a:off x="2790399" y="4367213"/>
            <a:ext cx="1143000" cy="3810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4" name="Rectangle 46"/>
          <p:cNvSpPr>
            <a:spLocks noChangeArrowheads="1"/>
          </p:cNvSpPr>
          <p:nvPr/>
        </p:nvSpPr>
        <p:spPr bwMode="auto">
          <a:xfrm>
            <a:off x="6447999" y="3986213"/>
            <a:ext cx="1143000" cy="3810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45" name="Group 47"/>
          <p:cNvGrpSpPr/>
          <p:nvPr/>
        </p:nvGrpSpPr>
        <p:grpSpPr bwMode="auto">
          <a:xfrm>
            <a:off x="4695399" y="3148013"/>
            <a:ext cx="1128713" cy="914400"/>
            <a:chOff x="1968" y="2496"/>
            <a:chExt cx="711" cy="576"/>
          </a:xfrm>
        </p:grpSpPr>
        <p:sp>
          <p:nvSpPr>
            <p:cNvPr id="46" name="Freeform 48"/>
            <p:cNvSpPr/>
            <p:nvPr/>
          </p:nvSpPr>
          <p:spPr bwMode="auto">
            <a:xfrm>
              <a:off x="2064" y="2606"/>
              <a:ext cx="615" cy="466"/>
            </a:xfrm>
            <a:custGeom>
              <a:avLst/>
              <a:gdLst>
                <a:gd name="T0" fmla="*/ 615 w 615"/>
                <a:gd name="T1" fmla="*/ 0 h 466"/>
                <a:gd name="T2" fmla="*/ 295 w 615"/>
                <a:gd name="T3" fmla="*/ 100 h 466"/>
                <a:gd name="T4" fmla="*/ 0 w 615"/>
                <a:gd name="T5" fmla="*/ 466 h 4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5" h="466">
                  <a:moveTo>
                    <a:pt x="615" y="0"/>
                  </a:moveTo>
                  <a:cubicBezTo>
                    <a:pt x="563" y="17"/>
                    <a:pt x="397" y="22"/>
                    <a:pt x="295" y="100"/>
                  </a:cubicBezTo>
                  <a:cubicBezTo>
                    <a:pt x="193" y="178"/>
                    <a:pt x="61" y="390"/>
                    <a:pt x="0" y="466"/>
                  </a:cubicBezTo>
                </a:path>
              </a:pathLst>
            </a:custGeom>
            <a:noFill/>
            <a:ln w="25400" cap="flat" cmpd="sng">
              <a:solidFill>
                <a:srgbClr val="0000FF"/>
              </a:solidFill>
              <a:prstDash val="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49"/>
            <p:cNvSpPr txBox="1">
              <a:spLocks noChangeArrowheads="1"/>
            </p:cNvSpPr>
            <p:nvPr/>
          </p:nvSpPr>
          <p:spPr bwMode="auto">
            <a:xfrm>
              <a:off x="1968" y="2496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zh-CN" altLang="en-US" sz="2000" b="0">
                  <a:latin typeface="Times New Roman" panose="02020603050405020304" pitchFamily="18" charset="0"/>
                  <a:ea typeface="华文新魏" panose="02010800040101010101" pitchFamily="2" charset="-122"/>
                </a:rPr>
                <a:t>压栈</a:t>
              </a:r>
            </a:p>
          </p:txBody>
        </p:sp>
      </p:grpSp>
      <p:grpSp>
        <p:nvGrpSpPr>
          <p:cNvPr id="48" name="Group 50"/>
          <p:cNvGrpSpPr/>
          <p:nvPr/>
        </p:nvGrpSpPr>
        <p:grpSpPr bwMode="auto">
          <a:xfrm>
            <a:off x="7348112" y="3148013"/>
            <a:ext cx="1233487" cy="914400"/>
            <a:chOff x="3639" y="2496"/>
            <a:chExt cx="777" cy="576"/>
          </a:xfrm>
        </p:grpSpPr>
        <p:sp>
          <p:nvSpPr>
            <p:cNvPr id="49" name="Freeform 51"/>
            <p:cNvSpPr/>
            <p:nvPr/>
          </p:nvSpPr>
          <p:spPr bwMode="auto">
            <a:xfrm flipH="1">
              <a:off x="3639" y="2606"/>
              <a:ext cx="777" cy="466"/>
            </a:xfrm>
            <a:custGeom>
              <a:avLst/>
              <a:gdLst>
                <a:gd name="T0" fmla="*/ 1241 w 615"/>
                <a:gd name="T1" fmla="*/ 0 h 466"/>
                <a:gd name="T2" fmla="*/ 595 w 615"/>
                <a:gd name="T3" fmla="*/ 100 h 466"/>
                <a:gd name="T4" fmla="*/ 0 w 615"/>
                <a:gd name="T5" fmla="*/ 466 h 4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5" h="466">
                  <a:moveTo>
                    <a:pt x="615" y="0"/>
                  </a:moveTo>
                  <a:cubicBezTo>
                    <a:pt x="563" y="17"/>
                    <a:pt x="397" y="22"/>
                    <a:pt x="295" y="100"/>
                  </a:cubicBezTo>
                  <a:cubicBezTo>
                    <a:pt x="193" y="178"/>
                    <a:pt x="61" y="390"/>
                    <a:pt x="0" y="466"/>
                  </a:cubicBezTo>
                </a:path>
              </a:pathLst>
            </a:custGeom>
            <a:noFill/>
            <a:ln w="25400" cap="flat" cmpd="sng">
              <a:solidFill>
                <a:srgbClr val="0000FF"/>
              </a:solidFill>
              <a:prstDash val="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 Box 52"/>
            <p:cNvSpPr txBox="1">
              <a:spLocks noChangeArrowheads="1"/>
            </p:cNvSpPr>
            <p:nvPr/>
          </p:nvSpPr>
          <p:spPr bwMode="auto">
            <a:xfrm>
              <a:off x="3840" y="2496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zh-CN" altLang="en-US" sz="2000" b="0">
                  <a:latin typeface="Times New Roman" panose="02020603050405020304" pitchFamily="18" charset="0"/>
                  <a:ea typeface="华文新魏" panose="02010800040101010101" pitchFamily="2" charset="-122"/>
                </a:rPr>
                <a:t>压栈</a:t>
              </a:r>
            </a:p>
          </p:txBody>
        </p:sp>
      </p:grpSp>
      <p:sp>
        <p:nvSpPr>
          <p:cNvPr id="51" name="矩形 50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堆栈指针与堆栈</a:t>
            </a:r>
          </a:p>
        </p:txBody>
      </p:sp>
      <p:sp>
        <p:nvSpPr>
          <p:cNvPr id="52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120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utoUpdateAnimBg="0"/>
      <p:bldP spid="32" grpId="0" animBg="1" autoUpdateAnimBg="0"/>
      <p:bldP spid="43" grpId="0" animBg="1"/>
      <p:bldP spid="4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180557" y="1450975"/>
            <a:ext cx="7488237" cy="4154984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+mn-ea"/>
                <a:ea typeface="+mn-ea"/>
              </a:rPr>
              <a:t>所以可以组合出四种类型的堆栈方式：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None/>
            </a:pPr>
            <a:r>
              <a:rPr kumimoji="1"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                </a:t>
            </a:r>
            <a:r>
              <a:rPr kumimoji="1" lang="zh-CN" altLang="en-US" sz="2400" dirty="0">
                <a:latin typeface="+mn-ea"/>
                <a:ea typeface="+mn-ea"/>
              </a:rPr>
              <a:t>堆栈向上增长，堆栈指针指向内含有效数据项的最高地址； 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None/>
            </a:pPr>
            <a:r>
              <a:rPr kumimoji="1"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                </a:t>
            </a:r>
            <a:r>
              <a:rPr kumimoji="1" lang="zh-CN" altLang="en-US" sz="2400" dirty="0">
                <a:latin typeface="+mn-ea"/>
                <a:ea typeface="+mn-ea"/>
              </a:rPr>
              <a:t>堆栈向上增长，堆栈指针指向堆栈上的第一个空位置； 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None/>
            </a:pPr>
            <a:r>
              <a:rPr kumimoji="1" lang="zh-CN" altLang="en-US" sz="2400" dirty="0">
                <a:latin typeface="+mn-ea"/>
                <a:ea typeface="+mn-ea"/>
              </a:rPr>
              <a:t>                 堆栈向下增长，堆栈指针指向内含有效数据项的最低地址；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None/>
            </a:pPr>
            <a:r>
              <a:rPr kumimoji="1"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                 </a:t>
            </a:r>
            <a:r>
              <a:rPr kumimoji="1" lang="zh-CN" altLang="en-US" sz="2400" dirty="0">
                <a:latin typeface="+mn-ea"/>
                <a:ea typeface="+mn-ea"/>
              </a:rPr>
              <a:t>堆栈向下增长，堆栈指针向堆栈下的第一个空位置。 </a:t>
            </a:r>
          </a:p>
        </p:txBody>
      </p:sp>
      <p:sp>
        <p:nvSpPr>
          <p:cNvPr id="3" name="矩形 2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堆栈指针与堆栈</a:t>
            </a:r>
          </a:p>
        </p:txBody>
      </p:sp>
      <p:sp>
        <p:nvSpPr>
          <p:cNvPr id="4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87828" y="1994813"/>
            <a:ext cx="1510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</a:rPr>
              <a:t>满递增：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87828" y="2912164"/>
            <a:ext cx="1510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</a:rPr>
              <a:t>空递增：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87828" y="3829515"/>
            <a:ext cx="1510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</a:rPr>
              <a:t>满递减：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87828" y="4746866"/>
            <a:ext cx="1510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</a:rPr>
              <a:t>空递减：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635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13768" y="2459831"/>
            <a:ext cx="7764463" cy="19383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b="0" dirty="0"/>
              <a:t>在</a:t>
            </a:r>
            <a:r>
              <a:rPr lang="en-US" altLang="zh-CN" sz="2400" b="0" dirty="0"/>
              <a:t>Cortex-M3</a:t>
            </a:r>
            <a:r>
              <a:rPr lang="zh-CN" altLang="en-US" sz="2400" b="0" dirty="0"/>
              <a:t>中，有专门的指令负责堆栈操作</a:t>
            </a:r>
            <a:r>
              <a:rPr lang="en-US" altLang="zh-CN" sz="2400" b="0" dirty="0"/>
              <a:t>——</a:t>
            </a:r>
            <a:r>
              <a:rPr lang="en-US" altLang="zh-CN" sz="2400" b="0" dirty="0">
                <a:solidFill>
                  <a:srgbClr val="FF0000"/>
                </a:solidFill>
              </a:rPr>
              <a:t>PUSH</a:t>
            </a:r>
            <a:r>
              <a:rPr lang="en-US" altLang="zh-CN" sz="2400" b="0" dirty="0"/>
              <a:t> </a:t>
            </a:r>
            <a:r>
              <a:rPr lang="zh-CN" altLang="en-US" sz="2400" b="0" dirty="0"/>
              <a:t>和</a:t>
            </a:r>
            <a:r>
              <a:rPr lang="en-US" altLang="zh-CN" sz="2400" b="0" dirty="0">
                <a:solidFill>
                  <a:srgbClr val="FF0000"/>
                </a:solidFill>
              </a:rPr>
              <a:t>POP</a:t>
            </a:r>
            <a:r>
              <a:rPr lang="zh-CN" altLang="en-US" sz="2400" b="0" dirty="0"/>
              <a:t>。它俩的汇编语言语法如下例所演示：</a:t>
            </a:r>
            <a:endParaRPr lang="en-US" altLang="zh-CN" sz="2400" b="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zh-CN" altLang="en-US" sz="2400" b="0" dirty="0"/>
          </a:p>
          <a:p>
            <a:pPr>
              <a:defRPr/>
            </a:pPr>
            <a:r>
              <a:rPr lang="en-US" altLang="zh-CN" sz="2400" b="0" dirty="0">
                <a:solidFill>
                  <a:schemeClr val="accent2"/>
                </a:solidFill>
              </a:rPr>
              <a:t>PUSH {R0}   ; *(--R13)=R0</a:t>
            </a:r>
            <a:r>
              <a:rPr lang="zh-CN" altLang="en-US" sz="2400" b="0" dirty="0">
                <a:solidFill>
                  <a:schemeClr val="accent2"/>
                </a:solidFill>
              </a:rPr>
              <a:t>。</a:t>
            </a:r>
            <a:r>
              <a:rPr lang="en-US" altLang="zh-CN" sz="2400" b="0" dirty="0">
                <a:solidFill>
                  <a:srgbClr val="00B050"/>
                </a:solidFill>
              </a:rPr>
              <a:t>R13 </a:t>
            </a:r>
            <a:r>
              <a:rPr lang="zh-CN" altLang="en-US" sz="2400" b="0" dirty="0">
                <a:solidFill>
                  <a:srgbClr val="00B050"/>
                </a:solidFill>
              </a:rPr>
              <a:t>是</a:t>
            </a:r>
            <a:r>
              <a:rPr lang="en-US" altLang="zh-CN" sz="2400" b="0" dirty="0">
                <a:solidFill>
                  <a:srgbClr val="00B050"/>
                </a:solidFill>
              </a:rPr>
              <a:t>long*</a:t>
            </a:r>
            <a:r>
              <a:rPr lang="zh-CN" altLang="en-US" sz="2400" b="0" dirty="0">
                <a:solidFill>
                  <a:srgbClr val="00B050"/>
                </a:solidFill>
              </a:rPr>
              <a:t>的指针</a:t>
            </a:r>
          </a:p>
          <a:p>
            <a:pPr>
              <a:defRPr/>
            </a:pPr>
            <a:r>
              <a:rPr lang="en-US" altLang="zh-CN" sz="2400" b="0" dirty="0">
                <a:solidFill>
                  <a:schemeClr val="accent2"/>
                </a:solidFill>
              </a:rPr>
              <a:t>POP {R0}      ; R0= *R13++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3" name="矩形 5"/>
          <p:cNvSpPr>
            <a:spLocks noChangeArrowheads="1"/>
          </p:cNvSpPr>
          <p:nvPr/>
        </p:nvSpPr>
        <p:spPr bwMode="auto">
          <a:xfrm>
            <a:off x="463556" y="1312335"/>
            <a:ext cx="39805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堆栈的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PUSH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与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POP</a:t>
            </a:r>
            <a:endParaRPr lang="zh-CN" altLang="en-US" sz="2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堆栈指针与堆栈</a:t>
            </a:r>
          </a:p>
        </p:txBody>
      </p:sp>
      <p:sp>
        <p:nvSpPr>
          <p:cNvPr id="5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913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堆栈指针与堆栈</a:t>
            </a:r>
          </a:p>
        </p:txBody>
      </p:sp>
      <p:sp>
        <p:nvSpPr>
          <p:cNvPr id="3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矩形 5"/>
          <p:cNvSpPr>
            <a:spLocks noChangeArrowheads="1"/>
          </p:cNvSpPr>
          <p:nvPr/>
        </p:nvSpPr>
        <p:spPr bwMode="auto">
          <a:xfrm>
            <a:off x="2387745" y="2001838"/>
            <a:ext cx="77231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400" b="0" dirty="0">
                <a:latin typeface="+mn-ea"/>
                <a:ea typeface="+mn-ea"/>
              </a:rPr>
              <a:t>Cortex‐M3 </a:t>
            </a:r>
            <a:r>
              <a:rPr lang="zh-CN" altLang="en-US" sz="2400" b="0" dirty="0">
                <a:latin typeface="+mn-ea"/>
                <a:ea typeface="+mn-ea"/>
              </a:rPr>
              <a:t>使用的是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“向下生长的满栈”</a:t>
            </a:r>
            <a:r>
              <a:rPr lang="zh-CN" altLang="en-US" sz="2400" b="0" dirty="0">
                <a:latin typeface="+mn-ea"/>
                <a:ea typeface="+mn-ea"/>
              </a:rPr>
              <a:t>模型。堆栈指针</a:t>
            </a:r>
            <a:r>
              <a:rPr lang="en-US" altLang="zh-CN" sz="2400" b="0" dirty="0">
                <a:latin typeface="+mn-ea"/>
                <a:ea typeface="+mn-ea"/>
              </a:rPr>
              <a:t>SP </a:t>
            </a:r>
            <a:r>
              <a:rPr lang="zh-CN" altLang="en-US" sz="2400" b="0" dirty="0">
                <a:latin typeface="+mn-ea"/>
                <a:ea typeface="+mn-ea"/>
              </a:rPr>
              <a:t>指向最后一个被压入堆栈的</a:t>
            </a:r>
            <a:r>
              <a:rPr lang="en-US" altLang="zh-CN" sz="2400" b="0" dirty="0">
                <a:latin typeface="+mn-ea"/>
                <a:ea typeface="+mn-ea"/>
              </a:rPr>
              <a:t>32</a:t>
            </a:r>
            <a:r>
              <a:rPr lang="zh-CN" altLang="en-US" sz="2400" b="0" dirty="0">
                <a:latin typeface="+mn-ea"/>
                <a:ea typeface="+mn-ea"/>
              </a:rPr>
              <a:t>位数值。在</a:t>
            </a:r>
            <a:r>
              <a:rPr lang="en-US" altLang="zh-CN" sz="2400" b="0" dirty="0">
                <a:solidFill>
                  <a:srgbClr val="FF0000"/>
                </a:solidFill>
                <a:latin typeface="+mn-ea"/>
                <a:ea typeface="+mn-ea"/>
              </a:rPr>
              <a:t>PUSH</a:t>
            </a:r>
            <a:r>
              <a:rPr lang="zh-CN" altLang="en-US" sz="2400" b="0" dirty="0">
                <a:latin typeface="+mn-ea"/>
                <a:ea typeface="+mn-ea"/>
              </a:rPr>
              <a:t>时，</a:t>
            </a:r>
            <a:r>
              <a:rPr lang="en-US" altLang="zh-CN" sz="2400" b="0" dirty="0">
                <a:solidFill>
                  <a:srgbClr val="FF0000"/>
                </a:solidFill>
                <a:latin typeface="+mn-ea"/>
                <a:ea typeface="+mn-ea"/>
              </a:rPr>
              <a:t>SP 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先自减</a:t>
            </a:r>
            <a:r>
              <a:rPr lang="en-US" altLang="zh-CN" sz="2400" b="0" dirty="0">
                <a:solidFill>
                  <a:srgbClr val="FF0000"/>
                </a:solidFill>
                <a:latin typeface="+mn-ea"/>
                <a:ea typeface="+mn-ea"/>
              </a:rPr>
              <a:t>4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，再存入新的数值</a:t>
            </a:r>
            <a:r>
              <a:rPr lang="zh-CN" altLang="en-US" sz="2400" b="0" dirty="0">
                <a:latin typeface="+mn-ea"/>
                <a:ea typeface="+mn-ea"/>
              </a:rPr>
              <a:t>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627797" y="1254919"/>
            <a:ext cx="39805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堆栈的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PUSH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与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POP</a:t>
            </a:r>
            <a:endParaRPr lang="zh-CN" altLang="en-US" sz="2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267" y="3656013"/>
            <a:ext cx="3646472" cy="2386703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257" y="4103369"/>
            <a:ext cx="1134403" cy="7459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88" y="4372304"/>
            <a:ext cx="3277593" cy="584211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746" y="4630876"/>
            <a:ext cx="666893" cy="1625899"/>
          </a:xfrm>
          <a:prstGeom prst="rect">
            <a:avLst/>
          </a:prstGeom>
        </p:spPr>
      </p:pic>
      <p:sp>
        <p:nvSpPr>
          <p:cNvPr id="63" name="文本框 62"/>
          <p:cNvSpPr txBox="1"/>
          <p:nvPr/>
        </p:nvSpPr>
        <p:spPr>
          <a:xfrm>
            <a:off x="5553450" y="3244334"/>
            <a:ext cx="186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PUSH</a:t>
            </a:r>
            <a:r>
              <a:rPr lang="zh-CN" altLang="en-US" dirty="0"/>
              <a:t>｛</a:t>
            </a:r>
            <a:r>
              <a:rPr lang="en-US" altLang="zh-CN" dirty="0"/>
              <a:t>R0</a:t>
            </a:r>
            <a:r>
              <a:rPr lang="zh-CN" altLang="en-US" dirty="0"/>
              <a:t>｝</a:t>
            </a:r>
          </a:p>
        </p:txBody>
      </p:sp>
    </p:spTree>
    <p:extLst>
      <p:ext uri="{BB962C8B-B14F-4D97-AF65-F5344CB8AC3E}">
        <p14:creationId xmlns:p14="http://schemas.microsoft.com/office/powerpoint/2010/main" val="329660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8" dur="indefinite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500" fill="hold"/>
                                        <p:tgtEl>
                                          <p:spTgt spid="6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2.22222E-6 L 0.00026 0.0544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4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59259E-6 L 0.3138 0.06019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90" y="3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3" grpId="0"/>
      <p:bldP spid="63" grpId="1"/>
      <p:bldP spid="63" grpId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5"/>
          <p:cNvSpPr>
            <a:spLocks noChangeArrowheads="1"/>
          </p:cNvSpPr>
          <p:nvPr/>
        </p:nvSpPr>
        <p:spPr bwMode="auto">
          <a:xfrm>
            <a:off x="627797" y="1383468"/>
            <a:ext cx="39805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堆栈的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PUSH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与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POP</a:t>
            </a:r>
            <a:endParaRPr lang="zh-CN" altLang="en-US" sz="2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" name="矩形 10"/>
          <p:cNvSpPr>
            <a:spLocks noChangeArrowheads="1"/>
          </p:cNvSpPr>
          <p:nvPr/>
        </p:nvSpPr>
        <p:spPr bwMode="auto">
          <a:xfrm>
            <a:off x="2305857" y="2192910"/>
            <a:ext cx="772318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2400" b="0" dirty="0">
                <a:latin typeface="+mn-ea"/>
                <a:ea typeface="+mn-ea"/>
              </a:rPr>
              <a:t>在</a:t>
            </a:r>
            <a:r>
              <a:rPr lang="en-US" altLang="zh-CN" sz="2400" b="0" dirty="0">
                <a:solidFill>
                  <a:srgbClr val="FF0000"/>
                </a:solidFill>
                <a:latin typeface="+mn-ea"/>
                <a:ea typeface="+mn-ea"/>
              </a:rPr>
              <a:t>POP</a:t>
            </a:r>
            <a:r>
              <a:rPr lang="zh-CN" altLang="en-US" sz="2400" b="0" dirty="0">
                <a:latin typeface="+mn-ea"/>
                <a:ea typeface="+mn-ea"/>
              </a:rPr>
              <a:t>时刚好相反，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先从</a:t>
            </a:r>
            <a:r>
              <a:rPr lang="en-US" altLang="zh-CN" sz="2400" b="0" dirty="0">
                <a:solidFill>
                  <a:srgbClr val="FF0000"/>
                </a:solidFill>
                <a:latin typeface="+mn-ea"/>
                <a:ea typeface="+mn-ea"/>
              </a:rPr>
              <a:t>SP 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指针处读出被压栈的值，再把</a:t>
            </a:r>
            <a:r>
              <a:rPr lang="en-US" altLang="zh-CN" sz="2400" b="0" dirty="0">
                <a:solidFill>
                  <a:srgbClr val="FF0000"/>
                </a:solidFill>
                <a:latin typeface="+mn-ea"/>
                <a:ea typeface="+mn-ea"/>
              </a:rPr>
              <a:t>SP 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指针自增</a:t>
            </a:r>
            <a:r>
              <a:rPr lang="en-US" altLang="zh-CN" sz="2400" b="0" dirty="0">
                <a:solidFill>
                  <a:srgbClr val="FF0000"/>
                </a:solidFill>
                <a:latin typeface="+mn-ea"/>
                <a:ea typeface="+mn-ea"/>
              </a:rPr>
              <a:t>4</a:t>
            </a:r>
            <a:r>
              <a:rPr lang="zh-CN" altLang="en-US" sz="2400" b="0" dirty="0">
                <a:latin typeface="+mn-ea"/>
                <a:ea typeface="+mn-ea"/>
              </a:rPr>
              <a:t>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堆栈指针与堆栈</a:t>
            </a:r>
          </a:p>
        </p:txBody>
      </p:sp>
      <p:sp>
        <p:nvSpPr>
          <p:cNvPr id="6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267" y="3656013"/>
            <a:ext cx="3646472" cy="238670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825" y="4476366"/>
            <a:ext cx="1134403" cy="7459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685182" y="3259522"/>
            <a:ext cx="186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POP</a:t>
            </a:r>
            <a:r>
              <a:rPr lang="zh-CN" altLang="en-US" dirty="0"/>
              <a:t>｛</a:t>
            </a:r>
            <a:r>
              <a:rPr lang="en-US" altLang="zh-CN" dirty="0"/>
              <a:t>R0</a:t>
            </a:r>
            <a:r>
              <a:rPr lang="zh-CN" altLang="en-US" dirty="0"/>
              <a:t>｝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146" y="4789380"/>
            <a:ext cx="3277593" cy="58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1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22222E-6 L -0.32474 -0.0243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37" y="-12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07407E-6 L 0.00026 -0.0544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2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0" grpId="2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8561" y="2379859"/>
            <a:ext cx="7807325" cy="26781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altLang="zh-CN" sz="2400" b="0" dirty="0">
                <a:latin typeface="+mn-ea"/>
              </a:rPr>
              <a:t>PUSH/POP </a:t>
            </a:r>
            <a:r>
              <a:rPr lang="zh-CN" altLang="en-US" sz="2400" b="0" dirty="0">
                <a:latin typeface="+mn-ea"/>
              </a:rPr>
              <a:t>指令支持一次操作多个寄存器。像这样：</a:t>
            </a:r>
          </a:p>
          <a:p>
            <a:pPr>
              <a:defRPr/>
            </a:pPr>
            <a:r>
              <a:rPr lang="en-US" altLang="zh-CN" sz="2400" b="0" dirty="0">
                <a:solidFill>
                  <a:srgbClr val="0070C0"/>
                </a:solidFill>
                <a:latin typeface="+mn-ea"/>
              </a:rPr>
              <a:t>PUSH {R0-R2} ;</a:t>
            </a:r>
            <a:r>
              <a:rPr lang="zh-CN" altLang="en-US" sz="2400" b="0" dirty="0">
                <a:solidFill>
                  <a:srgbClr val="00B050"/>
                </a:solidFill>
                <a:latin typeface="+mn-ea"/>
              </a:rPr>
              <a:t>压入</a:t>
            </a:r>
            <a:r>
              <a:rPr lang="en-US" altLang="zh-CN" sz="2400" b="0" dirty="0">
                <a:solidFill>
                  <a:srgbClr val="00B050"/>
                </a:solidFill>
                <a:latin typeface="+mn-ea"/>
              </a:rPr>
              <a:t>R0-R2</a:t>
            </a:r>
          </a:p>
          <a:p>
            <a:pPr>
              <a:defRPr/>
            </a:pPr>
            <a:r>
              <a:rPr lang="en-US" altLang="zh-CN" sz="2400" b="0" dirty="0">
                <a:solidFill>
                  <a:srgbClr val="0070C0"/>
                </a:solidFill>
                <a:latin typeface="+mn-ea"/>
              </a:rPr>
              <a:t>PUSH {R3-R5,R8, R12} ;</a:t>
            </a:r>
            <a:r>
              <a:rPr lang="zh-CN" altLang="en-US" sz="2400" b="0" dirty="0">
                <a:solidFill>
                  <a:srgbClr val="00B050"/>
                </a:solidFill>
                <a:latin typeface="+mn-ea"/>
              </a:rPr>
              <a:t>压入</a:t>
            </a:r>
            <a:r>
              <a:rPr lang="en-US" altLang="zh-CN" sz="2400" b="0" dirty="0">
                <a:solidFill>
                  <a:srgbClr val="00B050"/>
                </a:solidFill>
                <a:latin typeface="+mn-ea"/>
              </a:rPr>
              <a:t>R3-R5,R8</a:t>
            </a:r>
            <a:r>
              <a:rPr lang="zh-CN" altLang="en-US" sz="2400" b="0" dirty="0">
                <a:solidFill>
                  <a:srgbClr val="00B050"/>
                </a:solidFill>
                <a:latin typeface="+mn-ea"/>
              </a:rPr>
              <a:t>，以及</a:t>
            </a:r>
            <a:r>
              <a:rPr lang="en-US" altLang="zh-CN" sz="2400" b="0" dirty="0">
                <a:solidFill>
                  <a:srgbClr val="00B050"/>
                </a:solidFill>
                <a:latin typeface="+mn-ea"/>
              </a:rPr>
              <a:t>R12</a:t>
            </a:r>
          </a:p>
          <a:p>
            <a:pPr>
              <a:defRPr/>
            </a:pPr>
            <a:endParaRPr lang="en-US" altLang="zh-CN" sz="2400" b="0" dirty="0">
              <a:solidFill>
                <a:srgbClr val="00B050"/>
              </a:solidFill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0" dirty="0">
                <a:latin typeface="+mn-ea"/>
              </a:rPr>
              <a:t>在</a:t>
            </a:r>
            <a:r>
              <a:rPr lang="en-US" altLang="zh-CN" sz="2400" b="0" dirty="0">
                <a:latin typeface="+mn-ea"/>
              </a:rPr>
              <a:t>POP </a:t>
            </a:r>
            <a:r>
              <a:rPr lang="zh-CN" altLang="en-US" sz="2400" b="0" dirty="0">
                <a:latin typeface="+mn-ea"/>
              </a:rPr>
              <a:t>时，可以如下操作：</a:t>
            </a:r>
          </a:p>
          <a:p>
            <a:pPr>
              <a:defRPr/>
            </a:pPr>
            <a:r>
              <a:rPr lang="en-US" altLang="zh-CN" sz="2400" b="0" dirty="0">
                <a:solidFill>
                  <a:srgbClr val="0070C0"/>
                </a:solidFill>
                <a:latin typeface="+mn-ea"/>
              </a:rPr>
              <a:t>POP {R0-R2} ;</a:t>
            </a:r>
            <a:r>
              <a:rPr lang="zh-CN" altLang="en-US" sz="2400" b="0" dirty="0">
                <a:solidFill>
                  <a:srgbClr val="00B050"/>
                </a:solidFill>
                <a:latin typeface="+mn-ea"/>
              </a:rPr>
              <a:t>弹出</a:t>
            </a:r>
            <a:r>
              <a:rPr lang="en-US" altLang="zh-CN" sz="2400" b="0" dirty="0">
                <a:solidFill>
                  <a:srgbClr val="00B050"/>
                </a:solidFill>
                <a:latin typeface="+mn-ea"/>
              </a:rPr>
              <a:t>R0-R2</a:t>
            </a:r>
          </a:p>
          <a:p>
            <a:pPr>
              <a:defRPr/>
            </a:pPr>
            <a:r>
              <a:rPr lang="en-US" altLang="zh-CN" sz="2400" b="0" dirty="0">
                <a:solidFill>
                  <a:srgbClr val="0070C0"/>
                </a:solidFill>
                <a:latin typeface="+mn-ea"/>
              </a:rPr>
              <a:t>POP {R3-R5,R8, R12} ;</a:t>
            </a:r>
            <a:r>
              <a:rPr lang="zh-CN" altLang="en-US" sz="2400" b="0" dirty="0">
                <a:solidFill>
                  <a:srgbClr val="00B050"/>
                </a:solidFill>
                <a:latin typeface="+mn-ea"/>
              </a:rPr>
              <a:t>弹出</a:t>
            </a:r>
            <a:r>
              <a:rPr lang="en-US" altLang="zh-CN" sz="2400" b="0" dirty="0">
                <a:solidFill>
                  <a:srgbClr val="00B050"/>
                </a:solidFill>
                <a:latin typeface="+mn-ea"/>
              </a:rPr>
              <a:t>R3-R5</a:t>
            </a:r>
            <a:r>
              <a:rPr lang="zh-CN" altLang="en-US" sz="2400" b="0" dirty="0">
                <a:solidFill>
                  <a:srgbClr val="00B050"/>
                </a:solidFill>
                <a:latin typeface="+mn-ea"/>
              </a:rPr>
              <a:t>，</a:t>
            </a:r>
            <a:r>
              <a:rPr lang="en-US" altLang="zh-CN" sz="2400" b="0" dirty="0">
                <a:solidFill>
                  <a:srgbClr val="00B050"/>
                </a:solidFill>
                <a:latin typeface="+mn-ea"/>
              </a:rPr>
              <a:t>R8</a:t>
            </a:r>
            <a:r>
              <a:rPr lang="zh-CN" altLang="en-US" sz="2400" b="0" dirty="0">
                <a:solidFill>
                  <a:srgbClr val="00B050"/>
                </a:solidFill>
                <a:latin typeface="+mn-ea"/>
              </a:rPr>
              <a:t>，以及</a:t>
            </a:r>
            <a:r>
              <a:rPr lang="en-US" altLang="zh-CN" sz="2400" b="0" dirty="0">
                <a:solidFill>
                  <a:srgbClr val="00B050"/>
                </a:solidFill>
                <a:latin typeface="+mn-ea"/>
              </a:rPr>
              <a:t>R12</a:t>
            </a:r>
            <a:endParaRPr lang="zh-CN" altLang="en-US" sz="2400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3" name="矩形 11"/>
          <p:cNvSpPr>
            <a:spLocks noChangeArrowheads="1"/>
          </p:cNvSpPr>
          <p:nvPr/>
        </p:nvSpPr>
        <p:spPr bwMode="auto">
          <a:xfrm>
            <a:off x="519335" y="1389259"/>
            <a:ext cx="39805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堆栈的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PUSH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与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POP</a:t>
            </a:r>
            <a:endParaRPr lang="zh-CN" altLang="en-US" sz="2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" name="矩形 11"/>
          <p:cNvSpPr>
            <a:spLocks noChangeArrowheads="1"/>
          </p:cNvSpPr>
          <p:nvPr/>
        </p:nvSpPr>
        <p:spPr bwMode="auto">
          <a:xfrm>
            <a:off x="2278561" y="5286571"/>
            <a:ext cx="78073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注意：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PUSH</a:t>
            </a:r>
            <a:r>
              <a:rPr lang="en-US" altLang="zh-CN" sz="2400" dirty="0">
                <a:latin typeface="+mn-ea"/>
                <a:ea typeface="+mn-ea"/>
              </a:rPr>
              <a:t> </a:t>
            </a:r>
            <a:r>
              <a:rPr lang="zh-CN" altLang="en-US" sz="2400" dirty="0">
                <a:latin typeface="+mn-ea"/>
                <a:ea typeface="+mn-ea"/>
              </a:rPr>
              <a:t>指令</a:t>
            </a:r>
            <a:r>
              <a:rPr lang="zh-CN" altLang="en-US" sz="2400" dirty="0" smtClean="0">
                <a:latin typeface="+mn-ea"/>
                <a:ea typeface="+mn-ea"/>
              </a:rPr>
              <a:t>按照寄存器</a:t>
            </a:r>
            <a:r>
              <a:rPr lang="zh-CN" altLang="en-US" sz="2400" dirty="0">
                <a:latin typeface="+mn-ea"/>
                <a:ea typeface="+mn-ea"/>
              </a:rPr>
              <a:t>号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从大到小</a:t>
            </a:r>
            <a:r>
              <a:rPr lang="zh-CN" altLang="en-US" sz="2400" dirty="0">
                <a:latin typeface="+mn-ea"/>
                <a:ea typeface="+mn-ea"/>
              </a:rPr>
              <a:t>的顺序依次入栈</a:t>
            </a:r>
            <a:r>
              <a:rPr lang="zh-CN" altLang="en-US" sz="2400" dirty="0" smtClean="0">
                <a:latin typeface="+mn-ea"/>
                <a:ea typeface="+mn-ea"/>
              </a:rPr>
              <a:t>，  </a:t>
            </a:r>
            <a:r>
              <a:rPr lang="en-US" altLang="zh-CN" sz="2400" dirty="0" smtClean="0">
                <a:latin typeface="+mn-ea"/>
                <a:ea typeface="+mn-ea"/>
              </a:rPr>
              <a:t>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POP</a:t>
            </a:r>
            <a:r>
              <a:rPr lang="en-US" altLang="zh-CN" sz="2400" dirty="0" smtClean="0">
                <a:latin typeface="+mn-ea"/>
                <a:ea typeface="+mn-ea"/>
              </a:rPr>
              <a:t> </a:t>
            </a:r>
            <a:r>
              <a:rPr lang="zh-CN" altLang="en-US" sz="2400" dirty="0">
                <a:latin typeface="+mn-ea"/>
                <a:ea typeface="+mn-ea"/>
              </a:rPr>
              <a:t>则按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从小到大</a:t>
            </a:r>
            <a:r>
              <a:rPr lang="zh-CN" altLang="en-US" sz="2400" dirty="0">
                <a:latin typeface="+mn-ea"/>
                <a:ea typeface="+mn-ea"/>
              </a:rPr>
              <a:t>的顺序依次出栈。</a:t>
            </a:r>
          </a:p>
        </p:txBody>
      </p:sp>
      <p:sp>
        <p:nvSpPr>
          <p:cNvPr id="5" name="矩形 4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堆栈指针与堆栈</a:t>
            </a:r>
          </a:p>
        </p:txBody>
      </p:sp>
      <p:sp>
        <p:nvSpPr>
          <p:cNvPr id="6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27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526" y="2787284"/>
            <a:ext cx="6649766" cy="2661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586526" y="2787283"/>
            <a:ext cx="2484856" cy="26615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957331" y="2787282"/>
            <a:ext cx="2288485" cy="26615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堆栈指针与堆栈</a:t>
            </a:r>
          </a:p>
        </p:txBody>
      </p:sp>
      <p:sp>
        <p:nvSpPr>
          <p:cNvPr id="6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68286" y="1138535"/>
            <a:ext cx="80336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      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由于数据处理会用到某些存储单元，从而对这些存储单元的内容造成破坏，堆栈通常用于对这些存储单元数据的暂存。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042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5"/>
          <p:cNvSpPr>
            <a:spLocks noChangeArrowheads="1"/>
          </p:cNvSpPr>
          <p:nvPr/>
        </p:nvSpPr>
        <p:spPr bwMode="auto">
          <a:xfrm>
            <a:off x="2230437" y="1980834"/>
            <a:ext cx="773112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正常情况下，</a:t>
            </a:r>
            <a:r>
              <a:rPr lang="en-US" altLang="zh-CN" sz="2400" b="0" dirty="0">
                <a:solidFill>
                  <a:srgbClr val="FF0000"/>
                </a:solidFill>
                <a:latin typeface="+mn-ea"/>
                <a:ea typeface="+mn-ea"/>
              </a:rPr>
              <a:t>PUSH 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与</a:t>
            </a:r>
            <a:r>
              <a:rPr lang="en-US" altLang="zh-CN" sz="2400" b="0" dirty="0">
                <a:solidFill>
                  <a:srgbClr val="FF0000"/>
                </a:solidFill>
                <a:latin typeface="+mn-ea"/>
                <a:ea typeface="+mn-ea"/>
              </a:rPr>
              <a:t>POP 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必须成对使用</a:t>
            </a:r>
            <a:r>
              <a:rPr lang="zh-CN" altLang="en-US" sz="2400" b="0" dirty="0">
                <a:latin typeface="+mn-ea"/>
                <a:ea typeface="+mn-ea"/>
              </a:rPr>
              <a:t>，而且参与的寄存器，不论是身份还是先后顺序都必须完全一致。当</a:t>
            </a:r>
            <a:r>
              <a:rPr lang="en-US" altLang="zh-CN" sz="2400" b="0" dirty="0">
                <a:latin typeface="+mn-ea"/>
                <a:ea typeface="+mn-ea"/>
              </a:rPr>
              <a:t>PUSH/POP </a:t>
            </a:r>
            <a:r>
              <a:rPr lang="zh-CN" altLang="en-US" sz="2400" b="0" dirty="0">
                <a:latin typeface="+mn-ea"/>
                <a:ea typeface="+mn-ea"/>
              </a:rPr>
              <a:t>指令执行时，</a:t>
            </a:r>
            <a:r>
              <a:rPr lang="en-US" altLang="zh-CN" sz="2400" b="0" dirty="0">
                <a:latin typeface="+mn-ea"/>
                <a:ea typeface="+mn-ea"/>
              </a:rPr>
              <a:t>SP </a:t>
            </a:r>
            <a:r>
              <a:rPr lang="zh-CN" altLang="en-US" sz="2400" b="0" dirty="0">
                <a:latin typeface="+mn-ea"/>
                <a:ea typeface="+mn-ea"/>
              </a:rPr>
              <a:t>指针的值也根着自减</a:t>
            </a:r>
            <a:r>
              <a:rPr lang="en-US" altLang="zh-CN" sz="2400" b="0" dirty="0">
                <a:latin typeface="+mn-ea"/>
                <a:ea typeface="+mn-ea"/>
              </a:rPr>
              <a:t>/</a:t>
            </a:r>
            <a:r>
              <a:rPr lang="zh-CN" altLang="en-US" sz="2400" b="0" dirty="0">
                <a:latin typeface="+mn-ea"/>
                <a:ea typeface="+mn-ea"/>
              </a:rPr>
              <a:t>自增。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3" name="矩形 5"/>
          <p:cNvSpPr>
            <a:spLocks noChangeArrowheads="1"/>
          </p:cNvSpPr>
          <p:nvPr/>
        </p:nvSpPr>
        <p:spPr bwMode="auto">
          <a:xfrm>
            <a:off x="627797" y="1204246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堆栈的使用</a:t>
            </a:r>
          </a:p>
        </p:txBody>
      </p:sp>
      <p:sp>
        <p:nvSpPr>
          <p:cNvPr id="4" name="矩形 3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堆栈指针与堆栈</a:t>
            </a:r>
          </a:p>
        </p:txBody>
      </p:sp>
      <p:sp>
        <p:nvSpPr>
          <p:cNvPr id="5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33636" y="3438525"/>
            <a:ext cx="7324725" cy="2749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2000" dirty="0"/>
              <a:t>               </a:t>
            </a:r>
            <a:r>
              <a:rPr lang="zh-CN" altLang="en-US" sz="2000" dirty="0">
                <a:solidFill>
                  <a:srgbClr val="0070C0"/>
                </a:solidFill>
                <a:latin typeface="+mn-ea"/>
              </a:rPr>
              <a:t>PUSH {R0 } ;</a:t>
            </a:r>
            <a:r>
              <a:rPr lang="zh-CN" altLang="en-US" sz="2000" dirty="0">
                <a:solidFill>
                  <a:srgbClr val="00B050"/>
                </a:solidFill>
              </a:rPr>
              <a:t>把 R0 存入栈 &amp; 调整 SP   </a:t>
            </a:r>
          </a:p>
          <a:p>
            <a:pPr>
              <a:lnSpc>
                <a:spcPts val="3000"/>
              </a:lnSpc>
            </a:pPr>
            <a:r>
              <a:rPr lang="zh-CN" altLang="en-US" sz="2000" dirty="0"/>
              <a:t>               </a:t>
            </a:r>
            <a:r>
              <a:rPr lang="zh-CN" altLang="en-US" sz="2000" dirty="0">
                <a:solidFill>
                  <a:srgbClr val="0070C0"/>
                </a:solidFill>
                <a:latin typeface="+mn-ea"/>
              </a:rPr>
              <a:t>PUSH {R1} ;</a:t>
            </a:r>
            <a:r>
              <a:rPr lang="zh-CN" altLang="en-US" sz="2000" dirty="0">
                <a:solidFill>
                  <a:srgbClr val="00B050"/>
                </a:solidFill>
              </a:rPr>
              <a:t>把 R1 存入栈 &amp; 调整 SP   </a:t>
            </a:r>
          </a:p>
          <a:p>
            <a:pPr>
              <a:lnSpc>
                <a:spcPts val="3000"/>
              </a:lnSpc>
            </a:pPr>
            <a:r>
              <a:rPr lang="zh-CN" altLang="en-US" sz="2000" dirty="0"/>
              <a:t>               </a:t>
            </a:r>
            <a:r>
              <a:rPr lang="zh-CN" altLang="en-US" sz="2000" dirty="0">
                <a:solidFill>
                  <a:srgbClr val="0070C0"/>
                </a:solidFill>
                <a:latin typeface="+mn-ea"/>
              </a:rPr>
              <a:t>PUSH {R2} ;</a:t>
            </a:r>
            <a:r>
              <a:rPr lang="zh-CN" altLang="en-US" sz="2000" dirty="0">
                <a:solidFill>
                  <a:srgbClr val="00B050"/>
                </a:solidFill>
              </a:rPr>
              <a:t>把 R2 存入栈 &amp; 调整 SP</a:t>
            </a:r>
          </a:p>
          <a:p>
            <a:pPr>
              <a:lnSpc>
                <a:spcPts val="3000"/>
              </a:lnSpc>
            </a:pPr>
            <a:r>
              <a:rPr lang="zh-CN" altLang="en-US" sz="2000" dirty="0"/>
              <a:t>               </a:t>
            </a:r>
            <a:r>
              <a:rPr lang="zh-CN" altLang="en-US" sz="2000" dirty="0">
                <a:solidFill>
                  <a:srgbClr val="0070C0"/>
                </a:solidFill>
                <a:latin typeface="+mn-ea"/>
              </a:rPr>
              <a:t>…        </a:t>
            </a:r>
            <a:r>
              <a:rPr lang="zh-CN" altLang="en-US" sz="2000" dirty="0"/>
              <a:t>       ; </a:t>
            </a:r>
            <a:r>
              <a:rPr lang="zh-CN" altLang="en-US" sz="2000" dirty="0">
                <a:solidFill>
                  <a:srgbClr val="00B050"/>
                </a:solidFill>
              </a:rPr>
              <a:t>其它操作</a:t>
            </a:r>
          </a:p>
          <a:p>
            <a:pPr>
              <a:lnSpc>
                <a:spcPts val="3000"/>
              </a:lnSpc>
            </a:pPr>
            <a:r>
              <a:rPr lang="zh-CN" altLang="en-US" sz="2000" dirty="0"/>
              <a:t>               </a:t>
            </a:r>
            <a:r>
              <a:rPr lang="zh-CN" altLang="en-US" sz="2000" dirty="0">
                <a:solidFill>
                  <a:srgbClr val="0070C0"/>
                </a:solidFill>
                <a:latin typeface="+mn-ea"/>
              </a:rPr>
              <a:t>POP  {R2} ;</a:t>
            </a:r>
            <a:r>
              <a:rPr lang="zh-CN" altLang="en-US" sz="2000" dirty="0">
                <a:solidFill>
                  <a:srgbClr val="00B050"/>
                </a:solidFill>
              </a:rPr>
              <a:t>恢复 R2 早先的值 &amp; 再次调整 SP</a:t>
            </a:r>
          </a:p>
          <a:p>
            <a:pPr>
              <a:lnSpc>
                <a:spcPts val="3000"/>
              </a:lnSpc>
            </a:pPr>
            <a:r>
              <a:rPr lang="zh-CN" altLang="en-US" sz="2000" dirty="0"/>
              <a:t>               </a:t>
            </a:r>
            <a:r>
              <a:rPr lang="zh-CN" altLang="en-US" sz="2000" dirty="0">
                <a:solidFill>
                  <a:srgbClr val="0070C0"/>
                </a:solidFill>
                <a:latin typeface="+mn-ea"/>
              </a:rPr>
              <a:t>POP  {R1} ;</a:t>
            </a:r>
            <a:r>
              <a:rPr lang="zh-CN" altLang="en-US" sz="2000" dirty="0">
                <a:solidFill>
                  <a:srgbClr val="00B050"/>
                </a:solidFill>
              </a:rPr>
              <a:t>恢复 R1 早先的值 &amp; 再次调整 SP</a:t>
            </a:r>
          </a:p>
          <a:p>
            <a:pPr>
              <a:lnSpc>
                <a:spcPts val="3000"/>
              </a:lnSpc>
            </a:pPr>
            <a:r>
              <a:rPr lang="zh-CN" altLang="en-US" sz="2000" dirty="0"/>
              <a:t>               </a:t>
            </a:r>
            <a:r>
              <a:rPr lang="zh-CN" altLang="en-US" sz="2000" dirty="0">
                <a:solidFill>
                  <a:srgbClr val="0070C0"/>
                </a:solidFill>
                <a:latin typeface="+mn-ea"/>
              </a:rPr>
              <a:t>POP  {R0} ;</a:t>
            </a:r>
            <a:r>
              <a:rPr lang="zh-CN" altLang="en-US" sz="2000" dirty="0">
                <a:solidFill>
                  <a:srgbClr val="00B050"/>
                </a:solidFill>
              </a:rPr>
              <a:t>恢复 R0 早先的值 &amp; 再次调整 SP</a:t>
            </a:r>
          </a:p>
        </p:txBody>
      </p:sp>
    </p:spTree>
    <p:extLst>
      <p:ext uri="{BB962C8B-B14F-4D97-AF65-F5344CB8AC3E}">
        <p14:creationId xmlns:p14="http://schemas.microsoft.com/office/powerpoint/2010/main" val="133694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1"/>
          <p:cNvSpPr>
            <a:spLocks noChangeArrowheads="1"/>
          </p:cNvSpPr>
          <p:nvPr/>
        </p:nvSpPr>
        <p:spPr bwMode="auto">
          <a:xfrm>
            <a:off x="627797" y="941470"/>
            <a:ext cx="22365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CC3300"/>
                </a:solidFill>
              </a:rPr>
              <a:t>问题与思考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堆栈指针与堆栈</a:t>
            </a:r>
          </a:p>
        </p:txBody>
      </p:sp>
      <p:sp>
        <p:nvSpPr>
          <p:cNvPr id="5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4015DEC-6427-45A6-B996-75B4FD40F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797" y="1439977"/>
            <a:ext cx="10243403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在线程模式和处理器模式时都可以使用主堆栈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片内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SRAM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的部分数据如下，已知堆栈指针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SP=0x20000400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，通用寄存器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R0=0x13572468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R1=0x11223344H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，在执行“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POP R0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”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和“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POP R1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”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两条指令后，请问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SP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R0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R1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结果？　　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76C54DA-BD77-4626-9D26-38F1105E71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8291" y="3607851"/>
          <a:ext cx="4008581" cy="2445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2" name="Visio" r:id="rId3" imgW="1853144" imgH="1952969" progId="Visio.Drawing.11">
                  <p:embed/>
                </p:oleObj>
              </mc:Choice>
              <mc:Fallback>
                <p:oleObj name="Visio" r:id="rId3" imgW="1853144" imgH="1952969" progId="Visio.Drawing.11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76C54DA-BD77-4626-9D26-38F1105E71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8291" y="3607851"/>
                        <a:ext cx="4008581" cy="24456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450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在线程模式和处理器模式时都可以使用主堆栈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7842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219200" y="1186180"/>
            <a:ext cx="9753600" cy="24130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片内</a:t>
            </a:r>
            <a:r>
              <a:rPr lang="en-US" altLang="zh-CN" sz="2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SRAM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的部分数据如下，</a:t>
            </a:r>
            <a:r>
              <a:rPr lang="zh-CN" altLang="en-US" sz="2800" b="1" dirty="0" smtClean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已知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堆栈指针</a:t>
            </a:r>
            <a:r>
              <a:rPr lang="en-US" altLang="zh-CN" sz="2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SP=0x20000400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，通用寄存器</a:t>
            </a:r>
            <a:r>
              <a:rPr lang="en-US" altLang="zh-CN" sz="2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R0=0x13572468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R1=0x11223344H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，在执行“</a:t>
            </a:r>
            <a:r>
              <a:rPr lang="en-US" altLang="zh-CN" sz="2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POP R0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和“</a:t>
            </a:r>
            <a:r>
              <a:rPr lang="en-US" altLang="zh-CN" sz="2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POP R1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两条指令后，请问</a:t>
            </a:r>
            <a:r>
              <a:rPr lang="en-US" altLang="zh-CN" sz="2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SP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R0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R1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结果</a:t>
            </a:r>
            <a:r>
              <a:rPr lang="zh-CN" altLang="en-US" sz="2800" b="1" dirty="0" smtClean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？</a:t>
            </a:r>
            <a:endParaRPr lang="en-US" altLang="zh-CN" sz="2800" b="1" dirty="0" smtClean="0">
              <a:solidFill>
                <a:srgbClr val="000000"/>
              </a:solidFill>
              <a:latin typeface="宋体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SP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（ </a:t>
            </a:r>
            <a:r>
              <a:rPr lang="zh-CN" altLang="en-US" sz="2400" b="1" dirty="0" smtClean="0">
                <a:solidFill>
                  <a:srgbClr val="639EF4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b="1" dirty="0" smtClean="0">
                <a:solidFill>
                  <a:srgbClr val="639EF4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639EF4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填空</a:t>
            </a:r>
            <a:r>
              <a:rPr lang="en-US" altLang="zh-CN" sz="2400" b="1" dirty="0" smtClean="0">
                <a:solidFill>
                  <a:srgbClr val="639EF4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1]</a:t>
            </a:r>
            <a:r>
              <a:rPr lang="en-US" altLang="zh-CN" sz="2400" b="1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R0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（  </a:t>
            </a:r>
            <a:r>
              <a:rPr lang="zh-CN" altLang="en-US" sz="2400" b="1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 dirty="0" smtClean="0">
                <a:solidFill>
                  <a:srgbClr val="639EF4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b="1" dirty="0" smtClean="0">
                <a:solidFill>
                  <a:srgbClr val="639EF4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639EF4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填空</a:t>
            </a:r>
            <a:r>
              <a:rPr lang="en-US" altLang="zh-CN" sz="2400" b="1" dirty="0" smtClean="0">
                <a:solidFill>
                  <a:srgbClr val="639EF4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2]</a:t>
            </a:r>
            <a:r>
              <a:rPr lang="en-US" altLang="zh-CN" sz="2400" b="1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R1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（  </a:t>
            </a:r>
            <a:r>
              <a:rPr lang="zh-CN" altLang="en-US" sz="2400" b="1" dirty="0" smtClean="0">
                <a:solidFill>
                  <a:srgbClr val="639EF4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b="1" dirty="0" smtClean="0">
                <a:solidFill>
                  <a:srgbClr val="639EF4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639EF4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填空</a:t>
            </a:r>
            <a:r>
              <a:rPr lang="en-US" altLang="zh-CN" sz="2400" b="1" dirty="0" smtClean="0">
                <a:solidFill>
                  <a:srgbClr val="639EF4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3]</a:t>
            </a:r>
            <a:r>
              <a:rPr lang="en-US" altLang="zh-CN" sz="2400" b="1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2400" dirty="0"/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4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76C54DA-BD77-4626-9D26-38F1105E71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807352"/>
              </p:ext>
            </p:extLst>
          </p:nvPr>
        </p:nvGraphicFramePr>
        <p:xfrm>
          <a:off x="3161220" y="3350320"/>
          <a:ext cx="5166481" cy="3152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7" name="Visio" r:id="rId19" imgW="1853144" imgH="1952969" progId="Visio.Drawing.11">
                  <p:embed/>
                </p:oleObj>
              </mc:Choice>
              <mc:Fallback>
                <p:oleObj name="Visio" r:id="rId19" imgW="1853144" imgH="1952969" progId="Visio.Drawing.11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76C54DA-BD77-4626-9D26-38F1105E71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1220" y="3350320"/>
                        <a:ext cx="5166481" cy="31520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 hidden="1"/>
          <p:cNvSpPr/>
          <p:nvPr>
            <p:custDataLst>
              <p:tags r:id="rId5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文本框 20" hidden="1"/>
          <p:cNvSpPr txBox="1"/>
          <p:nvPr>
            <p:custDataLst>
              <p:tags r:id="rId6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文本框 21" hidden="1"/>
          <p:cNvSpPr txBox="1"/>
          <p:nvPr>
            <p:custDataLst>
              <p:tags r:id="rId7"/>
            </p:custDataLst>
          </p:nvPr>
        </p:nvSpPr>
        <p:spPr>
          <a:xfrm>
            <a:off x="12827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 hidden="1"/>
          <p:cNvGrpSpPr/>
          <p:nvPr>
            <p:custDataLst>
              <p:tags r:id="rId8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7" name="RemarkBack" hidden="1"/>
            <p:cNvSpPr/>
            <p:nvPr>
              <p:custDataLst>
                <p:tags r:id="rId15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RemarkBlock" hidden="1"/>
            <p:cNvSpPr/>
            <p:nvPr>
              <p:custDataLst>
                <p:tags r:id="rId16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RemarkTitleText" hidden="1"/>
            <p:cNvSpPr txBox="1"/>
            <p:nvPr>
              <p:custDataLst>
                <p:tags r:id="rId17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372777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1"/>
          <p:cNvSpPr>
            <a:spLocks noChangeArrowheads="1"/>
          </p:cNvSpPr>
          <p:nvPr/>
        </p:nvSpPr>
        <p:spPr bwMode="auto">
          <a:xfrm>
            <a:off x="627797" y="941470"/>
            <a:ext cx="22365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CC3300"/>
                </a:solidFill>
              </a:rPr>
              <a:t>问题与思考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堆栈指针与堆栈</a:t>
            </a:r>
          </a:p>
        </p:txBody>
      </p:sp>
      <p:sp>
        <p:nvSpPr>
          <p:cNvPr id="5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4015DEC-6427-45A6-B996-75B4FD40F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797" y="1439977"/>
            <a:ext cx="10003258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在线程模式和处理器模式时都可以使用主堆栈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片内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SRAM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的部分数据如下，已知堆栈指针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SP=0x20000400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，通用寄存器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R0=0x13572468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R1=0x11223344H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，在执行“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POP R0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”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和“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POP R1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”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两条指令后，请问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SP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R0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R1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结果？　　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1E19C90-3C02-49A2-A899-126D86BBF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72" y="6007312"/>
            <a:ext cx="7970981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SP: 0x20000408   R0: 0x22222222     R1:0x11111111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839B22A-F163-42B2-9153-6CFF5D2367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8291" y="3607851"/>
          <a:ext cx="4008581" cy="2445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4" name="Visio" r:id="rId3" imgW="1853144" imgH="1952969" progId="Visio.Drawing.11">
                  <p:embed/>
                </p:oleObj>
              </mc:Choice>
              <mc:Fallback>
                <p:oleObj name="Visio" r:id="rId3" imgW="1853144" imgH="1952969" progId="Visio.Drawing.11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8839B22A-F163-42B2-9153-6CFF5D2367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8291" y="3607851"/>
                        <a:ext cx="4008581" cy="24456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250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0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6065" y="3167390"/>
            <a:ext cx="3625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42E6E0"/>
                </a:solidFill>
              </a:rPr>
              <a:t>CM3</a:t>
            </a:r>
            <a:r>
              <a:rPr lang="zh-CN" altLang="en-US" sz="2800" b="1" dirty="0">
                <a:solidFill>
                  <a:srgbClr val="42E6E0"/>
                </a:solidFill>
              </a:rPr>
              <a:t>特殊功能寄存器</a:t>
            </a:r>
            <a:endParaRPr lang="en-US" altLang="zh-CN" sz="2800" b="1" dirty="0">
              <a:solidFill>
                <a:srgbClr val="42E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53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的特殊功能寄存器</a:t>
            </a: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内容占位符 1"/>
          <p:cNvSpPr txBox="1">
            <a:spLocks/>
          </p:cNvSpPr>
          <p:nvPr/>
        </p:nvSpPr>
        <p:spPr>
          <a:xfrm>
            <a:off x="1981200" y="1700876"/>
            <a:ext cx="8229600" cy="3341687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US" altLang="zh-CN" sz="2400" dirty="0">
                <a:latin typeface="+mn-ea"/>
              </a:rPr>
              <a:t>      Cortex‐M3 </a:t>
            </a:r>
            <a:r>
              <a:rPr lang="zh-CN" altLang="en-US" sz="2400" dirty="0">
                <a:latin typeface="+mn-ea"/>
              </a:rPr>
              <a:t>还在内核水平上搭载了若干特殊功能寄存器，包括</a:t>
            </a:r>
          </a:p>
          <a:p>
            <a:pPr>
              <a:defRPr/>
            </a:pPr>
            <a:r>
              <a:rPr lang="zh-CN" altLang="en-US" sz="2400" dirty="0">
                <a:latin typeface="+mn-ea"/>
              </a:rPr>
              <a:t>程序状态字寄存器组（</a:t>
            </a:r>
            <a:r>
              <a:rPr lang="en-US" altLang="zh-CN" sz="2400" dirty="0">
                <a:latin typeface="+mn-ea"/>
              </a:rPr>
              <a:t>PSRs</a:t>
            </a:r>
            <a:r>
              <a:rPr lang="zh-CN" altLang="en-US" sz="2400" dirty="0">
                <a:latin typeface="+mn-ea"/>
              </a:rPr>
              <a:t>）</a:t>
            </a:r>
          </a:p>
          <a:p>
            <a:pPr>
              <a:defRPr/>
            </a:pPr>
            <a:r>
              <a:rPr lang="zh-CN" altLang="en-US" sz="2400" dirty="0">
                <a:latin typeface="+mn-ea"/>
              </a:rPr>
              <a:t>中断屏蔽寄存器组（</a:t>
            </a:r>
            <a:r>
              <a:rPr lang="en-US" altLang="zh-CN" sz="2400" dirty="0">
                <a:latin typeface="+mn-ea"/>
              </a:rPr>
              <a:t>PRIMASK, FAULTMASK, BASEPRI</a:t>
            </a:r>
            <a:r>
              <a:rPr lang="zh-CN" altLang="en-US" sz="2400" dirty="0">
                <a:latin typeface="+mn-ea"/>
              </a:rPr>
              <a:t>）</a:t>
            </a:r>
          </a:p>
          <a:p>
            <a:pPr>
              <a:defRPr/>
            </a:pPr>
            <a:r>
              <a:rPr lang="zh-CN" altLang="en-US" sz="2400" dirty="0">
                <a:latin typeface="+mn-ea"/>
              </a:rPr>
              <a:t>控制寄存器（</a:t>
            </a:r>
            <a:r>
              <a:rPr lang="en-US" altLang="zh-CN" sz="2400" dirty="0">
                <a:latin typeface="+mn-ea"/>
              </a:rPr>
              <a:t>CONTROL</a:t>
            </a:r>
            <a:r>
              <a:rPr lang="zh-CN" altLang="en-US" sz="2400" dirty="0">
                <a:latin typeface="+mn-ea"/>
              </a:rPr>
              <a:t>）</a:t>
            </a:r>
            <a:endParaRPr lang="zh-CN" altLang="en-US" sz="2800" dirty="0">
              <a:latin typeface="+mn-ea"/>
            </a:endParaRPr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313898" y="991263"/>
            <a:ext cx="82296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u"/>
              <a:defRPr/>
            </a:pPr>
            <a:r>
              <a:rPr lang="en-US" altLang="zh-CN" sz="2800" b="1" kern="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2800" b="1" kern="0" dirty="0">
                <a:solidFill>
                  <a:srgbClr val="FF0000"/>
                </a:solidFill>
                <a:latin typeface="+mn-ea"/>
                <a:ea typeface="+mn-ea"/>
              </a:rPr>
              <a:t>特殊功能寄存器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42FE23-B684-442E-A068-9F1A166ABFFE}"/>
              </a:ext>
            </a:extLst>
          </p:cNvPr>
          <p:cNvSpPr/>
          <p:nvPr/>
        </p:nvSpPr>
        <p:spPr>
          <a:xfrm>
            <a:off x="2166228" y="5741063"/>
            <a:ext cx="57246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+mn-ea"/>
              </a:rPr>
              <a:t>通过</a:t>
            </a:r>
            <a:r>
              <a:rPr lang="en-US" altLang="zh-CN" sz="2400" dirty="0">
                <a:latin typeface="+mn-ea"/>
              </a:rPr>
              <a:t>MRS/MSR </a:t>
            </a:r>
            <a:r>
              <a:rPr lang="zh-CN" altLang="en-US" sz="2400" dirty="0">
                <a:latin typeface="+mn-ea"/>
              </a:rPr>
              <a:t>指令访问特殊功能寄存器</a:t>
            </a:r>
          </a:p>
        </p:txBody>
      </p:sp>
      <p:pic>
        <p:nvPicPr>
          <p:cNvPr id="9" name="Picture 10">
            <a:extLst>
              <a:ext uri="{FF2B5EF4-FFF2-40B4-BE49-F238E27FC236}">
                <a16:creationId xmlns:a16="http://schemas.microsoft.com/office/drawing/2014/main" id="{6E1DC63E-F81F-407A-9BE1-B993F2438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758" y="3908741"/>
            <a:ext cx="4826483" cy="161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F220C52-6722-4A04-AEDA-7324C94A3B13}"/>
              </a:ext>
            </a:extLst>
          </p:cNvPr>
          <p:cNvSpPr/>
          <p:nvPr/>
        </p:nvSpPr>
        <p:spPr>
          <a:xfrm>
            <a:off x="3776869" y="3961751"/>
            <a:ext cx="1232454" cy="2600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C3C478-4685-43B2-B01A-95F013D7086D}"/>
              </a:ext>
            </a:extLst>
          </p:cNvPr>
          <p:cNvSpPr/>
          <p:nvPr/>
        </p:nvSpPr>
        <p:spPr>
          <a:xfrm>
            <a:off x="3776869" y="4276483"/>
            <a:ext cx="1232454" cy="9083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029A88-CF86-4F36-BD8C-A583D229F556}"/>
              </a:ext>
            </a:extLst>
          </p:cNvPr>
          <p:cNvSpPr/>
          <p:nvPr/>
        </p:nvSpPr>
        <p:spPr>
          <a:xfrm>
            <a:off x="3776869" y="5246373"/>
            <a:ext cx="1232454" cy="2600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776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10" grpId="0" animBg="1"/>
      <p:bldP spid="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9">
            <a:extLst>
              <a:ext uri="{FF2B5EF4-FFF2-40B4-BE49-F238E27FC236}">
                <a16:creationId xmlns:a16="http://schemas.microsoft.com/office/drawing/2014/main" id="{2911A6F3-D1ED-4C6B-AC26-37CFEEF75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050" y="2098675"/>
            <a:ext cx="8102600" cy="574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0" dirty="0">
                <a:solidFill>
                  <a:srgbClr val="5666D7"/>
                </a:solidFill>
              </a:rPr>
              <a:t>MRS R0, CONTROL </a:t>
            </a:r>
            <a:r>
              <a:rPr lang="en-US" altLang="zh-CN" sz="2400" b="0" dirty="0"/>
              <a:t>; </a:t>
            </a:r>
            <a:r>
              <a:rPr lang="zh-CN" altLang="en-US" sz="2400" dirty="0"/>
              <a:t>读</a:t>
            </a:r>
            <a:r>
              <a:rPr lang="en-US" altLang="zh-CN" sz="2400" b="0" dirty="0"/>
              <a:t>CONTROL</a:t>
            </a:r>
            <a:r>
              <a:rPr lang="zh-CN" altLang="en-US" sz="2400" b="0" dirty="0"/>
              <a:t>寄存器的值到</a:t>
            </a:r>
            <a:r>
              <a:rPr lang="en-US" altLang="zh-CN" sz="2400" b="0" dirty="0"/>
              <a:t>R0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AF0135-5E79-4C31-8DCC-DD2AFE161E50}"/>
              </a:ext>
            </a:extLst>
          </p:cNvPr>
          <p:cNvSpPr/>
          <p:nvPr/>
        </p:nvSpPr>
        <p:spPr>
          <a:xfrm>
            <a:off x="2305050" y="3292555"/>
            <a:ext cx="7400925" cy="574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pt-BR" altLang="zh-CN" sz="2400" dirty="0">
                <a:solidFill>
                  <a:srgbClr val="5666D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MSR CONTROL, </a:t>
            </a:r>
            <a:r>
              <a:rPr lang="en-US" altLang="zh-CN" sz="2400" dirty="0">
                <a:solidFill>
                  <a:srgbClr val="5666D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pt-BR" altLang="zh-CN" sz="2400" dirty="0">
                <a:solidFill>
                  <a:srgbClr val="5666D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 </a:t>
            </a:r>
            <a:r>
              <a:rPr lang="pt-BR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;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写</a:t>
            </a:r>
            <a:r>
              <a:rPr lang="pt-BR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R0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的值到</a:t>
            </a:r>
            <a:r>
              <a:rPr lang="pt-BR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CONTROL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寄存器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FD8FC7-25C0-40AD-B39E-38F2269E3370}"/>
              </a:ext>
            </a:extLst>
          </p:cNvPr>
          <p:cNvSpPr/>
          <p:nvPr/>
        </p:nvSpPr>
        <p:spPr>
          <a:xfrm>
            <a:off x="2295525" y="1770133"/>
            <a:ext cx="981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B9D30E-89A0-43B9-847E-C2F80B332317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的特殊功能寄存器</a:t>
            </a: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368EAB5-FAB0-40DF-8CD1-9451CA690AB0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67A72C-B395-4F59-A404-9A09E7F74F6B}"/>
              </a:ext>
            </a:extLst>
          </p:cNvPr>
          <p:cNvSpPr/>
          <p:nvPr/>
        </p:nvSpPr>
        <p:spPr>
          <a:xfrm>
            <a:off x="2295525" y="2987173"/>
            <a:ext cx="981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314917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2015412" y="2111636"/>
            <a:ext cx="836022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0" dirty="0">
                <a:latin typeface="+mn-ea"/>
              </a:rPr>
              <a:t>程序状态寄存器在其内部又被分为三个子状态寄存器：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b="0" dirty="0">
                <a:latin typeface="+mn-ea"/>
              </a:rPr>
              <a:t>应用程序 </a:t>
            </a:r>
            <a:r>
              <a:rPr lang="en-US" altLang="zh-CN" sz="2400" b="0" dirty="0">
                <a:latin typeface="+mn-ea"/>
              </a:rPr>
              <a:t>PSR</a:t>
            </a:r>
            <a:r>
              <a:rPr lang="zh-CN" altLang="en-US" sz="2400" b="0" dirty="0">
                <a:latin typeface="+mn-ea"/>
              </a:rPr>
              <a:t>（</a:t>
            </a:r>
            <a:r>
              <a:rPr lang="en-US" altLang="zh-CN" sz="2400" b="0" dirty="0">
                <a:latin typeface="+mn-ea"/>
              </a:rPr>
              <a:t>APSR</a:t>
            </a:r>
            <a:r>
              <a:rPr lang="zh-CN" altLang="en-US" sz="2400" b="0" dirty="0">
                <a:latin typeface="+mn-ea"/>
              </a:rPr>
              <a:t>）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b="0" dirty="0">
                <a:latin typeface="+mn-ea"/>
              </a:rPr>
              <a:t>中断号 </a:t>
            </a:r>
            <a:r>
              <a:rPr lang="en-US" altLang="zh-CN" sz="2400" b="0" dirty="0">
                <a:latin typeface="+mn-ea"/>
              </a:rPr>
              <a:t>PSR</a:t>
            </a:r>
            <a:r>
              <a:rPr lang="zh-CN" altLang="en-US" sz="2400" b="0" dirty="0">
                <a:latin typeface="+mn-ea"/>
              </a:rPr>
              <a:t>（</a:t>
            </a:r>
            <a:r>
              <a:rPr lang="en-US" altLang="zh-CN" sz="2400" b="0" dirty="0">
                <a:latin typeface="+mn-ea"/>
              </a:rPr>
              <a:t>IPSR</a:t>
            </a:r>
            <a:r>
              <a:rPr lang="zh-CN" altLang="en-US" sz="2400" b="0" dirty="0">
                <a:latin typeface="+mn-ea"/>
              </a:rPr>
              <a:t>）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b="0" dirty="0">
                <a:latin typeface="+mn-ea"/>
              </a:rPr>
              <a:t>执行 </a:t>
            </a:r>
            <a:r>
              <a:rPr lang="en-US" altLang="zh-CN" sz="2400" b="0" dirty="0">
                <a:latin typeface="+mn-ea"/>
              </a:rPr>
              <a:t>PSR</a:t>
            </a:r>
            <a:r>
              <a:rPr lang="zh-CN" altLang="en-US" sz="2400" b="0" dirty="0">
                <a:latin typeface="+mn-ea"/>
              </a:rPr>
              <a:t>（</a:t>
            </a:r>
            <a:r>
              <a:rPr lang="en-US" altLang="zh-CN" sz="2400" b="0" dirty="0">
                <a:latin typeface="+mn-ea"/>
              </a:rPr>
              <a:t>EPSR</a:t>
            </a:r>
            <a:r>
              <a:rPr lang="zh-CN" altLang="en-US" sz="2400" b="0" dirty="0">
                <a:latin typeface="+mn-ea"/>
              </a:rPr>
              <a:t>）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9" name="标题 1"/>
          <p:cNvSpPr txBox="1">
            <a:spLocks/>
          </p:cNvSpPr>
          <p:nvPr/>
        </p:nvSpPr>
        <p:spPr bwMode="auto">
          <a:xfrm>
            <a:off x="627797" y="1076325"/>
            <a:ext cx="82296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sz="3200" b="1" kern="0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程序状态寄存器</a:t>
            </a:r>
          </a:p>
        </p:txBody>
      </p:sp>
      <p:sp>
        <p:nvSpPr>
          <p:cNvPr id="50" name="矩形 11"/>
          <p:cNvSpPr>
            <a:spLocks noChangeArrowheads="1"/>
          </p:cNvSpPr>
          <p:nvPr/>
        </p:nvSpPr>
        <p:spPr bwMode="auto">
          <a:xfrm>
            <a:off x="1941470" y="4278891"/>
            <a:ext cx="864894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这三个状态寄存器</a:t>
            </a:r>
            <a:r>
              <a:rPr lang="en-US" altLang="zh-CN" sz="2400" b="0" dirty="0">
                <a:latin typeface="+mn-ea"/>
                <a:ea typeface="+mn-ea"/>
              </a:rPr>
              <a:t> </a:t>
            </a:r>
            <a:r>
              <a:rPr lang="zh-CN" altLang="en-US" sz="2400" b="0" dirty="0">
                <a:latin typeface="+mn-ea"/>
                <a:ea typeface="+mn-ea"/>
              </a:rPr>
              <a:t>既可以单独访问，也可以组合访问。当使用三合一的方式访问时，应使用名字“</a:t>
            </a:r>
            <a:r>
              <a:rPr lang="en-US" altLang="zh-CN" sz="2400" b="0" dirty="0" err="1">
                <a:latin typeface="+mn-ea"/>
                <a:ea typeface="+mn-ea"/>
              </a:rPr>
              <a:t>xPSR</a:t>
            </a:r>
            <a:r>
              <a:rPr lang="zh-CN" altLang="en-US" sz="2400" b="0" dirty="0">
                <a:latin typeface="+mn-ea"/>
                <a:ea typeface="+mn-ea"/>
              </a:rPr>
              <a:t>”或者“</a:t>
            </a:r>
            <a:r>
              <a:rPr lang="en-US" altLang="zh-CN" sz="2400" b="0" dirty="0">
                <a:latin typeface="+mn-ea"/>
                <a:ea typeface="+mn-ea"/>
              </a:rPr>
              <a:t>PSR</a:t>
            </a:r>
            <a:r>
              <a:rPr lang="zh-CN" altLang="en-US" sz="2400" b="0" dirty="0">
                <a:latin typeface="+mn-ea"/>
                <a:ea typeface="+mn-ea"/>
              </a:rPr>
              <a:t>”。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的特殊功能寄存器</a:t>
            </a:r>
          </a:p>
        </p:txBody>
      </p:sp>
      <p:sp>
        <p:nvSpPr>
          <p:cNvPr id="52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399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1"/>
          <p:cNvSpPr>
            <a:spLocks noChangeArrowheads="1"/>
          </p:cNvSpPr>
          <p:nvPr/>
        </p:nvSpPr>
        <p:spPr bwMode="auto">
          <a:xfrm>
            <a:off x="1169157" y="1557307"/>
            <a:ext cx="985368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       </a:t>
            </a:r>
            <a:r>
              <a:rPr lang="zh-CN" altLang="en-US" sz="2400" dirty="0">
                <a:latin typeface="+mn-ea"/>
                <a:ea typeface="+mn-ea"/>
              </a:rPr>
              <a:t>记录</a:t>
            </a:r>
            <a:r>
              <a:rPr lang="en-US" altLang="zh-CN" sz="2400" dirty="0">
                <a:latin typeface="+mn-ea"/>
                <a:ea typeface="+mn-ea"/>
              </a:rPr>
              <a:t>ALU </a:t>
            </a:r>
            <a:r>
              <a:rPr lang="zh-CN" altLang="en-US" sz="2400" dirty="0">
                <a:latin typeface="+mn-ea"/>
                <a:ea typeface="+mn-ea"/>
              </a:rPr>
              <a:t>标志（零标志，进位标志，负数标志，溢出标志），执行状态，以及当前正服务的中断号。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的特殊功能寄存器</a:t>
            </a:r>
          </a:p>
        </p:txBody>
      </p:sp>
      <p:sp>
        <p:nvSpPr>
          <p:cNvPr id="57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3A5F448-3229-4CDD-81FB-1F89C8DC97F1}"/>
              </a:ext>
            </a:extLst>
          </p:cNvPr>
          <p:cNvSpPr txBox="1">
            <a:spLocks/>
          </p:cNvSpPr>
          <p:nvPr/>
        </p:nvSpPr>
        <p:spPr bwMode="auto">
          <a:xfrm>
            <a:off x="627797" y="847422"/>
            <a:ext cx="82296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sz="3200" b="1" kern="0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程序状态寄存器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1EE14F5-8A31-467C-B294-0C08B28BE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515" y="2819660"/>
            <a:ext cx="7266969" cy="2029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F7B70186-BD01-4CB2-B178-BBACDD7B2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515" y="4973527"/>
            <a:ext cx="7311811" cy="1045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06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57377BF-628F-4B33-9F5B-CD8871229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5" y="1695450"/>
            <a:ext cx="7258050" cy="10287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B1A7D31-D23C-45C6-83D6-3B5A7FE77C44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的特殊功能寄存器</a:t>
            </a:r>
          </a:p>
        </p:txBody>
      </p:sp>
      <p:sp>
        <p:nvSpPr>
          <p:cNvPr id="4" name="hdmi_130129">
            <a:extLst>
              <a:ext uri="{FF2B5EF4-FFF2-40B4-BE49-F238E27FC236}">
                <a16:creationId xmlns:a16="http://schemas.microsoft.com/office/drawing/2014/main" id="{390636C2-103C-4D07-B2F9-3FD93E3B19E5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73656B-B841-4819-B3A1-8F92DCD66FBF}"/>
              </a:ext>
            </a:extLst>
          </p:cNvPr>
          <p:cNvSpPr/>
          <p:nvPr/>
        </p:nvSpPr>
        <p:spPr>
          <a:xfrm>
            <a:off x="1478336" y="1053584"/>
            <a:ext cx="5753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altLang="zh-CN" sz="2400" kern="0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2400" kern="0" dirty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sz="2400" kern="0" dirty="0">
                <a:solidFill>
                  <a:srgbClr val="FF0000"/>
                </a:solidFill>
                <a:latin typeface="+mn-ea"/>
              </a:rPr>
              <a:t>APSR</a:t>
            </a:r>
            <a:r>
              <a:rPr lang="zh-CN" altLang="en-US" sz="2400" kern="0" dirty="0">
                <a:latin typeface="+mn-ea"/>
              </a:rPr>
              <a:t>（保存</a:t>
            </a:r>
            <a:r>
              <a:rPr lang="en-US" altLang="zh-CN" sz="2400" kern="0" dirty="0">
                <a:latin typeface="+mn-ea"/>
              </a:rPr>
              <a:t>ALU</a:t>
            </a:r>
            <a:r>
              <a:rPr lang="zh-CN" altLang="en-US" sz="2400" kern="0" dirty="0">
                <a:latin typeface="+mn-ea"/>
              </a:rPr>
              <a:t>中的当前操作信息）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091FC5-CB6F-488E-AC28-5DA6543ED3B3}"/>
              </a:ext>
            </a:extLst>
          </p:cNvPr>
          <p:cNvSpPr/>
          <p:nvPr/>
        </p:nvSpPr>
        <p:spPr>
          <a:xfrm>
            <a:off x="2809875" y="2227580"/>
            <a:ext cx="323850" cy="4762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E1867250-9A36-4543-9AEB-5BBD26A2416F}"/>
              </a:ext>
            </a:extLst>
          </p:cNvPr>
          <p:cNvSpPr/>
          <p:nvPr/>
        </p:nvSpPr>
        <p:spPr>
          <a:xfrm>
            <a:off x="4287520" y="2854960"/>
            <a:ext cx="6167120" cy="1028701"/>
          </a:xfrm>
          <a:prstGeom prst="borderCallout2">
            <a:avLst>
              <a:gd name="adj1" fmla="val 20389"/>
              <a:gd name="adj2" fmla="val -1908"/>
              <a:gd name="adj3" fmla="val 18750"/>
              <a:gd name="adj4" fmla="val -16667"/>
              <a:gd name="adj5" fmla="val -24172"/>
              <a:gd name="adj6" fmla="val -2143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N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：正负号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大小 标志位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表示：正数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大于；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表示：负数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小于</a:t>
            </a:r>
            <a:endParaRPr lang="zh-CN" altLang="en-US" dirty="0"/>
          </a:p>
        </p:txBody>
      </p:sp>
      <p:sp>
        <p:nvSpPr>
          <p:cNvPr id="8" name="标注: 弯曲线形 7">
            <a:extLst>
              <a:ext uri="{FF2B5EF4-FFF2-40B4-BE49-F238E27FC236}">
                <a16:creationId xmlns:a16="http://schemas.microsoft.com/office/drawing/2014/main" id="{F0BB94D5-C3ED-459E-BBE3-8BB4283CDACD}"/>
              </a:ext>
            </a:extLst>
          </p:cNvPr>
          <p:cNvSpPr/>
          <p:nvPr/>
        </p:nvSpPr>
        <p:spPr>
          <a:xfrm>
            <a:off x="4344925" y="3429000"/>
            <a:ext cx="6167120" cy="1028702"/>
          </a:xfrm>
          <a:prstGeom prst="borderCallout2">
            <a:avLst>
              <a:gd name="adj1" fmla="val 18750"/>
              <a:gd name="adj2" fmla="val -1908"/>
              <a:gd name="adj3" fmla="val 17111"/>
              <a:gd name="adj4" fmla="val -12219"/>
              <a:gd name="adj5" fmla="val -81085"/>
              <a:gd name="adj6" fmla="val -15833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Z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：零标志位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表示：结果不为零；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表示：结果为零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1C0EFB5-3DFE-4897-941C-C37B4A097442}"/>
              </a:ext>
            </a:extLst>
          </p:cNvPr>
          <p:cNvSpPr/>
          <p:nvPr/>
        </p:nvSpPr>
        <p:spPr>
          <a:xfrm>
            <a:off x="3134994" y="2227580"/>
            <a:ext cx="421005" cy="4762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注: 弯曲线形 9">
            <a:extLst>
              <a:ext uri="{FF2B5EF4-FFF2-40B4-BE49-F238E27FC236}">
                <a16:creationId xmlns:a16="http://schemas.microsoft.com/office/drawing/2014/main" id="{EE3D0C68-FE5C-4892-9EA2-C3EEDD1ACE47}"/>
              </a:ext>
            </a:extLst>
          </p:cNvPr>
          <p:cNvSpPr/>
          <p:nvPr/>
        </p:nvSpPr>
        <p:spPr>
          <a:xfrm>
            <a:off x="4450080" y="3676594"/>
            <a:ext cx="5852160" cy="1240845"/>
          </a:xfrm>
          <a:prstGeom prst="borderCallout2">
            <a:avLst>
              <a:gd name="adj1" fmla="val 18750"/>
              <a:gd name="adj2" fmla="val -1908"/>
              <a:gd name="adj3" fmla="val 18099"/>
              <a:gd name="adj4" fmla="val -8595"/>
              <a:gd name="adj5" fmla="val -85138"/>
              <a:gd name="adj6" fmla="val -11723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C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：进位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借位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移出位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表示：未进位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借位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移出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；</a:t>
            </a:r>
            <a:endParaRPr lang="en-US" altLang="zh-CN" sz="2200" kern="0" dirty="0">
              <a:solidFill>
                <a:schemeClr val="tx1"/>
              </a:solidFill>
              <a:latin typeface="+mn-ea"/>
            </a:endParaRP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表示：进位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未借位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移出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F27815-F747-46DE-A1D6-48C1D0940F05}"/>
              </a:ext>
            </a:extLst>
          </p:cNvPr>
          <p:cNvSpPr/>
          <p:nvPr/>
        </p:nvSpPr>
        <p:spPr>
          <a:xfrm>
            <a:off x="3555999" y="2227580"/>
            <a:ext cx="386082" cy="4762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C3B342B-DF7D-49EF-88BC-58AF2C2FE179}"/>
              </a:ext>
            </a:extLst>
          </p:cNvPr>
          <p:cNvSpPr/>
          <p:nvPr/>
        </p:nvSpPr>
        <p:spPr>
          <a:xfrm>
            <a:off x="3947795" y="2227580"/>
            <a:ext cx="386082" cy="4762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注: 弯曲线形 12">
            <a:extLst>
              <a:ext uri="{FF2B5EF4-FFF2-40B4-BE49-F238E27FC236}">
                <a16:creationId xmlns:a16="http://schemas.microsoft.com/office/drawing/2014/main" id="{27FE1EFE-E4F2-43FD-97BD-657B51EE22BB}"/>
              </a:ext>
            </a:extLst>
          </p:cNvPr>
          <p:cNvSpPr/>
          <p:nvPr/>
        </p:nvSpPr>
        <p:spPr>
          <a:xfrm>
            <a:off x="4988560" y="4297016"/>
            <a:ext cx="6167120" cy="1028702"/>
          </a:xfrm>
          <a:prstGeom prst="borderCallout2">
            <a:avLst>
              <a:gd name="adj1" fmla="val 18750"/>
              <a:gd name="adj2" fmla="val -1908"/>
              <a:gd name="adj3" fmla="val 20074"/>
              <a:gd name="adj4" fmla="val -10736"/>
              <a:gd name="adj5" fmla="val -163060"/>
              <a:gd name="adj6" fmla="val -1435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V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：溢出标志位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表示：结果未溢出；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表示：结果溢出</a:t>
            </a:r>
            <a:endParaRPr lang="en-US" altLang="zh-CN" sz="2200" kern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FB08F2-B341-463A-9F26-3DA291190FBA}"/>
              </a:ext>
            </a:extLst>
          </p:cNvPr>
          <p:cNvSpPr/>
          <p:nvPr/>
        </p:nvSpPr>
        <p:spPr>
          <a:xfrm>
            <a:off x="4313555" y="2227580"/>
            <a:ext cx="386082" cy="4762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标注: 弯曲线形 14">
            <a:extLst>
              <a:ext uri="{FF2B5EF4-FFF2-40B4-BE49-F238E27FC236}">
                <a16:creationId xmlns:a16="http://schemas.microsoft.com/office/drawing/2014/main" id="{32CB7CF6-F2F8-4605-A9C5-8503CACB4A09}"/>
              </a:ext>
            </a:extLst>
          </p:cNvPr>
          <p:cNvSpPr/>
          <p:nvPr/>
        </p:nvSpPr>
        <p:spPr>
          <a:xfrm>
            <a:off x="5374640" y="4648199"/>
            <a:ext cx="6167120" cy="1137256"/>
          </a:xfrm>
          <a:prstGeom prst="borderCallout2">
            <a:avLst>
              <a:gd name="adj1" fmla="val 18750"/>
              <a:gd name="adj2" fmla="val -1908"/>
              <a:gd name="adj3" fmla="val 20074"/>
              <a:gd name="adj4" fmla="val -10736"/>
              <a:gd name="adj5" fmla="val -177596"/>
              <a:gd name="adj6" fmla="val -1435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Q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：粘着饱和标志位</a:t>
            </a:r>
            <a:endParaRPr lang="en-US" altLang="zh-CN" sz="2200" kern="0" dirty="0">
              <a:solidFill>
                <a:schemeClr val="tx1"/>
              </a:solidFill>
              <a:latin typeface="+mn-ea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      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受饱和运算指令运算结果的影响</a:t>
            </a:r>
            <a:endParaRPr lang="en-US" altLang="zh-CN" sz="2200" kern="0" dirty="0">
              <a:solidFill>
                <a:schemeClr val="tx1"/>
              </a:solidFill>
              <a:latin typeface="+mn-ea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      1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表示：出现饱和</a:t>
            </a:r>
          </a:p>
        </p:txBody>
      </p:sp>
    </p:spTree>
    <p:extLst>
      <p:ext uri="{BB962C8B-B14F-4D97-AF65-F5344CB8AC3E}">
        <p14:creationId xmlns:p14="http://schemas.microsoft.com/office/powerpoint/2010/main" val="350564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DF4421D-DB15-4540-BA28-2B49102D3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737" y="1737360"/>
            <a:ext cx="7248525" cy="10668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DEB22BA-1F23-458C-B050-9F5B85C4D797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的特殊功能寄存器</a:t>
            </a:r>
          </a:p>
        </p:txBody>
      </p:sp>
      <p:sp>
        <p:nvSpPr>
          <p:cNvPr id="4" name="hdmi_130129">
            <a:extLst>
              <a:ext uri="{FF2B5EF4-FFF2-40B4-BE49-F238E27FC236}">
                <a16:creationId xmlns:a16="http://schemas.microsoft.com/office/drawing/2014/main" id="{BC346734-C0E6-47F5-952E-C44503C466FC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6E97D4-DD29-4FA6-B968-8101B862A6D5}"/>
              </a:ext>
            </a:extLst>
          </p:cNvPr>
          <p:cNvSpPr/>
          <p:nvPr/>
        </p:nvSpPr>
        <p:spPr>
          <a:xfrm>
            <a:off x="2069663" y="1065915"/>
            <a:ext cx="13292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altLang="zh-CN" sz="2400" kern="0" dirty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2400" kern="0" dirty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sz="2400" kern="0" dirty="0">
                <a:solidFill>
                  <a:srgbClr val="FF0000"/>
                </a:solidFill>
                <a:latin typeface="+mn-ea"/>
              </a:rPr>
              <a:t>IPSR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1A9C5E-0879-4AA0-B63D-03C53F25EE88}"/>
              </a:ext>
            </a:extLst>
          </p:cNvPr>
          <p:cNvSpPr/>
          <p:nvPr/>
        </p:nvSpPr>
        <p:spPr>
          <a:xfrm>
            <a:off x="7934960" y="2297430"/>
            <a:ext cx="1747519" cy="4762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8F247D22-438C-4489-B3A2-807CC335E518}"/>
              </a:ext>
            </a:extLst>
          </p:cNvPr>
          <p:cNvSpPr/>
          <p:nvPr/>
        </p:nvSpPr>
        <p:spPr>
          <a:xfrm>
            <a:off x="3281680" y="3479743"/>
            <a:ext cx="4653280" cy="838258"/>
          </a:xfrm>
          <a:prstGeom prst="borderCallout2">
            <a:avLst>
              <a:gd name="adj1" fmla="val 20389"/>
              <a:gd name="adj2" fmla="val 102211"/>
              <a:gd name="adj3" fmla="val 20725"/>
              <a:gd name="adj4" fmla="val 106397"/>
              <a:gd name="adj5" fmla="val -93486"/>
              <a:gd name="adj6" fmla="val 112503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表示当前激活异常的编号（中断号）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7E680A-1E56-49AA-8032-C1A9F81617CF}"/>
              </a:ext>
            </a:extLst>
          </p:cNvPr>
          <p:cNvSpPr txBox="1"/>
          <p:nvPr/>
        </p:nvSpPr>
        <p:spPr>
          <a:xfrm>
            <a:off x="3769359" y="4392475"/>
            <a:ext cx="4653280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kern="0" dirty="0">
                <a:latin typeface="+mn-ea"/>
              </a:rPr>
              <a:t>部分异常的编号：</a:t>
            </a:r>
            <a:endParaRPr lang="en-US" altLang="zh-CN" sz="2000" kern="0" dirty="0">
              <a:latin typeface="+mn-ea"/>
            </a:endParaRPr>
          </a:p>
          <a:p>
            <a:r>
              <a:rPr lang="en-US" altLang="zh-CN" sz="2000" kern="0" dirty="0">
                <a:latin typeface="+mn-ea"/>
              </a:rPr>
              <a:t>                        NMI=2</a:t>
            </a:r>
          </a:p>
          <a:p>
            <a:r>
              <a:rPr lang="en-US" altLang="zh-CN" sz="2000" kern="0" dirty="0">
                <a:latin typeface="+mn-ea"/>
              </a:rPr>
              <a:t>                        </a:t>
            </a:r>
            <a:r>
              <a:rPr lang="en-US" altLang="zh-CN" sz="2000" kern="0" dirty="0" err="1">
                <a:latin typeface="+mn-ea"/>
              </a:rPr>
              <a:t>SVCall</a:t>
            </a:r>
            <a:r>
              <a:rPr lang="en-US" altLang="zh-CN" sz="2000" kern="0" dirty="0">
                <a:latin typeface="+mn-ea"/>
              </a:rPr>
              <a:t>=11</a:t>
            </a:r>
          </a:p>
          <a:p>
            <a:r>
              <a:rPr lang="en-US" altLang="zh-CN" sz="2000" kern="0" dirty="0">
                <a:latin typeface="+mn-ea"/>
              </a:rPr>
              <a:t>                        INTISR[0]=16</a:t>
            </a:r>
          </a:p>
          <a:p>
            <a:r>
              <a:rPr lang="en-US" altLang="zh-CN" sz="2000" kern="0" dirty="0">
                <a:latin typeface="+mn-ea"/>
              </a:rPr>
              <a:t>                        INTISR[1]=17                    </a:t>
            </a:r>
          </a:p>
          <a:p>
            <a:r>
              <a:rPr lang="en-US" altLang="zh-CN" sz="2000" kern="0" dirty="0">
                <a:latin typeface="+mn-ea"/>
              </a:rPr>
              <a:t>                        INTISR[239]=255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82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1E08093-3DC9-4B45-8111-026C988D022B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的特殊功能寄存器</a:t>
            </a:r>
          </a:p>
        </p:txBody>
      </p:sp>
      <p:sp>
        <p:nvSpPr>
          <p:cNvPr id="3" name="hdmi_130129">
            <a:extLst>
              <a:ext uri="{FF2B5EF4-FFF2-40B4-BE49-F238E27FC236}">
                <a16:creationId xmlns:a16="http://schemas.microsoft.com/office/drawing/2014/main" id="{2E319106-5198-47F4-9732-7F60D767B3A3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82C8E6-0200-43EA-B4C0-6C08826DEA71}"/>
              </a:ext>
            </a:extLst>
          </p:cNvPr>
          <p:cNvSpPr/>
          <p:nvPr/>
        </p:nvSpPr>
        <p:spPr>
          <a:xfrm>
            <a:off x="2040008" y="1151374"/>
            <a:ext cx="14093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altLang="zh-CN" sz="2400" kern="0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2400" kern="0" dirty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sz="2400" kern="0" dirty="0">
                <a:solidFill>
                  <a:srgbClr val="FF0000"/>
                </a:solidFill>
                <a:latin typeface="+mn-ea"/>
              </a:rPr>
              <a:t>EPSR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F39B6C-8119-497F-B636-3E75093C7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737" y="1693227"/>
            <a:ext cx="7248525" cy="11144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736F60B-3BC9-4A7E-A7FC-6112FFFF8DD9}"/>
              </a:ext>
            </a:extLst>
          </p:cNvPr>
          <p:cNvSpPr/>
          <p:nvPr/>
        </p:nvSpPr>
        <p:spPr>
          <a:xfrm>
            <a:off x="4927601" y="2225040"/>
            <a:ext cx="558799" cy="51180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8FC43C-5676-444D-9A17-0B302EE32A78}"/>
              </a:ext>
            </a:extLst>
          </p:cNvPr>
          <p:cNvSpPr/>
          <p:nvPr/>
        </p:nvSpPr>
        <p:spPr>
          <a:xfrm>
            <a:off x="7064851" y="2230119"/>
            <a:ext cx="558799" cy="51180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C4E6067-41DE-40FF-A353-BFDAABAE8935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207001" y="2736849"/>
            <a:ext cx="2416649" cy="1114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A920AF4-D3B5-42DF-8BB1-D7F02D165D18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344251" y="2741928"/>
            <a:ext cx="279399" cy="1109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ED76CDD1-DC23-4509-AE89-D3B056DCF3F7}"/>
              </a:ext>
            </a:extLst>
          </p:cNvPr>
          <p:cNvSpPr txBox="1"/>
          <p:nvPr/>
        </p:nvSpPr>
        <p:spPr>
          <a:xfrm>
            <a:off x="7701280" y="3139440"/>
            <a:ext cx="4307840" cy="13542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</a:pPr>
            <a:endParaRPr lang="en-US" altLang="zh-CN" sz="800" kern="0" dirty="0">
              <a:latin typeface="+mn-ea"/>
            </a:endParaRPr>
          </a:p>
          <a:p>
            <a:r>
              <a:rPr lang="en-US" altLang="zh-CN" sz="2200" kern="0" dirty="0">
                <a:latin typeface="+mn-ea"/>
              </a:rPr>
              <a:t>ICI</a:t>
            </a:r>
            <a:r>
              <a:rPr lang="zh-CN" altLang="en-US" sz="2200" kern="0" dirty="0">
                <a:latin typeface="+mn-ea"/>
              </a:rPr>
              <a:t>：位段</a:t>
            </a:r>
            <a:r>
              <a:rPr lang="en-US" altLang="zh-CN" sz="2200" kern="0" dirty="0">
                <a:latin typeface="+mn-ea"/>
              </a:rPr>
              <a:t>[15:12]</a:t>
            </a:r>
            <a:r>
              <a:rPr lang="zh-CN" altLang="en-US" sz="2200" kern="0" dirty="0">
                <a:latin typeface="+mn-ea"/>
              </a:rPr>
              <a:t>，可中断</a:t>
            </a:r>
            <a:r>
              <a:rPr lang="en-US" altLang="zh-CN" sz="2200" kern="0" dirty="0">
                <a:latin typeface="+mn-ea"/>
              </a:rPr>
              <a:t>-</a:t>
            </a:r>
            <a:r>
              <a:rPr lang="zh-CN" altLang="en-US" sz="2200" kern="0" dirty="0">
                <a:latin typeface="+mn-ea"/>
              </a:rPr>
              <a:t>可继续指令区，用于被打断的多寄存器数据传送指令</a:t>
            </a:r>
            <a:endParaRPr lang="en-US" altLang="zh-CN" sz="2200" kern="0" dirty="0">
              <a:latin typeface="+mn-ea"/>
            </a:endParaRPr>
          </a:p>
          <a:p>
            <a:endParaRPr lang="zh-CN" altLang="en-US" sz="8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141DC2-9063-45DB-BEE4-2AB4BA9ADEAA}"/>
              </a:ext>
            </a:extLst>
          </p:cNvPr>
          <p:cNvSpPr/>
          <p:nvPr/>
        </p:nvSpPr>
        <p:spPr>
          <a:xfrm>
            <a:off x="5481954" y="2227579"/>
            <a:ext cx="390525" cy="5092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EC1AB8-57DC-47F9-81AA-186788892DA3}"/>
              </a:ext>
            </a:extLst>
          </p:cNvPr>
          <p:cNvSpPr txBox="1"/>
          <p:nvPr/>
        </p:nvSpPr>
        <p:spPr>
          <a:xfrm>
            <a:off x="7701280" y="4493657"/>
            <a:ext cx="4307840" cy="16927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</a:pPr>
            <a:endParaRPr lang="en-US" altLang="zh-CN" sz="800" kern="0" dirty="0">
              <a:latin typeface="+mn-ea"/>
            </a:endParaRPr>
          </a:p>
          <a:p>
            <a:r>
              <a:rPr lang="en-US" altLang="zh-CN" sz="2200" kern="0" dirty="0">
                <a:latin typeface="+mn-ea"/>
              </a:rPr>
              <a:t>IT </a:t>
            </a:r>
            <a:r>
              <a:rPr lang="zh-CN" altLang="en-US" sz="2200" kern="0" dirty="0">
                <a:latin typeface="+mn-ea"/>
              </a:rPr>
              <a:t>：位段</a:t>
            </a:r>
            <a:r>
              <a:rPr lang="en-US" altLang="zh-CN" sz="2200" kern="0" dirty="0">
                <a:latin typeface="+mn-ea"/>
              </a:rPr>
              <a:t>[15:10]</a:t>
            </a:r>
            <a:r>
              <a:rPr lang="zh-CN" altLang="en-US" sz="2200" kern="0" dirty="0">
                <a:latin typeface="+mn-ea"/>
              </a:rPr>
              <a:t>和</a:t>
            </a:r>
            <a:r>
              <a:rPr lang="en-US" altLang="zh-CN" sz="2200" kern="0" dirty="0">
                <a:latin typeface="+mn-ea"/>
              </a:rPr>
              <a:t>[26:25]</a:t>
            </a:r>
            <a:r>
              <a:rPr lang="zh-CN" altLang="en-US" sz="2200" kern="0" dirty="0">
                <a:latin typeface="+mn-ea"/>
              </a:rPr>
              <a:t>，</a:t>
            </a:r>
            <a:r>
              <a:rPr lang="en-US" altLang="zh-CN" sz="2200" kern="0" dirty="0">
                <a:latin typeface="+mn-ea"/>
              </a:rPr>
              <a:t>IF-THEN</a:t>
            </a:r>
            <a:r>
              <a:rPr lang="zh-CN" altLang="en-US" sz="2200" kern="0" dirty="0">
                <a:latin typeface="+mn-ea"/>
              </a:rPr>
              <a:t>指令的执行状态区，包含</a:t>
            </a:r>
            <a:r>
              <a:rPr lang="en-US" altLang="zh-CN" sz="2200" kern="0" dirty="0">
                <a:latin typeface="+mn-ea"/>
              </a:rPr>
              <a:t>IF-THEN</a:t>
            </a:r>
            <a:r>
              <a:rPr lang="zh-CN" altLang="en-US" sz="2200" kern="0" dirty="0">
                <a:latin typeface="+mn-ea"/>
              </a:rPr>
              <a:t>模块的指令数及其执行条件</a:t>
            </a:r>
            <a:endParaRPr lang="en-US" altLang="zh-CN" sz="2200" kern="0" dirty="0">
              <a:latin typeface="+mn-ea"/>
            </a:endParaRPr>
          </a:p>
          <a:p>
            <a:endParaRPr lang="zh-CN" altLang="en-US" sz="800" dirty="0"/>
          </a:p>
        </p:txBody>
      </p:sp>
      <p:sp>
        <p:nvSpPr>
          <p:cNvPr id="22" name="标注: 弯曲线形 21">
            <a:extLst>
              <a:ext uri="{FF2B5EF4-FFF2-40B4-BE49-F238E27FC236}">
                <a16:creationId xmlns:a16="http://schemas.microsoft.com/office/drawing/2014/main" id="{BF536F99-12D3-44FB-A000-8AD67D7C4A56}"/>
              </a:ext>
            </a:extLst>
          </p:cNvPr>
          <p:cNvSpPr/>
          <p:nvPr/>
        </p:nvSpPr>
        <p:spPr>
          <a:xfrm>
            <a:off x="418048" y="4081837"/>
            <a:ext cx="4653280" cy="1354217"/>
          </a:xfrm>
          <a:prstGeom prst="borderCallout2">
            <a:avLst>
              <a:gd name="adj1" fmla="val 20389"/>
              <a:gd name="adj2" fmla="val 102211"/>
              <a:gd name="adj3" fmla="val 20725"/>
              <a:gd name="adj4" fmla="val 106397"/>
              <a:gd name="adj5" fmla="val -102621"/>
              <a:gd name="adj6" fmla="val 113345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T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位：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[24]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位，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Thumb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状态位</a:t>
            </a:r>
            <a:endParaRPr lang="en-US" altLang="zh-CN" sz="2200" kern="0" dirty="0">
              <a:solidFill>
                <a:schemeClr val="tx1"/>
              </a:solidFill>
              <a:latin typeface="+mn-ea"/>
            </a:endParaRPr>
          </a:p>
          <a:p>
            <a:pPr algn="just"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         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通常为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1</a:t>
            </a:r>
          </a:p>
          <a:p>
            <a:pPr algn="just">
              <a:buFont typeface="Wingdings" pitchFamily="2" charset="2"/>
              <a:buNone/>
              <a:defRPr/>
            </a:pP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         清</a:t>
            </a:r>
            <a:r>
              <a:rPr lang="en-US" altLang="zh-CN" sz="2200" kern="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2200" kern="0" dirty="0">
                <a:solidFill>
                  <a:schemeClr val="tx1"/>
                </a:solidFill>
                <a:latin typeface="+mn-ea"/>
              </a:rPr>
              <a:t>的时候会引起异常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13" grpId="0" animBg="1"/>
      <p:bldP spid="13" grpId="1" animBg="1"/>
      <p:bldP spid="18" grpId="0" animBg="1"/>
      <p:bldP spid="21" grpId="0" animBg="1"/>
      <p:bldP spid="21" grpId="1" animBg="1"/>
      <p:bldP spid="2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8D40764D-77AC-459A-AFD0-02E8D7B7E3B6}"/>
              </a:ext>
            </a:extLst>
          </p:cNvPr>
          <p:cNvSpPr/>
          <p:nvPr/>
        </p:nvSpPr>
        <p:spPr>
          <a:xfrm>
            <a:off x="1442113" y="4134130"/>
            <a:ext cx="9144000" cy="12159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4C911C-40C9-4A83-833A-3E3D56ECBAB0}"/>
              </a:ext>
            </a:extLst>
          </p:cNvPr>
          <p:cNvSpPr/>
          <p:nvPr/>
        </p:nvSpPr>
        <p:spPr>
          <a:xfrm>
            <a:off x="1433167" y="3222942"/>
            <a:ext cx="9144000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245091-05AE-42A1-825D-A0C0D030A7F8}"/>
              </a:ext>
            </a:extLst>
          </p:cNvPr>
          <p:cNvSpPr/>
          <p:nvPr/>
        </p:nvSpPr>
        <p:spPr>
          <a:xfrm>
            <a:off x="1442113" y="2306320"/>
            <a:ext cx="9144000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795BAB-1279-4C8F-A65D-A238AA5CA924}"/>
              </a:ext>
            </a:extLst>
          </p:cNvPr>
          <p:cNvSpPr/>
          <p:nvPr/>
        </p:nvSpPr>
        <p:spPr>
          <a:xfrm>
            <a:off x="1442113" y="1984431"/>
            <a:ext cx="9144000" cy="3196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内容占位符 3"/>
          <p:cNvGraphicFramePr>
            <a:graphicFrameLocks/>
          </p:cNvGraphicFramePr>
          <p:nvPr>
            <p:extLst/>
          </p:nvPr>
        </p:nvGraphicFramePr>
        <p:xfrm>
          <a:off x="1442113" y="1989138"/>
          <a:ext cx="9144000" cy="3360980"/>
        </p:xfrm>
        <a:graphic>
          <a:graphicData uri="http://schemas.openxmlformats.org/drawingml/2006/table">
            <a:tbl>
              <a:tblPr/>
              <a:tblGrid>
                <a:gridCol w="1782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1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9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名字</a:t>
                      </a:r>
                      <a:r>
                        <a:rPr lang="en-US" sz="2000" b="1" kern="0" dirty="0">
                          <a:latin typeface="Calibri"/>
                          <a:ea typeface="宋体"/>
                          <a:cs typeface="宋体"/>
                        </a:rPr>
                        <a:t> 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功能描述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3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latin typeface="Calibri-Bold"/>
                          <a:ea typeface="宋体"/>
                          <a:cs typeface="Calibri-Bold"/>
                        </a:rPr>
                        <a:t>PRIMASK</a:t>
                      </a:r>
                      <a:r>
                        <a:rPr lang="en-US" sz="2000" b="1" kern="0" dirty="0">
                          <a:latin typeface="宋体"/>
                          <a:ea typeface="宋体"/>
                          <a:cs typeface="宋体"/>
                        </a:rPr>
                        <a:t> 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是个只有</a:t>
                      </a:r>
                      <a:r>
                        <a:rPr lang="en-US" sz="2000" b="1" kern="0" dirty="0">
                          <a:latin typeface="Calibri"/>
                          <a:ea typeface="宋体"/>
                          <a:cs typeface="Calibri"/>
                        </a:rPr>
                        <a:t>1 </a:t>
                      </a: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个位的寄存器</a:t>
                      </a:r>
                      <a:endParaRPr lang="en-US" altLang="zh-CN" sz="2000" b="1" kern="0" dirty="0">
                        <a:latin typeface="Calibri"/>
                        <a:ea typeface="宋体"/>
                        <a:cs typeface="宋体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置</a:t>
                      </a:r>
                      <a:r>
                        <a:rPr lang="en-US" sz="2000" b="1" kern="0" dirty="0">
                          <a:latin typeface="Calibri"/>
                          <a:ea typeface="宋体"/>
                          <a:cs typeface="Calibri"/>
                        </a:rPr>
                        <a:t>1 </a:t>
                      </a: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时，关掉所有可屏蔽的异常，只剩下</a:t>
                      </a:r>
                      <a:r>
                        <a:rPr lang="en-US" sz="2000" b="1" kern="0" dirty="0">
                          <a:latin typeface="Calibri"/>
                          <a:ea typeface="宋体"/>
                          <a:cs typeface="Calibri"/>
                        </a:rPr>
                        <a:t>NMI</a:t>
                      </a: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和硬</a:t>
                      </a:r>
                      <a:r>
                        <a:rPr lang="en-US" sz="2000" b="1" kern="0" dirty="0">
                          <a:latin typeface="Calibri"/>
                          <a:ea typeface="宋体"/>
                          <a:cs typeface="Calibri"/>
                        </a:rPr>
                        <a:t>fault </a:t>
                      </a: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可以响应</a:t>
                      </a:r>
                      <a:r>
                        <a:rPr lang="zh-CN" altLang="en-US" sz="2000" b="1" kern="0" dirty="0">
                          <a:latin typeface="Calibri"/>
                          <a:ea typeface="宋体"/>
                          <a:cs typeface="宋体"/>
                        </a:rPr>
                        <a:t>；</a:t>
                      </a: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缺省值</a:t>
                      </a:r>
                      <a:r>
                        <a:rPr lang="zh-CN" altLang="en-US" sz="2000" b="1" kern="0" dirty="0">
                          <a:latin typeface="Calibri"/>
                          <a:ea typeface="宋体"/>
                          <a:cs typeface="宋体"/>
                        </a:rPr>
                        <a:t>为</a:t>
                      </a:r>
                      <a:r>
                        <a:rPr lang="en-US" sz="2000" b="1" kern="0" dirty="0">
                          <a:latin typeface="Calibri"/>
                          <a:ea typeface="宋体"/>
                          <a:cs typeface="Calibri"/>
                        </a:rPr>
                        <a:t>0</a:t>
                      </a: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，表示没有关中断。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3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latin typeface="Calibri-Bold"/>
                          <a:ea typeface="宋体"/>
                          <a:cs typeface="Calibri-Bold"/>
                        </a:rPr>
                        <a:t>FAULTMASK</a:t>
                      </a:r>
                      <a:r>
                        <a:rPr lang="en-US" sz="2000" b="1" kern="0" dirty="0">
                          <a:latin typeface="宋体"/>
                          <a:ea typeface="宋体"/>
                          <a:cs typeface="宋体"/>
                        </a:rPr>
                        <a:t> 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是个只有</a:t>
                      </a:r>
                      <a:r>
                        <a:rPr lang="en-US" sz="2000" b="1" kern="0" dirty="0">
                          <a:latin typeface="Calibri"/>
                          <a:ea typeface="宋体"/>
                          <a:cs typeface="Calibri"/>
                        </a:rPr>
                        <a:t>1 </a:t>
                      </a: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个位的寄存器</a:t>
                      </a:r>
                      <a:endParaRPr lang="en-US" altLang="zh-CN" sz="2000" b="1" kern="0" dirty="0">
                        <a:latin typeface="Calibri"/>
                        <a:ea typeface="宋体"/>
                        <a:cs typeface="宋体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置</a:t>
                      </a:r>
                      <a:r>
                        <a:rPr lang="en-US" sz="2000" b="1" kern="0" dirty="0">
                          <a:latin typeface="Calibri"/>
                          <a:ea typeface="宋体"/>
                          <a:cs typeface="Calibri"/>
                        </a:rPr>
                        <a:t>1 </a:t>
                      </a: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时，只有</a:t>
                      </a:r>
                      <a:r>
                        <a:rPr lang="en-US" sz="2000" b="1" kern="0" dirty="0">
                          <a:latin typeface="Calibri"/>
                          <a:ea typeface="宋体"/>
                          <a:cs typeface="Calibri"/>
                        </a:rPr>
                        <a:t>NMI </a:t>
                      </a: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才能响应，所有其它的异常</a:t>
                      </a:r>
                      <a:r>
                        <a:rPr lang="zh-CN" altLang="en-US" sz="2000" b="1" kern="0" dirty="0">
                          <a:latin typeface="Calibri"/>
                          <a:ea typeface="宋体"/>
                          <a:cs typeface="宋体"/>
                        </a:rPr>
                        <a:t>和中断全部关闭；</a:t>
                      </a: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缺省值</a:t>
                      </a:r>
                      <a:r>
                        <a:rPr lang="zh-CN" altLang="en-US" sz="2000" b="1" kern="0" dirty="0">
                          <a:latin typeface="Calibri"/>
                          <a:ea typeface="宋体"/>
                          <a:cs typeface="宋体"/>
                        </a:rPr>
                        <a:t>为</a:t>
                      </a:r>
                      <a:r>
                        <a:rPr lang="en-US" sz="2000" b="1" kern="0" dirty="0">
                          <a:latin typeface="Calibri"/>
                          <a:ea typeface="宋体"/>
                          <a:cs typeface="Calibri"/>
                        </a:rPr>
                        <a:t>0</a:t>
                      </a: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，表示没有关异常。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10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latin typeface="Calibri-Bold"/>
                          <a:ea typeface="宋体"/>
                          <a:cs typeface="Calibri-Bold"/>
                        </a:rPr>
                        <a:t>BASEPRI</a:t>
                      </a:r>
                      <a:r>
                        <a:rPr lang="en-US" sz="2000" b="1" kern="0" dirty="0">
                          <a:latin typeface="宋体"/>
                          <a:ea typeface="宋体"/>
                          <a:cs typeface="宋体"/>
                        </a:rPr>
                        <a:t> 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这个寄存器最多有</a:t>
                      </a:r>
                      <a:r>
                        <a:rPr lang="en-US" sz="2000" b="1" kern="0" dirty="0">
                          <a:latin typeface="Calibri"/>
                          <a:ea typeface="宋体"/>
                          <a:cs typeface="Calibri"/>
                        </a:rPr>
                        <a:t>9 </a:t>
                      </a: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位（由表达优先级的位数决定）它定义了被屏蔽优先级的阈值。当它被设成某个值后，所有优先级号大于等于此值的中断都被关（优先级号越大，优先级越低）。但若被设成</a:t>
                      </a:r>
                      <a:r>
                        <a:rPr lang="en-US" sz="2000" b="1" kern="0" dirty="0">
                          <a:latin typeface="Calibri"/>
                          <a:ea typeface="宋体"/>
                          <a:cs typeface="Calibri"/>
                        </a:rPr>
                        <a:t>0</a:t>
                      </a: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，则不关闭任何中断，</a:t>
                      </a:r>
                      <a:r>
                        <a:rPr lang="en-US" sz="2000" b="1" kern="0" dirty="0">
                          <a:latin typeface="Calibri"/>
                          <a:ea typeface="宋体"/>
                          <a:cs typeface="Calibri"/>
                        </a:rPr>
                        <a:t>0 </a:t>
                      </a:r>
                      <a:r>
                        <a:rPr lang="zh-CN" sz="2000" b="1" kern="0" dirty="0">
                          <a:latin typeface="Calibri"/>
                          <a:ea typeface="宋体"/>
                          <a:cs typeface="宋体"/>
                        </a:rPr>
                        <a:t>也是缺省值。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标题 1"/>
          <p:cNvSpPr txBox="1">
            <a:spLocks/>
          </p:cNvSpPr>
          <p:nvPr/>
        </p:nvSpPr>
        <p:spPr bwMode="auto">
          <a:xfrm>
            <a:off x="313898" y="1015076"/>
            <a:ext cx="82296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sz="3200" b="1" kern="0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中断屏蔽寄存器组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的特殊功能寄存器</a:t>
            </a:r>
          </a:p>
        </p:txBody>
      </p:sp>
      <p:sp>
        <p:nvSpPr>
          <p:cNvPr id="9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74C1B1-6697-441C-A720-71984AF05993}"/>
              </a:ext>
            </a:extLst>
          </p:cNvPr>
          <p:cNvSpPr/>
          <p:nvPr/>
        </p:nvSpPr>
        <p:spPr>
          <a:xfrm>
            <a:off x="1310385" y="5562982"/>
            <a:ext cx="92757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zh-CN" altLang="en-US" sz="2000" b="1" kern="0" dirty="0">
                <a:solidFill>
                  <a:srgbClr val="FF0000"/>
                </a:solidFill>
                <a:latin typeface="+mn-ea"/>
              </a:rPr>
              <a:t>说明：</a:t>
            </a:r>
            <a:r>
              <a:rPr lang="en-US" altLang="zh-CN" sz="2000" b="1" kern="0" dirty="0">
                <a:latin typeface="+mn-ea"/>
              </a:rPr>
              <a:t>BASEPRI</a:t>
            </a:r>
            <a:r>
              <a:rPr lang="zh-CN" altLang="en-US" sz="2000" b="1" kern="0" dirty="0">
                <a:latin typeface="+mn-ea"/>
              </a:rPr>
              <a:t>屏蔽的是</a:t>
            </a:r>
            <a:r>
              <a:rPr lang="zh-CN" altLang="en-US" sz="2000" b="1" kern="0" dirty="0">
                <a:solidFill>
                  <a:srgbClr val="FF0000"/>
                </a:solidFill>
                <a:latin typeface="+mn-ea"/>
              </a:rPr>
              <a:t>抢占优先级</a:t>
            </a:r>
            <a:r>
              <a:rPr lang="zh-CN" altLang="en-US" sz="2000" b="1" kern="0" dirty="0">
                <a:latin typeface="+mn-ea"/>
              </a:rPr>
              <a:t>，实际位数与芯片的优先级设置相适应，在</a:t>
            </a:r>
            <a:r>
              <a:rPr lang="en-US" altLang="zh-CN" sz="2000" b="1" kern="0" dirty="0">
                <a:latin typeface="+mn-ea"/>
              </a:rPr>
              <a:t>STM32F1</a:t>
            </a:r>
            <a:r>
              <a:rPr lang="zh-CN" altLang="en-US" sz="2000" b="1" kern="0" dirty="0">
                <a:latin typeface="+mn-ea"/>
              </a:rPr>
              <a:t>中，</a:t>
            </a:r>
            <a:r>
              <a:rPr lang="en-US" altLang="zh-CN" sz="2000" b="1" kern="0" dirty="0">
                <a:latin typeface="+mn-ea"/>
              </a:rPr>
              <a:t>BASEPRI</a:t>
            </a:r>
            <a:r>
              <a:rPr lang="zh-CN" altLang="en-US" sz="2000" b="1" kern="0" dirty="0">
                <a:latin typeface="+mn-ea"/>
              </a:rPr>
              <a:t>的高</a:t>
            </a:r>
            <a:r>
              <a:rPr lang="en-US" altLang="zh-CN" sz="2000" b="1" kern="0" dirty="0">
                <a:latin typeface="+mn-ea"/>
              </a:rPr>
              <a:t>4</a:t>
            </a:r>
            <a:r>
              <a:rPr lang="zh-CN" altLang="en-US" sz="2000" b="1" kern="0" dirty="0">
                <a:latin typeface="+mn-ea"/>
              </a:rPr>
              <a:t>位有效，屏蔽的就是优先级寄存器高四</a:t>
            </a:r>
            <a:r>
              <a:rPr lang="zh-CN" altLang="en-US" sz="2000" b="1" kern="0" dirty="0" smtClean="0">
                <a:latin typeface="+mn-ea"/>
              </a:rPr>
              <a:t>位中</a:t>
            </a:r>
            <a:r>
              <a:rPr lang="zh-CN" altLang="en-US" sz="2000" b="1" kern="0" dirty="0" smtClean="0">
                <a:solidFill>
                  <a:srgbClr val="FF0000"/>
                </a:solidFill>
                <a:latin typeface="+mn-ea"/>
              </a:rPr>
              <a:t>抢占</a:t>
            </a:r>
            <a:r>
              <a:rPr lang="zh-CN" altLang="en-US" sz="2000" b="1" kern="0" dirty="0">
                <a:solidFill>
                  <a:srgbClr val="FF0000"/>
                </a:solidFill>
                <a:latin typeface="+mn-ea"/>
              </a:rPr>
              <a:t>优先级</a:t>
            </a:r>
            <a:r>
              <a:rPr lang="zh-CN" altLang="en-US" sz="2000" b="1" kern="0" dirty="0">
                <a:latin typeface="+mn-ea"/>
              </a:rPr>
              <a:t>表达的中断</a:t>
            </a:r>
            <a:r>
              <a:rPr lang="zh-CN" altLang="en-US" sz="2000" b="1" kern="0" dirty="0" smtClean="0">
                <a:latin typeface="+mn-ea"/>
              </a:rPr>
              <a:t>号</a:t>
            </a:r>
            <a:endParaRPr lang="zh-CN" altLang="en-US" sz="2000" b="1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0505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10" grpId="1" animBg="1"/>
      <p:bldP spid="2" grpId="0" animBg="1"/>
      <p:bldP spid="2" grpId="1" animBg="1"/>
      <p:bldP spid="1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4C5B5A6-8FE6-48B5-96F5-06FF845D7934}"/>
              </a:ext>
            </a:extLst>
          </p:cNvPr>
          <p:cNvSpPr/>
          <p:nvPr/>
        </p:nvSpPr>
        <p:spPr>
          <a:xfrm>
            <a:off x="1523999" y="5366707"/>
            <a:ext cx="9125968" cy="11312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18A035-78CA-40A5-BAFF-0A1A78DBE166}"/>
              </a:ext>
            </a:extLst>
          </p:cNvPr>
          <p:cNvSpPr/>
          <p:nvPr/>
        </p:nvSpPr>
        <p:spPr>
          <a:xfrm>
            <a:off x="1523999" y="3225486"/>
            <a:ext cx="9136128" cy="213106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DCD2E-6E97-4ACB-A6D3-A00AD414B945}"/>
              </a:ext>
            </a:extLst>
          </p:cNvPr>
          <p:cNvSpPr/>
          <p:nvPr/>
        </p:nvSpPr>
        <p:spPr>
          <a:xfrm>
            <a:off x="1523999" y="2820666"/>
            <a:ext cx="9136128" cy="3851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内容占位符 3"/>
          <p:cNvGraphicFramePr>
            <a:graphicFrameLocks/>
          </p:cNvGraphicFramePr>
          <p:nvPr>
            <p:extLst/>
          </p:nvPr>
        </p:nvGraphicFramePr>
        <p:xfrm>
          <a:off x="1542033" y="2820666"/>
          <a:ext cx="9144001" cy="3657600"/>
        </p:xfrm>
        <a:graphic>
          <a:graphicData uri="http://schemas.openxmlformats.org/drawingml/2006/table">
            <a:tbl>
              <a:tblPr/>
              <a:tblGrid>
                <a:gridCol w="2339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4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8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latin typeface="Calibri"/>
                          <a:ea typeface="宋体"/>
                          <a:cs typeface="宋体"/>
                        </a:rPr>
                        <a:t>位</a:t>
                      </a:r>
                      <a:endParaRPr lang="zh-CN" sz="24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latin typeface="Calibri"/>
                          <a:ea typeface="宋体"/>
                          <a:cs typeface="宋体"/>
                        </a:rPr>
                        <a:t>功能</a:t>
                      </a:r>
                      <a:endParaRPr lang="zh-CN" sz="24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589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latin typeface="Calibri-Bold"/>
                          <a:ea typeface="宋体"/>
                          <a:cs typeface="Calibri-Bold"/>
                        </a:rPr>
                        <a:t>CONTROL[1] </a:t>
                      </a:r>
                      <a:endParaRPr lang="zh-CN" sz="24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latin typeface="Calibri"/>
                          <a:ea typeface="宋体"/>
                          <a:cs typeface="宋体"/>
                        </a:rPr>
                        <a:t>堆栈指针选择</a:t>
                      </a:r>
                      <a:endParaRPr lang="zh-CN" sz="2400" kern="100" dirty="0"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latin typeface="Calibri"/>
                          <a:ea typeface="宋体"/>
                          <a:cs typeface="Calibri"/>
                        </a:rPr>
                        <a:t>0=</a:t>
                      </a:r>
                      <a:r>
                        <a:rPr lang="zh-CN" sz="2400" kern="0" dirty="0">
                          <a:latin typeface="Calibri"/>
                          <a:ea typeface="宋体"/>
                          <a:cs typeface="宋体"/>
                        </a:rPr>
                        <a:t>选择主堆栈指针</a:t>
                      </a:r>
                      <a:r>
                        <a:rPr lang="en-US" sz="2400" kern="0" dirty="0">
                          <a:latin typeface="Calibri"/>
                          <a:ea typeface="宋体"/>
                          <a:cs typeface="Calibri"/>
                        </a:rPr>
                        <a:t>MSP</a:t>
                      </a:r>
                      <a:r>
                        <a:rPr lang="zh-CN" sz="2400" kern="0" dirty="0">
                          <a:latin typeface="Calibri"/>
                          <a:ea typeface="宋体"/>
                          <a:cs typeface="宋体"/>
                        </a:rPr>
                        <a:t>（复位后缺省值）</a:t>
                      </a:r>
                      <a:endParaRPr lang="zh-CN" sz="2400" kern="100" dirty="0"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latin typeface="Calibri"/>
                          <a:ea typeface="宋体"/>
                          <a:cs typeface="Calibri"/>
                        </a:rPr>
                        <a:t>1=</a:t>
                      </a:r>
                      <a:r>
                        <a:rPr lang="zh-CN" sz="2400" kern="0" dirty="0">
                          <a:latin typeface="Calibri"/>
                          <a:ea typeface="宋体"/>
                          <a:cs typeface="宋体"/>
                        </a:rPr>
                        <a:t>选择进程堆栈指针</a:t>
                      </a:r>
                      <a:r>
                        <a:rPr lang="en-US" sz="2400" kern="0" dirty="0">
                          <a:latin typeface="Calibri"/>
                          <a:ea typeface="宋体"/>
                          <a:cs typeface="Calibri"/>
                        </a:rPr>
                        <a:t>PSP</a:t>
                      </a:r>
                      <a:endParaRPr lang="zh-CN" sz="2400" kern="100" dirty="0"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2400" kern="0" dirty="0">
                          <a:latin typeface="Calibri"/>
                          <a:ea typeface="宋体"/>
                          <a:cs typeface="宋体"/>
                        </a:rPr>
                        <a:t>   </a:t>
                      </a:r>
                      <a:r>
                        <a:rPr lang="zh-CN" sz="2400" kern="0" dirty="0">
                          <a:latin typeface="Calibri"/>
                          <a:ea typeface="宋体"/>
                          <a:cs typeface="宋体"/>
                        </a:rPr>
                        <a:t>在线程或基础级（没有在响应异常），可以使用</a:t>
                      </a:r>
                      <a:r>
                        <a:rPr lang="en-US" sz="2400" kern="0" dirty="0">
                          <a:latin typeface="Calibri"/>
                          <a:ea typeface="宋体"/>
                          <a:cs typeface="Calibri"/>
                        </a:rPr>
                        <a:t>PSP</a:t>
                      </a:r>
                      <a:r>
                        <a:rPr lang="zh-CN" sz="2400" kern="0" dirty="0">
                          <a:latin typeface="Calibri"/>
                          <a:ea typeface="宋体"/>
                          <a:cs typeface="宋体"/>
                        </a:rPr>
                        <a:t>。在</a:t>
                      </a:r>
                      <a:r>
                        <a:rPr lang="en-US" sz="2400" kern="0" dirty="0">
                          <a:latin typeface="Calibri"/>
                          <a:ea typeface="宋体"/>
                          <a:cs typeface="Calibri"/>
                        </a:rPr>
                        <a:t>handler </a:t>
                      </a:r>
                      <a:r>
                        <a:rPr lang="zh-CN" sz="2400" kern="0" dirty="0">
                          <a:latin typeface="Calibri"/>
                          <a:ea typeface="宋体"/>
                          <a:cs typeface="宋体"/>
                        </a:rPr>
                        <a:t>模式下，只允许使用</a:t>
                      </a:r>
                      <a:r>
                        <a:rPr lang="en-US" sz="2400" kern="0" dirty="0">
                          <a:latin typeface="Calibri"/>
                          <a:ea typeface="宋体"/>
                          <a:cs typeface="Calibri"/>
                        </a:rPr>
                        <a:t>MSP</a:t>
                      </a:r>
                      <a:r>
                        <a:rPr lang="zh-CN" sz="2400" kern="0" dirty="0">
                          <a:latin typeface="Calibri"/>
                          <a:ea typeface="宋体"/>
                          <a:cs typeface="宋体"/>
                        </a:rPr>
                        <a:t>，所以此时不得往该位写</a:t>
                      </a:r>
                      <a:r>
                        <a:rPr lang="en-US" sz="2400" kern="0" dirty="0">
                          <a:latin typeface="Calibri"/>
                          <a:ea typeface="宋体"/>
                          <a:cs typeface="Calibri"/>
                        </a:rPr>
                        <a:t>1</a:t>
                      </a:r>
                      <a:r>
                        <a:rPr lang="zh-CN" sz="2400" kern="0" dirty="0">
                          <a:latin typeface="Calibri"/>
                          <a:ea typeface="宋体"/>
                          <a:cs typeface="宋体"/>
                        </a:rPr>
                        <a:t>。</a:t>
                      </a:r>
                      <a:endParaRPr lang="zh-CN" sz="24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55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latin typeface="Calibri-Bold"/>
                          <a:ea typeface="宋体"/>
                          <a:cs typeface="Calibri-Bold"/>
                        </a:rPr>
                        <a:t>CONTROL[0]</a:t>
                      </a:r>
                      <a:endParaRPr lang="zh-CN" sz="24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latin typeface="Calibri"/>
                          <a:ea typeface="宋体"/>
                          <a:cs typeface="Calibri"/>
                        </a:rPr>
                        <a:t>0=</a:t>
                      </a:r>
                      <a:r>
                        <a:rPr lang="zh-CN" sz="2400" kern="0" dirty="0">
                          <a:latin typeface="Calibri"/>
                          <a:ea typeface="宋体"/>
                          <a:cs typeface="宋体"/>
                        </a:rPr>
                        <a:t>特权级的线程模式</a:t>
                      </a:r>
                      <a:endParaRPr lang="zh-CN" sz="2400" kern="100" dirty="0"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latin typeface="Calibri"/>
                          <a:ea typeface="宋体"/>
                          <a:cs typeface="Calibri"/>
                        </a:rPr>
                        <a:t>1=</a:t>
                      </a:r>
                      <a:r>
                        <a:rPr lang="zh-CN" sz="2400" kern="0" dirty="0">
                          <a:latin typeface="Calibri"/>
                          <a:ea typeface="宋体"/>
                          <a:cs typeface="宋体"/>
                        </a:rPr>
                        <a:t>用户级的线程模式</a:t>
                      </a:r>
                      <a:endParaRPr lang="zh-CN" sz="2400" kern="100" dirty="0"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latin typeface="Calibri"/>
                          <a:ea typeface="宋体"/>
                          <a:cs typeface="Calibri"/>
                        </a:rPr>
                        <a:t>Handler </a:t>
                      </a:r>
                      <a:r>
                        <a:rPr lang="zh-CN" sz="2400" kern="0" dirty="0">
                          <a:latin typeface="Calibri"/>
                          <a:ea typeface="宋体"/>
                          <a:cs typeface="宋体"/>
                        </a:rPr>
                        <a:t>模式永远都是特权级的</a:t>
                      </a:r>
                      <a:endParaRPr lang="zh-CN" sz="24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标题 1"/>
          <p:cNvSpPr txBox="1">
            <a:spLocks/>
          </p:cNvSpPr>
          <p:nvPr/>
        </p:nvSpPr>
        <p:spPr bwMode="auto">
          <a:xfrm>
            <a:off x="627797" y="877867"/>
            <a:ext cx="82296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sz="3200" b="1" kern="0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FF0000"/>
                </a:solidFill>
              </a:rPr>
              <a:t>控制寄存器</a:t>
            </a:r>
          </a:p>
        </p:txBody>
      </p:sp>
      <p:sp>
        <p:nvSpPr>
          <p:cNvPr id="3" name="矩形 10"/>
          <p:cNvSpPr>
            <a:spLocks noChangeArrowheads="1"/>
          </p:cNvSpPr>
          <p:nvPr/>
        </p:nvSpPr>
        <p:spPr bwMode="auto">
          <a:xfrm>
            <a:off x="2434399" y="1425872"/>
            <a:ext cx="75120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控制寄存器有两个用途</a:t>
            </a:r>
            <a:r>
              <a:rPr lang="zh-CN" altLang="en-US" sz="2400" b="0" dirty="0">
                <a:latin typeface="+mn-ea"/>
                <a:ea typeface="+mn-ea"/>
                <a:sym typeface="Wingdings" pitchFamily="2" charset="2"/>
              </a:rPr>
              <a:t>：</a:t>
            </a:r>
            <a:endParaRPr lang="en-US" altLang="zh-CN" sz="2400" b="0" dirty="0">
              <a:latin typeface="+mn-ea"/>
              <a:ea typeface="+mn-ea"/>
              <a:sym typeface="Wingdings" pitchFamily="2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  <a:sym typeface="Wingdings" pitchFamily="2" charset="2"/>
              </a:rPr>
              <a:t>（</a:t>
            </a:r>
            <a:r>
              <a:rPr lang="en-US" altLang="zh-CN" sz="2400" b="0" dirty="0">
                <a:latin typeface="+mn-ea"/>
                <a:ea typeface="+mn-ea"/>
                <a:sym typeface="Wingdings" pitchFamily="2" charset="2"/>
              </a:rPr>
              <a:t>1</a:t>
            </a:r>
            <a:r>
              <a:rPr lang="zh-CN" altLang="en-US" sz="2400" b="0" dirty="0">
                <a:latin typeface="+mn-ea"/>
                <a:ea typeface="+mn-ea"/>
                <a:sym typeface="Wingdings" pitchFamily="2" charset="2"/>
              </a:rPr>
              <a:t>）</a:t>
            </a:r>
            <a:r>
              <a:rPr lang="zh-CN" altLang="en-US" sz="2400" b="0" dirty="0">
                <a:latin typeface="+mn-ea"/>
                <a:ea typeface="+mn-ea"/>
              </a:rPr>
              <a:t>用于定义特权级别；</a:t>
            </a:r>
            <a:endParaRPr lang="en-US" altLang="zh-CN" sz="2400" b="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（</a:t>
            </a:r>
            <a:r>
              <a:rPr lang="en-US" altLang="zh-CN" sz="2400" b="0" dirty="0">
                <a:latin typeface="+mn-ea"/>
                <a:ea typeface="+mn-ea"/>
              </a:rPr>
              <a:t>2</a:t>
            </a:r>
            <a:r>
              <a:rPr lang="zh-CN" altLang="en-US" sz="2400" b="0" dirty="0">
                <a:latin typeface="+mn-ea"/>
                <a:ea typeface="+mn-ea"/>
              </a:rPr>
              <a:t>）用于选择当前使用哪个堆栈指针。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的特殊功能寄存器</a:t>
            </a:r>
          </a:p>
        </p:txBody>
      </p:sp>
      <p:sp>
        <p:nvSpPr>
          <p:cNvPr id="8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DDAC59F-4ECA-4941-9E04-E6EECDC1D035}"/>
              </a:ext>
            </a:extLst>
          </p:cNvPr>
          <p:cNvCxnSpPr>
            <a:cxnSpLocks/>
          </p:cNvCxnSpPr>
          <p:nvPr/>
        </p:nvCxnSpPr>
        <p:spPr>
          <a:xfrm>
            <a:off x="3248388" y="2211104"/>
            <a:ext cx="247815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2AA299E-180F-4982-B022-7171921B7B85}"/>
              </a:ext>
            </a:extLst>
          </p:cNvPr>
          <p:cNvCxnSpPr>
            <a:cxnSpLocks/>
          </p:cNvCxnSpPr>
          <p:nvPr/>
        </p:nvCxnSpPr>
        <p:spPr>
          <a:xfrm>
            <a:off x="2646835" y="2644029"/>
            <a:ext cx="539363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20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9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 bwMode="auto">
          <a:xfrm>
            <a:off x="674872" y="1010868"/>
            <a:ext cx="2373128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sz="3200" b="1" kern="0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dirty="0"/>
              <a:t>问题与思考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的特殊功能寄存器</a:t>
            </a:r>
          </a:p>
        </p:txBody>
      </p:sp>
      <p:sp>
        <p:nvSpPr>
          <p:cNvPr id="8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41DA10-BED8-4D66-ABC1-2C16581C67A7}"/>
              </a:ext>
            </a:extLst>
          </p:cNvPr>
          <p:cNvSpPr/>
          <p:nvPr/>
        </p:nvSpPr>
        <p:spPr>
          <a:xfrm>
            <a:off x="1357744" y="1877536"/>
            <a:ext cx="958734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通过访问下面（</a:t>
            </a:r>
            <a:r>
              <a:rPr lang="en-US" altLang="zh-CN" sz="2400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zh-CN" sz="2400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）寄存器，可以获得正被激活的中断服务程序的编号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2400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．</a:t>
            </a:r>
            <a:r>
              <a:rPr lang="en-US" altLang="zh-CN" sz="2400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EPSR       B. IPSR      C. APSR     D. Control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sz="2400" b="1" kern="100" dirty="0">
              <a:solidFill>
                <a:srgbClr val="000000"/>
              </a:solidFill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将中断屏蔽寄存器</a:t>
            </a:r>
            <a:r>
              <a:rPr lang="en-US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PRIMASK</a:t>
            </a:r>
            <a:r>
              <a:rPr lang="zh-CN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设为</a:t>
            </a:r>
            <a:r>
              <a:rPr lang="en-US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，可以屏蔽硬件故障（</a:t>
            </a:r>
            <a:r>
              <a:rPr lang="en-US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Hardware fault</a:t>
            </a:r>
            <a:r>
              <a:rPr lang="zh-CN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）中断（</a:t>
            </a:r>
            <a:r>
              <a:rPr lang="zh-CN" altLang="zh-CN" sz="2400" b="1" kern="100" dirty="0">
                <a:solidFill>
                  <a:srgbClr val="00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 </a:t>
            </a:r>
            <a:r>
              <a:rPr lang="en-US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or </a:t>
            </a:r>
            <a:r>
              <a:rPr lang="zh-CN" altLang="en-US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错</a:t>
            </a:r>
            <a:r>
              <a:rPr lang="en-US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6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通过访问下面（</a:t>
            </a:r>
            <a:r>
              <a:rPr lang="en-US" altLang="zh-CN" sz="2800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zh-CN" sz="2800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）寄存器，可以获得正被激活的中断服务程序的编号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392680" y="2246312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EPSR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392680" y="3103562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IPSR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392680" y="3960812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APSR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392680" y="4818062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Control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25905" y="231060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25905" y="3167855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25905" y="402510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25905" y="488235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844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将中断屏蔽寄存器</a:t>
            </a:r>
            <a:r>
              <a:rPr lang="en-US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PRIMASK</a:t>
            </a:r>
            <a:r>
              <a:rPr lang="zh-CN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设为</a:t>
            </a:r>
            <a:r>
              <a:rPr lang="en-US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，可以屏蔽硬件故障（</a:t>
            </a:r>
            <a:r>
              <a:rPr lang="en-US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Hardware fault</a:t>
            </a:r>
            <a:r>
              <a:rPr lang="zh-CN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）中断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392680" y="2246312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1" kern="0" dirty="0" smtClean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392680" y="3103562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25905" y="231060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25905" y="3167855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700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 bwMode="auto">
          <a:xfrm>
            <a:off x="674872" y="1010868"/>
            <a:ext cx="2373128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sz="3200" b="1" kern="0">
                <a:solidFill>
                  <a:srgbClr val="CC3300"/>
                </a:solidFill>
                <a:latin typeface="+mj-lt"/>
                <a:ea typeface="+mj-ea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dirty="0"/>
              <a:t>问题与思考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       CM3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的特殊功能寄存器</a:t>
            </a:r>
          </a:p>
        </p:txBody>
      </p:sp>
      <p:sp>
        <p:nvSpPr>
          <p:cNvPr id="8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41DA10-BED8-4D66-ABC1-2C16581C67A7}"/>
              </a:ext>
            </a:extLst>
          </p:cNvPr>
          <p:cNvSpPr/>
          <p:nvPr/>
        </p:nvSpPr>
        <p:spPr>
          <a:xfrm>
            <a:off x="1357744" y="1877536"/>
            <a:ext cx="958734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通过访问下面（</a:t>
            </a:r>
            <a:r>
              <a:rPr lang="en-US" altLang="zh-CN" sz="2400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 B     </a:t>
            </a:r>
            <a:r>
              <a:rPr lang="zh-CN" altLang="zh-CN" sz="2400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）寄存器，可以获得正被激活的中断服务程序的编号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2400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．</a:t>
            </a:r>
            <a:r>
              <a:rPr lang="en-US" altLang="zh-CN" sz="2400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EPSR       B. IPSR      C. APSR     D. Control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sz="2400" b="1" kern="100" dirty="0">
              <a:solidFill>
                <a:srgbClr val="000000"/>
              </a:solidFill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将中断屏蔽寄存器</a:t>
            </a:r>
            <a:r>
              <a:rPr lang="en-US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PRIMASK</a:t>
            </a:r>
            <a:r>
              <a:rPr lang="zh-CN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设为</a:t>
            </a:r>
            <a:r>
              <a:rPr lang="en-US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，可以屏蔽硬件故障（</a:t>
            </a:r>
            <a:r>
              <a:rPr lang="en-US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Hardware fault</a:t>
            </a:r>
            <a:r>
              <a:rPr lang="zh-CN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）中断（</a:t>
            </a:r>
            <a:r>
              <a:rPr lang="zh-CN" altLang="zh-CN" sz="2400" b="1" kern="100" dirty="0">
                <a:solidFill>
                  <a:srgbClr val="00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错）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14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4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6064" y="3167390"/>
            <a:ext cx="6714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2E6E0"/>
                </a:solidFill>
              </a:rPr>
              <a:t>数据存储格式，</a:t>
            </a:r>
            <a:r>
              <a:rPr lang="en-US" altLang="zh-CN" sz="2800" b="1" dirty="0">
                <a:solidFill>
                  <a:srgbClr val="42E6E0"/>
                </a:solidFill>
              </a:rPr>
              <a:t>CM3</a:t>
            </a:r>
            <a:r>
              <a:rPr lang="zh-CN" altLang="en-US" sz="2800" b="1" dirty="0">
                <a:solidFill>
                  <a:srgbClr val="42E6E0"/>
                </a:solidFill>
              </a:rPr>
              <a:t>存储器的组织与映射</a:t>
            </a:r>
            <a:endParaRPr lang="en-US" altLang="zh-CN" sz="2800" b="1" dirty="0">
              <a:solidFill>
                <a:srgbClr val="42E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96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4AEBC43-768A-46C8-856C-05DC02901052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400" b="1" dirty="0"/>
              <a:t>        </a:t>
            </a:r>
            <a:r>
              <a:rPr lang="zh-CN" altLang="zh-CN" sz="2800" b="1" dirty="0"/>
              <a:t>数据存储格式，</a:t>
            </a:r>
            <a:r>
              <a:rPr lang="en-US" altLang="zh-CN" sz="2800" b="1" dirty="0"/>
              <a:t>CM3</a:t>
            </a:r>
            <a:r>
              <a:rPr lang="zh-CN" altLang="zh-CN" sz="2800" b="1" dirty="0"/>
              <a:t>存储器的组织与映射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" name="hdmi_130129">
            <a:extLst>
              <a:ext uri="{FF2B5EF4-FFF2-40B4-BE49-F238E27FC236}">
                <a16:creationId xmlns:a16="http://schemas.microsoft.com/office/drawing/2014/main" id="{96A57FED-32A1-4455-BAF6-FA25E4A725E2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5" name="Picture 13" descr="2-19 小端模式">
            <a:extLst>
              <a:ext uri="{FF2B5EF4-FFF2-40B4-BE49-F238E27FC236}">
                <a16:creationId xmlns:a16="http://schemas.microsoft.com/office/drawing/2014/main" id="{8DF24919-2E9E-42FC-B21D-03DE67C6F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638" y="1547813"/>
            <a:ext cx="8004175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BC9A63A-269B-4D9D-9126-1F92EDE3C4B2}"/>
              </a:ext>
            </a:extLst>
          </p:cNvPr>
          <p:cNvSpPr txBox="1">
            <a:spLocks noChangeArrowheads="1"/>
          </p:cNvSpPr>
          <p:nvPr/>
        </p:nvSpPr>
        <p:spPr>
          <a:xfrm>
            <a:off x="313898" y="958367"/>
            <a:ext cx="8486775" cy="815975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存储器格式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8CA834-3FE6-492B-ACEB-20BD6D7B6227}"/>
              </a:ext>
            </a:extLst>
          </p:cNvPr>
          <p:cNvSpPr/>
          <p:nvPr/>
        </p:nvSpPr>
        <p:spPr>
          <a:xfrm>
            <a:off x="2276475" y="3258862"/>
            <a:ext cx="1937717" cy="6637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6C5FC3-49C3-4795-A755-813E43473C09}"/>
              </a:ext>
            </a:extLst>
          </p:cNvPr>
          <p:cNvSpPr/>
          <p:nvPr/>
        </p:nvSpPr>
        <p:spPr>
          <a:xfrm>
            <a:off x="4220404" y="3258862"/>
            <a:ext cx="1979301" cy="6637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0007CB-1FA1-4903-BA52-C0E0E0F1DE96}"/>
              </a:ext>
            </a:extLst>
          </p:cNvPr>
          <p:cNvSpPr/>
          <p:nvPr/>
        </p:nvSpPr>
        <p:spPr>
          <a:xfrm>
            <a:off x="6210299" y="3258862"/>
            <a:ext cx="1965012" cy="6637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F2A45C-6817-444C-AAAB-6D2D676D6C4E}"/>
              </a:ext>
            </a:extLst>
          </p:cNvPr>
          <p:cNvSpPr/>
          <p:nvPr/>
        </p:nvSpPr>
        <p:spPr>
          <a:xfrm>
            <a:off x="8175313" y="3258862"/>
            <a:ext cx="1979924" cy="6637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1281C5-BFFA-4194-8C46-8D6C870BB4B3}"/>
              </a:ext>
            </a:extLst>
          </p:cNvPr>
          <p:cNvSpPr/>
          <p:nvPr/>
        </p:nvSpPr>
        <p:spPr>
          <a:xfrm>
            <a:off x="2277060" y="2623930"/>
            <a:ext cx="3933239" cy="12987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8B3B2D-69BA-4249-95D6-D01F6D244C95}"/>
              </a:ext>
            </a:extLst>
          </p:cNvPr>
          <p:cNvSpPr/>
          <p:nvPr/>
        </p:nvSpPr>
        <p:spPr>
          <a:xfrm>
            <a:off x="6199708" y="2630418"/>
            <a:ext cx="3955529" cy="12922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06DAA82-9537-42CD-B6A7-80D2769D9AB9}"/>
              </a:ext>
            </a:extLst>
          </p:cNvPr>
          <p:cNvSpPr/>
          <p:nvPr/>
        </p:nvSpPr>
        <p:spPr>
          <a:xfrm>
            <a:off x="2276474" y="1959596"/>
            <a:ext cx="7878763" cy="12987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39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400" b="1" dirty="0"/>
              <a:t>        </a:t>
            </a:r>
            <a:r>
              <a:rPr lang="zh-CN" altLang="zh-CN" sz="2800" b="1" dirty="0"/>
              <a:t>数据存储格式，</a:t>
            </a:r>
            <a:r>
              <a:rPr lang="en-US" altLang="zh-CN" sz="2800" b="1" dirty="0"/>
              <a:t>CM3</a:t>
            </a:r>
            <a:r>
              <a:rPr lang="zh-CN" altLang="zh-CN" sz="2800" b="1" dirty="0"/>
              <a:t>存储器的组织与映射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9"/>
          <p:cNvSpPr>
            <a:spLocks noChangeArrowheads="1"/>
          </p:cNvSpPr>
          <p:nvPr/>
        </p:nvSpPr>
        <p:spPr bwMode="auto">
          <a:xfrm>
            <a:off x="627797" y="788224"/>
            <a:ext cx="36888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ARM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数据存储格式</a:t>
            </a:r>
            <a:endParaRPr lang="en-US" altLang="zh-CN" sz="2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49808" y="1565853"/>
            <a:ext cx="1065972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ARM</a:t>
            </a:r>
            <a:r>
              <a:rPr lang="zh-CN" altLang="en-US" sz="2400" dirty="0"/>
              <a:t>数据的存储格式包括</a:t>
            </a:r>
            <a:r>
              <a:rPr lang="zh-CN" altLang="en-US" sz="2400" dirty="0">
                <a:solidFill>
                  <a:srgbClr val="FF0000"/>
                </a:solidFill>
              </a:rPr>
              <a:t>大端格式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小端格式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 smtClean="0">
                <a:solidFill>
                  <a:srgbClr val="FF0000"/>
                </a:solidFill>
              </a:rPr>
              <a:t>大端</a:t>
            </a:r>
            <a:r>
              <a:rPr lang="zh-CN" altLang="en-US" sz="2400" dirty="0">
                <a:solidFill>
                  <a:srgbClr val="FF0000"/>
                </a:solidFill>
              </a:rPr>
              <a:t>格式：</a:t>
            </a:r>
            <a:r>
              <a:rPr lang="zh-CN" altLang="en-US" sz="2400" dirty="0"/>
              <a:t>是指数据的高位，保存在内存的低地址中，而数据的低位，保存在内存的高地址中。地址由小向大增加，而数据从高位往低位放；</a:t>
            </a:r>
            <a:endParaRPr lang="en-US" altLang="zh-CN" sz="2400" dirty="0"/>
          </a:p>
          <a:p>
            <a:r>
              <a:rPr lang="zh-CN" altLang="en-US" sz="2400" dirty="0" smtClean="0">
                <a:solidFill>
                  <a:srgbClr val="FF0000"/>
                </a:solidFill>
              </a:rPr>
              <a:t>小</a:t>
            </a:r>
            <a:r>
              <a:rPr lang="zh-CN" altLang="en-US" sz="2400" dirty="0">
                <a:solidFill>
                  <a:srgbClr val="FF0000"/>
                </a:solidFill>
              </a:rPr>
              <a:t>端格式：</a:t>
            </a:r>
            <a:r>
              <a:rPr lang="zh-CN" altLang="en-US" sz="2400" dirty="0"/>
              <a:t>是指数据的高位保存在内存的高地址中，而数据的低位保存在内存的低地址中，这种存储模式将地址的高低和数据位权有效地结合起来，高地址部分权值高，低地址部分权值低。</a:t>
            </a:r>
            <a:endParaRPr lang="en-US" altLang="zh-CN" sz="2400" dirty="0"/>
          </a:p>
          <a:p>
            <a:r>
              <a:rPr lang="en-US" altLang="zh-CN" sz="2400" dirty="0" smtClean="0"/>
              <a:t>STM32</a:t>
            </a:r>
            <a:r>
              <a:rPr lang="zh-CN" altLang="en-US" sz="2400" dirty="0"/>
              <a:t>默认为</a:t>
            </a:r>
            <a:r>
              <a:rPr lang="zh-CN" altLang="en-US" sz="2400" dirty="0">
                <a:solidFill>
                  <a:srgbClr val="FF0000"/>
                </a:solidFill>
              </a:rPr>
              <a:t>小端格式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859" y="3873900"/>
            <a:ext cx="6999206" cy="244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559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2-19大端模式">
            <a:extLst>
              <a:ext uri="{FF2B5EF4-FFF2-40B4-BE49-F238E27FC236}">
                <a16:creationId xmlns:a16="http://schemas.microsoft.com/office/drawing/2014/main" id="{EFDFEB11-0008-4B54-AE63-44918C9EF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450" y="1341438"/>
            <a:ext cx="7878763" cy="237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3" descr="2-19 小端模式">
            <a:extLst>
              <a:ext uri="{FF2B5EF4-FFF2-40B4-BE49-F238E27FC236}">
                <a16:creationId xmlns:a16="http://schemas.microsoft.com/office/drawing/2014/main" id="{2C9F5EE9-BD6B-42EA-BB38-A3F431707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164" y="4271963"/>
            <a:ext cx="7893050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848A7AA-1BAE-4096-9A9E-D1DFE607520B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400" b="1" dirty="0"/>
              <a:t>        </a:t>
            </a:r>
            <a:r>
              <a:rPr lang="zh-CN" altLang="zh-CN" sz="2800" b="1" dirty="0"/>
              <a:t>数据存储格式，</a:t>
            </a:r>
            <a:r>
              <a:rPr lang="en-US" altLang="zh-CN" sz="2800" b="1" dirty="0"/>
              <a:t>CM3</a:t>
            </a:r>
            <a:r>
              <a:rPr lang="zh-CN" altLang="zh-CN" sz="2800" b="1" dirty="0"/>
              <a:t>存储器的组织与映射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hdmi_130129">
            <a:extLst>
              <a:ext uri="{FF2B5EF4-FFF2-40B4-BE49-F238E27FC236}">
                <a16:creationId xmlns:a16="http://schemas.microsoft.com/office/drawing/2014/main" id="{3A155972-43DF-4892-8195-6A3ED617D88E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BFDDAF-BDEA-4BA2-96BB-381B9446352E}"/>
              </a:ext>
            </a:extLst>
          </p:cNvPr>
          <p:cNvSpPr/>
          <p:nvPr/>
        </p:nvSpPr>
        <p:spPr>
          <a:xfrm>
            <a:off x="2189163" y="89612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大端格式</a:t>
            </a:r>
            <a:endParaRPr lang="zh-CN" altLang="en-US" sz="2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DB813A-310F-46A9-B092-60D0FD97E178}"/>
              </a:ext>
            </a:extLst>
          </p:cNvPr>
          <p:cNvSpPr/>
          <p:nvPr/>
        </p:nvSpPr>
        <p:spPr>
          <a:xfrm>
            <a:off x="2189163" y="385007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小端格式</a:t>
            </a:r>
            <a:endParaRPr lang="zh-CN" altLang="en-US" sz="2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7D58CC-8511-486B-8D72-83901BC753FB}"/>
              </a:ext>
            </a:extLst>
          </p:cNvPr>
          <p:cNvSpPr/>
          <p:nvPr/>
        </p:nvSpPr>
        <p:spPr>
          <a:xfrm>
            <a:off x="2276475" y="1341439"/>
            <a:ext cx="1937717" cy="23225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3DB7CC-7434-40B3-9B8C-F8485C0EB797}"/>
              </a:ext>
            </a:extLst>
          </p:cNvPr>
          <p:cNvSpPr/>
          <p:nvPr/>
        </p:nvSpPr>
        <p:spPr>
          <a:xfrm>
            <a:off x="8102943" y="1311015"/>
            <a:ext cx="1937717" cy="23529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8D2B26-40D5-48BB-BAF4-4175EE49A74D}"/>
              </a:ext>
            </a:extLst>
          </p:cNvPr>
          <p:cNvSpPr/>
          <p:nvPr/>
        </p:nvSpPr>
        <p:spPr>
          <a:xfrm>
            <a:off x="2276475" y="1341437"/>
            <a:ext cx="3889721" cy="1677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BD218E-CA7E-4103-9926-A858C1AFBA85}"/>
              </a:ext>
            </a:extLst>
          </p:cNvPr>
          <p:cNvSpPr/>
          <p:nvPr/>
        </p:nvSpPr>
        <p:spPr>
          <a:xfrm>
            <a:off x="6180483" y="1336674"/>
            <a:ext cx="3860177" cy="1677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E98C7B-D1F2-4F91-B893-17AB3DA8BB7B}"/>
              </a:ext>
            </a:extLst>
          </p:cNvPr>
          <p:cNvSpPr/>
          <p:nvPr/>
        </p:nvSpPr>
        <p:spPr>
          <a:xfrm>
            <a:off x="8103912" y="4306889"/>
            <a:ext cx="1937717" cy="23225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6C8F007-213D-487B-AA57-BE8AD52D3C3F}"/>
              </a:ext>
            </a:extLst>
          </p:cNvPr>
          <p:cNvSpPr/>
          <p:nvPr/>
        </p:nvSpPr>
        <p:spPr>
          <a:xfrm>
            <a:off x="2274612" y="4324395"/>
            <a:ext cx="1937717" cy="23225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465097-B06B-4087-94BE-DE09B8B9E889}"/>
              </a:ext>
            </a:extLst>
          </p:cNvPr>
          <p:cNvSpPr/>
          <p:nvPr/>
        </p:nvSpPr>
        <p:spPr>
          <a:xfrm>
            <a:off x="6166196" y="4324395"/>
            <a:ext cx="3889721" cy="1677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F873B10-D50D-4190-875E-5A89B91956FF}"/>
              </a:ext>
            </a:extLst>
          </p:cNvPr>
          <p:cNvSpPr/>
          <p:nvPr/>
        </p:nvSpPr>
        <p:spPr>
          <a:xfrm>
            <a:off x="2281237" y="4324351"/>
            <a:ext cx="3889721" cy="1677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698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674" y="2245199"/>
            <a:ext cx="7604457" cy="1316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770511" y="1171877"/>
            <a:ext cx="89620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：</a:t>
            </a:r>
            <a:r>
              <a:rPr lang="zh-CN" altLang="en-US" sz="2400" dirty="0">
                <a:latin typeface="+mn-ea"/>
              </a:rPr>
              <a:t>一个 </a:t>
            </a:r>
            <a:r>
              <a:rPr lang="en-US" altLang="zh-CN" sz="2400" dirty="0">
                <a:latin typeface="+mn-ea"/>
              </a:rPr>
              <a:t>16bit </a:t>
            </a:r>
            <a:r>
              <a:rPr lang="zh-CN" altLang="en-US" sz="2400" dirty="0">
                <a:latin typeface="+mn-ea"/>
              </a:rPr>
              <a:t>宽的数 </a:t>
            </a:r>
            <a:r>
              <a:rPr lang="en-US" altLang="zh-CN" sz="2400" dirty="0">
                <a:latin typeface="+mn-ea"/>
              </a:rPr>
              <a:t>0x1234 </a:t>
            </a:r>
            <a:r>
              <a:rPr lang="zh-CN" altLang="en-US" sz="2400" dirty="0">
                <a:latin typeface="+mn-ea"/>
              </a:rPr>
              <a:t>采用小端格式和大端格式的存放方式如下所示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400" b="1" dirty="0"/>
              <a:t>        </a:t>
            </a:r>
            <a:r>
              <a:rPr lang="zh-CN" altLang="zh-CN" sz="2800" b="1" dirty="0"/>
              <a:t>数据存储格式，</a:t>
            </a:r>
            <a:r>
              <a:rPr lang="en-US" altLang="zh-CN" sz="2800" b="1" dirty="0"/>
              <a:t>CM3</a:t>
            </a:r>
            <a:r>
              <a:rPr lang="zh-CN" altLang="zh-CN" sz="2800" b="1" dirty="0"/>
              <a:t>存储器的组织与映射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829B08-3041-4867-80A6-9DC824D15157}"/>
              </a:ext>
            </a:extLst>
          </p:cNvPr>
          <p:cNvSpPr/>
          <p:nvPr/>
        </p:nvSpPr>
        <p:spPr>
          <a:xfrm>
            <a:off x="2324169" y="3092797"/>
            <a:ext cx="2512873" cy="4384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D6A3ED-AE84-4A65-A6DC-41C11DE31400}"/>
              </a:ext>
            </a:extLst>
          </p:cNvPr>
          <p:cNvSpPr/>
          <p:nvPr/>
        </p:nvSpPr>
        <p:spPr>
          <a:xfrm>
            <a:off x="4831595" y="3091900"/>
            <a:ext cx="2512873" cy="4384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3674A8-0F0B-4048-980B-5224363AD56D}"/>
              </a:ext>
            </a:extLst>
          </p:cNvPr>
          <p:cNvSpPr/>
          <p:nvPr/>
        </p:nvSpPr>
        <p:spPr>
          <a:xfrm>
            <a:off x="2337228" y="2700527"/>
            <a:ext cx="2512873" cy="3957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411304-7366-471A-B201-0DC9A8703F4E}"/>
              </a:ext>
            </a:extLst>
          </p:cNvPr>
          <p:cNvSpPr/>
          <p:nvPr/>
        </p:nvSpPr>
        <p:spPr>
          <a:xfrm>
            <a:off x="4825604" y="2695967"/>
            <a:ext cx="2512873" cy="4089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A7AC3B-5967-47A7-8B0D-F257CE5E1199}"/>
              </a:ext>
            </a:extLst>
          </p:cNvPr>
          <p:cNvSpPr/>
          <p:nvPr/>
        </p:nvSpPr>
        <p:spPr>
          <a:xfrm>
            <a:off x="2315726" y="2695967"/>
            <a:ext cx="2512873" cy="4240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AACD5A-73B1-4EF0-A35F-0C03A8360D42}"/>
              </a:ext>
            </a:extLst>
          </p:cNvPr>
          <p:cNvSpPr/>
          <p:nvPr/>
        </p:nvSpPr>
        <p:spPr>
          <a:xfrm>
            <a:off x="7339021" y="2681481"/>
            <a:ext cx="2512873" cy="4384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118BBC-0B1E-4315-ACBB-B86B1ED89DDC}"/>
              </a:ext>
            </a:extLst>
          </p:cNvPr>
          <p:cNvSpPr/>
          <p:nvPr/>
        </p:nvSpPr>
        <p:spPr>
          <a:xfrm>
            <a:off x="2315745" y="3110058"/>
            <a:ext cx="2512873" cy="4384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6D1121B-B0F9-41BC-9990-32A2B7DAFAE9}"/>
              </a:ext>
            </a:extLst>
          </p:cNvPr>
          <p:cNvSpPr/>
          <p:nvPr/>
        </p:nvSpPr>
        <p:spPr>
          <a:xfrm>
            <a:off x="7328456" y="3095572"/>
            <a:ext cx="2512873" cy="4384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4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F816CFB-7012-49A0-B791-9DE43995A08D}"/>
              </a:ext>
            </a:extLst>
          </p:cNvPr>
          <p:cNvSpPr/>
          <p:nvPr/>
        </p:nvSpPr>
        <p:spPr>
          <a:xfrm>
            <a:off x="1694311" y="1356371"/>
            <a:ext cx="94942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：</a:t>
            </a:r>
            <a:r>
              <a:rPr lang="zh-CN" altLang="en-US" sz="2400" dirty="0">
                <a:latin typeface="+mn-ea"/>
              </a:rPr>
              <a:t>一个</a:t>
            </a:r>
            <a:r>
              <a:rPr lang="en-US" altLang="zh-CN" sz="2400" dirty="0">
                <a:latin typeface="+mn-ea"/>
              </a:rPr>
              <a:t>32bit</a:t>
            </a:r>
            <a:r>
              <a:rPr lang="zh-CN" altLang="en-US" sz="2400" dirty="0">
                <a:latin typeface="+mn-ea"/>
              </a:rPr>
              <a:t>宽的数</a:t>
            </a:r>
            <a:r>
              <a:rPr lang="en-US" altLang="zh-CN" sz="2400" dirty="0">
                <a:latin typeface="+mn-ea"/>
              </a:rPr>
              <a:t>0x12345678</a:t>
            </a:r>
            <a:r>
              <a:rPr lang="zh-CN" altLang="en-US" sz="2400" dirty="0">
                <a:latin typeface="+mn-ea"/>
              </a:rPr>
              <a:t>采用小端格式和大端格式的存放方式如下所示。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743EA77F-0157-4EBD-B2AA-F4D8826F4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674" y="2367886"/>
            <a:ext cx="7592717" cy="214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FC0AB52-343E-4A2E-A085-2F17F58C082D}"/>
              </a:ext>
            </a:extLst>
          </p:cNvPr>
          <p:cNvSpPr/>
          <p:nvPr/>
        </p:nvSpPr>
        <p:spPr>
          <a:xfrm>
            <a:off x="2318178" y="4073290"/>
            <a:ext cx="2512873" cy="4098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E54ADB-999E-4B05-81CF-A0D79C19CAF3}"/>
              </a:ext>
            </a:extLst>
          </p:cNvPr>
          <p:cNvSpPr/>
          <p:nvPr/>
        </p:nvSpPr>
        <p:spPr>
          <a:xfrm>
            <a:off x="4825604" y="4072393"/>
            <a:ext cx="2512873" cy="410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C9A13D-9C4A-46AC-BF98-2C477AC39A82}"/>
              </a:ext>
            </a:extLst>
          </p:cNvPr>
          <p:cNvSpPr/>
          <p:nvPr/>
        </p:nvSpPr>
        <p:spPr>
          <a:xfrm>
            <a:off x="2332137" y="3632824"/>
            <a:ext cx="2512873" cy="4098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D25C1C-4C33-49BC-B1DA-3862F17CF336}"/>
              </a:ext>
            </a:extLst>
          </p:cNvPr>
          <p:cNvSpPr/>
          <p:nvPr/>
        </p:nvSpPr>
        <p:spPr>
          <a:xfrm>
            <a:off x="4839563" y="3631927"/>
            <a:ext cx="2512873" cy="410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4D169E-09A3-44CC-9770-FA7A8FFA928C}"/>
              </a:ext>
            </a:extLst>
          </p:cNvPr>
          <p:cNvSpPr/>
          <p:nvPr/>
        </p:nvSpPr>
        <p:spPr>
          <a:xfrm>
            <a:off x="2329616" y="3222117"/>
            <a:ext cx="2512873" cy="4098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C25655-EFB6-457A-AD21-90D0EF52ED18}"/>
              </a:ext>
            </a:extLst>
          </p:cNvPr>
          <p:cNvSpPr/>
          <p:nvPr/>
        </p:nvSpPr>
        <p:spPr>
          <a:xfrm>
            <a:off x="4837042" y="3221220"/>
            <a:ext cx="2512873" cy="410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68E514-ED28-4C6D-BE14-FF27DE68E3F5}"/>
              </a:ext>
            </a:extLst>
          </p:cNvPr>
          <p:cNvSpPr/>
          <p:nvPr/>
        </p:nvSpPr>
        <p:spPr>
          <a:xfrm>
            <a:off x="2327095" y="2809881"/>
            <a:ext cx="2512873" cy="4098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1840CB-91C0-4506-BC7E-08D4D5BA9F4A}"/>
              </a:ext>
            </a:extLst>
          </p:cNvPr>
          <p:cNvSpPr/>
          <p:nvPr/>
        </p:nvSpPr>
        <p:spPr>
          <a:xfrm>
            <a:off x="4834521" y="2808984"/>
            <a:ext cx="2512873" cy="410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3E88C0-53C2-4410-956F-D30036E5E703}"/>
              </a:ext>
            </a:extLst>
          </p:cNvPr>
          <p:cNvSpPr/>
          <p:nvPr/>
        </p:nvSpPr>
        <p:spPr>
          <a:xfrm>
            <a:off x="2317511" y="2808984"/>
            <a:ext cx="2512873" cy="4098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7B01E7-DE82-4A64-9128-6FE7861DBCA8}"/>
              </a:ext>
            </a:extLst>
          </p:cNvPr>
          <p:cNvSpPr/>
          <p:nvPr/>
        </p:nvSpPr>
        <p:spPr>
          <a:xfrm>
            <a:off x="7360282" y="2808984"/>
            <a:ext cx="2512873" cy="410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B86BA3-CD4E-417C-8A2A-2BE8BC44DBEF}"/>
              </a:ext>
            </a:extLst>
          </p:cNvPr>
          <p:cNvSpPr/>
          <p:nvPr/>
        </p:nvSpPr>
        <p:spPr>
          <a:xfrm>
            <a:off x="2317511" y="3220771"/>
            <a:ext cx="2512873" cy="4098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3CDCF1-C612-49D9-AB15-566590DA0260}"/>
              </a:ext>
            </a:extLst>
          </p:cNvPr>
          <p:cNvSpPr/>
          <p:nvPr/>
        </p:nvSpPr>
        <p:spPr>
          <a:xfrm>
            <a:off x="7360282" y="3220771"/>
            <a:ext cx="2512873" cy="410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C3D201-A710-4782-B7E3-455772C00C78}"/>
              </a:ext>
            </a:extLst>
          </p:cNvPr>
          <p:cNvSpPr/>
          <p:nvPr/>
        </p:nvSpPr>
        <p:spPr>
          <a:xfrm>
            <a:off x="2317511" y="3639972"/>
            <a:ext cx="2512873" cy="4098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497C26C-6D48-4692-95E8-9EAB7C1F093C}"/>
              </a:ext>
            </a:extLst>
          </p:cNvPr>
          <p:cNvSpPr/>
          <p:nvPr/>
        </p:nvSpPr>
        <p:spPr>
          <a:xfrm>
            <a:off x="7360282" y="3639972"/>
            <a:ext cx="2512873" cy="410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8C4FD94-266B-4A2F-AA4A-4CE149A9D968}"/>
              </a:ext>
            </a:extLst>
          </p:cNvPr>
          <p:cNvSpPr/>
          <p:nvPr/>
        </p:nvSpPr>
        <p:spPr>
          <a:xfrm>
            <a:off x="2307609" y="4087272"/>
            <a:ext cx="2512873" cy="4098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2FC43C3-A52D-4754-8FF1-EA3BC60B6E0D}"/>
              </a:ext>
            </a:extLst>
          </p:cNvPr>
          <p:cNvSpPr/>
          <p:nvPr/>
        </p:nvSpPr>
        <p:spPr>
          <a:xfrm>
            <a:off x="7350380" y="4087272"/>
            <a:ext cx="2512873" cy="410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432057-E13D-49CF-B33F-A326CA335876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400" b="1" dirty="0"/>
              <a:t>        </a:t>
            </a:r>
            <a:r>
              <a:rPr lang="zh-CN" altLang="zh-CN" sz="2800" b="1" dirty="0"/>
              <a:t>数据存储格式，</a:t>
            </a:r>
            <a:r>
              <a:rPr lang="en-US" altLang="zh-CN" sz="2800" b="1" dirty="0"/>
              <a:t>CM3</a:t>
            </a:r>
            <a:r>
              <a:rPr lang="zh-CN" altLang="zh-CN" sz="2800" b="1" dirty="0"/>
              <a:t>存储器的组织与映射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hdmi_130129">
            <a:extLst>
              <a:ext uri="{FF2B5EF4-FFF2-40B4-BE49-F238E27FC236}">
                <a16:creationId xmlns:a16="http://schemas.microsoft.com/office/drawing/2014/main" id="{64B25942-AC05-43A0-9A7C-C446FE7F3E81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5504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D43CFEE3-488D-4C35-8A6C-A5C7E18BC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295400"/>
            <a:ext cx="6591300" cy="54864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7CB9123-3F25-4BC2-9234-032616A45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208" y="4904301"/>
            <a:ext cx="3143250" cy="15525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E793C56-A1C8-4B75-A5C9-B8A6C441E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9684" y="4182970"/>
            <a:ext cx="3152775" cy="1571625"/>
          </a:xfrm>
          <a:prstGeom prst="rect">
            <a:avLst/>
          </a:prstGeom>
        </p:spPr>
      </p:pic>
      <p:sp>
        <p:nvSpPr>
          <p:cNvPr id="2" name="Rectangle 5"/>
          <p:cNvSpPr txBox="1">
            <a:spLocks noChangeArrowheads="1"/>
          </p:cNvSpPr>
          <p:nvPr/>
        </p:nvSpPr>
        <p:spPr>
          <a:xfrm>
            <a:off x="313898" y="829659"/>
            <a:ext cx="8486775" cy="541953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zh-CN" sz="2800" b="1" dirty="0">
                <a:solidFill>
                  <a:srgbClr val="FF0000"/>
                </a:solidFill>
              </a:rPr>
              <a:t>CM3</a:t>
            </a:r>
            <a:r>
              <a:rPr lang="zh-CN" altLang="en-US" sz="2800" b="1" dirty="0">
                <a:solidFill>
                  <a:srgbClr val="FF0000"/>
                </a:solidFill>
              </a:rPr>
              <a:t>存储系统功能概览 </a:t>
            </a:r>
          </a:p>
        </p:txBody>
      </p:sp>
      <p:sp>
        <p:nvSpPr>
          <p:cNvPr id="3" name="矩形 10"/>
          <p:cNvSpPr>
            <a:spLocks noChangeArrowheads="1"/>
          </p:cNvSpPr>
          <p:nvPr/>
        </p:nvSpPr>
        <p:spPr bwMode="auto">
          <a:xfrm>
            <a:off x="7670042" y="802458"/>
            <a:ext cx="452195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/>
              <a:t>       Cortex-M3</a:t>
            </a:r>
            <a:r>
              <a:rPr lang="zh-CN" altLang="en-US" sz="2400" b="0" dirty="0"/>
              <a:t>支持</a:t>
            </a:r>
            <a:r>
              <a:rPr lang="en-US" altLang="zh-CN" sz="2400" b="0" dirty="0"/>
              <a:t>4GB</a:t>
            </a:r>
            <a:r>
              <a:rPr lang="zh-CN" altLang="en-US" sz="2400" b="0" dirty="0"/>
              <a:t>存储空间，</a:t>
            </a:r>
            <a:r>
              <a:rPr lang="en-US" altLang="zh-CN" sz="2400" b="0" dirty="0"/>
              <a:t>4GB</a:t>
            </a:r>
            <a:r>
              <a:rPr lang="zh-CN" altLang="en-US" sz="2400" b="0" dirty="0"/>
              <a:t>存储空间被划分成若干区域。</a:t>
            </a:r>
            <a:endParaRPr lang="zh-CN" altLang="en-US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400" b="1" dirty="0"/>
              <a:t>        </a:t>
            </a:r>
            <a:r>
              <a:rPr lang="zh-CN" altLang="zh-CN" sz="2800" b="1" dirty="0"/>
              <a:t>数据存储格式，</a:t>
            </a:r>
            <a:r>
              <a:rPr lang="en-US" altLang="zh-CN" sz="2800" b="1" dirty="0"/>
              <a:t>CM3</a:t>
            </a:r>
            <a:r>
              <a:rPr lang="zh-CN" altLang="zh-CN" sz="2800" b="1" dirty="0"/>
              <a:t>存储器的组织与映射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7574506" y="2087331"/>
            <a:ext cx="4617495" cy="4067815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Cortex‐M3 </a:t>
            </a:r>
            <a:r>
              <a:rPr lang="zh-CN" altLang="en-US" sz="2000" dirty="0"/>
              <a:t>预先定义好了“粗线条的”存储器映射。</a:t>
            </a:r>
            <a:endParaRPr lang="en-US" altLang="zh-CN" sz="2000" dirty="0"/>
          </a:p>
          <a:p>
            <a:r>
              <a:rPr lang="en-US" altLang="zh-CN" sz="2000" dirty="0"/>
              <a:t>CM3</a:t>
            </a:r>
            <a:r>
              <a:rPr lang="zh-CN" altLang="en-US" sz="2000" dirty="0"/>
              <a:t>允许这些区域之间“越权使用”。比如说，</a:t>
            </a:r>
            <a:r>
              <a:rPr lang="zh-CN" altLang="en-US" sz="2000" dirty="0">
                <a:solidFill>
                  <a:srgbClr val="FF0000"/>
                </a:solidFill>
              </a:rPr>
              <a:t>数据存储器也可以被放到代码区，而且代码也能够在外部</a:t>
            </a:r>
            <a:r>
              <a:rPr lang="en-US" altLang="zh-CN" sz="2000" dirty="0">
                <a:solidFill>
                  <a:srgbClr val="FF0000"/>
                </a:solidFill>
              </a:rPr>
              <a:t>RAM </a:t>
            </a:r>
            <a:r>
              <a:rPr lang="zh-CN" altLang="en-US" sz="2000" dirty="0">
                <a:solidFill>
                  <a:srgbClr val="FF0000"/>
                </a:solidFill>
              </a:rPr>
              <a:t>区中执行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zh-CN" altLang="en-US" sz="2000" dirty="0"/>
              <a:t>处于最高地址的系统级存储区，是</a:t>
            </a:r>
            <a:r>
              <a:rPr lang="en-US" altLang="zh-CN" sz="2000" dirty="0"/>
              <a:t>CM3 </a:t>
            </a:r>
            <a:r>
              <a:rPr lang="zh-CN" altLang="en-US" sz="2000" dirty="0"/>
              <a:t>用于放置私有外设</a:t>
            </a:r>
            <a:r>
              <a:rPr lang="en-US" altLang="zh-CN" sz="2000" dirty="0"/>
              <a:t>——</a:t>
            </a:r>
            <a:r>
              <a:rPr lang="zh-CN" altLang="en-US" sz="2000" dirty="0"/>
              <a:t>包括</a:t>
            </a:r>
            <a:r>
              <a:rPr lang="zh-CN" altLang="en-US" sz="2000" dirty="0">
                <a:solidFill>
                  <a:srgbClr val="FF0000"/>
                </a:solidFill>
              </a:rPr>
              <a:t>中断控制器</a:t>
            </a:r>
            <a:r>
              <a:rPr lang="zh-CN" altLang="en-US" sz="2000" dirty="0"/>
              <a:t>、</a:t>
            </a:r>
            <a:r>
              <a:rPr lang="en-US" altLang="zh-CN" sz="2000" dirty="0">
                <a:solidFill>
                  <a:srgbClr val="FF0000"/>
                </a:solidFill>
              </a:rPr>
              <a:t>MPU</a:t>
            </a:r>
            <a:r>
              <a:rPr lang="en-US" altLang="zh-CN" sz="2000" dirty="0"/>
              <a:t> </a:t>
            </a:r>
            <a:r>
              <a:rPr lang="zh-CN" altLang="en-US" sz="2000" dirty="0"/>
              <a:t>以及</a:t>
            </a:r>
            <a:r>
              <a:rPr lang="zh-CN" altLang="en-US" sz="2000" dirty="0">
                <a:solidFill>
                  <a:srgbClr val="FF0000"/>
                </a:solidFill>
              </a:rPr>
              <a:t>各种调试组件</a:t>
            </a:r>
            <a:r>
              <a:rPr lang="zh-CN" altLang="en-US" sz="2000" dirty="0"/>
              <a:t>等。所有这些设备均使用固定的地址。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53FF1A-791B-4029-82FE-56E57DD34A31}"/>
              </a:ext>
            </a:extLst>
          </p:cNvPr>
          <p:cNvSpPr/>
          <p:nvPr/>
        </p:nvSpPr>
        <p:spPr>
          <a:xfrm>
            <a:off x="929542" y="6155145"/>
            <a:ext cx="6610945" cy="6034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176A7-D2EC-4628-BA39-878EF59EC549}"/>
              </a:ext>
            </a:extLst>
          </p:cNvPr>
          <p:cNvSpPr/>
          <p:nvPr/>
        </p:nvSpPr>
        <p:spPr>
          <a:xfrm>
            <a:off x="929541" y="5551679"/>
            <a:ext cx="6610945" cy="6034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683226-F946-4FE7-A989-414725BA9571}"/>
              </a:ext>
            </a:extLst>
          </p:cNvPr>
          <p:cNvSpPr/>
          <p:nvPr/>
        </p:nvSpPr>
        <p:spPr>
          <a:xfrm>
            <a:off x="929540" y="4968786"/>
            <a:ext cx="6610945" cy="6034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A28C3D-B3A6-4217-8909-9693BBE869E2}"/>
              </a:ext>
            </a:extLst>
          </p:cNvPr>
          <p:cNvSpPr/>
          <p:nvPr/>
        </p:nvSpPr>
        <p:spPr>
          <a:xfrm>
            <a:off x="920208" y="2557974"/>
            <a:ext cx="6610945" cy="24108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A25B1A-F56C-430F-89A1-59337D0623DA}"/>
              </a:ext>
            </a:extLst>
          </p:cNvPr>
          <p:cNvSpPr/>
          <p:nvPr/>
        </p:nvSpPr>
        <p:spPr>
          <a:xfrm>
            <a:off x="923014" y="1371611"/>
            <a:ext cx="6610945" cy="11863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70760DEB-7EB8-4FA8-A2CF-EC9476055D15}"/>
              </a:ext>
            </a:extLst>
          </p:cNvPr>
          <p:cNvSpPr/>
          <p:nvPr/>
        </p:nvSpPr>
        <p:spPr>
          <a:xfrm>
            <a:off x="7603078" y="5748635"/>
            <a:ext cx="426497" cy="17493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7436D594-ABC5-49D4-BA12-00A8CA38BED2}"/>
              </a:ext>
            </a:extLst>
          </p:cNvPr>
          <p:cNvSpPr/>
          <p:nvPr/>
        </p:nvSpPr>
        <p:spPr>
          <a:xfrm>
            <a:off x="7598722" y="5130327"/>
            <a:ext cx="426497" cy="17493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18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  <p:bldP spid="15" grpId="0" animBg="1"/>
      <p:bldP spid="1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5C7C62D-45CE-4303-9C17-4083DBCFE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275" y="2881312"/>
            <a:ext cx="3276600" cy="1895475"/>
          </a:xfrm>
          <a:prstGeom prst="rect">
            <a:avLst/>
          </a:prstGeom>
        </p:spPr>
      </p:pic>
      <p:sp>
        <p:nvSpPr>
          <p:cNvPr id="2" name="内容占位符 2"/>
          <p:cNvSpPr txBox="1">
            <a:spLocks/>
          </p:cNvSpPr>
          <p:nvPr/>
        </p:nvSpPr>
        <p:spPr>
          <a:xfrm>
            <a:off x="1683027" y="1225931"/>
            <a:ext cx="8661101" cy="1479550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/>
              <a:t>“系统控制空间（</a:t>
            </a:r>
            <a:r>
              <a:rPr lang="en-US" altLang="zh-CN" sz="2800" dirty="0"/>
              <a:t>SCS</a:t>
            </a:r>
            <a:r>
              <a:rPr lang="zh-CN" altLang="en-US" sz="2800" dirty="0"/>
              <a:t>）”，在</a:t>
            </a:r>
            <a:r>
              <a:rPr lang="en-US" altLang="zh-CN" sz="2800" dirty="0"/>
              <a:t>SCS </a:t>
            </a:r>
            <a:r>
              <a:rPr lang="zh-CN" altLang="en-US" sz="2800" dirty="0"/>
              <a:t>里包含有</a:t>
            </a:r>
            <a:r>
              <a:rPr lang="en-US" altLang="zh-CN" sz="2800" dirty="0"/>
              <a:t>NVIC 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SysTick</a:t>
            </a:r>
            <a:r>
              <a:rPr lang="zh-CN" altLang="en-US" sz="2800" dirty="0"/>
              <a:t>、</a:t>
            </a:r>
            <a:r>
              <a:rPr lang="en-US" altLang="zh-CN" sz="2800" dirty="0"/>
              <a:t>MPU </a:t>
            </a:r>
            <a:r>
              <a:rPr lang="zh-CN" altLang="en-US" sz="2800" dirty="0"/>
              <a:t>以及代码调试控制所用的寄存器等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400" b="1" dirty="0"/>
              <a:t>        </a:t>
            </a:r>
            <a:r>
              <a:rPr lang="zh-CN" altLang="zh-CN" sz="2800" b="1" dirty="0"/>
              <a:t>数据存储格式，</a:t>
            </a:r>
            <a:r>
              <a:rPr lang="en-US" altLang="zh-CN" sz="2800" b="1" dirty="0"/>
              <a:t>CM3</a:t>
            </a:r>
            <a:r>
              <a:rPr lang="zh-CN" altLang="zh-CN" sz="2800" b="1" dirty="0"/>
              <a:t>存储器的组织与映射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E038235-3290-4F93-B355-762A8E662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027" y="2895186"/>
            <a:ext cx="2581275" cy="17430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F140F4B-AFBA-496B-8BD3-DD31E9AA1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284" y="2885660"/>
            <a:ext cx="326707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6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>
          <a:xfrm>
            <a:off x="717779" y="1198130"/>
            <a:ext cx="8229600" cy="1479550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问题与思考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400" b="1" dirty="0"/>
              <a:t>        </a:t>
            </a:r>
            <a:r>
              <a:rPr lang="zh-CN" altLang="zh-CN" sz="2800" b="1" dirty="0"/>
              <a:t>数据存储格式，</a:t>
            </a:r>
            <a:r>
              <a:rPr lang="en-US" altLang="zh-CN" sz="2800" b="1" dirty="0"/>
              <a:t>CM3</a:t>
            </a:r>
            <a:r>
              <a:rPr lang="zh-CN" altLang="zh-CN" sz="2800" b="1" dirty="0"/>
              <a:t>存储器的组织与映射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62AE63-584E-4F4E-85CE-BA3F2753C0A8}"/>
              </a:ext>
            </a:extLst>
          </p:cNvPr>
          <p:cNvSpPr/>
          <p:nvPr/>
        </p:nvSpPr>
        <p:spPr>
          <a:xfrm>
            <a:off x="1126837" y="1706597"/>
            <a:ext cx="93194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7480" indent="-157480" algn="just"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Cortex-M3</a:t>
            </a:r>
            <a:r>
              <a:rPr lang="zh-CN" altLang="zh-CN" sz="24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存储器映射中，片外外设映射的地址区域为（</a:t>
            </a:r>
            <a:r>
              <a:rPr lang="en-US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24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sz="2400" b="1" kern="1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在大端存储格式中，字数据</a:t>
            </a:r>
            <a:r>
              <a:rPr lang="en-US" altLang="zh-CN" sz="24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0x13572468</a:t>
            </a:r>
            <a:r>
              <a:rPr lang="zh-CN" altLang="zh-CN" sz="24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在内存中按字节地址由低到高依次存放为</a:t>
            </a:r>
            <a:r>
              <a:rPr lang="en-US" altLang="zh-CN" sz="24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            )</a:t>
            </a:r>
            <a:r>
              <a:rPr lang="zh-CN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。</a:t>
            </a:r>
            <a:r>
              <a:rPr lang="en-US" altLang="zh-CN" sz="24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                    </a:t>
            </a:r>
            <a:r>
              <a:rPr lang="en-US" altLang="zh-CN" sz="2400" b="1" kern="100" dirty="0" smtClean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                                 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39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1270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157480" indent="-157480" algn="just"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Cortex-M3</a:t>
            </a:r>
            <a:r>
              <a:rPr lang="zh-CN" altLang="zh-CN" sz="28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存储器映射中，片外外设映射的地址区域为（</a:t>
            </a:r>
            <a:r>
              <a:rPr lang="en-US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kern="100" dirty="0" smtClean="0">
                <a:solidFill>
                  <a:srgbClr val="639EF4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 smtClean="0">
                <a:solidFill>
                  <a:srgbClr val="639EF4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800" b="1" kern="100" dirty="0" smtClean="0">
                <a:solidFill>
                  <a:srgbClr val="639EF4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填空</a:t>
            </a:r>
            <a:r>
              <a:rPr lang="en-US" altLang="zh-CN" sz="2800" b="1" kern="100" dirty="0" smtClean="0">
                <a:solidFill>
                  <a:srgbClr val="639EF4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1]</a:t>
            </a:r>
            <a:r>
              <a:rPr lang="en-US" altLang="zh-CN" sz="2800" b="1" kern="100" dirty="0" smtClean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zh-CN" sz="28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sz="2800" b="1" kern="1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在大端存储格式中，字数据</a:t>
            </a:r>
            <a:r>
              <a:rPr lang="en-US" altLang="zh-CN" sz="28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0x13572468</a:t>
            </a:r>
            <a:r>
              <a:rPr lang="zh-CN" altLang="zh-CN" sz="28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在内存中按字节地址由低到高依次存放为</a:t>
            </a:r>
            <a:r>
              <a:rPr lang="en-US" altLang="zh-CN" sz="28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  </a:t>
            </a:r>
            <a:r>
              <a:rPr lang="zh-CN" altLang="en-US" sz="2800" b="1" kern="100" dirty="0" smtClean="0">
                <a:solidFill>
                  <a:srgbClr val="639EF4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 smtClean="0">
                <a:solidFill>
                  <a:srgbClr val="639EF4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800" b="1" kern="100" dirty="0" smtClean="0">
                <a:solidFill>
                  <a:srgbClr val="639EF4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填空</a:t>
            </a:r>
            <a:r>
              <a:rPr lang="en-US" altLang="zh-CN" sz="2800" b="1" kern="100" dirty="0" smtClean="0">
                <a:solidFill>
                  <a:srgbClr val="639EF4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2]</a:t>
            </a:r>
            <a:r>
              <a:rPr lang="en-US" altLang="zh-CN" sz="2800" b="1" kern="100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8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。</a:t>
            </a:r>
            <a:r>
              <a:rPr lang="en-US" altLang="zh-CN" sz="28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                                                                 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9711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>
          <a:xfrm>
            <a:off x="717779" y="1198130"/>
            <a:ext cx="8229600" cy="1479550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问题与思考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400" b="1" dirty="0"/>
              <a:t>        </a:t>
            </a:r>
            <a:r>
              <a:rPr lang="zh-CN" altLang="zh-CN" sz="2800" b="1" dirty="0"/>
              <a:t>数据存储格式，</a:t>
            </a:r>
            <a:r>
              <a:rPr lang="en-US" altLang="zh-CN" sz="2800" b="1" dirty="0"/>
              <a:t>CM3</a:t>
            </a:r>
            <a:r>
              <a:rPr lang="zh-CN" altLang="zh-CN" sz="2800" b="1" dirty="0"/>
              <a:t>存储器的组织与映射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62AE63-584E-4F4E-85CE-BA3F2753C0A8}"/>
              </a:ext>
            </a:extLst>
          </p:cNvPr>
          <p:cNvSpPr/>
          <p:nvPr/>
        </p:nvSpPr>
        <p:spPr>
          <a:xfrm>
            <a:off x="1126837" y="1706597"/>
            <a:ext cx="93194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7480" indent="-157480" algn="just"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Cortex-M3</a:t>
            </a:r>
            <a:r>
              <a:rPr lang="zh-CN" altLang="zh-CN" sz="24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存储器映射中，片外外设映射的地址区域为（</a:t>
            </a:r>
            <a:r>
              <a:rPr lang="en-US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0xA0000000~0xDFFFFFFF</a:t>
            </a:r>
            <a:r>
              <a:rPr lang="zh-CN" altLang="zh-CN" sz="24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在大端存储格式中，字数据</a:t>
            </a:r>
            <a:r>
              <a:rPr lang="en-US" altLang="zh-CN" sz="24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0x13572468</a:t>
            </a:r>
            <a:r>
              <a:rPr lang="zh-CN" altLang="zh-CN" sz="24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在内存中按字节地址由低到高依次存放为</a:t>
            </a:r>
            <a:r>
              <a:rPr lang="en-US" altLang="zh-CN" sz="2400" b="1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( 0x13,0x57,0x24,0x68     )</a:t>
            </a:r>
            <a:r>
              <a:rPr lang="zh-CN" altLang="zh-CN" sz="2400" b="1" kern="10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。</a:t>
            </a:r>
            <a:r>
              <a:rPr lang="en-US" altLang="zh-CN" sz="24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                                                                                                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98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8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09926" y="3136612"/>
            <a:ext cx="1920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42E6E0"/>
                </a:solidFill>
              </a:rPr>
              <a:t>位带操作</a:t>
            </a:r>
            <a:endParaRPr lang="en-US" altLang="zh-CN" sz="3200" b="1" dirty="0">
              <a:solidFill>
                <a:srgbClr val="42E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 位带操作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627797" y="1028343"/>
            <a:ext cx="10941351" cy="1724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itchFamily="2" charset="2"/>
              <a:buChar char="u"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位操作原理：</a:t>
            </a:r>
            <a:endParaRPr lang="en-US" altLang="zh-CN" sz="28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0" lvl="1">
              <a:lnSpc>
                <a:spcPts val="32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ea"/>
                <a:ea typeface="+mn-ea"/>
              </a:rPr>
              <a:t>      </a:t>
            </a:r>
            <a:r>
              <a:rPr lang="zh-CN" altLang="zh-CN" sz="2400" dirty="0">
                <a:latin typeface="+mn-ea"/>
                <a:ea typeface="+mn-ea"/>
              </a:rPr>
              <a:t>把</a:t>
            </a:r>
            <a:r>
              <a:rPr lang="zh-CN" altLang="en-US" sz="2400" dirty="0">
                <a:latin typeface="+mn-ea"/>
                <a:ea typeface="+mn-ea"/>
              </a:rPr>
              <a:t>允许位操作区域内（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位带区</a:t>
            </a:r>
            <a:r>
              <a:rPr lang="zh-CN" altLang="en-US" sz="2400" dirty="0">
                <a:latin typeface="+mn-ea"/>
                <a:ea typeface="+mn-ea"/>
              </a:rPr>
              <a:t>）</a:t>
            </a:r>
            <a:r>
              <a:rPr lang="zh-CN" altLang="zh-CN" sz="2400" dirty="0">
                <a:latin typeface="+mn-ea"/>
                <a:ea typeface="+mn-ea"/>
              </a:rPr>
              <a:t>每个比特</a:t>
            </a:r>
            <a:r>
              <a:rPr lang="zh-CN" altLang="en-US" sz="2400" dirty="0">
                <a:latin typeface="+mn-ea"/>
                <a:ea typeface="+mn-ea"/>
              </a:rPr>
              <a:t>定义</a:t>
            </a:r>
            <a:r>
              <a:rPr lang="zh-CN" altLang="zh-CN" sz="2400" dirty="0">
                <a:latin typeface="+mn-ea"/>
                <a:ea typeface="+mn-ea"/>
              </a:rPr>
              <a:t>一个</a:t>
            </a:r>
            <a:r>
              <a:rPr lang="en-US" altLang="zh-CN" sz="2400" dirty="0">
                <a:latin typeface="+mn-ea"/>
                <a:ea typeface="+mn-ea"/>
              </a:rPr>
              <a:t>32</a:t>
            </a:r>
            <a:r>
              <a:rPr lang="zh-CN" altLang="zh-CN" sz="2400" dirty="0">
                <a:latin typeface="+mn-ea"/>
                <a:ea typeface="+mn-ea"/>
              </a:rPr>
              <a:t>位的</a:t>
            </a:r>
            <a:r>
              <a:rPr lang="zh-CN" altLang="en-US" sz="2400" dirty="0">
                <a:latin typeface="+mn-ea"/>
                <a:ea typeface="+mn-ea"/>
              </a:rPr>
              <a:t>地址（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位地址</a:t>
            </a:r>
            <a:r>
              <a:rPr lang="zh-CN" altLang="en-US" sz="2400" dirty="0">
                <a:latin typeface="+mn-ea"/>
                <a:ea typeface="+mn-ea"/>
              </a:rPr>
              <a:t>）</a:t>
            </a:r>
            <a:r>
              <a:rPr lang="zh-CN" altLang="zh-CN" sz="2400" dirty="0">
                <a:latin typeface="+mn-ea"/>
                <a:ea typeface="+mn-ea"/>
              </a:rPr>
              <a:t>，</a:t>
            </a:r>
            <a:r>
              <a:rPr lang="zh-CN" altLang="en-US" sz="2400" dirty="0">
                <a:latin typeface="+mn-ea"/>
                <a:ea typeface="+mn-ea"/>
              </a:rPr>
              <a:t>这些位地址所在的区域为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位带别名区</a:t>
            </a:r>
            <a:r>
              <a:rPr lang="zh-CN" altLang="en-US" sz="2400" dirty="0">
                <a:latin typeface="+mn-ea"/>
                <a:ea typeface="+mn-ea"/>
              </a:rPr>
              <a:t>。对位带别名区地址的访问最终作用到对位带区的访问，</a:t>
            </a:r>
            <a:r>
              <a:rPr lang="zh-CN" altLang="zh-CN" sz="2400" dirty="0">
                <a:latin typeface="+mn-ea"/>
                <a:ea typeface="+mn-ea"/>
              </a:rPr>
              <a:t>当访问这些</a:t>
            </a:r>
            <a:r>
              <a:rPr lang="zh-CN" altLang="en-US" sz="2400" dirty="0">
                <a:latin typeface="+mn-ea"/>
                <a:ea typeface="+mn-ea"/>
              </a:rPr>
              <a:t>别名区地址</a:t>
            </a:r>
            <a:r>
              <a:rPr lang="zh-CN" altLang="zh-CN" sz="2400" dirty="0">
                <a:latin typeface="+mn-ea"/>
                <a:ea typeface="+mn-ea"/>
              </a:rPr>
              <a:t>的时候就达到了访问</a:t>
            </a:r>
            <a:r>
              <a:rPr lang="zh-CN" altLang="en-US" sz="2400" dirty="0">
                <a:latin typeface="+mn-ea"/>
                <a:ea typeface="+mn-ea"/>
              </a:rPr>
              <a:t>相应</a:t>
            </a:r>
            <a:r>
              <a:rPr lang="zh-CN" altLang="zh-CN" sz="2400" dirty="0">
                <a:latin typeface="+mn-ea"/>
                <a:ea typeface="+mn-ea"/>
              </a:rPr>
              <a:t>比特的目的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6584981" y="3261254"/>
            <a:ext cx="5368479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000" dirty="0">
                <a:latin typeface="+mn-ea"/>
                <a:ea typeface="+mn-ea"/>
              </a:rPr>
              <a:t>哪些区域支持位操作：</a:t>
            </a:r>
            <a:endParaRPr lang="en-US" altLang="zh-CN" sz="20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  <a:ea typeface="+mn-ea"/>
              </a:rPr>
              <a:t>其中一个是</a:t>
            </a:r>
            <a:r>
              <a:rPr lang="en-US" altLang="zh-CN" sz="2000" dirty="0">
                <a:latin typeface="+mn-ea"/>
                <a:ea typeface="+mn-ea"/>
              </a:rPr>
              <a:t>SRAM</a:t>
            </a:r>
            <a:r>
              <a:rPr lang="zh-CN" altLang="en-US" sz="2000" dirty="0">
                <a:latin typeface="+mn-ea"/>
                <a:ea typeface="+mn-ea"/>
              </a:rPr>
              <a:t>区的最低</a:t>
            </a:r>
            <a:r>
              <a:rPr lang="en-US" altLang="zh-CN" sz="2000" dirty="0">
                <a:latin typeface="+mn-ea"/>
                <a:ea typeface="+mn-ea"/>
              </a:rPr>
              <a:t>1MB </a:t>
            </a:r>
            <a:r>
              <a:rPr lang="zh-CN" altLang="en-US" sz="2000" dirty="0">
                <a:latin typeface="+mn-ea"/>
                <a:ea typeface="+mn-ea"/>
              </a:rPr>
              <a:t>范围，</a:t>
            </a:r>
            <a:r>
              <a:rPr lang="en-US" altLang="zh-CN" sz="2000" dirty="0">
                <a:latin typeface="+mn-ea"/>
                <a:ea typeface="+mn-ea"/>
              </a:rPr>
              <a:t>0x20000000‐ 0x200FFFFF</a:t>
            </a:r>
            <a:r>
              <a:rPr lang="zh-CN" altLang="en-US" sz="2000" dirty="0">
                <a:latin typeface="+mn-ea"/>
                <a:ea typeface="+mn-ea"/>
              </a:rPr>
              <a:t>（</a:t>
            </a:r>
            <a:r>
              <a:rPr lang="en-US" altLang="zh-CN" sz="2000" dirty="0">
                <a:latin typeface="+mn-ea"/>
                <a:ea typeface="+mn-ea"/>
              </a:rPr>
              <a:t>SRAM</a:t>
            </a:r>
            <a:r>
              <a:rPr lang="zh-CN" altLang="en-US" sz="2000" dirty="0">
                <a:latin typeface="+mn-ea"/>
                <a:ea typeface="+mn-ea"/>
              </a:rPr>
              <a:t>区中的最低 </a:t>
            </a:r>
            <a:r>
              <a:rPr lang="en-US" altLang="zh-CN" sz="2000" dirty="0">
                <a:latin typeface="+mn-ea"/>
                <a:ea typeface="+mn-ea"/>
              </a:rPr>
              <a:t>1MB</a:t>
            </a:r>
            <a:r>
              <a:rPr lang="zh-CN" altLang="en-US" sz="2000" dirty="0">
                <a:latin typeface="+mn-ea"/>
                <a:ea typeface="+mn-ea"/>
              </a:rPr>
              <a:t>）</a:t>
            </a:r>
            <a:endParaRPr lang="en-US" altLang="zh-CN" sz="20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  <a:ea typeface="+mn-ea"/>
              </a:rPr>
              <a:t>第二个则是片内外设区的最低 </a:t>
            </a:r>
            <a:r>
              <a:rPr lang="en-US" altLang="zh-CN" sz="2000" dirty="0">
                <a:latin typeface="+mn-ea"/>
                <a:ea typeface="+mn-ea"/>
              </a:rPr>
              <a:t>1MB</a:t>
            </a:r>
            <a:r>
              <a:rPr lang="zh-CN" altLang="en-US" sz="2000" dirty="0">
                <a:latin typeface="+mn-ea"/>
                <a:ea typeface="+mn-ea"/>
              </a:rPr>
              <a:t>范围， </a:t>
            </a:r>
            <a:r>
              <a:rPr lang="en-US" altLang="zh-CN" sz="2000" dirty="0">
                <a:latin typeface="+mn-ea"/>
                <a:ea typeface="+mn-ea"/>
              </a:rPr>
              <a:t>0x40000000 ‐ 0x400FFFFF</a:t>
            </a:r>
            <a:r>
              <a:rPr lang="zh-CN" altLang="en-US" sz="2000" dirty="0">
                <a:latin typeface="+mn-ea"/>
                <a:ea typeface="+mn-ea"/>
              </a:rPr>
              <a:t>（片上外设区中最低 </a:t>
            </a:r>
            <a:r>
              <a:rPr lang="en-US" altLang="zh-CN" sz="2000" dirty="0">
                <a:latin typeface="+mn-ea"/>
                <a:ea typeface="+mn-ea"/>
              </a:rPr>
              <a:t>1MB</a:t>
            </a:r>
            <a:r>
              <a:rPr lang="zh-CN" altLang="en-US" sz="2000" dirty="0">
                <a:latin typeface="+mn-ea"/>
                <a:ea typeface="+mn-ea"/>
              </a:rPr>
              <a:t>）</a:t>
            </a:r>
            <a:endParaRPr lang="en-US" altLang="zh-CN" sz="2000" dirty="0">
              <a:latin typeface="+mn-ea"/>
              <a:ea typeface="+mn-ea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8AED686F-86B7-49BB-B92E-5AEA3CC5E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44" y="4462515"/>
            <a:ext cx="3702978" cy="173912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320F57B-E12C-4BB7-939D-634953005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244" y="2824990"/>
            <a:ext cx="3702980" cy="173912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038DB37-155F-42C2-B976-F39559E165CD}"/>
              </a:ext>
            </a:extLst>
          </p:cNvPr>
          <p:cNvSpPr/>
          <p:nvPr/>
        </p:nvSpPr>
        <p:spPr>
          <a:xfrm>
            <a:off x="3378323" y="4240625"/>
            <a:ext cx="3009899" cy="22189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78E963-F9EA-4530-9453-C4F00B0ADDA9}"/>
              </a:ext>
            </a:extLst>
          </p:cNvPr>
          <p:cNvSpPr/>
          <p:nvPr/>
        </p:nvSpPr>
        <p:spPr>
          <a:xfrm>
            <a:off x="3378323" y="5876385"/>
            <a:ext cx="2999739" cy="221890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5A307EB-9BED-432F-8393-994ABA973652}"/>
              </a:ext>
            </a:extLst>
          </p:cNvPr>
          <p:cNvSpPr/>
          <p:nvPr/>
        </p:nvSpPr>
        <p:spPr>
          <a:xfrm>
            <a:off x="3387030" y="2887401"/>
            <a:ext cx="3009899" cy="74770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EC5DDA-6AEE-4C21-B5EB-B7FF80EBFFDF}"/>
              </a:ext>
            </a:extLst>
          </p:cNvPr>
          <p:cNvSpPr/>
          <p:nvPr/>
        </p:nvSpPr>
        <p:spPr>
          <a:xfrm>
            <a:off x="3369611" y="4551052"/>
            <a:ext cx="3009899" cy="725620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14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1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 位带操作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82832" y="2459504"/>
            <a:ext cx="4573781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latin typeface="+mn-ea"/>
              </a:rPr>
              <a:t>BSRR</a:t>
            </a:r>
            <a:r>
              <a:rPr lang="zh-CN" altLang="zh-CN" sz="2400" dirty="0">
                <a:latin typeface="+mn-ea"/>
              </a:rPr>
              <a:t>寄存器</a:t>
            </a:r>
            <a:r>
              <a:rPr lang="zh-CN" altLang="en-US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IO</a:t>
            </a:r>
            <a:r>
              <a:rPr lang="zh-CN" altLang="en-US" sz="2400" dirty="0">
                <a:latin typeface="+mn-ea"/>
              </a:rPr>
              <a:t>口置位和复位寄存器）</a:t>
            </a:r>
            <a:r>
              <a:rPr lang="zh-CN" altLang="zh-CN" sz="2400" dirty="0">
                <a:latin typeface="+mn-ea"/>
              </a:rPr>
              <a:t>有</a:t>
            </a:r>
            <a:r>
              <a:rPr lang="en-US" altLang="zh-CN" sz="2400" dirty="0">
                <a:latin typeface="+mn-ea"/>
              </a:rPr>
              <a:t>32</a:t>
            </a:r>
            <a:r>
              <a:rPr lang="zh-CN" altLang="zh-CN" sz="2400" dirty="0">
                <a:latin typeface="+mn-ea"/>
              </a:rPr>
              <a:t>个位，那么可以映射到</a:t>
            </a:r>
            <a:r>
              <a:rPr lang="en-US" altLang="zh-CN" sz="2400" dirty="0">
                <a:latin typeface="+mn-ea"/>
              </a:rPr>
              <a:t>32</a:t>
            </a:r>
            <a:r>
              <a:rPr lang="zh-CN" altLang="zh-CN" sz="2400" dirty="0">
                <a:latin typeface="+mn-ea"/>
              </a:rPr>
              <a:t>个地址上，我们去访问这</a:t>
            </a:r>
            <a:r>
              <a:rPr lang="en-US" altLang="zh-CN" sz="2400" dirty="0">
                <a:latin typeface="+mn-ea"/>
              </a:rPr>
              <a:t>32</a:t>
            </a:r>
            <a:r>
              <a:rPr lang="zh-CN" altLang="zh-CN" sz="2400" dirty="0">
                <a:latin typeface="+mn-ea"/>
              </a:rPr>
              <a:t>个地址就达到访问</a:t>
            </a:r>
            <a:r>
              <a:rPr lang="en-US" altLang="zh-CN" sz="2400" dirty="0">
                <a:latin typeface="+mn-ea"/>
              </a:rPr>
              <a:t>32</a:t>
            </a:r>
            <a:r>
              <a:rPr lang="zh-CN" altLang="zh-CN" sz="2400" dirty="0">
                <a:latin typeface="+mn-ea"/>
              </a:rPr>
              <a:t>个比特的目的。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1477252" y="1755728"/>
          <a:ext cx="4755764" cy="4112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2" name="Visio" r:id="rId3" imgW="2848356" imgH="3384423" progId="Visio.Drawing.11">
                  <p:embed/>
                </p:oleObj>
              </mc:Choice>
              <mc:Fallback>
                <p:oleObj name="Visio" r:id="rId3" imgW="2848356" imgH="3384423" progId="Visio.Drawing.11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252" y="1755728"/>
                        <a:ext cx="4755764" cy="41128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1E9B7B4-7BD7-447E-90AD-643835C25B1F}"/>
              </a:ext>
            </a:extLst>
          </p:cNvPr>
          <p:cNvSpPr/>
          <p:nvPr/>
        </p:nvSpPr>
        <p:spPr>
          <a:xfrm>
            <a:off x="1651000" y="1755728"/>
            <a:ext cx="1816100" cy="41128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86EEDD-C976-4683-BD8F-E9E1C7FE23DE}"/>
              </a:ext>
            </a:extLst>
          </p:cNvPr>
          <p:cNvSpPr/>
          <p:nvPr/>
        </p:nvSpPr>
        <p:spPr>
          <a:xfrm>
            <a:off x="4416916" y="1755728"/>
            <a:ext cx="1816100" cy="41128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319757-0DB2-456C-B6BA-243677503AE6}"/>
              </a:ext>
            </a:extLst>
          </p:cNvPr>
          <p:cNvSpPr/>
          <p:nvPr/>
        </p:nvSpPr>
        <p:spPr>
          <a:xfrm>
            <a:off x="1477252" y="953484"/>
            <a:ext cx="31101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以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BSRR</a:t>
            </a:r>
            <a:r>
              <a:rPr lang="zh-CN" altLang="zh-CN" sz="2400" dirty="0">
                <a:solidFill>
                  <a:srgbClr val="FF0000"/>
                </a:solidFill>
                <a:latin typeface="+mn-ea"/>
              </a:rPr>
              <a:t>寄存器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为例：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27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 animBg="1"/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4B91414-B0FF-4E69-A157-45FF7A72E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172" y="2238375"/>
            <a:ext cx="8029575" cy="23812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30305BE-E8B6-46B5-B5ED-D8792E21D19F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 位带操作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>
            <a:extLst>
              <a:ext uri="{FF2B5EF4-FFF2-40B4-BE49-F238E27FC236}">
                <a16:creationId xmlns:a16="http://schemas.microsoft.com/office/drawing/2014/main" id="{36ABB45F-4CA1-406D-A519-9E9C00D454E3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8C83BF-E279-4ECE-A9EA-72A34A9B0ABF}"/>
              </a:ext>
            </a:extLst>
          </p:cNvPr>
          <p:cNvSpPr/>
          <p:nvPr/>
        </p:nvSpPr>
        <p:spPr>
          <a:xfrm>
            <a:off x="1794360" y="992448"/>
            <a:ext cx="861888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latin typeface="+mn-ea"/>
              </a:rPr>
              <a:t>       位带别名区中用</a:t>
            </a:r>
            <a:r>
              <a:rPr lang="en-US" altLang="zh-CN" sz="2400" dirty="0">
                <a:latin typeface="+mn-ea"/>
              </a:rPr>
              <a:t>32</a:t>
            </a:r>
            <a:r>
              <a:rPr lang="zh-CN" altLang="en-US" sz="2400" dirty="0">
                <a:latin typeface="+mn-ea"/>
              </a:rPr>
              <a:t>位的字地址来对应位带区中的每个比特，相当于把位带区的每个比特膨胀成一个</a:t>
            </a:r>
            <a:r>
              <a:rPr lang="en-US" altLang="zh-CN" sz="2400" dirty="0">
                <a:latin typeface="+mn-ea"/>
              </a:rPr>
              <a:t>32 </a:t>
            </a:r>
            <a:r>
              <a:rPr lang="zh-CN" altLang="en-US" sz="2400" dirty="0">
                <a:latin typeface="+mn-ea"/>
              </a:rPr>
              <a:t>位的字。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C48880-3CD7-4495-8F96-9F195E28A02F}"/>
              </a:ext>
            </a:extLst>
          </p:cNvPr>
          <p:cNvSpPr/>
          <p:nvPr/>
        </p:nvSpPr>
        <p:spPr>
          <a:xfrm>
            <a:off x="9641840" y="4307332"/>
            <a:ext cx="172720" cy="23469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B68D88-CBE5-4717-AFA1-E5533E3B403A}"/>
              </a:ext>
            </a:extLst>
          </p:cNvPr>
          <p:cNvSpPr/>
          <p:nvPr/>
        </p:nvSpPr>
        <p:spPr>
          <a:xfrm>
            <a:off x="9641840" y="3992372"/>
            <a:ext cx="172720" cy="23469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0482D2-D1AD-4414-88BF-D1608361A2C1}"/>
              </a:ext>
            </a:extLst>
          </p:cNvPr>
          <p:cNvSpPr/>
          <p:nvPr/>
        </p:nvSpPr>
        <p:spPr>
          <a:xfrm>
            <a:off x="8971280" y="4297172"/>
            <a:ext cx="172720" cy="23469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24E29A-CE11-4C09-82E7-C9CD46BA0636}"/>
              </a:ext>
            </a:extLst>
          </p:cNvPr>
          <p:cNvSpPr/>
          <p:nvPr/>
        </p:nvSpPr>
        <p:spPr>
          <a:xfrm>
            <a:off x="7772400" y="4297172"/>
            <a:ext cx="172720" cy="23469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7F023E-21C6-4FBA-90E9-1B88832A4F85}"/>
              </a:ext>
            </a:extLst>
          </p:cNvPr>
          <p:cNvSpPr txBox="1"/>
          <p:nvPr/>
        </p:nvSpPr>
        <p:spPr>
          <a:xfrm>
            <a:off x="10078720" y="4434959"/>
            <a:ext cx="14732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0x22000000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BDAD7C-8C3A-42E0-AA9C-B5A081FF67A8}"/>
              </a:ext>
            </a:extLst>
          </p:cNvPr>
          <p:cNvSpPr txBox="1"/>
          <p:nvPr/>
        </p:nvSpPr>
        <p:spPr>
          <a:xfrm>
            <a:off x="8315960" y="4795520"/>
            <a:ext cx="14732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0x22000010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CF373C-4132-4298-B9F9-0B66C92E6112}"/>
              </a:ext>
            </a:extLst>
          </p:cNvPr>
          <p:cNvSpPr txBox="1"/>
          <p:nvPr/>
        </p:nvSpPr>
        <p:spPr>
          <a:xfrm>
            <a:off x="6418580" y="4766826"/>
            <a:ext cx="157988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0x2200002C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7D547D2-544F-4F87-9669-1DB0EC0D18AD}"/>
              </a:ext>
            </a:extLst>
          </p:cNvPr>
          <p:cNvSpPr txBox="1"/>
          <p:nvPr/>
        </p:nvSpPr>
        <p:spPr>
          <a:xfrm>
            <a:off x="10109200" y="3807706"/>
            <a:ext cx="14732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0x22000080</a:t>
            </a:r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008A162-0C06-4B84-B52C-D640C23677C3}"/>
              </a:ext>
            </a:extLst>
          </p:cNvPr>
          <p:cNvCxnSpPr>
            <a:stCxn id="14" idx="1"/>
          </p:cNvCxnSpPr>
          <p:nvPr/>
        </p:nvCxnSpPr>
        <p:spPr>
          <a:xfrm flipH="1">
            <a:off x="9789160" y="3992372"/>
            <a:ext cx="320040" cy="102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06F9A0D-8278-4CEA-87DC-ECC3A7DE2964}"/>
              </a:ext>
            </a:extLst>
          </p:cNvPr>
          <p:cNvCxnSpPr>
            <a:stCxn id="11" idx="1"/>
            <a:endCxn id="6" idx="3"/>
          </p:cNvCxnSpPr>
          <p:nvPr/>
        </p:nvCxnSpPr>
        <p:spPr>
          <a:xfrm flipH="1" flipV="1">
            <a:off x="9814560" y="4424680"/>
            <a:ext cx="264160" cy="194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4E61D09-E3BD-4986-A498-B9F01916D216}"/>
              </a:ext>
            </a:extLst>
          </p:cNvPr>
          <p:cNvCxnSpPr>
            <a:stCxn id="12" idx="0"/>
            <a:endCxn id="8" idx="2"/>
          </p:cNvCxnSpPr>
          <p:nvPr/>
        </p:nvCxnSpPr>
        <p:spPr>
          <a:xfrm flipV="1">
            <a:off x="9052560" y="4531868"/>
            <a:ext cx="5080" cy="263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C170090-E8DF-4703-B804-9C3C31C2FDE6}"/>
              </a:ext>
            </a:extLst>
          </p:cNvPr>
          <p:cNvCxnSpPr>
            <a:stCxn id="13" idx="0"/>
            <a:endCxn id="9" idx="2"/>
          </p:cNvCxnSpPr>
          <p:nvPr/>
        </p:nvCxnSpPr>
        <p:spPr>
          <a:xfrm flipV="1">
            <a:off x="7208520" y="4531868"/>
            <a:ext cx="650240" cy="234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028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4008414-D8D2-4F92-8A0B-BA6F93DF0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357" y="3058579"/>
            <a:ext cx="9512804" cy="322030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 位带操作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E9A113-549F-4C67-8892-4A991EE93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839" y="818579"/>
            <a:ext cx="9538322" cy="215585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6AA21C5-4B60-4B8F-BB2D-DECF29EDB5A8}"/>
              </a:ext>
            </a:extLst>
          </p:cNvPr>
          <p:cNvSpPr/>
          <p:nvPr/>
        </p:nvSpPr>
        <p:spPr>
          <a:xfrm>
            <a:off x="10225675" y="5445919"/>
            <a:ext cx="251825" cy="571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1B0053-689C-47DF-B9E3-F238E11CA200}"/>
              </a:ext>
            </a:extLst>
          </p:cNvPr>
          <p:cNvSpPr/>
          <p:nvPr/>
        </p:nvSpPr>
        <p:spPr>
          <a:xfrm>
            <a:off x="9442450" y="2402930"/>
            <a:ext cx="1098550" cy="2958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7AFA84-A4E0-421E-B0F4-F99A06712517}"/>
              </a:ext>
            </a:extLst>
          </p:cNvPr>
          <p:cNvSpPr/>
          <p:nvPr/>
        </p:nvSpPr>
        <p:spPr>
          <a:xfrm>
            <a:off x="9965865" y="5445919"/>
            <a:ext cx="251825" cy="571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23D112-5EC7-4EB7-A945-C03F7EF0638D}"/>
              </a:ext>
            </a:extLst>
          </p:cNvPr>
          <p:cNvSpPr/>
          <p:nvPr/>
        </p:nvSpPr>
        <p:spPr>
          <a:xfrm>
            <a:off x="8343900" y="2405560"/>
            <a:ext cx="1098550" cy="2958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74BACC-1BFC-420D-B59B-5625EBFFE52C}"/>
              </a:ext>
            </a:extLst>
          </p:cNvPr>
          <p:cNvSpPr/>
          <p:nvPr/>
        </p:nvSpPr>
        <p:spPr>
          <a:xfrm>
            <a:off x="9698435" y="5445919"/>
            <a:ext cx="251825" cy="571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4BF966-B1F0-42ED-A1C5-9D1C292FA4E1}"/>
              </a:ext>
            </a:extLst>
          </p:cNvPr>
          <p:cNvSpPr/>
          <p:nvPr/>
        </p:nvSpPr>
        <p:spPr>
          <a:xfrm>
            <a:off x="7237365" y="2402930"/>
            <a:ext cx="1098550" cy="2958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68FCB4-1B6C-4619-BDBC-670BDC909C67}"/>
              </a:ext>
            </a:extLst>
          </p:cNvPr>
          <p:cNvSpPr/>
          <p:nvPr/>
        </p:nvSpPr>
        <p:spPr>
          <a:xfrm>
            <a:off x="9416716" y="5445919"/>
            <a:ext cx="251825" cy="571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4EC542B-D375-4257-A330-11BAA7CE372C}"/>
              </a:ext>
            </a:extLst>
          </p:cNvPr>
          <p:cNvSpPr/>
          <p:nvPr/>
        </p:nvSpPr>
        <p:spPr>
          <a:xfrm>
            <a:off x="6146800" y="2402930"/>
            <a:ext cx="1098550" cy="2958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D8DD5F9-D1DA-4C9A-9267-8F166798BF16}"/>
              </a:ext>
            </a:extLst>
          </p:cNvPr>
          <p:cNvSpPr/>
          <p:nvPr/>
        </p:nvSpPr>
        <p:spPr>
          <a:xfrm>
            <a:off x="9159135" y="5467921"/>
            <a:ext cx="251825" cy="571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55C28D-1DC2-4589-B9C7-5AA053C712F7}"/>
              </a:ext>
            </a:extLst>
          </p:cNvPr>
          <p:cNvSpPr/>
          <p:nvPr/>
        </p:nvSpPr>
        <p:spPr>
          <a:xfrm>
            <a:off x="5047399" y="2402930"/>
            <a:ext cx="1098550" cy="2958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BBEED6-8269-4690-AB6A-9208E03C6128}"/>
              </a:ext>
            </a:extLst>
          </p:cNvPr>
          <p:cNvSpPr/>
          <p:nvPr/>
        </p:nvSpPr>
        <p:spPr>
          <a:xfrm>
            <a:off x="8871660" y="5467921"/>
            <a:ext cx="251825" cy="571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692BD4-3DDF-450B-A493-7DC4C68EA2CE}"/>
              </a:ext>
            </a:extLst>
          </p:cNvPr>
          <p:cNvSpPr/>
          <p:nvPr/>
        </p:nvSpPr>
        <p:spPr>
          <a:xfrm>
            <a:off x="3936035" y="2414862"/>
            <a:ext cx="1098550" cy="2958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BBC3907-1A46-4ADF-BCAA-3EEAAEC703C4}"/>
              </a:ext>
            </a:extLst>
          </p:cNvPr>
          <p:cNvSpPr/>
          <p:nvPr/>
        </p:nvSpPr>
        <p:spPr>
          <a:xfrm>
            <a:off x="8592220" y="5467921"/>
            <a:ext cx="251825" cy="571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2B5271-6ECB-44DB-A4BC-8E6E4B260082}"/>
              </a:ext>
            </a:extLst>
          </p:cNvPr>
          <p:cNvSpPr/>
          <p:nvPr/>
        </p:nvSpPr>
        <p:spPr>
          <a:xfrm>
            <a:off x="2823820" y="2414862"/>
            <a:ext cx="1098550" cy="2958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D877931-1EE4-4FF1-9DBB-8AC6890B47B6}"/>
              </a:ext>
            </a:extLst>
          </p:cNvPr>
          <p:cNvSpPr/>
          <p:nvPr/>
        </p:nvSpPr>
        <p:spPr>
          <a:xfrm>
            <a:off x="8304745" y="5470149"/>
            <a:ext cx="251825" cy="571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72F278D-39DC-46CF-930A-12EBA0CD98D8}"/>
              </a:ext>
            </a:extLst>
          </p:cNvPr>
          <p:cNvSpPr/>
          <p:nvPr/>
        </p:nvSpPr>
        <p:spPr>
          <a:xfrm>
            <a:off x="1711605" y="2414862"/>
            <a:ext cx="1098550" cy="2958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F71BE7-486E-4DBA-AA15-BF618D198781}"/>
              </a:ext>
            </a:extLst>
          </p:cNvPr>
          <p:cNvSpPr/>
          <p:nvPr/>
        </p:nvSpPr>
        <p:spPr>
          <a:xfrm>
            <a:off x="3571670" y="3928544"/>
            <a:ext cx="251825" cy="571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963B18D-F11D-48F5-8EFB-B4A6FB1B002D}"/>
              </a:ext>
            </a:extLst>
          </p:cNvPr>
          <p:cNvSpPr/>
          <p:nvPr/>
        </p:nvSpPr>
        <p:spPr>
          <a:xfrm>
            <a:off x="9450435" y="1391768"/>
            <a:ext cx="1098550" cy="2958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BD5F50-A786-4811-9E56-0A09C3CB035B}"/>
              </a:ext>
            </a:extLst>
          </p:cNvPr>
          <p:cNvSpPr/>
          <p:nvPr/>
        </p:nvSpPr>
        <p:spPr>
          <a:xfrm>
            <a:off x="3319845" y="3928544"/>
            <a:ext cx="251825" cy="571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DE7399E-11E4-42B0-9244-4D141454AD7C}"/>
              </a:ext>
            </a:extLst>
          </p:cNvPr>
          <p:cNvSpPr/>
          <p:nvPr/>
        </p:nvSpPr>
        <p:spPr>
          <a:xfrm>
            <a:off x="8335915" y="1391768"/>
            <a:ext cx="1098550" cy="2958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8364B57-3871-4644-8647-76EDEE790808}"/>
              </a:ext>
            </a:extLst>
          </p:cNvPr>
          <p:cNvSpPr/>
          <p:nvPr/>
        </p:nvSpPr>
        <p:spPr>
          <a:xfrm>
            <a:off x="3074604" y="3929575"/>
            <a:ext cx="251825" cy="571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D55CA82-8C7A-4536-A805-3CC3DD1359E1}"/>
              </a:ext>
            </a:extLst>
          </p:cNvPr>
          <p:cNvSpPr/>
          <p:nvPr/>
        </p:nvSpPr>
        <p:spPr>
          <a:xfrm>
            <a:off x="7237365" y="1393537"/>
            <a:ext cx="1098550" cy="2958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66658D6-B1B5-4477-A4CD-5789376D365A}"/>
              </a:ext>
            </a:extLst>
          </p:cNvPr>
          <p:cNvSpPr/>
          <p:nvPr/>
        </p:nvSpPr>
        <p:spPr>
          <a:xfrm>
            <a:off x="2810155" y="3928544"/>
            <a:ext cx="251825" cy="571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07120FE-78C3-4EBC-8274-6BF472368FF2}"/>
              </a:ext>
            </a:extLst>
          </p:cNvPr>
          <p:cNvSpPr/>
          <p:nvPr/>
        </p:nvSpPr>
        <p:spPr>
          <a:xfrm>
            <a:off x="6122845" y="1391768"/>
            <a:ext cx="1098550" cy="2958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4D8C186-040B-4A6B-B190-DF683D450257}"/>
              </a:ext>
            </a:extLst>
          </p:cNvPr>
          <p:cNvSpPr/>
          <p:nvPr/>
        </p:nvSpPr>
        <p:spPr>
          <a:xfrm>
            <a:off x="2543687" y="3928544"/>
            <a:ext cx="251825" cy="571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416F8AE-465B-41A0-B3AA-2A5D60A8A2B4}"/>
              </a:ext>
            </a:extLst>
          </p:cNvPr>
          <p:cNvSpPr/>
          <p:nvPr/>
        </p:nvSpPr>
        <p:spPr>
          <a:xfrm>
            <a:off x="5016310" y="1391768"/>
            <a:ext cx="1098550" cy="2958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993719F-3DA8-42E6-A7D7-D4451751597F}"/>
              </a:ext>
            </a:extLst>
          </p:cNvPr>
          <p:cNvSpPr/>
          <p:nvPr/>
        </p:nvSpPr>
        <p:spPr>
          <a:xfrm>
            <a:off x="2257592" y="3928544"/>
            <a:ext cx="251825" cy="571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FEF673A-D19C-4695-83BA-7C150BD9911D}"/>
              </a:ext>
            </a:extLst>
          </p:cNvPr>
          <p:cNvSpPr/>
          <p:nvPr/>
        </p:nvSpPr>
        <p:spPr>
          <a:xfrm>
            <a:off x="3923221" y="1391768"/>
            <a:ext cx="1098550" cy="2958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9246CAC-3047-418B-850E-9494BDEC5141}"/>
              </a:ext>
            </a:extLst>
          </p:cNvPr>
          <p:cNvSpPr/>
          <p:nvPr/>
        </p:nvSpPr>
        <p:spPr>
          <a:xfrm>
            <a:off x="1998445" y="3924902"/>
            <a:ext cx="251825" cy="571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3629FF4-54C4-4987-85B0-BC992EA88558}"/>
              </a:ext>
            </a:extLst>
          </p:cNvPr>
          <p:cNvSpPr/>
          <p:nvPr/>
        </p:nvSpPr>
        <p:spPr>
          <a:xfrm>
            <a:off x="2803497" y="1391768"/>
            <a:ext cx="1098550" cy="2958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62E4BF-B6F9-44A9-AE34-56E3A46FFFBF}"/>
              </a:ext>
            </a:extLst>
          </p:cNvPr>
          <p:cNvSpPr/>
          <p:nvPr/>
        </p:nvSpPr>
        <p:spPr>
          <a:xfrm>
            <a:off x="1684449" y="3924902"/>
            <a:ext cx="251825" cy="5715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16D2D7A-A8EB-4F97-9EDE-0CB81572D723}"/>
              </a:ext>
            </a:extLst>
          </p:cNvPr>
          <p:cNvSpPr/>
          <p:nvPr/>
        </p:nvSpPr>
        <p:spPr>
          <a:xfrm>
            <a:off x="1687437" y="1391768"/>
            <a:ext cx="1098550" cy="2958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58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5"/>
          <p:cNvSpPr>
            <a:spLocks noChangeArrowheads="1"/>
          </p:cNvSpPr>
          <p:nvPr/>
        </p:nvSpPr>
        <p:spPr bwMode="auto">
          <a:xfrm>
            <a:off x="1107495" y="1573119"/>
            <a:ext cx="10042858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latin typeface="+mn-ea"/>
              </a:rPr>
              <a:t>       在位带区中，每个比特都映射到位带别名地址区的一个字，但这是只有最低位（</a:t>
            </a:r>
            <a:r>
              <a:rPr lang="en-US" altLang="zh-CN" sz="2400" dirty="0">
                <a:latin typeface="+mn-ea"/>
              </a:rPr>
              <a:t> LSB </a:t>
            </a:r>
            <a:r>
              <a:rPr lang="zh-CN" altLang="en-US" sz="2400" dirty="0">
                <a:latin typeface="+mn-ea"/>
              </a:rPr>
              <a:t>）有效的字。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当一个位带别名地址被访问时，会先把该地址变换成位带区地址。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对于读操作，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读取位带地址中的一个字</a:t>
            </a:r>
            <a:r>
              <a:rPr lang="zh-CN" altLang="en-US" sz="2400" dirty="0">
                <a:latin typeface="+mn-ea"/>
              </a:rPr>
              <a:t>，再把需要的位右移到</a:t>
            </a:r>
            <a:r>
              <a:rPr lang="en-US" altLang="zh-CN" sz="2400" dirty="0">
                <a:latin typeface="+mn-ea"/>
              </a:rPr>
              <a:t>LSB</a:t>
            </a:r>
            <a:r>
              <a:rPr lang="zh-CN" altLang="en-US" sz="2400" dirty="0">
                <a:latin typeface="+mn-ea"/>
              </a:rPr>
              <a:t>，并把</a:t>
            </a:r>
            <a:r>
              <a:rPr lang="en-US" altLang="zh-CN" sz="2400" dirty="0">
                <a:latin typeface="+mn-ea"/>
              </a:rPr>
              <a:t>LSB </a:t>
            </a:r>
            <a:r>
              <a:rPr lang="zh-CN" altLang="en-US" sz="2400" dirty="0">
                <a:latin typeface="+mn-ea"/>
              </a:rPr>
              <a:t>返回；</a:t>
            </a:r>
            <a:endParaRPr lang="en-US" altLang="zh-CN" sz="2400" dirty="0">
              <a:latin typeface="+mn-ea"/>
            </a:endParaRP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对于写操作，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把需要写的位左移至对应的位序号处</a:t>
            </a:r>
            <a:r>
              <a:rPr lang="zh-CN" altLang="en-US" sz="2400" dirty="0">
                <a:latin typeface="+mn-ea"/>
              </a:rPr>
              <a:t>，然后执行一个原子的“读－改－写”过程。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 位带操作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341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>
            <a:spLocks noChangeArrowheads="1"/>
          </p:cNvSpPr>
          <p:nvPr/>
        </p:nvSpPr>
        <p:spPr bwMode="auto">
          <a:xfrm>
            <a:off x="627797" y="1259085"/>
            <a:ext cx="31598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位带操作优越性</a:t>
            </a:r>
          </a:p>
        </p:txBody>
      </p:sp>
      <p:sp>
        <p:nvSpPr>
          <p:cNvPr id="3" name="矩形 1"/>
          <p:cNvSpPr>
            <a:spLocks noChangeArrowheads="1"/>
          </p:cNvSpPr>
          <p:nvPr/>
        </p:nvSpPr>
        <p:spPr bwMode="auto">
          <a:xfrm>
            <a:off x="1971686" y="2459504"/>
            <a:ext cx="739425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）使代码更简洁</a:t>
            </a:r>
            <a:endParaRPr lang="en-US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         方便对</a:t>
            </a:r>
            <a:r>
              <a:rPr lang="en-US" altLang="zh-CN" sz="2400" b="0" dirty="0">
                <a:latin typeface="+mn-ea"/>
                <a:ea typeface="+mn-ea"/>
              </a:rPr>
              <a:t>GPIO </a:t>
            </a:r>
            <a:r>
              <a:rPr lang="zh-CN" altLang="en-US" sz="2400" b="0" dirty="0">
                <a:latin typeface="+mn-ea"/>
                <a:ea typeface="+mn-ea"/>
              </a:rPr>
              <a:t>的管脚的操作；</a:t>
            </a:r>
            <a:endParaRPr lang="en-US" altLang="zh-CN" sz="2400" b="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         </a:t>
            </a:r>
            <a:r>
              <a:rPr lang="zh-CN" altLang="en-US" sz="2400" b="0" dirty="0">
                <a:latin typeface="+mn-ea"/>
                <a:ea typeface="+mn-ea"/>
              </a:rPr>
              <a:t>简化跳转的判断。</a:t>
            </a:r>
            <a:endParaRPr lang="en-US" altLang="zh-CN" sz="2400" b="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 b="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）用于实现共享资源在任务间的“互锁”访问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 位带操作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6697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6D196CCA-89D7-48A2-8FAA-B8FC91A8B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4527203"/>
            <a:ext cx="8858250" cy="158115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27BADC9-1144-4020-AD83-0D6C0EE36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277" y="1808797"/>
            <a:ext cx="7934325" cy="2752725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27797" y="867196"/>
            <a:ext cx="10610046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：</a:t>
            </a:r>
            <a:r>
              <a:rPr lang="zh-CN" altLang="en-US" sz="2400" b="0" dirty="0">
                <a:latin typeface="+mn-ea"/>
                <a:ea typeface="+mn-ea"/>
              </a:rPr>
              <a:t>将位带区</a:t>
            </a:r>
            <a:r>
              <a:rPr lang="en-US" altLang="zh-CN" sz="2400" b="0" dirty="0">
                <a:latin typeface="+mn-ea"/>
                <a:ea typeface="+mn-ea"/>
              </a:rPr>
              <a:t>0x2000_0000</a:t>
            </a:r>
            <a:r>
              <a:rPr lang="zh-CN" altLang="en-US" sz="2400" dirty="0">
                <a:latin typeface="+mn-ea"/>
                <a:ea typeface="+mn-ea"/>
              </a:rPr>
              <a:t>地址</a:t>
            </a:r>
            <a:r>
              <a:rPr lang="zh-CN" altLang="en-US" sz="2400" b="0" dirty="0">
                <a:latin typeface="+mn-ea"/>
                <a:ea typeface="+mn-ea"/>
              </a:rPr>
              <a:t>的</a:t>
            </a:r>
            <a:r>
              <a:rPr lang="en-US" altLang="zh-CN" sz="2400" b="0" dirty="0">
                <a:latin typeface="+mn-ea"/>
                <a:ea typeface="+mn-ea"/>
              </a:rPr>
              <a:t>bit2</a:t>
            </a:r>
            <a:r>
              <a:rPr lang="zh-CN" altLang="en-US" sz="2400" b="0" dirty="0">
                <a:latin typeface="+mn-ea"/>
                <a:ea typeface="+mn-ea"/>
              </a:rPr>
              <a:t>置</a:t>
            </a:r>
            <a:r>
              <a:rPr lang="zh-CN" altLang="en-US" sz="2400" dirty="0">
                <a:latin typeface="+mn-ea"/>
                <a:ea typeface="+mn-ea"/>
              </a:rPr>
              <a:t>位</a:t>
            </a:r>
            <a:r>
              <a:rPr lang="zh-CN" altLang="en-US" sz="2400" b="0" dirty="0">
                <a:latin typeface="+mn-ea"/>
                <a:ea typeface="+mn-ea"/>
              </a:rPr>
              <a:t>，不使用位带操作和使用位带操作的设置过程，分别如下图所示：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 位带操作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F865F33-48B1-4B0F-BB60-5625EEF22764}"/>
              </a:ext>
            </a:extLst>
          </p:cNvPr>
          <p:cNvSpPr/>
          <p:nvPr/>
        </p:nvSpPr>
        <p:spPr>
          <a:xfrm>
            <a:off x="1972835" y="2219325"/>
            <a:ext cx="1951465" cy="695325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988BB7-93E9-4DB9-8C89-7BED962FE6F6}"/>
              </a:ext>
            </a:extLst>
          </p:cNvPr>
          <p:cNvSpPr/>
          <p:nvPr/>
        </p:nvSpPr>
        <p:spPr>
          <a:xfrm>
            <a:off x="1529704" y="238232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5666D7"/>
                </a:solidFill>
              </a:rPr>
              <a:t>读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4DC252C-B164-44FE-9084-5FFA2C83A441}"/>
              </a:ext>
            </a:extLst>
          </p:cNvPr>
          <p:cNvSpPr/>
          <p:nvPr/>
        </p:nvSpPr>
        <p:spPr>
          <a:xfrm>
            <a:off x="1972835" y="2940685"/>
            <a:ext cx="1951465" cy="695325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3B7A9A-59CA-42BD-A640-852EE939479D}"/>
              </a:ext>
            </a:extLst>
          </p:cNvPr>
          <p:cNvSpPr/>
          <p:nvPr/>
        </p:nvSpPr>
        <p:spPr>
          <a:xfrm>
            <a:off x="1296024" y="3103681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5666D7"/>
                </a:solidFill>
              </a:rPr>
              <a:t>修改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147EBED-6EA9-4E43-86E4-98F479ED1C7E}"/>
              </a:ext>
            </a:extLst>
          </p:cNvPr>
          <p:cNvSpPr/>
          <p:nvPr/>
        </p:nvSpPr>
        <p:spPr>
          <a:xfrm>
            <a:off x="1972835" y="3662045"/>
            <a:ext cx="1951465" cy="695325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ABD12A-9552-47D5-99E4-1D8545A522F6}"/>
              </a:ext>
            </a:extLst>
          </p:cNvPr>
          <p:cNvSpPr/>
          <p:nvPr/>
        </p:nvSpPr>
        <p:spPr>
          <a:xfrm>
            <a:off x="1519544" y="382504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5666D7"/>
                </a:solidFill>
              </a:rPr>
              <a:t>写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7A7AC8F-02CA-4784-98E5-E2A59ED31049}"/>
              </a:ext>
            </a:extLst>
          </p:cNvPr>
          <p:cNvSpPr/>
          <p:nvPr/>
        </p:nvSpPr>
        <p:spPr>
          <a:xfrm>
            <a:off x="4502675" y="2940685"/>
            <a:ext cx="1951465" cy="695325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915C234-4A80-4D4A-A52F-9DAFB6967452}"/>
              </a:ext>
            </a:extLst>
          </p:cNvPr>
          <p:cNvSpPr/>
          <p:nvPr/>
        </p:nvSpPr>
        <p:spPr>
          <a:xfrm>
            <a:off x="6454140" y="2940685"/>
            <a:ext cx="1003300" cy="721360"/>
          </a:xfrm>
          <a:prstGeom prst="ellipse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6C1C7D-EC67-47DD-A784-86B5E1F43226}"/>
              </a:ext>
            </a:extLst>
          </p:cNvPr>
          <p:cNvSpPr/>
          <p:nvPr/>
        </p:nvSpPr>
        <p:spPr>
          <a:xfrm>
            <a:off x="7900818" y="2208229"/>
            <a:ext cx="1941304" cy="695325"/>
          </a:xfrm>
          <a:prstGeom prst="roundRect">
            <a:avLst/>
          </a:prstGeom>
          <a:noFill/>
          <a:ln w="22225">
            <a:solidFill>
              <a:srgbClr val="5666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8224FF3-64E9-4693-8354-CCD786E0B5E2}"/>
              </a:ext>
            </a:extLst>
          </p:cNvPr>
          <p:cNvSpPr/>
          <p:nvPr/>
        </p:nvSpPr>
        <p:spPr>
          <a:xfrm>
            <a:off x="7887751" y="3664284"/>
            <a:ext cx="1941304" cy="695325"/>
          </a:xfrm>
          <a:prstGeom prst="roundRect">
            <a:avLst/>
          </a:prstGeom>
          <a:noFill/>
          <a:ln w="22225">
            <a:solidFill>
              <a:srgbClr val="5666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3A50054-31DF-438B-9F01-89CF0524B6F1}"/>
              </a:ext>
            </a:extLst>
          </p:cNvPr>
          <p:cNvSpPr/>
          <p:nvPr/>
        </p:nvSpPr>
        <p:spPr>
          <a:xfrm>
            <a:off x="6239692" y="4991927"/>
            <a:ext cx="4561840" cy="975360"/>
          </a:xfrm>
          <a:prstGeom prst="rect">
            <a:avLst/>
          </a:prstGeom>
          <a:noFill/>
          <a:ln w="25400">
            <a:solidFill>
              <a:srgbClr val="42E8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19D2B35-5EA8-4751-871C-C8EDD25F2A9B}"/>
              </a:ext>
            </a:extLst>
          </p:cNvPr>
          <p:cNvSpPr/>
          <p:nvPr/>
        </p:nvSpPr>
        <p:spPr>
          <a:xfrm>
            <a:off x="1296024" y="4960252"/>
            <a:ext cx="4561840" cy="1085441"/>
          </a:xfrm>
          <a:prstGeom prst="rect">
            <a:avLst/>
          </a:prstGeom>
          <a:noFill/>
          <a:ln w="25400">
            <a:solidFill>
              <a:srgbClr val="42E8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66EF4F5-2D9D-4BFC-8CFF-F9ECCA52809B}"/>
              </a:ext>
            </a:extLst>
          </p:cNvPr>
          <p:cNvCxnSpPr>
            <a:cxnSpLocks/>
          </p:cNvCxnSpPr>
          <p:nvPr/>
        </p:nvCxnSpPr>
        <p:spPr>
          <a:xfrm flipV="1">
            <a:off x="6648993" y="2310767"/>
            <a:ext cx="953589" cy="684228"/>
          </a:xfrm>
          <a:prstGeom prst="straightConnector1">
            <a:avLst/>
          </a:prstGeom>
          <a:ln w="127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715DB79-2505-4997-B74E-6623911DD523}"/>
              </a:ext>
            </a:extLst>
          </p:cNvPr>
          <p:cNvCxnSpPr>
            <a:cxnSpLocks/>
          </p:cNvCxnSpPr>
          <p:nvPr/>
        </p:nvCxnSpPr>
        <p:spPr>
          <a:xfrm>
            <a:off x="6544489" y="3531506"/>
            <a:ext cx="1121191" cy="7213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75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1" grpId="0" animBg="1"/>
      <p:bldP spid="12" grpId="0"/>
      <p:bldP spid="13" grpId="0" animBg="1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647" y="850900"/>
            <a:ext cx="6762750" cy="528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 位带操作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25A9110-8F41-4DA1-BD29-AD504DFC76C0}"/>
              </a:ext>
            </a:extLst>
          </p:cNvPr>
          <p:cNvSpPr/>
          <p:nvPr/>
        </p:nvSpPr>
        <p:spPr>
          <a:xfrm>
            <a:off x="4728122" y="3316922"/>
            <a:ext cx="901700" cy="447100"/>
          </a:xfrm>
          <a:prstGeom prst="ellipse">
            <a:avLst/>
          </a:prstGeom>
          <a:noFill/>
          <a:ln w="22225">
            <a:solidFill>
              <a:srgbClr val="0408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0F3DEC3-84D9-4FD4-964B-93FA7E2F36E7}"/>
              </a:ext>
            </a:extLst>
          </p:cNvPr>
          <p:cNvSpPr/>
          <p:nvPr/>
        </p:nvSpPr>
        <p:spPr>
          <a:xfrm>
            <a:off x="4625486" y="2646362"/>
            <a:ext cx="1075455" cy="523270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8EFF832-6352-4BE8-ABEA-EC94249636D5}"/>
              </a:ext>
            </a:extLst>
          </p:cNvPr>
          <p:cNvSpPr/>
          <p:nvPr/>
        </p:nvSpPr>
        <p:spPr>
          <a:xfrm>
            <a:off x="5692045" y="3258107"/>
            <a:ext cx="1556613" cy="604150"/>
          </a:xfrm>
          <a:prstGeom prst="ellipse">
            <a:avLst/>
          </a:prstGeom>
          <a:noFill/>
          <a:ln w="22225">
            <a:solidFill>
              <a:srgbClr val="0408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122FB0D-2C8E-428C-B5D9-ECFAA4018A05}"/>
              </a:ext>
            </a:extLst>
          </p:cNvPr>
          <p:cNvSpPr/>
          <p:nvPr/>
        </p:nvSpPr>
        <p:spPr>
          <a:xfrm>
            <a:off x="5712962" y="2565482"/>
            <a:ext cx="1587760" cy="604150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D5F1486-9811-4F3E-9C0D-DB86A7FA65B2}"/>
              </a:ext>
            </a:extLst>
          </p:cNvPr>
          <p:cNvSpPr/>
          <p:nvPr/>
        </p:nvSpPr>
        <p:spPr>
          <a:xfrm>
            <a:off x="6002057" y="4364861"/>
            <a:ext cx="1289390" cy="604150"/>
          </a:xfrm>
          <a:prstGeom prst="ellipse">
            <a:avLst/>
          </a:prstGeom>
          <a:noFill/>
          <a:ln w="22225">
            <a:solidFill>
              <a:srgbClr val="5666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1FBF323-CB3F-4F8F-9CDD-CF0F13F35CF0}"/>
              </a:ext>
            </a:extLst>
          </p:cNvPr>
          <p:cNvSpPr/>
          <p:nvPr/>
        </p:nvSpPr>
        <p:spPr>
          <a:xfrm>
            <a:off x="6357657" y="5332348"/>
            <a:ext cx="984590" cy="463614"/>
          </a:xfrm>
          <a:prstGeom prst="ellipse">
            <a:avLst/>
          </a:prstGeom>
          <a:noFill/>
          <a:ln w="22225">
            <a:solidFill>
              <a:srgbClr val="5666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147439-30CC-451A-85D5-7C319FB96BD3}"/>
              </a:ext>
            </a:extLst>
          </p:cNvPr>
          <p:cNvSpPr/>
          <p:nvPr/>
        </p:nvSpPr>
        <p:spPr>
          <a:xfrm>
            <a:off x="5692046" y="2734796"/>
            <a:ext cx="15985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+mn-ea"/>
              </a:rPr>
              <a:t>置位输出端口</a:t>
            </a:r>
            <a:r>
              <a:rPr lang="en-US" altLang="zh-CN" sz="1400" dirty="0">
                <a:latin typeface="+mn-ea"/>
              </a:rPr>
              <a:t>bit1</a:t>
            </a:r>
            <a:endParaRPr lang="zh-CN" altLang="en-US" sz="1400" dirty="0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B34EC9-6069-480D-861E-B7EEFD0A7978}"/>
              </a:ext>
            </a:extLst>
          </p:cNvPr>
          <p:cNvSpPr/>
          <p:nvPr/>
        </p:nvSpPr>
        <p:spPr>
          <a:xfrm>
            <a:off x="5639983" y="3405445"/>
            <a:ext cx="15985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+mn-ea"/>
              </a:rPr>
              <a:t>清零输出端口</a:t>
            </a:r>
            <a:r>
              <a:rPr lang="en-US" altLang="zh-CN" sz="1400" dirty="0">
                <a:latin typeface="+mn-ea"/>
              </a:rPr>
              <a:t>bit0</a:t>
            </a:r>
            <a:endParaRPr lang="zh-CN" altLang="en-US" sz="1400" dirty="0"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345D338-2A20-4CBE-9E94-4010630776F0}"/>
              </a:ext>
            </a:extLst>
          </p:cNvPr>
          <p:cNvSpPr/>
          <p:nvPr/>
        </p:nvSpPr>
        <p:spPr>
          <a:xfrm>
            <a:off x="6593804" y="3819952"/>
            <a:ext cx="1098498" cy="506941"/>
          </a:xfrm>
          <a:prstGeom prst="ellipse">
            <a:avLst/>
          </a:prstGeom>
          <a:noFill/>
          <a:ln w="22225">
            <a:solidFill>
              <a:srgbClr val="5666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0ED90E-FCB6-4DC6-A172-303007A3C97B}"/>
              </a:ext>
            </a:extLst>
          </p:cNvPr>
          <p:cNvSpPr/>
          <p:nvPr/>
        </p:nvSpPr>
        <p:spPr>
          <a:xfrm>
            <a:off x="7626920" y="929321"/>
            <a:ext cx="2168502" cy="52079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7307E5C-9211-416D-B1E4-06BB7566D307}"/>
              </a:ext>
            </a:extLst>
          </p:cNvPr>
          <p:cNvSpPr/>
          <p:nvPr/>
        </p:nvSpPr>
        <p:spPr>
          <a:xfrm>
            <a:off x="9268226" y="5310684"/>
            <a:ext cx="527196" cy="506941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7EC07DC-832C-4D0C-8E08-82EA6C035521}"/>
              </a:ext>
            </a:extLst>
          </p:cNvPr>
          <p:cNvSpPr/>
          <p:nvPr/>
        </p:nvSpPr>
        <p:spPr>
          <a:xfrm>
            <a:off x="9858022" y="5289021"/>
            <a:ext cx="527196" cy="506941"/>
          </a:xfrm>
          <a:prstGeom prst="ellipse">
            <a:avLst/>
          </a:prstGeom>
          <a:noFill/>
          <a:ln w="22225">
            <a:solidFill>
              <a:srgbClr val="5666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515D4C-6629-4649-9C44-8CE3C81FEC0C}"/>
              </a:ext>
            </a:extLst>
          </p:cNvPr>
          <p:cNvSpPr/>
          <p:nvPr/>
        </p:nvSpPr>
        <p:spPr>
          <a:xfrm>
            <a:off x="505347" y="1138274"/>
            <a:ext cx="42227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：</a:t>
            </a:r>
            <a:r>
              <a:rPr lang="zh-CN" altLang="en-US" sz="2400" dirty="0">
                <a:latin typeface="+mn-ea"/>
              </a:rPr>
              <a:t>不使用位带操作的两个任务对同一个输出端口</a:t>
            </a:r>
            <a:r>
              <a:rPr lang="zh-CN" altLang="en-US" sz="2400" dirty="0"/>
              <a:t>的访问</a:t>
            </a:r>
          </a:p>
        </p:txBody>
      </p:sp>
      <p:sp>
        <p:nvSpPr>
          <p:cNvPr id="21" name="矩形 10"/>
          <p:cNvSpPr>
            <a:spLocks noChangeArrowheads="1"/>
          </p:cNvSpPr>
          <p:nvPr/>
        </p:nvSpPr>
        <p:spPr bwMode="auto">
          <a:xfrm>
            <a:off x="505347" y="2587471"/>
            <a:ext cx="3985337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目的是将输出端口由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000000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变成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000000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位清零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的读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改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写被中断打断，虽然中断将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，但被写回的数据覆盖，最后变成了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000000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923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482" y="1028700"/>
            <a:ext cx="7000875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 位带操作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14E95CD-1C3B-4BA0-B35D-9FDF17BA8FAA}"/>
              </a:ext>
            </a:extLst>
          </p:cNvPr>
          <p:cNvSpPr/>
          <p:nvPr/>
        </p:nvSpPr>
        <p:spPr>
          <a:xfrm>
            <a:off x="4667867" y="3179048"/>
            <a:ext cx="901700" cy="447100"/>
          </a:xfrm>
          <a:prstGeom prst="ellipse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5D760B9-A5EF-4A86-BA2D-2AF838E77732}"/>
              </a:ext>
            </a:extLst>
          </p:cNvPr>
          <p:cNvSpPr/>
          <p:nvPr/>
        </p:nvSpPr>
        <p:spPr>
          <a:xfrm>
            <a:off x="4254093" y="2442743"/>
            <a:ext cx="1075455" cy="523270"/>
          </a:xfrm>
          <a:prstGeom prst="ellipse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069DD32-51E1-494F-8218-4F0AD0CB3342}"/>
              </a:ext>
            </a:extLst>
          </p:cNvPr>
          <p:cNvSpPr/>
          <p:nvPr/>
        </p:nvSpPr>
        <p:spPr>
          <a:xfrm>
            <a:off x="5769082" y="5108193"/>
            <a:ext cx="796165" cy="433134"/>
          </a:xfrm>
          <a:prstGeom prst="ellipse">
            <a:avLst/>
          </a:prstGeom>
          <a:noFill/>
          <a:ln w="22225">
            <a:solidFill>
              <a:srgbClr val="5666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27517E9-9399-4F60-A07A-B4F5D0E4A057}"/>
              </a:ext>
            </a:extLst>
          </p:cNvPr>
          <p:cNvSpPr/>
          <p:nvPr/>
        </p:nvSpPr>
        <p:spPr>
          <a:xfrm>
            <a:off x="7585987" y="5109506"/>
            <a:ext cx="796165" cy="433134"/>
          </a:xfrm>
          <a:prstGeom prst="ellipse">
            <a:avLst/>
          </a:prstGeom>
          <a:noFill/>
          <a:ln w="22225">
            <a:solidFill>
              <a:srgbClr val="5666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BCF6AA4-36D9-4D09-8EC5-269F8D55CD6F}"/>
              </a:ext>
            </a:extLst>
          </p:cNvPr>
          <p:cNvSpPr/>
          <p:nvPr/>
        </p:nvSpPr>
        <p:spPr>
          <a:xfrm>
            <a:off x="9402892" y="5108193"/>
            <a:ext cx="796165" cy="433134"/>
          </a:xfrm>
          <a:prstGeom prst="ellipse">
            <a:avLst/>
          </a:prstGeom>
          <a:noFill/>
          <a:ln w="22225">
            <a:solidFill>
              <a:srgbClr val="5666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FD8E8E-DDA5-47BB-9044-775A17E44520}"/>
              </a:ext>
            </a:extLst>
          </p:cNvPr>
          <p:cNvSpPr/>
          <p:nvPr/>
        </p:nvSpPr>
        <p:spPr>
          <a:xfrm>
            <a:off x="438533" y="1068378"/>
            <a:ext cx="41139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：</a:t>
            </a:r>
            <a:r>
              <a:rPr lang="zh-CN" altLang="en-US" sz="2400" dirty="0">
                <a:latin typeface="+mn-ea"/>
              </a:rPr>
              <a:t>使用位带操作的两个任务对同一个输出端口</a:t>
            </a:r>
            <a:r>
              <a:rPr lang="zh-CN" altLang="en-US" sz="2400" dirty="0"/>
              <a:t>的访问</a:t>
            </a:r>
          </a:p>
        </p:txBody>
      </p:sp>
    </p:spTree>
    <p:extLst>
      <p:ext uri="{BB962C8B-B14F-4D97-AF65-F5344CB8AC3E}">
        <p14:creationId xmlns:p14="http://schemas.microsoft.com/office/powerpoint/2010/main" val="1006326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6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6066" y="3216511"/>
            <a:ext cx="5072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2E6E0"/>
                </a:solidFill>
              </a:rPr>
              <a:t>位带地址映射与位带操作实例</a:t>
            </a:r>
            <a:endParaRPr lang="en-US" altLang="zh-CN" sz="2800" b="1" dirty="0">
              <a:solidFill>
                <a:srgbClr val="42E6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764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13898" y="990792"/>
            <a:ext cx="53115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108585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位带区与位带别名区       </a:t>
            </a:r>
            <a:endParaRPr lang="en-US" altLang="zh-CN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位带地址映射与位带操作实例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5638E0-B934-4F79-A764-747A0EFD8BC3}"/>
              </a:ext>
            </a:extLst>
          </p:cNvPr>
          <p:cNvSpPr/>
          <p:nvPr/>
        </p:nvSpPr>
        <p:spPr>
          <a:xfrm>
            <a:off x="1343608" y="1710035"/>
            <a:ext cx="9486317" cy="883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400" dirty="0">
                <a:latin typeface="+mn-ea"/>
              </a:rPr>
              <a:t>       位带区是支持位带操作的地址区域，对位带别名地址的访问最终作用到对位带区的访问。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BE1219-6955-4CB2-86ED-39D467538B8D}"/>
              </a:ext>
            </a:extLst>
          </p:cNvPr>
          <p:cNvSpPr/>
          <p:nvPr/>
        </p:nvSpPr>
        <p:spPr>
          <a:xfrm>
            <a:off x="7170837" y="597820"/>
            <a:ext cx="4715728" cy="47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ts val="3200"/>
              </a:lnSpc>
              <a:spcAft>
                <a:spcPts val="0"/>
              </a:spcAft>
            </a:pPr>
            <a:r>
              <a:rPr lang="en-US" altLang="zh-CN" sz="2400" kern="0" dirty="0">
                <a:latin typeface="+mn-ea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029EA5-F173-43B3-B986-892CE413069A}"/>
              </a:ext>
            </a:extLst>
          </p:cNvPr>
          <p:cNvSpPr/>
          <p:nvPr/>
        </p:nvSpPr>
        <p:spPr>
          <a:xfrm>
            <a:off x="6096000" y="1128026"/>
            <a:ext cx="4953000" cy="1704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ts val="3200"/>
              </a:lnSpc>
              <a:spcAft>
                <a:spcPts val="0"/>
              </a:spcAft>
            </a:pPr>
            <a:r>
              <a:rPr lang="en-US" altLang="zh-CN" sz="2400" kern="0" dirty="0">
                <a:latin typeface="+mn-ea"/>
                <a:cs typeface="Times New Roman" panose="02020603050405020304" pitchFamily="18" charset="0"/>
              </a:rPr>
              <a:t> </a:t>
            </a:r>
          </a:p>
          <a:p>
            <a:pPr indent="266700" algn="just">
              <a:lnSpc>
                <a:spcPts val="3200"/>
              </a:lnSpc>
              <a:spcAft>
                <a:spcPts val="0"/>
              </a:spcAft>
            </a:pPr>
            <a:endParaRPr lang="en-US" altLang="zh-CN" sz="2400" kern="0" dirty="0">
              <a:latin typeface="+mn-ea"/>
              <a:cs typeface="Times New Roman" panose="02020603050405020304" pitchFamily="18" charset="0"/>
            </a:endParaRPr>
          </a:p>
          <a:p>
            <a:pPr indent="266700" algn="just">
              <a:lnSpc>
                <a:spcPts val="3200"/>
              </a:lnSpc>
              <a:spcAft>
                <a:spcPts val="0"/>
              </a:spcAft>
            </a:pPr>
            <a:endParaRPr lang="en-US" altLang="zh-CN" sz="2400" kern="0" dirty="0">
              <a:latin typeface="+mn-ea"/>
              <a:cs typeface="Times New Roman" panose="02020603050405020304" pitchFamily="18" charset="0"/>
            </a:endParaRPr>
          </a:p>
          <a:p>
            <a:pPr indent="266700" algn="just">
              <a:lnSpc>
                <a:spcPts val="3200"/>
              </a:lnSpc>
              <a:spcAft>
                <a:spcPts val="0"/>
              </a:spcAft>
            </a:pPr>
            <a:r>
              <a:rPr lang="en-US" altLang="zh-CN" sz="2400" kern="0" dirty="0">
                <a:latin typeface="+mn-ea"/>
                <a:cs typeface="Times New Roman" panose="02020603050405020304" pitchFamily="18" charset="0"/>
              </a:rPr>
              <a:t> </a:t>
            </a:r>
            <a:endParaRPr lang="zh-CN" altLang="zh-CN" sz="2400" kern="100" dirty="0">
              <a:latin typeface="+mn-ea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B2F8C3B-4D1B-4EC8-BBBA-A6C393CBF530}"/>
              </a:ext>
            </a:extLst>
          </p:cNvPr>
          <p:cNvCxnSpPr/>
          <p:nvPr/>
        </p:nvCxnSpPr>
        <p:spPr>
          <a:xfrm>
            <a:off x="5271135" y="3810635"/>
            <a:ext cx="1543050" cy="0"/>
          </a:xfrm>
          <a:prstGeom prst="straightConnector1">
            <a:avLst/>
          </a:prstGeom>
          <a:ln w="31750">
            <a:solidFill>
              <a:srgbClr val="0000C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BCE623F-BF8B-432A-B9E6-FA2C1A70C591}"/>
              </a:ext>
            </a:extLst>
          </p:cNvPr>
          <p:cNvCxnSpPr/>
          <p:nvPr/>
        </p:nvCxnSpPr>
        <p:spPr>
          <a:xfrm>
            <a:off x="5271135" y="4735195"/>
            <a:ext cx="1543050" cy="0"/>
          </a:xfrm>
          <a:prstGeom prst="straightConnector1">
            <a:avLst/>
          </a:prstGeom>
          <a:ln w="31750">
            <a:solidFill>
              <a:srgbClr val="0000C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7069EAB-7C89-4BC7-8676-E3850924FF6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69708" y="2985315"/>
          <a:ext cx="4521200" cy="226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1200">
                  <a:extLst>
                    <a:ext uri="{9D8B030D-6E8A-4147-A177-3AD203B41FA5}">
                      <a16:colId xmlns:a16="http://schemas.microsoft.com/office/drawing/2014/main" val="1626224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支持位带操作的内存区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893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0x2000_0000</a:t>
                      </a:r>
                      <a:r>
                        <a:rPr lang="zh-CN" altLang="zh-CN" sz="2400" kern="0" dirty="0">
                          <a:latin typeface="+mn-ea"/>
                          <a:cs typeface="宋体" panose="02010600030101010101" pitchFamily="2" charset="-122"/>
                        </a:rPr>
                        <a:t>‐</a:t>
                      </a:r>
                      <a:r>
                        <a:rPr lang="en-US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0x200F_FFFF</a:t>
                      </a:r>
                    </a:p>
                    <a:p>
                      <a:pPr indent="26670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SRAM</a:t>
                      </a:r>
                      <a:r>
                        <a:rPr lang="zh-CN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区中的最低</a:t>
                      </a:r>
                      <a:r>
                        <a:rPr lang="en-US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1MB</a:t>
                      </a:r>
                      <a:r>
                        <a:rPr lang="zh-CN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）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88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0x4000_0000</a:t>
                      </a:r>
                      <a:r>
                        <a:rPr lang="zh-CN" altLang="zh-CN" sz="2400" kern="0" dirty="0">
                          <a:latin typeface="+mn-ea"/>
                          <a:cs typeface="宋体" panose="02010600030101010101" pitchFamily="2" charset="-122"/>
                        </a:rPr>
                        <a:t>‐</a:t>
                      </a:r>
                      <a:r>
                        <a:rPr lang="en-US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0x400F_FFFF</a:t>
                      </a:r>
                    </a:p>
                    <a:p>
                      <a:pPr indent="26670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（片上外设区中的最低</a:t>
                      </a:r>
                      <a:r>
                        <a:rPr lang="en-US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1MB</a:t>
                      </a:r>
                      <a:r>
                        <a:rPr lang="zh-CN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）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575589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D68F10BD-EA0F-406E-BF8B-3DBE74B9784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842760" y="2971365"/>
          <a:ext cx="4521200" cy="2221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1200">
                  <a:extLst>
                    <a:ext uri="{9D8B030D-6E8A-4147-A177-3AD203B41FA5}">
                      <a16:colId xmlns:a16="http://schemas.microsoft.com/office/drawing/2014/main" val="1626224492"/>
                    </a:ext>
                  </a:extLst>
                </a:gridCol>
              </a:tblGrid>
              <a:tr h="504334">
                <a:tc>
                  <a:txBody>
                    <a:bodyPr/>
                    <a:lstStyle/>
                    <a:p>
                      <a:pPr indent="266700" algn="ctr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400" kern="0" dirty="0">
                          <a:latin typeface="+mn-ea"/>
                          <a:cs typeface="Times New Roman" panose="02020603050405020304" pitchFamily="18" charset="0"/>
                        </a:rPr>
                        <a:t>对应的位带别名区</a:t>
                      </a:r>
                      <a:endParaRPr lang="en-US" altLang="zh-CN" sz="2400" kern="0" dirty="0">
                        <a:latin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893076"/>
                  </a:ext>
                </a:extLst>
              </a:tr>
              <a:tr h="931784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0x2200_0000</a:t>
                      </a:r>
                      <a:r>
                        <a:rPr lang="zh-CN" altLang="zh-CN" sz="2400" kern="0" dirty="0">
                          <a:latin typeface="+mn-ea"/>
                          <a:cs typeface="宋体" panose="02010600030101010101" pitchFamily="2" charset="-122"/>
                        </a:rPr>
                        <a:t>‐</a:t>
                      </a:r>
                      <a:r>
                        <a:rPr lang="en-US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0x23FF_FFFF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288242"/>
                  </a:ext>
                </a:extLst>
              </a:tr>
              <a:tr h="785344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0x4200_0000</a:t>
                      </a:r>
                      <a:r>
                        <a:rPr lang="zh-CN" altLang="zh-CN" sz="2400" kern="0" dirty="0">
                          <a:latin typeface="+mn-ea"/>
                          <a:cs typeface="宋体" panose="02010600030101010101" pitchFamily="2" charset="-122"/>
                        </a:rPr>
                        <a:t>‐</a:t>
                      </a:r>
                      <a:r>
                        <a:rPr lang="en-US" altLang="zh-CN" sz="2400" kern="0" dirty="0">
                          <a:latin typeface="+mn-ea"/>
                          <a:cs typeface="Times New Roman" panose="02020603050405020304" pitchFamily="18" charset="0"/>
                        </a:rPr>
                        <a:t>0x43FF_FFFF</a:t>
                      </a:r>
                      <a:endParaRPr lang="zh-CN" altLang="en-US" sz="2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9575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99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2878FA3-FFB3-4BA4-9C14-86E4016BBE5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33998" y="1722568"/>
          <a:ext cx="5201920" cy="402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7920">
                  <a:extLst>
                    <a:ext uri="{9D8B030D-6E8A-4147-A177-3AD203B41FA5}">
                      <a16:colId xmlns:a16="http://schemas.microsoft.com/office/drawing/2014/main" val="789250702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41806485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</a:rPr>
                        <a:t>位带区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0" dirty="0">
                          <a:effectLst/>
                        </a:rPr>
                        <a:t>对应</a:t>
                      </a:r>
                      <a:r>
                        <a:rPr lang="zh-CN" sz="2400" kern="0" dirty="0">
                          <a:effectLst/>
                        </a:rPr>
                        <a:t>的别名</a:t>
                      </a:r>
                      <a:r>
                        <a:rPr lang="zh-CN" altLang="en-US" sz="2400" kern="0" dirty="0">
                          <a:effectLst/>
                        </a:rPr>
                        <a:t>区</a:t>
                      </a:r>
                      <a:r>
                        <a:rPr lang="zh-CN" sz="2400" kern="0" dirty="0">
                          <a:effectLst/>
                        </a:rPr>
                        <a:t>地址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79783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</a:rPr>
                        <a:t>0x20000000.0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</a:rPr>
                        <a:t>0x22000000.0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23474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</a:rPr>
                        <a:t>0x20000000.1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</a:rPr>
                        <a:t>0x22000004.0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0110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</a:rPr>
                        <a:t>0x20000000.2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</a:rPr>
                        <a:t>0x22000008.0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96814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……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……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07348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0x20000000.31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0x2200007C.0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3909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</a:rPr>
                        <a:t>0x20000004.0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0x22000080.0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8566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0x20000004.1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0x22000084.0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2670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0x20000004.2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0x22000088.0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01479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</a:rPr>
                        <a:t>……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</a:rPr>
                        <a:t>……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3035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0x200FFFFC.31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</a:rPr>
                        <a:t>0x23FFFFFC.0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63819718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F9D2D574-F999-413D-96DC-62FDE89A0854}"/>
              </a:ext>
            </a:extLst>
          </p:cNvPr>
          <p:cNvSpPr/>
          <p:nvPr/>
        </p:nvSpPr>
        <p:spPr>
          <a:xfrm>
            <a:off x="1133178" y="1105468"/>
            <a:ext cx="38507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SRAM</a:t>
            </a:r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区中的位带地址映射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63DCA80-496C-4011-AB49-805BD5764C5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128532" y="1722568"/>
          <a:ext cx="5564346" cy="402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17946">
                  <a:extLst>
                    <a:ext uri="{9D8B030D-6E8A-4147-A177-3AD203B41FA5}">
                      <a16:colId xmlns:a16="http://schemas.microsoft.com/office/drawing/2014/main" val="3013504035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1766557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</a:rPr>
                        <a:t>位带区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0" dirty="0">
                          <a:effectLst/>
                        </a:rPr>
                        <a:t>对应</a:t>
                      </a:r>
                      <a:r>
                        <a:rPr lang="zh-CN" sz="2400" kern="0" dirty="0">
                          <a:effectLst/>
                        </a:rPr>
                        <a:t>的别名</a:t>
                      </a:r>
                      <a:r>
                        <a:rPr lang="zh-CN" altLang="en-US" sz="2400" kern="0" dirty="0">
                          <a:effectLst/>
                        </a:rPr>
                        <a:t>区</a:t>
                      </a:r>
                      <a:r>
                        <a:rPr lang="zh-CN" sz="2400" kern="0" dirty="0">
                          <a:effectLst/>
                        </a:rPr>
                        <a:t>地址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3560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0x40000000.0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0x42000000.0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92457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0x40000000.1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0x42000004.0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9415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0x40000000.2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0x42000008.0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4338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</a:rPr>
                        <a:t>……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……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58497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0x40000000.31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0x4200007C.0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0949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0x40000004.0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0x42000080.0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7533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0x40000004.1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0x42000084.0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2238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0x40000004.2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0x42000088.0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96487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</a:rPr>
                        <a:t>……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</a:rPr>
                        <a:t>……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1631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</a:rPr>
                        <a:t>0x400FFFFC.31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</a:rPr>
                        <a:t>0x43FFFFFC.0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60659602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66E5E4E4-6189-4276-A74E-72D5E3B62DB5}"/>
              </a:ext>
            </a:extLst>
          </p:cNvPr>
          <p:cNvSpPr/>
          <p:nvPr/>
        </p:nvSpPr>
        <p:spPr>
          <a:xfrm>
            <a:off x="6890817" y="1105468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latin typeface="+mn-ea"/>
                <a:cs typeface="Times New Roman" panose="02020603050405020304" pitchFamily="18" charset="0"/>
              </a:rPr>
              <a:t>片上外设区中的位带地址映射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F67745-96F8-48AB-981F-510BA95894FF}"/>
              </a:ext>
            </a:extLst>
          </p:cNvPr>
          <p:cNvSpPr/>
          <p:nvPr/>
        </p:nvSpPr>
        <p:spPr>
          <a:xfrm>
            <a:off x="4885678" y="2077534"/>
            <a:ext cx="386080" cy="3668394"/>
          </a:xfrm>
          <a:prstGeom prst="rect">
            <a:avLst/>
          </a:prstGeom>
          <a:noFill/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0F326C-6C8A-473C-9222-315A4C9EBACF}"/>
              </a:ext>
            </a:extLst>
          </p:cNvPr>
          <p:cNvSpPr/>
          <p:nvPr/>
        </p:nvSpPr>
        <p:spPr>
          <a:xfrm>
            <a:off x="333998" y="2828820"/>
            <a:ext cx="5201920" cy="31043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B7C30D-2355-4208-A889-E824366B2E94}"/>
              </a:ext>
            </a:extLst>
          </p:cNvPr>
          <p:cNvSpPr/>
          <p:nvPr/>
        </p:nvSpPr>
        <p:spPr>
          <a:xfrm>
            <a:off x="333998" y="3935072"/>
            <a:ext cx="5201920" cy="31043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8B294A-9D45-4BE4-9897-0E6F03F6385E}"/>
              </a:ext>
            </a:extLst>
          </p:cNvPr>
          <p:cNvSpPr/>
          <p:nvPr/>
        </p:nvSpPr>
        <p:spPr>
          <a:xfrm>
            <a:off x="10974978" y="2072771"/>
            <a:ext cx="386080" cy="3668394"/>
          </a:xfrm>
          <a:prstGeom prst="rect">
            <a:avLst/>
          </a:prstGeom>
          <a:noFill/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404D1E-5BC1-485C-856E-1AAAE533E609}"/>
              </a:ext>
            </a:extLst>
          </p:cNvPr>
          <p:cNvSpPr/>
          <p:nvPr/>
        </p:nvSpPr>
        <p:spPr>
          <a:xfrm>
            <a:off x="6159138" y="2467586"/>
            <a:ext cx="5533740" cy="3409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A260C8-4E86-4E53-9873-9F7FFE8F4CD4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位带地址映射与位带操作实例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hdmi_130129">
            <a:extLst>
              <a:ext uri="{FF2B5EF4-FFF2-40B4-BE49-F238E27FC236}">
                <a16:creationId xmlns:a16="http://schemas.microsoft.com/office/drawing/2014/main" id="{0FC03B1D-416F-4A34-91DB-07E77CF8D48E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968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7B0CAFC-F212-4A27-BB1C-78200BDBF3B8}"/>
              </a:ext>
            </a:extLst>
          </p:cNvPr>
          <p:cNvSpPr/>
          <p:nvPr/>
        </p:nvSpPr>
        <p:spPr>
          <a:xfrm>
            <a:off x="2028825" y="3462040"/>
            <a:ext cx="7791450" cy="883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400" kern="0" dirty="0">
                <a:latin typeface="+mn-ea"/>
              </a:rPr>
              <a:t>别名区地址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＝</a:t>
            </a:r>
            <a:r>
              <a:rPr lang="en-US" altLang="zh-CN" sz="2400" kern="0" dirty="0">
                <a:latin typeface="+mn-ea"/>
              </a:rPr>
              <a:t>0x22000000+((</a:t>
            </a:r>
            <a:r>
              <a:rPr lang="en-US" altLang="zh-CN" sz="2400" b="1" kern="0" dirty="0">
                <a:solidFill>
                  <a:srgbClr val="FF0000"/>
                </a:solidFill>
                <a:latin typeface="+mn-ea"/>
              </a:rPr>
              <a:t>A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‐</a:t>
            </a:r>
            <a:r>
              <a:rPr lang="en-US" altLang="zh-CN" sz="2400" kern="0" dirty="0">
                <a:latin typeface="+mn-ea"/>
              </a:rPr>
              <a:t>0x20000000)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×</a:t>
            </a:r>
            <a:r>
              <a:rPr lang="en-US" altLang="zh-CN" sz="2400" kern="0" dirty="0">
                <a:latin typeface="+mn-ea"/>
                <a:cs typeface="Times New Roman" panose="02020603050405020304" pitchFamily="18" charset="0"/>
              </a:rPr>
              <a:t>8</a:t>
            </a:r>
            <a:r>
              <a:rPr lang="en-US" altLang="zh-CN" sz="2400" kern="0" dirty="0">
                <a:latin typeface="+mn-ea"/>
              </a:rPr>
              <a:t>+</a:t>
            </a:r>
            <a:r>
              <a:rPr lang="en-US" altLang="zh-CN" sz="2400" b="1" kern="0" dirty="0">
                <a:solidFill>
                  <a:srgbClr val="FF0000"/>
                </a:solidFill>
                <a:latin typeface="+mn-ea"/>
              </a:rPr>
              <a:t>n</a:t>
            </a:r>
            <a:r>
              <a:rPr lang="en-US" altLang="zh-CN" sz="2400" kern="0" dirty="0">
                <a:latin typeface="+mn-ea"/>
              </a:rPr>
              <a:t>)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×</a:t>
            </a:r>
            <a:r>
              <a:rPr lang="en-US" altLang="zh-CN" sz="2400" kern="0" dirty="0">
                <a:latin typeface="+mn-ea"/>
              </a:rPr>
              <a:t>4</a:t>
            </a:r>
          </a:p>
          <a:p>
            <a:pPr>
              <a:lnSpc>
                <a:spcPts val="3200"/>
              </a:lnSpc>
            </a:pPr>
            <a:r>
              <a:rPr lang="en-US" altLang="zh-CN" sz="2400" kern="0" dirty="0">
                <a:latin typeface="+mn-ea"/>
              </a:rPr>
              <a:t>                 =0x22000000+(</a:t>
            </a:r>
            <a:r>
              <a:rPr lang="en-US" altLang="zh-CN" sz="2400" b="1" kern="0" dirty="0">
                <a:solidFill>
                  <a:srgbClr val="FF0000"/>
                </a:solidFill>
                <a:latin typeface="+mn-ea"/>
              </a:rPr>
              <a:t>A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‐</a:t>
            </a:r>
            <a:r>
              <a:rPr lang="en-US" altLang="zh-CN" sz="2400" kern="0" dirty="0">
                <a:latin typeface="+mn-ea"/>
              </a:rPr>
              <a:t>0x20000000)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×</a:t>
            </a:r>
            <a:r>
              <a:rPr lang="en-US" altLang="zh-CN" sz="2400" kern="0" dirty="0">
                <a:latin typeface="+mn-ea"/>
              </a:rPr>
              <a:t>32+</a:t>
            </a:r>
            <a:r>
              <a:rPr lang="en-US" altLang="zh-CN" sz="2400" b="1" kern="0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×</a:t>
            </a:r>
            <a:r>
              <a:rPr lang="en-US" altLang="zh-CN" sz="2400" kern="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213A6B-35BC-4F3A-BF15-C645799F9EE6}"/>
              </a:ext>
            </a:extLst>
          </p:cNvPr>
          <p:cNvSpPr/>
          <p:nvPr/>
        </p:nvSpPr>
        <p:spPr>
          <a:xfrm>
            <a:off x="2028824" y="4984433"/>
            <a:ext cx="8639175" cy="883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400" kern="0" dirty="0">
                <a:latin typeface="+mn-ea"/>
              </a:rPr>
              <a:t>别名区地址</a:t>
            </a:r>
            <a:r>
              <a:rPr lang="zh-CN" altLang="zh-CN" sz="2400" kern="0" dirty="0">
                <a:latin typeface="+mn-ea"/>
              </a:rPr>
              <a:t>＝</a:t>
            </a:r>
            <a:r>
              <a:rPr lang="en-US" altLang="zh-CN" sz="2400" kern="0" dirty="0">
                <a:latin typeface="+mn-ea"/>
              </a:rPr>
              <a:t>0x42000000+((</a:t>
            </a:r>
            <a:r>
              <a:rPr lang="en-US" altLang="zh-CN" sz="2400" b="1" kern="0" dirty="0">
                <a:solidFill>
                  <a:srgbClr val="FF0000"/>
                </a:solidFill>
                <a:latin typeface="+mn-ea"/>
              </a:rPr>
              <a:t>A</a:t>
            </a:r>
            <a:r>
              <a:rPr lang="zh-CN" altLang="zh-CN" sz="2400" kern="0" dirty="0">
                <a:latin typeface="+mn-ea"/>
              </a:rPr>
              <a:t>‐</a:t>
            </a:r>
            <a:r>
              <a:rPr lang="en-US" altLang="zh-CN" sz="2400" kern="0" dirty="0">
                <a:latin typeface="+mn-ea"/>
              </a:rPr>
              <a:t>0x40000000)</a:t>
            </a:r>
            <a:r>
              <a:rPr lang="zh-CN" altLang="zh-CN" sz="2400" kern="0" dirty="0">
                <a:latin typeface="+mn-ea"/>
              </a:rPr>
              <a:t>×</a:t>
            </a:r>
            <a:r>
              <a:rPr lang="en-US" altLang="zh-CN" sz="2400" kern="0" dirty="0">
                <a:latin typeface="+mn-ea"/>
              </a:rPr>
              <a:t>8+</a:t>
            </a:r>
            <a:r>
              <a:rPr lang="en-US" altLang="zh-CN" sz="2400" b="1" kern="0" dirty="0">
                <a:solidFill>
                  <a:srgbClr val="FF0000"/>
                </a:solidFill>
                <a:latin typeface="+mn-ea"/>
              </a:rPr>
              <a:t>n</a:t>
            </a:r>
            <a:r>
              <a:rPr lang="en-US" altLang="zh-CN" sz="2400" kern="0" dirty="0">
                <a:latin typeface="+mn-ea"/>
              </a:rPr>
              <a:t>)</a:t>
            </a:r>
            <a:r>
              <a:rPr lang="zh-CN" altLang="zh-CN" sz="2400" kern="0" dirty="0">
                <a:latin typeface="+mn-ea"/>
              </a:rPr>
              <a:t>×</a:t>
            </a:r>
            <a:r>
              <a:rPr lang="en-US" altLang="zh-CN" sz="2400" kern="0" dirty="0">
                <a:latin typeface="+mn-ea"/>
              </a:rPr>
              <a:t>4</a:t>
            </a:r>
          </a:p>
          <a:p>
            <a:pPr>
              <a:lnSpc>
                <a:spcPts val="3200"/>
              </a:lnSpc>
            </a:pPr>
            <a:r>
              <a:rPr lang="en-US" altLang="zh-CN" sz="2400" kern="0" dirty="0">
                <a:latin typeface="+mn-ea"/>
              </a:rPr>
              <a:t>                 =0x42000000+(</a:t>
            </a:r>
            <a:r>
              <a:rPr lang="en-US" altLang="zh-CN" sz="2400" b="1" kern="0" dirty="0">
                <a:solidFill>
                  <a:srgbClr val="FF0000"/>
                </a:solidFill>
                <a:latin typeface="+mn-ea"/>
              </a:rPr>
              <a:t>A</a:t>
            </a:r>
            <a:r>
              <a:rPr lang="zh-CN" altLang="zh-CN" sz="2400" kern="0" dirty="0">
                <a:latin typeface="+mn-ea"/>
              </a:rPr>
              <a:t>‐</a:t>
            </a:r>
            <a:r>
              <a:rPr lang="en-US" altLang="zh-CN" sz="2400" kern="0" dirty="0">
                <a:latin typeface="+mn-ea"/>
              </a:rPr>
              <a:t>0x40000000)</a:t>
            </a:r>
            <a:r>
              <a:rPr lang="zh-CN" altLang="zh-CN" sz="2400" kern="0" dirty="0">
                <a:latin typeface="+mn-ea"/>
              </a:rPr>
              <a:t>×</a:t>
            </a:r>
            <a:r>
              <a:rPr lang="en-US" altLang="zh-CN" sz="2400" kern="0" dirty="0">
                <a:latin typeface="+mn-ea"/>
              </a:rPr>
              <a:t>32+</a:t>
            </a:r>
            <a:r>
              <a:rPr lang="en-US" altLang="zh-CN" sz="2400" b="1" kern="0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zh-CN" sz="2400" kern="0" dirty="0">
                <a:latin typeface="+mn-ea"/>
              </a:rPr>
              <a:t>×</a:t>
            </a:r>
            <a:r>
              <a:rPr lang="en-US" altLang="zh-CN" sz="2400" kern="0" dirty="0">
                <a:latin typeface="+mn-ea"/>
              </a:rPr>
              <a:t>4</a:t>
            </a:r>
            <a:endParaRPr lang="zh-CN" altLang="en-US" sz="2400" kern="0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F73CD4-C932-45DF-B530-6F91A38432F5}"/>
              </a:ext>
            </a:extLst>
          </p:cNvPr>
          <p:cNvSpPr/>
          <p:nvPr/>
        </p:nvSpPr>
        <p:spPr>
          <a:xfrm>
            <a:off x="1304925" y="2919174"/>
            <a:ext cx="29146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kern="0" dirty="0">
                <a:solidFill>
                  <a:srgbClr val="FF0000"/>
                </a:solidFill>
                <a:latin typeface="+mn-ea"/>
              </a:rPr>
              <a:t>片上</a:t>
            </a:r>
            <a:r>
              <a:rPr lang="en-US" altLang="zh-CN" sz="2400" kern="0" dirty="0">
                <a:solidFill>
                  <a:srgbClr val="FF0000"/>
                </a:solidFill>
                <a:latin typeface="+mn-ea"/>
              </a:rPr>
              <a:t>SRAM</a:t>
            </a:r>
            <a:r>
              <a:rPr lang="zh-CN" altLang="zh-CN" sz="2400" kern="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位带区</a:t>
            </a:r>
            <a:r>
              <a:rPr lang="zh-CN" altLang="en-US" sz="2400" kern="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：</a:t>
            </a:r>
            <a:endParaRPr lang="en-US" altLang="zh-CN" sz="2400" kern="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4FF66E-3CB4-46ED-AC9E-7AD008BC1C77}"/>
              </a:ext>
            </a:extLst>
          </p:cNvPr>
          <p:cNvSpPr/>
          <p:nvPr/>
        </p:nvSpPr>
        <p:spPr>
          <a:xfrm>
            <a:off x="1304925" y="1849478"/>
            <a:ext cx="9448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kern="0" dirty="0">
                <a:latin typeface="+mn-ea"/>
                <a:cs typeface="Times New Roman" panose="02020603050405020304" pitchFamily="18" charset="0"/>
              </a:rPr>
              <a:t>        如位带区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某个</a:t>
            </a:r>
            <a:r>
              <a:rPr lang="zh-CN" altLang="en-US" sz="2400" kern="0" dirty="0">
                <a:latin typeface="+mn-ea"/>
                <a:cs typeface="Times New Roman" panose="02020603050405020304" pitchFamily="18" charset="0"/>
              </a:rPr>
              <a:t>位（</a:t>
            </a:r>
            <a:r>
              <a:rPr lang="en-US" altLang="zh-CN" sz="2400" kern="0" dirty="0">
                <a:latin typeface="+mn-ea"/>
                <a:cs typeface="Times New Roman" panose="02020603050405020304" pitchFamily="18" charset="0"/>
              </a:rPr>
              <a:t>bit</a:t>
            </a:r>
            <a:r>
              <a:rPr lang="zh-CN" altLang="en-US" sz="2400" kern="0" dirty="0">
                <a:latin typeface="+mn-ea"/>
                <a:cs typeface="Times New Roman" panose="02020603050405020304" pitchFamily="18" charset="0"/>
              </a:rPr>
              <a:t>）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，所在</a:t>
            </a:r>
            <a:r>
              <a:rPr lang="zh-CN" altLang="en-US" sz="2400" kern="0" dirty="0">
                <a:latin typeface="+mn-ea"/>
                <a:cs typeface="Times New Roman" panose="02020603050405020304" pitchFamily="18" charset="0"/>
              </a:rPr>
              <a:t>的</a:t>
            </a:r>
            <a:r>
              <a:rPr lang="zh-CN" altLang="zh-CN" sz="2400" kern="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字节地址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为</a:t>
            </a:r>
            <a:r>
              <a:rPr lang="en-US" altLang="zh-CN" sz="2400" b="1" kern="0" dirty="0">
                <a:solidFill>
                  <a:srgbClr val="FF0000"/>
                </a:solidFill>
                <a:latin typeface="+mn-ea"/>
              </a:rPr>
              <a:t>A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，</a:t>
            </a:r>
            <a:r>
              <a:rPr lang="zh-CN" altLang="en-US" sz="2400" kern="0" dirty="0">
                <a:latin typeface="+mn-ea"/>
                <a:cs typeface="Times New Roman" panose="02020603050405020304" pitchFamily="18" charset="0"/>
              </a:rPr>
              <a:t>在字节中的</a:t>
            </a:r>
            <a:r>
              <a:rPr lang="zh-CN" altLang="zh-CN" sz="2400" kern="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位序号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为</a:t>
            </a:r>
            <a:r>
              <a:rPr lang="en-US" altLang="zh-CN" sz="2400" b="1" kern="0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kern="0" dirty="0">
                <a:latin typeface="+mn-ea"/>
              </a:rPr>
              <a:t>0&lt;=n&lt;=7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），则该</a:t>
            </a:r>
            <a:r>
              <a:rPr lang="zh-CN" altLang="en-US" sz="2400" kern="0" dirty="0">
                <a:latin typeface="+mn-ea"/>
                <a:cs typeface="Times New Roman" panose="02020603050405020304" pitchFamily="18" charset="0"/>
              </a:rPr>
              <a:t>位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在别名区的地址为：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041506-9E9F-4CC9-8A3D-70A7D463FE18}"/>
              </a:ext>
            </a:extLst>
          </p:cNvPr>
          <p:cNvSpPr/>
          <p:nvPr/>
        </p:nvSpPr>
        <p:spPr>
          <a:xfrm>
            <a:off x="1352550" y="4441567"/>
            <a:ext cx="29146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kern="0" dirty="0">
                <a:solidFill>
                  <a:srgbClr val="FF0000"/>
                </a:solidFill>
                <a:latin typeface="+mn-ea"/>
              </a:rPr>
              <a:t>片上外设</a:t>
            </a:r>
            <a:r>
              <a:rPr lang="zh-CN" altLang="zh-CN" sz="2400" kern="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位带区</a:t>
            </a:r>
            <a:r>
              <a:rPr lang="zh-CN" altLang="en-US" sz="2400" kern="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：</a:t>
            </a:r>
            <a:endParaRPr lang="en-US" altLang="zh-CN" sz="2400" kern="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3C597C-2ED6-44D4-815B-02CAB18F67D3}"/>
              </a:ext>
            </a:extLst>
          </p:cNvPr>
          <p:cNvSpPr/>
          <p:nvPr/>
        </p:nvSpPr>
        <p:spPr>
          <a:xfrm>
            <a:off x="422652" y="1127707"/>
            <a:ext cx="56733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FF0000"/>
                </a:solidFill>
              </a:rPr>
              <a:t>位带区与位带别名区的映射关系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46CFD8-D6AC-4F6C-910D-9B771790F010}"/>
              </a:ext>
            </a:extLst>
          </p:cNvPr>
          <p:cNvSpPr/>
          <p:nvPr/>
        </p:nvSpPr>
        <p:spPr>
          <a:xfrm>
            <a:off x="3850640" y="3911600"/>
            <a:ext cx="5933440" cy="43414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49B05F-808E-4226-B7DD-E5BC306E95A9}"/>
              </a:ext>
            </a:extLst>
          </p:cNvPr>
          <p:cNvSpPr/>
          <p:nvPr/>
        </p:nvSpPr>
        <p:spPr>
          <a:xfrm>
            <a:off x="3850640" y="5413387"/>
            <a:ext cx="5933440" cy="43414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14ADFB3-FF2D-4B49-B4F7-9168EDD035F9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位带地址映射与位带操作实例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hdmi_130129">
            <a:extLst>
              <a:ext uri="{FF2B5EF4-FFF2-40B4-BE49-F238E27FC236}">
                <a16:creationId xmlns:a16="http://schemas.microsoft.com/office/drawing/2014/main" id="{9EED5716-BA45-4C46-AA97-DDD47020962F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9BD3E6-65EA-4C86-A491-87012C0BA29C}"/>
              </a:ext>
            </a:extLst>
          </p:cNvPr>
          <p:cNvSpPr/>
          <p:nvPr/>
        </p:nvSpPr>
        <p:spPr>
          <a:xfrm>
            <a:off x="8514441" y="3475372"/>
            <a:ext cx="3658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 dirty="0">
                <a:solidFill>
                  <a:srgbClr val="0000CC"/>
                </a:solidFill>
                <a:latin typeface="+mn-ea"/>
                <a:cs typeface="Times New Roman" panose="02020603050405020304" pitchFamily="18" charset="0"/>
              </a:rPr>
              <a:t>8</a:t>
            </a:r>
            <a:endParaRPr lang="zh-CN" altLang="en-US" sz="2400" dirty="0">
              <a:solidFill>
                <a:srgbClr val="0000CC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434AEAB-EED5-4C48-AF3E-E8EE31A930F4}"/>
              </a:ext>
            </a:extLst>
          </p:cNvPr>
          <p:cNvSpPr/>
          <p:nvPr/>
        </p:nvSpPr>
        <p:spPr>
          <a:xfrm>
            <a:off x="9443717" y="3475755"/>
            <a:ext cx="3658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 dirty="0">
                <a:solidFill>
                  <a:srgbClr val="0000CC"/>
                </a:solidFill>
                <a:latin typeface="+mn-ea"/>
              </a:rPr>
              <a:t>4</a:t>
            </a:r>
            <a:endParaRPr lang="zh-CN" altLang="en-US" sz="2400" dirty="0">
              <a:solidFill>
                <a:srgbClr val="0000CC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864AAB-8F48-47A0-B806-8595D8A08AA9}"/>
              </a:ext>
            </a:extLst>
          </p:cNvPr>
          <p:cNvSpPr/>
          <p:nvPr/>
        </p:nvSpPr>
        <p:spPr>
          <a:xfrm>
            <a:off x="3854264" y="3469421"/>
            <a:ext cx="19704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 dirty="0">
                <a:solidFill>
                  <a:srgbClr val="0000CC"/>
                </a:solidFill>
                <a:latin typeface="+mn-ea"/>
              </a:rPr>
              <a:t>0x22000000</a:t>
            </a:r>
            <a:endParaRPr lang="zh-CN" altLang="en-US" sz="2400" dirty="0">
              <a:solidFill>
                <a:srgbClr val="0000CC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0A7B9E3-A713-4D72-95BA-8A537947DD35}"/>
              </a:ext>
            </a:extLst>
          </p:cNvPr>
          <p:cNvSpPr/>
          <p:nvPr/>
        </p:nvSpPr>
        <p:spPr>
          <a:xfrm>
            <a:off x="6416417" y="3470969"/>
            <a:ext cx="19704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 dirty="0">
                <a:solidFill>
                  <a:srgbClr val="0000CC"/>
                </a:solidFill>
                <a:latin typeface="+mn-ea"/>
              </a:rPr>
              <a:t>0x20000000</a:t>
            </a:r>
            <a:endParaRPr lang="zh-CN" altLang="en-US" sz="2400" dirty="0">
              <a:solidFill>
                <a:srgbClr val="0000CC"/>
              </a:solidFill>
            </a:endParaRPr>
          </a:p>
        </p:txBody>
      </p:sp>
      <p:sp>
        <p:nvSpPr>
          <p:cNvPr id="20" name="左大括号 19">
            <a:extLst>
              <a:ext uri="{FF2B5EF4-FFF2-40B4-BE49-F238E27FC236}">
                <a16:creationId xmlns:a16="http://schemas.microsoft.com/office/drawing/2014/main" id="{94A5FB19-5A80-47BD-87AF-DD9020606BEC}"/>
              </a:ext>
            </a:extLst>
          </p:cNvPr>
          <p:cNvSpPr/>
          <p:nvPr/>
        </p:nvSpPr>
        <p:spPr>
          <a:xfrm rot="5400000">
            <a:off x="6999095" y="2309478"/>
            <a:ext cx="457199" cy="197041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F49154-E190-41B3-A391-804EAD5A5977}"/>
              </a:ext>
            </a:extLst>
          </p:cNvPr>
          <p:cNvSpPr/>
          <p:nvPr/>
        </p:nvSpPr>
        <p:spPr>
          <a:xfrm>
            <a:off x="6348411" y="2637970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kern="0" dirty="0">
                <a:solidFill>
                  <a:srgbClr val="FF0000"/>
                </a:solidFill>
                <a:latin typeface="+mn-ea"/>
              </a:rPr>
              <a:t>字节偏移量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2" name="左大括号 21">
            <a:extLst>
              <a:ext uri="{FF2B5EF4-FFF2-40B4-BE49-F238E27FC236}">
                <a16:creationId xmlns:a16="http://schemas.microsoft.com/office/drawing/2014/main" id="{C6C41FC3-0858-49EC-B557-997590FEF6D7}"/>
              </a:ext>
            </a:extLst>
          </p:cNvPr>
          <p:cNvSpPr/>
          <p:nvPr/>
        </p:nvSpPr>
        <p:spPr>
          <a:xfrm rot="5400000">
            <a:off x="7458074" y="1837360"/>
            <a:ext cx="457199" cy="291465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4D6A8C-DFE2-49F3-BE0D-BEB6B457BBA8}"/>
              </a:ext>
            </a:extLst>
          </p:cNvPr>
          <p:cNvSpPr/>
          <p:nvPr/>
        </p:nvSpPr>
        <p:spPr>
          <a:xfrm>
            <a:off x="6732731" y="2637968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kern="0" dirty="0">
                <a:solidFill>
                  <a:srgbClr val="FF0000"/>
                </a:solidFill>
                <a:latin typeface="+mn-ea"/>
              </a:rPr>
              <a:t>总位偏移量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4" name="左大括号 23">
            <a:extLst>
              <a:ext uri="{FF2B5EF4-FFF2-40B4-BE49-F238E27FC236}">
                <a16:creationId xmlns:a16="http://schemas.microsoft.com/office/drawing/2014/main" id="{D9057492-58AB-4FD3-BCD2-758493EF00BD}"/>
              </a:ext>
            </a:extLst>
          </p:cNvPr>
          <p:cNvSpPr/>
          <p:nvPr/>
        </p:nvSpPr>
        <p:spPr>
          <a:xfrm rot="5400000">
            <a:off x="7622311" y="1568862"/>
            <a:ext cx="457199" cy="350057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73F9CAF-726D-4914-A483-02B822647293}"/>
              </a:ext>
            </a:extLst>
          </p:cNvPr>
          <p:cNvSpPr/>
          <p:nvPr/>
        </p:nvSpPr>
        <p:spPr>
          <a:xfrm>
            <a:off x="7169235" y="265136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kern="0" dirty="0">
                <a:solidFill>
                  <a:srgbClr val="FF0000"/>
                </a:solidFill>
                <a:latin typeface="+mn-ea"/>
              </a:rPr>
              <a:t>字偏移量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73EF9B-8EA7-44A6-8001-04A9AF65EE0E}"/>
              </a:ext>
            </a:extLst>
          </p:cNvPr>
          <p:cNvSpPr/>
          <p:nvPr/>
        </p:nvSpPr>
        <p:spPr>
          <a:xfrm>
            <a:off x="6416417" y="4997692"/>
            <a:ext cx="19704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 dirty="0">
                <a:solidFill>
                  <a:srgbClr val="0000CC"/>
                </a:solidFill>
                <a:latin typeface="+mn-ea"/>
              </a:rPr>
              <a:t>0x40000000</a:t>
            </a:r>
            <a:endParaRPr lang="zh-CN" altLang="en-US" sz="2400" dirty="0">
              <a:solidFill>
                <a:srgbClr val="0000CC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94E09E4-7225-4C66-AA42-5CBF6C340941}"/>
              </a:ext>
            </a:extLst>
          </p:cNvPr>
          <p:cNvSpPr/>
          <p:nvPr/>
        </p:nvSpPr>
        <p:spPr>
          <a:xfrm>
            <a:off x="3854264" y="4993661"/>
            <a:ext cx="19704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 dirty="0">
                <a:solidFill>
                  <a:srgbClr val="0000CC"/>
                </a:solidFill>
                <a:latin typeface="+mn-ea"/>
              </a:rPr>
              <a:t>0x42000000</a:t>
            </a:r>
            <a:endParaRPr lang="zh-CN" altLang="en-US" sz="24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93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animBg="1"/>
      <p:bldP spid="11" grpId="0" animBg="1"/>
      <p:bldP spid="6" grpId="0"/>
      <p:bldP spid="14" grpId="0"/>
      <p:bldP spid="17" grpId="0"/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/>
      <p:bldP spid="2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5">
            <a:extLst>
              <a:ext uri="{FF2B5EF4-FFF2-40B4-BE49-F238E27FC236}">
                <a16:creationId xmlns:a16="http://schemas.microsoft.com/office/drawing/2014/main" id="{A3222F2C-08C7-443F-B0A7-FD32B6EA3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362" y="2060553"/>
            <a:ext cx="8834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（</a:t>
            </a:r>
            <a:r>
              <a:rPr lang="en-US" altLang="zh-CN" sz="2400" b="0" dirty="0">
                <a:latin typeface="+mn-ea"/>
                <a:ea typeface="+mn-ea"/>
              </a:rPr>
              <a:t>1</a:t>
            </a:r>
            <a:r>
              <a:rPr lang="zh-CN" altLang="en-US" sz="2400" b="0" dirty="0">
                <a:latin typeface="+mn-ea"/>
                <a:ea typeface="+mn-ea"/>
              </a:rPr>
              <a:t>）位带区地址</a:t>
            </a:r>
            <a:r>
              <a:rPr lang="en-US" altLang="zh-CN" sz="2400" b="0" dirty="0">
                <a:latin typeface="+mn-ea"/>
                <a:ea typeface="+mn-ea"/>
              </a:rPr>
              <a:t>0x20000022</a:t>
            </a:r>
            <a:r>
              <a:rPr lang="zh-CN" altLang="en-US" sz="2400" b="0" dirty="0">
                <a:latin typeface="+mn-ea"/>
                <a:ea typeface="+mn-ea"/>
              </a:rPr>
              <a:t>的</a:t>
            </a:r>
            <a:r>
              <a:rPr lang="en-US" altLang="zh-CN" sz="2400" b="0" dirty="0">
                <a:latin typeface="+mn-ea"/>
                <a:ea typeface="+mn-ea"/>
              </a:rPr>
              <a:t>bit6</a:t>
            </a:r>
            <a:r>
              <a:rPr lang="zh-CN" altLang="en-US" sz="2400" b="0" dirty="0">
                <a:latin typeface="+mn-ea"/>
                <a:ea typeface="+mn-ea"/>
              </a:rPr>
              <a:t>对应的位带别名区地址？</a:t>
            </a:r>
            <a:endParaRPr lang="en-US" altLang="zh-CN" sz="2400" b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" name="矩形 10">
            <a:extLst>
              <a:ext uri="{FF2B5EF4-FFF2-40B4-BE49-F238E27FC236}">
                <a16:creationId xmlns:a16="http://schemas.microsoft.com/office/drawing/2014/main" id="{06EE5F8C-1B6E-4C2E-9A37-53562026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874" y="1308078"/>
            <a:ext cx="14622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实例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：</a:t>
            </a:r>
            <a:endParaRPr lang="en-US" altLang="zh-CN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370A42-39AC-4A60-9931-3140C6E00895}"/>
              </a:ext>
            </a:extLst>
          </p:cNvPr>
          <p:cNvSpPr/>
          <p:nvPr/>
        </p:nvSpPr>
        <p:spPr>
          <a:xfrm>
            <a:off x="1524001" y="3046668"/>
            <a:ext cx="93878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0" dirty="0" err="1">
                <a:latin typeface="+mn-ea"/>
              </a:rPr>
              <a:t>AliasAddr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＝</a:t>
            </a:r>
            <a:r>
              <a:rPr lang="en-US" altLang="zh-CN" sz="2400" kern="0" dirty="0">
                <a:latin typeface="+mn-ea"/>
              </a:rPr>
              <a:t>0x22000000+(</a:t>
            </a:r>
            <a:r>
              <a:rPr lang="en-US" altLang="zh-CN" sz="2400" b="1" kern="0" dirty="0">
                <a:solidFill>
                  <a:srgbClr val="FF0000"/>
                </a:solidFill>
                <a:latin typeface="+mn-ea"/>
              </a:rPr>
              <a:t>0x20000022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‐</a:t>
            </a:r>
            <a:r>
              <a:rPr lang="en-US" altLang="zh-CN" sz="2400" kern="0" dirty="0">
                <a:latin typeface="+mn-ea"/>
              </a:rPr>
              <a:t>0x20000000)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×</a:t>
            </a:r>
            <a:r>
              <a:rPr lang="en-US" altLang="zh-CN" sz="2400" kern="0" dirty="0">
                <a:latin typeface="+mn-ea"/>
              </a:rPr>
              <a:t>32+</a:t>
            </a:r>
            <a:r>
              <a:rPr lang="en-US" altLang="zh-CN" sz="2400" b="1" kern="0" dirty="0">
                <a:solidFill>
                  <a:srgbClr val="FF0000"/>
                </a:solidFill>
                <a:latin typeface="+mn-ea"/>
              </a:rPr>
              <a:t>6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×</a:t>
            </a:r>
            <a:r>
              <a:rPr lang="en-US" altLang="zh-CN" sz="2400" kern="0" dirty="0">
                <a:latin typeface="+mn-ea"/>
              </a:rPr>
              <a:t>4</a:t>
            </a:r>
          </a:p>
          <a:p>
            <a:r>
              <a:rPr lang="en-US" altLang="zh-CN" sz="2400" kern="0" dirty="0">
                <a:latin typeface="+mn-ea"/>
              </a:rPr>
              <a:t>                =</a:t>
            </a:r>
            <a:r>
              <a:rPr lang="en-US" altLang="zh-CN" sz="2400" kern="0" dirty="0">
                <a:solidFill>
                  <a:srgbClr val="FF0000"/>
                </a:solidFill>
                <a:latin typeface="+mn-ea"/>
              </a:rPr>
              <a:t>0x22000458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231F4F-E2AF-493B-8C51-5F2792E582D5}"/>
              </a:ext>
            </a:extLst>
          </p:cNvPr>
          <p:cNvSpPr/>
          <p:nvPr/>
        </p:nvSpPr>
        <p:spPr>
          <a:xfrm>
            <a:off x="1524001" y="5309511"/>
            <a:ext cx="93878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0" dirty="0" err="1">
                <a:latin typeface="+mn-ea"/>
              </a:rPr>
              <a:t>AliasAddr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＝</a:t>
            </a:r>
            <a:r>
              <a:rPr lang="en-US" altLang="zh-CN" sz="2400" kern="0" dirty="0">
                <a:latin typeface="+mn-ea"/>
              </a:rPr>
              <a:t>0x42000000+(</a:t>
            </a:r>
            <a:r>
              <a:rPr lang="en-US" altLang="zh-CN" sz="2400" b="1" kern="0" dirty="0">
                <a:solidFill>
                  <a:srgbClr val="FF0000"/>
                </a:solidFill>
                <a:latin typeface="+mn-ea"/>
              </a:rPr>
              <a:t>0x40000037</a:t>
            </a:r>
            <a:r>
              <a:rPr lang="en-US" altLang="zh-CN" sz="2400" kern="0" dirty="0">
                <a:solidFill>
                  <a:srgbClr val="5666D7"/>
                </a:solidFill>
                <a:latin typeface="+mn-ea"/>
              </a:rPr>
              <a:t> </a:t>
            </a:r>
            <a:r>
              <a:rPr lang="zh-CN" altLang="zh-CN" sz="2400" kern="0" dirty="0">
                <a:latin typeface="+mn-ea"/>
                <a:cs typeface="宋体" panose="02010600030101010101" pitchFamily="2" charset="-122"/>
              </a:rPr>
              <a:t>‐</a:t>
            </a:r>
            <a:r>
              <a:rPr lang="en-US" altLang="zh-CN" sz="2400" kern="0" dirty="0">
                <a:latin typeface="+mn-ea"/>
              </a:rPr>
              <a:t>0x40000000)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×</a:t>
            </a:r>
            <a:r>
              <a:rPr lang="en-US" altLang="zh-CN" sz="2400" kern="0" dirty="0">
                <a:latin typeface="+mn-ea"/>
              </a:rPr>
              <a:t>32+</a:t>
            </a:r>
            <a:r>
              <a:rPr lang="en-US" altLang="zh-CN" sz="2400" b="1" kern="0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zh-CN" sz="2400" kern="0" dirty="0">
                <a:latin typeface="+mn-ea"/>
                <a:cs typeface="Times New Roman" panose="02020603050405020304" pitchFamily="18" charset="0"/>
              </a:rPr>
              <a:t>×</a:t>
            </a:r>
            <a:r>
              <a:rPr lang="en-US" altLang="zh-CN" sz="2400" kern="0" dirty="0">
                <a:latin typeface="+mn-ea"/>
              </a:rPr>
              <a:t>4</a:t>
            </a:r>
          </a:p>
          <a:p>
            <a:r>
              <a:rPr lang="en-US" altLang="zh-CN" sz="2400" kern="0" dirty="0">
                <a:latin typeface="+mn-ea"/>
              </a:rPr>
              <a:t>                =</a:t>
            </a:r>
            <a:r>
              <a:rPr lang="en-US" altLang="zh-CN" sz="2400" kern="0" dirty="0">
                <a:solidFill>
                  <a:srgbClr val="FF0000"/>
                </a:solidFill>
                <a:latin typeface="+mn-ea"/>
              </a:rPr>
              <a:t>0x420006F4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548057-FF6C-437A-B41D-9BDA831D1FDD}"/>
              </a:ext>
            </a:extLst>
          </p:cNvPr>
          <p:cNvSpPr/>
          <p:nvPr/>
        </p:nvSpPr>
        <p:spPr>
          <a:xfrm>
            <a:off x="1996362" y="4311745"/>
            <a:ext cx="90272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None/>
            </a:pPr>
            <a:r>
              <a:rPr lang="zh-CN" altLang="en-US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2</a:t>
            </a:r>
            <a:r>
              <a:rPr lang="zh-CN" altLang="en-US" sz="2400" dirty="0">
                <a:latin typeface="+mn-ea"/>
              </a:rPr>
              <a:t>）位带区地址 </a:t>
            </a:r>
            <a:r>
              <a:rPr lang="en-US" altLang="zh-CN" sz="2400" dirty="0">
                <a:latin typeface="+mn-ea"/>
              </a:rPr>
              <a:t>0x40000037</a:t>
            </a:r>
            <a:r>
              <a:rPr lang="zh-CN" altLang="en-US" sz="2400" dirty="0">
                <a:latin typeface="+mn-ea"/>
              </a:rPr>
              <a:t>的</a:t>
            </a:r>
            <a:r>
              <a:rPr lang="en-US" altLang="zh-CN" sz="2400" dirty="0">
                <a:latin typeface="+mn-ea"/>
              </a:rPr>
              <a:t>bit5</a:t>
            </a:r>
            <a:r>
              <a:rPr lang="zh-CN" altLang="en-US" sz="2400" dirty="0">
                <a:latin typeface="+mn-ea"/>
              </a:rPr>
              <a:t>对应的位带别名区地址？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906687-C2FF-40A1-A8C6-0E6455AC9D59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位带地址映射与位带操作实例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hdmi_130129">
            <a:extLst>
              <a:ext uri="{FF2B5EF4-FFF2-40B4-BE49-F238E27FC236}">
                <a16:creationId xmlns:a16="http://schemas.microsoft.com/office/drawing/2014/main" id="{B9056BA9-2607-41D2-892D-24C83F0F9148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1C9F18-7EE2-41CE-9634-89FCA2318493}"/>
              </a:ext>
            </a:extLst>
          </p:cNvPr>
          <p:cNvSpPr/>
          <p:nvPr/>
        </p:nvSpPr>
        <p:spPr>
          <a:xfrm>
            <a:off x="2624597" y="2418921"/>
            <a:ext cx="19704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 dirty="0">
                <a:solidFill>
                  <a:srgbClr val="FF0000"/>
                </a:solidFill>
                <a:latin typeface="+mn-ea"/>
              </a:rPr>
              <a:t>0x22000458</a:t>
            </a:r>
            <a:endParaRPr lang="zh-CN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FB2DB4-41FB-420C-9FC1-A6795FB73FAD}"/>
              </a:ext>
            </a:extLst>
          </p:cNvPr>
          <p:cNvSpPr/>
          <p:nvPr/>
        </p:nvSpPr>
        <p:spPr>
          <a:xfrm>
            <a:off x="2624597" y="4666553"/>
            <a:ext cx="1952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 dirty="0">
                <a:solidFill>
                  <a:srgbClr val="FF0000"/>
                </a:solidFill>
                <a:latin typeface="+mn-ea"/>
              </a:rPr>
              <a:t>0x420006F4</a:t>
            </a:r>
            <a:endParaRPr lang="zh-CN" altLang="en-US" sz="2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64A29B-9108-4B29-A42E-7B98C0B23D36}"/>
              </a:ext>
            </a:extLst>
          </p:cNvPr>
          <p:cNvSpPr/>
          <p:nvPr/>
        </p:nvSpPr>
        <p:spPr>
          <a:xfrm>
            <a:off x="4371975" y="2098653"/>
            <a:ext cx="1809750" cy="3583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6CFD7C-B717-482F-8771-F37ACB236AAC}"/>
              </a:ext>
            </a:extLst>
          </p:cNvPr>
          <p:cNvSpPr/>
          <p:nvPr/>
        </p:nvSpPr>
        <p:spPr>
          <a:xfrm>
            <a:off x="6466437" y="2102387"/>
            <a:ext cx="587506" cy="3546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CDE9A41-3A8D-437A-8AD2-F2792B373072}"/>
              </a:ext>
            </a:extLst>
          </p:cNvPr>
          <p:cNvSpPr/>
          <p:nvPr/>
        </p:nvSpPr>
        <p:spPr>
          <a:xfrm>
            <a:off x="4440828" y="4338283"/>
            <a:ext cx="1809750" cy="3583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A60321-FA16-410A-AEAB-D91F34713146}"/>
              </a:ext>
            </a:extLst>
          </p:cNvPr>
          <p:cNvSpPr/>
          <p:nvPr/>
        </p:nvSpPr>
        <p:spPr>
          <a:xfrm>
            <a:off x="6542639" y="4342017"/>
            <a:ext cx="587506" cy="3546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169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14" grpId="0" animBg="1"/>
      <p:bldP spid="13" grpId="0" animBg="1"/>
      <p:bldP spid="15" grpId="0" animBg="1"/>
      <p:bldP spid="1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5"/>
          <p:cNvSpPr>
            <a:spLocks noChangeArrowheads="1"/>
          </p:cNvSpPr>
          <p:nvPr/>
        </p:nvSpPr>
        <p:spPr bwMode="auto">
          <a:xfrm>
            <a:off x="1996362" y="1806553"/>
            <a:ext cx="815347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（</a:t>
            </a:r>
            <a:r>
              <a:rPr lang="en-US" altLang="zh-CN" sz="2400" b="0" dirty="0">
                <a:latin typeface="+mn-ea"/>
                <a:ea typeface="+mn-ea"/>
              </a:rPr>
              <a:t>1</a:t>
            </a:r>
            <a:r>
              <a:rPr lang="zh-CN" altLang="en-US" sz="2400" b="0" dirty="0">
                <a:latin typeface="+mn-ea"/>
                <a:ea typeface="+mn-ea"/>
              </a:rPr>
              <a:t>）在地址</a:t>
            </a:r>
            <a:r>
              <a:rPr lang="en-US" altLang="zh-CN" sz="2400" b="0" dirty="0">
                <a:latin typeface="+mn-ea"/>
                <a:ea typeface="+mn-ea"/>
              </a:rPr>
              <a:t>0x20000000 </a:t>
            </a:r>
            <a:r>
              <a:rPr lang="zh-CN" altLang="en-US" sz="2400" b="0" dirty="0">
                <a:latin typeface="+mn-ea"/>
                <a:ea typeface="+mn-ea"/>
              </a:rPr>
              <a:t>处写入</a:t>
            </a:r>
            <a:r>
              <a:rPr lang="en-US" altLang="zh-CN" sz="2400" b="0" dirty="0">
                <a:latin typeface="+mn-ea"/>
                <a:ea typeface="+mn-ea"/>
              </a:rPr>
              <a:t>0x3355AACC</a:t>
            </a:r>
            <a:r>
              <a:rPr lang="zh-CN" altLang="en-US" sz="2400" b="0" dirty="0">
                <a:latin typeface="+mn-ea"/>
                <a:ea typeface="+mn-ea"/>
              </a:rPr>
              <a:t>，读取地址 </a:t>
            </a:r>
            <a:r>
              <a:rPr lang="en-US" altLang="zh-CN" sz="2400" b="0" dirty="0">
                <a:latin typeface="+mn-ea"/>
                <a:ea typeface="+mn-ea"/>
              </a:rPr>
              <a:t>0x22000008</a:t>
            </a:r>
            <a:r>
              <a:rPr lang="zh-CN" altLang="en-US" sz="2400" b="0" dirty="0">
                <a:latin typeface="+mn-ea"/>
                <a:ea typeface="+mn-ea"/>
              </a:rPr>
              <a:t>，得到的值是？</a:t>
            </a:r>
            <a:endParaRPr lang="en-US" altLang="zh-CN" sz="2400" b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" name="矩形 10"/>
          <p:cNvSpPr>
            <a:spLocks noChangeArrowheads="1"/>
          </p:cNvSpPr>
          <p:nvPr/>
        </p:nvSpPr>
        <p:spPr bwMode="auto">
          <a:xfrm>
            <a:off x="1778874" y="1175998"/>
            <a:ext cx="14622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实例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：</a:t>
            </a:r>
            <a:endParaRPr lang="en-US" altLang="zh-CN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95A1301-6B38-4B7B-8300-DDEA935B180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16880" y="4312071"/>
          <a:ext cx="595120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901">
                  <a:extLst>
                    <a:ext uri="{9D8B030D-6E8A-4147-A177-3AD203B41FA5}">
                      <a16:colId xmlns:a16="http://schemas.microsoft.com/office/drawing/2014/main" val="669046229"/>
                    </a:ext>
                  </a:extLst>
                </a:gridCol>
                <a:gridCol w="743901">
                  <a:extLst>
                    <a:ext uri="{9D8B030D-6E8A-4147-A177-3AD203B41FA5}">
                      <a16:colId xmlns:a16="http://schemas.microsoft.com/office/drawing/2014/main" val="3201598314"/>
                    </a:ext>
                  </a:extLst>
                </a:gridCol>
                <a:gridCol w="743901">
                  <a:extLst>
                    <a:ext uri="{9D8B030D-6E8A-4147-A177-3AD203B41FA5}">
                      <a16:colId xmlns:a16="http://schemas.microsoft.com/office/drawing/2014/main" val="3707432623"/>
                    </a:ext>
                  </a:extLst>
                </a:gridCol>
                <a:gridCol w="743901">
                  <a:extLst>
                    <a:ext uri="{9D8B030D-6E8A-4147-A177-3AD203B41FA5}">
                      <a16:colId xmlns:a16="http://schemas.microsoft.com/office/drawing/2014/main" val="2510761807"/>
                    </a:ext>
                  </a:extLst>
                </a:gridCol>
                <a:gridCol w="743901">
                  <a:extLst>
                    <a:ext uri="{9D8B030D-6E8A-4147-A177-3AD203B41FA5}">
                      <a16:colId xmlns:a16="http://schemas.microsoft.com/office/drawing/2014/main" val="3510157570"/>
                    </a:ext>
                  </a:extLst>
                </a:gridCol>
                <a:gridCol w="743901">
                  <a:extLst>
                    <a:ext uri="{9D8B030D-6E8A-4147-A177-3AD203B41FA5}">
                      <a16:colId xmlns:a16="http://schemas.microsoft.com/office/drawing/2014/main" val="446268969"/>
                    </a:ext>
                  </a:extLst>
                </a:gridCol>
                <a:gridCol w="743901">
                  <a:extLst>
                    <a:ext uri="{9D8B030D-6E8A-4147-A177-3AD203B41FA5}">
                      <a16:colId xmlns:a16="http://schemas.microsoft.com/office/drawing/2014/main" val="3400131146"/>
                    </a:ext>
                  </a:extLst>
                </a:gridCol>
                <a:gridCol w="743901">
                  <a:extLst>
                    <a:ext uri="{9D8B030D-6E8A-4147-A177-3AD203B41FA5}">
                      <a16:colId xmlns:a16="http://schemas.microsoft.com/office/drawing/2014/main" val="42084826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bit7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bit6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bit5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bit4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bit3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bit2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bit1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bit0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298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401292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37FA5E85-C475-4896-B4D2-0583C69E05E6}"/>
              </a:ext>
            </a:extLst>
          </p:cNvPr>
          <p:cNvSpPr/>
          <p:nvPr/>
        </p:nvSpPr>
        <p:spPr>
          <a:xfrm>
            <a:off x="9235440" y="4312070"/>
            <a:ext cx="741680" cy="904423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9497F5-5E84-4BF4-8273-4B65542C4B0C}"/>
              </a:ext>
            </a:extLst>
          </p:cNvPr>
          <p:cNvSpPr/>
          <p:nvPr/>
        </p:nvSpPr>
        <p:spPr>
          <a:xfrm>
            <a:off x="5527040" y="3355660"/>
            <a:ext cx="5896358" cy="461665"/>
          </a:xfrm>
          <a:prstGeom prst="rect">
            <a:avLst/>
          </a:prstGeom>
          <a:ln w="25400"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n-ea"/>
              </a:rPr>
              <a:t>        位带区字节地址：</a:t>
            </a:r>
            <a:r>
              <a:rPr lang="en-US" altLang="zh-CN" sz="2400" dirty="0">
                <a:latin typeface="+mn-ea"/>
              </a:rPr>
              <a:t>0x2000_0000       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3B6420-8B05-4CF4-ACA7-77F68E10B9A3}"/>
              </a:ext>
            </a:extLst>
          </p:cNvPr>
          <p:cNvSpPr txBox="1"/>
          <p:nvPr/>
        </p:nvSpPr>
        <p:spPr>
          <a:xfrm>
            <a:off x="677806" y="3349731"/>
            <a:ext cx="4046593" cy="461665"/>
          </a:xfrm>
          <a:prstGeom prst="rect">
            <a:avLst/>
          </a:prstGeom>
          <a:noFill/>
          <a:ln w="25400">
            <a:solidFill>
              <a:srgbClr val="0000CC"/>
            </a:solidFill>
          </a:ln>
        </p:spPr>
        <p:txBody>
          <a:bodyPr wrap="square" rtlCol="0" anchor="ctr">
            <a:spAutoFit/>
          </a:bodyPr>
          <a:lstStyle/>
          <a:p>
            <a:r>
              <a:rPr lang="zh-CN" altLang="en-US" sz="2400" dirty="0">
                <a:latin typeface="+mn-ea"/>
              </a:rPr>
              <a:t> 别名区地址：</a:t>
            </a:r>
            <a:r>
              <a:rPr lang="en-US" altLang="zh-CN" sz="2400" dirty="0">
                <a:latin typeface="+mn-ea"/>
              </a:rPr>
              <a:t>0x2200_0008</a:t>
            </a:r>
            <a:endParaRPr lang="zh-CN" altLang="en-US" sz="240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9240C7B-7292-466C-80A4-934780ADAB7B}"/>
              </a:ext>
            </a:extLst>
          </p:cNvPr>
          <p:cNvCxnSpPr>
            <a:cxnSpLocks/>
            <a:stCxn id="12" idx="3"/>
            <a:endCxn id="10" idx="1"/>
          </p:cNvCxnSpPr>
          <p:nvPr/>
        </p:nvCxnSpPr>
        <p:spPr>
          <a:xfrm>
            <a:off x="4724399" y="3580564"/>
            <a:ext cx="802641" cy="5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19553536-BEFD-41B3-8DC2-017C4890D6B6}"/>
              </a:ext>
            </a:extLst>
          </p:cNvPr>
          <p:cNvSpPr/>
          <p:nvPr/>
        </p:nvSpPr>
        <p:spPr>
          <a:xfrm>
            <a:off x="3510280" y="3783539"/>
            <a:ext cx="6096000" cy="1987028"/>
          </a:xfrm>
          <a:custGeom>
            <a:avLst/>
            <a:gdLst>
              <a:gd name="connsiteX0" fmla="*/ 6217920 w 6217920"/>
              <a:gd name="connsiteY0" fmla="*/ 955040 h 1293562"/>
              <a:gd name="connsiteX1" fmla="*/ 1686560 w 6217920"/>
              <a:gd name="connsiteY1" fmla="*/ 1239520 h 1293562"/>
              <a:gd name="connsiteX2" fmla="*/ 0 w 6217920"/>
              <a:gd name="connsiteY2" fmla="*/ 0 h 1293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17920" h="1293562">
                <a:moveTo>
                  <a:pt x="6217920" y="955040"/>
                </a:moveTo>
                <a:cubicBezTo>
                  <a:pt x="4470400" y="1176866"/>
                  <a:pt x="2722880" y="1398693"/>
                  <a:pt x="1686560" y="1239520"/>
                </a:cubicBezTo>
                <a:cubicBezTo>
                  <a:pt x="650240" y="1080347"/>
                  <a:pt x="325120" y="540173"/>
                  <a:pt x="0" y="0"/>
                </a:cubicBezTo>
              </a:path>
            </a:pathLst>
          </a:custGeom>
          <a:noFill/>
          <a:ln w="15875">
            <a:solidFill>
              <a:srgbClr val="00B05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DF4843C-8AE7-4B6D-9DAB-C028CBE23D18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2701103" y="2844803"/>
            <a:ext cx="1457" cy="504928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E159F83E-1B66-4CFA-970C-F6011CF90920}"/>
              </a:ext>
            </a:extLst>
          </p:cNvPr>
          <p:cNvSpPr/>
          <p:nvPr/>
        </p:nvSpPr>
        <p:spPr>
          <a:xfrm>
            <a:off x="2828389" y="2844803"/>
            <a:ext cx="356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FF48CB-4783-4F8B-9C3D-129279433CF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位带地址映射与位带操作实例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hdmi_130129">
            <a:extLst>
              <a:ext uri="{FF2B5EF4-FFF2-40B4-BE49-F238E27FC236}">
                <a16:creationId xmlns:a16="http://schemas.microsoft.com/office/drawing/2014/main" id="{1CF6D9A7-9382-497A-9861-765DF0CA8C7A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01BD504-2FC3-4268-8206-10F0654F1DA5}"/>
              </a:ext>
            </a:extLst>
          </p:cNvPr>
          <p:cNvSpPr/>
          <p:nvPr/>
        </p:nvSpPr>
        <p:spPr>
          <a:xfrm>
            <a:off x="5540158" y="3830954"/>
            <a:ext cx="5879682" cy="461665"/>
          </a:xfrm>
          <a:prstGeom prst="rect">
            <a:avLst/>
          </a:prstGeom>
          <a:ln w="25400"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ea"/>
              </a:rPr>
              <a:t>                            0xCC                          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6A3427-152D-4799-8E7B-361F4E9C43C2}"/>
              </a:ext>
            </a:extLst>
          </p:cNvPr>
          <p:cNvSpPr txBox="1"/>
          <p:nvPr/>
        </p:nvSpPr>
        <p:spPr>
          <a:xfrm>
            <a:off x="5950227" y="2204451"/>
            <a:ext cx="834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Microsoft YaHei"/>
              </a:rPr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212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7" grpId="0" animBg="1"/>
      <p:bldP spid="22" grpId="0"/>
      <p:bldP spid="26" grpId="0" animBg="1"/>
      <p:bldP spid="3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A9E914E-773F-406B-82A1-567B311198C5}"/>
              </a:ext>
            </a:extLst>
          </p:cNvPr>
          <p:cNvSpPr/>
          <p:nvPr/>
        </p:nvSpPr>
        <p:spPr>
          <a:xfrm>
            <a:off x="2047162" y="1457421"/>
            <a:ext cx="81534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2</a:t>
            </a:r>
            <a:r>
              <a:rPr lang="zh-CN" altLang="en-US" sz="2400" dirty="0">
                <a:latin typeface="+mn-ea"/>
              </a:rPr>
              <a:t>）往地址 </a:t>
            </a:r>
            <a:r>
              <a:rPr lang="en-US" altLang="zh-CN" sz="2400" dirty="0">
                <a:latin typeface="+mn-ea"/>
              </a:rPr>
              <a:t>0x2200000C </a:t>
            </a:r>
            <a:r>
              <a:rPr lang="zh-CN" altLang="en-US" sz="2400" dirty="0">
                <a:latin typeface="+mn-ea"/>
              </a:rPr>
              <a:t>处写</a:t>
            </a:r>
            <a:r>
              <a:rPr lang="en-US" altLang="zh-CN" sz="2400" dirty="0">
                <a:latin typeface="+mn-ea"/>
              </a:rPr>
              <a:t>0</a:t>
            </a:r>
            <a:r>
              <a:rPr lang="zh-CN" altLang="en-US" sz="2400" dirty="0">
                <a:latin typeface="+mn-ea"/>
              </a:rPr>
              <a:t>，再读取 </a:t>
            </a:r>
            <a:r>
              <a:rPr lang="en-US" altLang="zh-CN" sz="2400" dirty="0">
                <a:latin typeface="+mn-ea"/>
              </a:rPr>
              <a:t>0x20000000</a:t>
            </a:r>
            <a:r>
              <a:rPr lang="zh-CN" altLang="en-US" sz="2400" dirty="0">
                <a:latin typeface="+mn-ea"/>
              </a:rPr>
              <a:t>，得到的值是？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8F2E3D1-E0EB-4002-9E03-351BE4B61E6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16880" y="4159671"/>
          <a:ext cx="595120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901">
                  <a:extLst>
                    <a:ext uri="{9D8B030D-6E8A-4147-A177-3AD203B41FA5}">
                      <a16:colId xmlns:a16="http://schemas.microsoft.com/office/drawing/2014/main" val="669046229"/>
                    </a:ext>
                  </a:extLst>
                </a:gridCol>
                <a:gridCol w="743901">
                  <a:extLst>
                    <a:ext uri="{9D8B030D-6E8A-4147-A177-3AD203B41FA5}">
                      <a16:colId xmlns:a16="http://schemas.microsoft.com/office/drawing/2014/main" val="3201598314"/>
                    </a:ext>
                  </a:extLst>
                </a:gridCol>
                <a:gridCol w="743901">
                  <a:extLst>
                    <a:ext uri="{9D8B030D-6E8A-4147-A177-3AD203B41FA5}">
                      <a16:colId xmlns:a16="http://schemas.microsoft.com/office/drawing/2014/main" val="3707432623"/>
                    </a:ext>
                  </a:extLst>
                </a:gridCol>
                <a:gridCol w="743901">
                  <a:extLst>
                    <a:ext uri="{9D8B030D-6E8A-4147-A177-3AD203B41FA5}">
                      <a16:colId xmlns:a16="http://schemas.microsoft.com/office/drawing/2014/main" val="2510761807"/>
                    </a:ext>
                  </a:extLst>
                </a:gridCol>
                <a:gridCol w="743901">
                  <a:extLst>
                    <a:ext uri="{9D8B030D-6E8A-4147-A177-3AD203B41FA5}">
                      <a16:colId xmlns:a16="http://schemas.microsoft.com/office/drawing/2014/main" val="3510157570"/>
                    </a:ext>
                  </a:extLst>
                </a:gridCol>
                <a:gridCol w="743901">
                  <a:extLst>
                    <a:ext uri="{9D8B030D-6E8A-4147-A177-3AD203B41FA5}">
                      <a16:colId xmlns:a16="http://schemas.microsoft.com/office/drawing/2014/main" val="446268969"/>
                    </a:ext>
                  </a:extLst>
                </a:gridCol>
                <a:gridCol w="743901">
                  <a:extLst>
                    <a:ext uri="{9D8B030D-6E8A-4147-A177-3AD203B41FA5}">
                      <a16:colId xmlns:a16="http://schemas.microsoft.com/office/drawing/2014/main" val="3400131146"/>
                    </a:ext>
                  </a:extLst>
                </a:gridCol>
                <a:gridCol w="743901">
                  <a:extLst>
                    <a:ext uri="{9D8B030D-6E8A-4147-A177-3AD203B41FA5}">
                      <a16:colId xmlns:a16="http://schemas.microsoft.com/office/drawing/2014/main" val="42084826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bit7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bit6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bit5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bit4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bit3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bit2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bit1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bit0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298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40129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895BCBF1-277C-41EE-ADD6-E363C9779359}"/>
              </a:ext>
            </a:extLst>
          </p:cNvPr>
          <p:cNvSpPr/>
          <p:nvPr/>
        </p:nvSpPr>
        <p:spPr>
          <a:xfrm>
            <a:off x="8483600" y="4159670"/>
            <a:ext cx="741680" cy="904423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31F864-333C-4590-92F0-EF8AB4F2302D}"/>
              </a:ext>
            </a:extLst>
          </p:cNvPr>
          <p:cNvSpPr/>
          <p:nvPr/>
        </p:nvSpPr>
        <p:spPr>
          <a:xfrm>
            <a:off x="5527040" y="3233740"/>
            <a:ext cx="5896358" cy="461665"/>
          </a:xfrm>
          <a:prstGeom prst="rect">
            <a:avLst/>
          </a:prstGeom>
          <a:ln w="25400"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n-ea"/>
              </a:rPr>
              <a:t>        位带区字节地址：</a:t>
            </a:r>
            <a:r>
              <a:rPr lang="en-US" altLang="zh-CN" sz="2400" dirty="0">
                <a:latin typeface="+mn-ea"/>
              </a:rPr>
              <a:t>0x2000_0000       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20C2999-FB21-4F63-AB5A-1ADAA3BAE5BA}"/>
              </a:ext>
            </a:extLst>
          </p:cNvPr>
          <p:cNvSpPr txBox="1"/>
          <p:nvPr/>
        </p:nvSpPr>
        <p:spPr>
          <a:xfrm>
            <a:off x="677806" y="3227811"/>
            <a:ext cx="4046593" cy="461665"/>
          </a:xfrm>
          <a:prstGeom prst="rect">
            <a:avLst/>
          </a:prstGeom>
          <a:noFill/>
          <a:ln w="25400">
            <a:solidFill>
              <a:srgbClr val="0000CC"/>
            </a:solidFill>
          </a:ln>
        </p:spPr>
        <p:txBody>
          <a:bodyPr wrap="square" rtlCol="0" anchor="ctr">
            <a:spAutoFit/>
          </a:bodyPr>
          <a:lstStyle/>
          <a:p>
            <a:r>
              <a:rPr lang="zh-CN" altLang="en-US" sz="2400" dirty="0">
                <a:latin typeface="+mn-ea"/>
              </a:rPr>
              <a:t> 别名区地址：</a:t>
            </a:r>
            <a:r>
              <a:rPr lang="en-US" altLang="zh-CN" sz="2400" dirty="0">
                <a:latin typeface="+mn-ea"/>
              </a:rPr>
              <a:t>0x2200_000C</a:t>
            </a:r>
            <a:endParaRPr lang="zh-CN" altLang="en-US" sz="2400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677AD6E-D8E8-43A1-B9EF-590CDF8EA9A2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4724399" y="3458644"/>
            <a:ext cx="802641" cy="5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DA2C13C8-E0F6-4DD1-B937-213BD744B957}"/>
              </a:ext>
            </a:extLst>
          </p:cNvPr>
          <p:cNvSpPr/>
          <p:nvPr/>
        </p:nvSpPr>
        <p:spPr>
          <a:xfrm>
            <a:off x="3444240" y="3669156"/>
            <a:ext cx="5496560" cy="1947628"/>
          </a:xfrm>
          <a:custGeom>
            <a:avLst/>
            <a:gdLst>
              <a:gd name="connsiteX0" fmla="*/ 6217920 w 6217920"/>
              <a:gd name="connsiteY0" fmla="*/ 955040 h 1293562"/>
              <a:gd name="connsiteX1" fmla="*/ 1686560 w 6217920"/>
              <a:gd name="connsiteY1" fmla="*/ 1239520 h 1293562"/>
              <a:gd name="connsiteX2" fmla="*/ 0 w 6217920"/>
              <a:gd name="connsiteY2" fmla="*/ 0 h 1293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17920" h="1293562">
                <a:moveTo>
                  <a:pt x="6217920" y="955040"/>
                </a:moveTo>
                <a:cubicBezTo>
                  <a:pt x="4470400" y="1176866"/>
                  <a:pt x="2722880" y="1398693"/>
                  <a:pt x="1686560" y="1239520"/>
                </a:cubicBezTo>
                <a:cubicBezTo>
                  <a:pt x="650240" y="1080347"/>
                  <a:pt x="325120" y="540173"/>
                  <a:pt x="0" y="0"/>
                </a:cubicBezTo>
              </a:path>
            </a:pathLst>
          </a:custGeom>
          <a:noFill/>
          <a:ln w="15875">
            <a:solidFill>
              <a:srgbClr val="00B050"/>
            </a:soli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5283AA2-AADB-47CC-8103-1B251D1E8184}"/>
              </a:ext>
            </a:extLst>
          </p:cNvPr>
          <p:cNvCxnSpPr>
            <a:cxnSpLocks/>
          </p:cNvCxnSpPr>
          <p:nvPr/>
        </p:nvCxnSpPr>
        <p:spPr>
          <a:xfrm flipV="1">
            <a:off x="2701103" y="2722883"/>
            <a:ext cx="1457" cy="504928"/>
          </a:xfrm>
          <a:prstGeom prst="straightConnector1">
            <a:avLst/>
          </a:prstGeom>
          <a:ln w="25400">
            <a:solidFill>
              <a:srgbClr val="00B05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B3A9D2F-6B34-4928-9BCC-C6FE393390D0}"/>
              </a:ext>
            </a:extLst>
          </p:cNvPr>
          <p:cNvSpPr/>
          <p:nvPr/>
        </p:nvSpPr>
        <p:spPr>
          <a:xfrm>
            <a:off x="2808069" y="2661923"/>
            <a:ext cx="356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0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AE37CA-B20E-45A3-9120-5614AFD3E3DF}"/>
              </a:ext>
            </a:extLst>
          </p:cNvPr>
          <p:cNvSpPr/>
          <p:nvPr/>
        </p:nvSpPr>
        <p:spPr>
          <a:xfrm>
            <a:off x="8682089" y="4592417"/>
            <a:ext cx="2719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0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3F6E38-3314-48DA-91C9-299824012ABF}"/>
              </a:ext>
            </a:extLst>
          </p:cNvPr>
          <p:cNvSpPr/>
          <p:nvPr/>
        </p:nvSpPr>
        <p:spPr>
          <a:xfrm>
            <a:off x="8201923" y="3708912"/>
            <a:ext cx="9076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0xC4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4ED1C2F-0542-4839-B634-5D435D3E1F7C}"/>
              </a:ext>
            </a:extLst>
          </p:cNvPr>
          <p:cNvSpPr/>
          <p:nvPr/>
        </p:nvSpPr>
        <p:spPr>
          <a:xfrm>
            <a:off x="5527040" y="3708165"/>
            <a:ext cx="5896358" cy="461665"/>
          </a:xfrm>
          <a:prstGeom prst="rect">
            <a:avLst/>
          </a:prstGeom>
          <a:ln w="25400"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ea"/>
              </a:rPr>
              <a:t>                                                      </a:t>
            </a:r>
            <a:endParaRPr lang="zh-CN" altLang="en-US" sz="2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D813F09-1BA7-47D7-B2F1-F6AB84E85323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位带地址映射与位带操作实例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hdmi_130129">
            <a:extLst>
              <a:ext uri="{FF2B5EF4-FFF2-40B4-BE49-F238E27FC236}">
                <a16:creationId xmlns:a16="http://schemas.microsoft.com/office/drawing/2014/main" id="{766030EC-1FD7-4407-B3E6-74851D5BDEBD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21A3FF-1F96-468C-9BC4-869F9727A97E}"/>
              </a:ext>
            </a:extLst>
          </p:cNvPr>
          <p:cNvSpPr txBox="1"/>
          <p:nvPr/>
        </p:nvSpPr>
        <p:spPr>
          <a:xfrm>
            <a:off x="3975652" y="1828767"/>
            <a:ext cx="2875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Microsoft YaHei"/>
              </a:rPr>
              <a:t>0x3355AAC4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0AD4180-AD57-4BF6-9882-AE4147754826}"/>
              </a:ext>
            </a:extLst>
          </p:cNvPr>
          <p:cNvSpPr txBox="1"/>
          <p:nvPr/>
        </p:nvSpPr>
        <p:spPr>
          <a:xfrm>
            <a:off x="8197066" y="3706498"/>
            <a:ext cx="2056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Microsoft YaHei"/>
              </a:rPr>
              <a:t>0xCC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7B5DC1-9958-4D39-968D-C9A5DB0B97FC}"/>
              </a:ext>
            </a:extLst>
          </p:cNvPr>
          <p:cNvSpPr txBox="1"/>
          <p:nvPr/>
        </p:nvSpPr>
        <p:spPr>
          <a:xfrm>
            <a:off x="7931867" y="4596786"/>
            <a:ext cx="18451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354"/>
            <a:r>
              <a:rPr lang="en-US" altLang="zh-CN" sz="2400" dirty="0">
                <a:solidFill>
                  <a:srgbClr val="000000"/>
                </a:solidFill>
              </a:rPr>
              <a:t>1</a:t>
            </a:r>
            <a:endParaRPr lang="zh-CN" altLang="en-US" sz="2400" dirty="0">
              <a:solidFill>
                <a:srgbClr val="00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613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2" grpId="0"/>
      <p:bldP spid="13" grpId="0"/>
      <p:bldP spid="15" grpId="0"/>
      <p:bldP spid="16" grpId="0" animBg="1"/>
      <p:bldP spid="4" grpId="0"/>
      <p:bldP spid="14" grpId="0"/>
      <p:bldP spid="14" grpId="1"/>
      <p:bldP spid="17" grpId="0" build="allAtOnce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5"/>
          <p:cNvSpPr>
            <a:spLocks noChangeArrowheads="1"/>
          </p:cNvSpPr>
          <p:nvPr/>
        </p:nvSpPr>
        <p:spPr bwMode="auto">
          <a:xfrm>
            <a:off x="1896259" y="2270938"/>
            <a:ext cx="8482013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70C0"/>
                </a:solidFill>
              </a:rPr>
              <a:t>#define DEVICE_REG0 ((volatile unsigned long *) (0x40000000))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B050"/>
                </a:solidFill>
              </a:rPr>
              <a:t>//</a:t>
            </a:r>
            <a:r>
              <a:rPr lang="zh-CN" altLang="en-US" sz="2000" b="0" dirty="0">
                <a:solidFill>
                  <a:srgbClr val="00B050"/>
                </a:solidFill>
              </a:rPr>
              <a:t>定义位带别名区的地址</a:t>
            </a:r>
            <a:endParaRPr lang="en-US" altLang="zh-CN" sz="2000" b="0" dirty="0">
              <a:solidFill>
                <a:srgbClr val="00B05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70C0"/>
                </a:solidFill>
              </a:rPr>
              <a:t>#define DEVICE_REG0_BIT0 ((volatile unsigned long *) (0x42000000))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70C0"/>
                </a:solidFill>
              </a:rPr>
              <a:t>#define DEVICE_REG0_BIT1 ((volatile unsigned long *) (0x42000004))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70C0"/>
                </a:solidFill>
              </a:rPr>
              <a:t>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B050"/>
                </a:solidFill>
              </a:rPr>
              <a:t>//</a:t>
            </a:r>
            <a:r>
              <a:rPr lang="zh-CN" altLang="en-US" sz="2000" b="0" dirty="0">
                <a:solidFill>
                  <a:srgbClr val="00B050"/>
                </a:solidFill>
              </a:rPr>
              <a:t>使用正常地址访问寄存器</a:t>
            </a:r>
            <a:endParaRPr lang="en-US" altLang="zh-CN" sz="2000" b="0" dirty="0">
              <a:solidFill>
                <a:srgbClr val="00B05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70C0"/>
                </a:solidFill>
              </a:rPr>
              <a:t>*DEVICE_REG0 = 0xAB 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B050"/>
                </a:solidFill>
              </a:rPr>
              <a:t>//</a:t>
            </a:r>
            <a:r>
              <a:rPr lang="zh-CN" altLang="en-US" sz="2000" b="0" dirty="0">
                <a:solidFill>
                  <a:srgbClr val="00B050"/>
                </a:solidFill>
              </a:rPr>
              <a:t>使用传统方法设置</a:t>
            </a:r>
            <a:r>
              <a:rPr lang="en-US" altLang="zh-CN" sz="2000" b="0" dirty="0">
                <a:solidFill>
                  <a:srgbClr val="00B050"/>
                </a:solidFill>
              </a:rPr>
              <a:t>bit1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70C0"/>
                </a:solidFill>
              </a:rPr>
              <a:t>*DEVICE_REG0 = *DEVICE_REG0 | 0x2; </a:t>
            </a:r>
            <a:endParaRPr lang="zh-CN" altLang="en-US" sz="2000" dirty="0">
              <a:solidFill>
                <a:srgbClr val="0070C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/>
              <a:t>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B050"/>
                </a:solidFill>
              </a:rPr>
              <a:t>// </a:t>
            </a:r>
            <a:r>
              <a:rPr lang="zh-CN" altLang="en-US" sz="2000" b="0" dirty="0">
                <a:solidFill>
                  <a:srgbClr val="00B050"/>
                </a:solidFill>
              </a:rPr>
              <a:t>通过位带别名地址设置</a:t>
            </a:r>
            <a:r>
              <a:rPr lang="en-US" altLang="zh-CN" sz="2000" b="0" dirty="0">
                <a:solidFill>
                  <a:srgbClr val="00B050"/>
                </a:solidFill>
              </a:rPr>
              <a:t>bit1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0070C0"/>
                </a:solidFill>
              </a:rPr>
              <a:t>*DEVICE_REG0_BIT1 = 0x1; </a:t>
            </a:r>
          </a:p>
        </p:txBody>
      </p:sp>
      <p:sp>
        <p:nvSpPr>
          <p:cNvPr id="8" name="矩形 10"/>
          <p:cNvSpPr>
            <a:spLocks noChangeArrowheads="1"/>
          </p:cNvSpPr>
          <p:nvPr/>
        </p:nvSpPr>
        <p:spPr bwMode="auto">
          <a:xfrm>
            <a:off x="1778874" y="1308078"/>
            <a:ext cx="14622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实例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：</a:t>
            </a:r>
            <a:endParaRPr lang="en-US" altLang="zh-CN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B35BC7-44DD-4847-A98B-6B13762D2B2F}"/>
              </a:ext>
            </a:extLst>
          </p:cNvPr>
          <p:cNvSpPr/>
          <p:nvPr/>
        </p:nvSpPr>
        <p:spPr>
          <a:xfrm>
            <a:off x="1896259" y="2270938"/>
            <a:ext cx="7609691" cy="35796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391E8D0D-0F74-4F5F-BFBC-74D50D76005B}"/>
              </a:ext>
            </a:extLst>
          </p:cNvPr>
          <p:cNvSpPr/>
          <p:nvPr/>
        </p:nvSpPr>
        <p:spPr>
          <a:xfrm>
            <a:off x="4815840" y="2209978"/>
            <a:ext cx="914400" cy="462102"/>
          </a:xfrm>
          <a:prstGeom prst="ellipse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BB1265-BD37-4D87-B693-4143F4A8B842}"/>
              </a:ext>
            </a:extLst>
          </p:cNvPr>
          <p:cNvSpPr/>
          <p:nvPr/>
        </p:nvSpPr>
        <p:spPr>
          <a:xfrm>
            <a:off x="1896258" y="2889558"/>
            <a:ext cx="8188268" cy="676601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FD1180-C51D-4C55-9240-4F4C1459EDC7}"/>
              </a:ext>
            </a:extLst>
          </p:cNvPr>
          <p:cNvSpPr/>
          <p:nvPr/>
        </p:nvSpPr>
        <p:spPr>
          <a:xfrm>
            <a:off x="1912332" y="4131431"/>
            <a:ext cx="4475406" cy="323003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4DAEA6-387D-4BD1-AAD8-D689B90C198C}"/>
              </a:ext>
            </a:extLst>
          </p:cNvPr>
          <p:cNvSpPr/>
          <p:nvPr/>
        </p:nvSpPr>
        <p:spPr>
          <a:xfrm>
            <a:off x="1921041" y="4732572"/>
            <a:ext cx="5498662" cy="353898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2AA6BC3-8D2B-42E9-A5A2-0696F522530E}"/>
              </a:ext>
            </a:extLst>
          </p:cNvPr>
          <p:cNvSpPr/>
          <p:nvPr/>
        </p:nvSpPr>
        <p:spPr>
          <a:xfrm>
            <a:off x="4027715" y="4639280"/>
            <a:ext cx="2081348" cy="572799"/>
          </a:xfrm>
          <a:prstGeom prst="ellipse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4540EBF-3623-4AD8-AF64-2A456E4D37E3}"/>
              </a:ext>
            </a:extLst>
          </p:cNvPr>
          <p:cNvSpPr/>
          <p:nvPr/>
        </p:nvSpPr>
        <p:spPr>
          <a:xfrm>
            <a:off x="5995853" y="4634925"/>
            <a:ext cx="875210" cy="572799"/>
          </a:xfrm>
          <a:prstGeom prst="ellipse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D1E917C-C772-4456-B21A-AEEB50B66689}"/>
              </a:ext>
            </a:extLst>
          </p:cNvPr>
          <p:cNvSpPr/>
          <p:nvPr/>
        </p:nvSpPr>
        <p:spPr>
          <a:xfrm>
            <a:off x="1921041" y="5652221"/>
            <a:ext cx="5498662" cy="353898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D3AA4C-ED56-44C7-B623-B5F98D618071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位带地址映射与位带操作实例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hdmi_130129">
            <a:extLst>
              <a:ext uri="{FF2B5EF4-FFF2-40B4-BE49-F238E27FC236}">
                <a16:creationId xmlns:a16="http://schemas.microsoft.com/office/drawing/2014/main" id="{A3088B26-2F9C-48AD-ADAF-12E64F71CF9D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3FDB3E7-F6E5-4BE4-82F3-C5267BAC69EB}"/>
              </a:ext>
            </a:extLst>
          </p:cNvPr>
          <p:cNvSpPr/>
          <p:nvPr/>
        </p:nvSpPr>
        <p:spPr>
          <a:xfrm>
            <a:off x="5730240" y="2205208"/>
            <a:ext cx="1828800" cy="462102"/>
          </a:xfrm>
          <a:prstGeom prst="ellipse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F45C9948-44FC-4FB5-B690-4FC7B3BB738A}"/>
              </a:ext>
            </a:extLst>
          </p:cNvPr>
          <p:cNvSpPr/>
          <p:nvPr/>
        </p:nvSpPr>
        <p:spPr>
          <a:xfrm>
            <a:off x="3503749" y="969441"/>
            <a:ext cx="1574800" cy="835116"/>
          </a:xfrm>
          <a:prstGeom prst="borderCallout2">
            <a:avLst>
              <a:gd name="adj1" fmla="val 27266"/>
              <a:gd name="adj2" fmla="val 99577"/>
              <a:gd name="adj3" fmla="val 36047"/>
              <a:gd name="adj4" fmla="val 112870"/>
              <a:gd name="adj5" fmla="val 155081"/>
              <a:gd name="adj6" fmla="val 11720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防止编译器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优化</a:t>
            </a:r>
          </a:p>
        </p:txBody>
      </p:sp>
      <p:sp>
        <p:nvSpPr>
          <p:cNvPr id="18" name="标注: 弯曲线形 17">
            <a:extLst>
              <a:ext uri="{FF2B5EF4-FFF2-40B4-BE49-F238E27FC236}">
                <a16:creationId xmlns:a16="http://schemas.microsoft.com/office/drawing/2014/main" id="{8472304E-9F19-4B49-B3B1-4DDF6CBBFF0C}"/>
              </a:ext>
            </a:extLst>
          </p:cNvPr>
          <p:cNvSpPr/>
          <p:nvPr/>
        </p:nvSpPr>
        <p:spPr>
          <a:xfrm>
            <a:off x="7694023" y="906692"/>
            <a:ext cx="1574800" cy="835116"/>
          </a:xfrm>
          <a:prstGeom prst="borderCallout2">
            <a:avLst>
              <a:gd name="adj1" fmla="val 36999"/>
              <a:gd name="adj2" fmla="val -3817"/>
              <a:gd name="adj3" fmla="val 37000"/>
              <a:gd name="adj4" fmla="val -16667"/>
              <a:gd name="adj5" fmla="val 159947"/>
              <a:gd name="adj6" fmla="val -60215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表明是字地址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801A0BCE-4D11-49F0-8038-D671F88E4ACC}"/>
              </a:ext>
            </a:extLst>
          </p:cNvPr>
          <p:cNvSpPr/>
          <p:nvPr/>
        </p:nvSpPr>
        <p:spPr>
          <a:xfrm>
            <a:off x="1800666" y="4624419"/>
            <a:ext cx="2347264" cy="572799"/>
          </a:xfrm>
          <a:prstGeom prst="ellipse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52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7" grpId="0" animBg="1"/>
      <p:bldP spid="18" grpId="0" animBg="1"/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 位带操作实例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矩形 10"/>
          <p:cNvSpPr>
            <a:spLocks noChangeArrowheads="1"/>
          </p:cNvSpPr>
          <p:nvPr/>
        </p:nvSpPr>
        <p:spPr bwMode="auto">
          <a:xfrm>
            <a:off x="929128" y="1252660"/>
            <a:ext cx="198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问题与思考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76414D-F17A-457E-BDAF-2820392E30A8}"/>
              </a:ext>
            </a:extLst>
          </p:cNvPr>
          <p:cNvSpPr/>
          <p:nvPr/>
        </p:nvSpPr>
        <p:spPr>
          <a:xfrm>
            <a:off x="929128" y="1859340"/>
            <a:ext cx="92031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在地址</a:t>
            </a:r>
            <a:r>
              <a:rPr lang="en-US" altLang="zh-CN" sz="2400" dirty="0"/>
              <a:t>0x20000000 </a:t>
            </a:r>
            <a:r>
              <a:rPr lang="zh-CN" altLang="zh-CN" sz="2400" dirty="0"/>
              <a:t>处写入</a:t>
            </a:r>
            <a:r>
              <a:rPr lang="en-US" altLang="zh-CN" sz="2400" dirty="0"/>
              <a:t>0x12345678</a:t>
            </a:r>
            <a:r>
              <a:rPr lang="zh-CN" altLang="zh-CN" sz="2400" dirty="0"/>
              <a:t>，读取地址 </a:t>
            </a:r>
            <a:r>
              <a:rPr lang="en-US" altLang="zh-CN" sz="2400" dirty="0"/>
              <a:t>0x2200000C</a:t>
            </a:r>
            <a:r>
              <a:rPr lang="zh-CN" altLang="zh-CN" sz="2400" dirty="0"/>
              <a:t>，得到的值是多少？向地址 </a:t>
            </a:r>
            <a:r>
              <a:rPr lang="en-US" altLang="zh-CN" sz="2400" dirty="0"/>
              <a:t>0x22000020</a:t>
            </a:r>
            <a:r>
              <a:rPr lang="zh-CN" altLang="zh-CN" sz="2400" dirty="0"/>
              <a:t>处写</a:t>
            </a:r>
            <a:r>
              <a:rPr lang="en-US" altLang="zh-CN" sz="2400" dirty="0"/>
              <a:t>0x01234567</a:t>
            </a:r>
            <a:r>
              <a:rPr lang="zh-CN" altLang="zh-CN" sz="2400" dirty="0"/>
              <a:t>，再读取 </a:t>
            </a:r>
            <a:r>
              <a:rPr lang="en-US" altLang="zh-CN" sz="2400" dirty="0"/>
              <a:t>0x20000000</a:t>
            </a:r>
            <a:r>
              <a:rPr lang="zh-CN" altLang="zh-CN" sz="2400" dirty="0"/>
              <a:t>，得到的值是多少？ </a:t>
            </a:r>
          </a:p>
        </p:txBody>
      </p:sp>
    </p:spTree>
    <p:extLst>
      <p:ext uri="{BB962C8B-B14F-4D97-AF65-F5344CB8AC3E}">
        <p14:creationId xmlns:p14="http://schemas.microsoft.com/office/powerpoint/2010/main" val="298357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372069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/>
              <a:t>在地址</a:t>
            </a:r>
            <a:r>
              <a:rPr lang="en-US" altLang="zh-CN" sz="2800" dirty="0"/>
              <a:t>0x20000000 </a:t>
            </a:r>
            <a:r>
              <a:rPr lang="zh-CN" altLang="zh-CN" sz="2800" dirty="0"/>
              <a:t>处写入</a:t>
            </a:r>
            <a:r>
              <a:rPr lang="en-US" altLang="zh-CN" sz="2800" dirty="0"/>
              <a:t>0x12345678</a:t>
            </a:r>
            <a:r>
              <a:rPr lang="zh-CN" altLang="zh-CN" sz="2800" dirty="0"/>
              <a:t>，读取地址 </a:t>
            </a:r>
            <a:r>
              <a:rPr lang="en-US" altLang="zh-CN" sz="2800" dirty="0"/>
              <a:t>0x2200000C</a:t>
            </a:r>
            <a:r>
              <a:rPr lang="zh-CN" altLang="zh-CN" sz="2800" dirty="0"/>
              <a:t>，得到的值是多少</a:t>
            </a:r>
            <a:r>
              <a:rPr lang="zh-CN" altLang="zh-CN" sz="2800" dirty="0" smtClean="0"/>
              <a:t>？</a:t>
            </a:r>
            <a:r>
              <a:rPr lang="zh-CN" altLang="en-US" sz="2800" dirty="0" smtClean="0">
                <a:solidFill>
                  <a:srgbClr val="639EF4"/>
                </a:solidFill>
              </a:rPr>
              <a:t> </a:t>
            </a:r>
            <a:r>
              <a:rPr lang="en-US" altLang="zh-CN" sz="2800" dirty="0" smtClean="0">
                <a:solidFill>
                  <a:srgbClr val="639EF4"/>
                </a:solidFill>
              </a:rPr>
              <a:t>[</a:t>
            </a:r>
            <a:r>
              <a:rPr lang="zh-CN" altLang="en-US" sz="2800" dirty="0" smtClean="0">
                <a:solidFill>
                  <a:srgbClr val="639EF4"/>
                </a:solidFill>
              </a:rPr>
              <a:t>填空</a:t>
            </a:r>
            <a:r>
              <a:rPr lang="en-US" altLang="zh-CN" sz="2800" dirty="0" smtClean="0">
                <a:solidFill>
                  <a:srgbClr val="639EF4"/>
                </a:solidFill>
              </a:rPr>
              <a:t>1]</a:t>
            </a:r>
            <a:r>
              <a:rPr lang="en-US" altLang="zh-CN" sz="2800" dirty="0" smtClean="0">
                <a:solidFill>
                  <a:srgbClr val="000000"/>
                </a:solidFill>
              </a:rPr>
              <a:t> </a:t>
            </a:r>
          </a:p>
          <a:p>
            <a:r>
              <a:rPr lang="zh-CN" altLang="zh-CN" sz="2800" dirty="0" smtClean="0"/>
              <a:t>向</a:t>
            </a:r>
            <a:r>
              <a:rPr lang="zh-CN" altLang="zh-CN" sz="2800" dirty="0"/>
              <a:t>地址 </a:t>
            </a:r>
            <a:r>
              <a:rPr lang="en-US" altLang="zh-CN" sz="2800" dirty="0"/>
              <a:t>0x22000020</a:t>
            </a:r>
            <a:r>
              <a:rPr lang="zh-CN" altLang="zh-CN" sz="2800" dirty="0"/>
              <a:t>处写</a:t>
            </a:r>
            <a:r>
              <a:rPr lang="en-US" altLang="zh-CN" sz="2800" dirty="0"/>
              <a:t>0x01234567</a:t>
            </a:r>
            <a:r>
              <a:rPr lang="zh-CN" altLang="zh-CN" sz="2800" dirty="0"/>
              <a:t>，再读取 </a:t>
            </a:r>
            <a:r>
              <a:rPr lang="en-US" altLang="zh-CN" sz="2800" dirty="0"/>
              <a:t>0x20000000</a:t>
            </a:r>
            <a:r>
              <a:rPr lang="zh-CN" altLang="zh-CN" sz="2800" dirty="0"/>
              <a:t>，得到的值是多少？ </a:t>
            </a:r>
            <a:r>
              <a:rPr lang="zh-CN" altLang="en-US" sz="2800" dirty="0" smtClean="0">
                <a:solidFill>
                  <a:srgbClr val="639EF4"/>
                </a:solidFill>
              </a:rPr>
              <a:t> </a:t>
            </a:r>
            <a:r>
              <a:rPr lang="en-US" altLang="zh-CN" sz="2800" dirty="0" smtClean="0">
                <a:solidFill>
                  <a:srgbClr val="639EF4"/>
                </a:solidFill>
              </a:rPr>
              <a:t>[</a:t>
            </a:r>
            <a:r>
              <a:rPr lang="zh-CN" altLang="en-US" sz="2800" dirty="0" smtClean="0">
                <a:solidFill>
                  <a:srgbClr val="639EF4"/>
                </a:solidFill>
              </a:rPr>
              <a:t>填空</a:t>
            </a:r>
            <a:r>
              <a:rPr lang="en-US" altLang="zh-CN" sz="2800" dirty="0" smtClean="0">
                <a:solidFill>
                  <a:srgbClr val="639EF4"/>
                </a:solidFill>
              </a:rPr>
              <a:t>2]</a:t>
            </a:r>
            <a:r>
              <a:rPr lang="en-US" altLang="zh-CN" sz="2800" dirty="0" smtClean="0">
                <a:solidFill>
                  <a:srgbClr val="000000"/>
                </a:solidFill>
              </a:rPr>
              <a:t> </a:t>
            </a:r>
            <a:endParaRPr lang="zh-CN" altLang="zh-CN" sz="2800" dirty="0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1784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 位带操作实例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矩形 10"/>
          <p:cNvSpPr>
            <a:spLocks noChangeArrowheads="1"/>
          </p:cNvSpPr>
          <p:nvPr/>
        </p:nvSpPr>
        <p:spPr bwMode="auto">
          <a:xfrm>
            <a:off x="929128" y="1252660"/>
            <a:ext cx="198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问题与思考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76414D-F17A-457E-BDAF-2820392E30A8}"/>
              </a:ext>
            </a:extLst>
          </p:cNvPr>
          <p:cNvSpPr/>
          <p:nvPr/>
        </p:nvSpPr>
        <p:spPr>
          <a:xfrm>
            <a:off x="929127" y="1853376"/>
            <a:ext cx="920316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在地址</a:t>
            </a:r>
            <a:r>
              <a:rPr lang="en-US" altLang="zh-CN" sz="2400" dirty="0"/>
              <a:t>0x20000000 </a:t>
            </a:r>
            <a:r>
              <a:rPr lang="zh-CN" altLang="zh-CN" sz="2400" dirty="0"/>
              <a:t>处写入</a:t>
            </a:r>
            <a:r>
              <a:rPr lang="en-US" altLang="zh-CN" sz="2400" dirty="0"/>
              <a:t>0x12345678</a:t>
            </a:r>
            <a:r>
              <a:rPr lang="zh-CN" altLang="zh-CN" sz="2400" dirty="0"/>
              <a:t>，读取地址 </a:t>
            </a:r>
            <a:r>
              <a:rPr lang="en-US" altLang="zh-CN" sz="2400" dirty="0"/>
              <a:t>0x2200000C</a:t>
            </a:r>
            <a:r>
              <a:rPr lang="zh-CN" altLang="zh-CN" sz="2400" dirty="0"/>
              <a:t>，得到的值是多少？向地址 </a:t>
            </a:r>
            <a:r>
              <a:rPr lang="en-US" altLang="zh-CN" sz="2400" dirty="0"/>
              <a:t>0x22000020</a:t>
            </a:r>
            <a:r>
              <a:rPr lang="zh-CN" altLang="zh-CN" sz="2400" dirty="0"/>
              <a:t>处写</a:t>
            </a:r>
            <a:r>
              <a:rPr lang="en-US" altLang="zh-CN" sz="2400" dirty="0"/>
              <a:t>0x01234567</a:t>
            </a:r>
            <a:r>
              <a:rPr lang="zh-CN" altLang="zh-CN" sz="2400" dirty="0"/>
              <a:t>，再读取 </a:t>
            </a:r>
            <a:r>
              <a:rPr lang="en-US" altLang="zh-CN" sz="2400" dirty="0"/>
              <a:t>0x20000000</a:t>
            </a:r>
            <a:r>
              <a:rPr lang="zh-CN" altLang="zh-CN" sz="2400" dirty="0"/>
              <a:t>，得到的值是多少？ </a:t>
            </a:r>
          </a:p>
          <a:p>
            <a:r>
              <a:rPr lang="zh-CN" altLang="zh-CN" sz="2400" dirty="0"/>
              <a:t>答：</a:t>
            </a:r>
            <a:r>
              <a:rPr lang="en-US" altLang="zh-CN" sz="2400" dirty="0"/>
              <a:t>1,  0x12345778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21541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042219" y="889844"/>
            <a:ext cx="1026487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kern="100" dirty="0">
                <a:latin typeface="+mn-ea"/>
              </a:rPr>
              <a:t>GPIO</a:t>
            </a:r>
            <a:r>
              <a:rPr lang="zh-CN" altLang="zh-CN" sz="2000" kern="100" dirty="0">
                <a:latin typeface="+mn-ea"/>
              </a:rPr>
              <a:t>的结构体定义如下，已知</a:t>
            </a:r>
            <a:r>
              <a:rPr lang="en-US" altLang="zh-CN" sz="2000" kern="100" dirty="0">
                <a:latin typeface="+mn-ea"/>
              </a:rPr>
              <a:t>GPIOC</a:t>
            </a:r>
            <a:r>
              <a:rPr lang="zh-CN" altLang="zh-CN" sz="2000" kern="100" dirty="0">
                <a:latin typeface="+mn-ea"/>
              </a:rPr>
              <a:t>的基地址为</a:t>
            </a:r>
            <a:r>
              <a:rPr lang="en-US" altLang="zh-CN" sz="2000" kern="100" dirty="0">
                <a:latin typeface="+mn-ea"/>
              </a:rPr>
              <a:t>0x40011000</a:t>
            </a:r>
            <a:r>
              <a:rPr lang="zh-CN" altLang="zh-CN" sz="2000" kern="100" dirty="0">
                <a:latin typeface="+mn-ea"/>
              </a:rPr>
              <a:t>，则</a:t>
            </a:r>
            <a:r>
              <a:rPr lang="en-US" altLang="zh-CN" sz="2000" kern="100" dirty="0">
                <a:latin typeface="+mn-ea"/>
              </a:rPr>
              <a:t>GOIOC-&gt;ODR</a:t>
            </a:r>
            <a:r>
              <a:rPr lang="zh-CN" altLang="zh-CN" sz="2000" kern="100" dirty="0">
                <a:latin typeface="+mn-ea"/>
              </a:rPr>
              <a:t>的地址为</a:t>
            </a:r>
            <a:r>
              <a:rPr lang="en-US" altLang="zh-CN" sz="2000" kern="100" dirty="0">
                <a:latin typeface="+mn-ea"/>
              </a:rPr>
              <a:t>0x</a:t>
            </a:r>
            <a:r>
              <a:rPr lang="zh-CN" altLang="zh-CN" sz="2000" kern="100" dirty="0">
                <a:latin typeface="+mn-ea"/>
              </a:rPr>
              <a:t>（      </a:t>
            </a:r>
            <a:r>
              <a:rPr lang="en-US" altLang="zh-CN" sz="2000" kern="100" dirty="0" smtClean="0">
                <a:latin typeface="+mn-ea"/>
              </a:rPr>
              <a:t> </a:t>
            </a:r>
            <a:r>
              <a:rPr lang="zh-CN" altLang="zh-CN" sz="2000" kern="100" dirty="0" smtClean="0">
                <a:latin typeface="+mn-ea"/>
              </a:rPr>
              <a:t>     </a:t>
            </a:r>
            <a:r>
              <a:rPr lang="zh-CN" altLang="zh-CN" sz="2000" kern="100" dirty="0">
                <a:latin typeface="+mn-ea"/>
              </a:rPr>
              <a:t>），若</a:t>
            </a:r>
            <a:r>
              <a:rPr lang="en-US" altLang="zh-CN" sz="2000" kern="100" dirty="0">
                <a:latin typeface="+mn-ea"/>
              </a:rPr>
              <a:t>PC8~PC15</a:t>
            </a:r>
            <a:r>
              <a:rPr lang="zh-CN" altLang="zh-CN" sz="2000" kern="100" dirty="0">
                <a:latin typeface="+mn-ea"/>
              </a:rPr>
              <a:t>连接</a:t>
            </a:r>
            <a:r>
              <a:rPr lang="en-US" altLang="zh-CN" sz="2000" kern="100" dirty="0">
                <a:latin typeface="+mn-ea"/>
              </a:rPr>
              <a:t>8</a:t>
            </a:r>
            <a:r>
              <a:rPr lang="zh-CN" altLang="zh-CN" sz="2000" kern="100" dirty="0">
                <a:latin typeface="+mn-ea"/>
              </a:rPr>
              <a:t>个发光二极管；</a:t>
            </a:r>
            <a:r>
              <a:rPr lang="en-US" altLang="zh-CN" sz="2000" kern="100" dirty="0">
                <a:latin typeface="+mn-ea"/>
              </a:rPr>
              <a:t>PC0~PC7</a:t>
            </a:r>
            <a:r>
              <a:rPr lang="zh-CN" altLang="zh-CN" sz="2000" kern="100" dirty="0">
                <a:latin typeface="+mn-ea"/>
              </a:rPr>
              <a:t>连接</a:t>
            </a:r>
            <a:r>
              <a:rPr lang="en-US" altLang="zh-CN" sz="2000" kern="100" dirty="0">
                <a:latin typeface="+mn-ea"/>
              </a:rPr>
              <a:t>8</a:t>
            </a:r>
            <a:r>
              <a:rPr lang="zh-CN" altLang="zh-CN" sz="2000" kern="100" dirty="0">
                <a:latin typeface="+mn-ea"/>
              </a:rPr>
              <a:t>个开关。修改位带别名地址</a:t>
            </a:r>
            <a:r>
              <a:rPr lang="en-US" altLang="zh-CN" sz="2000" kern="100" dirty="0">
                <a:latin typeface="+mn-ea"/>
              </a:rPr>
              <a:t>0x</a:t>
            </a:r>
            <a:r>
              <a:rPr lang="zh-CN" altLang="zh-CN" sz="2000" kern="100" dirty="0">
                <a:latin typeface="+mn-ea"/>
              </a:rPr>
              <a:t>（      </a:t>
            </a:r>
            <a:r>
              <a:rPr lang="en-US" altLang="zh-CN" sz="2000" kern="100" dirty="0">
                <a:latin typeface="+mn-ea"/>
              </a:rPr>
              <a:t>     </a:t>
            </a:r>
            <a:r>
              <a:rPr lang="zh-CN" altLang="zh-CN" sz="2000" kern="100" dirty="0">
                <a:latin typeface="+mn-ea"/>
              </a:rPr>
              <a:t>）可以控制</a:t>
            </a:r>
            <a:r>
              <a:rPr lang="en-US" altLang="zh-CN" sz="2000" kern="100" dirty="0">
                <a:latin typeface="+mn-ea"/>
              </a:rPr>
              <a:t>PC11</a:t>
            </a:r>
            <a:r>
              <a:rPr lang="zh-CN" altLang="zh-CN" sz="2000" kern="100" dirty="0">
                <a:latin typeface="+mn-ea"/>
              </a:rPr>
              <a:t>发光二极管的亮灭；当开关</a:t>
            </a:r>
            <a:r>
              <a:rPr lang="en-US" altLang="zh-CN" sz="2000" kern="100" dirty="0">
                <a:latin typeface="+mn-ea"/>
              </a:rPr>
              <a:t>PC5</a:t>
            </a:r>
            <a:r>
              <a:rPr lang="zh-CN" altLang="zh-CN" sz="2000" kern="100" dirty="0">
                <a:latin typeface="+mn-ea"/>
              </a:rPr>
              <a:t>状态发生改变时位带别名地址</a:t>
            </a:r>
            <a:r>
              <a:rPr lang="en-US" altLang="zh-CN" sz="2000" kern="100" dirty="0">
                <a:latin typeface="+mn-ea"/>
              </a:rPr>
              <a:t>0x</a:t>
            </a:r>
            <a:r>
              <a:rPr lang="zh-CN" altLang="zh-CN" sz="2000" kern="100" dirty="0">
                <a:latin typeface="+mn-ea"/>
              </a:rPr>
              <a:t>（ </a:t>
            </a:r>
            <a:r>
              <a:rPr lang="en-US" altLang="zh-CN" sz="2000" kern="100" dirty="0">
                <a:latin typeface="+mn-ea"/>
              </a:rPr>
              <a:t>            </a:t>
            </a:r>
            <a:r>
              <a:rPr lang="zh-CN" altLang="zh-CN" sz="2000" kern="100" dirty="0">
                <a:latin typeface="+mn-ea"/>
              </a:rPr>
              <a:t>）的值会随之改变。</a:t>
            </a:r>
          </a:p>
          <a:p>
            <a:pPr indent="152400"/>
            <a:r>
              <a:rPr lang="en-US" altLang="zh-CN" sz="2000" kern="0" dirty="0" err="1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typedef</a:t>
            </a:r>
            <a:r>
              <a:rPr lang="en-US" altLang="zh-CN" sz="20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struct</a:t>
            </a:r>
            <a:endParaRPr lang="zh-CN" altLang="zh-CN" sz="2000" kern="100" dirty="0">
              <a:latin typeface="+mn-ea"/>
            </a:endParaRPr>
          </a:p>
          <a:p>
            <a:pPr indent="152400"/>
            <a:r>
              <a:rPr lang="en-US" altLang="zh-CN" sz="2000" kern="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{</a:t>
            </a:r>
          </a:p>
          <a:p>
            <a:pPr indent="152400"/>
            <a:r>
              <a:rPr lang="en-US" altLang="zh-CN" sz="2000" kern="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 vu32 </a:t>
            </a:r>
            <a:r>
              <a:rPr lang="en-US" altLang="zh-CN" sz="20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CRL;</a:t>
            </a:r>
            <a:endParaRPr lang="zh-CN" altLang="zh-CN" sz="2000" kern="100" dirty="0">
              <a:latin typeface="+mn-ea"/>
            </a:endParaRPr>
          </a:p>
          <a:p>
            <a:pPr indent="266700"/>
            <a:r>
              <a:rPr lang="en-US" altLang="zh-CN" sz="20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vu32 CRH;</a:t>
            </a:r>
            <a:endParaRPr lang="zh-CN" altLang="zh-CN" sz="2000" kern="100" dirty="0">
              <a:latin typeface="+mn-ea"/>
            </a:endParaRPr>
          </a:p>
          <a:p>
            <a:pPr indent="266700"/>
            <a:r>
              <a:rPr lang="en-US" altLang="zh-CN" sz="20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vu32 IDR;</a:t>
            </a:r>
            <a:endParaRPr lang="zh-CN" altLang="zh-CN" sz="2000" kern="100" dirty="0">
              <a:latin typeface="+mn-ea"/>
            </a:endParaRPr>
          </a:p>
          <a:p>
            <a:pPr indent="266700"/>
            <a:r>
              <a:rPr lang="en-US" altLang="zh-CN" sz="20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vu32 ODR;</a:t>
            </a:r>
            <a:endParaRPr lang="zh-CN" altLang="zh-CN" sz="2000" kern="100" dirty="0">
              <a:latin typeface="+mn-ea"/>
            </a:endParaRPr>
          </a:p>
          <a:p>
            <a:pPr indent="266700"/>
            <a:r>
              <a:rPr lang="en-US" altLang="zh-CN" sz="20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vu32 BSRR;</a:t>
            </a:r>
            <a:endParaRPr lang="zh-CN" altLang="zh-CN" sz="2000" kern="100" dirty="0">
              <a:latin typeface="+mn-ea"/>
            </a:endParaRPr>
          </a:p>
          <a:p>
            <a:pPr indent="266700"/>
            <a:r>
              <a:rPr lang="en-US" altLang="zh-CN" sz="20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vu32 BRR;</a:t>
            </a:r>
            <a:endParaRPr lang="zh-CN" altLang="zh-CN" sz="2000" kern="100" dirty="0">
              <a:latin typeface="+mn-ea"/>
            </a:endParaRPr>
          </a:p>
          <a:p>
            <a:pPr indent="266700"/>
            <a:r>
              <a:rPr lang="en-US" altLang="zh-CN" sz="20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vu32 LCKR;</a:t>
            </a:r>
            <a:endParaRPr lang="zh-CN" altLang="zh-CN" sz="2000" kern="100" dirty="0">
              <a:latin typeface="+mn-ea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} </a:t>
            </a:r>
            <a:r>
              <a:rPr lang="en-US" altLang="zh-CN" sz="2000" kern="0" dirty="0" err="1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GPIO_TypeDef</a:t>
            </a:r>
            <a:r>
              <a:rPr lang="en-US" altLang="zh-CN" sz="20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;</a:t>
            </a:r>
            <a:endParaRPr lang="zh-CN" altLang="zh-CN" sz="2000" kern="100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/>
              <a:t>       位带操作实例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106" y="2630590"/>
            <a:ext cx="3970073" cy="218721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568" y="1937960"/>
            <a:ext cx="4237703" cy="45908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5402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0" name="think-cell Slide" r:id="rId5" imgW="9525" imgH="9525" progId="TCLayout.ActiveDocument.1">
                  <p:embed/>
                </p:oleObj>
              </mc:Choice>
              <mc:Fallback>
                <p:oleObj name="think-cell Slide" r:id="rId5" imgW="9525" imgH="9525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8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9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10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12" name="文本框 5"/>
          <p:cNvSpPr txBox="1"/>
          <p:nvPr/>
        </p:nvSpPr>
        <p:spPr>
          <a:xfrm>
            <a:off x="622577" y="3167390"/>
            <a:ext cx="65529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dirty="0">
                <a:solidFill>
                  <a:srgbClr val="42E6E0"/>
                </a:solidFill>
              </a:rPr>
              <a:t>异常类型和优先级</a:t>
            </a:r>
          </a:p>
        </p:txBody>
      </p:sp>
    </p:spTree>
    <p:extLst>
      <p:ext uri="{BB962C8B-B14F-4D97-AF65-F5344CB8AC3E}">
        <p14:creationId xmlns:p14="http://schemas.microsoft.com/office/powerpoint/2010/main" val="282838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201341" y="1308175"/>
            <a:ext cx="950254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108585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异常和中断的概念</a:t>
            </a:r>
            <a:endParaRPr lang="en-US" altLang="zh-CN" sz="2800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0" lvl="1" indent="0">
              <a:spcBef>
                <a:spcPts val="1800"/>
              </a:spcBef>
              <a:buNone/>
            </a:pPr>
            <a:r>
              <a:rPr lang="en-US" altLang="zh-CN" sz="2400" dirty="0"/>
              <a:t>       </a:t>
            </a:r>
            <a:r>
              <a:rPr lang="zh-CN" altLang="en-US" sz="2400" b="1" dirty="0">
                <a:latin typeface="+mn-ea"/>
                <a:ea typeface="+mn-ea"/>
              </a:rPr>
              <a:t>在</a:t>
            </a:r>
            <a:r>
              <a:rPr lang="en-US" altLang="zh-CN" sz="2400" b="1" dirty="0">
                <a:latin typeface="+mn-ea"/>
                <a:ea typeface="+mn-ea"/>
              </a:rPr>
              <a:t>Cortex-M3</a:t>
            </a:r>
            <a:r>
              <a:rPr lang="zh-CN" altLang="en-US" sz="2400" b="1" dirty="0">
                <a:latin typeface="+mn-ea"/>
                <a:ea typeface="+mn-ea"/>
              </a:rPr>
              <a:t>中，凡是打断程序顺序执行的事件，都被称为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异常</a:t>
            </a:r>
            <a:r>
              <a:rPr lang="zh-CN" altLang="en-US" sz="2400" dirty="0">
                <a:latin typeface="+mn-ea"/>
                <a:ea typeface="+mn-ea"/>
              </a:rPr>
              <a:t>。除了外部中断外，当有指令执行了“非法操作”，或者访问被禁的内存区间等产生的各种错误，以及不可屏蔽中断发生时，都会打断程序的执行，这些情况统称为异常。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异常类型和优先级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50530" y="3995828"/>
            <a:ext cx="94041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ea"/>
              </a:rPr>
              <a:t>       Cortex-M3</a:t>
            </a:r>
            <a:r>
              <a:rPr lang="zh-CN" altLang="en-US" sz="2400" dirty="0">
                <a:latin typeface="+mn-ea"/>
              </a:rPr>
              <a:t>支持大量异常，包括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10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个系统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异常（有参考书算上复位，则为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11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个）</a:t>
            </a:r>
            <a:r>
              <a:rPr lang="zh-CN" altLang="en-US" sz="2400" dirty="0" smtClean="0">
                <a:latin typeface="+mn-ea"/>
              </a:rPr>
              <a:t>，</a:t>
            </a:r>
            <a:r>
              <a:rPr lang="zh-CN" altLang="en-US" sz="2400" dirty="0">
                <a:latin typeface="+mn-ea"/>
              </a:rPr>
              <a:t>和最多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240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个外部中断</a:t>
            </a:r>
            <a:r>
              <a:rPr lang="zh-CN" altLang="en-US" sz="2400" dirty="0">
                <a:latin typeface="+mn-ea"/>
              </a:rPr>
              <a:t>（简称</a:t>
            </a:r>
            <a:r>
              <a:rPr lang="en-US" altLang="zh-CN" sz="2400" dirty="0">
                <a:latin typeface="+mn-ea"/>
              </a:rPr>
              <a:t>IRQ</a:t>
            </a:r>
            <a:r>
              <a:rPr lang="zh-CN" altLang="en-US" sz="2400" dirty="0">
                <a:latin typeface="+mn-ea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3863299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2423080" y="1198879"/>
            <a:ext cx="9372678" cy="11420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423080" y="1001044"/>
            <a:ext cx="817960" cy="53136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423077" y="1001044"/>
          <a:ext cx="9372679" cy="4345544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825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3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3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3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编号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类型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优先级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简介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3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复位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-3</a:t>
                      </a:r>
                      <a:r>
                        <a:rPr lang="zh-CN" sz="1400" kern="0">
                          <a:effectLst/>
                        </a:rPr>
                        <a:t>（最高）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复位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3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2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NMI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-2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</a:rPr>
                        <a:t>不可屏蔽中断（来自外部</a:t>
                      </a:r>
                      <a:r>
                        <a:rPr lang="en-US" sz="1400" kern="0">
                          <a:effectLst/>
                        </a:rPr>
                        <a:t>NMI</a:t>
                      </a:r>
                      <a:r>
                        <a:rPr lang="zh-CN" sz="1400" kern="0">
                          <a:effectLst/>
                        </a:rPr>
                        <a:t>输入脚）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4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3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硬（</a:t>
                      </a:r>
                      <a:r>
                        <a:rPr lang="en-US" sz="1400" kern="0" dirty="0">
                          <a:effectLst/>
                        </a:rPr>
                        <a:t>hard</a:t>
                      </a:r>
                      <a:r>
                        <a:rPr lang="zh-CN" sz="1400" kern="0" dirty="0">
                          <a:effectLst/>
                        </a:rPr>
                        <a:t>）</a:t>
                      </a:r>
                      <a:r>
                        <a:rPr lang="en-US" sz="1400" kern="0" dirty="0">
                          <a:effectLst/>
                        </a:rPr>
                        <a:t>fault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-1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所有被除能的</a:t>
                      </a:r>
                      <a:r>
                        <a:rPr lang="en-US" sz="1400" kern="0" dirty="0">
                          <a:effectLst/>
                        </a:rPr>
                        <a:t>fault</a:t>
                      </a:r>
                      <a:r>
                        <a:rPr lang="zh-CN" sz="1400" kern="0" dirty="0">
                          <a:effectLst/>
                        </a:rPr>
                        <a:t>，都将“上升”</a:t>
                      </a:r>
                      <a:r>
                        <a:rPr lang="en-US" sz="1400" kern="0" dirty="0">
                          <a:effectLst/>
                        </a:rPr>
                        <a:t>(escalation)</a:t>
                      </a:r>
                      <a:r>
                        <a:rPr lang="zh-CN" sz="1400" kern="0" dirty="0">
                          <a:effectLst/>
                        </a:rPr>
                        <a:t>成硬</a:t>
                      </a:r>
                      <a:r>
                        <a:rPr lang="en-US" sz="1400" kern="0" dirty="0">
                          <a:effectLst/>
                        </a:rPr>
                        <a:t> fault</a:t>
                      </a:r>
                      <a:r>
                        <a:rPr lang="zh-CN" sz="1400" kern="0" dirty="0">
                          <a:effectLst/>
                        </a:rPr>
                        <a:t>。只要</a:t>
                      </a:r>
                      <a:r>
                        <a:rPr lang="en-US" sz="1400" kern="0" dirty="0">
                          <a:effectLst/>
                        </a:rPr>
                        <a:t>FAULTMASK</a:t>
                      </a:r>
                      <a:r>
                        <a:rPr lang="zh-CN" sz="1400" kern="0" dirty="0">
                          <a:effectLst/>
                        </a:rPr>
                        <a:t>没有置位，硬</a:t>
                      </a:r>
                      <a:r>
                        <a:rPr lang="en-US" sz="1400" kern="0" dirty="0">
                          <a:effectLst/>
                        </a:rPr>
                        <a:t>fault</a:t>
                      </a:r>
                      <a:r>
                        <a:rPr lang="zh-CN" sz="1400" kern="0" dirty="0">
                          <a:effectLst/>
                        </a:rPr>
                        <a:t>服务例程就被强制执行。</a:t>
                      </a:r>
                      <a:r>
                        <a:rPr lang="en-US" sz="1400" kern="0" dirty="0">
                          <a:effectLst/>
                        </a:rPr>
                        <a:t>Fault</a:t>
                      </a:r>
                      <a:r>
                        <a:rPr lang="zh-CN" sz="1400" kern="0" dirty="0">
                          <a:effectLst/>
                        </a:rPr>
                        <a:t>被除能的原因包括被禁用，或者</a:t>
                      </a:r>
                      <a:r>
                        <a:rPr lang="en-US" sz="1400" kern="0" dirty="0">
                          <a:effectLst/>
                        </a:rPr>
                        <a:t>FAULTMASK</a:t>
                      </a:r>
                      <a:r>
                        <a:rPr lang="zh-CN" sz="1400" kern="0" dirty="0">
                          <a:effectLst/>
                        </a:rPr>
                        <a:t>被置位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4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effectLst/>
                        </a:rPr>
                        <a:t>MemManage</a:t>
                      </a:r>
                      <a:endParaRPr lang="zh-CN" sz="14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fault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可编程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存储器管理</a:t>
                      </a:r>
                      <a:r>
                        <a:rPr lang="en-US" sz="1400" kern="0" dirty="0">
                          <a:effectLst/>
                        </a:rPr>
                        <a:t>fault</a:t>
                      </a:r>
                      <a:r>
                        <a:rPr lang="zh-CN" sz="1400" kern="0" dirty="0">
                          <a:effectLst/>
                        </a:rPr>
                        <a:t>，</a:t>
                      </a:r>
                      <a:r>
                        <a:rPr lang="en-US" sz="1400" kern="0" dirty="0">
                          <a:effectLst/>
                        </a:rPr>
                        <a:t>MPU</a:t>
                      </a:r>
                      <a:r>
                        <a:rPr lang="zh-CN" sz="1400" kern="0" dirty="0">
                          <a:effectLst/>
                        </a:rPr>
                        <a:t>访问犯规以及访问非法位置均可引发。企图在“非执行区”取指也会引发此</a:t>
                      </a:r>
                      <a:r>
                        <a:rPr lang="en-US" sz="1400" kern="0" dirty="0">
                          <a:effectLst/>
                        </a:rPr>
                        <a:t> fault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6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5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</a:rPr>
                        <a:t>总线</a:t>
                      </a:r>
                      <a:r>
                        <a:rPr lang="en-US" sz="1400" kern="0">
                          <a:effectLst/>
                        </a:rPr>
                        <a:t>fault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</a:rPr>
                        <a:t>可编程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从总线系统收到了错误响应，原因可以是预取</a:t>
                      </a:r>
                      <a:r>
                        <a:rPr lang="zh-CN" altLang="en-US" sz="1400" kern="0" dirty="0">
                          <a:effectLst/>
                        </a:rPr>
                        <a:t>中止</a:t>
                      </a:r>
                      <a:r>
                        <a:rPr lang="zh-CN" sz="1400" kern="0" dirty="0">
                          <a:effectLst/>
                        </a:rPr>
                        <a:t>或数据</a:t>
                      </a:r>
                      <a:r>
                        <a:rPr lang="zh-CN" altLang="en-US" sz="1400" kern="0" dirty="0">
                          <a:effectLst/>
                        </a:rPr>
                        <a:t>访问错误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5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6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</a:rPr>
                        <a:t>用法</a:t>
                      </a:r>
                      <a:r>
                        <a:rPr lang="en-US" sz="1400" kern="0">
                          <a:effectLst/>
                        </a:rPr>
                        <a:t>(usage)</a:t>
                      </a:r>
                      <a:endParaRPr lang="zh-CN" sz="1400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Fault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可编程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由于程序错误导致的异常。通常是使用了一条无效指令，或者是非法的状态转换，例如尝试切换到</a:t>
                      </a:r>
                      <a:r>
                        <a:rPr lang="en-US" sz="1400" kern="0" dirty="0">
                          <a:effectLst/>
                        </a:rPr>
                        <a:t> ARM</a:t>
                      </a:r>
                      <a:r>
                        <a:rPr lang="zh-CN" sz="1400" kern="0" dirty="0">
                          <a:effectLst/>
                        </a:rPr>
                        <a:t>状态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3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7-10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</a:rPr>
                        <a:t>保留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N/A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N/A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3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11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SVCall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</a:rPr>
                        <a:t>可编程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执行系统服务调用指令（</a:t>
                      </a:r>
                      <a:r>
                        <a:rPr lang="en-US" sz="1400" kern="0" dirty="0">
                          <a:effectLst/>
                        </a:rPr>
                        <a:t>SVC</a:t>
                      </a:r>
                      <a:r>
                        <a:rPr lang="zh-CN" sz="1400" kern="0" dirty="0">
                          <a:effectLst/>
                        </a:rPr>
                        <a:t>）引发的异常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3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12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</a:rPr>
                        <a:t>调试监视器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</a:rPr>
                        <a:t>可编程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调试监视器（断点，数据观察点，或者是外部调试请求）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3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13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</a:rPr>
                        <a:t>保留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N/A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N/A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63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14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PendSV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</a:rPr>
                        <a:t>可编程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1400" kern="0" dirty="0">
                          <a:effectLst/>
                        </a:rPr>
                        <a:t>可挂起的</a:t>
                      </a:r>
                      <a:r>
                        <a:rPr lang="zh-CN" altLang="zh-CN" sz="1400" kern="0" dirty="0">
                          <a:effectLst/>
                        </a:rPr>
                        <a:t>系统</a:t>
                      </a:r>
                      <a:r>
                        <a:rPr lang="zh-CN" altLang="en-US" sz="1400" kern="0" dirty="0">
                          <a:effectLst/>
                        </a:rPr>
                        <a:t>服务</a:t>
                      </a:r>
                      <a:endParaRPr lang="zh-CN" alt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63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15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effectLst/>
                        </a:rPr>
                        <a:t>SysTick</a:t>
                      </a:r>
                      <a:r>
                        <a:rPr lang="en-US" sz="1400" kern="0" dirty="0">
                          <a:effectLst/>
                        </a:rPr>
                        <a:t>  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</a:rPr>
                        <a:t>可编程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系统滴答定时器（也就是周期性溢出的时基定时器）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矩形 5"/>
          <p:cNvSpPr>
            <a:spLocks noChangeArrowheads="1"/>
          </p:cNvSpPr>
          <p:nvPr/>
        </p:nvSpPr>
        <p:spPr bwMode="auto">
          <a:xfrm>
            <a:off x="693350" y="2974760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系统异常</a:t>
            </a:r>
          </a:p>
        </p:txBody>
      </p:sp>
      <p:sp>
        <p:nvSpPr>
          <p:cNvPr id="9" name="矩形 8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异常类型和优先级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23078" y="5339309"/>
          <a:ext cx="9372679" cy="97536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825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3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3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16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IRQ #0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</a:rPr>
                        <a:t>可编程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</a:rPr>
                        <a:t>外中断</a:t>
                      </a:r>
                      <a:r>
                        <a:rPr lang="en-US" sz="1600" kern="0">
                          <a:effectLst/>
                        </a:rPr>
                        <a:t>#0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17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IRQ #1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可编程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外中断</a:t>
                      </a:r>
                      <a:r>
                        <a:rPr lang="en-US" sz="1600" kern="0" dirty="0">
                          <a:effectLst/>
                        </a:rPr>
                        <a:t>#1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... ...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... ...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... ...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... ...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255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IRQ #239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</a:rPr>
                        <a:t>可编程</a:t>
                      </a:r>
                      <a:r>
                        <a:rPr lang="en-US" sz="1600" kern="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外中断</a:t>
                      </a:r>
                      <a:r>
                        <a:rPr lang="en-US" sz="1600" kern="0" dirty="0">
                          <a:effectLst/>
                        </a:rPr>
                        <a:t>#239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矩形 5"/>
          <p:cNvSpPr>
            <a:spLocks noChangeArrowheads="1"/>
          </p:cNvSpPr>
          <p:nvPr/>
        </p:nvSpPr>
        <p:spPr bwMode="auto">
          <a:xfrm>
            <a:off x="693350" y="5627396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外部中断</a:t>
            </a:r>
          </a:p>
        </p:txBody>
      </p:sp>
      <p:sp>
        <p:nvSpPr>
          <p:cNvPr id="14" name="Rectangle 5"/>
          <p:cNvSpPr txBox="1">
            <a:spLocks noChangeArrowheads="1"/>
          </p:cNvSpPr>
          <p:nvPr/>
        </p:nvSpPr>
        <p:spPr bwMode="auto">
          <a:xfrm>
            <a:off x="38405" y="919452"/>
            <a:ext cx="2131442" cy="558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u"/>
              <a:defRPr/>
            </a:pPr>
            <a:r>
              <a:rPr lang="zh-CN" altLang="en-US" sz="2800" kern="0" dirty="0">
                <a:solidFill>
                  <a:srgbClr val="FF0000"/>
                </a:solidFill>
              </a:rPr>
              <a:t>异常类型</a:t>
            </a:r>
          </a:p>
        </p:txBody>
      </p:sp>
      <p:sp>
        <p:nvSpPr>
          <p:cNvPr id="3" name="左大括号 2"/>
          <p:cNvSpPr/>
          <p:nvPr/>
        </p:nvSpPr>
        <p:spPr>
          <a:xfrm>
            <a:off x="2153920" y="1337480"/>
            <a:ext cx="269156" cy="3864439"/>
          </a:xfrm>
          <a:prstGeom prst="leftBrace">
            <a:avLst/>
          </a:prstGeom>
          <a:ln w="158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左大括号 4"/>
          <p:cNvSpPr/>
          <p:nvPr/>
        </p:nvSpPr>
        <p:spPr>
          <a:xfrm>
            <a:off x="2153919" y="5483978"/>
            <a:ext cx="269156" cy="723782"/>
          </a:xfrm>
          <a:prstGeom prst="leftBrace">
            <a:avLst/>
          </a:prstGeom>
          <a:ln w="158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23074" y="1209619"/>
            <a:ext cx="9387925" cy="2127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423074" y="1425519"/>
            <a:ext cx="9387925" cy="2127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407831" y="2326867"/>
            <a:ext cx="9387925" cy="4623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07830" y="2799944"/>
            <a:ext cx="9387925" cy="4454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423074" y="3250194"/>
            <a:ext cx="9387925" cy="4454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407830" y="1657266"/>
            <a:ext cx="9387925" cy="6696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407829" y="5339653"/>
            <a:ext cx="9387925" cy="9750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76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" grpId="0" animBg="1"/>
      <p:bldP spid="7" grpId="0"/>
      <p:bldP spid="11" grpId="0"/>
      <p:bldP spid="3" grpId="0" animBg="1"/>
      <p:bldP spid="5" grpId="0" animBg="1"/>
      <p:bldP spid="6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10"/>
          <p:cNvSpPr>
            <a:spLocks noChangeArrowheads="1"/>
          </p:cNvSpPr>
          <p:nvPr/>
        </p:nvSpPr>
        <p:spPr bwMode="auto">
          <a:xfrm>
            <a:off x="461984" y="1892467"/>
            <a:ext cx="5976916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特殊功能寄存器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IPSR</a:t>
            </a:r>
            <a:r>
              <a:rPr lang="zh-CN" altLang="en-US" sz="2400" dirty="0" smtClean="0">
                <a:latin typeface="+mn-ea"/>
              </a:rPr>
              <a:t>。</a:t>
            </a:r>
            <a:endParaRPr lang="en-US" altLang="zh-CN" sz="2400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异常类型和优先级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1984" y="907293"/>
            <a:ext cx="78572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ea"/>
              </a:rPr>
              <a:t>Cortex-M3</a:t>
            </a:r>
            <a:r>
              <a:rPr lang="zh-CN" altLang="en-US" sz="2400" dirty="0">
                <a:latin typeface="+mn-ea"/>
              </a:rPr>
              <a:t>有两个地方记录了当前正服务异常的编号：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1525624"/>
            <a:ext cx="5130801" cy="49019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DF4421D-DB15-4540-BA28-2B49102D3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38" y="2647228"/>
            <a:ext cx="6007470" cy="884148"/>
          </a:xfrm>
          <a:prstGeom prst="rect">
            <a:avLst/>
          </a:prstGeom>
        </p:spPr>
      </p:pic>
      <p:sp>
        <p:nvSpPr>
          <p:cNvPr id="9" name="矩形 10"/>
          <p:cNvSpPr>
            <a:spLocks noChangeArrowheads="1"/>
          </p:cNvSpPr>
          <p:nvPr/>
        </p:nvSpPr>
        <p:spPr bwMode="auto">
          <a:xfrm>
            <a:off x="461984" y="4673216"/>
            <a:ext cx="5976916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2400" b="0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0" dirty="0">
                <a:latin typeface="+mn-ea"/>
                <a:ea typeface="+mn-ea"/>
              </a:rPr>
              <a:t>在</a:t>
            </a:r>
            <a:r>
              <a:rPr lang="en-US" altLang="zh-CN" sz="2400" b="0" dirty="0">
                <a:latin typeface="+mn-ea"/>
                <a:ea typeface="+mn-ea"/>
              </a:rPr>
              <a:t>NVIC </a:t>
            </a:r>
            <a:r>
              <a:rPr lang="zh-CN" altLang="en-US" sz="2400" b="0" dirty="0">
                <a:latin typeface="+mn-ea"/>
                <a:ea typeface="+mn-ea"/>
              </a:rPr>
              <a:t>的中断控制及状态寄存器（</a:t>
            </a:r>
            <a:r>
              <a:rPr lang="en-US" altLang="zh-CN" sz="2400" dirty="0">
                <a:latin typeface="+mn-ea"/>
                <a:ea typeface="+mn-ea"/>
              </a:rPr>
              <a:t>ICSR</a:t>
            </a:r>
            <a:r>
              <a:rPr lang="zh-CN" altLang="en-US" sz="2400" b="0" dirty="0">
                <a:latin typeface="+mn-ea"/>
                <a:ea typeface="+mn-ea"/>
              </a:rPr>
              <a:t>）中，有一个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VECTACTIVE</a:t>
            </a:r>
            <a:r>
              <a:rPr lang="en-US" altLang="zh-CN" sz="2400" b="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2400" b="0" dirty="0">
                <a:latin typeface="+mn-ea"/>
                <a:ea typeface="+mn-ea"/>
              </a:rPr>
              <a:t>位段；</a:t>
            </a:r>
            <a:endParaRPr lang="en-US" altLang="zh-CN" sz="24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8696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1071377" y="1142735"/>
            <a:ext cx="848677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342900" indent="-342900" defTabSz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0">
                <a:solidFill>
                  <a:srgbClr val="FF0000"/>
                </a:solidFill>
              </a:defRPr>
            </a:lvl1pPr>
            <a:lvl2pPr marL="742950" indent="-285750" defTabSz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/>
            </a:lvl2pPr>
            <a:lvl3pPr marL="1143000" indent="-228600" defTabSz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/>
            </a:lvl3pPr>
            <a:lvl4pPr marL="1600200" indent="-228600" defTabSz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/>
            </a:lvl4pPr>
            <a:lvl5pPr marL="2057400" indent="-228600" defTabSz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5pPr>
            <a:lvl6pPr marL="2514600" indent="-228600" defTabSz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6pPr>
            <a:lvl7pPr marL="2971800" indent="-228600" defTabSz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7pPr>
            <a:lvl8pPr marL="3429000" indent="-228600" defTabSz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8pPr>
            <a:lvl9pPr marL="3886200" indent="-228600" defTabSz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zh-CN" altLang="en-US" dirty="0"/>
              <a:t>优先级</a:t>
            </a:r>
          </a:p>
        </p:txBody>
      </p:sp>
      <p:sp>
        <p:nvSpPr>
          <p:cNvPr id="7" name="矩形 6"/>
          <p:cNvSpPr/>
          <p:nvPr/>
        </p:nvSpPr>
        <p:spPr>
          <a:xfrm>
            <a:off x="570867" y="1783467"/>
            <a:ext cx="105669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0" dirty="0"/>
              <a:t>       优先级对于异常来说很关键的，它会影响一个异常是否能被响应，以及何时可以响应。</a:t>
            </a:r>
            <a:endParaRPr lang="en-US" altLang="zh-CN" sz="2400" b="0" dirty="0"/>
          </a:p>
        </p:txBody>
      </p:sp>
      <p:sp>
        <p:nvSpPr>
          <p:cNvPr id="8" name="矩形 7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异常类型和优先级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5"/>
          <p:cNvSpPr>
            <a:spLocks noChangeArrowheads="1"/>
          </p:cNvSpPr>
          <p:nvPr/>
        </p:nvSpPr>
        <p:spPr bwMode="auto">
          <a:xfrm>
            <a:off x="2826143" y="2704463"/>
            <a:ext cx="6598844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+mn-ea"/>
                <a:ea typeface="+mn-ea"/>
              </a:rPr>
              <a:t>Cortex-M3</a:t>
            </a:r>
            <a:r>
              <a:rPr lang="zh-CN" altLang="en-US" sz="2400" b="0" dirty="0">
                <a:latin typeface="+mn-ea"/>
                <a:ea typeface="+mn-ea"/>
              </a:rPr>
              <a:t>用最多</a:t>
            </a:r>
            <a:r>
              <a:rPr lang="en-US" altLang="zh-CN" sz="2400" b="0" dirty="0">
                <a:solidFill>
                  <a:srgbClr val="FF0000"/>
                </a:solidFill>
                <a:latin typeface="+mn-ea"/>
                <a:ea typeface="+mn-ea"/>
              </a:rPr>
              <a:t>8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位表达优先级</a:t>
            </a:r>
            <a:r>
              <a:rPr lang="zh-CN" altLang="en-US" sz="2400" b="0" dirty="0">
                <a:latin typeface="+mn-ea"/>
                <a:ea typeface="+mn-ea"/>
              </a:rPr>
              <a:t>，可支持：</a:t>
            </a:r>
            <a:endParaRPr lang="en-US" altLang="zh-CN" sz="2400" b="0" dirty="0">
              <a:latin typeface="+mn-ea"/>
              <a:ea typeface="+mn-ea"/>
            </a:endParaRPr>
          </a:p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400" b="0" dirty="0">
                <a:latin typeface="+mn-ea"/>
                <a:ea typeface="+mn-ea"/>
              </a:rPr>
              <a:t>3</a:t>
            </a:r>
            <a:r>
              <a:rPr lang="zh-CN" altLang="en-US" sz="2400" b="0" dirty="0">
                <a:latin typeface="+mn-ea"/>
                <a:ea typeface="+mn-ea"/>
              </a:rPr>
              <a:t>个固定的高</a:t>
            </a:r>
            <a:r>
              <a:rPr lang="zh-CN" altLang="en-US" sz="2400" b="0" dirty="0" smtClean="0">
                <a:latin typeface="+mn-ea"/>
                <a:ea typeface="+mn-ea"/>
              </a:rPr>
              <a:t>优先级（</a:t>
            </a:r>
            <a:r>
              <a:rPr lang="en-US" altLang="zh-CN" sz="2400" b="0" dirty="0" smtClean="0">
                <a:latin typeface="+mn-ea"/>
                <a:ea typeface="+mn-ea"/>
              </a:rPr>
              <a:t>reset  NMI </a:t>
            </a:r>
            <a:r>
              <a:rPr lang="en-US" altLang="zh-CN" sz="2400" b="0" dirty="0" err="1" smtClean="0">
                <a:latin typeface="+mn-ea"/>
                <a:ea typeface="+mn-ea"/>
              </a:rPr>
              <a:t>Hardfault</a:t>
            </a:r>
            <a:r>
              <a:rPr lang="zh-CN" altLang="en-US" sz="2400" b="0" dirty="0" smtClean="0">
                <a:latin typeface="+mn-ea"/>
                <a:ea typeface="+mn-ea"/>
              </a:rPr>
              <a:t>）</a:t>
            </a:r>
            <a:endParaRPr lang="en-US" altLang="zh-CN" sz="2400" b="0" dirty="0">
              <a:latin typeface="+mn-ea"/>
              <a:ea typeface="+mn-ea"/>
            </a:endParaRPr>
          </a:p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400" b="0" dirty="0">
                <a:latin typeface="+mn-ea"/>
                <a:ea typeface="+mn-ea"/>
              </a:rPr>
              <a:t>256</a:t>
            </a:r>
            <a:r>
              <a:rPr lang="zh-CN" altLang="en-US" sz="2400" b="0" dirty="0">
                <a:latin typeface="+mn-ea"/>
                <a:ea typeface="+mn-ea"/>
              </a:rPr>
              <a:t>级的可编程优先级</a:t>
            </a:r>
            <a:endParaRPr lang="en-US" altLang="zh-CN" sz="2400" b="0" dirty="0">
              <a:latin typeface="+mn-ea"/>
              <a:ea typeface="+mn-ea"/>
            </a:endParaRPr>
          </a:p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400" b="0" dirty="0">
                <a:latin typeface="+mn-ea"/>
                <a:ea typeface="+mn-ea"/>
              </a:rPr>
              <a:t>128</a:t>
            </a:r>
            <a:r>
              <a:rPr lang="zh-CN" altLang="en-US" sz="2400" b="0" dirty="0">
                <a:latin typeface="+mn-ea"/>
                <a:ea typeface="+mn-ea"/>
              </a:rPr>
              <a:t>级抢占优先级</a:t>
            </a:r>
            <a:endParaRPr lang="en-US" altLang="zh-CN" sz="2400" b="0" dirty="0"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0867" y="5101117"/>
            <a:ext cx="106238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+mn-ea"/>
              </a:rPr>
              <a:t>      优先级号是以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MSB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对齐</a:t>
            </a:r>
            <a:r>
              <a:rPr lang="zh-CN" altLang="en-US" sz="2400" dirty="0">
                <a:latin typeface="+mn-ea"/>
              </a:rPr>
              <a:t>，设计时会裁掉表达优先级的几个低端有效位，达到减少优先级数的目的。</a:t>
            </a:r>
          </a:p>
        </p:txBody>
      </p:sp>
      <p:sp>
        <p:nvSpPr>
          <p:cNvPr id="2" name="矩形 1"/>
          <p:cNvSpPr/>
          <p:nvPr/>
        </p:nvSpPr>
        <p:spPr>
          <a:xfrm>
            <a:off x="570867" y="4478303"/>
            <a:ext cx="104907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      表达优先级</a:t>
            </a:r>
            <a:r>
              <a:rPr lang="zh-CN" altLang="zh-CN" sz="2400" kern="100" dirty="0">
                <a:latin typeface="+mn-ea"/>
                <a:cs typeface="Times New Roman" panose="02020603050405020304" pitchFamily="18" charset="0"/>
              </a:rPr>
              <a:t>允许使用的</a:t>
            </a:r>
            <a:r>
              <a:rPr lang="zh-CN" altLang="zh-CN" sz="24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最少位数为</a:t>
            </a:r>
            <a:r>
              <a:rPr lang="en-US" altLang="zh-CN" sz="24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zh-CN" sz="24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位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，</a:t>
            </a:r>
            <a:r>
              <a:rPr lang="zh-CN" altLang="zh-CN" sz="2400" dirty="0">
                <a:latin typeface="+mn-ea"/>
              </a:rPr>
              <a:t>因此</a:t>
            </a:r>
            <a:r>
              <a:rPr lang="en-US" altLang="zh-CN" sz="2400" dirty="0">
                <a:latin typeface="+mn-ea"/>
              </a:rPr>
              <a:t>CM3</a:t>
            </a:r>
            <a:r>
              <a:rPr lang="zh-CN" altLang="zh-CN" sz="2400" dirty="0">
                <a:latin typeface="+mn-ea"/>
              </a:rPr>
              <a:t>至少要支持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8</a:t>
            </a:r>
            <a:r>
              <a:rPr lang="zh-CN" altLang="zh-CN" sz="2400" dirty="0">
                <a:solidFill>
                  <a:srgbClr val="FF0000"/>
                </a:solidFill>
                <a:latin typeface="+mn-ea"/>
              </a:rPr>
              <a:t>级优先级</a:t>
            </a:r>
            <a:r>
              <a:rPr lang="zh-CN" altLang="zh-CN" sz="2400" dirty="0">
                <a:latin typeface="+mn-ea"/>
              </a:rPr>
              <a:t>。</a:t>
            </a: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61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689599" y="2409853"/>
            <a:ext cx="3505197" cy="121726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96798" y="2409853"/>
            <a:ext cx="2092802" cy="12172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596798" y="2409853"/>
          <a:ext cx="5597999" cy="1217267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699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0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0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690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Bit7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Bit6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Bit5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Bit4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Bit3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Bit2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Bit1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Bit0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235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用于表达优先级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0" dirty="0">
                          <a:effectLst/>
                        </a:rPr>
                        <a:t>未使用</a:t>
                      </a:r>
                      <a:r>
                        <a:rPr lang="zh-CN" sz="2000" b="1" kern="0" dirty="0">
                          <a:effectLst/>
                        </a:rPr>
                        <a:t>，读回零</a:t>
                      </a:r>
                      <a:endParaRPr lang="zh-CN" sz="2000" b="1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矩形 5"/>
          <p:cNvSpPr>
            <a:spLocks noChangeArrowheads="1"/>
          </p:cNvSpPr>
          <p:nvPr/>
        </p:nvSpPr>
        <p:spPr bwMode="auto">
          <a:xfrm>
            <a:off x="1125970" y="1538569"/>
            <a:ext cx="103617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例：</a:t>
            </a:r>
            <a:r>
              <a:rPr lang="zh-CN" altLang="en-US" sz="2400" b="0" dirty="0">
                <a:latin typeface="+mn-ea"/>
                <a:ea typeface="+mn-ea"/>
              </a:rPr>
              <a:t>使用了</a:t>
            </a:r>
            <a:r>
              <a:rPr lang="en-US" altLang="zh-CN" sz="2400" b="0" dirty="0">
                <a:latin typeface="+mn-ea"/>
                <a:ea typeface="+mn-ea"/>
              </a:rPr>
              <a:t>3 </a:t>
            </a:r>
            <a:r>
              <a:rPr lang="zh-CN" altLang="en-US" sz="2400" b="0" dirty="0">
                <a:latin typeface="+mn-ea"/>
                <a:ea typeface="+mn-ea"/>
              </a:rPr>
              <a:t>个位来表达优先级，则优先级配置寄存器的结构会如下图所示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4" name="矩形 10"/>
          <p:cNvSpPr>
            <a:spLocks noChangeArrowheads="1"/>
          </p:cNvSpPr>
          <p:nvPr/>
        </p:nvSpPr>
        <p:spPr bwMode="auto">
          <a:xfrm>
            <a:off x="4109797" y="3939192"/>
            <a:ext cx="457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+mj-ea"/>
                <a:ea typeface="+mj-ea"/>
              </a:rPr>
              <a:t>使用</a:t>
            </a:r>
            <a:r>
              <a:rPr lang="en-US" altLang="zh-CN" sz="2000" dirty="0">
                <a:latin typeface="+mj-ea"/>
                <a:ea typeface="+mj-ea"/>
              </a:rPr>
              <a:t>3 </a:t>
            </a:r>
            <a:r>
              <a:rPr lang="zh-CN" altLang="en-US" sz="2000" dirty="0">
                <a:latin typeface="+mj-ea"/>
                <a:ea typeface="+mj-ea"/>
              </a:rPr>
              <a:t>个位来表达优先级的情况</a:t>
            </a:r>
          </a:p>
        </p:txBody>
      </p:sp>
      <p:sp>
        <p:nvSpPr>
          <p:cNvPr id="5" name="矩形 11"/>
          <p:cNvSpPr>
            <a:spLocks noChangeArrowheads="1"/>
          </p:cNvSpPr>
          <p:nvPr/>
        </p:nvSpPr>
        <p:spPr bwMode="auto">
          <a:xfrm>
            <a:off x="1916083" y="4651375"/>
            <a:ext cx="100802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我们能够使用的</a:t>
            </a:r>
            <a:r>
              <a:rPr lang="zh-CN" altLang="en-US" sz="2400" dirty="0">
                <a:latin typeface="+mn-ea"/>
                <a:ea typeface="+mn-ea"/>
              </a:rPr>
              <a:t>优先级有</a:t>
            </a:r>
            <a:r>
              <a:rPr lang="en-US" altLang="zh-CN" sz="2400" dirty="0">
                <a:latin typeface="+mn-ea"/>
                <a:ea typeface="+mn-ea"/>
              </a:rPr>
              <a:t>8</a:t>
            </a:r>
            <a:r>
              <a:rPr lang="zh-CN" altLang="en-US" sz="2400" dirty="0">
                <a:latin typeface="+mn-ea"/>
                <a:ea typeface="+mn-ea"/>
              </a:rPr>
              <a:t>个分别</a:t>
            </a:r>
            <a:r>
              <a:rPr lang="zh-CN" altLang="en-US" sz="2400" b="0" dirty="0">
                <a:latin typeface="+mn-ea"/>
                <a:ea typeface="+mn-ea"/>
              </a:rPr>
              <a:t>为：</a:t>
            </a:r>
            <a:endParaRPr lang="en-US" altLang="zh-CN" sz="2400" b="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33CC"/>
                </a:solidFill>
                <a:latin typeface="+mn-ea"/>
                <a:ea typeface="+mn-ea"/>
              </a:rPr>
              <a:t>0x00(</a:t>
            </a:r>
            <a:r>
              <a:rPr lang="zh-CN" altLang="en-US" sz="2400" dirty="0">
                <a:solidFill>
                  <a:srgbClr val="0033CC"/>
                </a:solidFill>
                <a:latin typeface="+mn-ea"/>
                <a:ea typeface="+mn-ea"/>
              </a:rPr>
              <a:t>最高</a:t>
            </a:r>
            <a:r>
              <a:rPr lang="en-US" altLang="zh-CN" sz="2400" dirty="0">
                <a:solidFill>
                  <a:srgbClr val="0033CC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solidFill>
                  <a:srgbClr val="0033CC"/>
                </a:solidFill>
                <a:latin typeface="+mn-ea"/>
                <a:ea typeface="+mn-ea"/>
              </a:rPr>
              <a:t>0x20</a:t>
            </a:r>
            <a:r>
              <a:rPr lang="zh-CN" altLang="en-US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solidFill>
                  <a:srgbClr val="0033CC"/>
                </a:solidFill>
                <a:latin typeface="+mn-ea"/>
                <a:ea typeface="+mn-ea"/>
              </a:rPr>
              <a:t>0x40</a:t>
            </a:r>
            <a:r>
              <a:rPr lang="zh-CN" altLang="en-US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solidFill>
                  <a:srgbClr val="0033CC"/>
                </a:solidFill>
                <a:latin typeface="+mn-ea"/>
                <a:ea typeface="+mn-ea"/>
              </a:rPr>
              <a:t>0x60</a:t>
            </a:r>
            <a:r>
              <a:rPr lang="zh-CN" altLang="en-US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solidFill>
                  <a:srgbClr val="0033CC"/>
                </a:solidFill>
                <a:latin typeface="+mn-ea"/>
                <a:ea typeface="+mn-ea"/>
              </a:rPr>
              <a:t>0x80</a:t>
            </a:r>
            <a:r>
              <a:rPr lang="zh-CN" altLang="en-US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solidFill>
                  <a:srgbClr val="0033CC"/>
                </a:solidFill>
                <a:latin typeface="+mn-ea"/>
                <a:ea typeface="+mn-ea"/>
              </a:rPr>
              <a:t>0xA0</a:t>
            </a:r>
            <a:r>
              <a:rPr lang="zh-CN" altLang="en-US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solidFill>
                  <a:srgbClr val="0033CC"/>
                </a:solidFill>
                <a:latin typeface="+mn-ea"/>
                <a:ea typeface="+mn-ea"/>
              </a:rPr>
              <a:t>0xC0</a:t>
            </a:r>
            <a:r>
              <a:rPr lang="zh-CN" altLang="en-US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solidFill>
                  <a:srgbClr val="0033CC"/>
                </a:solidFill>
                <a:latin typeface="+mn-ea"/>
                <a:ea typeface="+mn-ea"/>
              </a:rPr>
              <a:t>0xE0(</a:t>
            </a:r>
            <a:r>
              <a:rPr lang="zh-CN" altLang="en-US" sz="2400" dirty="0">
                <a:solidFill>
                  <a:srgbClr val="0033CC"/>
                </a:solidFill>
                <a:latin typeface="+mn-ea"/>
                <a:ea typeface="+mn-ea"/>
              </a:rPr>
              <a:t>最低</a:t>
            </a:r>
            <a:r>
              <a:rPr lang="en-US" altLang="zh-CN" sz="2400" dirty="0">
                <a:solidFill>
                  <a:srgbClr val="0033CC"/>
                </a:solidFill>
                <a:latin typeface="+mn-ea"/>
                <a:ea typeface="+mn-ea"/>
              </a:rPr>
              <a:t>)</a:t>
            </a:r>
            <a:endParaRPr lang="zh-CN" altLang="en-US" sz="2400" dirty="0">
              <a:solidFill>
                <a:srgbClr val="0033CC"/>
              </a:solidFill>
              <a:latin typeface="+mn-ea"/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异常类型和优先级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96798" y="2409853"/>
            <a:ext cx="2092800" cy="12172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689597" y="2409853"/>
            <a:ext cx="3505197" cy="12172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43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  <p:bldP spid="11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异常类型和优先级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3279776" y="865631"/>
            <a:ext cx="5372905" cy="546404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564778" y="2047968"/>
            <a:ext cx="1381760" cy="382828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433112" y="2047968"/>
            <a:ext cx="1381760" cy="382828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7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4" name="think-cell Slide" r:id="rId5" imgW="9525" imgH="9525" progId="TCLayout.ActiveDocument.1">
                  <p:embed/>
                </p:oleObj>
              </mc:Choice>
              <mc:Fallback>
                <p:oleObj name="think-cell Slide" r:id="rId5" imgW="9525" imgH="9525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8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9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10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12" name="文本框 5"/>
          <p:cNvSpPr txBox="1"/>
          <p:nvPr/>
        </p:nvSpPr>
        <p:spPr>
          <a:xfrm>
            <a:off x="622577" y="3167390"/>
            <a:ext cx="65529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dirty="0">
                <a:solidFill>
                  <a:srgbClr val="42E6E0"/>
                </a:solidFill>
              </a:rPr>
              <a:t>异常优先级分组(1)</a:t>
            </a:r>
          </a:p>
        </p:txBody>
      </p:sp>
    </p:spTree>
    <p:extLst>
      <p:ext uri="{BB962C8B-B14F-4D97-AF65-F5344CB8AC3E}">
        <p14:creationId xmlns:p14="http://schemas.microsoft.com/office/powerpoint/2010/main" val="1291852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异常优先级分组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矩形 5"/>
          <p:cNvSpPr>
            <a:spLocks noChangeArrowheads="1"/>
          </p:cNvSpPr>
          <p:nvPr/>
        </p:nvSpPr>
        <p:spPr bwMode="auto">
          <a:xfrm>
            <a:off x="956995" y="1847773"/>
            <a:ext cx="1003119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       为了使抢占机能变得更可控，</a:t>
            </a:r>
            <a:r>
              <a:rPr lang="en-US" altLang="zh-CN" sz="2400" b="0" dirty="0">
                <a:latin typeface="+mn-ea"/>
                <a:ea typeface="+mn-ea"/>
              </a:rPr>
              <a:t>CM3</a:t>
            </a:r>
            <a:r>
              <a:rPr lang="zh-CN" altLang="en-US" sz="2400" b="0" dirty="0">
                <a:latin typeface="+mn-ea"/>
                <a:ea typeface="+mn-ea"/>
              </a:rPr>
              <a:t>把</a:t>
            </a:r>
            <a:r>
              <a:rPr lang="en-US" altLang="zh-CN" sz="2400" b="0" dirty="0">
                <a:latin typeface="+mn-ea"/>
                <a:ea typeface="+mn-ea"/>
              </a:rPr>
              <a:t>256</a:t>
            </a:r>
            <a:r>
              <a:rPr lang="zh-CN" altLang="en-US" sz="2400" b="0" dirty="0">
                <a:latin typeface="+mn-ea"/>
                <a:ea typeface="+mn-ea"/>
              </a:rPr>
              <a:t>级优先级按位分成</a:t>
            </a:r>
            <a:r>
              <a:rPr lang="zh-CN" altLang="en-US" sz="2400" dirty="0">
                <a:latin typeface="+mn-ea"/>
                <a:ea typeface="+mn-ea"/>
              </a:rPr>
              <a:t>高低两段</a:t>
            </a:r>
            <a:r>
              <a:rPr lang="zh-CN" altLang="en-US" sz="2400" b="0" dirty="0">
                <a:latin typeface="+mn-ea"/>
                <a:ea typeface="+mn-ea"/>
              </a:rPr>
              <a:t>，分别是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抢占优先级</a:t>
            </a:r>
            <a:r>
              <a:rPr lang="zh-CN" altLang="en-US" sz="2400" b="0" dirty="0">
                <a:latin typeface="+mn-ea"/>
                <a:ea typeface="+mn-ea"/>
              </a:rPr>
              <a:t>和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子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优先级</a:t>
            </a:r>
            <a:r>
              <a:rPr lang="zh-CN" altLang="en-US" sz="2400" b="0" dirty="0">
                <a:latin typeface="+mn-ea"/>
                <a:ea typeface="+mn-ea"/>
              </a:rPr>
              <a:t>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1" name="矩形 5"/>
          <p:cNvSpPr>
            <a:spLocks noChangeArrowheads="1"/>
          </p:cNvSpPr>
          <p:nvPr/>
        </p:nvSpPr>
        <p:spPr bwMode="auto">
          <a:xfrm>
            <a:off x="956995" y="3101069"/>
            <a:ext cx="969006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抢占优先级决定异常响应的抢占行为：</a:t>
            </a:r>
            <a:r>
              <a:rPr lang="zh-CN" altLang="en-US" sz="2400" b="0" dirty="0">
                <a:latin typeface="+mn-ea"/>
                <a:ea typeface="+mn-ea"/>
              </a:rPr>
              <a:t>当系统正在响应某低抢占优先级异常</a:t>
            </a:r>
            <a:r>
              <a:rPr lang="en-US" altLang="zh-CN" sz="2400" b="0" dirty="0">
                <a:latin typeface="+mn-ea"/>
                <a:ea typeface="+mn-ea"/>
              </a:rPr>
              <a:t>L</a:t>
            </a:r>
            <a:r>
              <a:rPr lang="zh-CN" altLang="en-US" sz="2400" b="0" dirty="0">
                <a:latin typeface="+mn-ea"/>
                <a:ea typeface="+mn-ea"/>
              </a:rPr>
              <a:t>时，如果来了抢占优先级更高的异常</a:t>
            </a:r>
            <a:r>
              <a:rPr lang="en-US" altLang="zh-CN" sz="2400" b="0" dirty="0">
                <a:latin typeface="+mn-ea"/>
                <a:ea typeface="+mn-ea"/>
              </a:rPr>
              <a:t>H</a:t>
            </a:r>
            <a:r>
              <a:rPr lang="zh-CN" altLang="en-US" sz="2400" b="0" dirty="0">
                <a:latin typeface="+mn-ea"/>
                <a:ea typeface="+mn-ea"/>
              </a:rPr>
              <a:t>，则</a:t>
            </a:r>
            <a:r>
              <a:rPr lang="en-US" altLang="zh-CN" sz="2400" b="0" dirty="0">
                <a:latin typeface="+mn-ea"/>
                <a:ea typeface="+mn-ea"/>
              </a:rPr>
              <a:t>H</a:t>
            </a:r>
            <a:r>
              <a:rPr lang="zh-CN" altLang="en-US" sz="2400" b="0" dirty="0">
                <a:latin typeface="+mn-ea"/>
                <a:ea typeface="+mn-ea"/>
              </a:rPr>
              <a:t>可以抢占</a:t>
            </a:r>
            <a:r>
              <a:rPr lang="en-US" altLang="zh-CN" sz="2400" b="0" dirty="0">
                <a:latin typeface="+mn-ea"/>
                <a:ea typeface="+mn-ea"/>
              </a:rPr>
              <a:t>L</a:t>
            </a:r>
            <a:r>
              <a:rPr lang="zh-CN" altLang="en-US" sz="2400" dirty="0">
                <a:latin typeface="+mn-ea"/>
                <a:ea typeface="+mn-ea"/>
              </a:rPr>
              <a:t>；</a:t>
            </a:r>
            <a:endParaRPr lang="en-US" altLang="zh-CN" sz="2400" b="0" dirty="0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56995" y="4354365"/>
            <a:ext cx="97198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子优先级则决定同抢占优先级的异常响应行为：</a:t>
            </a:r>
            <a:r>
              <a:rPr lang="zh-CN" altLang="en-US" sz="2400" dirty="0">
                <a:latin typeface="+mn-ea"/>
              </a:rPr>
              <a:t>当抢占优先级相同的异常有不止一个悬起时，则优先响应子优先级最高的异常。</a:t>
            </a:r>
          </a:p>
        </p:txBody>
      </p:sp>
    </p:spTree>
    <p:extLst>
      <p:ext uri="{BB962C8B-B14F-4D97-AF65-F5344CB8AC3E}">
        <p14:creationId xmlns:p14="http://schemas.microsoft.com/office/powerpoint/2010/main" val="253746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77817" y="1098294"/>
            <a:ext cx="106428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ea"/>
              </a:rPr>
              <a:t>       NVIC</a:t>
            </a:r>
            <a:r>
              <a:rPr lang="zh-CN" altLang="en-US" sz="2400" dirty="0">
                <a:latin typeface="+mn-ea"/>
              </a:rPr>
              <a:t>中有一个寄存器是“应用程序中断及复位控制寄存器”（</a:t>
            </a:r>
            <a:r>
              <a:rPr lang="en-US" altLang="zh-CN" sz="2400" dirty="0">
                <a:latin typeface="+mn-ea"/>
              </a:rPr>
              <a:t>AIRCR</a:t>
            </a:r>
            <a:r>
              <a:rPr lang="zh-CN" altLang="en-US" sz="2400" dirty="0">
                <a:latin typeface="+mn-ea"/>
              </a:rPr>
              <a:t>），它里面有一个位段名为“优先级组”（</a:t>
            </a:r>
            <a:r>
              <a:rPr lang="en-US" altLang="zh-CN" sz="2400" dirty="0">
                <a:latin typeface="+mn-ea"/>
              </a:rPr>
              <a:t> PRIGROUP </a:t>
            </a:r>
            <a:r>
              <a:rPr lang="zh-CN" altLang="en-US" sz="2400" dirty="0">
                <a:latin typeface="+mn-ea"/>
              </a:rPr>
              <a:t>）。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182434"/>
              </p:ext>
            </p:extLst>
          </p:nvPr>
        </p:nvGraphicFramePr>
        <p:xfrm>
          <a:off x="2560321" y="2126787"/>
          <a:ext cx="7901203" cy="3177388"/>
        </p:xfrm>
        <a:graphic>
          <a:graphicData uri="http://schemas.openxmlformats.org/drawingml/2006/table">
            <a:tbl>
              <a:tblPr firstRow="1" firstCol="1" bandRow="1">
                <a:effectLst/>
                <a:tableStyleId>{5C22544A-7EE6-4342-B048-85BDC9FD1C3A}</a:tableStyleId>
              </a:tblPr>
              <a:tblGrid>
                <a:gridCol w="682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2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39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位段</a:t>
                      </a:r>
                      <a:endParaRPr lang="zh-CN" sz="1400" kern="100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名称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类型</a:t>
                      </a:r>
                      <a:endParaRPr lang="zh-CN" sz="1400" kern="100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复位值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描述</a:t>
                      </a:r>
                      <a:endParaRPr lang="zh-CN" sz="1400" kern="100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8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31:16</a:t>
                      </a:r>
                      <a:endParaRPr lang="zh-CN" sz="1400" kern="100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VECTKEY</a:t>
                      </a:r>
                      <a:endParaRPr lang="zh-CN" sz="1400" kern="100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R/W</a:t>
                      </a:r>
                      <a:endParaRPr lang="zh-CN" sz="1400" kern="100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zh-CN" sz="1400" kern="100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访问钥匙：任何对该寄存器的写操作，都必须同时把</a:t>
                      </a:r>
                      <a:r>
                        <a:rPr lang="en-US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0x05FA</a:t>
                      </a:r>
                      <a:r>
                        <a:rPr lang="zh-CN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写入此段，否则写操作被忽略。若读取此半字，则</a:t>
                      </a:r>
                      <a:r>
                        <a:rPr lang="en-US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0xFA05</a:t>
                      </a:r>
                      <a:endParaRPr lang="zh-CN" sz="1400" kern="100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9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15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ENDIANESS 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R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指示端设置。</a:t>
                      </a:r>
                      <a:r>
                        <a:rPr lang="en-US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r>
                        <a:rPr lang="zh-CN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＝大端（</a:t>
                      </a:r>
                      <a:r>
                        <a:rPr lang="en-US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BE8</a:t>
                      </a:r>
                      <a:r>
                        <a:rPr lang="zh-CN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），</a:t>
                      </a:r>
                      <a:r>
                        <a:rPr lang="en-US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r>
                        <a:rPr lang="zh-CN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＝小端。此值是在复位时确定的，不能更改</a:t>
                      </a:r>
                      <a:endParaRPr lang="zh-CN" sz="1400" kern="100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10:8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PRIGROUP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R/W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优先级分组</a:t>
                      </a:r>
                      <a:endParaRPr lang="zh-CN" sz="1400" kern="100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SYSRESETREQ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W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请求芯片控制逻辑产生一次复位</a:t>
                      </a:r>
                      <a:endParaRPr lang="zh-CN" sz="1400" kern="100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9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VECTCLRACTIVE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W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清零所有异常的活动状态信息。通常只在调试时用，或者在</a:t>
                      </a:r>
                      <a:r>
                        <a:rPr lang="en-US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OS</a:t>
                      </a:r>
                      <a:r>
                        <a:rPr lang="zh-CN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从错误中恢复时用</a:t>
                      </a:r>
                      <a:endParaRPr lang="zh-CN" sz="1400" kern="100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08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VECTRESET 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W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zh-CN" sz="1400" kern="10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复位</a:t>
                      </a:r>
                      <a:r>
                        <a:rPr lang="en-US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CM3</a:t>
                      </a:r>
                      <a:r>
                        <a:rPr lang="zh-CN" sz="1400" kern="0" dirty="0">
                          <a:solidFill>
                            <a:sysClr val="windowText" lastClr="000000"/>
                          </a:solidFill>
                          <a:effectLst/>
                        </a:rPr>
                        <a:t>处理器内核（调试逻辑除外），但是此复位不影响芯片上在内核以外的电路</a:t>
                      </a:r>
                      <a:endParaRPr lang="zh-CN" sz="1400" kern="100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560320" y="3695113"/>
            <a:ext cx="6851176" cy="239151"/>
          </a:xfrm>
          <a:prstGeom prst="rect">
            <a:avLst/>
          </a:prstGeom>
          <a:solidFill>
            <a:schemeClr val="bg1">
              <a:alpha val="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560320" y="5501671"/>
            <a:ext cx="86063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该位段的值对每一个优先级可配置的异常都有影响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en-US" altLang="zh-CN" sz="2400" dirty="0" smtClean="0">
                <a:solidFill>
                  <a:srgbClr val="FF0000"/>
                </a:solidFill>
              </a:rPr>
              <a:t>BE8 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bigend</a:t>
            </a:r>
            <a:r>
              <a:rPr lang="en-US" altLang="zh-CN" sz="2400" dirty="0" smtClean="0">
                <a:solidFill>
                  <a:srgbClr val="FF0000"/>
                </a:solidFill>
              </a:rPr>
              <a:t> 8  </a:t>
            </a:r>
            <a:r>
              <a:rPr lang="zh-CN" altLang="en-US" sz="2400" dirty="0" smtClean="0">
                <a:solidFill>
                  <a:srgbClr val="FF0000"/>
                </a:solidFill>
              </a:rPr>
              <a:t>字节固定大端格式，与</a:t>
            </a:r>
            <a:r>
              <a:rPr lang="en-US" altLang="zh-CN" sz="2400" dirty="0" smtClean="0">
                <a:solidFill>
                  <a:srgbClr val="FF0000"/>
                </a:solidFill>
              </a:rPr>
              <a:t>BE32 </a:t>
            </a:r>
            <a:r>
              <a:rPr lang="zh-CN" altLang="en-US" sz="2400" dirty="0" smtClean="0">
                <a:solidFill>
                  <a:srgbClr val="FF0000"/>
                </a:solidFill>
              </a:rPr>
              <a:t>对应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异常优先级分组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430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5"/>
          <p:cNvSpPr>
            <a:spLocks noChangeArrowheads="1"/>
          </p:cNvSpPr>
          <p:nvPr/>
        </p:nvSpPr>
        <p:spPr bwMode="auto">
          <a:xfrm>
            <a:off x="225191" y="808880"/>
            <a:ext cx="93218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     AIRCR</a:t>
            </a:r>
            <a:r>
              <a:rPr lang="zh-CN" altLang="en-US" sz="2400" dirty="0">
                <a:latin typeface="+mn-ea"/>
                <a:ea typeface="+mn-ea"/>
              </a:rPr>
              <a:t>寄存器的</a:t>
            </a:r>
            <a:r>
              <a:rPr lang="en-US" altLang="zh-CN" sz="2400" dirty="0">
                <a:latin typeface="+mn-ea"/>
                <a:ea typeface="+mn-ea"/>
              </a:rPr>
              <a:t>PRIGROUP</a:t>
            </a:r>
            <a:r>
              <a:rPr lang="zh-CN" altLang="en-US" sz="2400" dirty="0">
                <a:latin typeface="+mn-ea"/>
                <a:ea typeface="+mn-ea"/>
              </a:rPr>
              <a:t>的值决定了分组位置，</a:t>
            </a:r>
            <a:r>
              <a:rPr lang="zh-CN" altLang="en-US" sz="2400" b="0" dirty="0">
                <a:latin typeface="+mn-ea"/>
                <a:ea typeface="+mn-ea"/>
              </a:rPr>
              <a:t>如下表所示。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异常优先级分组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41870" y="2191559"/>
            <a:ext cx="28387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+mn-ea"/>
              </a:rPr>
              <a:t>抢占优先级最多是</a:t>
            </a:r>
            <a:r>
              <a:rPr lang="en-US" altLang="zh-CN" dirty="0">
                <a:solidFill>
                  <a:schemeClr val="accent1"/>
                </a:solidFill>
                <a:latin typeface="+mn-ea"/>
              </a:rPr>
              <a:t>7</a:t>
            </a:r>
            <a:r>
              <a:rPr lang="zh-CN" altLang="en-US" dirty="0">
                <a:solidFill>
                  <a:schemeClr val="accent1"/>
                </a:solidFill>
                <a:latin typeface="+mn-ea"/>
              </a:rPr>
              <a:t>个位，所以最多只有</a:t>
            </a:r>
            <a:r>
              <a:rPr lang="en-US" altLang="zh-CN" dirty="0">
                <a:solidFill>
                  <a:schemeClr val="accent1"/>
                </a:solidFill>
                <a:latin typeface="+mn-ea"/>
              </a:rPr>
              <a:t>128</a:t>
            </a:r>
            <a:r>
              <a:rPr lang="zh-CN" altLang="en-US" dirty="0">
                <a:solidFill>
                  <a:schemeClr val="accent1"/>
                </a:solidFill>
                <a:latin typeface="+mn-ea"/>
              </a:rPr>
              <a:t>级抢占优先级。</a:t>
            </a:r>
          </a:p>
        </p:txBody>
      </p:sp>
      <p:sp>
        <p:nvSpPr>
          <p:cNvPr id="18" name="矩形 17"/>
          <p:cNvSpPr/>
          <p:nvPr/>
        </p:nvSpPr>
        <p:spPr>
          <a:xfrm>
            <a:off x="8441870" y="3835355"/>
            <a:ext cx="273740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+mn-ea"/>
              </a:rPr>
              <a:t>优先级分组为</a:t>
            </a:r>
            <a:r>
              <a:rPr lang="en-US" altLang="zh-CN" dirty="0">
                <a:solidFill>
                  <a:schemeClr val="accent1"/>
                </a:solidFill>
                <a:latin typeface="+mn-ea"/>
              </a:rPr>
              <a:t>7</a:t>
            </a:r>
            <a:r>
              <a:rPr lang="zh-CN" altLang="en-US" dirty="0">
                <a:solidFill>
                  <a:schemeClr val="accent1"/>
                </a:solidFill>
                <a:latin typeface="+mn-ea"/>
              </a:rPr>
              <a:t>时，所有的位都表达子优先级，没有任何位表达抢占优先级，因而所有优先级可编程的异常之间不会发生抢占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AA6B892-2105-4291-ADC4-20B5D1025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02" y="1368379"/>
            <a:ext cx="7438103" cy="523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9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025845" y="1663307"/>
            <a:ext cx="96628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0" dirty="0"/>
              <a:t>       在计算抢占优先级和子优先级的有效位数时，</a:t>
            </a:r>
            <a:r>
              <a:rPr lang="zh-CN" altLang="en-US" sz="2400" dirty="0"/>
              <a:t>必须先求出下列值</a:t>
            </a:r>
            <a:r>
              <a:rPr lang="zh-CN" altLang="en-US" sz="2400" b="0" dirty="0"/>
              <a:t>：</a:t>
            </a:r>
          </a:p>
        </p:txBody>
      </p:sp>
      <p:sp>
        <p:nvSpPr>
          <p:cNvPr id="5" name="矩形 4"/>
          <p:cNvSpPr/>
          <p:nvPr/>
        </p:nvSpPr>
        <p:spPr>
          <a:xfrm>
            <a:off x="1789491" y="2938188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芯片实际使用了多少位来表达优先级；</a:t>
            </a:r>
          </a:p>
        </p:txBody>
      </p:sp>
      <p:sp>
        <p:nvSpPr>
          <p:cNvPr id="9" name="矩形 8"/>
          <p:cNvSpPr/>
          <p:nvPr/>
        </p:nvSpPr>
        <p:spPr>
          <a:xfrm>
            <a:off x="1789491" y="3660924"/>
            <a:ext cx="40318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优先级组是如何划分的。</a:t>
            </a:r>
          </a:p>
        </p:txBody>
      </p:sp>
      <p:sp>
        <p:nvSpPr>
          <p:cNvPr id="15" name="矩形 14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异常优先级分组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240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5"/>
          <p:cNvSpPr>
            <a:spLocks noChangeArrowheads="1"/>
          </p:cNvSpPr>
          <p:nvPr/>
        </p:nvSpPr>
        <p:spPr bwMode="auto">
          <a:xfrm>
            <a:off x="1285616" y="1515646"/>
            <a:ext cx="979371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例如：</a:t>
            </a:r>
            <a:endParaRPr lang="en-US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solidFill>
                  <a:srgbClr val="FF0000"/>
                </a:solidFill>
                <a:latin typeface="+mn-ea"/>
                <a:ea typeface="+mn-ea"/>
              </a:rPr>
              <a:t>       </a:t>
            </a:r>
            <a:r>
              <a:rPr lang="zh-CN" altLang="en-US" sz="2400" b="0" dirty="0">
                <a:latin typeface="+mn-ea"/>
                <a:ea typeface="+mn-ea"/>
              </a:rPr>
              <a:t>如果只使用</a:t>
            </a:r>
            <a:r>
              <a:rPr lang="en-US" altLang="zh-CN" sz="2400" b="0" dirty="0">
                <a:latin typeface="+mn-ea"/>
                <a:ea typeface="+mn-ea"/>
              </a:rPr>
              <a:t>3</a:t>
            </a:r>
            <a:r>
              <a:rPr lang="zh-CN" altLang="en-US" sz="2400" b="0" dirty="0">
                <a:latin typeface="+mn-ea"/>
                <a:ea typeface="+mn-ea"/>
              </a:rPr>
              <a:t>个位来表达优先级（</a:t>
            </a:r>
            <a:r>
              <a:rPr lang="en-US" altLang="zh-CN" sz="2400" b="0" dirty="0">
                <a:latin typeface="+mn-ea"/>
                <a:ea typeface="+mn-ea"/>
              </a:rPr>
              <a:t>[7:5]</a:t>
            </a:r>
            <a:r>
              <a:rPr lang="zh-CN" altLang="en-US" sz="2400" b="0" dirty="0">
                <a:latin typeface="+mn-ea"/>
                <a:ea typeface="+mn-ea"/>
              </a:rPr>
              <a:t>），并且优先级组的值是</a:t>
            </a:r>
            <a:r>
              <a:rPr lang="en-US" altLang="zh-CN" sz="2400" b="0" dirty="0">
                <a:latin typeface="+mn-ea"/>
                <a:ea typeface="+mn-ea"/>
              </a:rPr>
              <a:t>5</a:t>
            </a:r>
            <a:r>
              <a:rPr lang="zh-CN" altLang="en-US" sz="2400" b="0" dirty="0">
                <a:latin typeface="+mn-ea"/>
                <a:ea typeface="+mn-ea"/>
              </a:rPr>
              <a:t>（从</a:t>
            </a:r>
            <a:r>
              <a:rPr lang="en-US" altLang="zh-CN" sz="2400" b="0" dirty="0">
                <a:latin typeface="+mn-ea"/>
                <a:ea typeface="+mn-ea"/>
              </a:rPr>
              <a:t>bit5</a:t>
            </a:r>
            <a:r>
              <a:rPr lang="zh-CN" altLang="en-US" sz="2400" b="0" dirty="0">
                <a:latin typeface="+mn-ea"/>
                <a:ea typeface="+mn-ea"/>
              </a:rPr>
              <a:t>分组），则你得到</a:t>
            </a:r>
            <a:r>
              <a:rPr lang="en-US" altLang="zh-CN" sz="2400" b="0" dirty="0">
                <a:latin typeface="+mn-ea"/>
                <a:ea typeface="+mn-ea"/>
              </a:rPr>
              <a:t>4</a:t>
            </a:r>
            <a:r>
              <a:rPr lang="zh-CN" altLang="en-US" sz="2400" b="0" dirty="0">
                <a:latin typeface="+mn-ea"/>
                <a:ea typeface="+mn-ea"/>
              </a:rPr>
              <a:t>级抢占优先级，且在每个抢占优先级的内部有</a:t>
            </a:r>
            <a:r>
              <a:rPr lang="en-US" altLang="zh-CN" sz="2400" b="0" dirty="0">
                <a:latin typeface="+mn-ea"/>
                <a:ea typeface="+mn-ea"/>
              </a:rPr>
              <a:t>2</a:t>
            </a:r>
            <a:r>
              <a:rPr lang="zh-CN" altLang="en-US" sz="2400" b="0" dirty="0">
                <a:latin typeface="+mn-ea"/>
                <a:ea typeface="+mn-ea"/>
              </a:rPr>
              <a:t>个子优先级，如下图所示。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异常优先级分组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130545" y="3605878"/>
          <a:ext cx="5827234" cy="1182847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725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07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52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07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8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32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Bit7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Bit6</a:t>
                      </a:r>
                      <a:endParaRPr lang="zh-CN" sz="20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Bit5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Bit4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Bit3</a:t>
                      </a:r>
                      <a:endParaRPr lang="zh-CN" sz="20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Bit2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Bit1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Bit0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247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0" kern="0" dirty="0">
                          <a:effectLst/>
                        </a:rPr>
                        <a:t>抢占优先级</a:t>
                      </a:r>
                      <a:endParaRPr lang="zh-CN" sz="2000" b="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子优先级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kern="0" dirty="0">
                          <a:effectLst/>
                        </a:rPr>
                        <a:t>未</a:t>
                      </a:r>
                      <a:r>
                        <a:rPr lang="zh-CN" sz="2000" kern="0" dirty="0">
                          <a:effectLst/>
                        </a:rPr>
                        <a:t>使用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3130545" y="3614357"/>
            <a:ext cx="2161332" cy="11743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126057" y="3610366"/>
            <a:ext cx="1443880" cy="11743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569937" y="3610117"/>
            <a:ext cx="721940" cy="11743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69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5"/>
          <p:cNvSpPr>
            <a:spLocks noChangeArrowheads="1"/>
          </p:cNvSpPr>
          <p:nvPr/>
        </p:nvSpPr>
        <p:spPr bwMode="auto">
          <a:xfrm>
            <a:off x="1236232" y="1606415"/>
            <a:ext cx="94319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注意：</a:t>
            </a:r>
            <a:r>
              <a:rPr lang="zh-CN" altLang="en-US" sz="2400" dirty="0">
                <a:latin typeface="+mn-ea"/>
                <a:ea typeface="+mn-ea"/>
              </a:rPr>
              <a:t>即使在表达优先级中</a:t>
            </a:r>
            <a:r>
              <a:rPr lang="zh-CN" altLang="en-US" sz="2400" b="0" dirty="0">
                <a:latin typeface="+mn-ea"/>
                <a:ea typeface="+mn-ea"/>
              </a:rPr>
              <a:t>未使用的位，也允许进行分组。</a:t>
            </a:r>
            <a:endParaRPr lang="en-US" altLang="zh-CN" sz="2400" b="0" dirty="0">
              <a:latin typeface="+mn-ea"/>
              <a:ea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异常优先级分组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36232" y="2305170"/>
            <a:ext cx="97461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例如：</a:t>
            </a:r>
            <a:r>
              <a:rPr lang="zh-CN" altLang="en-US" sz="2400" dirty="0">
                <a:latin typeface="+mn-ea"/>
              </a:rPr>
              <a:t>如果优先级分组的值是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（即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bit0 bit1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为子优先级，其余为抢占优先级）</a:t>
            </a:r>
            <a:r>
              <a:rPr lang="zh-CN" altLang="en-US" sz="2400" dirty="0">
                <a:latin typeface="+mn-ea"/>
              </a:rPr>
              <a:t>，则所有可用的</a:t>
            </a:r>
            <a:r>
              <a:rPr lang="en-US" altLang="zh-CN" sz="2400" dirty="0">
                <a:latin typeface="+mn-ea"/>
              </a:rPr>
              <a:t>8</a:t>
            </a:r>
            <a:r>
              <a:rPr lang="zh-CN" altLang="en-US" sz="2400" dirty="0">
                <a:latin typeface="+mn-ea"/>
              </a:rPr>
              <a:t>个优先级都是抢占优先级，如下图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en-US" sz="2400" dirty="0">
                <a:latin typeface="+mn-ea"/>
              </a:rPr>
              <a:t>所示。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310048" y="3505525"/>
          <a:ext cx="9672320" cy="1359854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208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8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9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8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98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98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799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Bit7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Bit6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Bit5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Bit4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DEC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Bit3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DEC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Bit2</a:t>
                      </a:r>
                      <a:endParaRPr lang="zh-CN" sz="20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DEC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Bit1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Bit0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927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0" kern="0" dirty="0">
                          <a:effectLst/>
                        </a:rPr>
                        <a:t>抢占优先级</a:t>
                      </a:r>
                      <a:r>
                        <a:rPr lang="en-US" sz="2000" b="0" kern="0" dirty="0">
                          <a:effectLst/>
                        </a:rPr>
                        <a:t>[5:3]</a:t>
                      </a:r>
                      <a:endParaRPr lang="zh-CN" sz="2000" b="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抢占优先级</a:t>
                      </a:r>
                      <a:r>
                        <a:rPr lang="en-US" sz="2000" kern="0" dirty="0">
                          <a:effectLst/>
                        </a:rPr>
                        <a:t>[2:0]</a:t>
                      </a:r>
                      <a:endParaRPr lang="zh-CN" sz="20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（未使用</a:t>
                      </a:r>
                      <a:r>
                        <a:rPr lang="zh-CN" altLang="en-US" sz="2000" kern="0" dirty="0">
                          <a:effectLst/>
                        </a:rPr>
                        <a:t>，总是为</a:t>
                      </a:r>
                      <a:r>
                        <a:rPr lang="en-US" altLang="zh-CN" sz="2000" kern="0" dirty="0">
                          <a:effectLst/>
                        </a:rPr>
                        <a:t>0</a:t>
                      </a:r>
                      <a:r>
                        <a:rPr lang="zh-CN" sz="2000" kern="0" dirty="0">
                          <a:effectLst/>
                        </a:rPr>
                        <a:t>）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DEC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子优先级</a:t>
                      </a:r>
                      <a:r>
                        <a:rPr lang="en-US" sz="2000" kern="0" dirty="0">
                          <a:effectLst/>
                        </a:rPr>
                        <a:t>[1:0]</a:t>
                      </a:r>
                      <a:endParaRPr lang="zh-CN" sz="20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（未使用</a:t>
                      </a:r>
                      <a:r>
                        <a:rPr lang="zh-CN" altLang="en-US" sz="2000" kern="0" dirty="0">
                          <a:effectLst/>
                        </a:rPr>
                        <a:t>，总是为</a:t>
                      </a:r>
                      <a:r>
                        <a:rPr lang="en-US" altLang="zh-CN" sz="2000" kern="0" dirty="0">
                          <a:effectLst/>
                        </a:rPr>
                        <a:t>0</a:t>
                      </a:r>
                      <a:r>
                        <a:rPr lang="zh-CN" sz="2000" kern="0" dirty="0">
                          <a:effectLst/>
                        </a:rPr>
                        <a:t>）</a:t>
                      </a:r>
                      <a:endParaRPr lang="zh-CN" sz="20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1310048" y="3493010"/>
            <a:ext cx="7261274" cy="13723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571322" y="3493010"/>
            <a:ext cx="2411046" cy="13723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310048" y="3505525"/>
            <a:ext cx="3603674" cy="13723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05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8" grpId="0" animBg="1"/>
      <p:bldP spid="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异常类型和优先级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1951" y="1606447"/>
            <a:ext cx="98676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ea"/>
              </a:rPr>
              <a:t>      </a:t>
            </a:r>
            <a:r>
              <a:rPr lang="zh-CN" altLang="zh-CN" sz="2400" dirty="0">
                <a:latin typeface="+mn-ea"/>
              </a:rPr>
              <a:t>如果</a:t>
            </a:r>
            <a:r>
              <a:rPr lang="zh-CN" altLang="zh-CN" sz="2400" dirty="0">
                <a:solidFill>
                  <a:srgbClr val="FF0000"/>
                </a:solidFill>
                <a:latin typeface="+mn-ea"/>
              </a:rPr>
              <a:t>优先级完全相同</a:t>
            </a:r>
            <a:r>
              <a:rPr lang="zh-CN" altLang="zh-CN" sz="2400" dirty="0">
                <a:latin typeface="+mn-ea"/>
              </a:rPr>
              <a:t>的多个异常同时悬起，则</a:t>
            </a:r>
            <a:r>
              <a:rPr lang="zh-CN" altLang="zh-CN" sz="2400" dirty="0">
                <a:solidFill>
                  <a:srgbClr val="FF0000"/>
                </a:solidFill>
                <a:latin typeface="+mn-ea"/>
              </a:rPr>
              <a:t>先响应异常编号最小</a:t>
            </a:r>
            <a:r>
              <a:rPr lang="zh-CN" altLang="zh-CN" sz="2400" dirty="0">
                <a:latin typeface="+mn-ea"/>
              </a:rPr>
              <a:t>的那一个。如</a:t>
            </a:r>
            <a:r>
              <a:rPr lang="en-US" altLang="zh-CN" sz="2400" dirty="0">
                <a:latin typeface="+mn-ea"/>
              </a:rPr>
              <a:t>IRQ #3</a:t>
            </a:r>
            <a:r>
              <a:rPr lang="zh-CN" altLang="zh-CN" sz="2400" dirty="0">
                <a:latin typeface="+mn-ea"/>
              </a:rPr>
              <a:t>会比</a:t>
            </a:r>
            <a:r>
              <a:rPr lang="en-US" altLang="zh-CN" sz="2400" dirty="0">
                <a:latin typeface="+mn-ea"/>
              </a:rPr>
              <a:t>IRQ #5 </a:t>
            </a:r>
            <a:r>
              <a:rPr lang="zh-CN" altLang="zh-CN" sz="2400" dirty="0">
                <a:latin typeface="+mn-ea"/>
              </a:rPr>
              <a:t>先得到响应。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113993" y="5646329"/>
            <a:ext cx="972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0" dirty="0">
                <a:latin typeface="+mn-ea"/>
                <a:ea typeface="+mn-ea"/>
              </a:rPr>
              <a:t>      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优先级的分组</a:t>
            </a:r>
            <a:r>
              <a:rPr lang="zh-CN" altLang="en-US" sz="2400" b="0" dirty="0">
                <a:latin typeface="+mn-ea"/>
                <a:ea typeface="+mn-ea"/>
              </a:rPr>
              <a:t>都要预先经过分析论证，并且尽可能在开机初始化时一次性地设置好，以后就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不再更改</a:t>
            </a:r>
            <a:r>
              <a:rPr lang="zh-CN" altLang="en-US" sz="2400" b="0" dirty="0">
                <a:latin typeface="+mn-ea"/>
                <a:ea typeface="+mn-ea"/>
              </a:rPr>
              <a:t>了。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3990415" y="3438266"/>
          <a:ext cx="5066029" cy="59436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634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98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46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56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Bit7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Bit6</a:t>
                      </a:r>
                      <a:endParaRPr lang="zh-CN" sz="18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Bit5</a:t>
                      </a:r>
                      <a:endParaRPr lang="zh-CN" sz="18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Bit4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Bit3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Bit2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Bit1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Bit0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0" dirty="0">
                          <a:effectLst/>
                        </a:rPr>
                        <a:t>0</a:t>
                      </a:r>
                      <a:endParaRPr lang="zh-CN" sz="1800" b="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1</a:t>
                      </a:r>
                      <a:endParaRPr lang="zh-CN" sz="18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1</a:t>
                      </a:r>
                      <a:endParaRPr lang="zh-CN" sz="18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未使用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3990415" y="4555866"/>
          <a:ext cx="5066029" cy="59436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634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98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46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56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Bit7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Bit6</a:t>
                      </a:r>
                      <a:endParaRPr lang="zh-CN" sz="18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Bit5</a:t>
                      </a:r>
                      <a:endParaRPr lang="zh-CN" sz="18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Bit4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Bit3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Bit2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Bit1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Bit0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0" dirty="0">
                          <a:effectLst/>
                        </a:rPr>
                        <a:t>0</a:t>
                      </a:r>
                      <a:endParaRPr lang="zh-CN" sz="1800" b="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1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未使用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2759199" y="3508093"/>
            <a:ext cx="981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srgbClr val="0033CC"/>
                </a:solidFill>
                <a:latin typeface="+mn-ea"/>
              </a:rPr>
              <a:t>异常</a:t>
            </a:r>
            <a:r>
              <a:rPr lang="en-US" altLang="zh-CN" sz="2400" dirty="0">
                <a:solidFill>
                  <a:srgbClr val="0033CC"/>
                </a:solidFill>
                <a:latin typeface="+mn-ea"/>
              </a:rPr>
              <a:t>1</a:t>
            </a:r>
            <a:endParaRPr lang="zh-CN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2767152" y="4594957"/>
            <a:ext cx="981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srgbClr val="0033CC"/>
                </a:solidFill>
                <a:latin typeface="+mn-ea"/>
              </a:rPr>
              <a:t>异常</a:t>
            </a:r>
            <a:r>
              <a:rPr lang="en-US" altLang="zh-CN" sz="2400" dirty="0">
                <a:solidFill>
                  <a:srgbClr val="0033CC"/>
                </a:solidFill>
                <a:latin typeface="+mn-ea"/>
              </a:rPr>
              <a:t>2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1526915" y="3438266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例如：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990415" y="3730230"/>
            <a:ext cx="1896110" cy="32271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990415" y="4846492"/>
            <a:ext cx="1896110" cy="32271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447790" y="4079269"/>
            <a:ext cx="7665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0x60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466492" y="5158172"/>
            <a:ext cx="7665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0x40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90415" y="3730230"/>
            <a:ext cx="1242634" cy="322047"/>
          </a:xfrm>
          <a:prstGeom prst="rect">
            <a:avLst/>
          </a:prstGeom>
          <a:noFill/>
          <a:ln w="254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228453" y="4075068"/>
            <a:ext cx="7665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33CC"/>
                </a:solidFill>
                <a:latin typeface="+mn-ea"/>
              </a:rPr>
              <a:t>0x40</a:t>
            </a:r>
            <a:endParaRPr lang="zh-CN" altLang="en-US" sz="2000" dirty="0">
              <a:solidFill>
                <a:srgbClr val="0033CC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999634" y="4867315"/>
            <a:ext cx="1242634" cy="273154"/>
          </a:xfrm>
          <a:prstGeom prst="rect">
            <a:avLst/>
          </a:prstGeom>
          <a:noFill/>
          <a:ln w="254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37672" y="5142612"/>
            <a:ext cx="7665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33CC"/>
                </a:solidFill>
                <a:latin typeface="+mn-ea"/>
              </a:rPr>
              <a:t>0x40</a:t>
            </a:r>
            <a:endParaRPr lang="zh-CN" altLang="en-US" sz="2000" dirty="0">
              <a:solidFill>
                <a:srgbClr val="0033CC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2A0D5A-184D-42B2-B71C-A85C631B1830}"/>
              </a:ext>
            </a:extLst>
          </p:cNvPr>
          <p:cNvSpPr/>
          <p:nvPr/>
        </p:nvSpPr>
        <p:spPr>
          <a:xfrm>
            <a:off x="971951" y="2448017"/>
            <a:ext cx="98676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ea"/>
              </a:rPr>
              <a:t>      </a:t>
            </a:r>
            <a:r>
              <a:rPr lang="zh-CN" altLang="zh-CN" sz="2400" dirty="0">
                <a:latin typeface="+mn-ea"/>
              </a:rPr>
              <a:t>如果</a:t>
            </a:r>
            <a:r>
              <a:rPr lang="zh-CN" altLang="en-US" sz="2400" dirty="0">
                <a:latin typeface="+mn-ea"/>
              </a:rPr>
              <a:t>设置了软件优先级不同，就以软件优先级为准，先响应软件优先级数值小的中断</a:t>
            </a:r>
            <a:r>
              <a:rPr lang="zh-CN" altLang="zh-CN" sz="2400" dirty="0">
                <a:latin typeface="+mn-ea"/>
              </a:rPr>
              <a:t>。</a:t>
            </a:r>
            <a:r>
              <a:rPr lang="zh-CN" altLang="en-US" sz="2400" dirty="0">
                <a:latin typeface="+mn-ea"/>
              </a:rPr>
              <a:t>而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中断嵌套须由抢占优先级决定</a:t>
            </a:r>
            <a:endParaRPr lang="zh-CN" altLang="zh-CN" sz="24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/>
      <p:bldP spid="17" grpId="0" animBg="1"/>
      <p:bldP spid="18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异常类型和优先级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5568" y="896089"/>
            <a:ext cx="24716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问题与思考</a:t>
            </a:r>
            <a:endParaRPr lang="zh-CN" altLang="zh-CN" sz="2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C36722-8415-417D-9DF6-E10AFF3A3E18}"/>
              </a:ext>
            </a:extLst>
          </p:cNvPr>
          <p:cNvSpPr/>
          <p:nvPr/>
        </p:nvSpPr>
        <p:spPr>
          <a:xfrm>
            <a:off x="1721388" y="1643498"/>
            <a:ext cx="906617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寄存器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NVIC-&gt;IPR[1]</a:t>
            </a:r>
            <a:r>
              <a:rPr lang="zh-CN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对应中断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4</a:t>
            </a:r>
            <a:r>
              <a:rPr lang="zh-CN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5</a:t>
            </a:r>
            <a:r>
              <a:rPr lang="zh-CN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6</a:t>
            </a:r>
            <a:r>
              <a:rPr lang="zh-CN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7</a:t>
            </a:r>
            <a:r>
              <a:rPr lang="zh-CN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的优先级设置，如果该寄存器的值为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0x70806050</a:t>
            </a:r>
            <a:r>
              <a:rPr lang="zh-CN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，则这四个中断的优先级顺序为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(       )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。</a:t>
            </a: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A.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6&gt;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7&gt;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5&gt;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		B.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5&gt;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6&gt;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7 </a:t>
            </a: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C.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5&gt;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7&gt;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6		D.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7&gt;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6&gt;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5&gt;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</a:t>
            </a:r>
          </a:p>
          <a:p>
            <a:pPr algn="just">
              <a:spcAft>
                <a:spcPts val="0"/>
              </a:spcAft>
            </a:pP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STM32F103</a:t>
            </a:r>
            <a:r>
              <a:rPr lang="zh-CN" altLang="zh-CN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向量中断控制器管理下，可将中断分为（</a:t>
            </a:r>
            <a:r>
              <a:rPr lang="zh-CN" altLang="zh-CN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      </a:t>
            </a:r>
            <a:r>
              <a:rPr lang="zh-CN" altLang="zh-CN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）组</a:t>
            </a:r>
            <a:endParaRPr lang="zh-CN" altLang="zh-CN" sz="2400" dirty="0">
              <a:latin typeface="+mn-ea"/>
              <a:cs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A.4         B. 5            C. 6            D. 7</a:t>
            </a:r>
          </a:p>
          <a:p>
            <a:pPr algn="just">
              <a:spcAft>
                <a:spcPts val="0"/>
              </a:spcAft>
            </a:pPr>
            <a:endParaRPr lang="zh-CN" altLang="zh-CN" sz="2400" dirty="0">
              <a:latin typeface="+mn-ea"/>
              <a:cs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kern="10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中断优先级分组的位段在寄存器（</a:t>
            </a:r>
            <a:r>
              <a:rPr lang="en-US" altLang="zh-CN" kern="10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AIRCR</a:t>
            </a:r>
            <a:r>
              <a:rPr lang="zh-CN" altLang="zh-CN" kern="10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kern="10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8~10</a:t>
            </a:r>
            <a:r>
              <a:rPr lang="zh-CN" altLang="zh-CN" kern="10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位 ）中，如需将某中断的抢占优先级设为</a:t>
            </a:r>
            <a:r>
              <a:rPr lang="en-US" altLang="zh-CN" kern="10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7</a:t>
            </a:r>
            <a:r>
              <a:rPr lang="zh-CN" altLang="zh-CN" kern="10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，响应优先级设为</a:t>
            </a:r>
            <a:r>
              <a:rPr lang="en-US" altLang="zh-CN" kern="10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1</a:t>
            </a:r>
            <a:r>
              <a:rPr lang="zh-CN" altLang="zh-CN" kern="10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，请问应将该位段的值设置为（</a:t>
            </a:r>
            <a:r>
              <a:rPr lang="en-US" altLang="zh-CN" kern="10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      </a:t>
            </a:r>
            <a:r>
              <a:rPr lang="zh-CN" altLang="zh-CN" kern="10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）。</a:t>
            </a:r>
            <a:endParaRPr lang="en-US" altLang="zh-CN" kern="100" dirty="0" smtClean="0">
              <a:solidFill>
                <a:srgbClr val="000000"/>
              </a:solidFill>
              <a:latin typeface="+mn-ea"/>
              <a:cs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endParaRPr lang="zh-CN" altLang="zh-CN" kern="100" dirty="0" smtClean="0"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中断优先级分组寄存器</a:t>
            </a:r>
            <a:r>
              <a:rPr lang="en-US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AIRCR</a:t>
            </a:r>
            <a:r>
              <a:rPr lang="zh-CN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</a:t>
            </a:r>
            <a:r>
              <a:rPr lang="en-US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8~10</a:t>
            </a:r>
            <a:r>
              <a:rPr lang="zh-CN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位设为</a:t>
            </a:r>
            <a:r>
              <a:rPr lang="en-US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6</a:t>
            </a:r>
            <a:r>
              <a:rPr lang="zh-CN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，两个中断源的优先级寄存器的高</a:t>
            </a:r>
            <a:r>
              <a:rPr lang="en-US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</a:t>
            </a:r>
            <a:r>
              <a:rPr lang="zh-CN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位分别设为</a:t>
            </a:r>
            <a:r>
              <a:rPr lang="en-US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</a:t>
            </a:r>
            <a:r>
              <a:rPr lang="zh-CN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，则这两个中断源不能产生中断嵌套。（ </a:t>
            </a:r>
            <a:r>
              <a:rPr lang="en-US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zh-CN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</a:t>
            </a:r>
            <a:r>
              <a:rPr lang="zh-CN" altLang="zh-CN" kern="1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92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寄存器</a:t>
            </a:r>
            <a:r>
              <a:rPr lang="en-US" altLang="zh-CN" sz="28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NVIC-&gt;IPR[1]</a:t>
            </a:r>
            <a:r>
              <a:rPr lang="zh-CN" altLang="zh-CN" sz="28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对应中断</a:t>
            </a:r>
            <a:r>
              <a:rPr lang="en-US" altLang="zh-CN" sz="28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4</a:t>
            </a:r>
            <a:r>
              <a:rPr lang="zh-CN" altLang="zh-CN" sz="28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</a:t>
            </a:r>
            <a:r>
              <a:rPr lang="en-US" altLang="zh-CN" sz="28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5</a:t>
            </a:r>
            <a:r>
              <a:rPr lang="zh-CN" altLang="zh-CN" sz="28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</a:t>
            </a:r>
            <a:r>
              <a:rPr lang="en-US" altLang="zh-CN" sz="28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6</a:t>
            </a:r>
            <a:r>
              <a:rPr lang="zh-CN" altLang="zh-CN" sz="28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</a:t>
            </a:r>
            <a:r>
              <a:rPr lang="en-US" altLang="zh-CN" sz="28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7</a:t>
            </a:r>
            <a:r>
              <a:rPr lang="zh-CN" altLang="zh-CN" sz="28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的优先级设置，如果该寄存器的值为</a:t>
            </a:r>
            <a:r>
              <a:rPr lang="en-US" altLang="zh-CN" sz="28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0x70806050</a:t>
            </a:r>
            <a:r>
              <a:rPr lang="zh-CN" altLang="zh-CN" sz="28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，则这四个中断的优先级顺序</a:t>
            </a:r>
            <a:r>
              <a:rPr lang="zh-CN" altLang="zh-CN" sz="2800" kern="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为</a:t>
            </a:r>
            <a:r>
              <a:rPr lang="zh-CN" altLang="en-US" sz="2800" kern="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（）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6&gt;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7&gt;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5&gt;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4&gt;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5&gt;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6&gt;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7 </a:t>
            </a: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4&gt;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5&gt;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7&gt;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6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7&gt;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6&gt;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5&gt;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2148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22555" y="635000"/>
            <a:ext cx="10422193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STM32F103</a:t>
            </a:r>
            <a:r>
              <a:rPr lang="zh-CN" altLang="zh-CN" sz="28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向量中断控制器管理下，可将中断分为（</a:t>
            </a:r>
            <a:r>
              <a:rPr lang="zh-CN" altLang="zh-CN" sz="28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      </a:t>
            </a:r>
            <a:r>
              <a:rPr lang="zh-CN" altLang="zh-CN" sz="28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）组</a:t>
            </a:r>
            <a:endParaRPr lang="zh-CN" altLang="zh-CN" sz="3600" dirty="0">
              <a:latin typeface="+mn-ea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3572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1"/>
            <a:ext cx="9753600" cy="310125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中断优先级分组的位段在寄存器（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AIRCR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8~10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位 ）中，如需将某中断的抢占优先级设为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7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，响应优先级设为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1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，请问应将该位段的值设置为（</a:t>
            </a:r>
            <a:r>
              <a:rPr lang="en-US" altLang="zh-CN" sz="2800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  </a:t>
            </a:r>
            <a:r>
              <a:rPr lang="zh-CN" altLang="en-US" sz="2800" kern="100" dirty="0" smtClean="0">
                <a:solidFill>
                  <a:srgbClr val="639EF4"/>
                </a:solidFill>
                <a:latin typeface="+mn-ea"/>
                <a:cs typeface="宋体" panose="02010600030101010101" pitchFamily="2" charset="-122"/>
              </a:rPr>
              <a:t> </a:t>
            </a:r>
            <a:r>
              <a:rPr lang="en-US" altLang="zh-CN" sz="2800" kern="100" dirty="0" smtClean="0">
                <a:solidFill>
                  <a:srgbClr val="639EF4"/>
                </a:solidFill>
                <a:latin typeface="+mn-ea"/>
                <a:cs typeface="宋体" panose="02010600030101010101" pitchFamily="2" charset="-122"/>
              </a:rPr>
              <a:t>[</a:t>
            </a:r>
            <a:r>
              <a:rPr lang="zh-CN" altLang="en-US" sz="2800" kern="100" dirty="0" smtClean="0">
                <a:solidFill>
                  <a:srgbClr val="639EF4"/>
                </a:solidFill>
                <a:latin typeface="+mn-ea"/>
                <a:cs typeface="宋体" panose="02010600030101010101" pitchFamily="2" charset="-122"/>
              </a:rPr>
              <a:t>填空</a:t>
            </a:r>
            <a:r>
              <a:rPr lang="en-US" altLang="zh-CN" sz="2800" kern="100" dirty="0" smtClean="0">
                <a:solidFill>
                  <a:srgbClr val="639EF4"/>
                </a:solidFill>
                <a:latin typeface="+mn-ea"/>
                <a:cs typeface="宋体" panose="02010600030101010101" pitchFamily="2" charset="-122"/>
              </a:rPr>
              <a:t>1]</a:t>
            </a:r>
            <a:r>
              <a:rPr lang="en-US" altLang="zh-CN" sz="2800" kern="10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     </a:t>
            </a:r>
            <a:r>
              <a:rPr lang="zh-CN" altLang="zh-CN" sz="2800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）。</a:t>
            </a:r>
            <a:endParaRPr lang="en-US" altLang="zh-CN" sz="2800" kern="100" dirty="0">
              <a:solidFill>
                <a:srgbClr val="000000"/>
              </a:solidFill>
              <a:latin typeface="+mn-ea"/>
              <a:cs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endParaRPr lang="zh-CN" altLang="zh-CN" sz="28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345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4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中断优先级分组寄存器</a:t>
            </a:r>
            <a:r>
              <a:rPr lang="en-US" altLang="zh-CN" sz="24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AIRCR</a:t>
            </a:r>
            <a:r>
              <a:rPr lang="zh-CN" altLang="zh-CN" sz="24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</a:t>
            </a:r>
            <a:r>
              <a:rPr lang="en-US" altLang="zh-CN" sz="24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8~10</a:t>
            </a:r>
            <a:r>
              <a:rPr lang="zh-CN" altLang="zh-CN" sz="24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位设为</a:t>
            </a:r>
            <a:r>
              <a:rPr lang="en-US" altLang="zh-CN" sz="24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6</a:t>
            </a:r>
            <a:r>
              <a:rPr lang="zh-CN" altLang="zh-CN" sz="24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，两个中断源的优先级寄存器的高</a:t>
            </a:r>
            <a:r>
              <a:rPr lang="en-US" altLang="zh-CN" sz="24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</a:t>
            </a:r>
            <a:r>
              <a:rPr lang="zh-CN" altLang="zh-CN" sz="24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位分别设为</a:t>
            </a:r>
            <a:r>
              <a:rPr lang="en-US" altLang="zh-CN" sz="24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zh-CN" sz="24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</a:t>
            </a:r>
            <a:r>
              <a:rPr lang="zh-CN" altLang="zh-CN" sz="24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，则这两个中断源不能产生中断嵌套。</a:t>
            </a:r>
            <a:endParaRPr lang="zh-CN" altLang="en-US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056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异常类型和优先级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5568" y="896089"/>
            <a:ext cx="24716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问题与思考</a:t>
            </a:r>
            <a:endParaRPr lang="zh-CN" altLang="zh-CN" sz="2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C36722-8415-417D-9DF6-E10AFF3A3E18}"/>
              </a:ext>
            </a:extLst>
          </p:cNvPr>
          <p:cNvSpPr/>
          <p:nvPr/>
        </p:nvSpPr>
        <p:spPr>
          <a:xfrm>
            <a:off x="1721388" y="1643498"/>
            <a:ext cx="906617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寄存器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NVIC-&gt;IPR[1]</a:t>
            </a:r>
            <a:r>
              <a:rPr lang="zh-CN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对应中断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4</a:t>
            </a:r>
            <a:r>
              <a:rPr lang="zh-CN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5</a:t>
            </a:r>
            <a:r>
              <a:rPr lang="zh-CN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6</a:t>
            </a:r>
            <a:r>
              <a:rPr lang="zh-CN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7</a:t>
            </a:r>
            <a:r>
              <a:rPr lang="zh-CN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的优先级设置，如果该寄存器的值为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0x70806050</a:t>
            </a:r>
            <a:r>
              <a:rPr lang="zh-CN" altLang="zh-CN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，则这四个中断的优先级顺序为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(  C    )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。</a:t>
            </a: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A.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6&gt;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7&gt;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5&gt;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		B.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5&gt;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6&gt;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7 </a:t>
            </a: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C.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5&gt;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7&gt;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6		D.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7&gt;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6&gt;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5&gt;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</a:t>
            </a:r>
          </a:p>
          <a:p>
            <a:pPr algn="just">
              <a:spcAft>
                <a:spcPts val="0"/>
              </a:spcAft>
            </a:pP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STM32F103</a:t>
            </a:r>
            <a:r>
              <a:rPr lang="zh-CN" altLang="zh-CN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向量中断控制器管理下，可将中断分为（</a:t>
            </a:r>
            <a:r>
              <a:rPr lang="zh-CN" altLang="zh-CN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  B   </a:t>
            </a:r>
            <a:r>
              <a:rPr lang="zh-CN" altLang="zh-CN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）组</a:t>
            </a:r>
            <a:endParaRPr lang="zh-CN" altLang="zh-CN" sz="2400" dirty="0">
              <a:latin typeface="+mn-ea"/>
              <a:cs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A.4         B. 5            C. 6            D. 7</a:t>
            </a:r>
          </a:p>
          <a:p>
            <a:pPr algn="just">
              <a:spcAft>
                <a:spcPts val="0"/>
              </a:spcAft>
            </a:pPr>
            <a:endParaRPr lang="zh-CN" altLang="zh-CN" sz="2400" dirty="0">
              <a:latin typeface="+mn-ea"/>
              <a:cs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中断优先级分组的位段在寄存器（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AIRCR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8~10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位 ）中，如需将某中断的抢占优先级设为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7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，响应优先级设为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1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，请问应将该位段的值设置为（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   4   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）。</a:t>
            </a:r>
            <a:endParaRPr lang="en-US" altLang="zh-CN" kern="100" dirty="0">
              <a:solidFill>
                <a:srgbClr val="000000"/>
              </a:solidFill>
              <a:latin typeface="+mn-ea"/>
              <a:cs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中断优先级分组寄存器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AIRCR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8~10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位设为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6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，两个中断源的优先级寄存器的高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位分别设为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，则这两个中断源不能产生中断嵌套。（ 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对 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35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异常类型和优先级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13898" y="750627"/>
            <a:ext cx="8100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习题解析</a:t>
            </a:r>
            <a:endParaRPr lang="zh-CN" altLang="zh-CN" sz="2400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50" y="817303"/>
            <a:ext cx="10379371" cy="604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361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8" name="think-cell Slide" r:id="rId5" imgW="9525" imgH="9525" progId="TCLayout.ActiveDocument.1">
                  <p:embed/>
                </p:oleObj>
              </mc:Choice>
              <mc:Fallback>
                <p:oleObj name="think-cell Slide" r:id="rId5" imgW="9525" imgH="9525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8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9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10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12" name="文本框 5"/>
          <p:cNvSpPr txBox="1"/>
          <p:nvPr/>
        </p:nvSpPr>
        <p:spPr>
          <a:xfrm>
            <a:off x="622577" y="3167390"/>
            <a:ext cx="65529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dirty="0">
                <a:solidFill>
                  <a:srgbClr val="42E6E0"/>
                </a:solidFill>
              </a:rPr>
              <a:t>向量表、中断输入及悬起</a:t>
            </a:r>
          </a:p>
        </p:txBody>
      </p:sp>
    </p:spTree>
    <p:extLst>
      <p:ext uri="{BB962C8B-B14F-4D97-AF65-F5344CB8AC3E}">
        <p14:creationId xmlns:p14="http://schemas.microsoft.com/office/powerpoint/2010/main" val="340048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向量表、中断输入及挂起行为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Rectangle 5"/>
          <p:cNvSpPr txBox="1">
            <a:spLocks noChangeArrowheads="1"/>
          </p:cNvSpPr>
          <p:nvPr/>
        </p:nvSpPr>
        <p:spPr bwMode="auto">
          <a:xfrm>
            <a:off x="1004786" y="1292708"/>
            <a:ext cx="8486775" cy="528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u"/>
              <a:defRPr/>
            </a:pPr>
            <a:r>
              <a:rPr lang="zh-CN" altLang="en-US" sz="2800" b="1" kern="0" dirty="0">
                <a:solidFill>
                  <a:srgbClr val="FF0000"/>
                </a:solidFill>
              </a:rPr>
              <a:t>向量表</a:t>
            </a:r>
          </a:p>
        </p:txBody>
      </p:sp>
      <p:sp>
        <p:nvSpPr>
          <p:cNvPr id="12" name="矩形 10"/>
          <p:cNvSpPr>
            <a:spLocks noChangeArrowheads="1"/>
          </p:cNvSpPr>
          <p:nvPr/>
        </p:nvSpPr>
        <p:spPr bwMode="auto">
          <a:xfrm>
            <a:off x="500683" y="1823346"/>
            <a:ext cx="1083406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+mn-ea"/>
                <a:ea typeface="+mn-ea"/>
              </a:rPr>
              <a:t>       当发生了异常并且要响应异常时，</a:t>
            </a:r>
            <a:r>
              <a:rPr lang="en-US" altLang="zh-CN" sz="2000" dirty="0">
                <a:latin typeface="+mn-ea"/>
                <a:ea typeface="+mn-ea"/>
              </a:rPr>
              <a:t>CM3</a:t>
            </a:r>
            <a:r>
              <a:rPr lang="zh-CN" altLang="en-US" sz="2000" dirty="0">
                <a:latin typeface="+mn-ea"/>
                <a:ea typeface="+mn-ea"/>
              </a:rPr>
              <a:t>需要定位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异常处理例程的入口地址</a:t>
            </a:r>
            <a:r>
              <a:rPr lang="zh-CN" altLang="en-US" sz="2000" b="0" dirty="0">
                <a:latin typeface="+mn-ea"/>
                <a:ea typeface="+mn-ea"/>
              </a:rPr>
              <a:t>。这些</a:t>
            </a:r>
            <a:r>
              <a:rPr lang="zh-CN" altLang="en-US" sz="2000" dirty="0">
                <a:latin typeface="+mn-ea"/>
                <a:ea typeface="+mn-ea"/>
              </a:rPr>
              <a:t>入口地址所在的存储区域即是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 “（异常）向量表”</a:t>
            </a:r>
            <a:r>
              <a:rPr lang="zh-CN" altLang="en-US" sz="2000" b="0" dirty="0">
                <a:latin typeface="+mn-ea"/>
                <a:ea typeface="+mn-ea"/>
              </a:rPr>
              <a:t>。每个向量（</a:t>
            </a:r>
            <a:r>
              <a:rPr lang="zh-CN" altLang="en-US" sz="2000" dirty="0">
                <a:latin typeface="+mn-ea"/>
                <a:ea typeface="+mn-ea"/>
              </a:rPr>
              <a:t>异常处理例程的入口地址</a:t>
            </a:r>
            <a:r>
              <a:rPr lang="zh-CN" altLang="en-US" sz="2000" b="0" dirty="0">
                <a:latin typeface="+mn-ea"/>
                <a:ea typeface="+mn-ea"/>
              </a:rPr>
              <a:t>）占用</a:t>
            </a:r>
            <a:r>
              <a:rPr lang="en-US" altLang="zh-CN" sz="2000" b="0" dirty="0">
                <a:latin typeface="+mn-ea"/>
                <a:ea typeface="+mn-ea"/>
              </a:rPr>
              <a:t>4</a:t>
            </a:r>
            <a:r>
              <a:rPr lang="zh-CN" altLang="en-US" sz="2000" b="0" dirty="0">
                <a:latin typeface="+mn-ea"/>
                <a:ea typeface="+mn-ea"/>
              </a:rPr>
              <a:t>字节。</a:t>
            </a:r>
            <a:endParaRPr lang="zh-CN" altLang="en-US" sz="2000" dirty="0">
              <a:latin typeface="+mn-ea"/>
              <a:ea typeface="+mn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783081" y="2893971"/>
          <a:ext cx="8625840" cy="2782672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548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3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8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地址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</a:rPr>
                        <a:t>异常编号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</a:rPr>
                        <a:t>值（</a:t>
                      </a:r>
                      <a:r>
                        <a:rPr lang="en-US" sz="1600" kern="0">
                          <a:effectLst/>
                        </a:rPr>
                        <a:t>32</a:t>
                      </a:r>
                      <a:r>
                        <a:rPr lang="zh-CN" sz="1600" kern="0">
                          <a:effectLst/>
                        </a:rPr>
                        <a:t>位整数）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8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0x0000_0000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-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MSP </a:t>
                      </a:r>
                      <a:r>
                        <a:rPr lang="zh-CN" sz="1600" kern="0" dirty="0">
                          <a:effectLst/>
                        </a:rPr>
                        <a:t>的初始值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8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0x0000_0004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复位向量（</a:t>
                      </a:r>
                      <a:r>
                        <a:rPr lang="en-US" sz="1600" kern="0" dirty="0">
                          <a:effectLst/>
                        </a:rPr>
                        <a:t>PC</a:t>
                      </a:r>
                      <a:r>
                        <a:rPr lang="zh-CN" sz="1600" kern="0" dirty="0">
                          <a:effectLst/>
                        </a:rPr>
                        <a:t>初始值）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0x0000_0008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NMI</a:t>
                      </a:r>
                      <a:r>
                        <a:rPr lang="zh-CN" altLang="en-US" sz="1600" kern="0" dirty="0">
                          <a:effectLst/>
                        </a:rPr>
                        <a:t>向量（</a:t>
                      </a:r>
                      <a:r>
                        <a:rPr lang="en-US" sz="1600" kern="0" dirty="0">
                          <a:effectLst/>
                        </a:rPr>
                        <a:t>NMI</a:t>
                      </a:r>
                      <a:r>
                        <a:rPr lang="zh-CN" sz="1600" kern="0" dirty="0">
                          <a:effectLst/>
                        </a:rPr>
                        <a:t>服务例程的入口地址</a:t>
                      </a:r>
                      <a:r>
                        <a:rPr lang="zh-CN" altLang="en-US" sz="1600" kern="0" dirty="0">
                          <a:effectLst/>
                        </a:rPr>
                        <a:t>）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8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0x0000_000C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3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硬</a:t>
                      </a:r>
                      <a:r>
                        <a:rPr lang="en-US" sz="1600" kern="0" dirty="0">
                          <a:effectLst/>
                        </a:rPr>
                        <a:t>fault</a:t>
                      </a:r>
                      <a:r>
                        <a:rPr lang="zh-CN" altLang="en-US" sz="1600" kern="0" dirty="0">
                          <a:effectLst/>
                        </a:rPr>
                        <a:t>向量（</a:t>
                      </a:r>
                      <a:r>
                        <a:rPr lang="zh-CN" altLang="zh-CN" sz="1600" kern="0" dirty="0">
                          <a:effectLst/>
                        </a:rPr>
                        <a:t>硬</a:t>
                      </a:r>
                      <a:r>
                        <a:rPr lang="en-US" altLang="zh-CN" sz="1600" kern="0" dirty="0">
                          <a:effectLst/>
                        </a:rPr>
                        <a:t>fault</a:t>
                      </a:r>
                      <a:r>
                        <a:rPr lang="zh-CN" sz="1600" kern="0" dirty="0">
                          <a:effectLst/>
                        </a:rPr>
                        <a:t>服务例程的入口地址</a:t>
                      </a:r>
                      <a:r>
                        <a:rPr lang="zh-CN" altLang="en-US" sz="1600" kern="0" dirty="0">
                          <a:effectLst/>
                        </a:rPr>
                        <a:t>）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8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0" dirty="0">
                          <a:effectLst/>
                        </a:rPr>
                        <a:t>0x0000_0010</a:t>
                      </a:r>
                      <a:endParaRPr lang="zh-CN" alt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6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kern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kern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MemManage</a:t>
                      </a:r>
                      <a:r>
                        <a:rPr lang="zh-CN" altLang="en-US" sz="16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错误向量（</a:t>
                      </a:r>
                      <a:r>
                        <a:rPr lang="en-US" altLang="zh-CN" sz="1600" kern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MemManage</a:t>
                      </a:r>
                      <a:r>
                        <a:rPr lang="zh-CN" altLang="en-US" sz="16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错误</a:t>
                      </a:r>
                      <a:r>
                        <a:rPr lang="zh-CN" altLang="zh-CN" sz="16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服务例程的入口地址</a:t>
                      </a:r>
                      <a:r>
                        <a:rPr lang="zh-CN" altLang="en-US" sz="16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0" dirty="0">
                          <a:effectLst/>
                        </a:rPr>
                        <a:t>0x0000_0014</a:t>
                      </a:r>
                      <a:endParaRPr lang="zh-CN" alt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6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CN" altLang="en-US" sz="1600" kern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16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总线错误向量（总线错误</a:t>
                      </a:r>
                      <a:r>
                        <a:rPr lang="zh-CN" altLang="zh-CN" sz="16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服务例程的入口地址</a:t>
                      </a:r>
                      <a:r>
                        <a:rPr lang="zh-CN" altLang="en-US" sz="16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8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……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</a:rPr>
                        <a:t>……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其它异常服务例程的入口地址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1783079" y="3565094"/>
            <a:ext cx="8625839" cy="367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783080" y="4971631"/>
            <a:ext cx="8625839" cy="3454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96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向量表、中断输入及挂起行为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矩形 5"/>
          <p:cNvSpPr>
            <a:spLocks noChangeArrowheads="1"/>
          </p:cNvSpPr>
          <p:nvPr/>
        </p:nvSpPr>
        <p:spPr bwMode="auto">
          <a:xfrm>
            <a:off x="790287" y="2139890"/>
            <a:ext cx="104777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       </a:t>
            </a:r>
            <a:r>
              <a:rPr lang="zh-CN" altLang="zh-CN" sz="2400" dirty="0">
                <a:latin typeface="+mn-ea"/>
                <a:ea typeface="+mn-ea"/>
              </a:rPr>
              <a:t>缺省情况下，</a:t>
            </a:r>
            <a:r>
              <a:rPr lang="en-US" altLang="zh-CN" sz="2400" dirty="0">
                <a:latin typeface="+mn-ea"/>
                <a:ea typeface="+mn-ea"/>
              </a:rPr>
              <a:t>CM3</a:t>
            </a:r>
            <a:r>
              <a:rPr lang="zh-CN" altLang="zh-CN" sz="2400" dirty="0">
                <a:latin typeface="+mn-ea"/>
                <a:ea typeface="+mn-ea"/>
              </a:rPr>
              <a:t>的“向量表”位于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zh-CN" sz="2400" dirty="0">
                <a:latin typeface="+mn-ea"/>
                <a:ea typeface="+mn-ea"/>
              </a:rPr>
              <a:t>地址处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b="0" dirty="0">
                <a:solidFill>
                  <a:srgbClr val="FF0000"/>
                </a:solidFill>
                <a:latin typeface="+mn-ea"/>
                <a:ea typeface="+mn-ea"/>
              </a:rPr>
              <a:t>CM3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允许向量表重定位</a:t>
            </a:r>
            <a:r>
              <a:rPr lang="zh-CN" altLang="en-US" sz="2400" b="0" dirty="0">
                <a:latin typeface="+mn-ea"/>
                <a:ea typeface="+mn-ea"/>
              </a:rPr>
              <a:t>，即可以从其它地址处开始定位各异常向量。</a:t>
            </a:r>
            <a:endParaRPr lang="en-US" altLang="zh-CN" sz="2400" b="0" dirty="0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30142" y="3130813"/>
            <a:ext cx="78429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latin typeface="+mn-ea"/>
              </a:rPr>
              <a:t>重定位地址区域可以是代码区，但也可以是</a:t>
            </a:r>
            <a:r>
              <a:rPr lang="en-US" altLang="zh-CN" sz="2400" dirty="0">
                <a:latin typeface="+mn-ea"/>
              </a:rPr>
              <a:t>RAM</a:t>
            </a:r>
            <a:r>
              <a:rPr lang="zh-CN" altLang="en-US" sz="2400" dirty="0">
                <a:latin typeface="+mn-ea"/>
              </a:rPr>
              <a:t>区。</a:t>
            </a:r>
          </a:p>
        </p:txBody>
      </p:sp>
    </p:spTree>
    <p:extLst>
      <p:ext uri="{BB962C8B-B14F-4D97-AF65-F5344CB8AC3E}">
        <p14:creationId xmlns:p14="http://schemas.microsoft.com/office/powerpoint/2010/main" val="170747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793776" y="1604915"/>
            <a:ext cx="1005325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       为了实现向量表重定位功能，</a:t>
            </a:r>
            <a:r>
              <a:rPr lang="en-US" altLang="zh-CN" sz="2400" b="0" dirty="0">
                <a:latin typeface="+mn-ea"/>
                <a:ea typeface="+mn-ea"/>
              </a:rPr>
              <a:t>CM3</a:t>
            </a:r>
            <a:r>
              <a:rPr lang="zh-CN" altLang="en-US" sz="2400" b="0" dirty="0">
                <a:latin typeface="+mn-ea"/>
                <a:ea typeface="+mn-ea"/>
              </a:rPr>
              <a:t>提供了一个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“向量表偏移量寄存器”</a:t>
            </a:r>
            <a:r>
              <a:rPr lang="zh-CN" altLang="en-US" sz="2400" b="0" dirty="0">
                <a:latin typeface="+mn-ea"/>
                <a:ea typeface="+mn-ea"/>
              </a:rPr>
              <a:t>（</a:t>
            </a:r>
            <a:r>
              <a:rPr lang="en-US" altLang="zh-CN" sz="2400" dirty="0"/>
              <a:t>VTOR</a:t>
            </a:r>
            <a:r>
              <a:rPr lang="zh-CN" altLang="en-US" sz="2400" b="0" dirty="0">
                <a:latin typeface="+mn-ea"/>
                <a:ea typeface="+mn-ea"/>
              </a:rPr>
              <a:t>），通过修改该寄存器的值就能重定位向量表。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向量表、中断输入及挂起行为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421052"/>
              </p:ext>
            </p:extLst>
          </p:nvPr>
        </p:nvGraphicFramePr>
        <p:xfrm>
          <a:off x="2222742" y="2881367"/>
          <a:ext cx="7195323" cy="1098378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084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9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3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位段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600" b="1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描述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2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29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TBLBASE</a:t>
                      </a:r>
                      <a:endParaRPr lang="zh-CN" altLang="en-US" sz="1600" kern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向量表是在</a:t>
                      </a:r>
                      <a:r>
                        <a:rPr lang="en-US" sz="1600" kern="0" dirty="0">
                          <a:effectLst/>
                        </a:rPr>
                        <a:t>Code</a:t>
                      </a:r>
                      <a:r>
                        <a:rPr lang="zh-CN" sz="1600" kern="0" dirty="0">
                          <a:effectLst/>
                        </a:rPr>
                        <a:t>区（</a:t>
                      </a:r>
                      <a:r>
                        <a:rPr lang="en-US" sz="1600" kern="0" dirty="0">
                          <a:effectLst/>
                        </a:rPr>
                        <a:t>0</a:t>
                      </a:r>
                      <a:r>
                        <a:rPr lang="zh-CN" sz="1600" kern="0" dirty="0">
                          <a:effectLst/>
                        </a:rPr>
                        <a:t>），还是在</a:t>
                      </a:r>
                      <a:r>
                        <a:rPr lang="en-US" sz="1600" kern="0" dirty="0">
                          <a:effectLst/>
                        </a:rPr>
                        <a:t>RAM</a:t>
                      </a:r>
                      <a:r>
                        <a:rPr lang="zh-CN" sz="1600" kern="0" dirty="0">
                          <a:effectLst/>
                        </a:rPr>
                        <a:t>区（</a:t>
                      </a:r>
                      <a:r>
                        <a:rPr lang="en-US" sz="1600" kern="0" dirty="0">
                          <a:effectLst/>
                        </a:rPr>
                        <a:t>1</a:t>
                      </a:r>
                      <a:r>
                        <a:rPr lang="zh-CN" sz="1600" kern="0" dirty="0">
                          <a:effectLst/>
                        </a:rPr>
                        <a:t>）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34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600" b="1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  <a:r>
                        <a:rPr lang="zh-CN" altLang="en-US" sz="1600" b="1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600" b="1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CN" altLang="en-US" sz="1600" b="1" kern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TBLOFF</a:t>
                      </a:r>
                      <a:endParaRPr lang="zh-CN" altLang="en-US" sz="1600" kern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向量表的起始地址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222743" y="3641963"/>
            <a:ext cx="7195322" cy="337782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222743" y="3164442"/>
            <a:ext cx="7195322" cy="459845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64336" y="4484540"/>
            <a:ext cx="100553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open sans"/>
              </a:rPr>
              <a:t> SCB-&gt;VTOR = </a:t>
            </a:r>
            <a:r>
              <a:rPr lang="en-US" altLang="zh-CN" sz="2400" b="1" dirty="0" err="1">
                <a:latin typeface="open sans"/>
              </a:rPr>
              <a:t>NVIC_VectTab</a:t>
            </a:r>
            <a:r>
              <a:rPr lang="en-US" altLang="zh-CN" sz="2400" b="1" dirty="0">
                <a:latin typeface="open sans"/>
              </a:rPr>
              <a:t> | (Offset &amp; (uint32_t)0x1FFFFF80</a:t>
            </a:r>
            <a:r>
              <a:rPr lang="en-US" altLang="zh-CN" sz="2400" b="1" dirty="0" smtClean="0">
                <a:latin typeface="open sans"/>
              </a:rPr>
              <a:t>)</a:t>
            </a:r>
          </a:p>
          <a:p>
            <a:r>
              <a:rPr lang="en-US" altLang="zh-CN" sz="2400" b="1" dirty="0" smtClean="0">
                <a:latin typeface="open sans"/>
              </a:rPr>
              <a:t> </a:t>
            </a:r>
            <a:r>
              <a:rPr lang="en-US" altLang="zh-CN" sz="2400" b="1" dirty="0" err="1">
                <a:latin typeface="open sans"/>
              </a:rPr>
              <a:t>NVIC_VectTab</a:t>
            </a:r>
            <a:r>
              <a:rPr lang="en-US" altLang="zh-CN" sz="2400" b="1" dirty="0">
                <a:latin typeface="open sans"/>
              </a:rPr>
              <a:t>   0x00000000   FLASH</a:t>
            </a:r>
            <a:r>
              <a:rPr lang="zh-CN" altLang="en-US" sz="2400" dirty="0">
                <a:latin typeface="open sans"/>
              </a:rPr>
              <a:t>区</a:t>
            </a:r>
            <a:r>
              <a:rPr lang="zh-CN" altLang="en-US" sz="2400" b="1" dirty="0">
                <a:latin typeface="open sans"/>
              </a:rPr>
              <a:t>  </a:t>
            </a:r>
            <a:r>
              <a:rPr lang="en-US" altLang="zh-CN" sz="2400" b="1" dirty="0" smtClean="0">
                <a:solidFill>
                  <a:srgbClr val="FF0000"/>
                </a:solidFill>
                <a:latin typeface="open sans"/>
              </a:rPr>
              <a:t>30-31</a:t>
            </a:r>
            <a:r>
              <a:rPr lang="zh-CN" altLang="en-US" sz="2400" b="1" dirty="0" smtClean="0">
                <a:solidFill>
                  <a:srgbClr val="FF0000"/>
                </a:solidFill>
                <a:latin typeface="open sans"/>
              </a:rPr>
              <a:t>位</a:t>
            </a:r>
            <a:r>
              <a:rPr lang="zh-CN" altLang="en-US" sz="2400" b="1" dirty="0" smtClean="0">
                <a:latin typeface="open sans"/>
              </a:rPr>
              <a:t>为</a:t>
            </a:r>
            <a:r>
              <a:rPr lang="en-US" altLang="zh-CN" sz="2400" b="1" dirty="0" smtClean="0">
                <a:latin typeface="open sans"/>
              </a:rPr>
              <a:t>0  29</a:t>
            </a:r>
            <a:r>
              <a:rPr lang="zh-CN" altLang="en-US" sz="2400" dirty="0">
                <a:latin typeface="open sans"/>
              </a:rPr>
              <a:t>位为</a:t>
            </a:r>
            <a:r>
              <a:rPr lang="en-US" altLang="zh-CN" sz="2400" b="1" dirty="0">
                <a:latin typeface="open sans"/>
              </a:rPr>
              <a:t>0 </a:t>
            </a:r>
          </a:p>
          <a:p>
            <a:r>
              <a:rPr lang="en-US" altLang="zh-CN" sz="2400" b="1" dirty="0">
                <a:latin typeface="open sans"/>
              </a:rPr>
              <a:t>                0x20000000   SRAM</a:t>
            </a:r>
            <a:r>
              <a:rPr lang="zh-CN" altLang="en-US" sz="2400" dirty="0">
                <a:latin typeface="open sans"/>
              </a:rPr>
              <a:t>区</a:t>
            </a:r>
            <a:r>
              <a:rPr lang="zh-CN" altLang="en-US" sz="2400" b="1" dirty="0">
                <a:latin typeface="open sans"/>
              </a:rPr>
              <a:t> </a:t>
            </a:r>
            <a:r>
              <a:rPr lang="zh-CN" altLang="en-US" sz="2400" b="1" dirty="0" smtClean="0">
                <a:latin typeface="open sans"/>
              </a:rPr>
              <a:t>  </a:t>
            </a:r>
            <a:r>
              <a:rPr lang="en-US" altLang="zh-CN" sz="2400" b="1" dirty="0" smtClean="0">
                <a:solidFill>
                  <a:srgbClr val="FF0000"/>
                </a:solidFill>
                <a:latin typeface="open sans"/>
              </a:rPr>
              <a:t>30-31</a:t>
            </a:r>
            <a:r>
              <a:rPr lang="zh-CN" altLang="en-US" sz="2400" b="1" dirty="0">
                <a:solidFill>
                  <a:srgbClr val="FF0000"/>
                </a:solidFill>
                <a:latin typeface="open sans"/>
              </a:rPr>
              <a:t>位</a:t>
            </a:r>
            <a:r>
              <a:rPr lang="zh-CN" altLang="en-US" sz="2400" b="1" dirty="0">
                <a:latin typeface="open sans"/>
              </a:rPr>
              <a:t>为</a:t>
            </a:r>
            <a:r>
              <a:rPr lang="en-US" altLang="zh-CN" sz="2400" b="1" dirty="0">
                <a:latin typeface="open sans"/>
              </a:rPr>
              <a:t>0 </a:t>
            </a:r>
            <a:r>
              <a:rPr lang="en-US" altLang="zh-CN" sz="2400" b="1" dirty="0" smtClean="0">
                <a:latin typeface="open sans"/>
              </a:rPr>
              <a:t> </a:t>
            </a:r>
            <a:r>
              <a:rPr lang="en-US" altLang="zh-CN" sz="2400" b="1" dirty="0" smtClean="0">
                <a:solidFill>
                  <a:srgbClr val="FF0000"/>
                </a:solidFill>
                <a:latin typeface="open sans"/>
              </a:rPr>
              <a:t>29</a:t>
            </a:r>
            <a:r>
              <a:rPr lang="zh-CN" altLang="en-US" sz="2400" dirty="0">
                <a:latin typeface="open sans"/>
              </a:rPr>
              <a:t>位为</a:t>
            </a:r>
            <a:r>
              <a:rPr lang="en-US" altLang="zh-CN" sz="2400" b="1" dirty="0">
                <a:latin typeface="open sans"/>
              </a:rPr>
              <a:t>1</a:t>
            </a:r>
          </a:p>
          <a:p>
            <a:r>
              <a:rPr lang="en-US" altLang="zh-CN" sz="2400" b="1" dirty="0">
                <a:latin typeface="open sans"/>
              </a:rPr>
              <a:t> Offset &amp; (uint32_t)0x1FFFFF80 </a:t>
            </a:r>
            <a:r>
              <a:rPr lang="zh-CN" altLang="en-US" sz="2400" dirty="0">
                <a:latin typeface="open sans"/>
              </a:rPr>
              <a:t>设置</a:t>
            </a:r>
            <a:r>
              <a:rPr lang="en-US" altLang="zh-CN" sz="2400" b="1" dirty="0" smtClean="0">
                <a:latin typeface="open sans"/>
              </a:rPr>
              <a:t>OFFSET</a:t>
            </a:r>
            <a:r>
              <a:rPr lang="zh-CN" altLang="en-US" sz="2400" dirty="0">
                <a:latin typeface="open sans"/>
              </a:rPr>
              <a:t>的</a:t>
            </a:r>
            <a:r>
              <a:rPr lang="en-US" altLang="zh-CN" sz="2400" b="1" dirty="0">
                <a:solidFill>
                  <a:srgbClr val="FF0000"/>
                </a:solidFill>
                <a:latin typeface="open sans"/>
              </a:rPr>
              <a:t>28~7</a:t>
            </a:r>
            <a:r>
              <a:rPr lang="zh-CN" altLang="en-US" sz="2400" dirty="0">
                <a:solidFill>
                  <a:srgbClr val="FF0000"/>
                </a:solidFill>
                <a:latin typeface="open sans"/>
              </a:rPr>
              <a:t>位</a:t>
            </a:r>
            <a:r>
              <a:rPr lang="zh-CN" altLang="en-US" sz="2400" b="1" dirty="0">
                <a:latin typeface="open sans"/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  <a:latin typeface="open sans"/>
              </a:rPr>
              <a:t>0~6</a:t>
            </a:r>
            <a:r>
              <a:rPr lang="zh-CN" altLang="en-US" sz="2400" dirty="0">
                <a:solidFill>
                  <a:srgbClr val="FF0000"/>
                </a:solidFill>
                <a:latin typeface="open sans"/>
              </a:rPr>
              <a:t>位</a:t>
            </a:r>
            <a:r>
              <a:rPr lang="zh-CN" altLang="en-US" sz="2400" dirty="0">
                <a:latin typeface="open sans"/>
              </a:rPr>
              <a:t>为</a:t>
            </a:r>
            <a:r>
              <a:rPr lang="en-US" altLang="zh-CN" sz="2400" b="1" dirty="0">
                <a:latin typeface="open sans"/>
              </a:rPr>
              <a:t>0</a:t>
            </a:r>
            <a:endParaRPr lang="zh-CN" altLang="en-US" sz="2400" b="1" dirty="0"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12294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5"/>
          <p:cNvSpPr>
            <a:spLocks noChangeArrowheads="1"/>
          </p:cNvSpPr>
          <p:nvPr/>
        </p:nvSpPr>
        <p:spPr bwMode="auto">
          <a:xfrm>
            <a:off x="1254809" y="2141689"/>
            <a:ext cx="88470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例：</a:t>
            </a:r>
            <a:r>
              <a:rPr lang="zh-CN" altLang="en-US" sz="2400" b="0" dirty="0">
                <a:latin typeface="+mn-ea"/>
                <a:ea typeface="+mn-ea"/>
              </a:rPr>
              <a:t>微控制器有</a:t>
            </a:r>
            <a:r>
              <a:rPr lang="en-US" altLang="zh-CN" sz="2400" b="0" dirty="0">
                <a:latin typeface="+mn-ea"/>
                <a:ea typeface="+mn-ea"/>
              </a:rPr>
              <a:t>32</a:t>
            </a:r>
            <a:r>
              <a:rPr lang="zh-CN" altLang="en-US" sz="2400" b="0" dirty="0">
                <a:latin typeface="+mn-ea"/>
                <a:ea typeface="+mn-ea"/>
              </a:rPr>
              <a:t>个中断源</a:t>
            </a:r>
            <a:r>
              <a:rPr lang="en-US" altLang="zh-CN" sz="2400" dirty="0">
                <a:latin typeface="+mn-ea"/>
                <a:ea typeface="+mn-ea"/>
              </a:rPr>
              <a:t>    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54809" y="3932128"/>
            <a:ext cx="105086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+mn-ea"/>
              </a:rPr>
              <a:t>       向量表的起始地址可以被设置为：</a:t>
            </a:r>
            <a:endParaRPr lang="en-US" altLang="zh-CN" sz="2400" dirty="0">
              <a:latin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+mn-ea"/>
              </a:rPr>
              <a:t>              </a:t>
            </a:r>
            <a:r>
              <a:rPr lang="en-US" altLang="zh-CN" sz="2400" dirty="0">
                <a:solidFill>
                  <a:srgbClr val="0033CC"/>
                </a:solidFill>
                <a:latin typeface="+mn-ea"/>
              </a:rPr>
              <a:t>0x0000_0000</a:t>
            </a:r>
            <a:r>
              <a:rPr lang="en-US" altLang="zh-CN" sz="2400" dirty="0">
                <a:latin typeface="+mn-ea"/>
              </a:rPr>
              <a:t>, </a:t>
            </a:r>
            <a:r>
              <a:rPr lang="en-US" altLang="zh-CN" sz="2400" dirty="0">
                <a:solidFill>
                  <a:srgbClr val="0033CC"/>
                </a:solidFill>
                <a:latin typeface="+mn-ea"/>
              </a:rPr>
              <a:t>0x0000_0100</a:t>
            </a:r>
            <a:r>
              <a:rPr lang="en-US" altLang="zh-CN" sz="2400" dirty="0">
                <a:latin typeface="+mn-ea"/>
              </a:rPr>
              <a:t>, </a:t>
            </a:r>
            <a:r>
              <a:rPr lang="en-US" altLang="zh-CN" sz="2400" dirty="0">
                <a:solidFill>
                  <a:srgbClr val="0033CC"/>
                </a:solidFill>
                <a:latin typeface="+mn-ea"/>
              </a:rPr>
              <a:t>0x0000_0200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en-US" sz="2400" dirty="0">
                <a:latin typeface="+mn-ea"/>
              </a:rPr>
              <a:t>等。</a:t>
            </a:r>
          </a:p>
        </p:txBody>
      </p:sp>
      <p:sp>
        <p:nvSpPr>
          <p:cNvPr id="10" name="矩形 9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向量表、中断输入及挂起行为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84720" y="2717995"/>
            <a:ext cx="10017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+mn-ea"/>
              </a:rPr>
              <a:t>向量表的大小：</a:t>
            </a:r>
            <a:r>
              <a:rPr lang="en-US" altLang="zh-CN" sz="2400" dirty="0">
                <a:latin typeface="+mn-ea"/>
              </a:rPr>
              <a:t>((32(</a:t>
            </a:r>
            <a:r>
              <a:rPr lang="zh-CN" altLang="en-US" sz="2400" dirty="0">
                <a:latin typeface="+mn-ea"/>
              </a:rPr>
              <a:t>中断</a:t>
            </a:r>
            <a:r>
              <a:rPr lang="en-US" altLang="zh-CN" sz="2400" dirty="0">
                <a:latin typeface="+mn-ea"/>
              </a:rPr>
              <a:t>)+16(</a:t>
            </a:r>
            <a:r>
              <a:rPr lang="zh-CN" altLang="en-US" sz="2400" dirty="0">
                <a:latin typeface="+mn-ea"/>
              </a:rPr>
              <a:t>系统异常</a:t>
            </a:r>
            <a:r>
              <a:rPr lang="en-US" altLang="zh-CN" sz="2400" dirty="0">
                <a:latin typeface="+mn-ea"/>
              </a:rPr>
              <a:t>))</a:t>
            </a:r>
            <a:r>
              <a:rPr lang="zh-CN" altLang="zh-CN" sz="2400" dirty="0"/>
              <a:t>×</a:t>
            </a:r>
            <a:r>
              <a:rPr lang="en-US" altLang="zh-CN" sz="2400" dirty="0"/>
              <a:t>4(</a:t>
            </a:r>
            <a:r>
              <a:rPr lang="zh-CN" altLang="en-US" sz="2400" dirty="0"/>
              <a:t>每个向量的字节数</a:t>
            </a:r>
            <a:r>
              <a:rPr lang="en-US" altLang="zh-CN" sz="2400" dirty="0"/>
              <a:t>)</a:t>
            </a:r>
            <a:r>
              <a:rPr lang="en-US" altLang="zh-CN" sz="2400" dirty="0">
                <a:latin typeface="+mn-ea"/>
              </a:rPr>
              <a:t>=</a:t>
            </a:r>
            <a:r>
              <a:rPr lang="en-US" altLang="zh-CN" sz="2400" dirty="0">
                <a:solidFill>
                  <a:srgbClr val="0033CC"/>
                </a:solidFill>
                <a:latin typeface="+mn-ea"/>
              </a:rPr>
              <a:t>192</a:t>
            </a:r>
          </a:p>
        </p:txBody>
      </p:sp>
      <p:sp>
        <p:nvSpPr>
          <p:cNvPr id="4" name="矩形 3"/>
          <p:cNvSpPr/>
          <p:nvPr/>
        </p:nvSpPr>
        <p:spPr>
          <a:xfrm>
            <a:off x="1884720" y="3314187"/>
            <a:ext cx="74504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+mn-ea"/>
              </a:rPr>
              <a:t>向上增大到</a:t>
            </a:r>
            <a:r>
              <a:rPr lang="en-US" altLang="zh-CN" sz="2400" dirty="0">
                <a:latin typeface="+mn-ea"/>
              </a:rPr>
              <a:t>2</a:t>
            </a:r>
            <a:r>
              <a:rPr lang="zh-CN" altLang="en-US" sz="2400" dirty="0">
                <a:latin typeface="+mn-ea"/>
              </a:rPr>
              <a:t>的整次幂：</a:t>
            </a:r>
            <a:r>
              <a:rPr lang="en-US" altLang="zh-CN" sz="2400" dirty="0">
                <a:solidFill>
                  <a:srgbClr val="0033CC"/>
                </a:solidFill>
                <a:latin typeface="+mn-ea"/>
              </a:rPr>
              <a:t>256</a:t>
            </a:r>
            <a:r>
              <a:rPr lang="en-US" altLang="zh-CN" sz="2400" dirty="0">
                <a:solidFill>
                  <a:srgbClr val="000099"/>
                </a:solidFill>
                <a:latin typeface="+mn-ea"/>
              </a:rPr>
              <a:t> </a:t>
            </a:r>
            <a:r>
              <a:rPr lang="en-US" altLang="zh-CN" sz="2400" dirty="0">
                <a:latin typeface="+mn-ea"/>
              </a:rPr>
              <a:t>      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54809" y="789056"/>
            <a:ext cx="104882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注意：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+mn-ea"/>
              </a:rPr>
              <a:t>       </a:t>
            </a:r>
            <a:r>
              <a:rPr lang="zh-CN" altLang="en-US" sz="2400" dirty="0">
                <a:latin typeface="+mn-ea"/>
              </a:rPr>
              <a:t>向量表的起始地址是有要求的。必须先求出系统中共有多少个向量，再把这个数字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向上增大到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的整次幂</a:t>
            </a:r>
            <a:r>
              <a:rPr lang="zh-CN" altLang="en-US" sz="2400" dirty="0">
                <a:latin typeface="+mn-ea"/>
              </a:rPr>
              <a:t>，而且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起始地址必须对齐到后者的边界</a:t>
            </a:r>
            <a:r>
              <a:rPr lang="zh-CN" altLang="en-US" sz="2400" dirty="0">
                <a:latin typeface="+mn-ea"/>
              </a:rPr>
              <a:t>上。</a:t>
            </a:r>
          </a:p>
        </p:txBody>
      </p:sp>
      <p:sp>
        <p:nvSpPr>
          <p:cNvPr id="5" name="矩形 4"/>
          <p:cNvSpPr/>
          <p:nvPr/>
        </p:nvSpPr>
        <p:spPr>
          <a:xfrm>
            <a:off x="1201000" y="5026496"/>
            <a:ext cx="100186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+mn-ea"/>
              </a:rPr>
              <a:t>        由于</a:t>
            </a:r>
            <a:r>
              <a:rPr lang="en-US" altLang="zh-CN" sz="2400" dirty="0">
                <a:latin typeface="+mn-ea"/>
              </a:rPr>
              <a:t>stm32</a:t>
            </a:r>
            <a:r>
              <a:rPr lang="zh-CN" altLang="en-US" sz="2400" dirty="0">
                <a:latin typeface="+mn-ea"/>
              </a:rPr>
              <a:t>的中断向量一共有</a:t>
            </a:r>
            <a:r>
              <a:rPr lang="en-US" altLang="zh-CN" sz="2400" dirty="0">
                <a:latin typeface="+mn-ea"/>
              </a:rPr>
              <a:t>68+16=84</a:t>
            </a:r>
            <a:r>
              <a:rPr lang="zh-CN" altLang="en-US" sz="2400" dirty="0">
                <a:latin typeface="+mn-ea"/>
              </a:rPr>
              <a:t>个，应该把这个数增加到下一个</a:t>
            </a:r>
            <a:r>
              <a:rPr lang="en-US" altLang="zh-CN" sz="2400" dirty="0">
                <a:latin typeface="+mn-ea"/>
              </a:rPr>
              <a:t>2</a:t>
            </a:r>
            <a:r>
              <a:rPr lang="zh-CN" altLang="en-US" sz="2400" dirty="0">
                <a:latin typeface="+mn-ea"/>
              </a:rPr>
              <a:t>的整数倍即</a:t>
            </a:r>
            <a:r>
              <a:rPr lang="en-US" altLang="zh-CN" sz="2400" dirty="0">
                <a:latin typeface="+mn-ea"/>
              </a:rPr>
              <a:t>128</a:t>
            </a:r>
            <a:r>
              <a:rPr lang="zh-CN" altLang="en-US" sz="2400" dirty="0">
                <a:latin typeface="+mn-ea"/>
              </a:rPr>
              <a:t>，然后换算成地址范围</a:t>
            </a:r>
            <a:r>
              <a:rPr lang="en-US" altLang="zh-CN" sz="2400" dirty="0">
                <a:latin typeface="+mn-ea"/>
              </a:rPr>
              <a:t>128*4=512</a:t>
            </a:r>
            <a:r>
              <a:rPr lang="zh-CN" altLang="en-US" sz="2400" dirty="0">
                <a:latin typeface="+mn-ea"/>
              </a:rPr>
              <a:t>，就得到了</a:t>
            </a:r>
            <a:r>
              <a:rPr lang="en-US" altLang="zh-CN" sz="2400" dirty="0">
                <a:latin typeface="+mn-ea"/>
              </a:rPr>
              <a:t>0x200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546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1105327" y="1516909"/>
            <a:ext cx="848677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u"/>
              <a:defRPr/>
            </a:pPr>
            <a:r>
              <a:rPr lang="zh-CN" altLang="en-US" sz="2800" kern="0" dirty="0">
                <a:solidFill>
                  <a:srgbClr val="FF0000"/>
                </a:solidFill>
              </a:rPr>
              <a:t>中断输入及挂起行为</a:t>
            </a:r>
          </a:p>
          <a:p>
            <a:pPr eaLnBrk="1" hangingPunct="1">
              <a:buFont typeface="Wingdings" panose="05000000000000000000" pitchFamily="2" charset="2"/>
              <a:buChar char="u"/>
              <a:defRPr/>
            </a:pPr>
            <a:endParaRPr lang="zh-CN" altLang="en-US" sz="2800" kern="0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向量表、中断输入及挂起行为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5" name="矩形 5"/>
          <p:cNvSpPr>
            <a:spLocks noChangeArrowheads="1"/>
          </p:cNvSpPr>
          <p:nvPr/>
        </p:nvSpPr>
        <p:spPr bwMode="auto">
          <a:xfrm>
            <a:off x="1105328" y="2332884"/>
            <a:ext cx="993768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中断挂起：</a:t>
            </a:r>
            <a:r>
              <a:rPr lang="zh-CN" altLang="zh-CN" sz="2000" dirty="0">
                <a:latin typeface="+mn-ea"/>
                <a:ea typeface="+mn-ea"/>
              </a:rPr>
              <a:t>中断被置于一种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等待处理器处理</a:t>
            </a:r>
            <a:r>
              <a:rPr lang="zh-CN" altLang="zh-CN" sz="2000" dirty="0">
                <a:latin typeface="+mn-ea"/>
                <a:ea typeface="+mn-ea"/>
              </a:rPr>
              <a:t>的状态。</a:t>
            </a:r>
            <a:r>
              <a:rPr lang="zh-CN" altLang="en-US" sz="2000" dirty="0">
                <a:latin typeface="+mn-ea"/>
                <a:ea typeface="+mn-ea"/>
              </a:rPr>
              <a:t>如果</a:t>
            </a:r>
            <a:r>
              <a:rPr lang="zh-CN" altLang="zh-CN" sz="2000" dirty="0">
                <a:latin typeface="+mn-ea"/>
                <a:ea typeface="+mn-ea"/>
              </a:rPr>
              <a:t>处理器</a:t>
            </a:r>
            <a:r>
              <a:rPr lang="zh-CN" altLang="en-US" sz="2000" dirty="0">
                <a:latin typeface="+mn-ea"/>
                <a:ea typeface="+mn-ea"/>
              </a:rPr>
              <a:t>正</a:t>
            </a:r>
            <a:r>
              <a:rPr lang="zh-CN" altLang="zh-CN" sz="2000" dirty="0">
                <a:latin typeface="+mn-ea"/>
                <a:ea typeface="+mn-ea"/>
              </a:rPr>
              <a:t>在处理另外一个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更高或同等优先级的中断</a:t>
            </a:r>
            <a:r>
              <a:rPr lang="zh-CN" altLang="zh-CN" sz="2000" dirty="0">
                <a:latin typeface="+mn-ea"/>
                <a:ea typeface="+mn-ea"/>
              </a:rPr>
              <a:t>，或者中断被某个中断屏蔽寄存器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</a:rPr>
              <a:t>屏蔽</a:t>
            </a:r>
            <a:r>
              <a:rPr lang="zh-CN" altLang="zh-CN" sz="2000" dirty="0">
                <a:latin typeface="+mn-ea"/>
                <a:ea typeface="+mn-ea"/>
              </a:rPr>
              <a:t>，那么在其</a:t>
            </a:r>
            <a:r>
              <a:rPr lang="zh-CN" altLang="en-US" sz="2000" dirty="0">
                <a:latin typeface="+mn-ea"/>
                <a:ea typeface="+mn-ea"/>
              </a:rPr>
              <a:t>它</a:t>
            </a:r>
            <a:r>
              <a:rPr lang="zh-CN" altLang="zh-CN" sz="2000" dirty="0">
                <a:latin typeface="+mn-ea"/>
                <a:ea typeface="+mn-ea"/>
              </a:rPr>
              <a:t>中断处理结束前或中断屏蔽被清除前，挂起会一直保持。</a:t>
            </a:r>
            <a:endParaRPr lang="en-US" altLang="zh-CN" sz="2000" dirty="0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05327" y="3641669"/>
            <a:ext cx="993768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/>
              <a:t>对于每个中断源，在被挂起的情况下，都会有一个对应的</a:t>
            </a:r>
            <a:r>
              <a:rPr lang="zh-CN" altLang="en-US" sz="2000" dirty="0">
                <a:solidFill>
                  <a:srgbClr val="FF0000"/>
                </a:solidFill>
              </a:rPr>
              <a:t>“挂起状态寄存器”</a:t>
            </a:r>
            <a:r>
              <a:rPr lang="zh-CN" altLang="en-US" sz="2000" dirty="0"/>
              <a:t>保存其中断请求，直到该中断能够执行为止。</a:t>
            </a:r>
          </a:p>
        </p:txBody>
      </p:sp>
      <p:sp>
        <p:nvSpPr>
          <p:cNvPr id="3" name="矩形 2"/>
          <p:cNvSpPr/>
          <p:nvPr/>
        </p:nvSpPr>
        <p:spPr>
          <a:xfrm>
            <a:off x="1105327" y="4657332"/>
            <a:ext cx="101071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中断请求被处理器接受</a:t>
            </a:r>
            <a:r>
              <a:rPr lang="zh-CN" altLang="en-US" sz="2000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的条件为</a:t>
            </a: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latin typeface="+mn-ea"/>
                <a:cs typeface="Times New Roman" panose="02020603050405020304" pitchFamily="18" charset="0"/>
              </a:rPr>
              <a:t>挂起状态置位，中断使能，中断的优先级</a:t>
            </a: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为</a:t>
            </a:r>
            <a:r>
              <a:rPr lang="zh-CN" altLang="zh-CN" sz="2000" kern="100" dirty="0">
                <a:latin typeface="+mn-ea"/>
                <a:cs typeface="Times New Roman" panose="02020603050405020304" pitchFamily="18" charset="0"/>
              </a:rPr>
              <a:t>当前</a:t>
            </a: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最</a:t>
            </a:r>
            <a:r>
              <a:rPr lang="zh-CN" altLang="zh-CN" sz="2000" kern="100" dirty="0">
                <a:latin typeface="+mn-ea"/>
                <a:cs typeface="Times New Roman" panose="02020603050405020304" pitchFamily="18" charset="0"/>
              </a:rPr>
              <a:t>高</a:t>
            </a: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，</a:t>
            </a:r>
            <a:r>
              <a:rPr lang="zh-CN" altLang="zh-CN" sz="2000" kern="100" dirty="0">
                <a:latin typeface="+mn-ea"/>
                <a:cs typeface="Times New Roman" panose="02020603050405020304" pitchFamily="18" charset="0"/>
              </a:rPr>
              <a:t>中断</a:t>
            </a: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未被</a:t>
            </a:r>
            <a:r>
              <a:rPr lang="zh-CN" altLang="zh-CN" sz="2000" kern="100" dirty="0">
                <a:latin typeface="+mn-ea"/>
                <a:cs typeface="Times New Roman" panose="02020603050405020304" pitchFamily="18" charset="0"/>
              </a:rPr>
              <a:t>屏蔽。</a:t>
            </a:r>
            <a:endParaRPr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782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3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039145" y="967148"/>
            <a:ext cx="81137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      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向量表、中断输入及挂起行为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4" name="连接符: 肘形 3"/>
          <p:cNvCxnSpPr/>
          <p:nvPr/>
        </p:nvCxnSpPr>
        <p:spPr>
          <a:xfrm flipV="1">
            <a:off x="2178301" y="1238502"/>
            <a:ext cx="4553034" cy="43732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9"/>
          <p:cNvCxnSpPr/>
          <p:nvPr/>
        </p:nvCxnSpPr>
        <p:spPr>
          <a:xfrm>
            <a:off x="5015651" y="1238502"/>
            <a:ext cx="6164100" cy="437321"/>
          </a:xfrm>
          <a:prstGeom prst="bentConnector3">
            <a:avLst>
              <a:gd name="adj1" fmla="val 3667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肘形 22"/>
          <p:cNvCxnSpPr/>
          <p:nvPr/>
        </p:nvCxnSpPr>
        <p:spPr>
          <a:xfrm flipV="1">
            <a:off x="2178302" y="2186244"/>
            <a:ext cx="3321350" cy="437322"/>
          </a:xfrm>
          <a:prstGeom prst="bentConnector3">
            <a:avLst>
              <a:gd name="adj1" fmla="val 7194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/>
          <p:cNvCxnSpPr/>
          <p:nvPr/>
        </p:nvCxnSpPr>
        <p:spPr>
          <a:xfrm>
            <a:off x="5309570" y="2186244"/>
            <a:ext cx="6164100" cy="437321"/>
          </a:xfrm>
          <a:prstGeom prst="bentConnector3">
            <a:avLst>
              <a:gd name="adj1" fmla="val 850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2178302" y="3454213"/>
            <a:ext cx="267199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4850296" y="2963881"/>
            <a:ext cx="940904" cy="490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5802086" y="2963881"/>
            <a:ext cx="196129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7763385" y="2976883"/>
            <a:ext cx="940904" cy="490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8687740" y="3467216"/>
            <a:ext cx="20174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/>
          <p:cNvGrpSpPr/>
          <p:nvPr/>
        </p:nvGrpSpPr>
        <p:grpSpPr>
          <a:xfrm>
            <a:off x="2178302" y="3970551"/>
            <a:ext cx="9295368" cy="437324"/>
            <a:chOff x="1749287" y="4929807"/>
            <a:chExt cx="7277884" cy="437324"/>
          </a:xfrm>
        </p:grpSpPr>
        <p:cxnSp>
          <p:nvCxnSpPr>
            <p:cNvPr id="42" name="连接符: 肘形 41"/>
            <p:cNvCxnSpPr/>
            <p:nvPr/>
          </p:nvCxnSpPr>
          <p:spPr>
            <a:xfrm flipV="1">
              <a:off x="1749287" y="4929808"/>
              <a:ext cx="3564834" cy="437323"/>
            </a:xfrm>
            <a:prstGeom prst="bentConnector3">
              <a:avLst>
                <a:gd name="adj1" fmla="val 81434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连接符: 肘形 42"/>
            <p:cNvCxnSpPr/>
            <p:nvPr/>
          </p:nvCxnSpPr>
          <p:spPr>
            <a:xfrm>
              <a:off x="5179837" y="4929807"/>
              <a:ext cx="3847334" cy="437322"/>
            </a:xfrm>
            <a:prstGeom prst="bentConnector3">
              <a:avLst>
                <a:gd name="adj1" fmla="val 25728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流程图: 终止 44"/>
          <p:cNvSpPr/>
          <p:nvPr/>
        </p:nvSpPr>
        <p:spPr>
          <a:xfrm>
            <a:off x="2117009" y="4826026"/>
            <a:ext cx="2671992" cy="394620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流程图: 终止 45"/>
          <p:cNvSpPr/>
          <p:nvPr/>
        </p:nvSpPr>
        <p:spPr>
          <a:xfrm>
            <a:off x="4789001" y="4847375"/>
            <a:ext cx="1055231" cy="394620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流程图: 终止 46"/>
          <p:cNvSpPr/>
          <p:nvPr/>
        </p:nvSpPr>
        <p:spPr>
          <a:xfrm>
            <a:off x="5855804" y="4847375"/>
            <a:ext cx="1987874" cy="413240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流程图: 终止 47"/>
          <p:cNvSpPr/>
          <p:nvPr/>
        </p:nvSpPr>
        <p:spPr>
          <a:xfrm>
            <a:off x="7842200" y="4848916"/>
            <a:ext cx="1244651" cy="371731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流程图: 终止 48"/>
          <p:cNvSpPr/>
          <p:nvPr/>
        </p:nvSpPr>
        <p:spPr>
          <a:xfrm>
            <a:off x="9098423" y="4847375"/>
            <a:ext cx="1863612" cy="415969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/>
        </p:nvSpPr>
        <p:spPr>
          <a:xfrm>
            <a:off x="543286" y="1352895"/>
            <a:ext cx="131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中断请求</a:t>
            </a:r>
            <a:r>
              <a:rPr lang="en-US" altLang="zh-CN" dirty="0">
                <a:latin typeface="+mn-ea"/>
              </a:rPr>
              <a:t>X</a:t>
            </a:r>
            <a:endParaRPr lang="zh-CN" altLang="en-US" dirty="0">
              <a:latin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43286" y="2034683"/>
            <a:ext cx="1311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中断挂起状态</a:t>
            </a:r>
            <a:r>
              <a:rPr lang="en-US" altLang="zh-CN" dirty="0">
                <a:latin typeface="+mn-ea"/>
              </a:rPr>
              <a:t>X</a:t>
            </a:r>
            <a:endParaRPr lang="zh-CN" altLang="en-US" dirty="0">
              <a:latin typeface="+mn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44359" y="3071714"/>
            <a:ext cx="150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处理器模式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444359" y="3831746"/>
            <a:ext cx="15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中断活跃状态</a:t>
            </a:r>
            <a:r>
              <a:rPr lang="en-US" altLang="zh-CN" dirty="0">
                <a:latin typeface="+mn-ea"/>
              </a:rPr>
              <a:t>X</a:t>
            </a:r>
            <a:endParaRPr lang="zh-CN" altLang="en-US" dirty="0">
              <a:latin typeface="+mn-ea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68035" y="4835965"/>
            <a:ext cx="150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处理器操作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4293374" y="1360550"/>
            <a:ext cx="2460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中断请求的确认引起挂起状态置位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7162070" y="1275140"/>
            <a:ext cx="3916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中断服务程序清除外设的中断请求</a:t>
            </a:r>
          </a:p>
        </p:txBody>
      </p:sp>
      <p:cxnSp>
        <p:nvCxnSpPr>
          <p:cNvPr id="93" name="直接箭头连接符 92"/>
          <p:cNvCxnSpPr/>
          <p:nvPr/>
        </p:nvCxnSpPr>
        <p:spPr>
          <a:xfrm>
            <a:off x="4456906" y="1704561"/>
            <a:ext cx="103930" cy="481179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5877083" y="2210061"/>
            <a:ext cx="3666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进入中断处理使得挂起状态被清除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522527" y="3051343"/>
            <a:ext cx="17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线程模式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5913535" y="3082454"/>
            <a:ext cx="17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处理者模式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9543953" y="3018168"/>
            <a:ext cx="17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线程模式</a:t>
            </a:r>
          </a:p>
        </p:txBody>
      </p:sp>
      <p:cxnSp>
        <p:nvCxnSpPr>
          <p:cNvPr id="44" name="直接箭头连接符 43"/>
          <p:cNvCxnSpPr/>
          <p:nvPr/>
        </p:nvCxnSpPr>
        <p:spPr>
          <a:xfrm flipV="1">
            <a:off x="5725763" y="2596395"/>
            <a:ext cx="92105" cy="377578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5437591" y="3527716"/>
            <a:ext cx="3666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进入中断处理使得活跃状态置位</a:t>
            </a: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4852125" y="3527716"/>
            <a:ext cx="960782" cy="49281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2565635" y="4845652"/>
            <a:ext cx="17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线程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4499544" y="5541255"/>
            <a:ext cx="17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压栈和取向量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6054122" y="4856071"/>
            <a:ext cx="17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中断处理</a:t>
            </a:r>
            <a:r>
              <a:rPr lang="en-US" altLang="zh-CN" dirty="0">
                <a:latin typeface="+mn-ea"/>
              </a:rPr>
              <a:t>X</a:t>
            </a:r>
            <a:endParaRPr lang="zh-CN" altLang="en-US" dirty="0">
              <a:latin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956776" y="5604077"/>
            <a:ext cx="17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异常返回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7558397" y="4882420"/>
            <a:ext cx="17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出栈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9144805" y="4891283"/>
            <a:ext cx="17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线程</a:t>
            </a:r>
          </a:p>
        </p:txBody>
      </p:sp>
      <p:cxnSp>
        <p:nvCxnSpPr>
          <p:cNvPr id="59" name="直接箭头连接符 58"/>
          <p:cNvCxnSpPr>
            <a:endCxn id="46" idx="2"/>
          </p:cNvCxnSpPr>
          <p:nvPr/>
        </p:nvCxnSpPr>
        <p:spPr>
          <a:xfrm flipV="1">
            <a:off x="5316616" y="5241995"/>
            <a:ext cx="1" cy="36639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 flipH="1" flipV="1">
            <a:off x="7828030" y="5093823"/>
            <a:ext cx="14170" cy="57651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456906" y="1352895"/>
            <a:ext cx="2102920" cy="6632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5915844" y="2206292"/>
            <a:ext cx="3540341" cy="3635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5564120" y="3551200"/>
            <a:ext cx="3540341" cy="3635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6001978" y="3087971"/>
            <a:ext cx="1540807" cy="3635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4664507" y="5545646"/>
            <a:ext cx="1431493" cy="3635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7363767" y="1256027"/>
            <a:ext cx="3540341" cy="3635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7328252" y="5612119"/>
            <a:ext cx="999313" cy="3635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87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  <p:bldP spid="95" grpId="0"/>
      <p:bldP spid="51" grpId="0"/>
      <p:bldP spid="56" grpId="0"/>
      <p:bldP spid="19" grpId="0" animBg="1"/>
      <p:bldP spid="62" grpId="0" animBg="1"/>
      <p:bldP spid="63" grpId="0" animBg="1"/>
      <p:bldP spid="64" grpId="0" animBg="1"/>
      <p:bldP spid="67" grpId="0" animBg="1"/>
      <p:bldP spid="68" grpId="0" animBg="1"/>
      <p:bldP spid="69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向量表、中断输入及挂起行为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958399" y="977062"/>
            <a:ext cx="7712766" cy="463831"/>
            <a:chOff x="1378226" y="1868554"/>
            <a:chExt cx="2597426" cy="463831"/>
          </a:xfrm>
        </p:grpSpPr>
        <p:cxnSp>
          <p:nvCxnSpPr>
            <p:cNvPr id="4" name="连接符: 肘形 3"/>
            <p:cNvCxnSpPr/>
            <p:nvPr/>
          </p:nvCxnSpPr>
          <p:spPr>
            <a:xfrm flipV="1">
              <a:off x="1378226" y="1868556"/>
              <a:ext cx="616379" cy="463829"/>
            </a:xfrm>
            <a:prstGeom prst="bentConnector3">
              <a:avLst>
                <a:gd name="adj1" fmla="val 78962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连接符: 肘形 5"/>
            <p:cNvCxnSpPr/>
            <p:nvPr/>
          </p:nvCxnSpPr>
          <p:spPr>
            <a:xfrm>
              <a:off x="1994604" y="1868554"/>
              <a:ext cx="1981048" cy="463829"/>
            </a:xfrm>
            <a:prstGeom prst="bentConnector3">
              <a:avLst>
                <a:gd name="adj1" fmla="val 809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2958399" y="1860696"/>
            <a:ext cx="7712766" cy="463831"/>
            <a:chOff x="1378226" y="1868553"/>
            <a:chExt cx="2597426" cy="463831"/>
          </a:xfrm>
        </p:grpSpPr>
        <p:cxnSp>
          <p:nvCxnSpPr>
            <p:cNvPr id="17" name="连接符: 肘形 16"/>
            <p:cNvCxnSpPr/>
            <p:nvPr/>
          </p:nvCxnSpPr>
          <p:spPr>
            <a:xfrm flipV="1">
              <a:off x="1378226" y="1868554"/>
              <a:ext cx="940904" cy="463830"/>
            </a:xfrm>
            <a:prstGeom prst="bentConnector3">
              <a:avLst>
                <a:gd name="adj1" fmla="val 5521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符: 肘形 17"/>
            <p:cNvCxnSpPr/>
            <p:nvPr/>
          </p:nvCxnSpPr>
          <p:spPr>
            <a:xfrm>
              <a:off x="2319130" y="1868553"/>
              <a:ext cx="1656522" cy="463830"/>
            </a:xfrm>
            <a:prstGeom prst="bentConnector3">
              <a:avLst>
                <a:gd name="adj1" fmla="val 446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接连接符 34"/>
          <p:cNvCxnSpPr/>
          <p:nvPr/>
        </p:nvCxnSpPr>
        <p:spPr>
          <a:xfrm>
            <a:off x="2958399" y="3295206"/>
            <a:ext cx="77127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1636527" y="1007900"/>
            <a:ext cx="131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中断请求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450864" y="1867309"/>
            <a:ext cx="1689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中断挂起状态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537600" y="3110540"/>
            <a:ext cx="150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处理器模式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5950335" y="2382372"/>
            <a:ext cx="240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挂起状态被软件清除</a:t>
            </a:r>
          </a:p>
        </p:txBody>
      </p:sp>
      <p:cxnSp>
        <p:nvCxnSpPr>
          <p:cNvPr id="47" name="直接箭头连接符 46"/>
          <p:cNvCxnSpPr/>
          <p:nvPr/>
        </p:nvCxnSpPr>
        <p:spPr>
          <a:xfrm>
            <a:off x="4355353" y="1466473"/>
            <a:ext cx="189352" cy="394223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V="1">
            <a:off x="5752308" y="2324527"/>
            <a:ext cx="198027" cy="457583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5196945" y="2969468"/>
            <a:ext cx="240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线程模式</a:t>
            </a:r>
          </a:p>
        </p:txBody>
      </p:sp>
      <p:grpSp>
        <p:nvGrpSpPr>
          <p:cNvPr id="56" name="组合 55"/>
          <p:cNvGrpSpPr/>
          <p:nvPr/>
        </p:nvGrpSpPr>
        <p:grpSpPr>
          <a:xfrm>
            <a:off x="3026084" y="3722383"/>
            <a:ext cx="7712766" cy="463831"/>
            <a:chOff x="1378226" y="1868554"/>
            <a:chExt cx="2597426" cy="463831"/>
          </a:xfrm>
        </p:grpSpPr>
        <p:cxnSp>
          <p:nvCxnSpPr>
            <p:cNvPr id="57" name="连接符: 肘形 56"/>
            <p:cNvCxnSpPr/>
            <p:nvPr/>
          </p:nvCxnSpPr>
          <p:spPr>
            <a:xfrm flipV="1">
              <a:off x="1378226" y="1868556"/>
              <a:ext cx="616379" cy="463829"/>
            </a:xfrm>
            <a:prstGeom prst="bentConnector3">
              <a:avLst>
                <a:gd name="adj1" fmla="val 78962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连接符: 肘形 57"/>
            <p:cNvCxnSpPr/>
            <p:nvPr/>
          </p:nvCxnSpPr>
          <p:spPr>
            <a:xfrm>
              <a:off x="1994604" y="1868554"/>
              <a:ext cx="1981048" cy="463829"/>
            </a:xfrm>
            <a:prstGeom prst="bentConnector3">
              <a:avLst>
                <a:gd name="adj1" fmla="val 5867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/>
        </p:nvGrpSpPr>
        <p:grpSpPr>
          <a:xfrm>
            <a:off x="3026084" y="4606017"/>
            <a:ext cx="3710808" cy="463831"/>
            <a:chOff x="1378226" y="1868553"/>
            <a:chExt cx="1249688" cy="463831"/>
          </a:xfrm>
        </p:grpSpPr>
        <p:cxnSp>
          <p:nvCxnSpPr>
            <p:cNvPr id="60" name="连接符: 肘形 59"/>
            <p:cNvCxnSpPr/>
            <p:nvPr/>
          </p:nvCxnSpPr>
          <p:spPr>
            <a:xfrm flipV="1">
              <a:off x="1378226" y="1868554"/>
              <a:ext cx="940904" cy="463830"/>
            </a:xfrm>
            <a:prstGeom prst="bentConnector3">
              <a:avLst>
                <a:gd name="adj1" fmla="val 5521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连接符: 肘形 60"/>
            <p:cNvCxnSpPr/>
            <p:nvPr/>
          </p:nvCxnSpPr>
          <p:spPr>
            <a:xfrm>
              <a:off x="2319130" y="1868553"/>
              <a:ext cx="308784" cy="439604"/>
            </a:xfrm>
            <a:prstGeom prst="bentConnector3">
              <a:avLst>
                <a:gd name="adj1" fmla="val 8324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直接连接符 61"/>
          <p:cNvCxnSpPr/>
          <p:nvPr/>
        </p:nvCxnSpPr>
        <p:spPr>
          <a:xfrm>
            <a:off x="3026084" y="6040527"/>
            <a:ext cx="77127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1624109" y="3816880"/>
            <a:ext cx="131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中断请求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1438446" y="4676289"/>
            <a:ext cx="1689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中断挂起状态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1525182" y="5919520"/>
            <a:ext cx="150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处理器模式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4229509" y="5238380"/>
            <a:ext cx="240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挂起状态被软件清除</a:t>
            </a:r>
          </a:p>
        </p:txBody>
      </p:sp>
      <p:cxnSp>
        <p:nvCxnSpPr>
          <p:cNvPr id="67" name="直接箭头连接符 66"/>
          <p:cNvCxnSpPr/>
          <p:nvPr/>
        </p:nvCxnSpPr>
        <p:spPr>
          <a:xfrm>
            <a:off x="4423038" y="4211794"/>
            <a:ext cx="189352" cy="394223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flipV="1">
            <a:off x="6365663" y="4841056"/>
            <a:ext cx="198027" cy="457583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5208349" y="5728809"/>
            <a:ext cx="240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线程模式</a:t>
            </a:r>
          </a:p>
        </p:txBody>
      </p:sp>
      <p:cxnSp>
        <p:nvCxnSpPr>
          <p:cNvPr id="126" name="连接符: 肘形 125"/>
          <p:cNvCxnSpPr/>
          <p:nvPr/>
        </p:nvCxnSpPr>
        <p:spPr>
          <a:xfrm flipV="1">
            <a:off x="6651624" y="4606016"/>
            <a:ext cx="4087226" cy="440700"/>
          </a:xfrm>
          <a:prstGeom prst="bentConnector3">
            <a:avLst>
              <a:gd name="adj1" fmla="val 245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/>
          <p:cNvCxnSpPr/>
          <p:nvPr/>
        </p:nvCxnSpPr>
        <p:spPr>
          <a:xfrm flipH="1" flipV="1">
            <a:off x="6789253" y="4870369"/>
            <a:ext cx="248630" cy="452760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/>
          <p:cNvSpPr txBox="1"/>
          <p:nvPr/>
        </p:nvSpPr>
        <p:spPr>
          <a:xfrm>
            <a:off x="7021804" y="5238380"/>
            <a:ext cx="240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挂起状态被重新置位</a:t>
            </a:r>
          </a:p>
        </p:txBody>
      </p:sp>
      <p:sp>
        <p:nvSpPr>
          <p:cNvPr id="145" name="矩形 144"/>
          <p:cNvSpPr/>
          <p:nvPr/>
        </p:nvSpPr>
        <p:spPr>
          <a:xfrm>
            <a:off x="1525182" y="850900"/>
            <a:ext cx="9315268" cy="27029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矩形 145"/>
          <p:cNvSpPr/>
          <p:nvPr/>
        </p:nvSpPr>
        <p:spPr>
          <a:xfrm>
            <a:off x="1525182" y="3613738"/>
            <a:ext cx="9315268" cy="27029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/>
          <p:cNvSpPr/>
          <p:nvPr/>
        </p:nvSpPr>
        <p:spPr>
          <a:xfrm>
            <a:off x="5950335" y="2369762"/>
            <a:ext cx="2177665" cy="3635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/>
          <p:cNvSpPr/>
          <p:nvPr/>
        </p:nvSpPr>
        <p:spPr>
          <a:xfrm>
            <a:off x="4229509" y="5224521"/>
            <a:ext cx="2177665" cy="3635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/>
          <p:cNvSpPr/>
          <p:nvPr/>
        </p:nvSpPr>
        <p:spPr>
          <a:xfrm>
            <a:off x="7039167" y="5238380"/>
            <a:ext cx="2177665" cy="3635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7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43" grpId="0"/>
      <p:bldP spid="55" grpId="0"/>
      <p:bldP spid="63" grpId="0"/>
      <p:bldP spid="64" grpId="0"/>
      <p:bldP spid="65" grpId="0"/>
      <p:bldP spid="66" grpId="0"/>
      <p:bldP spid="69" grpId="0"/>
      <p:bldP spid="144" grpId="0"/>
      <p:bldP spid="145" grpId="0" animBg="1"/>
      <p:bldP spid="146" grpId="0" animBg="1"/>
      <p:bldP spid="147" grpId="0" animBg="1"/>
      <p:bldP spid="148" grpId="0" animBg="1"/>
      <p:bldP spid="149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向量表、中断输入及挂起行为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2331245" y="649648"/>
            <a:ext cx="81137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      </a:t>
            </a:r>
            <a:endParaRPr lang="zh-CN" altLang="en-US" sz="2400" dirty="0">
              <a:latin typeface="+mn-ea"/>
              <a:ea typeface="+mn-ea"/>
            </a:endParaRPr>
          </a:p>
        </p:txBody>
      </p:sp>
      <p:cxnSp>
        <p:nvCxnSpPr>
          <p:cNvPr id="8" name="连接符: 肘形 7"/>
          <p:cNvCxnSpPr/>
          <p:nvPr/>
        </p:nvCxnSpPr>
        <p:spPr>
          <a:xfrm flipV="1">
            <a:off x="2706608" y="1784324"/>
            <a:ext cx="8553199" cy="468835"/>
          </a:xfrm>
          <a:prstGeom prst="bentConnector3">
            <a:avLst>
              <a:gd name="adj1" fmla="val 2416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9"/>
          <p:cNvCxnSpPr/>
          <p:nvPr/>
        </p:nvCxnSpPr>
        <p:spPr>
          <a:xfrm flipV="1">
            <a:off x="2706609" y="2509579"/>
            <a:ext cx="3321350" cy="437322"/>
          </a:xfrm>
          <a:prstGeom prst="bentConnector3">
            <a:avLst>
              <a:gd name="adj1" fmla="val 7194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/>
          <p:cNvCxnSpPr/>
          <p:nvPr/>
        </p:nvCxnSpPr>
        <p:spPr>
          <a:xfrm>
            <a:off x="5837877" y="2509579"/>
            <a:ext cx="607938" cy="4445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2832917" y="4494269"/>
            <a:ext cx="267199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5504911" y="4014122"/>
            <a:ext cx="626334" cy="4801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6131245" y="4003938"/>
            <a:ext cx="2569497" cy="178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8700742" y="4003937"/>
            <a:ext cx="171465" cy="4236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9054824" y="4005724"/>
            <a:ext cx="20174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706608" y="3220682"/>
            <a:ext cx="6304990" cy="437324"/>
            <a:chOff x="1749287" y="4929807"/>
            <a:chExt cx="5364892" cy="437324"/>
          </a:xfrm>
        </p:grpSpPr>
        <p:cxnSp>
          <p:nvCxnSpPr>
            <p:cNvPr id="18" name="连接符: 肘形 17"/>
            <p:cNvCxnSpPr/>
            <p:nvPr/>
          </p:nvCxnSpPr>
          <p:spPr>
            <a:xfrm flipV="1">
              <a:off x="1749287" y="4929808"/>
              <a:ext cx="3564834" cy="437323"/>
            </a:xfrm>
            <a:prstGeom prst="bentConnector3">
              <a:avLst>
                <a:gd name="adj1" fmla="val 81434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连接符: 肘形 18"/>
            <p:cNvCxnSpPr/>
            <p:nvPr/>
          </p:nvCxnSpPr>
          <p:spPr>
            <a:xfrm>
              <a:off x="5179837" y="4929807"/>
              <a:ext cx="1934342" cy="407302"/>
            </a:xfrm>
            <a:prstGeom prst="bentConnector3">
              <a:avLst>
                <a:gd name="adj1" fmla="val 86313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文本框 19"/>
          <p:cNvSpPr txBox="1"/>
          <p:nvPr/>
        </p:nvSpPr>
        <p:spPr>
          <a:xfrm>
            <a:off x="1071593" y="1930230"/>
            <a:ext cx="131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中断请求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958538" y="2577568"/>
            <a:ext cx="1635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中断挂起状态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098974" y="4111770"/>
            <a:ext cx="150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处理器模式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86056" y="3322492"/>
            <a:ext cx="15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中断活跃状态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873564" y="1848221"/>
            <a:ext cx="2761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中断请求信号一直保持</a:t>
            </a: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4801360" y="2267779"/>
            <a:ext cx="311647" cy="277299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3177142" y="4091399"/>
            <a:ext cx="17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线程模式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530570" y="4097987"/>
            <a:ext cx="17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处理者模式</a:t>
            </a:r>
          </a:p>
        </p:txBody>
      </p:sp>
      <p:sp>
        <p:nvSpPr>
          <p:cNvPr id="33" name="矩形 32"/>
          <p:cNvSpPr/>
          <p:nvPr/>
        </p:nvSpPr>
        <p:spPr>
          <a:xfrm>
            <a:off x="7119267" y="3540931"/>
            <a:ext cx="1089547" cy="4093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连接符: 肘形 42"/>
          <p:cNvCxnSpPr/>
          <p:nvPr/>
        </p:nvCxnSpPr>
        <p:spPr>
          <a:xfrm flipV="1">
            <a:off x="6341214" y="2545078"/>
            <a:ext cx="2718373" cy="407302"/>
          </a:xfrm>
          <a:prstGeom prst="bentConnector3">
            <a:avLst>
              <a:gd name="adj1" fmla="val 87843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/>
          <p:cNvCxnSpPr/>
          <p:nvPr/>
        </p:nvCxnSpPr>
        <p:spPr>
          <a:xfrm>
            <a:off x="8872207" y="2545078"/>
            <a:ext cx="2273300" cy="409085"/>
          </a:xfrm>
          <a:prstGeom prst="bentConnector3">
            <a:avLst>
              <a:gd name="adj1" fmla="val 921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/>
          <p:cNvCxnSpPr/>
          <p:nvPr/>
        </p:nvCxnSpPr>
        <p:spPr>
          <a:xfrm flipV="1">
            <a:off x="8872207" y="3230464"/>
            <a:ext cx="2106900" cy="398737"/>
          </a:xfrm>
          <a:prstGeom prst="bentConnector3">
            <a:avLst>
              <a:gd name="adj1" fmla="val 961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flipH="1">
            <a:off x="8872207" y="4003937"/>
            <a:ext cx="187380" cy="4236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弧形 87"/>
          <p:cNvSpPr/>
          <p:nvPr/>
        </p:nvSpPr>
        <p:spPr>
          <a:xfrm rot="17022402" flipH="1">
            <a:off x="5641050" y="2990159"/>
            <a:ext cx="1319985" cy="815333"/>
          </a:xfrm>
          <a:prstGeom prst="arc">
            <a:avLst>
              <a:gd name="adj1" fmla="val 12793481"/>
              <a:gd name="adj2" fmla="val 232702"/>
            </a:avLst>
          </a:prstGeom>
          <a:ln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弧形 88"/>
          <p:cNvSpPr/>
          <p:nvPr/>
        </p:nvSpPr>
        <p:spPr>
          <a:xfrm rot="19091434" flipH="1" flipV="1">
            <a:off x="7976449" y="3118708"/>
            <a:ext cx="843392" cy="579691"/>
          </a:xfrm>
          <a:prstGeom prst="arc">
            <a:avLst>
              <a:gd name="adj1" fmla="val 14685286"/>
              <a:gd name="adj2" fmla="val 20290411"/>
            </a:avLst>
          </a:prstGeom>
          <a:ln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弧形 90"/>
          <p:cNvSpPr/>
          <p:nvPr/>
        </p:nvSpPr>
        <p:spPr>
          <a:xfrm rot="18340894" flipH="1">
            <a:off x="6091717" y="3616921"/>
            <a:ext cx="423121" cy="512451"/>
          </a:xfrm>
          <a:prstGeom prst="arc">
            <a:avLst>
              <a:gd name="adj1" fmla="val 14685286"/>
              <a:gd name="adj2" fmla="val 232702"/>
            </a:avLst>
          </a:prstGeom>
          <a:ln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弧形 91"/>
          <p:cNvSpPr/>
          <p:nvPr/>
        </p:nvSpPr>
        <p:spPr>
          <a:xfrm rot="2470589" flipH="1">
            <a:off x="7944179" y="3839050"/>
            <a:ext cx="974401" cy="666380"/>
          </a:xfrm>
          <a:prstGeom prst="arc">
            <a:avLst>
              <a:gd name="adj1" fmla="val 14685286"/>
              <a:gd name="adj2" fmla="val 20225217"/>
            </a:avLst>
          </a:prstGeom>
          <a:ln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/>
          <p:cNvSpPr txBox="1"/>
          <p:nvPr/>
        </p:nvSpPr>
        <p:spPr>
          <a:xfrm>
            <a:off x="5793623" y="3612150"/>
            <a:ext cx="3666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中断返回</a:t>
            </a:r>
          </a:p>
        </p:txBody>
      </p:sp>
      <p:sp>
        <p:nvSpPr>
          <p:cNvPr id="96" name="弧形 95"/>
          <p:cNvSpPr/>
          <p:nvPr/>
        </p:nvSpPr>
        <p:spPr>
          <a:xfrm rot="10800000" flipH="1" flipV="1">
            <a:off x="8611828" y="4301026"/>
            <a:ext cx="941867" cy="621378"/>
          </a:xfrm>
          <a:prstGeom prst="arc">
            <a:avLst>
              <a:gd name="adj1" fmla="val 14685286"/>
              <a:gd name="adj2" fmla="val 20595049"/>
            </a:avLst>
          </a:prstGeom>
          <a:ln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8628351" y="4463766"/>
            <a:ext cx="2761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再次进入中断服务例程</a:t>
            </a:r>
          </a:p>
        </p:txBody>
      </p:sp>
      <p:sp>
        <p:nvSpPr>
          <p:cNvPr id="98" name="矩形 97"/>
          <p:cNvSpPr/>
          <p:nvPr/>
        </p:nvSpPr>
        <p:spPr>
          <a:xfrm>
            <a:off x="8807972" y="4482293"/>
            <a:ext cx="2401035" cy="4093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7" name="连接符: 肘形 166"/>
          <p:cNvCxnSpPr/>
          <p:nvPr/>
        </p:nvCxnSpPr>
        <p:spPr>
          <a:xfrm flipV="1">
            <a:off x="2613406" y="1825766"/>
            <a:ext cx="2473829" cy="404939"/>
          </a:xfrm>
          <a:prstGeom prst="bentConnector3">
            <a:avLst>
              <a:gd name="adj1" fmla="val 3179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连接符: 肘形 167"/>
          <p:cNvCxnSpPr/>
          <p:nvPr/>
        </p:nvCxnSpPr>
        <p:spPr>
          <a:xfrm flipV="1">
            <a:off x="2613407" y="2448118"/>
            <a:ext cx="1929291" cy="47632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连接符: 肘形 168"/>
          <p:cNvCxnSpPr/>
          <p:nvPr/>
        </p:nvCxnSpPr>
        <p:spPr>
          <a:xfrm>
            <a:off x="3763976" y="2448118"/>
            <a:ext cx="2588637" cy="483590"/>
          </a:xfrm>
          <a:prstGeom prst="bentConnector3">
            <a:avLst>
              <a:gd name="adj1" fmla="val 4103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flipV="1">
            <a:off x="2739715" y="4471814"/>
            <a:ext cx="267199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 flipV="1">
            <a:off x="5411709" y="3991667"/>
            <a:ext cx="626334" cy="4801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/>
          <p:nvPr/>
        </p:nvCxnSpPr>
        <p:spPr>
          <a:xfrm flipV="1">
            <a:off x="6038043" y="3981483"/>
            <a:ext cx="2569497" cy="178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>
            <a:off x="8607540" y="3981482"/>
            <a:ext cx="171465" cy="4236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>
            <a:off x="8961622" y="3983269"/>
            <a:ext cx="20174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" name="组合 174"/>
          <p:cNvGrpSpPr/>
          <p:nvPr/>
        </p:nvGrpSpPr>
        <p:grpSpPr>
          <a:xfrm>
            <a:off x="2613406" y="3198227"/>
            <a:ext cx="6304990" cy="437324"/>
            <a:chOff x="1749287" y="4929807"/>
            <a:chExt cx="5364892" cy="437324"/>
          </a:xfrm>
        </p:grpSpPr>
        <p:cxnSp>
          <p:nvCxnSpPr>
            <p:cNvPr id="176" name="连接符: 肘形 175"/>
            <p:cNvCxnSpPr/>
            <p:nvPr/>
          </p:nvCxnSpPr>
          <p:spPr>
            <a:xfrm flipV="1">
              <a:off x="1749287" y="4929808"/>
              <a:ext cx="3564834" cy="437323"/>
            </a:xfrm>
            <a:prstGeom prst="bentConnector3">
              <a:avLst>
                <a:gd name="adj1" fmla="val 81434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连接符: 肘形 176"/>
            <p:cNvCxnSpPr/>
            <p:nvPr/>
          </p:nvCxnSpPr>
          <p:spPr>
            <a:xfrm>
              <a:off x="5179837" y="4929807"/>
              <a:ext cx="1934342" cy="407302"/>
            </a:xfrm>
            <a:prstGeom prst="bentConnector3">
              <a:avLst>
                <a:gd name="adj1" fmla="val 86313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" name="文本框 177"/>
          <p:cNvSpPr txBox="1"/>
          <p:nvPr/>
        </p:nvSpPr>
        <p:spPr>
          <a:xfrm>
            <a:off x="978391" y="1907775"/>
            <a:ext cx="131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中断请求</a:t>
            </a:r>
          </a:p>
        </p:txBody>
      </p:sp>
      <p:sp>
        <p:nvSpPr>
          <p:cNvPr id="179" name="文本框 178"/>
          <p:cNvSpPr txBox="1"/>
          <p:nvPr/>
        </p:nvSpPr>
        <p:spPr>
          <a:xfrm>
            <a:off x="865336" y="2555113"/>
            <a:ext cx="1635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中断挂起状态</a:t>
            </a:r>
          </a:p>
        </p:txBody>
      </p:sp>
      <p:sp>
        <p:nvSpPr>
          <p:cNvPr id="180" name="文本框 179"/>
          <p:cNvSpPr txBox="1"/>
          <p:nvPr/>
        </p:nvSpPr>
        <p:spPr>
          <a:xfrm>
            <a:off x="1005772" y="4089315"/>
            <a:ext cx="150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处理器模式</a:t>
            </a:r>
          </a:p>
        </p:txBody>
      </p:sp>
      <p:sp>
        <p:nvSpPr>
          <p:cNvPr id="181" name="文本框 180"/>
          <p:cNvSpPr txBox="1"/>
          <p:nvPr/>
        </p:nvSpPr>
        <p:spPr>
          <a:xfrm>
            <a:off x="892854" y="3300037"/>
            <a:ext cx="15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中断活跃状态</a:t>
            </a:r>
          </a:p>
        </p:txBody>
      </p:sp>
      <p:sp>
        <p:nvSpPr>
          <p:cNvPr id="182" name="文本框 181"/>
          <p:cNvSpPr txBox="1"/>
          <p:nvPr/>
        </p:nvSpPr>
        <p:spPr>
          <a:xfrm>
            <a:off x="6301042" y="1435317"/>
            <a:ext cx="2761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新的中断请求脉冲</a:t>
            </a:r>
          </a:p>
        </p:txBody>
      </p:sp>
      <p:cxnSp>
        <p:nvCxnSpPr>
          <p:cNvPr id="183" name="直接箭头连接符 182"/>
          <p:cNvCxnSpPr/>
          <p:nvPr/>
        </p:nvCxnSpPr>
        <p:spPr>
          <a:xfrm>
            <a:off x="3277442" y="2234612"/>
            <a:ext cx="311647" cy="277299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/>
        </p:nvSpPr>
        <p:spPr>
          <a:xfrm>
            <a:off x="3083940" y="4068944"/>
            <a:ext cx="17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线程模式</a:t>
            </a:r>
          </a:p>
        </p:txBody>
      </p:sp>
      <p:sp>
        <p:nvSpPr>
          <p:cNvPr id="185" name="文本框 184"/>
          <p:cNvSpPr txBox="1"/>
          <p:nvPr/>
        </p:nvSpPr>
        <p:spPr>
          <a:xfrm>
            <a:off x="6437368" y="4075532"/>
            <a:ext cx="17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处理者模式</a:t>
            </a:r>
          </a:p>
        </p:txBody>
      </p:sp>
      <p:sp>
        <p:nvSpPr>
          <p:cNvPr id="186" name="矩形 185"/>
          <p:cNvSpPr/>
          <p:nvPr/>
        </p:nvSpPr>
        <p:spPr>
          <a:xfrm>
            <a:off x="6711453" y="1409097"/>
            <a:ext cx="1936938" cy="4093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7" name="连接符: 肘形 186"/>
          <p:cNvCxnSpPr/>
          <p:nvPr/>
        </p:nvCxnSpPr>
        <p:spPr>
          <a:xfrm flipV="1">
            <a:off x="6248012" y="2522623"/>
            <a:ext cx="2718373" cy="407302"/>
          </a:xfrm>
          <a:prstGeom prst="bentConnector3">
            <a:avLst>
              <a:gd name="adj1" fmla="val 4818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连接符: 肘形 187"/>
          <p:cNvCxnSpPr/>
          <p:nvPr/>
        </p:nvCxnSpPr>
        <p:spPr>
          <a:xfrm>
            <a:off x="8779005" y="2522623"/>
            <a:ext cx="2273300" cy="409085"/>
          </a:xfrm>
          <a:prstGeom prst="bentConnector3">
            <a:avLst>
              <a:gd name="adj1" fmla="val 1101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连接符: 肘形 188"/>
          <p:cNvCxnSpPr/>
          <p:nvPr/>
        </p:nvCxnSpPr>
        <p:spPr>
          <a:xfrm flipV="1">
            <a:off x="8779005" y="3208009"/>
            <a:ext cx="2106900" cy="398737"/>
          </a:xfrm>
          <a:prstGeom prst="bentConnector3">
            <a:avLst>
              <a:gd name="adj1" fmla="val 961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/>
          <p:cNvCxnSpPr/>
          <p:nvPr/>
        </p:nvCxnSpPr>
        <p:spPr>
          <a:xfrm flipH="1">
            <a:off x="8779005" y="3981482"/>
            <a:ext cx="187380" cy="4236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弧形 193"/>
          <p:cNvSpPr/>
          <p:nvPr/>
        </p:nvSpPr>
        <p:spPr>
          <a:xfrm rot="20551636" flipH="1">
            <a:off x="8193173" y="4253560"/>
            <a:ext cx="974401" cy="666380"/>
          </a:xfrm>
          <a:prstGeom prst="arc">
            <a:avLst>
              <a:gd name="adj1" fmla="val 14685286"/>
              <a:gd name="adj2" fmla="val 20225217"/>
            </a:avLst>
          </a:prstGeom>
          <a:ln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文本框 194"/>
          <p:cNvSpPr txBox="1"/>
          <p:nvPr/>
        </p:nvSpPr>
        <p:spPr>
          <a:xfrm>
            <a:off x="6182034" y="4456698"/>
            <a:ext cx="3666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中断返回</a:t>
            </a:r>
          </a:p>
        </p:txBody>
      </p:sp>
      <p:sp>
        <p:nvSpPr>
          <p:cNvPr id="198" name="弧形 197"/>
          <p:cNvSpPr/>
          <p:nvPr/>
        </p:nvSpPr>
        <p:spPr>
          <a:xfrm rot="10800000" flipH="1" flipV="1">
            <a:off x="8518626" y="4278571"/>
            <a:ext cx="941867" cy="621378"/>
          </a:xfrm>
          <a:prstGeom prst="arc">
            <a:avLst>
              <a:gd name="adj1" fmla="val 14685286"/>
              <a:gd name="adj2" fmla="val 20595049"/>
            </a:avLst>
          </a:prstGeom>
          <a:ln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文本框 198"/>
          <p:cNvSpPr txBox="1"/>
          <p:nvPr/>
        </p:nvSpPr>
        <p:spPr>
          <a:xfrm>
            <a:off x="8683060" y="4516265"/>
            <a:ext cx="2761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再次进入中断服务例程</a:t>
            </a:r>
          </a:p>
        </p:txBody>
      </p:sp>
      <p:sp>
        <p:nvSpPr>
          <p:cNvPr id="200" name="矩形 199"/>
          <p:cNvSpPr/>
          <p:nvPr/>
        </p:nvSpPr>
        <p:spPr>
          <a:xfrm>
            <a:off x="7592003" y="2554364"/>
            <a:ext cx="1410256" cy="4254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3" name="连接符: 肘形 202"/>
          <p:cNvCxnSpPr/>
          <p:nvPr/>
        </p:nvCxnSpPr>
        <p:spPr>
          <a:xfrm>
            <a:off x="4980891" y="1822579"/>
            <a:ext cx="1633881" cy="40955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连接符: 肘形 203"/>
          <p:cNvCxnSpPr/>
          <p:nvPr/>
        </p:nvCxnSpPr>
        <p:spPr>
          <a:xfrm flipV="1">
            <a:off x="6614772" y="1858905"/>
            <a:ext cx="1267074" cy="37357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连接符: 肘形 204"/>
          <p:cNvCxnSpPr/>
          <p:nvPr/>
        </p:nvCxnSpPr>
        <p:spPr>
          <a:xfrm>
            <a:off x="7322791" y="1857122"/>
            <a:ext cx="3932766" cy="382663"/>
          </a:xfrm>
          <a:prstGeom prst="bentConnector3">
            <a:avLst>
              <a:gd name="adj1" fmla="val 2119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文本框 211"/>
          <p:cNvSpPr txBox="1"/>
          <p:nvPr/>
        </p:nvSpPr>
        <p:spPr>
          <a:xfrm>
            <a:off x="7483758" y="2541018"/>
            <a:ext cx="1594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中断再次挂起</a:t>
            </a:r>
          </a:p>
        </p:txBody>
      </p:sp>
    </p:spTree>
    <p:extLst>
      <p:ext uri="{BB962C8B-B14F-4D97-AF65-F5344CB8AC3E}">
        <p14:creationId xmlns:p14="http://schemas.microsoft.com/office/powerpoint/2010/main" val="62366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7" grpId="0"/>
      <p:bldP spid="27" grpId="1"/>
      <p:bldP spid="28" grpId="0"/>
      <p:bldP spid="28" grpId="1"/>
      <p:bldP spid="33" grpId="0" animBg="1"/>
      <p:bldP spid="33" grpId="1" animBg="1"/>
      <p:bldP spid="88" grpId="0" animBg="1"/>
      <p:bldP spid="88" grpId="1" animBg="1"/>
      <p:bldP spid="89" grpId="0" animBg="1"/>
      <p:bldP spid="89" grpId="1" animBg="1"/>
      <p:bldP spid="91" grpId="0" animBg="1"/>
      <p:bldP spid="91" grpId="1" animBg="1"/>
      <p:bldP spid="92" grpId="0" animBg="1"/>
      <p:bldP spid="92" grpId="1" animBg="1"/>
      <p:bldP spid="93" grpId="0"/>
      <p:bldP spid="93" grpId="1"/>
      <p:bldP spid="96" grpId="0" animBg="1"/>
      <p:bldP spid="96" grpId="1" animBg="1"/>
      <p:bldP spid="97" grpId="0"/>
      <p:bldP spid="97" grpId="1"/>
      <p:bldP spid="98" grpId="0" animBg="1"/>
      <p:bldP spid="98" grpId="1" animBg="1"/>
      <p:bldP spid="178" grpId="0"/>
      <p:bldP spid="179" grpId="0"/>
      <p:bldP spid="180" grpId="0"/>
      <p:bldP spid="181" grpId="0"/>
      <p:bldP spid="182" grpId="0"/>
      <p:bldP spid="184" grpId="0"/>
      <p:bldP spid="185" grpId="0"/>
      <p:bldP spid="186" grpId="0" animBg="1"/>
      <p:bldP spid="194" grpId="0" animBg="1"/>
      <p:bldP spid="195" grpId="0"/>
      <p:bldP spid="198" grpId="0" animBg="1"/>
      <p:bldP spid="199" grpId="0"/>
      <p:bldP spid="200" grpId="0" animBg="1"/>
      <p:bldP spid="212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向量表、中断输入及挂起行为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23" name="连接符: 肘形 22"/>
          <p:cNvCxnSpPr/>
          <p:nvPr/>
        </p:nvCxnSpPr>
        <p:spPr>
          <a:xfrm flipV="1">
            <a:off x="1930987" y="1815352"/>
            <a:ext cx="841242" cy="45555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/>
          <p:cNvCxnSpPr/>
          <p:nvPr/>
        </p:nvCxnSpPr>
        <p:spPr>
          <a:xfrm>
            <a:off x="2510971" y="1812490"/>
            <a:ext cx="584308" cy="45635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/>
          <p:cNvCxnSpPr/>
          <p:nvPr/>
        </p:nvCxnSpPr>
        <p:spPr>
          <a:xfrm flipV="1">
            <a:off x="1930988" y="2781330"/>
            <a:ext cx="3321350" cy="437322"/>
          </a:xfrm>
          <a:prstGeom prst="bentConnector3">
            <a:avLst>
              <a:gd name="adj1" fmla="val 2845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/>
          <p:cNvCxnSpPr/>
          <p:nvPr/>
        </p:nvCxnSpPr>
        <p:spPr>
          <a:xfrm>
            <a:off x="5062256" y="2781330"/>
            <a:ext cx="6164100" cy="437321"/>
          </a:xfrm>
          <a:prstGeom prst="bentConnector3">
            <a:avLst>
              <a:gd name="adj1" fmla="val 850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1930988" y="5387790"/>
            <a:ext cx="267199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4602982" y="4897458"/>
            <a:ext cx="940904" cy="490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5543886" y="4897459"/>
            <a:ext cx="2724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8267968" y="4897457"/>
            <a:ext cx="940904" cy="490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9208872" y="5387790"/>
            <a:ext cx="20174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1858787" y="4063301"/>
            <a:ext cx="9295368" cy="437324"/>
            <a:chOff x="1749287" y="4929807"/>
            <a:chExt cx="7277884" cy="437324"/>
          </a:xfrm>
        </p:grpSpPr>
        <p:cxnSp>
          <p:nvCxnSpPr>
            <p:cNvPr id="33" name="连接符: 肘形 32"/>
            <p:cNvCxnSpPr/>
            <p:nvPr/>
          </p:nvCxnSpPr>
          <p:spPr>
            <a:xfrm flipV="1">
              <a:off x="1749287" y="4929808"/>
              <a:ext cx="3564834" cy="437323"/>
            </a:xfrm>
            <a:prstGeom prst="bentConnector3">
              <a:avLst>
                <a:gd name="adj1" fmla="val 81434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连接符: 肘形 33"/>
            <p:cNvCxnSpPr/>
            <p:nvPr/>
          </p:nvCxnSpPr>
          <p:spPr>
            <a:xfrm>
              <a:off x="5179837" y="4929807"/>
              <a:ext cx="3847334" cy="437322"/>
            </a:xfrm>
            <a:prstGeom prst="bentConnector3">
              <a:avLst>
                <a:gd name="adj1" fmla="val 41704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文本框 34"/>
          <p:cNvSpPr txBox="1"/>
          <p:nvPr/>
        </p:nvSpPr>
        <p:spPr>
          <a:xfrm>
            <a:off x="295972" y="1947981"/>
            <a:ext cx="131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中断请求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189366" y="2877128"/>
            <a:ext cx="1635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中断挂起状态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97045" y="5005291"/>
            <a:ext cx="150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处理器模式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89366" y="4097296"/>
            <a:ext cx="1582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中断活跃状态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1484665" y="1404649"/>
            <a:ext cx="405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在进入</a:t>
            </a:r>
            <a:r>
              <a:rPr lang="en-US" altLang="zh-CN" dirty="0">
                <a:latin typeface="+mn-ea"/>
              </a:rPr>
              <a:t>ISR</a:t>
            </a:r>
            <a:r>
              <a:rPr lang="zh-CN" altLang="en-US" dirty="0">
                <a:latin typeface="+mn-ea"/>
              </a:rPr>
              <a:t>前曾有过多次请求脉冲</a:t>
            </a:r>
          </a:p>
        </p:txBody>
      </p:sp>
      <p:cxnSp>
        <p:nvCxnSpPr>
          <p:cNvPr id="40" name="直接箭头连接符 39"/>
          <p:cNvCxnSpPr/>
          <p:nvPr/>
        </p:nvCxnSpPr>
        <p:spPr>
          <a:xfrm>
            <a:off x="2351608" y="2280357"/>
            <a:ext cx="515751" cy="500973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2275213" y="4984920"/>
            <a:ext cx="17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线程模式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6100808" y="4988863"/>
            <a:ext cx="17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处理者模式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6905927" y="5544750"/>
            <a:ext cx="17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中断返回</a:t>
            </a:r>
          </a:p>
        </p:txBody>
      </p:sp>
      <p:cxnSp>
        <p:nvCxnSpPr>
          <p:cNvPr id="45" name="直接箭头连接符 44"/>
          <p:cNvCxnSpPr/>
          <p:nvPr/>
        </p:nvCxnSpPr>
        <p:spPr>
          <a:xfrm flipV="1">
            <a:off x="8267968" y="5374623"/>
            <a:ext cx="800529" cy="348437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1744104" y="1375018"/>
            <a:ext cx="3540341" cy="3635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连接符: 肘形 62"/>
          <p:cNvCxnSpPr/>
          <p:nvPr/>
        </p:nvCxnSpPr>
        <p:spPr>
          <a:xfrm flipV="1">
            <a:off x="2803125" y="1810117"/>
            <a:ext cx="841242" cy="45555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肘形 63"/>
          <p:cNvCxnSpPr/>
          <p:nvPr/>
        </p:nvCxnSpPr>
        <p:spPr>
          <a:xfrm>
            <a:off x="3383109" y="1813832"/>
            <a:ext cx="584308" cy="45635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肘形 64"/>
          <p:cNvCxnSpPr/>
          <p:nvPr/>
        </p:nvCxnSpPr>
        <p:spPr>
          <a:xfrm flipV="1">
            <a:off x="3718219" y="1821735"/>
            <a:ext cx="841242" cy="45555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/>
          <p:cNvCxnSpPr/>
          <p:nvPr/>
        </p:nvCxnSpPr>
        <p:spPr>
          <a:xfrm>
            <a:off x="4298203" y="1822276"/>
            <a:ext cx="6769283" cy="466264"/>
          </a:xfrm>
          <a:prstGeom prst="bentConnector3">
            <a:avLst>
              <a:gd name="adj1" fmla="val 475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3287979" y="2845630"/>
            <a:ext cx="1964359" cy="2875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2275213" y="2801481"/>
            <a:ext cx="405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挂起状态置位</a:t>
            </a:r>
          </a:p>
        </p:txBody>
      </p:sp>
    </p:spTree>
    <p:extLst>
      <p:ext uri="{BB962C8B-B14F-4D97-AF65-F5344CB8AC3E}">
        <p14:creationId xmlns:p14="http://schemas.microsoft.com/office/powerpoint/2010/main" val="313009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9" grpId="0" animBg="1"/>
      <p:bldP spid="84" grpId="0" animBg="1"/>
      <p:bldP spid="41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向量表、中断输入及挂起行为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60684A-5EB4-40DA-B76D-E957F12DB043}"/>
              </a:ext>
            </a:extLst>
          </p:cNvPr>
          <p:cNvSpPr/>
          <p:nvPr/>
        </p:nvSpPr>
        <p:spPr>
          <a:xfrm>
            <a:off x="1828800" y="1967345"/>
            <a:ext cx="73152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问题与思考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b="1" dirty="0">
              <a:solidFill>
                <a:srgbClr val="000000"/>
              </a:solidFill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设中断向量表的起始地址为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0x08000000</a:t>
            </a:r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NMI</a:t>
            </a:r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中断源的中断入口地址存放在（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）处</a:t>
            </a:r>
            <a:r>
              <a:rPr lang="zh-CN" altLang="zh-CN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9032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设中断向量表的起始地址为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0x08000000</a:t>
            </a:r>
            <a:r>
              <a:rPr lang="zh-CN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NMI</a:t>
            </a:r>
            <a:r>
              <a:rPr lang="zh-CN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中断源的中断入口地址存放在（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639EF4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639EF4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800" b="1" dirty="0" smtClean="0">
                <a:solidFill>
                  <a:srgbClr val="639EF4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填空</a:t>
            </a:r>
            <a:r>
              <a:rPr lang="en-US" altLang="zh-CN" sz="2800" b="1" dirty="0" smtClean="0">
                <a:solidFill>
                  <a:srgbClr val="639EF4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1]</a:t>
            </a:r>
            <a:r>
              <a:rPr lang="en-US" altLang="zh-CN" sz="2800" b="1" dirty="0" smtClean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）处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700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处理器的</a:t>
            </a:r>
            <a:r>
              <a:rPr lang="zh-CN" altLang="en-US" sz="2800" b="1" dirty="0"/>
              <a:t>向量表、中断输入及挂起行为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60684A-5EB4-40DA-B76D-E957F12DB043}"/>
              </a:ext>
            </a:extLst>
          </p:cNvPr>
          <p:cNvSpPr/>
          <p:nvPr/>
        </p:nvSpPr>
        <p:spPr>
          <a:xfrm>
            <a:off x="1828800" y="1967345"/>
            <a:ext cx="73152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问题与思考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b="1" dirty="0">
              <a:solidFill>
                <a:srgbClr val="000000"/>
              </a:solidFill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设中断向量表的起始地址为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0x08000000</a:t>
            </a:r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NMI</a:t>
            </a:r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中断源的中断入口地址存放在（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0x08000008 </a:t>
            </a:r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）处</a:t>
            </a:r>
            <a:r>
              <a:rPr lang="zh-CN" altLang="zh-CN" b="1" kern="0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596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2" name="think-cell Slide" r:id="rId5" imgW="9525" imgH="9525" progId="TCLayout.ActiveDocument.1">
                  <p:embed/>
                </p:oleObj>
              </mc:Choice>
              <mc:Fallback>
                <p:oleObj name="think-cell Slide" r:id="rId5" imgW="9525" imgH="9525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8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9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10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12" name="文本框 5"/>
          <p:cNvSpPr txBox="1"/>
          <p:nvPr/>
        </p:nvSpPr>
        <p:spPr>
          <a:xfrm>
            <a:off x="622577" y="3167390"/>
            <a:ext cx="65529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dirty="0">
                <a:solidFill>
                  <a:srgbClr val="42E6E0"/>
                </a:solidFill>
              </a:rPr>
              <a:t>中断_异常的响应序列及异常返回</a:t>
            </a:r>
          </a:p>
        </p:txBody>
      </p:sp>
    </p:spTree>
    <p:extLst>
      <p:ext uri="{BB962C8B-B14F-4D97-AF65-F5344CB8AC3E}">
        <p14:creationId xmlns:p14="http://schemas.microsoft.com/office/powerpoint/2010/main" val="989162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异常</a:t>
            </a:r>
            <a:r>
              <a:rPr lang="en-US" altLang="zh-CN" sz="2800" b="1" dirty="0"/>
              <a:t>/</a:t>
            </a:r>
            <a:r>
              <a:rPr lang="zh-CN" altLang="zh-CN" sz="2800" b="1" dirty="0"/>
              <a:t>中断的响应</a:t>
            </a:r>
            <a:r>
              <a:rPr lang="zh-CN" altLang="en-US" sz="2800" b="1" dirty="0"/>
              <a:t>及</a:t>
            </a:r>
            <a:r>
              <a:rPr lang="zh-CN" altLang="zh-CN" sz="2800" b="1" dirty="0"/>
              <a:t>返回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Rectangle 5"/>
          <p:cNvSpPr txBox="1">
            <a:spLocks noChangeArrowheads="1"/>
          </p:cNvSpPr>
          <p:nvPr/>
        </p:nvSpPr>
        <p:spPr bwMode="auto">
          <a:xfrm>
            <a:off x="811337" y="1910509"/>
            <a:ext cx="848677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u"/>
              <a:defRPr/>
            </a:pPr>
            <a:r>
              <a:rPr lang="zh-CN" altLang="en-US" sz="2800" kern="0" dirty="0">
                <a:solidFill>
                  <a:srgbClr val="FF0000"/>
                </a:solidFill>
              </a:rPr>
              <a:t>异常</a:t>
            </a:r>
            <a:r>
              <a:rPr lang="en-US" altLang="zh-CN" sz="2800" kern="0" dirty="0">
                <a:solidFill>
                  <a:srgbClr val="FF0000"/>
                </a:solidFill>
              </a:rPr>
              <a:t>/</a:t>
            </a:r>
            <a:r>
              <a:rPr lang="zh-CN" altLang="en-US" sz="2800" kern="0" dirty="0">
                <a:solidFill>
                  <a:srgbClr val="FF0000"/>
                </a:solidFill>
              </a:rPr>
              <a:t>中断的响应序列</a:t>
            </a:r>
          </a:p>
          <a:p>
            <a:pPr eaLnBrk="1" hangingPunct="1">
              <a:buFont typeface="Wingdings" panose="05000000000000000000" pitchFamily="2" charset="2"/>
              <a:buChar char="u"/>
              <a:defRPr/>
            </a:pPr>
            <a:endParaRPr lang="zh-CN" altLang="en-US" sz="2800" kern="0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u"/>
              <a:defRPr/>
            </a:pPr>
            <a:endParaRPr lang="zh-CN" altLang="en-US" sz="2800" kern="0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11337" y="2835069"/>
            <a:ext cx="1056932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0" dirty="0">
                <a:latin typeface="+mn-ea"/>
              </a:rPr>
              <a:t>      当</a:t>
            </a:r>
            <a:r>
              <a:rPr lang="en-US" altLang="zh-CN" sz="2400" dirty="0">
                <a:latin typeface="+mn-ea"/>
              </a:rPr>
              <a:t>Cortex-M3</a:t>
            </a:r>
            <a:r>
              <a:rPr lang="zh-CN" altLang="en-US" sz="2400" b="0" dirty="0">
                <a:latin typeface="+mn-ea"/>
              </a:rPr>
              <a:t>开始响应一个中断时，会在自动执行</a:t>
            </a:r>
            <a:r>
              <a:rPr lang="en-US" altLang="zh-CN" sz="2400" b="0" dirty="0">
                <a:latin typeface="+mn-ea"/>
              </a:rPr>
              <a:t>3</a:t>
            </a:r>
            <a:r>
              <a:rPr lang="zh-CN" altLang="en-US" sz="2400" b="0" dirty="0">
                <a:latin typeface="+mn-ea"/>
              </a:rPr>
              <a:t>步：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入栈： </a:t>
            </a:r>
            <a:r>
              <a:rPr lang="zh-CN" altLang="en-US" sz="2400" b="0" dirty="0">
                <a:latin typeface="+mn-ea"/>
              </a:rPr>
              <a:t>依次把</a:t>
            </a:r>
            <a:r>
              <a:rPr lang="en-US" altLang="zh-CN" sz="2400" b="0" dirty="0">
                <a:latin typeface="+mn-ea"/>
              </a:rPr>
              <a:t>8</a:t>
            </a:r>
            <a:r>
              <a:rPr lang="zh-CN" altLang="en-US" sz="2400" b="0" dirty="0">
                <a:latin typeface="+mn-ea"/>
              </a:rPr>
              <a:t>个寄存器的值压入栈（</a:t>
            </a:r>
            <a:r>
              <a:rPr lang="pt-BR" altLang="zh-CN" sz="2400" b="0" dirty="0">
                <a:latin typeface="+mn-ea"/>
              </a:rPr>
              <a:t>xPSR, PC, LR, R12</a:t>
            </a:r>
            <a:r>
              <a:rPr lang="zh-CN" altLang="en-US" sz="2400" b="0" dirty="0">
                <a:latin typeface="+mn-ea"/>
              </a:rPr>
              <a:t>，</a:t>
            </a:r>
            <a:r>
              <a:rPr lang="zh-CN" altLang="pt-BR" sz="2400" b="0" dirty="0">
                <a:latin typeface="+mn-ea"/>
              </a:rPr>
              <a:t>以及</a:t>
            </a:r>
            <a:r>
              <a:rPr lang="en-US" altLang="zh-CN" sz="2400" b="0" dirty="0">
                <a:latin typeface="+mn-ea"/>
              </a:rPr>
              <a:t>R3‐R0</a:t>
            </a:r>
            <a:r>
              <a:rPr lang="zh-CN" altLang="en-US" sz="2400" b="0" dirty="0">
                <a:latin typeface="+mn-ea"/>
              </a:rPr>
              <a:t>）；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取向量：</a:t>
            </a:r>
            <a:r>
              <a:rPr lang="zh-CN" altLang="en-US" sz="2400" b="0" dirty="0">
                <a:latin typeface="+mn-ea"/>
              </a:rPr>
              <a:t>从向量表中找出对应的服务程序入口地址；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更新寄存器：</a:t>
            </a:r>
            <a:r>
              <a:rPr lang="zh-CN" altLang="en-US" sz="2400" b="0" dirty="0">
                <a:latin typeface="+mn-ea"/>
              </a:rPr>
              <a:t>更新堆栈指针</a:t>
            </a:r>
            <a:r>
              <a:rPr lang="en-US" altLang="zh-CN" sz="2400" b="0" dirty="0">
                <a:latin typeface="+mn-ea"/>
              </a:rPr>
              <a:t>SP</a:t>
            </a:r>
            <a:r>
              <a:rPr lang="zh-CN" altLang="en-US" sz="2400" b="0" dirty="0">
                <a:latin typeface="+mn-ea"/>
              </a:rPr>
              <a:t>，更新</a:t>
            </a:r>
            <a:r>
              <a:rPr lang="en-US" altLang="zh-CN" sz="2400" b="0" dirty="0">
                <a:latin typeface="+mn-ea"/>
              </a:rPr>
              <a:t>PSR</a:t>
            </a:r>
            <a:r>
              <a:rPr lang="zh-CN" altLang="en-US" sz="2400" b="0" dirty="0">
                <a:latin typeface="+mn-ea"/>
              </a:rPr>
              <a:t>，更新程序计数器</a:t>
            </a:r>
            <a:r>
              <a:rPr lang="en-US" altLang="zh-CN" sz="2400" b="0" dirty="0">
                <a:latin typeface="+mn-ea"/>
              </a:rPr>
              <a:t>PC</a:t>
            </a:r>
            <a:r>
              <a:rPr lang="zh-CN" altLang="en-US" sz="2400" b="0" dirty="0">
                <a:latin typeface="+mn-ea"/>
              </a:rPr>
              <a:t>，更新连接寄存器</a:t>
            </a:r>
            <a:r>
              <a:rPr lang="en-US" altLang="zh-CN" sz="2400" b="0" dirty="0">
                <a:latin typeface="+mn-ea"/>
              </a:rPr>
              <a:t>LR</a:t>
            </a:r>
            <a:r>
              <a:rPr lang="zh-CN" altLang="en-US" sz="2400" b="0" dirty="0" smtClean="0">
                <a:latin typeface="+mn-ea"/>
              </a:rPr>
              <a:t>。</a:t>
            </a:r>
            <a:endParaRPr lang="en-US" altLang="zh-CN" sz="2400" b="0" dirty="0" smtClean="0">
              <a:latin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endParaRPr lang="en-US" altLang="zh-CN" sz="2400" dirty="0">
              <a:latin typeface="+mn-ea"/>
            </a:endParaRPr>
          </a:p>
          <a:p>
            <a:pPr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特别说明：</a:t>
            </a:r>
            <a:r>
              <a:rPr lang="zh-CN" altLang="en-US" sz="2400" dirty="0" smtClean="0">
                <a:latin typeface="+mn-ea"/>
              </a:rPr>
              <a:t>压入的</a:t>
            </a:r>
            <a:r>
              <a:rPr lang="en-US" altLang="zh-CN" sz="2400" dirty="0" smtClean="0">
                <a:latin typeface="+mn-ea"/>
              </a:rPr>
              <a:t>LR</a:t>
            </a:r>
            <a:r>
              <a:rPr lang="zh-CN" altLang="en-US" sz="2400" dirty="0" smtClean="0">
                <a:latin typeface="+mn-ea"/>
              </a:rPr>
              <a:t>不是原值，是一个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特殊值</a:t>
            </a:r>
            <a:r>
              <a:rPr lang="zh-CN" altLang="en-US" sz="2400" dirty="0" smtClean="0">
                <a:latin typeface="+mn-ea"/>
              </a:rPr>
              <a:t>，后面将会详述，在中断程序 </a:t>
            </a:r>
            <a:r>
              <a:rPr lang="en-US" altLang="zh-CN" sz="2400" smtClean="0">
                <a:latin typeface="+mn-ea"/>
              </a:rPr>
              <a:t>		</a:t>
            </a:r>
            <a:r>
              <a:rPr lang="zh-CN" altLang="en-US" sz="2400" smtClean="0">
                <a:latin typeface="+mn-ea"/>
              </a:rPr>
              <a:t>执行</a:t>
            </a:r>
            <a:r>
              <a:rPr lang="zh-CN" altLang="en-US" sz="2400" dirty="0" smtClean="0">
                <a:latin typeface="+mn-ea"/>
              </a:rPr>
              <a:t>期间</a:t>
            </a:r>
            <a:r>
              <a:rPr lang="en-US" altLang="zh-CN" sz="2400" dirty="0" smtClean="0">
                <a:latin typeface="+mn-ea"/>
              </a:rPr>
              <a:t>LR</a:t>
            </a:r>
            <a:r>
              <a:rPr lang="zh-CN" altLang="en-US" sz="2400" dirty="0" smtClean="0">
                <a:latin typeface="+mn-ea"/>
              </a:rPr>
              <a:t>也是这个值，和栈中一样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191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2727332" y="1407925"/>
          <a:ext cx="6713079" cy="399019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24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7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7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90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地址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zh-CN" sz="1600" kern="0" dirty="0">
                          <a:effectLst/>
                        </a:rPr>
                        <a:t>被保存的</a:t>
                      </a:r>
                      <a:r>
                        <a:rPr lang="zh-CN" altLang="en-US" sz="1600" kern="0" dirty="0">
                          <a:effectLst/>
                        </a:rPr>
                        <a:t>内容</a:t>
                      </a:r>
                      <a:endParaRPr lang="zh-CN" alt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被保存的顺序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旧</a:t>
                      </a:r>
                      <a:r>
                        <a:rPr lang="en-US" sz="1600" kern="0" dirty="0">
                          <a:effectLst/>
                        </a:rPr>
                        <a:t>SP</a:t>
                      </a:r>
                      <a:r>
                        <a:rPr lang="zh-CN" sz="1600" kern="0" dirty="0">
                          <a:effectLst/>
                        </a:rPr>
                        <a:t>（</a:t>
                      </a:r>
                      <a:r>
                        <a:rPr lang="en-US" sz="1600" kern="0" dirty="0">
                          <a:effectLst/>
                        </a:rPr>
                        <a:t>N</a:t>
                      </a:r>
                      <a:r>
                        <a:rPr lang="zh-CN" sz="1600" kern="0" dirty="0">
                          <a:effectLst/>
                        </a:rPr>
                        <a:t>）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原先已压入的内容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-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</a:rPr>
                        <a:t>（</a:t>
                      </a:r>
                      <a:r>
                        <a:rPr lang="en-US" sz="1600" kern="0">
                          <a:effectLst/>
                        </a:rPr>
                        <a:t>N</a:t>
                      </a:r>
                      <a:r>
                        <a:rPr lang="zh-CN" sz="1600" kern="0">
                          <a:effectLst/>
                        </a:rPr>
                        <a:t>‐</a:t>
                      </a:r>
                      <a:r>
                        <a:rPr lang="en-US" sz="1600" kern="0">
                          <a:effectLst/>
                        </a:rPr>
                        <a:t>4</a:t>
                      </a:r>
                      <a:r>
                        <a:rPr lang="zh-CN" sz="1600" kern="0">
                          <a:effectLst/>
                        </a:rPr>
                        <a:t>）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 err="1">
                          <a:effectLst/>
                        </a:rPr>
                        <a:t>xPSR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</a:rPr>
                        <a:t>（</a:t>
                      </a:r>
                      <a:r>
                        <a:rPr lang="en-US" sz="1600" kern="0">
                          <a:effectLst/>
                        </a:rPr>
                        <a:t>N</a:t>
                      </a:r>
                      <a:r>
                        <a:rPr lang="zh-CN" sz="1600" kern="0">
                          <a:effectLst/>
                        </a:rPr>
                        <a:t>‐</a:t>
                      </a:r>
                      <a:r>
                        <a:rPr lang="en-US" sz="1600" kern="0">
                          <a:effectLst/>
                        </a:rPr>
                        <a:t>8</a:t>
                      </a:r>
                      <a:r>
                        <a:rPr lang="zh-CN" sz="1600" kern="0">
                          <a:effectLst/>
                        </a:rPr>
                        <a:t>）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PC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0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</a:rPr>
                        <a:t>（</a:t>
                      </a:r>
                      <a:r>
                        <a:rPr lang="en-US" sz="1600" kern="0">
                          <a:effectLst/>
                        </a:rPr>
                        <a:t>N</a:t>
                      </a:r>
                      <a:r>
                        <a:rPr lang="zh-CN" sz="1600" kern="0">
                          <a:effectLst/>
                        </a:rPr>
                        <a:t>‐</a:t>
                      </a:r>
                      <a:r>
                        <a:rPr lang="en-US" sz="1600" kern="0">
                          <a:effectLst/>
                        </a:rPr>
                        <a:t>12</a:t>
                      </a:r>
                      <a:r>
                        <a:rPr lang="zh-CN" sz="1600" kern="0">
                          <a:effectLst/>
                        </a:rPr>
                        <a:t>）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LR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8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</a:rPr>
                        <a:t>（</a:t>
                      </a:r>
                      <a:r>
                        <a:rPr lang="en-US" sz="1600" kern="0">
                          <a:effectLst/>
                        </a:rPr>
                        <a:t>N</a:t>
                      </a:r>
                      <a:r>
                        <a:rPr lang="zh-CN" sz="1600" kern="0">
                          <a:effectLst/>
                        </a:rPr>
                        <a:t>‐</a:t>
                      </a:r>
                      <a:r>
                        <a:rPr lang="en-US" sz="1600" kern="0">
                          <a:effectLst/>
                        </a:rPr>
                        <a:t>16</a:t>
                      </a:r>
                      <a:r>
                        <a:rPr lang="zh-CN" sz="1600" kern="0">
                          <a:effectLst/>
                        </a:rPr>
                        <a:t>）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R12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7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</a:rPr>
                        <a:t>（</a:t>
                      </a:r>
                      <a:r>
                        <a:rPr lang="en-US" sz="1600" kern="0">
                          <a:effectLst/>
                        </a:rPr>
                        <a:t>N</a:t>
                      </a:r>
                      <a:r>
                        <a:rPr lang="zh-CN" sz="1600" kern="0">
                          <a:effectLst/>
                        </a:rPr>
                        <a:t>‐</a:t>
                      </a:r>
                      <a:r>
                        <a:rPr lang="en-US" sz="1600" kern="0">
                          <a:effectLst/>
                        </a:rPr>
                        <a:t>20</a:t>
                      </a:r>
                      <a:r>
                        <a:rPr lang="zh-CN" sz="1600" kern="0">
                          <a:effectLst/>
                        </a:rPr>
                        <a:t>）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R3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6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0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</a:rPr>
                        <a:t>（</a:t>
                      </a:r>
                      <a:r>
                        <a:rPr lang="en-US" sz="1600" kern="0">
                          <a:effectLst/>
                        </a:rPr>
                        <a:t>N</a:t>
                      </a:r>
                      <a:r>
                        <a:rPr lang="zh-CN" sz="1600" kern="0">
                          <a:effectLst/>
                        </a:rPr>
                        <a:t>‐</a:t>
                      </a:r>
                      <a:r>
                        <a:rPr lang="en-US" sz="1600" kern="0">
                          <a:effectLst/>
                        </a:rPr>
                        <a:t>24</a:t>
                      </a:r>
                      <a:r>
                        <a:rPr lang="zh-CN" sz="1600" kern="0">
                          <a:effectLst/>
                        </a:rPr>
                        <a:t>）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R2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5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0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</a:rPr>
                        <a:t>（</a:t>
                      </a:r>
                      <a:r>
                        <a:rPr lang="en-US" sz="1600" kern="0">
                          <a:effectLst/>
                        </a:rPr>
                        <a:t>N</a:t>
                      </a:r>
                      <a:r>
                        <a:rPr lang="zh-CN" sz="1600" kern="0">
                          <a:effectLst/>
                        </a:rPr>
                        <a:t>‐</a:t>
                      </a:r>
                      <a:r>
                        <a:rPr lang="en-US" sz="1600" kern="0">
                          <a:effectLst/>
                        </a:rPr>
                        <a:t>28</a:t>
                      </a:r>
                      <a:r>
                        <a:rPr lang="zh-CN" sz="1600" kern="0">
                          <a:effectLst/>
                        </a:rPr>
                        <a:t>）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R1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4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0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</a:rPr>
                        <a:t>新</a:t>
                      </a:r>
                      <a:r>
                        <a:rPr lang="en-US" sz="1600" kern="0">
                          <a:effectLst/>
                        </a:rPr>
                        <a:t>SP</a:t>
                      </a:r>
                      <a:r>
                        <a:rPr lang="zh-CN" sz="1600" kern="0">
                          <a:effectLst/>
                        </a:rPr>
                        <a:t>（</a:t>
                      </a:r>
                      <a:r>
                        <a:rPr lang="en-US" sz="1600" kern="0">
                          <a:effectLst/>
                        </a:rPr>
                        <a:t>N</a:t>
                      </a:r>
                      <a:r>
                        <a:rPr lang="zh-CN" sz="1600" kern="0">
                          <a:effectLst/>
                        </a:rPr>
                        <a:t>‐</a:t>
                      </a:r>
                      <a:r>
                        <a:rPr lang="en-US" sz="1600" kern="0">
                          <a:effectLst/>
                        </a:rPr>
                        <a:t>32</a:t>
                      </a:r>
                      <a:r>
                        <a:rPr lang="zh-CN" sz="1600" kern="0">
                          <a:effectLst/>
                        </a:rPr>
                        <a:t>）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R0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3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3191592" y="5485923"/>
            <a:ext cx="5603875" cy="400110"/>
          </a:xfrm>
          <a:prstGeom prst="rect">
            <a:avLst/>
          </a:prstGeom>
          <a:noFill/>
          <a:ln>
            <a:noFill/>
          </a:ln>
          <a:effectLst>
            <a:prstShdw prst="shdw12">
              <a:srgbClr val="808080"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入栈顺序以及入栈后堆栈中的内容</a:t>
            </a:r>
            <a:endParaRPr lang="zh-CN" altLang="en-US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727332" y="1818005"/>
            <a:ext cx="2226303" cy="3759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727332" y="5022195"/>
            <a:ext cx="2226303" cy="3759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390515" y="2647861"/>
            <a:ext cx="3525519" cy="2674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390516" y="2271941"/>
            <a:ext cx="3525518" cy="2674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413311" y="5062835"/>
            <a:ext cx="3502722" cy="2674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413310" y="4656803"/>
            <a:ext cx="3502723" cy="2674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085716" y="2261781"/>
            <a:ext cx="1991359" cy="298272"/>
          </a:xfrm>
          <a:prstGeom prst="rect">
            <a:avLst/>
          </a:prstGeom>
          <a:noFill/>
          <a:ln w="2540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085716" y="2637701"/>
            <a:ext cx="1991359" cy="298272"/>
          </a:xfrm>
          <a:prstGeom prst="rect">
            <a:avLst/>
          </a:prstGeom>
          <a:noFill/>
          <a:ln w="2540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085716" y="5047411"/>
            <a:ext cx="1991359" cy="298272"/>
          </a:xfrm>
          <a:prstGeom prst="rect">
            <a:avLst/>
          </a:prstGeom>
          <a:noFill/>
          <a:ln w="2540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085716" y="4646275"/>
            <a:ext cx="1991359" cy="298272"/>
          </a:xfrm>
          <a:prstGeom prst="rect">
            <a:avLst/>
          </a:prstGeom>
          <a:noFill/>
          <a:ln w="2540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异常</a:t>
            </a:r>
            <a:r>
              <a:rPr lang="en-US" altLang="zh-CN" sz="2800" b="1" dirty="0"/>
              <a:t>/</a:t>
            </a:r>
            <a:r>
              <a:rPr lang="zh-CN" altLang="zh-CN" sz="2800" b="1" dirty="0"/>
              <a:t>中断的响应</a:t>
            </a:r>
            <a:r>
              <a:rPr lang="zh-CN" altLang="en-US" sz="2800" b="1" dirty="0"/>
              <a:t>及</a:t>
            </a:r>
            <a:r>
              <a:rPr lang="zh-CN" altLang="zh-CN" sz="2800" b="1" dirty="0"/>
              <a:t>返回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562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204278" y="261472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254099" y="376020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" name="直接箭头连接符 3"/>
          <p:cNvCxnSpPr/>
          <p:nvPr/>
        </p:nvCxnSpPr>
        <p:spPr>
          <a:xfrm>
            <a:off x="2729948" y="2997084"/>
            <a:ext cx="937177" cy="73130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3740425" y="2985565"/>
            <a:ext cx="1010477" cy="74282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4750902" y="2970637"/>
            <a:ext cx="1010477" cy="75774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5761379" y="2974013"/>
            <a:ext cx="1010477" cy="75437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6771856" y="2970637"/>
            <a:ext cx="1003438" cy="75774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7782333" y="2997084"/>
            <a:ext cx="1010477" cy="73130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8792810" y="2985565"/>
            <a:ext cx="1010477" cy="74282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9803287" y="2997084"/>
            <a:ext cx="988538" cy="73130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22178" y="2476981"/>
            <a:ext cx="1368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地址</a:t>
            </a:r>
            <a:endParaRPr lang="en-US" altLang="zh-CN" dirty="0"/>
          </a:p>
          <a:p>
            <a:pPr algn="ctr"/>
            <a:r>
              <a:rPr lang="zh-CN" altLang="en-US" dirty="0"/>
              <a:t>（</a:t>
            </a:r>
            <a:r>
              <a:rPr lang="en-US" altLang="zh-CN" dirty="0"/>
              <a:t>HADDR</a:t>
            </a:r>
            <a:r>
              <a:rPr lang="zh-CN" altLang="en-US" dirty="0"/>
              <a:t>）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93257" y="3627360"/>
            <a:ext cx="1552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数据</a:t>
            </a:r>
            <a:endParaRPr lang="en-US" altLang="zh-CN" dirty="0"/>
          </a:p>
          <a:p>
            <a:pPr algn="ctr"/>
            <a:r>
              <a:rPr lang="zh-CN" altLang="en-US" dirty="0"/>
              <a:t>（</a:t>
            </a:r>
            <a:r>
              <a:rPr lang="en-US" altLang="zh-CN" dirty="0"/>
              <a:t>HWDATA</a:t>
            </a:r>
            <a:r>
              <a:rPr lang="zh-CN" altLang="en-US" dirty="0"/>
              <a:t>）</a:t>
            </a:r>
          </a:p>
        </p:txBody>
      </p:sp>
      <p:cxnSp>
        <p:nvCxnSpPr>
          <p:cNvPr id="9" name="直接箭头连接符 8"/>
          <p:cNvCxnSpPr/>
          <p:nvPr/>
        </p:nvCxnSpPr>
        <p:spPr>
          <a:xfrm>
            <a:off x="3097282" y="4585252"/>
            <a:ext cx="7854121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222515" y="4604682"/>
            <a:ext cx="15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时间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411896" y="2602666"/>
            <a:ext cx="6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N-8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3469464" y="2595298"/>
            <a:ext cx="6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N-4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4484199" y="2609611"/>
            <a:ext cx="701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N-32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5423446" y="2623436"/>
            <a:ext cx="678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N-28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6436684" y="2621472"/>
            <a:ext cx="701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N-24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7498520" y="2623436"/>
            <a:ext cx="701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N-20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9533014" y="2623436"/>
            <a:ext cx="701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N-12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8501545" y="2616232"/>
            <a:ext cx="701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N-16</a:t>
            </a:r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3543514" y="3753005"/>
            <a:ext cx="61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4430711" y="3760204"/>
            <a:ext cx="737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PSR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5554337" y="3740683"/>
            <a:ext cx="61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R0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6578941" y="3740683"/>
            <a:ext cx="61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R1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7583137" y="3728386"/>
            <a:ext cx="61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R2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8601803" y="3753005"/>
            <a:ext cx="61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R3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9575034" y="3753005"/>
            <a:ext cx="61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R12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10617837" y="3766449"/>
            <a:ext cx="61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LR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异常</a:t>
            </a:r>
            <a:r>
              <a:rPr lang="en-US" altLang="zh-CN" sz="2800" b="1" dirty="0"/>
              <a:t>/</a:t>
            </a:r>
            <a:r>
              <a:rPr lang="zh-CN" altLang="zh-CN" sz="2800" b="1" dirty="0"/>
              <a:t>中断的响应</a:t>
            </a:r>
            <a:r>
              <a:rPr lang="zh-CN" altLang="en-US" sz="2800" b="1" dirty="0"/>
              <a:t>及</a:t>
            </a:r>
            <a:r>
              <a:rPr lang="zh-CN" altLang="zh-CN" sz="2800" b="1" dirty="0"/>
              <a:t>返回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1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0282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731527" y="3568698"/>
            <a:ext cx="6559154" cy="674428"/>
          </a:xfrm>
          <a:prstGeom prst="rect">
            <a:avLst/>
          </a:prstGeom>
          <a:solidFill>
            <a:srgbClr val="42E8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733309" y="4234900"/>
            <a:ext cx="6559154" cy="690880"/>
          </a:xfrm>
          <a:prstGeom prst="rect">
            <a:avLst/>
          </a:prstGeom>
          <a:solidFill>
            <a:srgbClr val="42E8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5"/>
          <p:cNvSpPr txBox="1">
            <a:spLocks noChangeArrowheads="1"/>
          </p:cNvSpPr>
          <p:nvPr/>
        </p:nvSpPr>
        <p:spPr bwMode="auto">
          <a:xfrm>
            <a:off x="1701041" y="1286713"/>
            <a:ext cx="848677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u"/>
              <a:defRPr/>
            </a:pPr>
            <a:r>
              <a:rPr lang="zh-CN" altLang="en-US" sz="2800" kern="0" dirty="0">
                <a:solidFill>
                  <a:srgbClr val="FF0000"/>
                </a:solidFill>
              </a:rPr>
              <a:t>异常返回值</a:t>
            </a:r>
          </a:p>
          <a:p>
            <a:pPr eaLnBrk="1" hangingPunct="1">
              <a:defRPr/>
            </a:pPr>
            <a:endParaRPr lang="zh-CN" altLang="en-US" sz="2800" kern="0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zh-CN" altLang="en-US" sz="2800" kern="0" dirty="0">
              <a:solidFill>
                <a:srgbClr val="FF0000"/>
              </a:solidFill>
            </a:endParaRPr>
          </a:p>
        </p:txBody>
      </p:sp>
      <p:sp>
        <p:nvSpPr>
          <p:cNvPr id="17" name="矩形 6"/>
          <p:cNvSpPr>
            <a:spLocks noChangeArrowheads="1"/>
          </p:cNvSpPr>
          <p:nvPr/>
        </p:nvSpPr>
        <p:spPr bwMode="auto">
          <a:xfrm>
            <a:off x="1062866" y="1800873"/>
            <a:ext cx="1025283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       在进入异常服务例程后，</a:t>
            </a:r>
            <a:r>
              <a:rPr lang="en-US" altLang="zh-CN" sz="2400" b="0" dirty="0">
                <a:latin typeface="+mn-ea"/>
                <a:ea typeface="+mn-ea"/>
              </a:rPr>
              <a:t>LR</a:t>
            </a:r>
            <a:r>
              <a:rPr lang="zh-CN" altLang="en-US" sz="2400" b="0" dirty="0">
                <a:latin typeface="+mn-ea"/>
                <a:ea typeface="+mn-ea"/>
              </a:rPr>
              <a:t>的值被自动更新为特殊的</a:t>
            </a:r>
            <a:r>
              <a:rPr lang="en-US" altLang="zh-CN" sz="2400" b="0" dirty="0">
                <a:latin typeface="+mn-ea"/>
                <a:ea typeface="+mn-ea"/>
              </a:rPr>
              <a:t>EXC_RETURN</a:t>
            </a:r>
            <a:r>
              <a:rPr lang="zh-CN" altLang="en-US" sz="2400" b="0" dirty="0">
                <a:latin typeface="+mn-ea"/>
                <a:ea typeface="+mn-ea"/>
              </a:rPr>
              <a:t>，如下所示。</a:t>
            </a:r>
            <a:r>
              <a:rPr lang="zh-CN" altLang="en-US" sz="2400" dirty="0">
                <a:latin typeface="+mn-ea"/>
                <a:ea typeface="+mn-ea"/>
              </a:rPr>
              <a:t>程序被打断时的</a:t>
            </a:r>
            <a:r>
              <a:rPr lang="en-US" altLang="zh-CN" sz="2400" dirty="0">
                <a:latin typeface="+mn-ea"/>
                <a:ea typeface="+mn-ea"/>
              </a:rPr>
              <a:t>LR</a:t>
            </a:r>
            <a:r>
              <a:rPr lang="zh-CN" altLang="en-US" sz="2400" dirty="0">
                <a:latin typeface="+mn-ea"/>
                <a:ea typeface="+mn-ea"/>
              </a:rPr>
              <a:t>已被自动入栈。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731527" y="2889684"/>
          <a:ext cx="6559154" cy="3050373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53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6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9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位段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含义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9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[31:4]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EXC_RETURN</a:t>
                      </a:r>
                      <a:r>
                        <a:rPr lang="zh-CN" sz="1600" kern="0" dirty="0">
                          <a:effectLst/>
                        </a:rPr>
                        <a:t>的标识：必须全为</a:t>
                      </a:r>
                      <a:r>
                        <a:rPr lang="en-US" sz="1600" kern="0" dirty="0">
                          <a:effectLst/>
                        </a:rPr>
                        <a:t>1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8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3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0=</a:t>
                      </a:r>
                      <a:r>
                        <a:rPr lang="zh-CN" sz="1600" kern="0" dirty="0">
                          <a:effectLst/>
                        </a:rPr>
                        <a:t>返回后进入</a:t>
                      </a:r>
                      <a:r>
                        <a:rPr lang="en-US" sz="1600" kern="0" dirty="0">
                          <a:effectLst/>
                        </a:rPr>
                        <a:t>Handler</a:t>
                      </a:r>
                      <a:r>
                        <a:rPr lang="zh-CN" sz="1600" kern="0" dirty="0">
                          <a:effectLst/>
                        </a:rPr>
                        <a:t>模式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1=</a:t>
                      </a:r>
                      <a:r>
                        <a:rPr lang="zh-CN" sz="1600" kern="0" dirty="0">
                          <a:effectLst/>
                        </a:rPr>
                        <a:t>返回后进入线程模式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8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0=</a:t>
                      </a:r>
                      <a:r>
                        <a:rPr lang="zh-CN" sz="1600" kern="0" dirty="0">
                          <a:effectLst/>
                        </a:rPr>
                        <a:t>从主堆栈中做出栈操作，返回后使用</a:t>
                      </a:r>
                      <a:r>
                        <a:rPr lang="en-US" sz="1600" kern="0" dirty="0">
                          <a:effectLst/>
                        </a:rPr>
                        <a:t>MSP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1=</a:t>
                      </a:r>
                      <a:r>
                        <a:rPr lang="zh-CN" sz="1600" kern="0" dirty="0">
                          <a:effectLst/>
                        </a:rPr>
                        <a:t>从进程堆栈中做出栈操作，返回后使用</a:t>
                      </a:r>
                      <a:r>
                        <a:rPr lang="en-US" sz="1600" kern="0" dirty="0">
                          <a:effectLst/>
                        </a:rPr>
                        <a:t>PSP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9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保留，必须为</a:t>
                      </a:r>
                      <a:r>
                        <a:rPr lang="en-US" sz="1600" kern="0" dirty="0">
                          <a:effectLst/>
                        </a:rPr>
                        <a:t>0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8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0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0=</a:t>
                      </a:r>
                      <a:r>
                        <a:rPr lang="zh-CN" sz="1600" kern="0" dirty="0">
                          <a:effectLst/>
                        </a:rPr>
                        <a:t>返回</a:t>
                      </a:r>
                      <a:r>
                        <a:rPr lang="en-US" sz="1600" kern="0" dirty="0">
                          <a:effectLst/>
                        </a:rPr>
                        <a:t>ARM</a:t>
                      </a:r>
                      <a:r>
                        <a:rPr lang="zh-CN" sz="1600" kern="0" dirty="0">
                          <a:effectLst/>
                        </a:rPr>
                        <a:t>状态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1=</a:t>
                      </a:r>
                      <a:r>
                        <a:rPr lang="zh-CN" sz="1600" kern="0" dirty="0">
                          <a:effectLst/>
                        </a:rPr>
                        <a:t>返回</a:t>
                      </a:r>
                      <a:r>
                        <a:rPr lang="en-US" sz="1600" kern="0" dirty="0">
                          <a:effectLst/>
                        </a:rPr>
                        <a:t>Thumb</a:t>
                      </a:r>
                      <a:r>
                        <a:rPr lang="zh-CN" sz="1600" kern="0" dirty="0">
                          <a:effectLst/>
                        </a:rPr>
                        <a:t>状态。在</a:t>
                      </a:r>
                      <a:r>
                        <a:rPr lang="en-US" sz="1600" kern="0" dirty="0">
                          <a:effectLst/>
                        </a:rPr>
                        <a:t>CM3</a:t>
                      </a:r>
                      <a:r>
                        <a:rPr lang="zh-CN" sz="1600" kern="0" dirty="0">
                          <a:effectLst/>
                        </a:rPr>
                        <a:t>中必须为</a:t>
                      </a:r>
                      <a:r>
                        <a:rPr lang="en-US" sz="1600" kern="0" dirty="0">
                          <a:effectLst/>
                        </a:rPr>
                        <a:t>1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2731527" y="3226460"/>
            <a:ext cx="6559154" cy="342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731527" y="3568699"/>
            <a:ext cx="6559154" cy="23713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731527" y="4917553"/>
            <a:ext cx="6559154" cy="342240"/>
          </a:xfrm>
          <a:prstGeom prst="rect">
            <a:avLst/>
          </a:prstGeom>
          <a:noFill/>
          <a:ln w="2540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731527" y="5259794"/>
            <a:ext cx="6559154" cy="680263"/>
          </a:xfrm>
          <a:prstGeom prst="rect">
            <a:avLst/>
          </a:prstGeom>
          <a:noFill/>
          <a:ln w="2540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731527" y="4243126"/>
            <a:ext cx="6559154" cy="6813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731527" y="3567409"/>
            <a:ext cx="6559154" cy="6687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异常</a:t>
            </a:r>
            <a:r>
              <a:rPr lang="en-US" altLang="zh-CN" sz="2800" b="1" dirty="0"/>
              <a:t>/</a:t>
            </a:r>
            <a:r>
              <a:rPr lang="zh-CN" altLang="zh-CN" sz="2800" b="1" dirty="0"/>
              <a:t>中断的响应</a:t>
            </a:r>
            <a:r>
              <a:rPr lang="zh-CN" altLang="en-US" sz="2800" b="1" dirty="0"/>
              <a:t>及</a:t>
            </a:r>
            <a:r>
              <a:rPr lang="zh-CN" altLang="zh-CN" sz="2800" b="1" dirty="0"/>
              <a:t>返回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2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932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" grpId="0" animBg="1"/>
      <p:bldP spid="2" grpId="0" animBg="1"/>
      <p:bldP spid="8" grpId="0" animBg="1"/>
      <p:bldP spid="9" grpId="0" animBg="1"/>
      <p:bldP spid="10" grpId="0" animBg="1"/>
      <p:bldP spid="13" grpId="0" animBg="1"/>
      <p:bldP spid="14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33659" y="4013232"/>
            <a:ext cx="6176472" cy="549246"/>
          </a:xfrm>
          <a:prstGeom prst="rect">
            <a:avLst/>
          </a:prstGeom>
          <a:solidFill>
            <a:srgbClr val="42E8E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833659" y="3463956"/>
            <a:ext cx="6176472" cy="549276"/>
          </a:xfrm>
          <a:prstGeom prst="rect">
            <a:avLst/>
          </a:prstGeom>
          <a:solidFill>
            <a:srgbClr val="42E8E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833659" y="3016281"/>
            <a:ext cx="6176472" cy="447675"/>
          </a:xfrm>
          <a:prstGeom prst="rect">
            <a:avLst/>
          </a:prstGeom>
          <a:solidFill>
            <a:srgbClr val="42E8E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5"/>
          <p:cNvSpPr>
            <a:spLocks noChangeArrowheads="1"/>
          </p:cNvSpPr>
          <p:nvPr/>
        </p:nvSpPr>
        <p:spPr bwMode="auto">
          <a:xfrm>
            <a:off x="2735783" y="1652621"/>
            <a:ext cx="8067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合法的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EXC_RETURN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值共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个</a:t>
            </a:r>
            <a:r>
              <a:rPr lang="zh-CN" altLang="en-US" sz="2400" b="0" dirty="0">
                <a:latin typeface="+mn-ea"/>
                <a:ea typeface="+mn-ea"/>
              </a:rPr>
              <a:t>，如下所示。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833659" y="2559634"/>
          <a:ext cx="6176472" cy="2002844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185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0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7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EXC_RETURN</a:t>
                      </a:r>
                      <a:r>
                        <a:rPr lang="zh-CN" sz="1800" kern="0" dirty="0">
                          <a:effectLst/>
                        </a:rPr>
                        <a:t>数值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功能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7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0xFFFF_FFF1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返回</a:t>
                      </a:r>
                      <a:r>
                        <a:rPr lang="en-US" sz="1800" kern="0" dirty="0">
                          <a:effectLst/>
                        </a:rPr>
                        <a:t>handler</a:t>
                      </a:r>
                      <a:r>
                        <a:rPr lang="zh-CN" sz="1800" kern="0" dirty="0">
                          <a:effectLst/>
                        </a:rPr>
                        <a:t>模式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7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0xFFFF_FFF9</a:t>
                      </a:r>
                      <a:endParaRPr lang="zh-CN" sz="18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返回线程模式，并使用主堆栈（</a:t>
                      </a:r>
                      <a:r>
                        <a:rPr lang="en-US" sz="1800" kern="0" dirty="0">
                          <a:effectLst/>
                        </a:rPr>
                        <a:t>SP=MSP</a:t>
                      </a:r>
                      <a:r>
                        <a:rPr lang="zh-CN" sz="1800" kern="0" dirty="0">
                          <a:effectLst/>
                        </a:rPr>
                        <a:t>）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7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0xFFFF_FFFD</a:t>
                      </a:r>
                      <a:endParaRPr lang="zh-CN" sz="18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返回线程模式，并使用进程堆栈（</a:t>
                      </a:r>
                      <a:r>
                        <a:rPr lang="en-US" sz="1800" kern="0" dirty="0">
                          <a:effectLst/>
                        </a:rPr>
                        <a:t>SP=PSP</a:t>
                      </a:r>
                      <a:r>
                        <a:rPr lang="zh-CN" sz="1800" kern="0" dirty="0">
                          <a:effectLst/>
                        </a:rPr>
                        <a:t>）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异常</a:t>
            </a:r>
            <a:r>
              <a:rPr lang="en-US" altLang="zh-CN" sz="2800" b="1" dirty="0"/>
              <a:t>/</a:t>
            </a:r>
            <a:r>
              <a:rPr lang="zh-CN" altLang="zh-CN" sz="2800" b="1" dirty="0"/>
              <a:t>中断的响应</a:t>
            </a:r>
            <a:r>
              <a:rPr lang="zh-CN" altLang="en-US" sz="2800" b="1" dirty="0"/>
              <a:t>及</a:t>
            </a:r>
            <a:r>
              <a:rPr lang="zh-CN" altLang="zh-CN" sz="2800" b="1" dirty="0"/>
              <a:t>返回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860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7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753686" y="4983955"/>
            <a:ext cx="6941467" cy="325782"/>
          </a:xfrm>
          <a:prstGeom prst="rect">
            <a:avLst/>
          </a:prstGeom>
          <a:solidFill>
            <a:srgbClr val="42E8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753686" y="4010025"/>
            <a:ext cx="6941467" cy="973931"/>
          </a:xfrm>
          <a:prstGeom prst="rect">
            <a:avLst/>
          </a:prstGeom>
          <a:solidFill>
            <a:srgbClr val="42E8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753686" y="3676781"/>
            <a:ext cx="6941467" cy="333244"/>
          </a:xfrm>
          <a:prstGeom prst="rect">
            <a:avLst/>
          </a:prstGeom>
          <a:solidFill>
            <a:srgbClr val="42E8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5"/>
          <p:cNvSpPr txBox="1">
            <a:spLocks noChangeArrowheads="1"/>
          </p:cNvSpPr>
          <p:nvPr/>
        </p:nvSpPr>
        <p:spPr bwMode="auto">
          <a:xfrm>
            <a:off x="1481098" y="1258483"/>
            <a:ext cx="848677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u"/>
              <a:defRPr/>
            </a:pPr>
            <a:r>
              <a:rPr lang="zh-CN" altLang="en-US" sz="2800" kern="0" dirty="0">
                <a:solidFill>
                  <a:srgbClr val="FF0000"/>
                </a:solidFill>
              </a:rPr>
              <a:t>异常返回</a:t>
            </a:r>
          </a:p>
          <a:p>
            <a:pPr eaLnBrk="1" hangingPunct="1">
              <a:defRPr/>
            </a:pPr>
            <a:endParaRPr lang="zh-CN" altLang="en-US" sz="2800" kern="0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zh-CN" altLang="en-US" sz="2800" kern="0" dirty="0">
              <a:solidFill>
                <a:srgbClr val="FF0000"/>
              </a:solidFill>
            </a:endParaRPr>
          </a:p>
        </p:txBody>
      </p:sp>
      <p:sp>
        <p:nvSpPr>
          <p:cNvPr id="14" name="矩形 10"/>
          <p:cNvSpPr>
            <a:spLocks noChangeArrowheads="1"/>
          </p:cNvSpPr>
          <p:nvPr/>
        </p:nvSpPr>
        <p:spPr bwMode="auto">
          <a:xfrm>
            <a:off x="1481098" y="1833092"/>
            <a:ext cx="922980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      当异常服务例程执行完毕后，需要做一个“异常返回”动作序列，从而恢复先前的系统状态，才能使被中断的程序得以继续执行。这里，有</a:t>
            </a:r>
            <a:r>
              <a:rPr lang="en-US" altLang="zh-CN" sz="2400" b="0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  <a:ea typeface="+mn-ea"/>
              </a:rPr>
              <a:t>种途径可以触发异常返回序列</a:t>
            </a:r>
            <a:r>
              <a:rPr lang="zh-CN" altLang="en-US" sz="2400" b="0" dirty="0">
                <a:latin typeface="+mn-ea"/>
                <a:ea typeface="+mn-ea"/>
              </a:rPr>
              <a:t>，如下所示。</a:t>
            </a:r>
            <a:endParaRPr lang="zh-CN" altLang="en-US" sz="2400" dirty="0">
              <a:solidFill>
                <a:srgbClr val="000099"/>
              </a:solidFill>
              <a:latin typeface="+mn-ea"/>
              <a:ea typeface="+mn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2740986" y="3359202"/>
          <a:ext cx="6941467" cy="1950535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19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6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返回指令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工作原理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8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BX  LR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当</a:t>
                      </a:r>
                      <a:r>
                        <a:rPr lang="en-US" sz="1600" kern="0" dirty="0">
                          <a:effectLst/>
                        </a:rPr>
                        <a:t>LR</a:t>
                      </a:r>
                      <a:r>
                        <a:rPr lang="zh-CN" sz="1600" kern="0" dirty="0">
                          <a:effectLst/>
                        </a:rPr>
                        <a:t>存储</a:t>
                      </a:r>
                      <a:r>
                        <a:rPr lang="en-US" sz="1600" kern="0" dirty="0">
                          <a:effectLst/>
                        </a:rPr>
                        <a:t>EXC_RETURN</a:t>
                      </a:r>
                      <a:r>
                        <a:rPr lang="zh-CN" sz="1600" kern="0" dirty="0">
                          <a:effectLst/>
                        </a:rPr>
                        <a:t>时，使用</a:t>
                      </a:r>
                      <a:r>
                        <a:rPr lang="en-US" sz="1600" kern="0" dirty="0">
                          <a:effectLst/>
                        </a:rPr>
                        <a:t>BX LR</a:t>
                      </a:r>
                      <a:r>
                        <a:rPr lang="zh-CN" sz="1600" kern="0" dirty="0">
                          <a:effectLst/>
                        </a:rPr>
                        <a:t>即可返回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2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POP   {PC} </a:t>
                      </a:r>
                      <a:r>
                        <a:rPr lang="zh-CN" sz="1600" kern="0">
                          <a:effectLst/>
                        </a:rPr>
                        <a:t>和</a:t>
                      </a:r>
                      <a:r>
                        <a:rPr lang="en-US" sz="1600" kern="0">
                          <a:effectLst/>
                        </a:rPr>
                        <a:t> </a:t>
                      </a:r>
                      <a:endParaRPr lang="zh-CN" sz="1600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POP   {…,PC}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在服务例程中，</a:t>
                      </a:r>
                      <a:r>
                        <a:rPr lang="en-US" sz="1600" kern="0" dirty="0">
                          <a:effectLst/>
                        </a:rPr>
                        <a:t>LR</a:t>
                      </a:r>
                      <a:r>
                        <a:rPr lang="zh-CN" sz="1600" kern="0" dirty="0">
                          <a:effectLst/>
                        </a:rPr>
                        <a:t>的值常常会被压入栈。此时即可使用</a:t>
                      </a:r>
                      <a:r>
                        <a:rPr lang="en-US" sz="1600" kern="0" dirty="0">
                          <a:effectLst/>
                        </a:rPr>
                        <a:t>POP</a:t>
                      </a:r>
                      <a:r>
                        <a:rPr lang="zh-CN" sz="1600" kern="0" dirty="0">
                          <a:effectLst/>
                        </a:rPr>
                        <a:t>指令把</a:t>
                      </a:r>
                      <a:r>
                        <a:rPr lang="en-US" sz="1600" kern="0" dirty="0">
                          <a:effectLst/>
                        </a:rPr>
                        <a:t>LR</a:t>
                      </a:r>
                      <a:r>
                        <a:rPr lang="zh-CN" sz="1600" kern="0" dirty="0">
                          <a:effectLst/>
                        </a:rPr>
                        <a:t>存储的</a:t>
                      </a:r>
                      <a:r>
                        <a:rPr lang="en-US" sz="1600" kern="0" dirty="0">
                          <a:effectLst/>
                        </a:rPr>
                        <a:t>EXC_RETURN</a:t>
                      </a:r>
                      <a:r>
                        <a:rPr lang="zh-CN" sz="1600" kern="0" dirty="0">
                          <a:effectLst/>
                        </a:rPr>
                        <a:t>往</a:t>
                      </a:r>
                      <a:r>
                        <a:rPr lang="en-US" sz="1600" kern="0" dirty="0">
                          <a:effectLst/>
                        </a:rPr>
                        <a:t>PC</a:t>
                      </a:r>
                      <a:r>
                        <a:rPr lang="zh-CN" sz="1600" kern="0" dirty="0">
                          <a:effectLst/>
                        </a:rPr>
                        <a:t>里弹栈，从而激起处理器做中断返回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8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LDR </a:t>
                      </a:r>
                      <a:r>
                        <a:rPr lang="zh-CN" sz="1600" kern="0">
                          <a:effectLst/>
                        </a:rPr>
                        <a:t>与</a:t>
                      </a:r>
                      <a:r>
                        <a:rPr lang="en-US" sz="1600" kern="0">
                          <a:effectLst/>
                        </a:rPr>
                        <a:t>LDM</a:t>
                      </a:r>
                      <a:endParaRPr lang="zh-CN" sz="16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把</a:t>
                      </a:r>
                      <a:r>
                        <a:rPr lang="en-US" sz="1600" kern="0" dirty="0">
                          <a:effectLst/>
                        </a:rPr>
                        <a:t>PC</a:t>
                      </a:r>
                      <a:r>
                        <a:rPr lang="zh-CN" sz="1600" kern="0" dirty="0">
                          <a:effectLst/>
                        </a:rPr>
                        <a:t>作为目的寄存器，亦可启动中断返回序列</a:t>
                      </a:r>
                      <a:endParaRPr lang="zh-CN" sz="16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2769403" y="5523468"/>
            <a:ext cx="7007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不管使用哪一种，都需要用到先前存储的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LR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的值。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异常</a:t>
            </a:r>
            <a:r>
              <a:rPr lang="en-US" altLang="zh-CN" sz="2800" b="1" dirty="0"/>
              <a:t>/</a:t>
            </a:r>
            <a:r>
              <a:rPr lang="zh-CN" altLang="zh-CN" sz="2800" b="1" dirty="0"/>
              <a:t>中断的响应</a:t>
            </a:r>
            <a:r>
              <a:rPr lang="zh-CN" altLang="en-US" sz="2800" b="1" dirty="0"/>
              <a:t>及</a:t>
            </a:r>
            <a:r>
              <a:rPr lang="zh-CN" altLang="zh-CN" sz="2800" b="1" dirty="0"/>
              <a:t>返回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8330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4" grpId="0" animBg="1"/>
      <p:bldP spid="2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84672" y="1946593"/>
            <a:ext cx="82841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0" dirty="0"/>
              <a:t>      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出栈：</a:t>
            </a:r>
            <a:r>
              <a:rPr lang="zh-CN" altLang="en-US" sz="2400" b="0" dirty="0"/>
              <a:t>先前压入栈中的寄存器在这里恢复。内部的出栈顺序与入栈时的相对应，堆栈指针的值被恢复。</a:t>
            </a:r>
          </a:p>
        </p:txBody>
      </p:sp>
      <p:sp>
        <p:nvSpPr>
          <p:cNvPr id="2" name="矩形 1"/>
          <p:cNvSpPr/>
          <p:nvPr/>
        </p:nvSpPr>
        <p:spPr>
          <a:xfrm>
            <a:off x="2108115" y="1576148"/>
            <a:ext cx="63401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在启动了中断返回序列后，将进行以下处理：</a:t>
            </a:r>
          </a:p>
        </p:txBody>
      </p:sp>
      <p:sp>
        <p:nvSpPr>
          <p:cNvPr id="3" name="矩形 2"/>
          <p:cNvSpPr/>
          <p:nvPr/>
        </p:nvSpPr>
        <p:spPr>
          <a:xfrm>
            <a:off x="1784672" y="3286534"/>
            <a:ext cx="71144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更新</a:t>
            </a:r>
            <a:r>
              <a:rPr lang="en-US" altLang="zh-CN" sz="2400" dirty="0">
                <a:solidFill>
                  <a:srgbClr val="FF0000"/>
                </a:solidFill>
              </a:rPr>
              <a:t>NVIC</a:t>
            </a:r>
            <a:r>
              <a:rPr lang="zh-CN" altLang="en-US" sz="2400" dirty="0">
                <a:solidFill>
                  <a:srgbClr val="FF0000"/>
                </a:solidFill>
              </a:rPr>
              <a:t>寄存器：</a:t>
            </a:r>
            <a:r>
              <a:rPr lang="zh-CN" altLang="en-US" sz="2400" dirty="0"/>
              <a:t>异常活动状态位被硬件清零。</a:t>
            </a:r>
          </a:p>
        </p:txBody>
      </p:sp>
      <p:sp>
        <p:nvSpPr>
          <p:cNvPr id="9" name="矩形 8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异常</a:t>
            </a:r>
            <a:r>
              <a:rPr lang="en-US" altLang="zh-CN" sz="2800" b="1" dirty="0"/>
              <a:t>/</a:t>
            </a:r>
            <a:r>
              <a:rPr lang="zh-CN" altLang="zh-CN" sz="2800" b="1" dirty="0"/>
              <a:t>中断的响应</a:t>
            </a:r>
            <a:r>
              <a:rPr lang="zh-CN" altLang="en-US" sz="2800" b="1" dirty="0"/>
              <a:t>及</a:t>
            </a:r>
            <a:r>
              <a:rPr lang="zh-CN" altLang="zh-CN" sz="2800" b="1" dirty="0"/>
              <a:t>返回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213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502"/>
            <a:ext cx="11564202" cy="594200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7796" y="745897"/>
            <a:ext cx="1497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中断</a:t>
            </a:r>
            <a:r>
              <a:rPr lang="en-US" altLang="zh-CN" dirty="0"/>
              <a:t>#1</a:t>
            </a:r>
          </a:p>
          <a:p>
            <a:pPr algn="ctr"/>
            <a:r>
              <a:rPr lang="zh-CN" altLang="en-US" dirty="0"/>
              <a:t>（低优先级）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27796" y="1464848"/>
            <a:ext cx="1497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中断</a:t>
            </a:r>
            <a:r>
              <a:rPr lang="en-US" altLang="zh-CN" dirty="0"/>
              <a:t>#2</a:t>
            </a:r>
          </a:p>
          <a:p>
            <a:pPr algn="ctr"/>
            <a:r>
              <a:rPr lang="zh-CN" altLang="en-US" dirty="0"/>
              <a:t>（高优先级）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27796" y="2359510"/>
            <a:ext cx="14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执行状态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27796" y="3070693"/>
            <a:ext cx="14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异常处理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27796" y="3879009"/>
            <a:ext cx="14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线程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27796" y="4510072"/>
            <a:ext cx="14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栈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48614" y="5200987"/>
            <a:ext cx="1055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处理器模式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004340" y="4025605"/>
            <a:ext cx="14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主程序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880840" y="3602010"/>
            <a:ext cx="1240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中断服务程序</a:t>
            </a:r>
            <a:r>
              <a:rPr lang="en-US" altLang="zh-CN" dirty="0"/>
              <a:t>#1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5337372" y="2728842"/>
            <a:ext cx="234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中断服务程序</a:t>
            </a:r>
            <a:r>
              <a:rPr lang="en-US" altLang="zh-CN" dirty="0"/>
              <a:t>#2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1904474" y="4371063"/>
            <a:ext cx="14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主栈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782101" y="4352064"/>
            <a:ext cx="14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主栈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9183388" y="4330414"/>
            <a:ext cx="14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主栈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004340" y="5339486"/>
            <a:ext cx="14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线程模式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782101" y="5339486"/>
            <a:ext cx="14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处理模式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186385" y="5344973"/>
            <a:ext cx="14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线程模式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3742844" y="5339486"/>
            <a:ext cx="14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处理模式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706403" y="5339486"/>
            <a:ext cx="14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处理模式</a:t>
            </a:r>
          </a:p>
        </p:txBody>
      </p:sp>
      <p:sp>
        <p:nvSpPr>
          <p:cNvPr id="2" name="弧形 1"/>
          <p:cNvSpPr/>
          <p:nvPr/>
        </p:nvSpPr>
        <p:spPr>
          <a:xfrm flipH="1">
            <a:off x="4501220" y="931130"/>
            <a:ext cx="1128225" cy="1947401"/>
          </a:xfrm>
          <a:prstGeom prst="arc">
            <a:avLst>
              <a:gd name="adj1" fmla="val 16200000"/>
              <a:gd name="adj2" fmla="val 20613578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014643" y="765980"/>
            <a:ext cx="515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嵌套中断（中断事件</a:t>
            </a:r>
            <a:r>
              <a:rPr lang="en-US" altLang="zh-CN" dirty="0"/>
              <a:t>#2</a:t>
            </a:r>
            <a:r>
              <a:rPr lang="zh-CN" altLang="en-US" dirty="0"/>
              <a:t>在</a:t>
            </a:r>
            <a:r>
              <a:rPr lang="en-US" altLang="zh-CN" dirty="0"/>
              <a:t>ISR#1</a:t>
            </a:r>
            <a:r>
              <a:rPr lang="zh-CN" altLang="en-US" dirty="0"/>
              <a:t>执行期间产生）</a:t>
            </a:r>
          </a:p>
        </p:txBody>
      </p:sp>
      <p:sp>
        <p:nvSpPr>
          <p:cNvPr id="26" name="弧形 25"/>
          <p:cNvSpPr/>
          <p:nvPr/>
        </p:nvSpPr>
        <p:spPr>
          <a:xfrm rot="16582925" flipH="1">
            <a:off x="3184030" y="2450403"/>
            <a:ext cx="1128225" cy="1947401"/>
          </a:xfrm>
          <a:prstGeom prst="arc">
            <a:avLst>
              <a:gd name="adj1" fmla="val 18352750"/>
              <a:gd name="adj2" fmla="val 20613578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2004340" y="3513572"/>
            <a:ext cx="1406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中断事件</a:t>
            </a:r>
            <a:r>
              <a:rPr lang="en-US" altLang="zh-CN" dirty="0"/>
              <a:t>#1</a:t>
            </a:r>
            <a:endParaRPr lang="zh-CN" altLang="en-US" dirty="0"/>
          </a:p>
        </p:txBody>
      </p:sp>
      <p:sp>
        <p:nvSpPr>
          <p:cNvPr id="28" name="弧形 27"/>
          <p:cNvSpPr/>
          <p:nvPr/>
        </p:nvSpPr>
        <p:spPr>
          <a:xfrm rot="18932042" flipH="1">
            <a:off x="3614791" y="1921033"/>
            <a:ext cx="1721124" cy="2586910"/>
          </a:xfrm>
          <a:prstGeom prst="arc">
            <a:avLst>
              <a:gd name="adj1" fmla="val 17283102"/>
              <a:gd name="adj2" fmla="val 20613578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弧形 28"/>
          <p:cNvSpPr/>
          <p:nvPr/>
        </p:nvSpPr>
        <p:spPr>
          <a:xfrm rot="18363135">
            <a:off x="3289747" y="2267388"/>
            <a:ext cx="1792188" cy="2723539"/>
          </a:xfrm>
          <a:prstGeom prst="arc">
            <a:avLst>
              <a:gd name="adj1" fmla="val 17283102"/>
              <a:gd name="adj2" fmla="val 875812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2382803" y="2244530"/>
            <a:ext cx="1123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压栈时使用主栈</a:t>
            </a:r>
          </a:p>
        </p:txBody>
      </p:sp>
      <p:sp>
        <p:nvSpPr>
          <p:cNvPr id="31" name="弧形 30"/>
          <p:cNvSpPr/>
          <p:nvPr/>
        </p:nvSpPr>
        <p:spPr>
          <a:xfrm rot="19909431" flipH="1">
            <a:off x="4820160" y="1779135"/>
            <a:ext cx="1721124" cy="2586910"/>
          </a:xfrm>
          <a:prstGeom prst="arc">
            <a:avLst>
              <a:gd name="adj1" fmla="val 17379878"/>
              <a:gd name="adj2" fmla="val 20613578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4721914" y="2023343"/>
            <a:ext cx="1406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中断事件</a:t>
            </a:r>
            <a:r>
              <a:rPr lang="en-US" altLang="zh-CN" dirty="0"/>
              <a:t>#2</a:t>
            </a:r>
            <a:endParaRPr lang="zh-CN" altLang="en-US" dirty="0"/>
          </a:p>
        </p:txBody>
      </p:sp>
      <p:sp>
        <p:nvSpPr>
          <p:cNvPr id="33" name="弧形 32"/>
          <p:cNvSpPr/>
          <p:nvPr/>
        </p:nvSpPr>
        <p:spPr>
          <a:xfrm rot="2378343" flipH="1">
            <a:off x="7532267" y="2121328"/>
            <a:ext cx="1721124" cy="2586910"/>
          </a:xfrm>
          <a:prstGeom prst="arc">
            <a:avLst>
              <a:gd name="adj1" fmla="val 18432340"/>
              <a:gd name="adj2" fmla="val 20613578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8382205" y="2100076"/>
            <a:ext cx="1406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异常返回</a:t>
            </a:r>
          </a:p>
        </p:txBody>
      </p:sp>
      <p:sp>
        <p:nvSpPr>
          <p:cNvPr id="35" name="弧形 34"/>
          <p:cNvSpPr/>
          <p:nvPr/>
        </p:nvSpPr>
        <p:spPr>
          <a:xfrm rot="2378343" flipH="1">
            <a:off x="8734504" y="2739833"/>
            <a:ext cx="1721124" cy="2586910"/>
          </a:xfrm>
          <a:prstGeom prst="arc">
            <a:avLst>
              <a:gd name="adj1" fmla="val 18432340"/>
              <a:gd name="adj2" fmla="val 20613578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9584442" y="2718581"/>
            <a:ext cx="1406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异常返回</a:t>
            </a:r>
          </a:p>
        </p:txBody>
      </p:sp>
      <p:sp>
        <p:nvSpPr>
          <p:cNvPr id="37" name="弧形 36"/>
          <p:cNvSpPr/>
          <p:nvPr/>
        </p:nvSpPr>
        <p:spPr>
          <a:xfrm rot="11624493" flipH="1">
            <a:off x="7060007" y="1802989"/>
            <a:ext cx="2118730" cy="2586910"/>
          </a:xfrm>
          <a:prstGeom prst="arc">
            <a:avLst>
              <a:gd name="adj1" fmla="val 16426627"/>
              <a:gd name="adj2" fmla="val 20613578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弧形 37"/>
          <p:cNvSpPr/>
          <p:nvPr/>
        </p:nvSpPr>
        <p:spPr>
          <a:xfrm rot="12704049">
            <a:off x="7659496" y="2217736"/>
            <a:ext cx="1792188" cy="2723539"/>
          </a:xfrm>
          <a:prstGeom prst="arc">
            <a:avLst>
              <a:gd name="adj1" fmla="val 18257752"/>
              <a:gd name="adj2" fmla="val 875812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904970" y="3964889"/>
            <a:ext cx="1123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压栈时使用主栈</a:t>
            </a:r>
          </a:p>
        </p:txBody>
      </p:sp>
      <p:sp>
        <p:nvSpPr>
          <p:cNvPr id="40" name="弧形 39"/>
          <p:cNvSpPr/>
          <p:nvPr/>
        </p:nvSpPr>
        <p:spPr>
          <a:xfrm rot="8890166" flipH="1">
            <a:off x="2768496" y="4582539"/>
            <a:ext cx="1128225" cy="1947401"/>
          </a:xfrm>
          <a:prstGeom prst="arc">
            <a:avLst>
              <a:gd name="adj1" fmla="val 18604680"/>
              <a:gd name="adj2" fmla="val 20613578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2495701" y="5740898"/>
            <a:ext cx="2099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LR=0xFFFFFFF9</a:t>
            </a:r>
            <a:endParaRPr lang="zh-CN" altLang="en-US" dirty="0"/>
          </a:p>
        </p:txBody>
      </p:sp>
      <p:sp>
        <p:nvSpPr>
          <p:cNvPr id="42" name="弧形 41"/>
          <p:cNvSpPr/>
          <p:nvPr/>
        </p:nvSpPr>
        <p:spPr>
          <a:xfrm rot="8890166" flipH="1">
            <a:off x="4327530" y="4595220"/>
            <a:ext cx="1128225" cy="1947401"/>
          </a:xfrm>
          <a:prstGeom prst="arc">
            <a:avLst>
              <a:gd name="adj1" fmla="val 18708828"/>
              <a:gd name="adj2" fmla="val 2191309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4630745" y="5708573"/>
            <a:ext cx="2099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LR=0xFFFFFFF1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6828133" y="5719132"/>
            <a:ext cx="2099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EXC_RETURN</a:t>
            </a:r>
            <a:endParaRPr lang="zh-CN" altLang="en-US" dirty="0"/>
          </a:p>
        </p:txBody>
      </p:sp>
      <p:sp>
        <p:nvSpPr>
          <p:cNvPr id="45" name="弧形 44"/>
          <p:cNvSpPr/>
          <p:nvPr/>
        </p:nvSpPr>
        <p:spPr>
          <a:xfrm rot="10800000">
            <a:off x="7671295" y="4582538"/>
            <a:ext cx="1114090" cy="1947401"/>
          </a:xfrm>
          <a:prstGeom prst="arc">
            <a:avLst>
              <a:gd name="adj1" fmla="val 20694622"/>
              <a:gd name="adj2" fmla="val 2938575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646541" y="5708573"/>
            <a:ext cx="2099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EXC_RETURN</a:t>
            </a:r>
            <a:endParaRPr lang="zh-CN" altLang="en-US" dirty="0"/>
          </a:p>
        </p:txBody>
      </p:sp>
      <p:sp>
        <p:nvSpPr>
          <p:cNvPr id="47" name="弧形 46"/>
          <p:cNvSpPr/>
          <p:nvPr/>
        </p:nvSpPr>
        <p:spPr>
          <a:xfrm rot="10325572" flipH="1">
            <a:off x="8943535" y="4932913"/>
            <a:ext cx="366220" cy="1947401"/>
          </a:xfrm>
          <a:prstGeom prst="arc">
            <a:avLst>
              <a:gd name="adj1" fmla="val 2979046"/>
              <a:gd name="adj2" fmla="val 5013139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弧形 47"/>
          <p:cNvSpPr/>
          <p:nvPr/>
        </p:nvSpPr>
        <p:spPr>
          <a:xfrm rot="17839312" flipH="1">
            <a:off x="5779344" y="4261271"/>
            <a:ext cx="1128225" cy="1947401"/>
          </a:xfrm>
          <a:prstGeom prst="arc">
            <a:avLst>
              <a:gd name="adj1" fmla="val 2594993"/>
              <a:gd name="adj2" fmla="val 4107647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弧形 48"/>
          <p:cNvSpPr/>
          <p:nvPr/>
        </p:nvSpPr>
        <p:spPr>
          <a:xfrm rot="16200000" flipH="1">
            <a:off x="5939078" y="3075245"/>
            <a:ext cx="734533" cy="5681551"/>
          </a:xfrm>
          <a:prstGeom prst="arc">
            <a:avLst>
              <a:gd name="adj1" fmla="val 16369757"/>
              <a:gd name="adj2" fmla="val 5244304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97917" y="756141"/>
            <a:ext cx="1128225" cy="6190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808106" y="1458503"/>
            <a:ext cx="1128225" cy="6190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2355941" y="4374945"/>
            <a:ext cx="586260" cy="340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9648739" y="4339711"/>
            <a:ext cx="586260" cy="340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2215377" y="5353792"/>
            <a:ext cx="1030420" cy="3119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9416926" y="5362270"/>
            <a:ext cx="1030420" cy="3119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2035818" y="3517658"/>
            <a:ext cx="1239905" cy="3235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3993851" y="3579504"/>
            <a:ext cx="1020792" cy="6179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3965591" y="5361644"/>
            <a:ext cx="1030420" cy="3119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2556283" y="5738922"/>
            <a:ext cx="1854985" cy="2946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5065578" y="772072"/>
            <a:ext cx="4722789" cy="3174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4793021" y="2022578"/>
            <a:ext cx="1229678" cy="3125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5646695" y="2764796"/>
            <a:ext cx="1720898" cy="2857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647469" y="5737363"/>
            <a:ext cx="1885820" cy="2900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6889414" y="5737363"/>
            <a:ext cx="1627068" cy="3383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8702186" y="5685058"/>
            <a:ext cx="1627068" cy="3383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8434509" y="2108585"/>
            <a:ext cx="1030420" cy="3119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9626390" y="2733890"/>
            <a:ext cx="1030420" cy="3119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异常</a:t>
            </a:r>
            <a:r>
              <a:rPr lang="en-US" altLang="zh-CN" sz="2800" b="1" dirty="0"/>
              <a:t>/</a:t>
            </a:r>
            <a:r>
              <a:rPr lang="zh-CN" altLang="zh-CN" sz="2800" b="1" dirty="0"/>
              <a:t>中断的响应</a:t>
            </a:r>
            <a:r>
              <a:rPr lang="zh-CN" altLang="en-US" sz="2800" b="1" dirty="0"/>
              <a:t>及</a:t>
            </a:r>
            <a:r>
              <a:rPr lang="zh-CN" altLang="zh-CN" sz="2800" b="1" dirty="0"/>
              <a:t>返回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2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0528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" grpId="0" animBg="1"/>
      <p:bldP spid="3" grpId="0"/>
      <p:bldP spid="26" grpId="0" animBg="1"/>
      <p:bldP spid="27" grpId="0"/>
      <p:bldP spid="28" grpId="0" animBg="1"/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/>
      <p:bldP spid="37" grpId="0" animBg="1"/>
      <p:bldP spid="38" grpId="0" animBg="1"/>
      <p:bldP spid="39" grpId="0"/>
      <p:bldP spid="40" grpId="0" animBg="1"/>
      <p:bldP spid="41" grpId="0"/>
      <p:bldP spid="42" grpId="0" animBg="1"/>
      <p:bldP spid="43" grpId="0"/>
      <p:bldP spid="44" grpId="0"/>
      <p:bldP spid="45" grpId="0" animBg="1"/>
      <p:bldP spid="46" grpId="0"/>
      <p:bldP spid="47" grpId="0" animBg="1"/>
      <p:bldP spid="48" grpId="0" animBg="1"/>
      <p:bldP spid="49" grpId="0" animBg="1"/>
      <p:bldP spid="7" grpId="0" animBg="1"/>
      <p:bldP spid="50" grpId="0" animBg="1"/>
      <p:bldP spid="51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7" grpId="0" animBg="1"/>
      <p:bldP spid="68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异常</a:t>
            </a:r>
            <a:r>
              <a:rPr lang="en-US" altLang="zh-CN" sz="2800" b="1" dirty="0"/>
              <a:t>/</a:t>
            </a:r>
            <a:r>
              <a:rPr lang="zh-CN" altLang="zh-CN" sz="2800" b="1" dirty="0"/>
              <a:t>中断的响应</a:t>
            </a:r>
            <a:r>
              <a:rPr lang="zh-CN" altLang="en-US" sz="2800" b="1" dirty="0"/>
              <a:t>及</a:t>
            </a:r>
            <a:r>
              <a:rPr lang="zh-CN" altLang="zh-CN" sz="2800" b="1" dirty="0"/>
              <a:t>返回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2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54DA1D-8AA7-4441-B9A4-FA741281F306}"/>
              </a:ext>
            </a:extLst>
          </p:cNvPr>
          <p:cNvSpPr/>
          <p:nvPr/>
        </p:nvSpPr>
        <p:spPr>
          <a:xfrm>
            <a:off x="1108363" y="1230853"/>
            <a:ext cx="6096000" cy="13542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问题与思考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b="1" dirty="0">
              <a:solidFill>
                <a:srgbClr val="000000"/>
              </a:solidFill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在中断响应的寄存器硬件压栈过程中，如果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R14</a:t>
            </a:r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的压入地址为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0x20007f00</a:t>
            </a:r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R2</a:t>
            </a:r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的压入地址为（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227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在中断响应的寄存器硬件压栈过程中，如果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R14</a:t>
            </a:r>
            <a:r>
              <a:rPr lang="zh-CN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的压入地址为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0x20007f00</a:t>
            </a:r>
            <a:r>
              <a:rPr lang="zh-CN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R2</a:t>
            </a:r>
            <a:r>
              <a:rPr lang="zh-CN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的压入地址为（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solidFill>
                  <a:srgbClr val="639EF4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639EF4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800" b="1" dirty="0" smtClean="0">
                <a:solidFill>
                  <a:srgbClr val="639EF4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填空</a:t>
            </a:r>
            <a:r>
              <a:rPr lang="en-US" altLang="zh-CN" sz="2800" b="1" dirty="0" smtClean="0">
                <a:solidFill>
                  <a:srgbClr val="639EF4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1]</a:t>
            </a:r>
            <a:r>
              <a:rPr lang="en-US" altLang="zh-CN" sz="2800" b="1" dirty="0" smtClean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800" dirty="0"/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704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Cortex-M3</a:t>
            </a:r>
            <a:r>
              <a:rPr lang="zh-CN" altLang="zh-CN" sz="2800" b="1" dirty="0"/>
              <a:t>异常</a:t>
            </a:r>
            <a:r>
              <a:rPr lang="en-US" altLang="zh-CN" sz="2800" b="1" dirty="0"/>
              <a:t>/</a:t>
            </a:r>
            <a:r>
              <a:rPr lang="zh-CN" altLang="zh-CN" sz="2800" b="1" dirty="0"/>
              <a:t>中断的响应</a:t>
            </a:r>
            <a:r>
              <a:rPr lang="zh-CN" altLang="en-US" sz="2800" b="1" dirty="0"/>
              <a:t>及</a:t>
            </a:r>
            <a:r>
              <a:rPr lang="zh-CN" altLang="zh-CN" sz="2800" b="1" dirty="0"/>
              <a:t>返回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2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54DA1D-8AA7-4441-B9A4-FA741281F306}"/>
              </a:ext>
            </a:extLst>
          </p:cNvPr>
          <p:cNvSpPr/>
          <p:nvPr/>
        </p:nvSpPr>
        <p:spPr>
          <a:xfrm>
            <a:off x="1108363" y="1230853"/>
            <a:ext cx="6096000" cy="13542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问题与思考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b="1" dirty="0">
              <a:solidFill>
                <a:srgbClr val="000000"/>
              </a:solidFill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在中断响应的寄存器硬件压栈过程中，如果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R14</a:t>
            </a:r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的压入地址为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0x20007f00</a:t>
            </a:r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R2</a:t>
            </a:r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的压入地址为（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0x20007ef4</a:t>
            </a:r>
            <a:r>
              <a:rPr lang="zh-CN" altLang="zh-CN" b="1" dirty="0">
                <a:solidFill>
                  <a:srgbClr val="000000"/>
                </a:solidFill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404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6" name="think-cell Slide" r:id="rId5" imgW="9525" imgH="9525" progId="TCLayout.ActiveDocument.1">
                  <p:embed/>
                </p:oleObj>
              </mc:Choice>
              <mc:Fallback>
                <p:oleObj name="think-cell Slide" r:id="rId5" imgW="9525" imgH="9525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8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zh-CN" altLang="en-US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单片机原理及其应用</a:t>
            </a:r>
          </a:p>
        </p:txBody>
      </p:sp>
      <p:sp>
        <p:nvSpPr>
          <p:cNvPr id="9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716065" y="3993091"/>
            <a:ext cx="3102627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10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ARM Cortex-M3 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STM32</a:t>
            </a:r>
            <a:r>
              <a:rPr lang="zh-CN" altLang="zh-CN" sz="2800" b="1" kern="1800" dirty="0">
                <a:solidFill>
                  <a:schemeClr val="bg1"/>
                </a:solidFill>
                <a:latin typeface="+mn-ea"/>
                <a:cs typeface="宋体" panose="02010600030101010101" pitchFamily="2" charset="-122"/>
              </a:rPr>
              <a:t>系列</a:t>
            </a:r>
            <a:r>
              <a:rPr lang="zh-CN" altLang="zh-CN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ea"/>
                <a:cs typeface="+mn-ea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ea"/>
              <a:cs typeface="+mn-ea"/>
            </a:endParaRPr>
          </a:p>
        </p:txBody>
      </p:sp>
      <p:sp>
        <p:nvSpPr>
          <p:cNvPr id="12" name="文本框 5"/>
          <p:cNvSpPr txBox="1"/>
          <p:nvPr/>
        </p:nvSpPr>
        <p:spPr>
          <a:xfrm>
            <a:off x="622300" y="3167380"/>
            <a:ext cx="86753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dirty="0">
                <a:solidFill>
                  <a:srgbClr val="42E6E0"/>
                </a:solidFill>
              </a:rPr>
              <a:t>嵌套中断，咬尾中断，晚到异常与中断延迟(1)</a:t>
            </a:r>
          </a:p>
        </p:txBody>
      </p:sp>
    </p:spTree>
    <p:extLst>
      <p:ext uri="{BB962C8B-B14F-4D97-AF65-F5344CB8AC3E}">
        <p14:creationId xmlns:p14="http://schemas.microsoft.com/office/powerpoint/2010/main" val="416398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CM3</a:t>
            </a:r>
            <a:r>
              <a:rPr lang="zh-CN" altLang="zh-CN" sz="2800" b="1" dirty="0"/>
              <a:t>中断</a:t>
            </a:r>
            <a:r>
              <a:rPr lang="zh-CN" altLang="en-US" sz="2800" b="1" dirty="0"/>
              <a:t>的</a:t>
            </a:r>
            <a:r>
              <a:rPr lang="zh-CN" altLang="zh-CN" sz="2800" b="1" dirty="0"/>
              <a:t>嵌套</a:t>
            </a:r>
            <a:r>
              <a:rPr lang="zh-CN" altLang="en-US" sz="2800" b="1" dirty="0"/>
              <a:t>、</a:t>
            </a:r>
            <a:r>
              <a:rPr lang="zh-CN" altLang="zh-CN" sz="2800" b="1" dirty="0"/>
              <a:t>尾</a:t>
            </a:r>
            <a:r>
              <a:rPr lang="zh-CN" altLang="en-US" sz="2800" b="1" dirty="0"/>
              <a:t>链、</a:t>
            </a:r>
            <a:r>
              <a:rPr lang="zh-CN" altLang="zh-CN" sz="2800" b="1" dirty="0"/>
              <a:t>晚到</a:t>
            </a:r>
            <a:r>
              <a:rPr lang="zh-CN" altLang="en-US" sz="2800" b="1" dirty="0"/>
              <a:t>与</a:t>
            </a:r>
            <a:r>
              <a:rPr lang="zh-CN" altLang="zh-CN" sz="2800" b="1" dirty="0"/>
              <a:t>延迟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 bwMode="auto">
          <a:xfrm>
            <a:off x="1343875" y="1709343"/>
            <a:ext cx="848677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u"/>
              <a:defRPr/>
            </a:pPr>
            <a:r>
              <a:rPr lang="zh-CN" altLang="en-US" sz="2800" kern="0" dirty="0">
                <a:solidFill>
                  <a:srgbClr val="FF0000"/>
                </a:solidFill>
              </a:rPr>
              <a:t>中断嵌套</a:t>
            </a:r>
          </a:p>
          <a:p>
            <a:pPr eaLnBrk="1" hangingPunct="1">
              <a:defRPr/>
            </a:pPr>
            <a:endParaRPr lang="zh-CN" altLang="en-US" sz="2800" kern="0" dirty="0">
              <a:solidFill>
                <a:srgbClr val="FF0000"/>
              </a:solidFill>
            </a:endParaRPr>
          </a:p>
        </p:txBody>
      </p:sp>
      <p:sp>
        <p:nvSpPr>
          <p:cNvPr id="9" name="矩形 10"/>
          <p:cNvSpPr>
            <a:spLocks noChangeArrowheads="1"/>
          </p:cNvSpPr>
          <p:nvPr/>
        </p:nvSpPr>
        <p:spPr bwMode="auto">
          <a:xfrm>
            <a:off x="1694336" y="2306308"/>
            <a:ext cx="86674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在</a:t>
            </a:r>
            <a:r>
              <a:rPr lang="en-US" altLang="zh-CN" sz="2400" b="0" dirty="0">
                <a:latin typeface="+mn-ea"/>
                <a:ea typeface="+mn-ea"/>
              </a:rPr>
              <a:t>Cortex-M3</a:t>
            </a:r>
            <a:r>
              <a:rPr lang="zh-CN" altLang="en-US" sz="2400" b="0" dirty="0">
                <a:latin typeface="+mn-ea"/>
                <a:ea typeface="+mn-ea"/>
              </a:rPr>
              <a:t>内核以及</a:t>
            </a:r>
            <a:r>
              <a:rPr lang="en-US" altLang="zh-CN" sz="2400" b="0" dirty="0">
                <a:latin typeface="+mn-ea"/>
                <a:ea typeface="+mn-ea"/>
              </a:rPr>
              <a:t>NVIC</a:t>
            </a:r>
            <a:r>
              <a:rPr lang="zh-CN" altLang="en-US" sz="2400" b="0" dirty="0">
                <a:latin typeface="+mn-ea"/>
                <a:ea typeface="+mn-ea"/>
              </a:rPr>
              <a:t>，已经内建了对中断嵌套的支持</a:t>
            </a:r>
            <a:r>
              <a:rPr lang="zh-CN" altLang="en-US" sz="2400" dirty="0">
                <a:latin typeface="+mn-ea"/>
                <a:ea typeface="+mn-ea"/>
              </a:rPr>
              <a:t>：</a:t>
            </a:r>
          </a:p>
        </p:txBody>
      </p:sp>
      <p:sp>
        <p:nvSpPr>
          <p:cNvPr id="10" name="矩形 11"/>
          <p:cNvSpPr>
            <a:spLocks noChangeArrowheads="1"/>
          </p:cNvSpPr>
          <p:nvPr/>
        </p:nvSpPr>
        <p:spPr bwMode="auto">
          <a:xfrm>
            <a:off x="1694336" y="2952020"/>
            <a:ext cx="7934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0" dirty="0">
                <a:latin typeface="+mn-ea"/>
                <a:ea typeface="+mn-ea"/>
              </a:rPr>
              <a:t> </a:t>
            </a:r>
            <a:r>
              <a:rPr lang="en-US" altLang="zh-CN" sz="2400" b="0" dirty="0">
                <a:latin typeface="+mn-ea"/>
                <a:ea typeface="+mn-ea"/>
              </a:rPr>
              <a:t>NVIC</a:t>
            </a:r>
            <a:r>
              <a:rPr lang="zh-CN" altLang="en-US" sz="2400" b="0" dirty="0">
                <a:latin typeface="+mn-ea"/>
                <a:ea typeface="+mn-ea"/>
              </a:rPr>
              <a:t>会排出优先级解码的顺序；</a:t>
            </a:r>
          </a:p>
        </p:txBody>
      </p:sp>
      <p:sp>
        <p:nvSpPr>
          <p:cNvPr id="2" name="矩形 1"/>
          <p:cNvSpPr/>
          <p:nvPr/>
        </p:nvSpPr>
        <p:spPr>
          <a:xfrm>
            <a:off x="1734263" y="3575810"/>
            <a:ext cx="7934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自动的硬件入栈和出栈。</a:t>
            </a:r>
          </a:p>
        </p:txBody>
      </p:sp>
      <p:sp>
        <p:nvSpPr>
          <p:cNvPr id="3" name="矩形 2"/>
          <p:cNvSpPr/>
          <p:nvPr/>
        </p:nvSpPr>
        <p:spPr>
          <a:xfrm>
            <a:off x="1518442" y="4383647"/>
            <a:ext cx="92382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注意：</a:t>
            </a:r>
            <a:r>
              <a:rPr lang="zh-CN" altLang="en-US" sz="2400" dirty="0"/>
              <a:t>使用中断嵌套时，必须仔细</a:t>
            </a:r>
            <a:r>
              <a:rPr lang="zh-CN" altLang="zh-CN" sz="2400" dirty="0"/>
              <a:t>计算主堆栈容量</a:t>
            </a:r>
            <a:r>
              <a:rPr lang="zh-CN" altLang="en-US" sz="2400" dirty="0"/>
              <a:t>，避免堆栈溢出。</a:t>
            </a:r>
          </a:p>
        </p:txBody>
      </p:sp>
    </p:spTree>
    <p:extLst>
      <p:ext uri="{BB962C8B-B14F-4D97-AF65-F5344CB8AC3E}">
        <p14:creationId xmlns:p14="http://schemas.microsoft.com/office/powerpoint/2010/main" val="607845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2" grpId="0"/>
      <p:bldP spid="3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1308046" y="1383138"/>
            <a:ext cx="8486775" cy="66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u"/>
              <a:defRPr/>
            </a:pPr>
            <a:r>
              <a:rPr lang="zh-CN" altLang="en-US" sz="2800" kern="0" dirty="0">
                <a:solidFill>
                  <a:srgbClr val="FF0000"/>
                </a:solidFill>
              </a:rPr>
              <a:t>尾链中断</a:t>
            </a:r>
          </a:p>
          <a:p>
            <a:pPr eaLnBrk="1" hangingPunct="1">
              <a:defRPr/>
            </a:pPr>
            <a:endParaRPr lang="zh-CN" altLang="en-US" sz="2800" kern="0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zh-CN" altLang="en-US" sz="2800" kern="0" dirty="0">
              <a:solidFill>
                <a:srgbClr val="FF0000"/>
              </a:solidFill>
            </a:endParaRPr>
          </a:p>
        </p:txBody>
      </p:sp>
      <p:sp>
        <p:nvSpPr>
          <p:cNvPr id="7" name="矩形 10"/>
          <p:cNvSpPr>
            <a:spLocks noChangeArrowheads="1"/>
          </p:cNvSpPr>
          <p:nvPr/>
        </p:nvSpPr>
        <p:spPr bwMode="auto">
          <a:xfrm>
            <a:off x="1308045" y="3593222"/>
            <a:ext cx="945693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+mn-ea"/>
                <a:ea typeface="+mn-ea"/>
              </a:rPr>
              <a:t>       Cortex-M3</a:t>
            </a:r>
            <a:r>
              <a:rPr lang="zh-CN" altLang="en-US" sz="2400" b="0" dirty="0">
                <a:latin typeface="+mn-ea"/>
                <a:ea typeface="+mn-ea"/>
              </a:rPr>
              <a:t>利用</a:t>
            </a:r>
            <a:r>
              <a:rPr lang="zh-CN" altLang="en-US" sz="2400" dirty="0">
                <a:latin typeface="+mn-ea"/>
                <a:ea typeface="+mn-ea"/>
              </a:rPr>
              <a:t>“尾链中断”</a:t>
            </a:r>
            <a:r>
              <a:rPr lang="zh-CN" altLang="en-US" sz="2400" b="0" dirty="0">
                <a:latin typeface="+mn-ea"/>
                <a:ea typeface="+mn-ea"/>
              </a:rPr>
              <a:t>缩短了挂起中断的延迟时间，提高中断响应速度。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8" name="矩形 12"/>
          <p:cNvSpPr>
            <a:spLocks noChangeArrowheads="1"/>
          </p:cNvSpPr>
          <p:nvPr/>
        </p:nvSpPr>
        <p:spPr bwMode="auto">
          <a:xfrm>
            <a:off x="1308045" y="2080221"/>
            <a:ext cx="936682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0" dirty="0">
                <a:latin typeface="+mn-ea"/>
                <a:ea typeface="+mn-ea"/>
              </a:rPr>
              <a:t>       当上一个异常处理返回，</a:t>
            </a:r>
            <a:r>
              <a:rPr lang="en-US" altLang="zh-CN" sz="2400" dirty="0">
                <a:latin typeface="+mn-ea"/>
              </a:rPr>
              <a:t> Cortex-M3</a:t>
            </a:r>
            <a:r>
              <a:rPr lang="zh-CN" altLang="en-US" sz="2400" dirty="0">
                <a:latin typeface="+mn-ea"/>
                <a:ea typeface="+mn-ea"/>
              </a:rPr>
              <a:t>响应</a:t>
            </a:r>
            <a:r>
              <a:rPr lang="zh-CN" altLang="en-US" sz="2400" b="0" dirty="0">
                <a:latin typeface="+mn-ea"/>
                <a:ea typeface="+mn-ea"/>
              </a:rPr>
              <a:t>挂起的异常时，为了避免浪费</a:t>
            </a:r>
            <a:r>
              <a:rPr lang="en-US" altLang="zh-CN" sz="2400" b="0" dirty="0">
                <a:latin typeface="+mn-ea"/>
                <a:ea typeface="+mn-ea"/>
              </a:rPr>
              <a:t>CPU</a:t>
            </a:r>
            <a:r>
              <a:rPr lang="zh-CN" altLang="en-US" sz="2400" b="0" dirty="0">
                <a:latin typeface="+mn-ea"/>
                <a:ea typeface="+mn-ea"/>
              </a:rPr>
              <a:t>时间，继续使用上一个异常已经入栈好的寄存器数据。两个异常只执行了一次入栈／出栈操作。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CM3</a:t>
            </a:r>
            <a:r>
              <a:rPr lang="zh-CN" altLang="zh-CN" sz="2800" b="1" dirty="0"/>
              <a:t>中断</a:t>
            </a:r>
            <a:r>
              <a:rPr lang="zh-CN" altLang="en-US" sz="2800" b="1" dirty="0"/>
              <a:t>的</a:t>
            </a:r>
            <a:r>
              <a:rPr lang="zh-CN" altLang="zh-CN" sz="2800" b="1" dirty="0"/>
              <a:t>嵌套</a:t>
            </a:r>
            <a:r>
              <a:rPr lang="zh-CN" altLang="en-US" sz="2800" b="1" dirty="0"/>
              <a:t>、</a:t>
            </a:r>
            <a:r>
              <a:rPr lang="zh-CN" altLang="zh-CN" sz="2800" b="1" dirty="0"/>
              <a:t>尾</a:t>
            </a:r>
            <a:r>
              <a:rPr lang="zh-CN" altLang="en-US" sz="2800" b="1" dirty="0"/>
              <a:t>链、</a:t>
            </a:r>
            <a:r>
              <a:rPr lang="zh-CN" altLang="zh-CN" sz="2800" b="1" dirty="0"/>
              <a:t>晚到</a:t>
            </a:r>
            <a:r>
              <a:rPr lang="zh-CN" altLang="en-US" sz="2800" b="1" dirty="0"/>
              <a:t>与</a:t>
            </a:r>
            <a:r>
              <a:rPr lang="zh-CN" altLang="zh-CN" sz="2800" b="1" dirty="0"/>
              <a:t>延迟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145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CM3</a:t>
            </a:r>
            <a:r>
              <a:rPr lang="zh-CN" altLang="zh-CN" sz="2800" b="1" dirty="0"/>
              <a:t>中断</a:t>
            </a:r>
            <a:r>
              <a:rPr lang="zh-CN" altLang="en-US" sz="2800" b="1" dirty="0"/>
              <a:t>的</a:t>
            </a:r>
            <a:r>
              <a:rPr lang="zh-CN" altLang="zh-CN" sz="2800" b="1" dirty="0"/>
              <a:t>嵌套</a:t>
            </a:r>
            <a:r>
              <a:rPr lang="zh-CN" altLang="en-US" sz="2800" b="1" dirty="0"/>
              <a:t>、</a:t>
            </a:r>
            <a:r>
              <a:rPr lang="zh-CN" altLang="zh-CN" sz="2800" b="1" dirty="0"/>
              <a:t>尾</a:t>
            </a:r>
            <a:r>
              <a:rPr lang="zh-CN" altLang="en-US" sz="2800" b="1" dirty="0"/>
              <a:t>链、</a:t>
            </a:r>
            <a:r>
              <a:rPr lang="zh-CN" altLang="zh-CN" sz="2800" b="1" dirty="0"/>
              <a:t>晚到</a:t>
            </a:r>
            <a:r>
              <a:rPr lang="zh-CN" altLang="en-US" sz="2800" b="1" dirty="0"/>
              <a:t>与</a:t>
            </a:r>
            <a:r>
              <a:rPr lang="zh-CN" altLang="zh-CN" sz="2800" b="1" dirty="0"/>
              <a:t>延迟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04572" y="1421648"/>
            <a:ext cx="3762192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咬尾机制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则是指某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ISR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正在执行过程中产生了新的不高于当前中断优先级的中断事件，一直等到当前中断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ISR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执行完毕，在退栈之前立即响应处于等待执行的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ISR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，此时该中断也无须再做压栈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764" y="978201"/>
            <a:ext cx="6405117" cy="3664370"/>
          </a:xfrm>
          <a:prstGeom prst="rect">
            <a:avLst/>
          </a:prstGeom>
        </p:spPr>
      </p:pic>
      <p:pic>
        <p:nvPicPr>
          <p:cNvPr id="70" name="图片 69" descr="https://ask.qcloudimg.com/http-save/yehe-7596074/c3d40065734b481fbcf9b61380d53139.jpe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372" y="4006127"/>
            <a:ext cx="6805978" cy="26149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599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1146364" y="1259585"/>
            <a:ext cx="8486775" cy="533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u"/>
              <a:defRPr/>
            </a:pPr>
            <a:r>
              <a:rPr lang="zh-CN" altLang="en-US" sz="2800" kern="0" dirty="0">
                <a:solidFill>
                  <a:srgbClr val="FF0000"/>
                </a:solidFill>
              </a:rPr>
              <a:t>晚到的异常处理</a:t>
            </a:r>
          </a:p>
          <a:p>
            <a:pPr eaLnBrk="1" hangingPunct="1">
              <a:defRPr/>
            </a:pPr>
            <a:endParaRPr lang="zh-CN" altLang="en-US" sz="2800" kern="0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zh-CN" altLang="en-US" sz="2800" kern="0" dirty="0">
              <a:solidFill>
                <a:srgbClr val="FF0000"/>
              </a:solidFill>
            </a:endParaRPr>
          </a:p>
        </p:txBody>
      </p:sp>
      <p:sp>
        <p:nvSpPr>
          <p:cNvPr id="6" name="矩形 10"/>
          <p:cNvSpPr>
            <a:spLocks noChangeArrowheads="1"/>
          </p:cNvSpPr>
          <p:nvPr/>
        </p:nvSpPr>
        <p:spPr bwMode="auto">
          <a:xfrm>
            <a:off x="1146364" y="1915081"/>
            <a:ext cx="1010164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       </a:t>
            </a:r>
            <a:r>
              <a:rPr lang="zh-CN" altLang="en-US" sz="2400" dirty="0">
                <a:latin typeface="+mn-ea"/>
                <a:ea typeface="+mn-ea"/>
              </a:rPr>
              <a:t>当异常产生时，处理器会接受异常请求并开始入栈操作。若在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入栈操作期间</a:t>
            </a:r>
            <a:r>
              <a:rPr lang="zh-CN" altLang="en-US" sz="2400" dirty="0">
                <a:latin typeface="+mn-ea"/>
                <a:ea typeface="+mn-ea"/>
              </a:rPr>
              <a:t>产生了另外一个更高优先级的异常，则后到的高优先级异常会首先得到服务。</a:t>
            </a:r>
          </a:p>
        </p:txBody>
      </p:sp>
      <p:sp>
        <p:nvSpPr>
          <p:cNvPr id="7" name="矩形 10"/>
          <p:cNvSpPr>
            <a:spLocks noChangeArrowheads="1"/>
          </p:cNvSpPr>
          <p:nvPr/>
        </p:nvSpPr>
        <p:spPr bwMode="auto">
          <a:xfrm>
            <a:off x="1146364" y="3237737"/>
            <a:ext cx="1010164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+mn-ea"/>
                <a:ea typeface="+mn-ea"/>
              </a:rPr>
              <a:t>       CM3</a:t>
            </a:r>
            <a:r>
              <a:rPr lang="zh-CN" altLang="en-US" sz="2400" b="0" dirty="0">
                <a:latin typeface="+mn-ea"/>
                <a:ea typeface="+mn-ea"/>
              </a:rPr>
              <a:t>利用</a:t>
            </a:r>
            <a:r>
              <a:rPr lang="zh-CN" altLang="en-US" sz="2400" dirty="0">
                <a:latin typeface="+mn-ea"/>
                <a:ea typeface="+mn-ea"/>
              </a:rPr>
              <a:t>“晚到异常处理”</a:t>
            </a:r>
            <a:r>
              <a:rPr lang="zh-CN" altLang="en-US" sz="2400" b="0" dirty="0">
                <a:latin typeface="+mn-ea"/>
                <a:ea typeface="+mn-ea"/>
              </a:rPr>
              <a:t>缩短了高优先级</a:t>
            </a:r>
            <a:r>
              <a:rPr lang="zh-CN" altLang="en-US" sz="2400" b="0" dirty="0">
                <a:solidFill>
                  <a:srgbClr val="C00000"/>
                </a:solidFill>
                <a:latin typeface="+mn-ea"/>
                <a:ea typeface="+mn-ea"/>
              </a:rPr>
              <a:t>中断延迟时间，提高了高优先级中断响应速度，节省了堆栈空间</a:t>
            </a:r>
            <a:r>
              <a:rPr lang="zh-CN" altLang="en-US" sz="2400" b="0" dirty="0">
                <a:latin typeface="+mn-ea"/>
                <a:ea typeface="+mn-ea"/>
              </a:rPr>
              <a:t>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CM3</a:t>
            </a:r>
            <a:r>
              <a:rPr lang="zh-CN" altLang="zh-CN" sz="2800" b="1" dirty="0"/>
              <a:t>中断</a:t>
            </a:r>
            <a:r>
              <a:rPr lang="zh-CN" altLang="en-US" sz="2800" b="1" dirty="0"/>
              <a:t>的</a:t>
            </a:r>
            <a:r>
              <a:rPr lang="zh-CN" altLang="zh-CN" sz="2800" b="1" dirty="0"/>
              <a:t>嵌套</a:t>
            </a:r>
            <a:r>
              <a:rPr lang="zh-CN" altLang="en-US" sz="2800" b="1" dirty="0"/>
              <a:t>、</a:t>
            </a:r>
            <a:r>
              <a:rPr lang="zh-CN" altLang="zh-CN" sz="2800" b="1" dirty="0"/>
              <a:t>尾</a:t>
            </a:r>
            <a:r>
              <a:rPr lang="zh-CN" altLang="en-US" sz="2800" b="1" dirty="0"/>
              <a:t>链、</a:t>
            </a:r>
            <a:r>
              <a:rPr lang="zh-CN" altLang="zh-CN" sz="2800" b="1" dirty="0"/>
              <a:t>晚到</a:t>
            </a:r>
            <a:r>
              <a:rPr lang="zh-CN" altLang="en-US" sz="2800" b="1" dirty="0"/>
              <a:t>与</a:t>
            </a:r>
            <a:r>
              <a:rPr lang="zh-CN" altLang="zh-CN" sz="2800" b="1" dirty="0"/>
              <a:t>延迟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00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CM3</a:t>
            </a:r>
            <a:r>
              <a:rPr lang="zh-CN" altLang="zh-CN" sz="2800" b="1" dirty="0"/>
              <a:t>中断</a:t>
            </a:r>
            <a:r>
              <a:rPr lang="zh-CN" altLang="en-US" sz="2800" b="1" dirty="0"/>
              <a:t>的</a:t>
            </a:r>
            <a:r>
              <a:rPr lang="zh-CN" altLang="zh-CN" sz="2800" b="1" dirty="0"/>
              <a:t>嵌套</a:t>
            </a:r>
            <a:r>
              <a:rPr lang="zh-CN" altLang="en-US" sz="2800" b="1" dirty="0"/>
              <a:t>、</a:t>
            </a:r>
            <a:r>
              <a:rPr lang="zh-CN" altLang="zh-CN" sz="2800" b="1" dirty="0"/>
              <a:t>尾</a:t>
            </a:r>
            <a:r>
              <a:rPr lang="zh-CN" altLang="en-US" sz="2800" b="1" dirty="0"/>
              <a:t>链、</a:t>
            </a:r>
            <a:r>
              <a:rPr lang="zh-CN" altLang="zh-CN" sz="2800" b="1" dirty="0"/>
              <a:t>晚到</a:t>
            </a:r>
            <a:r>
              <a:rPr lang="zh-CN" altLang="en-US" sz="2800" b="1" dirty="0"/>
              <a:t>与</a:t>
            </a:r>
            <a:r>
              <a:rPr lang="zh-CN" altLang="zh-CN" sz="2800" b="1" dirty="0"/>
              <a:t>延迟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64704" y="1322404"/>
            <a:ext cx="4403035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晚到机制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，就是中断响应还在压栈阶段但没有正式进入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ISR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时又来了更高优先级的中断请求，等压栈操作完成后，则立刻执行高优先级的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ISR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，此时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高优先级中断省去压栈操作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，它执行完后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再以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咬尾方式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刚才申请压栈的低优先级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ISR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" name="图片 39" descr="https://ask.qcloudimg.com/http-save/yehe-7596074/fb5e68c9b1e0037958ab4fdd4fde85cc.jpe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570" y="3836989"/>
            <a:ext cx="6390861" cy="2812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695" y="1156946"/>
            <a:ext cx="5008028" cy="276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632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1081130" y="992958"/>
            <a:ext cx="8486775" cy="56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u"/>
              <a:defRPr/>
            </a:pPr>
            <a:r>
              <a:rPr lang="zh-CN" altLang="en-US" sz="2800" kern="0" dirty="0">
                <a:solidFill>
                  <a:srgbClr val="FF0000"/>
                </a:solidFill>
              </a:rPr>
              <a:t>中断延迟</a:t>
            </a:r>
          </a:p>
          <a:p>
            <a:pPr eaLnBrk="1" hangingPunct="1">
              <a:defRPr/>
            </a:pPr>
            <a:endParaRPr lang="zh-CN" altLang="en-US" sz="2800" kern="0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zh-CN" altLang="en-US" sz="2800" kern="0" dirty="0">
              <a:solidFill>
                <a:srgbClr val="FF0000"/>
              </a:solidFill>
            </a:endParaRPr>
          </a:p>
        </p:txBody>
      </p:sp>
      <p:sp>
        <p:nvSpPr>
          <p:cNvPr id="8" name="矩形 10"/>
          <p:cNvSpPr>
            <a:spLocks noChangeArrowheads="1"/>
          </p:cNvSpPr>
          <p:nvPr/>
        </p:nvSpPr>
        <p:spPr bwMode="auto">
          <a:xfrm>
            <a:off x="1081130" y="1675506"/>
            <a:ext cx="970440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       </a:t>
            </a:r>
            <a:r>
              <a:rPr lang="zh-CN" altLang="zh-CN" sz="2400" dirty="0">
                <a:latin typeface="+mn-ea"/>
                <a:ea typeface="+mn-ea"/>
              </a:rPr>
              <a:t>从检测到某中断请求，到执行了其服务例程的第一条指令时，所经过的时间</a:t>
            </a:r>
            <a:r>
              <a:rPr lang="zh-CN" altLang="en-US" sz="2400" b="0" dirty="0">
                <a:latin typeface="+mn-ea"/>
                <a:ea typeface="+mn-ea"/>
              </a:rPr>
              <a:t>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1" name="矩形 12"/>
          <p:cNvSpPr>
            <a:spLocks noChangeArrowheads="1"/>
          </p:cNvSpPr>
          <p:nvPr/>
        </p:nvSpPr>
        <p:spPr bwMode="auto">
          <a:xfrm>
            <a:off x="1162508" y="3552181"/>
            <a:ext cx="10157169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      处理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尾链中断</a:t>
            </a:r>
            <a:r>
              <a:rPr lang="zh-CN" altLang="en-US" sz="2400" b="0" dirty="0">
                <a:latin typeface="+mn-ea"/>
                <a:ea typeface="+mn-ea"/>
              </a:rPr>
              <a:t>时，省去了堆栈操作，因此切入新异常服务例程的延迟可以缩短</a:t>
            </a:r>
            <a:r>
              <a:rPr lang="zh-CN" altLang="en-US" sz="2400" dirty="0">
                <a:latin typeface="+mn-ea"/>
                <a:ea typeface="+mn-ea"/>
              </a:rPr>
              <a:t>至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6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周期</a:t>
            </a:r>
            <a:r>
              <a:rPr lang="zh-CN" altLang="en-US" sz="2400" b="0" dirty="0">
                <a:latin typeface="+mn-ea"/>
                <a:ea typeface="+mn-ea"/>
              </a:rPr>
              <a:t>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1130" y="2600385"/>
            <a:ext cx="98553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latin typeface="+mn-ea"/>
              </a:rPr>
              <a:t>       在</a:t>
            </a:r>
            <a:r>
              <a:rPr lang="en-US" altLang="zh-CN" sz="2400" dirty="0">
                <a:latin typeface="+mn-ea"/>
              </a:rPr>
              <a:t>CM3</a:t>
            </a:r>
            <a:r>
              <a:rPr lang="zh-CN" altLang="en-US" sz="2400" dirty="0">
                <a:latin typeface="+mn-ea"/>
              </a:rPr>
              <a:t>中，若存储器系统够快，且总线系统允许入栈与取指同时进行，同时该中断可以立即响应，则中断延迟是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固定的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12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周期</a:t>
            </a:r>
            <a:r>
              <a:rPr lang="zh-CN" altLang="en-US" sz="2400" dirty="0">
                <a:latin typeface="+mn-ea"/>
              </a:rPr>
              <a:t>。</a:t>
            </a:r>
          </a:p>
        </p:txBody>
      </p:sp>
      <p:sp>
        <p:nvSpPr>
          <p:cNvPr id="9" name="矩形 8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CM3</a:t>
            </a:r>
            <a:r>
              <a:rPr lang="zh-CN" altLang="zh-CN" sz="2800" b="1" dirty="0"/>
              <a:t>中断</a:t>
            </a:r>
            <a:r>
              <a:rPr lang="zh-CN" altLang="en-US" sz="2800" b="1" dirty="0"/>
              <a:t>的</a:t>
            </a:r>
            <a:r>
              <a:rPr lang="zh-CN" altLang="zh-CN" sz="2800" b="1" dirty="0"/>
              <a:t>嵌套</a:t>
            </a:r>
            <a:r>
              <a:rPr lang="zh-CN" altLang="en-US" sz="2800" b="1" dirty="0"/>
              <a:t>、</a:t>
            </a:r>
            <a:r>
              <a:rPr lang="zh-CN" altLang="zh-CN" sz="2800" b="1" dirty="0"/>
              <a:t>尾</a:t>
            </a:r>
            <a:r>
              <a:rPr lang="zh-CN" altLang="en-US" sz="2800" b="1" dirty="0"/>
              <a:t>链、</a:t>
            </a:r>
            <a:r>
              <a:rPr lang="zh-CN" altLang="zh-CN" sz="2800" b="1" dirty="0"/>
              <a:t>晚到</a:t>
            </a:r>
            <a:r>
              <a:rPr lang="zh-CN" altLang="en-US" sz="2800" b="1" dirty="0"/>
              <a:t>与</a:t>
            </a:r>
            <a:r>
              <a:rPr lang="zh-CN" altLang="zh-CN" sz="2800" b="1" dirty="0"/>
              <a:t>延迟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2" name="图片 11" descr="https://ask.qcloudimg.com/http-save/yehe-7596074/82b5b9a200586b166ba08779870edb13.jpe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4394600"/>
            <a:ext cx="7772400" cy="22325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583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3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3"/>
          <p:cNvSpPr>
            <a:spLocks noChangeArrowheads="1"/>
          </p:cNvSpPr>
          <p:nvPr/>
        </p:nvSpPr>
        <p:spPr bwMode="auto">
          <a:xfrm>
            <a:off x="1350328" y="1883063"/>
            <a:ext cx="958012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为了不影响中断延迟，对于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需要较多的周期</a:t>
            </a:r>
            <a:r>
              <a:rPr lang="zh-CN" altLang="en-US" sz="2400" dirty="0">
                <a:latin typeface="+mn-ea"/>
                <a:ea typeface="+mn-ea"/>
              </a:rPr>
              <a:t>才能完成的</a:t>
            </a:r>
            <a:r>
              <a:rPr lang="zh-CN" altLang="en-US" sz="2400" b="0" dirty="0">
                <a:latin typeface="+mn-ea"/>
                <a:ea typeface="+mn-ea"/>
              </a:rPr>
              <a:t>指令，</a:t>
            </a:r>
            <a:r>
              <a:rPr lang="en-US" altLang="zh-CN" sz="2400" b="0" dirty="0">
                <a:latin typeface="+mn-ea"/>
                <a:ea typeface="+mn-ea"/>
              </a:rPr>
              <a:t>CM3</a:t>
            </a:r>
            <a:r>
              <a:rPr lang="zh-CN" altLang="en-US" sz="2400" b="0" dirty="0">
                <a:latin typeface="+mn-ea"/>
                <a:ea typeface="+mn-ea"/>
              </a:rPr>
              <a:t>采用了以下两种处理方法：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39608" y="3054082"/>
            <a:ext cx="100062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zh-CN" sz="2400" dirty="0">
                <a:latin typeface="+mn-ea"/>
              </a:rPr>
              <a:t>对于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除法指令和双字传送指令</a:t>
            </a:r>
            <a:r>
              <a:rPr lang="zh-CN" altLang="en-US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 LDRD/STRD </a:t>
            </a:r>
            <a:r>
              <a:rPr lang="zh-CN" altLang="en-US" sz="2400" dirty="0">
                <a:latin typeface="+mn-ea"/>
              </a:rPr>
              <a:t>）</a:t>
            </a:r>
            <a:r>
              <a:rPr lang="zh-CN" altLang="zh-CN" sz="2400" dirty="0">
                <a:latin typeface="+mn-ea"/>
              </a:rPr>
              <a:t>，</a:t>
            </a:r>
            <a:r>
              <a:rPr lang="en-US" altLang="zh-CN" sz="2400" dirty="0">
                <a:latin typeface="+mn-ea"/>
              </a:rPr>
              <a:t>CM3</a:t>
            </a:r>
            <a:r>
              <a:rPr lang="zh-CN" altLang="zh-CN" sz="2400" dirty="0">
                <a:latin typeface="+mn-ea"/>
              </a:rPr>
              <a:t>将为了保证中断及时响应而</a:t>
            </a:r>
            <a:r>
              <a:rPr lang="zh-CN" altLang="zh-CN" sz="2400" dirty="0">
                <a:solidFill>
                  <a:srgbClr val="FF0000"/>
                </a:solidFill>
                <a:latin typeface="+mn-ea"/>
              </a:rPr>
              <a:t>取消它们的执行</a:t>
            </a:r>
            <a:r>
              <a:rPr lang="zh-CN" altLang="zh-CN" sz="2400" dirty="0">
                <a:latin typeface="+mn-ea"/>
              </a:rPr>
              <a:t>，待返回后重新开始；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39608" y="4225101"/>
            <a:ext cx="102725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zh-CN" sz="2400" dirty="0">
                <a:latin typeface="+mn-ea"/>
              </a:rPr>
              <a:t>对于</a:t>
            </a:r>
            <a:r>
              <a:rPr lang="zh-CN" altLang="en-US" sz="2400" dirty="0">
                <a:latin typeface="+mn-ea"/>
              </a:rPr>
              <a:t>多寄存器传送指令</a:t>
            </a:r>
            <a:r>
              <a:rPr lang="zh-CN" altLang="zh-CN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LDM/STM</a:t>
            </a:r>
            <a:r>
              <a:rPr lang="zh-CN" altLang="zh-CN" sz="2400" dirty="0">
                <a:latin typeface="+mn-ea"/>
              </a:rPr>
              <a:t>） ，为了加速中断的响应，</a:t>
            </a:r>
            <a:r>
              <a:rPr lang="en-US" altLang="zh-CN" sz="2400" dirty="0">
                <a:latin typeface="+mn-ea"/>
              </a:rPr>
              <a:t>CM3</a:t>
            </a:r>
            <a:r>
              <a:rPr lang="zh-CN" altLang="zh-CN" sz="2400" dirty="0">
                <a:latin typeface="+mn-ea"/>
              </a:rPr>
              <a:t>支持</a:t>
            </a:r>
            <a:r>
              <a:rPr lang="zh-CN" altLang="zh-CN" sz="2400" dirty="0">
                <a:solidFill>
                  <a:srgbClr val="FF0000"/>
                </a:solidFill>
                <a:latin typeface="+mn-ea"/>
              </a:rPr>
              <a:t>指令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执行</a:t>
            </a:r>
            <a:r>
              <a:rPr lang="zh-CN" altLang="zh-CN" sz="2400" dirty="0">
                <a:solidFill>
                  <a:srgbClr val="FF0000"/>
                </a:solidFill>
                <a:latin typeface="+mn-ea"/>
              </a:rPr>
              <a:t>的中止和继续</a:t>
            </a:r>
            <a:r>
              <a:rPr lang="zh-CN" altLang="zh-CN" sz="2400" dirty="0">
                <a:latin typeface="+mn-ea"/>
              </a:rPr>
              <a:t>。</a:t>
            </a:r>
            <a:endParaRPr lang="zh-CN" altLang="en-US" sz="2400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zh-CN" sz="2800" b="1" dirty="0"/>
              <a:t>       CM3</a:t>
            </a:r>
            <a:r>
              <a:rPr lang="zh-CN" altLang="zh-CN" sz="2800" b="1" dirty="0"/>
              <a:t>中断</a:t>
            </a:r>
            <a:r>
              <a:rPr lang="zh-CN" altLang="en-US" sz="2800" b="1" dirty="0"/>
              <a:t>的</a:t>
            </a:r>
            <a:r>
              <a:rPr lang="zh-CN" altLang="zh-CN" sz="2800" b="1" dirty="0"/>
              <a:t>嵌套</a:t>
            </a:r>
            <a:r>
              <a:rPr lang="zh-CN" altLang="en-US" sz="2800" b="1" dirty="0"/>
              <a:t>、</a:t>
            </a:r>
            <a:r>
              <a:rPr lang="zh-CN" altLang="zh-CN" sz="2800" b="1" dirty="0"/>
              <a:t>尾</a:t>
            </a:r>
            <a:r>
              <a:rPr lang="zh-CN" altLang="en-US" sz="2800" b="1" dirty="0"/>
              <a:t>链、</a:t>
            </a:r>
            <a:r>
              <a:rPr lang="zh-CN" altLang="zh-CN" sz="2800" b="1" dirty="0"/>
              <a:t>晚到</a:t>
            </a:r>
            <a:r>
              <a:rPr lang="zh-CN" altLang="en-US" sz="2800" b="1" dirty="0"/>
              <a:t>与</a:t>
            </a:r>
            <a:r>
              <a:rPr lang="zh-CN" altLang="zh-CN" sz="2800" b="1" dirty="0"/>
              <a:t>延迟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hdmi_130129"/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072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0" name="think-cell Slide" r:id="rId5" imgW="9525" imgH="9525" progId="TCLayout.ActiveDocument.1">
                  <p:embed/>
                </p:oleObj>
              </mc:Choice>
              <mc:Fallback>
                <p:oleObj name="think-cell Slide" r:id="rId5" imgW="9525" imgH="9525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cs typeface="+mn-ea"/>
              <a:sym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谢谢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6405683" y="4152703"/>
            <a:ext cx="5079462" cy="310871"/>
          </a:xfrm>
        </p:spPr>
        <p:txBody>
          <a:bodyPr>
            <a:normAutofit/>
          </a:bodyPr>
          <a:lstStyle/>
          <a:p>
            <a:r>
              <a:rPr lang="en-US" altLang="en-US" sz="1400" dirty="0">
                <a:cs typeface="+mn-ea"/>
                <a:sym typeface="+mn-lt"/>
              </a:rPr>
              <a:t>School of Electrical Engineering, Chongqing University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405685" y="3856432"/>
            <a:ext cx="5079462" cy="296271"/>
          </a:xfrm>
        </p:spPr>
        <p:txBody>
          <a:bodyPr/>
          <a:lstStyle/>
          <a:p>
            <a:r>
              <a:rPr lang="zh-CN" altLang="en-US" sz="1600" dirty="0">
                <a:cs typeface="+mn-ea"/>
                <a:sym typeface="+mn-lt"/>
              </a:rPr>
              <a:t>重庆大学电气工程学院</a:t>
            </a:r>
            <a:endParaRPr lang="en-US" altLang="zh-CN" sz="16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111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3d09a1d7-7c63-43a4-b3ee-df21fa2c8d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true,&quot;Score&quot;:1.0,&quot;answers&quot;:[&quot;主堆栈&quot;]},{&quot;num&quot;:2,&quot;caseSensitive&quot;:false,&quot;fuzzyMatch&quot;:true,&quot;Score&quot;:1.0,&quot;answers&quot;:[&quot;存放返回地址&quot;]}]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ORDER" val="false"/>
  <p:tag name="PROBLEMHASREMARK" val="False"/>
  <p:tag name="PROBLEMBLANKKEYWORD" val="填空"/>
  <p:tag name="PROBLEMSCORE" val="3.0"/>
  <p:tag name="PROBLEMBLANK" val="[{&quot;num&quot;:1,&quot;caseSensitive&quot;:false,&quot;fuzzyMatch&quot;:false,&quot;Score&quot;:1.0,&quot;answers&quot;:[&quot;0x20000408&quot;]},{&quot;num&quot;:2,&quot;caseSensitive&quot;:false,&quot;fuzzyMatch&quot;:false,&quot;Score&quot;:1.0,&quot;answers&quot;:[&quot;0x22222222&quot;]},{&quot;num&quot;:3,&quot;caseSensitive&quot;:false,&quot;fuzzyMatch&quot;:false,&quot;Score&quot;:1.0,&quot;answers&quot;:[&quot;0x11111111&quot;]}]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true,&quot;Score&quot;:1.0,&quot;answers&quot;:[&quot;0xA0000000~0xDFFFFFFF&quot;]},{&quot;num&quot;:2,&quot;caseSensitive&quot;:false,&quot;fuzzyMatch&quot;:true,&quot;Score&quot;:1.0,&quot;answers&quot;:[&quot;( 0x13,0x57,0x24,0x68&quot;]}]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true,&quot;Score&quot;:1.0,&quot;answers&quot;:[&quot;1&quot;]},{&quot;num&quot;:2,&quot;caseSensitive&quot;:false,&quot;fuzzyMatch&quot;:false,&quot;Score&quot;:1.0,&quot;answers&quot;:[&quot;0x12345778&quot;]}]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true,&quot;Score&quot;:1.0,&quot;answers&quot;:[&quot;1&quot;]},{&quot;num&quot;:2,&quot;caseSensitive&quot;:false,&quot;fuzzyMatch&quot;:false,&quot;Score&quot;:1.0,&quot;answers&quot;:[&quot;0x12345778&quot;]}]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4&quot;]}]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0x08000008&quot;]}]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0x20007ef4&quot;]}]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mkff3fSzGMOuItfjj3Fw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70C5A"/>
      </a:accent1>
      <a:accent2>
        <a:srgbClr val="4F5DCB"/>
      </a:accent2>
      <a:accent3>
        <a:srgbClr val="265989"/>
      </a:accent3>
      <a:accent4>
        <a:srgbClr val="41E7DF"/>
      </a:accent4>
      <a:accent5>
        <a:srgbClr val="757579"/>
      </a:accent5>
      <a:accent6>
        <a:srgbClr val="5C5E60"/>
      </a:accent6>
      <a:hlink>
        <a:srgbClr val="4276AA"/>
      </a:hlink>
      <a:folHlink>
        <a:srgbClr val="BFBFBF"/>
      </a:folHlink>
    </a:clrScheme>
    <a:fontScheme name="gs4a4zn3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876</TotalTime>
  <Words>10080</Words>
  <Application>Microsoft Office PowerPoint</Application>
  <PresentationFormat>宽屏</PresentationFormat>
  <Paragraphs>1330</Paragraphs>
  <Slides>142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142</vt:i4>
      </vt:variant>
    </vt:vector>
  </HeadingPairs>
  <TitlesOfParts>
    <vt:vector size="161" baseType="lpstr">
      <vt:lpstr>Calibri-Bold</vt:lpstr>
      <vt:lpstr>Microsoft Yahei</vt:lpstr>
      <vt:lpstr>open sans</vt:lpstr>
      <vt:lpstr>等线</vt:lpstr>
      <vt:lpstr>黑体</vt:lpstr>
      <vt:lpstr>华文新魏</vt:lpstr>
      <vt:lpstr>楷体_GB2312</vt:lpstr>
      <vt:lpstr>宋体</vt:lpstr>
      <vt:lpstr>Microsoft YaHei</vt:lpstr>
      <vt:lpstr>Microsoft YaHei</vt:lpstr>
      <vt:lpstr>Arial</vt:lpstr>
      <vt:lpstr>Calibri</vt:lpstr>
      <vt:lpstr>Consolas</vt:lpstr>
      <vt:lpstr>Courier New</vt:lpstr>
      <vt:lpstr>Times New Roman</vt:lpstr>
      <vt:lpstr>Wingdings</vt:lpstr>
      <vt:lpstr>主题5</vt:lpstr>
      <vt:lpstr>think-cell Slide</vt:lpstr>
      <vt:lpstr>Visio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单片机原理及其应用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MaoYX</cp:lastModifiedBy>
  <cp:revision>110</cp:revision>
  <cp:lastPrinted>2018-09-20T16:00:00Z</cp:lastPrinted>
  <dcterms:created xsi:type="dcterms:W3CDTF">2018-09-20T16:00:00Z</dcterms:created>
  <dcterms:modified xsi:type="dcterms:W3CDTF">2026-01-05T12:13:19Z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KSOProductBuildVer">
    <vt:lpwstr>1033-11.2.0.8942</vt:lpwstr>
  </property>
</Properties>
</file>