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tmp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3"/>
  </p:notesMasterIdLst>
  <p:sldIdLst>
    <p:sldId id="446" r:id="rId2"/>
    <p:sldId id="444" r:id="rId3"/>
    <p:sldId id="433" r:id="rId4"/>
    <p:sldId id="437" r:id="rId5"/>
    <p:sldId id="438" r:id="rId6"/>
    <p:sldId id="439" r:id="rId7"/>
    <p:sldId id="440" r:id="rId8"/>
    <p:sldId id="441" r:id="rId9"/>
    <p:sldId id="442" r:id="rId10"/>
    <p:sldId id="443" r:id="rId11"/>
    <p:sldId id="447" r:id="rId12"/>
    <p:sldId id="448" r:id="rId13"/>
    <p:sldId id="449" r:id="rId14"/>
    <p:sldId id="450" r:id="rId15"/>
    <p:sldId id="451" r:id="rId16"/>
    <p:sldId id="452" r:id="rId17"/>
    <p:sldId id="453" r:id="rId18"/>
    <p:sldId id="454" r:id="rId19"/>
    <p:sldId id="455" r:id="rId20"/>
    <p:sldId id="456" r:id="rId21"/>
    <p:sldId id="457" r:id="rId22"/>
    <p:sldId id="458" r:id="rId23"/>
    <p:sldId id="459" r:id="rId24"/>
    <p:sldId id="523" r:id="rId25"/>
    <p:sldId id="524" r:id="rId26"/>
    <p:sldId id="461" r:id="rId27"/>
    <p:sldId id="462" r:id="rId28"/>
    <p:sldId id="463" r:id="rId29"/>
    <p:sldId id="464" r:id="rId30"/>
    <p:sldId id="465" r:id="rId31"/>
    <p:sldId id="466" r:id="rId32"/>
    <p:sldId id="467" r:id="rId33"/>
    <p:sldId id="468" r:id="rId34"/>
    <p:sldId id="469" r:id="rId35"/>
    <p:sldId id="470" r:id="rId36"/>
    <p:sldId id="471" r:id="rId37"/>
    <p:sldId id="472" r:id="rId38"/>
    <p:sldId id="473" r:id="rId39"/>
    <p:sldId id="474" r:id="rId40"/>
    <p:sldId id="475" r:id="rId41"/>
    <p:sldId id="476" r:id="rId42"/>
    <p:sldId id="477" r:id="rId43"/>
    <p:sldId id="478" r:id="rId44"/>
    <p:sldId id="479" r:id="rId45"/>
    <p:sldId id="480" r:id="rId46"/>
    <p:sldId id="481" r:id="rId47"/>
    <p:sldId id="525" r:id="rId48"/>
    <p:sldId id="482" r:id="rId49"/>
    <p:sldId id="483" r:id="rId50"/>
    <p:sldId id="484" r:id="rId51"/>
    <p:sldId id="485" r:id="rId52"/>
    <p:sldId id="486" r:id="rId53"/>
    <p:sldId id="487" r:id="rId54"/>
    <p:sldId id="488" r:id="rId55"/>
    <p:sldId id="489" r:id="rId56"/>
    <p:sldId id="490" r:id="rId57"/>
    <p:sldId id="491" r:id="rId58"/>
    <p:sldId id="492" r:id="rId59"/>
    <p:sldId id="526" r:id="rId60"/>
    <p:sldId id="527" r:id="rId61"/>
    <p:sldId id="493" r:id="rId62"/>
    <p:sldId id="494" r:id="rId63"/>
    <p:sldId id="495" r:id="rId64"/>
    <p:sldId id="496" r:id="rId65"/>
    <p:sldId id="497" r:id="rId66"/>
    <p:sldId id="498" r:id="rId67"/>
    <p:sldId id="499" r:id="rId68"/>
    <p:sldId id="500" r:id="rId69"/>
    <p:sldId id="501" r:id="rId70"/>
    <p:sldId id="502" r:id="rId71"/>
    <p:sldId id="503" r:id="rId72"/>
    <p:sldId id="504" r:id="rId73"/>
    <p:sldId id="505" r:id="rId74"/>
    <p:sldId id="506" r:id="rId75"/>
    <p:sldId id="507" r:id="rId76"/>
    <p:sldId id="508" r:id="rId77"/>
    <p:sldId id="509" r:id="rId78"/>
    <p:sldId id="510" r:id="rId79"/>
    <p:sldId id="511" r:id="rId80"/>
    <p:sldId id="512" r:id="rId81"/>
    <p:sldId id="529" r:id="rId82"/>
    <p:sldId id="513" r:id="rId83"/>
    <p:sldId id="514" r:id="rId84"/>
    <p:sldId id="515" r:id="rId85"/>
    <p:sldId id="516" r:id="rId86"/>
    <p:sldId id="517" r:id="rId87"/>
    <p:sldId id="518" r:id="rId88"/>
    <p:sldId id="519" r:id="rId89"/>
    <p:sldId id="520" r:id="rId90"/>
    <p:sldId id="521" r:id="rId91"/>
    <p:sldId id="522" r:id="rId92"/>
  </p:sldIdLst>
  <p:sldSz cx="12192000" cy="6858000"/>
  <p:notesSz cx="6858000" cy="9144000"/>
  <p:custDataLst>
    <p:tags r:id="rId9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0D5B"/>
    <a:srgbClr val="5666D7"/>
    <a:srgbClr val="36A6B8"/>
    <a:srgbClr val="42E6E0"/>
    <a:srgbClr val="566BD8"/>
    <a:srgbClr val="42E8E0"/>
    <a:srgbClr val="255184"/>
    <a:srgbClr val="2B6C95"/>
    <a:srgbClr val="40DCD9"/>
    <a:srgbClr val="265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182" autoAdjust="0"/>
  </p:normalViewPr>
  <p:slideViewPr>
    <p:cSldViewPr snapToGrid="0">
      <p:cViewPr varScale="1">
        <p:scale>
          <a:sx n="65" d="100"/>
          <a:sy n="65" d="100"/>
        </p:scale>
        <p:origin x="652" y="6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notesMaster" Target="notesMasters/notesMaster1.xml"/><Relationship Id="rId98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pPr/>
              <a:t>2026/3/2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7" name="矩形 9926">
            <a:extLst>
              <a:ext uri="{FF2B5EF4-FFF2-40B4-BE49-F238E27FC236}">
                <a16:creationId xmlns:a16="http://schemas.microsoft.com/office/drawing/2014/main" id="{F722FE8D-4A19-4A18-B1FB-8492B199FD0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943402" y="2737940"/>
            <a:ext cx="5087595" cy="55879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rgbClr val="5666D7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943402" y="1525496"/>
            <a:ext cx="5087595" cy="1198382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grpSp>
        <p:nvGrpSpPr>
          <p:cNvPr id="252" name="组合 251">
            <a:extLst>
              <a:ext uri="{FF2B5EF4-FFF2-40B4-BE49-F238E27FC236}">
                <a16:creationId xmlns:a16="http://schemas.microsoft.com/office/drawing/2014/main" id="{839CE1DB-111B-4A2C-A29E-C50E634E2318}"/>
              </a:ext>
            </a:extLst>
          </p:cNvPr>
          <p:cNvGrpSpPr/>
          <p:nvPr userDrawn="1"/>
        </p:nvGrpSpPr>
        <p:grpSpPr>
          <a:xfrm>
            <a:off x="2134335" y="607950"/>
            <a:ext cx="9680127" cy="5377577"/>
            <a:chOff x="4656138" y="2437995"/>
            <a:chExt cx="6846887" cy="3803634"/>
          </a:xfrm>
        </p:grpSpPr>
        <p:sp>
          <p:nvSpPr>
            <p:cNvPr id="196" name="椭圆 195">
              <a:extLst>
                <a:ext uri="{FF2B5EF4-FFF2-40B4-BE49-F238E27FC236}">
                  <a16:creationId xmlns:a16="http://schemas.microsoft.com/office/drawing/2014/main" id="{31287A23-FE6B-487B-8BED-0C677DFB4992}"/>
                </a:ext>
              </a:extLst>
            </p:cNvPr>
            <p:cNvSpPr/>
            <p:nvPr userDrawn="1"/>
          </p:nvSpPr>
          <p:spPr>
            <a:xfrm>
              <a:off x="9791994" y="5509651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椭圆 194">
              <a:extLst>
                <a:ext uri="{FF2B5EF4-FFF2-40B4-BE49-F238E27FC236}">
                  <a16:creationId xmlns:a16="http://schemas.microsoft.com/office/drawing/2014/main" id="{C044A711-CB2C-4F92-A19F-1C38F5CC3EA3}"/>
                </a:ext>
              </a:extLst>
            </p:cNvPr>
            <p:cNvSpPr/>
            <p:nvPr userDrawn="1"/>
          </p:nvSpPr>
          <p:spPr>
            <a:xfrm>
              <a:off x="8951536" y="5923755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2" name="椭圆 191">
              <a:extLst>
                <a:ext uri="{FF2B5EF4-FFF2-40B4-BE49-F238E27FC236}">
                  <a16:creationId xmlns:a16="http://schemas.microsoft.com/office/drawing/2014/main" id="{97AC0DD2-E837-4B6C-A8B4-9459081251B9}"/>
                </a:ext>
              </a:extLst>
            </p:cNvPr>
            <p:cNvSpPr/>
            <p:nvPr userDrawn="1"/>
          </p:nvSpPr>
          <p:spPr>
            <a:xfrm>
              <a:off x="7681196" y="5266157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99" name="椭圆 4098">
              <a:extLst>
                <a:ext uri="{FF2B5EF4-FFF2-40B4-BE49-F238E27FC236}">
                  <a16:creationId xmlns:a16="http://schemas.microsoft.com/office/drawing/2014/main" id="{CCFB4B6B-1FA7-46C9-B4AC-9CA47E3B66ED}"/>
                </a:ext>
              </a:extLst>
            </p:cNvPr>
            <p:cNvSpPr/>
            <p:nvPr userDrawn="1"/>
          </p:nvSpPr>
          <p:spPr>
            <a:xfrm>
              <a:off x="6269331" y="5704329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20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DD7B420F-1711-4A49-A959-C81CD1AFFC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56138" y="4818063"/>
              <a:ext cx="6846887" cy="1335087"/>
            </a:xfrm>
            <a:custGeom>
              <a:avLst/>
              <a:gdLst>
                <a:gd name="T0" fmla="*/ 2059 w 2076"/>
                <a:gd name="T1" fmla="*/ 0 h 404"/>
                <a:gd name="T2" fmla="*/ 2053 w 2076"/>
                <a:gd name="T3" fmla="*/ 2 h 404"/>
                <a:gd name="T4" fmla="*/ 1420 w 2076"/>
                <a:gd name="T5" fmla="*/ 368 h 404"/>
                <a:gd name="T6" fmla="*/ 1388 w 2076"/>
                <a:gd name="T7" fmla="*/ 376 h 404"/>
                <a:gd name="T8" fmla="*/ 1357 w 2076"/>
                <a:gd name="T9" fmla="*/ 368 h 404"/>
                <a:gd name="T10" fmla="*/ 949 w 2076"/>
                <a:gd name="T11" fmla="*/ 132 h 404"/>
                <a:gd name="T12" fmla="*/ 903 w 2076"/>
                <a:gd name="T13" fmla="*/ 120 h 404"/>
                <a:gd name="T14" fmla="*/ 858 w 2076"/>
                <a:gd name="T15" fmla="*/ 132 h 404"/>
                <a:gd name="T16" fmla="*/ 521 w 2076"/>
                <a:gd name="T17" fmla="*/ 326 h 404"/>
                <a:gd name="T18" fmla="*/ 490 w 2076"/>
                <a:gd name="T19" fmla="*/ 335 h 404"/>
                <a:gd name="T20" fmla="*/ 459 w 2076"/>
                <a:gd name="T21" fmla="*/ 326 h 404"/>
                <a:gd name="T22" fmla="*/ 23 w 2076"/>
                <a:gd name="T23" fmla="*/ 75 h 404"/>
                <a:gd name="T24" fmla="*/ 16 w 2076"/>
                <a:gd name="T25" fmla="*/ 73 h 404"/>
                <a:gd name="T26" fmla="*/ 4 w 2076"/>
                <a:gd name="T27" fmla="*/ 80 h 404"/>
                <a:gd name="T28" fmla="*/ 9 w 2076"/>
                <a:gd name="T29" fmla="*/ 99 h 404"/>
                <a:gd name="T30" fmla="*/ 445 w 2076"/>
                <a:gd name="T31" fmla="*/ 351 h 404"/>
                <a:gd name="T32" fmla="*/ 490 w 2076"/>
                <a:gd name="T33" fmla="*/ 363 h 404"/>
                <a:gd name="T34" fmla="*/ 535 w 2076"/>
                <a:gd name="T35" fmla="*/ 351 h 404"/>
                <a:gd name="T36" fmla="*/ 872 w 2076"/>
                <a:gd name="T37" fmla="*/ 156 h 404"/>
                <a:gd name="T38" fmla="*/ 903 w 2076"/>
                <a:gd name="T39" fmla="*/ 148 h 404"/>
                <a:gd name="T40" fmla="*/ 935 w 2076"/>
                <a:gd name="T41" fmla="*/ 156 h 404"/>
                <a:gd name="T42" fmla="*/ 1343 w 2076"/>
                <a:gd name="T43" fmla="*/ 392 h 404"/>
                <a:gd name="T44" fmla="*/ 1388 w 2076"/>
                <a:gd name="T45" fmla="*/ 404 h 404"/>
                <a:gd name="T46" fmla="*/ 1434 w 2076"/>
                <a:gd name="T47" fmla="*/ 392 h 404"/>
                <a:gd name="T48" fmla="*/ 2067 w 2076"/>
                <a:gd name="T49" fmla="*/ 26 h 404"/>
                <a:gd name="T50" fmla="*/ 2072 w 2076"/>
                <a:gd name="T51" fmla="*/ 7 h 404"/>
                <a:gd name="T52" fmla="*/ 2059 w 2076"/>
                <a:gd name="T53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076" h="404">
                  <a:moveTo>
                    <a:pt x="2059" y="0"/>
                  </a:moveTo>
                  <a:cubicBezTo>
                    <a:pt x="2057" y="0"/>
                    <a:pt x="2055" y="1"/>
                    <a:pt x="2053" y="2"/>
                  </a:cubicBezTo>
                  <a:cubicBezTo>
                    <a:pt x="1420" y="368"/>
                    <a:pt x="1420" y="368"/>
                    <a:pt x="1420" y="368"/>
                  </a:cubicBezTo>
                  <a:cubicBezTo>
                    <a:pt x="1410" y="373"/>
                    <a:pt x="1399" y="376"/>
                    <a:pt x="1388" y="376"/>
                  </a:cubicBezTo>
                  <a:cubicBezTo>
                    <a:pt x="1378" y="376"/>
                    <a:pt x="1367" y="373"/>
                    <a:pt x="1357" y="368"/>
                  </a:cubicBezTo>
                  <a:cubicBezTo>
                    <a:pt x="949" y="132"/>
                    <a:pt x="949" y="132"/>
                    <a:pt x="949" y="132"/>
                  </a:cubicBezTo>
                  <a:cubicBezTo>
                    <a:pt x="935" y="124"/>
                    <a:pt x="919" y="120"/>
                    <a:pt x="903" y="120"/>
                  </a:cubicBezTo>
                  <a:cubicBezTo>
                    <a:pt x="888" y="120"/>
                    <a:pt x="872" y="124"/>
                    <a:pt x="858" y="132"/>
                  </a:cubicBezTo>
                  <a:cubicBezTo>
                    <a:pt x="521" y="326"/>
                    <a:pt x="521" y="326"/>
                    <a:pt x="521" y="326"/>
                  </a:cubicBezTo>
                  <a:cubicBezTo>
                    <a:pt x="511" y="332"/>
                    <a:pt x="501" y="335"/>
                    <a:pt x="490" y="335"/>
                  </a:cubicBezTo>
                  <a:cubicBezTo>
                    <a:pt x="479" y="335"/>
                    <a:pt x="468" y="332"/>
                    <a:pt x="459" y="326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1" y="74"/>
                    <a:pt x="19" y="73"/>
                    <a:pt x="16" y="73"/>
                  </a:cubicBezTo>
                  <a:cubicBezTo>
                    <a:pt x="11" y="73"/>
                    <a:pt x="7" y="76"/>
                    <a:pt x="4" y="80"/>
                  </a:cubicBezTo>
                  <a:cubicBezTo>
                    <a:pt x="0" y="87"/>
                    <a:pt x="3" y="95"/>
                    <a:pt x="9" y="99"/>
                  </a:cubicBezTo>
                  <a:cubicBezTo>
                    <a:pt x="445" y="351"/>
                    <a:pt x="445" y="351"/>
                    <a:pt x="445" y="351"/>
                  </a:cubicBezTo>
                  <a:cubicBezTo>
                    <a:pt x="459" y="359"/>
                    <a:pt x="474" y="363"/>
                    <a:pt x="490" y="363"/>
                  </a:cubicBezTo>
                  <a:cubicBezTo>
                    <a:pt x="506" y="363"/>
                    <a:pt x="521" y="359"/>
                    <a:pt x="535" y="351"/>
                  </a:cubicBezTo>
                  <a:cubicBezTo>
                    <a:pt x="872" y="156"/>
                    <a:pt x="872" y="156"/>
                    <a:pt x="872" y="156"/>
                  </a:cubicBezTo>
                  <a:cubicBezTo>
                    <a:pt x="882" y="150"/>
                    <a:pt x="893" y="148"/>
                    <a:pt x="903" y="148"/>
                  </a:cubicBezTo>
                  <a:cubicBezTo>
                    <a:pt x="914" y="148"/>
                    <a:pt x="925" y="150"/>
                    <a:pt x="935" y="156"/>
                  </a:cubicBezTo>
                  <a:cubicBezTo>
                    <a:pt x="1343" y="392"/>
                    <a:pt x="1343" y="392"/>
                    <a:pt x="1343" y="392"/>
                  </a:cubicBezTo>
                  <a:cubicBezTo>
                    <a:pt x="1357" y="400"/>
                    <a:pt x="1373" y="404"/>
                    <a:pt x="1388" y="404"/>
                  </a:cubicBezTo>
                  <a:cubicBezTo>
                    <a:pt x="1404" y="404"/>
                    <a:pt x="1420" y="400"/>
                    <a:pt x="1434" y="392"/>
                  </a:cubicBezTo>
                  <a:cubicBezTo>
                    <a:pt x="2067" y="26"/>
                    <a:pt x="2067" y="26"/>
                    <a:pt x="2067" y="26"/>
                  </a:cubicBezTo>
                  <a:cubicBezTo>
                    <a:pt x="2073" y="23"/>
                    <a:pt x="2076" y="14"/>
                    <a:pt x="2072" y="7"/>
                  </a:cubicBezTo>
                  <a:cubicBezTo>
                    <a:pt x="2069" y="3"/>
                    <a:pt x="2064" y="0"/>
                    <a:pt x="2059" y="0"/>
                  </a:cubicBezTo>
                </a:path>
              </a:pathLst>
            </a:custGeom>
            <a:gradFill>
              <a:gsLst>
                <a:gs pos="74000">
                  <a:srgbClr val="2D7C9E">
                    <a:alpha val="50000"/>
                  </a:srgbClr>
                </a:gs>
                <a:gs pos="37000">
                  <a:srgbClr val="41E4DE">
                    <a:alpha val="50000"/>
                  </a:srgbClr>
                </a:gs>
                <a:gs pos="0">
                  <a:srgbClr val="19145F">
                    <a:alpha val="50000"/>
                  </a:srgbClr>
                </a:gs>
                <a:gs pos="100000">
                  <a:srgbClr val="19125E">
                    <a:alpha val="50000"/>
                  </a:srgbClr>
                </a:gs>
              </a:gsLst>
              <a:lin ang="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1C9163C-CB87-4DDA-A749-1A8F5B9D2AB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40638" y="3989388"/>
              <a:ext cx="3186112" cy="1830387"/>
            </a:xfrm>
            <a:custGeom>
              <a:avLst/>
              <a:gdLst>
                <a:gd name="T0" fmla="*/ 483 w 966"/>
                <a:gd name="T1" fmla="*/ 466 h 554"/>
                <a:gd name="T2" fmla="*/ 157 w 966"/>
                <a:gd name="T3" fmla="*/ 277 h 554"/>
                <a:gd name="T4" fmla="*/ 483 w 966"/>
                <a:gd name="T5" fmla="*/ 89 h 554"/>
                <a:gd name="T6" fmla="*/ 810 w 966"/>
                <a:gd name="T7" fmla="*/ 277 h 554"/>
                <a:gd name="T8" fmla="*/ 483 w 966"/>
                <a:gd name="T9" fmla="*/ 466 h 554"/>
                <a:gd name="T10" fmla="*/ 483 w 966"/>
                <a:gd name="T11" fmla="*/ 48 h 554"/>
                <a:gd name="T12" fmla="*/ 472 w 966"/>
                <a:gd name="T13" fmla="*/ 51 h 554"/>
                <a:gd name="T14" fmla="*/ 82 w 966"/>
                <a:gd name="T15" fmla="*/ 276 h 554"/>
                <a:gd name="T16" fmla="*/ 81 w 966"/>
                <a:gd name="T17" fmla="*/ 277 h 554"/>
                <a:gd name="T18" fmla="*/ 82 w 966"/>
                <a:gd name="T19" fmla="*/ 278 h 554"/>
                <a:gd name="T20" fmla="*/ 472 w 966"/>
                <a:gd name="T21" fmla="*/ 503 h 554"/>
                <a:gd name="T22" fmla="*/ 472 w 966"/>
                <a:gd name="T23" fmla="*/ 503 h 554"/>
                <a:gd name="T24" fmla="*/ 483 w 966"/>
                <a:gd name="T25" fmla="*/ 506 h 554"/>
                <a:gd name="T26" fmla="*/ 494 w 966"/>
                <a:gd name="T27" fmla="*/ 503 h 554"/>
                <a:gd name="T28" fmla="*/ 884 w 966"/>
                <a:gd name="T29" fmla="*/ 278 h 554"/>
                <a:gd name="T30" fmla="*/ 885 w 966"/>
                <a:gd name="T31" fmla="*/ 277 h 554"/>
                <a:gd name="T32" fmla="*/ 884 w 966"/>
                <a:gd name="T33" fmla="*/ 276 h 554"/>
                <a:gd name="T34" fmla="*/ 494 w 966"/>
                <a:gd name="T35" fmla="*/ 51 h 554"/>
                <a:gd name="T36" fmla="*/ 483 w 966"/>
                <a:gd name="T37" fmla="*/ 48 h 554"/>
                <a:gd name="T38" fmla="*/ 483 w 966"/>
                <a:gd name="T39" fmla="*/ 518 h 554"/>
                <a:gd name="T40" fmla="*/ 466 w 966"/>
                <a:gd name="T41" fmla="*/ 514 h 554"/>
                <a:gd name="T42" fmla="*/ 466 w 966"/>
                <a:gd name="T43" fmla="*/ 514 h 554"/>
                <a:gd name="T44" fmla="*/ 76 w 966"/>
                <a:gd name="T45" fmla="*/ 289 h 554"/>
                <a:gd name="T46" fmla="*/ 69 w 966"/>
                <a:gd name="T47" fmla="*/ 277 h 554"/>
                <a:gd name="T48" fmla="*/ 76 w 966"/>
                <a:gd name="T49" fmla="*/ 266 h 554"/>
                <a:gd name="T50" fmla="*/ 466 w 966"/>
                <a:gd name="T51" fmla="*/ 41 h 554"/>
                <a:gd name="T52" fmla="*/ 483 w 966"/>
                <a:gd name="T53" fmla="*/ 36 h 554"/>
                <a:gd name="T54" fmla="*/ 500 w 966"/>
                <a:gd name="T55" fmla="*/ 41 h 554"/>
                <a:gd name="T56" fmla="*/ 890 w 966"/>
                <a:gd name="T57" fmla="*/ 266 h 554"/>
                <a:gd name="T58" fmla="*/ 897 w 966"/>
                <a:gd name="T59" fmla="*/ 277 h 554"/>
                <a:gd name="T60" fmla="*/ 890 w 966"/>
                <a:gd name="T61" fmla="*/ 289 h 554"/>
                <a:gd name="T62" fmla="*/ 500 w 966"/>
                <a:gd name="T63" fmla="*/ 514 h 554"/>
                <a:gd name="T64" fmla="*/ 483 w 966"/>
                <a:gd name="T65" fmla="*/ 518 h 554"/>
                <a:gd name="T66" fmla="*/ 483 w 966"/>
                <a:gd name="T67" fmla="*/ 0 h 554"/>
                <a:gd name="T68" fmla="*/ 462 w 966"/>
                <a:gd name="T69" fmla="*/ 6 h 554"/>
                <a:gd name="T70" fmla="*/ 7 w 966"/>
                <a:gd name="T71" fmla="*/ 269 h 554"/>
                <a:gd name="T72" fmla="*/ 7 w 966"/>
                <a:gd name="T73" fmla="*/ 286 h 554"/>
                <a:gd name="T74" fmla="*/ 462 w 966"/>
                <a:gd name="T75" fmla="*/ 548 h 554"/>
                <a:gd name="T76" fmla="*/ 483 w 966"/>
                <a:gd name="T77" fmla="*/ 554 h 554"/>
                <a:gd name="T78" fmla="*/ 505 w 966"/>
                <a:gd name="T79" fmla="*/ 548 h 554"/>
                <a:gd name="T80" fmla="*/ 960 w 966"/>
                <a:gd name="T81" fmla="*/ 286 h 554"/>
                <a:gd name="T82" fmla="*/ 960 w 966"/>
                <a:gd name="T83" fmla="*/ 269 h 554"/>
                <a:gd name="T84" fmla="*/ 505 w 966"/>
                <a:gd name="T85" fmla="*/ 6 h 554"/>
                <a:gd name="T86" fmla="*/ 483 w 966"/>
                <a:gd name="T87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66" h="554">
                  <a:moveTo>
                    <a:pt x="483" y="466"/>
                  </a:moveTo>
                  <a:cubicBezTo>
                    <a:pt x="157" y="277"/>
                    <a:pt x="157" y="277"/>
                    <a:pt x="157" y="277"/>
                  </a:cubicBezTo>
                  <a:cubicBezTo>
                    <a:pt x="483" y="89"/>
                    <a:pt x="483" y="89"/>
                    <a:pt x="483" y="89"/>
                  </a:cubicBezTo>
                  <a:cubicBezTo>
                    <a:pt x="810" y="277"/>
                    <a:pt x="810" y="277"/>
                    <a:pt x="810" y="277"/>
                  </a:cubicBezTo>
                  <a:cubicBezTo>
                    <a:pt x="483" y="466"/>
                    <a:pt x="483" y="466"/>
                    <a:pt x="483" y="466"/>
                  </a:cubicBezTo>
                  <a:moveTo>
                    <a:pt x="483" y="48"/>
                  </a:moveTo>
                  <a:cubicBezTo>
                    <a:pt x="479" y="48"/>
                    <a:pt x="475" y="49"/>
                    <a:pt x="472" y="51"/>
                  </a:cubicBezTo>
                  <a:cubicBezTo>
                    <a:pt x="82" y="276"/>
                    <a:pt x="82" y="276"/>
                    <a:pt x="82" y="276"/>
                  </a:cubicBezTo>
                  <a:cubicBezTo>
                    <a:pt x="82" y="277"/>
                    <a:pt x="81" y="277"/>
                    <a:pt x="81" y="277"/>
                  </a:cubicBezTo>
                  <a:cubicBezTo>
                    <a:pt x="81" y="278"/>
                    <a:pt x="82" y="278"/>
                    <a:pt x="82" y="278"/>
                  </a:cubicBezTo>
                  <a:cubicBezTo>
                    <a:pt x="472" y="503"/>
                    <a:pt x="472" y="503"/>
                    <a:pt x="472" y="503"/>
                  </a:cubicBezTo>
                  <a:cubicBezTo>
                    <a:pt x="472" y="503"/>
                    <a:pt x="472" y="503"/>
                    <a:pt x="472" y="503"/>
                  </a:cubicBezTo>
                  <a:cubicBezTo>
                    <a:pt x="475" y="505"/>
                    <a:pt x="479" y="506"/>
                    <a:pt x="483" y="506"/>
                  </a:cubicBezTo>
                  <a:cubicBezTo>
                    <a:pt x="487" y="506"/>
                    <a:pt x="491" y="505"/>
                    <a:pt x="494" y="503"/>
                  </a:cubicBezTo>
                  <a:cubicBezTo>
                    <a:pt x="884" y="278"/>
                    <a:pt x="884" y="278"/>
                    <a:pt x="884" y="278"/>
                  </a:cubicBezTo>
                  <a:cubicBezTo>
                    <a:pt x="885" y="278"/>
                    <a:pt x="885" y="278"/>
                    <a:pt x="885" y="277"/>
                  </a:cubicBezTo>
                  <a:cubicBezTo>
                    <a:pt x="885" y="277"/>
                    <a:pt x="885" y="277"/>
                    <a:pt x="884" y="276"/>
                  </a:cubicBezTo>
                  <a:cubicBezTo>
                    <a:pt x="494" y="51"/>
                    <a:pt x="494" y="51"/>
                    <a:pt x="494" y="51"/>
                  </a:cubicBezTo>
                  <a:cubicBezTo>
                    <a:pt x="491" y="49"/>
                    <a:pt x="487" y="48"/>
                    <a:pt x="483" y="48"/>
                  </a:cubicBezTo>
                  <a:moveTo>
                    <a:pt x="483" y="518"/>
                  </a:moveTo>
                  <a:cubicBezTo>
                    <a:pt x="477" y="518"/>
                    <a:pt x="471" y="517"/>
                    <a:pt x="466" y="514"/>
                  </a:cubicBezTo>
                  <a:cubicBezTo>
                    <a:pt x="466" y="514"/>
                    <a:pt x="466" y="514"/>
                    <a:pt x="466" y="514"/>
                  </a:cubicBezTo>
                  <a:cubicBezTo>
                    <a:pt x="76" y="289"/>
                    <a:pt x="76" y="289"/>
                    <a:pt x="76" y="289"/>
                  </a:cubicBezTo>
                  <a:cubicBezTo>
                    <a:pt x="72" y="286"/>
                    <a:pt x="69" y="282"/>
                    <a:pt x="69" y="277"/>
                  </a:cubicBezTo>
                  <a:cubicBezTo>
                    <a:pt x="69" y="273"/>
                    <a:pt x="72" y="268"/>
                    <a:pt x="76" y="266"/>
                  </a:cubicBezTo>
                  <a:cubicBezTo>
                    <a:pt x="466" y="41"/>
                    <a:pt x="466" y="41"/>
                    <a:pt x="466" y="41"/>
                  </a:cubicBezTo>
                  <a:cubicBezTo>
                    <a:pt x="471" y="38"/>
                    <a:pt x="477" y="36"/>
                    <a:pt x="483" y="36"/>
                  </a:cubicBezTo>
                  <a:cubicBezTo>
                    <a:pt x="489" y="36"/>
                    <a:pt x="495" y="38"/>
                    <a:pt x="500" y="41"/>
                  </a:cubicBezTo>
                  <a:cubicBezTo>
                    <a:pt x="890" y="266"/>
                    <a:pt x="890" y="266"/>
                    <a:pt x="890" y="266"/>
                  </a:cubicBezTo>
                  <a:cubicBezTo>
                    <a:pt x="894" y="268"/>
                    <a:pt x="897" y="273"/>
                    <a:pt x="897" y="277"/>
                  </a:cubicBezTo>
                  <a:cubicBezTo>
                    <a:pt x="897" y="282"/>
                    <a:pt x="894" y="286"/>
                    <a:pt x="890" y="289"/>
                  </a:cubicBezTo>
                  <a:cubicBezTo>
                    <a:pt x="500" y="514"/>
                    <a:pt x="500" y="514"/>
                    <a:pt x="500" y="514"/>
                  </a:cubicBezTo>
                  <a:cubicBezTo>
                    <a:pt x="495" y="517"/>
                    <a:pt x="489" y="518"/>
                    <a:pt x="483" y="518"/>
                  </a:cubicBezTo>
                  <a:moveTo>
                    <a:pt x="483" y="0"/>
                  </a:moveTo>
                  <a:cubicBezTo>
                    <a:pt x="476" y="0"/>
                    <a:pt x="468" y="2"/>
                    <a:pt x="462" y="6"/>
                  </a:cubicBezTo>
                  <a:cubicBezTo>
                    <a:pt x="7" y="269"/>
                    <a:pt x="7" y="269"/>
                    <a:pt x="7" y="269"/>
                  </a:cubicBezTo>
                  <a:cubicBezTo>
                    <a:pt x="0" y="273"/>
                    <a:pt x="0" y="282"/>
                    <a:pt x="7" y="286"/>
                  </a:cubicBezTo>
                  <a:cubicBezTo>
                    <a:pt x="462" y="548"/>
                    <a:pt x="462" y="548"/>
                    <a:pt x="462" y="548"/>
                  </a:cubicBezTo>
                  <a:cubicBezTo>
                    <a:pt x="468" y="552"/>
                    <a:pt x="476" y="554"/>
                    <a:pt x="483" y="554"/>
                  </a:cubicBezTo>
                  <a:cubicBezTo>
                    <a:pt x="491" y="554"/>
                    <a:pt x="498" y="552"/>
                    <a:pt x="505" y="548"/>
                  </a:cubicBezTo>
                  <a:cubicBezTo>
                    <a:pt x="960" y="286"/>
                    <a:pt x="960" y="286"/>
                    <a:pt x="960" y="286"/>
                  </a:cubicBezTo>
                  <a:cubicBezTo>
                    <a:pt x="966" y="282"/>
                    <a:pt x="966" y="273"/>
                    <a:pt x="960" y="269"/>
                  </a:cubicBezTo>
                  <a:cubicBezTo>
                    <a:pt x="505" y="6"/>
                    <a:pt x="505" y="6"/>
                    <a:pt x="505" y="6"/>
                  </a:cubicBezTo>
                  <a:cubicBezTo>
                    <a:pt x="498" y="2"/>
                    <a:pt x="491" y="0"/>
                    <a:pt x="483" y="0"/>
                  </a:cubicBezTo>
                </a:path>
              </a:pathLst>
            </a:custGeom>
            <a:solidFill>
              <a:srgbClr val="5E57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C5F6088-3348-4370-A1D6-28FAA3A584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69238" y="4108450"/>
              <a:ext cx="2730500" cy="1592262"/>
            </a:xfrm>
            <a:custGeom>
              <a:avLst/>
              <a:gdLst>
                <a:gd name="T0" fmla="*/ 403 w 828"/>
                <a:gd name="T1" fmla="*/ 467 h 482"/>
                <a:gd name="T2" fmla="*/ 13 w 828"/>
                <a:gd name="T3" fmla="*/ 242 h 482"/>
                <a:gd name="T4" fmla="*/ 12 w 828"/>
                <a:gd name="T5" fmla="*/ 241 h 482"/>
                <a:gd name="T6" fmla="*/ 13 w 828"/>
                <a:gd name="T7" fmla="*/ 240 h 482"/>
                <a:gd name="T8" fmla="*/ 403 w 828"/>
                <a:gd name="T9" fmla="*/ 15 h 482"/>
                <a:gd name="T10" fmla="*/ 414 w 828"/>
                <a:gd name="T11" fmla="*/ 12 h 482"/>
                <a:gd name="T12" fmla="*/ 425 w 828"/>
                <a:gd name="T13" fmla="*/ 15 h 482"/>
                <a:gd name="T14" fmla="*/ 815 w 828"/>
                <a:gd name="T15" fmla="*/ 240 h 482"/>
                <a:gd name="T16" fmla="*/ 816 w 828"/>
                <a:gd name="T17" fmla="*/ 241 h 482"/>
                <a:gd name="T18" fmla="*/ 815 w 828"/>
                <a:gd name="T19" fmla="*/ 242 h 482"/>
                <a:gd name="T20" fmla="*/ 425 w 828"/>
                <a:gd name="T21" fmla="*/ 467 h 482"/>
                <a:gd name="T22" fmla="*/ 414 w 828"/>
                <a:gd name="T23" fmla="*/ 470 h 482"/>
                <a:gd name="T24" fmla="*/ 403 w 828"/>
                <a:gd name="T25" fmla="*/ 467 h 482"/>
                <a:gd name="T26" fmla="*/ 403 w 828"/>
                <a:gd name="T27" fmla="*/ 467 h 482"/>
                <a:gd name="T28" fmla="*/ 414 w 828"/>
                <a:gd name="T29" fmla="*/ 0 h 482"/>
                <a:gd name="T30" fmla="*/ 397 w 828"/>
                <a:gd name="T31" fmla="*/ 5 h 482"/>
                <a:gd name="T32" fmla="*/ 7 w 828"/>
                <a:gd name="T33" fmla="*/ 230 h 482"/>
                <a:gd name="T34" fmla="*/ 0 w 828"/>
                <a:gd name="T35" fmla="*/ 241 h 482"/>
                <a:gd name="T36" fmla="*/ 7 w 828"/>
                <a:gd name="T37" fmla="*/ 253 h 482"/>
                <a:gd name="T38" fmla="*/ 397 w 828"/>
                <a:gd name="T39" fmla="*/ 478 h 482"/>
                <a:gd name="T40" fmla="*/ 397 w 828"/>
                <a:gd name="T41" fmla="*/ 478 h 482"/>
                <a:gd name="T42" fmla="*/ 414 w 828"/>
                <a:gd name="T43" fmla="*/ 482 h 482"/>
                <a:gd name="T44" fmla="*/ 431 w 828"/>
                <a:gd name="T45" fmla="*/ 478 h 482"/>
                <a:gd name="T46" fmla="*/ 821 w 828"/>
                <a:gd name="T47" fmla="*/ 253 h 482"/>
                <a:gd name="T48" fmla="*/ 828 w 828"/>
                <a:gd name="T49" fmla="*/ 241 h 482"/>
                <a:gd name="T50" fmla="*/ 821 w 828"/>
                <a:gd name="T51" fmla="*/ 230 h 482"/>
                <a:gd name="T52" fmla="*/ 431 w 828"/>
                <a:gd name="T53" fmla="*/ 5 h 482"/>
                <a:gd name="T54" fmla="*/ 414 w 828"/>
                <a:gd name="T55" fmla="*/ 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28" h="482">
                  <a:moveTo>
                    <a:pt x="403" y="467"/>
                  </a:moveTo>
                  <a:cubicBezTo>
                    <a:pt x="13" y="242"/>
                    <a:pt x="13" y="242"/>
                    <a:pt x="13" y="242"/>
                  </a:cubicBezTo>
                  <a:cubicBezTo>
                    <a:pt x="13" y="242"/>
                    <a:pt x="12" y="242"/>
                    <a:pt x="12" y="241"/>
                  </a:cubicBezTo>
                  <a:cubicBezTo>
                    <a:pt x="12" y="241"/>
                    <a:pt x="13" y="241"/>
                    <a:pt x="13" y="240"/>
                  </a:cubicBezTo>
                  <a:cubicBezTo>
                    <a:pt x="403" y="15"/>
                    <a:pt x="403" y="15"/>
                    <a:pt x="403" y="15"/>
                  </a:cubicBezTo>
                  <a:cubicBezTo>
                    <a:pt x="406" y="13"/>
                    <a:pt x="410" y="12"/>
                    <a:pt x="414" y="12"/>
                  </a:cubicBezTo>
                  <a:cubicBezTo>
                    <a:pt x="418" y="12"/>
                    <a:pt x="422" y="13"/>
                    <a:pt x="425" y="15"/>
                  </a:cubicBezTo>
                  <a:cubicBezTo>
                    <a:pt x="815" y="240"/>
                    <a:pt x="815" y="240"/>
                    <a:pt x="815" y="240"/>
                  </a:cubicBezTo>
                  <a:cubicBezTo>
                    <a:pt x="816" y="241"/>
                    <a:pt x="816" y="241"/>
                    <a:pt x="816" y="241"/>
                  </a:cubicBezTo>
                  <a:cubicBezTo>
                    <a:pt x="816" y="242"/>
                    <a:pt x="816" y="242"/>
                    <a:pt x="815" y="242"/>
                  </a:cubicBezTo>
                  <a:cubicBezTo>
                    <a:pt x="425" y="467"/>
                    <a:pt x="425" y="467"/>
                    <a:pt x="425" y="467"/>
                  </a:cubicBezTo>
                  <a:cubicBezTo>
                    <a:pt x="422" y="469"/>
                    <a:pt x="418" y="470"/>
                    <a:pt x="414" y="470"/>
                  </a:cubicBezTo>
                  <a:cubicBezTo>
                    <a:pt x="410" y="470"/>
                    <a:pt x="406" y="469"/>
                    <a:pt x="403" y="467"/>
                  </a:cubicBezTo>
                  <a:cubicBezTo>
                    <a:pt x="403" y="467"/>
                    <a:pt x="403" y="467"/>
                    <a:pt x="403" y="467"/>
                  </a:cubicBezTo>
                  <a:moveTo>
                    <a:pt x="414" y="0"/>
                  </a:moveTo>
                  <a:cubicBezTo>
                    <a:pt x="408" y="0"/>
                    <a:pt x="402" y="2"/>
                    <a:pt x="397" y="5"/>
                  </a:cubicBezTo>
                  <a:cubicBezTo>
                    <a:pt x="7" y="230"/>
                    <a:pt x="7" y="230"/>
                    <a:pt x="7" y="230"/>
                  </a:cubicBezTo>
                  <a:cubicBezTo>
                    <a:pt x="3" y="232"/>
                    <a:pt x="0" y="237"/>
                    <a:pt x="0" y="241"/>
                  </a:cubicBezTo>
                  <a:cubicBezTo>
                    <a:pt x="0" y="246"/>
                    <a:pt x="3" y="250"/>
                    <a:pt x="7" y="253"/>
                  </a:cubicBezTo>
                  <a:cubicBezTo>
                    <a:pt x="397" y="478"/>
                    <a:pt x="397" y="478"/>
                    <a:pt x="397" y="478"/>
                  </a:cubicBezTo>
                  <a:cubicBezTo>
                    <a:pt x="397" y="478"/>
                    <a:pt x="397" y="478"/>
                    <a:pt x="397" y="478"/>
                  </a:cubicBezTo>
                  <a:cubicBezTo>
                    <a:pt x="402" y="481"/>
                    <a:pt x="408" y="482"/>
                    <a:pt x="414" y="482"/>
                  </a:cubicBezTo>
                  <a:cubicBezTo>
                    <a:pt x="420" y="482"/>
                    <a:pt x="426" y="481"/>
                    <a:pt x="431" y="478"/>
                  </a:cubicBezTo>
                  <a:cubicBezTo>
                    <a:pt x="821" y="253"/>
                    <a:pt x="821" y="253"/>
                    <a:pt x="821" y="253"/>
                  </a:cubicBezTo>
                  <a:cubicBezTo>
                    <a:pt x="825" y="250"/>
                    <a:pt x="828" y="246"/>
                    <a:pt x="828" y="241"/>
                  </a:cubicBezTo>
                  <a:cubicBezTo>
                    <a:pt x="828" y="237"/>
                    <a:pt x="825" y="232"/>
                    <a:pt x="821" y="230"/>
                  </a:cubicBezTo>
                  <a:cubicBezTo>
                    <a:pt x="431" y="5"/>
                    <a:pt x="431" y="5"/>
                    <a:pt x="431" y="5"/>
                  </a:cubicBezTo>
                  <a:cubicBezTo>
                    <a:pt x="426" y="2"/>
                    <a:pt x="420" y="0"/>
                    <a:pt x="414" y="0"/>
                  </a:cubicBezTo>
                </a:path>
              </a:pathLst>
            </a:custGeom>
            <a:gradFill>
              <a:gsLst>
                <a:gs pos="74000">
                  <a:srgbClr val="2D7C9E">
                    <a:alpha val="74000"/>
                  </a:srgbClr>
                </a:gs>
                <a:gs pos="37000">
                  <a:srgbClr val="41E4DE">
                    <a:alpha val="71000"/>
                  </a:srgbClr>
                </a:gs>
                <a:gs pos="0">
                  <a:srgbClr val="19145F"/>
                </a:gs>
                <a:gs pos="100000">
                  <a:srgbClr val="19125E">
                    <a:alpha val="82000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CD134D4A-FF64-418D-BF61-AE24A995E0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58163" y="4283075"/>
              <a:ext cx="2154237" cy="1246187"/>
            </a:xfrm>
            <a:custGeom>
              <a:avLst/>
              <a:gdLst>
                <a:gd name="T0" fmla="*/ 678 w 1357"/>
                <a:gd name="T1" fmla="*/ 0 h 785"/>
                <a:gd name="T2" fmla="*/ 0 w 1357"/>
                <a:gd name="T3" fmla="*/ 391 h 785"/>
                <a:gd name="T4" fmla="*/ 678 w 1357"/>
                <a:gd name="T5" fmla="*/ 785 h 785"/>
                <a:gd name="T6" fmla="*/ 1357 w 1357"/>
                <a:gd name="T7" fmla="*/ 391 h 785"/>
                <a:gd name="T8" fmla="*/ 678 w 1357"/>
                <a:gd name="T9" fmla="*/ 0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7" h="785">
                  <a:moveTo>
                    <a:pt x="678" y="0"/>
                  </a:moveTo>
                  <a:lnTo>
                    <a:pt x="0" y="391"/>
                  </a:lnTo>
                  <a:lnTo>
                    <a:pt x="678" y="785"/>
                  </a:lnTo>
                  <a:lnTo>
                    <a:pt x="1357" y="391"/>
                  </a:lnTo>
                  <a:lnTo>
                    <a:pt x="678" y="0"/>
                  </a:lnTo>
                  <a:close/>
                </a:path>
              </a:pathLst>
            </a:custGeom>
            <a:solidFill>
              <a:srgbClr val="100B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FC0074FF-5BCC-45FA-8E44-F66DF0B78B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58163" y="4283075"/>
              <a:ext cx="2154237" cy="1246187"/>
            </a:xfrm>
            <a:custGeom>
              <a:avLst/>
              <a:gdLst>
                <a:gd name="T0" fmla="*/ 678 w 1357"/>
                <a:gd name="T1" fmla="*/ 0 h 785"/>
                <a:gd name="T2" fmla="*/ 0 w 1357"/>
                <a:gd name="T3" fmla="*/ 391 h 785"/>
                <a:gd name="T4" fmla="*/ 678 w 1357"/>
                <a:gd name="T5" fmla="*/ 785 h 785"/>
                <a:gd name="T6" fmla="*/ 1357 w 1357"/>
                <a:gd name="T7" fmla="*/ 391 h 785"/>
                <a:gd name="T8" fmla="*/ 678 w 1357"/>
                <a:gd name="T9" fmla="*/ 0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7" h="785">
                  <a:moveTo>
                    <a:pt x="678" y="0"/>
                  </a:moveTo>
                  <a:lnTo>
                    <a:pt x="0" y="391"/>
                  </a:lnTo>
                  <a:lnTo>
                    <a:pt x="678" y="785"/>
                  </a:lnTo>
                  <a:lnTo>
                    <a:pt x="1357" y="391"/>
                  </a:lnTo>
                  <a:lnTo>
                    <a:pt x="67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55">
              <a:extLst>
                <a:ext uri="{FF2B5EF4-FFF2-40B4-BE49-F238E27FC236}">
                  <a16:creationId xmlns:a16="http://schemas.microsoft.com/office/drawing/2014/main" id="{B5EFAE15-02B0-4FEA-B304-654B59B7E0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13861" y="5810250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7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3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3" y="6"/>
                  </a:cubicBezTo>
                  <a:cubicBezTo>
                    <a:pt x="21" y="3"/>
                    <a:pt x="17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56">
              <a:extLst>
                <a:ext uri="{FF2B5EF4-FFF2-40B4-BE49-F238E27FC236}">
                  <a16:creationId xmlns:a16="http://schemas.microsoft.com/office/drawing/2014/main" id="{AACA5D4B-622F-452A-9E2E-FB3D8E5B42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05936" y="5756275"/>
              <a:ext cx="88900" cy="79375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4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4" y="24"/>
                  </a:cubicBezTo>
                  <a:cubicBezTo>
                    <a:pt x="16" y="24"/>
                    <a:pt x="18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57">
              <a:extLst>
                <a:ext uri="{FF2B5EF4-FFF2-40B4-BE49-F238E27FC236}">
                  <a16:creationId xmlns:a16="http://schemas.microsoft.com/office/drawing/2014/main" id="{E9112628-8D4E-4BCC-BC3E-D239FECFF1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01186" y="5702300"/>
              <a:ext cx="85725" cy="77787"/>
            </a:xfrm>
            <a:custGeom>
              <a:avLst/>
              <a:gdLst>
                <a:gd name="T0" fmla="*/ 13 w 26"/>
                <a:gd name="T1" fmla="*/ 0 h 23"/>
                <a:gd name="T2" fmla="*/ 7 w 26"/>
                <a:gd name="T3" fmla="*/ 1 h 23"/>
                <a:gd name="T4" fmla="*/ 3 w 26"/>
                <a:gd name="T5" fmla="*/ 18 h 23"/>
                <a:gd name="T6" fmla="*/ 13 w 26"/>
                <a:gd name="T7" fmla="*/ 23 h 23"/>
                <a:gd name="T8" fmla="*/ 19 w 26"/>
                <a:gd name="T9" fmla="*/ 22 h 23"/>
                <a:gd name="T10" fmla="*/ 23 w 26"/>
                <a:gd name="T11" fmla="*/ 6 h 23"/>
                <a:gd name="T12" fmla="*/ 13 w 26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3">
                  <a:moveTo>
                    <a:pt x="13" y="0"/>
                  </a:moveTo>
                  <a:cubicBezTo>
                    <a:pt x="11" y="0"/>
                    <a:pt x="9" y="0"/>
                    <a:pt x="7" y="1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4" y="19"/>
                    <a:pt x="26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58">
              <a:extLst>
                <a:ext uri="{FF2B5EF4-FFF2-40B4-BE49-F238E27FC236}">
                  <a16:creationId xmlns:a16="http://schemas.microsoft.com/office/drawing/2014/main" id="{4C1692C0-671E-4112-8870-EA379167AC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3261" y="5649912"/>
              <a:ext cx="90488" cy="76200"/>
            </a:xfrm>
            <a:custGeom>
              <a:avLst/>
              <a:gdLst>
                <a:gd name="T0" fmla="*/ 13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8" y="1"/>
                  </a:cubicBezTo>
                  <a:cubicBezTo>
                    <a:pt x="2" y="4"/>
                    <a:pt x="0" y="12"/>
                    <a:pt x="3" y="17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2" y="2"/>
                    <a:pt x="18" y="0"/>
                    <a:pt x="13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59">
              <a:extLst>
                <a:ext uri="{FF2B5EF4-FFF2-40B4-BE49-F238E27FC236}">
                  <a16:creationId xmlns:a16="http://schemas.microsoft.com/office/drawing/2014/main" id="{CE40BE4D-1325-413C-9BF6-92993CBBA4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6924" y="5595937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5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4"/>
                    <a:pt x="0" y="11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8"/>
                    <a:pt x="27" y="11"/>
                    <a:pt x="24" y="5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266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60">
              <a:extLst>
                <a:ext uri="{FF2B5EF4-FFF2-40B4-BE49-F238E27FC236}">
                  <a16:creationId xmlns:a16="http://schemas.microsoft.com/office/drawing/2014/main" id="{F6CF83C1-7FD5-4B8D-B257-A98CD78B78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82174" y="5538787"/>
              <a:ext cx="88900" cy="80962"/>
            </a:xfrm>
            <a:custGeom>
              <a:avLst/>
              <a:gdLst>
                <a:gd name="T0" fmla="*/ 13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4266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61">
              <a:extLst>
                <a:ext uri="{FF2B5EF4-FFF2-40B4-BE49-F238E27FC236}">
                  <a16:creationId xmlns:a16="http://schemas.microsoft.com/office/drawing/2014/main" id="{B15DA810-0AC5-40C4-A5A1-B1285D0BAB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63161" y="5372100"/>
              <a:ext cx="88900" cy="77787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6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5"/>
                    <a:pt x="0" y="12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62">
              <a:extLst>
                <a:ext uri="{FF2B5EF4-FFF2-40B4-BE49-F238E27FC236}">
                  <a16:creationId xmlns:a16="http://schemas.microsoft.com/office/drawing/2014/main" id="{FD1476BC-AC33-4968-8BE4-E89562505D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1086" y="5426075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63">
              <a:extLst>
                <a:ext uri="{FF2B5EF4-FFF2-40B4-BE49-F238E27FC236}">
                  <a16:creationId xmlns:a16="http://schemas.microsoft.com/office/drawing/2014/main" id="{0B4524DE-4782-43B9-83DA-A10F81CC0F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74249" y="5480050"/>
              <a:ext cx="88900" cy="79375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4 w 27"/>
                <a:gd name="T5" fmla="*/ 18 h 24"/>
                <a:gd name="T6" fmla="*/ 14 w 27"/>
                <a:gd name="T7" fmla="*/ 24 h 24"/>
                <a:gd name="T8" fmla="*/ 20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4" y="18"/>
                  </a:cubicBezTo>
                  <a:cubicBezTo>
                    <a:pt x="6" y="22"/>
                    <a:pt x="10" y="24"/>
                    <a:pt x="14" y="24"/>
                  </a:cubicBezTo>
                  <a:cubicBezTo>
                    <a:pt x="16" y="24"/>
                    <a:pt x="18" y="23"/>
                    <a:pt x="20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57EA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64">
              <a:extLst>
                <a:ext uri="{FF2B5EF4-FFF2-40B4-BE49-F238E27FC236}">
                  <a16:creationId xmlns:a16="http://schemas.microsoft.com/office/drawing/2014/main" id="{DB720F95-412E-4E6C-802D-473669FBF1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23561" y="5372100"/>
              <a:ext cx="88900" cy="77787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5 h 23"/>
                <a:gd name="T4" fmla="*/ 8 w 27"/>
                <a:gd name="T5" fmla="*/ 22 h 23"/>
                <a:gd name="T6" fmla="*/ 13 w 27"/>
                <a:gd name="T7" fmla="*/ 23 h 23"/>
                <a:gd name="T8" fmla="*/ 24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5"/>
                  </a:cubicBezTo>
                  <a:cubicBezTo>
                    <a:pt x="0" y="11"/>
                    <a:pt x="2" y="18"/>
                    <a:pt x="8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8" y="23"/>
                    <a:pt x="21" y="21"/>
                    <a:pt x="24" y="17"/>
                  </a:cubicBezTo>
                  <a:cubicBezTo>
                    <a:pt x="27" y="11"/>
                    <a:pt x="25" y="4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65">
              <a:extLst>
                <a:ext uri="{FF2B5EF4-FFF2-40B4-BE49-F238E27FC236}">
                  <a16:creationId xmlns:a16="http://schemas.microsoft.com/office/drawing/2014/main" id="{6F409CC0-6CE5-411A-A631-05BC30DE3F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15636" y="5426075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4 w 27"/>
                <a:gd name="T3" fmla="*/ 6 h 23"/>
                <a:gd name="T4" fmla="*/ 8 w 27"/>
                <a:gd name="T5" fmla="*/ 22 h 23"/>
                <a:gd name="T6" fmla="*/ 14 w 27"/>
                <a:gd name="T7" fmla="*/ 23 h 23"/>
                <a:gd name="T8" fmla="*/ 24 w 27"/>
                <a:gd name="T9" fmla="*/ 17 h 23"/>
                <a:gd name="T10" fmla="*/ 20 w 27"/>
                <a:gd name="T11" fmla="*/ 1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1"/>
                    <a:pt x="2" y="19"/>
                    <a:pt x="8" y="22"/>
                  </a:cubicBezTo>
                  <a:cubicBezTo>
                    <a:pt x="10" y="23"/>
                    <a:pt x="12" y="23"/>
                    <a:pt x="14" y="23"/>
                  </a:cubicBezTo>
                  <a:cubicBezTo>
                    <a:pt x="18" y="23"/>
                    <a:pt x="22" y="21"/>
                    <a:pt x="24" y="17"/>
                  </a:cubicBezTo>
                  <a:cubicBezTo>
                    <a:pt x="27" y="12"/>
                    <a:pt x="25" y="5"/>
                    <a:pt x="20" y="1"/>
                  </a:cubicBezTo>
                  <a:cubicBezTo>
                    <a:pt x="18" y="0"/>
                    <a:pt x="16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66">
              <a:extLst>
                <a:ext uri="{FF2B5EF4-FFF2-40B4-BE49-F238E27FC236}">
                  <a16:creationId xmlns:a16="http://schemas.microsoft.com/office/drawing/2014/main" id="{FBBEC337-3D96-4552-94E6-D5A400715A5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10886" y="5480050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3 w 27"/>
                <a:gd name="T3" fmla="*/ 6 h 24"/>
                <a:gd name="T4" fmla="*/ 8 w 27"/>
                <a:gd name="T5" fmla="*/ 22 h 24"/>
                <a:gd name="T6" fmla="*/ 13 w 27"/>
                <a:gd name="T7" fmla="*/ 24 h 24"/>
                <a:gd name="T8" fmla="*/ 24 w 27"/>
                <a:gd name="T9" fmla="*/ 18 h 24"/>
                <a:gd name="T10" fmla="*/ 19 w 27"/>
                <a:gd name="T11" fmla="*/ 2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9" y="0"/>
                    <a:pt x="5" y="2"/>
                    <a:pt x="3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9" y="23"/>
                    <a:pt x="11" y="24"/>
                    <a:pt x="13" y="24"/>
                  </a:cubicBezTo>
                  <a:cubicBezTo>
                    <a:pt x="17" y="24"/>
                    <a:pt x="21" y="21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28" name="Freeform 67">
              <a:extLst>
                <a:ext uri="{FF2B5EF4-FFF2-40B4-BE49-F238E27FC236}">
                  <a16:creationId xmlns:a16="http://schemas.microsoft.com/office/drawing/2014/main" id="{0B480263-2724-4D8D-890E-23B98114D4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04549" y="5532437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4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2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29" name="Freeform 68">
              <a:extLst>
                <a:ext uri="{FF2B5EF4-FFF2-40B4-BE49-F238E27FC236}">
                  <a16:creationId xmlns:a16="http://schemas.microsoft.com/office/drawing/2014/main" id="{7FC2FF67-8A42-4CD0-B5E5-272103BC23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99799" y="5586412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3 w 27"/>
                <a:gd name="T3" fmla="*/ 6 h 24"/>
                <a:gd name="T4" fmla="*/ 7 w 27"/>
                <a:gd name="T5" fmla="*/ 22 h 24"/>
                <a:gd name="T6" fmla="*/ 13 w 27"/>
                <a:gd name="T7" fmla="*/ 24 h 24"/>
                <a:gd name="T8" fmla="*/ 24 w 27"/>
                <a:gd name="T9" fmla="*/ 18 h 24"/>
                <a:gd name="T10" fmla="*/ 19 w 27"/>
                <a:gd name="T11" fmla="*/ 2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9" y="0"/>
                    <a:pt x="5" y="3"/>
                    <a:pt x="3" y="6"/>
                  </a:cubicBezTo>
                  <a:cubicBezTo>
                    <a:pt x="0" y="12"/>
                    <a:pt x="2" y="19"/>
                    <a:pt x="7" y="22"/>
                  </a:cubicBezTo>
                  <a:cubicBezTo>
                    <a:pt x="9" y="23"/>
                    <a:pt x="11" y="24"/>
                    <a:pt x="13" y="24"/>
                  </a:cubicBezTo>
                  <a:cubicBezTo>
                    <a:pt x="17" y="24"/>
                    <a:pt x="21" y="22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7" y="1"/>
                    <a:pt x="15" y="0"/>
                    <a:pt x="13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32" name="Freeform 71">
              <a:extLst>
                <a:ext uri="{FF2B5EF4-FFF2-40B4-BE49-F238E27FC236}">
                  <a16:creationId xmlns:a16="http://schemas.microsoft.com/office/drawing/2014/main" id="{FD80A767-1C22-4670-99FF-B8B248D1B0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945911" y="5972175"/>
              <a:ext cx="90488" cy="80962"/>
            </a:xfrm>
            <a:custGeom>
              <a:avLst/>
              <a:gdLst>
                <a:gd name="T0" fmla="*/ 14 w 27"/>
                <a:gd name="T1" fmla="*/ 0 h 24"/>
                <a:gd name="T2" fmla="*/ 3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3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1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33" name="Freeform 72">
              <a:extLst>
                <a:ext uri="{FF2B5EF4-FFF2-40B4-BE49-F238E27FC236}">
                  <a16:creationId xmlns:a16="http://schemas.microsoft.com/office/drawing/2014/main" id="{63B25B06-018E-4207-8D4D-28A3CAB37F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53836" y="5919787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6 h 23"/>
                <a:gd name="T4" fmla="*/ 7 w 27"/>
                <a:gd name="T5" fmla="*/ 22 h 23"/>
                <a:gd name="T6" fmla="*/ 13 w 27"/>
                <a:gd name="T7" fmla="*/ 23 h 23"/>
                <a:gd name="T8" fmla="*/ 23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6"/>
                  </a:cubicBezTo>
                  <a:cubicBezTo>
                    <a:pt x="0" y="11"/>
                    <a:pt x="2" y="18"/>
                    <a:pt x="7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7" y="23"/>
                    <a:pt x="21" y="21"/>
                    <a:pt x="23" y="17"/>
                  </a:cubicBezTo>
                  <a:cubicBezTo>
                    <a:pt x="27" y="12"/>
                    <a:pt x="25" y="5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34" name="Freeform 73">
              <a:extLst>
                <a:ext uri="{FF2B5EF4-FFF2-40B4-BE49-F238E27FC236}">
                  <a16:creationId xmlns:a16="http://schemas.microsoft.com/office/drawing/2014/main" id="{5D585783-FD34-4BEE-B88F-4B5FB48E44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758586" y="5862637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4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2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35" name="Freeform 74">
              <a:extLst>
                <a:ext uri="{FF2B5EF4-FFF2-40B4-BE49-F238E27FC236}">
                  <a16:creationId xmlns:a16="http://schemas.microsoft.com/office/drawing/2014/main" id="{4C4350A5-33CD-4F3C-9E46-A7BA7A3F80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6511" y="5810250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3 w 27"/>
                <a:gd name="T3" fmla="*/ 6 h 23"/>
                <a:gd name="T4" fmla="*/ 8 w 27"/>
                <a:gd name="T5" fmla="*/ 22 h 23"/>
                <a:gd name="T6" fmla="*/ 14 w 27"/>
                <a:gd name="T7" fmla="*/ 23 h 23"/>
                <a:gd name="T8" fmla="*/ 24 w 27"/>
                <a:gd name="T9" fmla="*/ 18 h 23"/>
                <a:gd name="T10" fmla="*/ 19 w 27"/>
                <a:gd name="T11" fmla="*/ 2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0" y="0"/>
                    <a:pt x="6" y="2"/>
                    <a:pt x="3" y="6"/>
                  </a:cubicBezTo>
                  <a:cubicBezTo>
                    <a:pt x="0" y="11"/>
                    <a:pt x="2" y="19"/>
                    <a:pt x="8" y="22"/>
                  </a:cubicBezTo>
                  <a:cubicBezTo>
                    <a:pt x="10" y="23"/>
                    <a:pt x="12" y="23"/>
                    <a:pt x="14" y="23"/>
                  </a:cubicBezTo>
                  <a:cubicBezTo>
                    <a:pt x="18" y="23"/>
                    <a:pt x="22" y="21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8" y="0"/>
                    <a:pt x="16" y="0"/>
                    <a:pt x="14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36" name="Freeform 75">
              <a:extLst>
                <a:ext uri="{FF2B5EF4-FFF2-40B4-BE49-F238E27FC236}">
                  <a16:creationId xmlns:a16="http://schemas.microsoft.com/office/drawing/2014/main" id="{2C1A229B-0034-4B96-BD9F-4C994F24CD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2849" y="5756275"/>
              <a:ext cx="90488" cy="76200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5 h 23"/>
                <a:gd name="T4" fmla="*/ 7 w 27"/>
                <a:gd name="T5" fmla="*/ 22 h 23"/>
                <a:gd name="T6" fmla="*/ 13 w 27"/>
                <a:gd name="T7" fmla="*/ 23 h 23"/>
                <a:gd name="T8" fmla="*/ 23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5"/>
                  </a:cubicBezTo>
                  <a:cubicBezTo>
                    <a:pt x="0" y="11"/>
                    <a:pt x="2" y="18"/>
                    <a:pt x="7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7" y="23"/>
                    <a:pt x="21" y="21"/>
                    <a:pt x="23" y="17"/>
                  </a:cubicBezTo>
                  <a:cubicBezTo>
                    <a:pt x="27" y="12"/>
                    <a:pt x="25" y="4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38" name="Freeform 77">
              <a:extLst>
                <a:ext uri="{FF2B5EF4-FFF2-40B4-BE49-F238E27FC236}">
                  <a16:creationId xmlns:a16="http://schemas.microsoft.com/office/drawing/2014/main" id="{CF3B3962-B84A-4F1D-8B93-0BED7414ED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87124" y="5699125"/>
              <a:ext cx="79375" cy="73025"/>
            </a:xfrm>
            <a:custGeom>
              <a:avLst/>
              <a:gdLst>
                <a:gd name="T0" fmla="*/ 11 w 24"/>
                <a:gd name="T1" fmla="*/ 0 h 22"/>
                <a:gd name="T2" fmla="*/ 6 w 24"/>
                <a:gd name="T3" fmla="*/ 1 h 22"/>
                <a:gd name="T4" fmla="*/ 3 w 24"/>
                <a:gd name="T5" fmla="*/ 5 h 22"/>
                <a:gd name="T6" fmla="*/ 7 w 24"/>
                <a:gd name="T7" fmla="*/ 21 h 22"/>
                <a:gd name="T8" fmla="*/ 13 w 24"/>
                <a:gd name="T9" fmla="*/ 22 h 22"/>
                <a:gd name="T10" fmla="*/ 18 w 24"/>
                <a:gd name="T11" fmla="*/ 21 h 22"/>
                <a:gd name="T12" fmla="*/ 21 w 24"/>
                <a:gd name="T13" fmla="*/ 18 h 22"/>
                <a:gd name="T14" fmla="*/ 17 w 24"/>
                <a:gd name="T15" fmla="*/ 2 h 22"/>
                <a:gd name="T16" fmla="*/ 11 w 24"/>
                <a:gd name="T1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2">
                  <a:moveTo>
                    <a:pt x="11" y="0"/>
                  </a:moveTo>
                  <a:cubicBezTo>
                    <a:pt x="9" y="0"/>
                    <a:pt x="8" y="0"/>
                    <a:pt x="6" y="1"/>
                  </a:cubicBezTo>
                  <a:cubicBezTo>
                    <a:pt x="5" y="2"/>
                    <a:pt x="4" y="3"/>
                    <a:pt x="3" y="5"/>
                  </a:cubicBezTo>
                  <a:cubicBezTo>
                    <a:pt x="0" y="10"/>
                    <a:pt x="2" y="18"/>
                    <a:pt x="7" y="21"/>
                  </a:cubicBezTo>
                  <a:cubicBezTo>
                    <a:pt x="9" y="22"/>
                    <a:pt x="11" y="22"/>
                    <a:pt x="13" y="22"/>
                  </a:cubicBezTo>
                  <a:cubicBezTo>
                    <a:pt x="15" y="22"/>
                    <a:pt x="16" y="22"/>
                    <a:pt x="18" y="21"/>
                  </a:cubicBezTo>
                  <a:cubicBezTo>
                    <a:pt x="19" y="21"/>
                    <a:pt x="20" y="19"/>
                    <a:pt x="21" y="18"/>
                  </a:cubicBezTo>
                  <a:cubicBezTo>
                    <a:pt x="24" y="12"/>
                    <a:pt x="22" y="5"/>
                    <a:pt x="17" y="2"/>
                  </a:cubicBezTo>
                  <a:cubicBezTo>
                    <a:pt x="15" y="1"/>
                    <a:pt x="13" y="0"/>
                    <a:pt x="11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40" name="Freeform 79">
              <a:extLst>
                <a:ext uri="{FF2B5EF4-FFF2-40B4-BE49-F238E27FC236}">
                  <a16:creationId xmlns:a16="http://schemas.microsoft.com/office/drawing/2014/main" id="{961F8AA8-F20D-422E-8437-87E243BB6F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91874" y="5646737"/>
              <a:ext cx="82550" cy="73025"/>
            </a:xfrm>
            <a:custGeom>
              <a:avLst/>
              <a:gdLst>
                <a:gd name="T0" fmla="*/ 11 w 25"/>
                <a:gd name="T1" fmla="*/ 0 h 22"/>
                <a:gd name="T2" fmla="*/ 7 w 25"/>
                <a:gd name="T3" fmla="*/ 1 h 22"/>
                <a:gd name="T4" fmla="*/ 4 w 25"/>
                <a:gd name="T5" fmla="*/ 5 h 22"/>
                <a:gd name="T6" fmla="*/ 8 w 25"/>
                <a:gd name="T7" fmla="*/ 21 h 22"/>
                <a:gd name="T8" fmla="*/ 14 w 25"/>
                <a:gd name="T9" fmla="*/ 22 h 22"/>
                <a:gd name="T10" fmla="*/ 18 w 25"/>
                <a:gd name="T11" fmla="*/ 21 h 22"/>
                <a:gd name="T12" fmla="*/ 22 w 25"/>
                <a:gd name="T13" fmla="*/ 17 h 22"/>
                <a:gd name="T14" fmla="*/ 17 w 25"/>
                <a:gd name="T15" fmla="*/ 1 h 22"/>
                <a:gd name="T16" fmla="*/ 11 w 25"/>
                <a:gd name="T1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2">
                  <a:moveTo>
                    <a:pt x="11" y="0"/>
                  </a:moveTo>
                  <a:cubicBezTo>
                    <a:pt x="10" y="0"/>
                    <a:pt x="9" y="0"/>
                    <a:pt x="7" y="1"/>
                  </a:cubicBezTo>
                  <a:cubicBezTo>
                    <a:pt x="6" y="2"/>
                    <a:pt x="4" y="3"/>
                    <a:pt x="4" y="5"/>
                  </a:cubicBezTo>
                  <a:cubicBezTo>
                    <a:pt x="0" y="10"/>
                    <a:pt x="2" y="17"/>
                    <a:pt x="8" y="21"/>
                  </a:cubicBezTo>
                  <a:cubicBezTo>
                    <a:pt x="10" y="22"/>
                    <a:pt x="12" y="22"/>
                    <a:pt x="14" y="22"/>
                  </a:cubicBezTo>
                  <a:cubicBezTo>
                    <a:pt x="15" y="22"/>
                    <a:pt x="17" y="22"/>
                    <a:pt x="18" y="21"/>
                  </a:cubicBezTo>
                  <a:cubicBezTo>
                    <a:pt x="19" y="20"/>
                    <a:pt x="21" y="19"/>
                    <a:pt x="22" y="17"/>
                  </a:cubicBezTo>
                  <a:cubicBezTo>
                    <a:pt x="25" y="12"/>
                    <a:pt x="23" y="5"/>
                    <a:pt x="17" y="1"/>
                  </a:cubicBezTo>
                  <a:cubicBezTo>
                    <a:pt x="15" y="0"/>
                    <a:pt x="13" y="0"/>
                    <a:pt x="11" y="0"/>
                  </a:cubicBezTo>
                </a:path>
              </a:pathLst>
            </a:custGeom>
            <a:solidFill>
              <a:srgbClr val="51498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41" name="Freeform 80">
              <a:extLst>
                <a:ext uri="{FF2B5EF4-FFF2-40B4-BE49-F238E27FC236}">
                  <a16:creationId xmlns:a16="http://schemas.microsoft.com/office/drawing/2014/main" id="{4E51C430-C56F-4FCE-A8D2-F80B699395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030174" y="5626100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8" y="1"/>
                  </a:cubicBezTo>
                  <a:cubicBezTo>
                    <a:pt x="2" y="5"/>
                    <a:pt x="0" y="12"/>
                    <a:pt x="3" y="17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1" y="2"/>
                    <a:pt x="18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42" name="Freeform 81">
              <a:extLst>
                <a:ext uri="{FF2B5EF4-FFF2-40B4-BE49-F238E27FC236}">
                  <a16:creationId xmlns:a16="http://schemas.microsoft.com/office/drawing/2014/main" id="{D13B5027-1B7C-4ADA-B936-D7BF2A08CB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22249" y="5568950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4 w 27"/>
                <a:gd name="T5" fmla="*/ 18 h 24"/>
                <a:gd name="T6" fmla="*/ 14 w 27"/>
                <a:gd name="T7" fmla="*/ 24 h 24"/>
                <a:gd name="T8" fmla="*/ 20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4" y="18"/>
                  </a:cubicBezTo>
                  <a:cubicBezTo>
                    <a:pt x="6" y="22"/>
                    <a:pt x="10" y="24"/>
                    <a:pt x="14" y="24"/>
                  </a:cubicBezTo>
                  <a:cubicBezTo>
                    <a:pt x="16" y="24"/>
                    <a:pt x="18" y="23"/>
                    <a:pt x="20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3"/>
                    <a:pt x="18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43" name="Freeform 82">
              <a:extLst>
                <a:ext uri="{FF2B5EF4-FFF2-40B4-BE49-F238E27FC236}">
                  <a16:creationId xmlns:a16="http://schemas.microsoft.com/office/drawing/2014/main" id="{9A093AB1-2883-4487-BA43-17D9702BC3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17499" y="5516562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7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3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44" name="Freeform 83">
              <a:extLst>
                <a:ext uri="{FF2B5EF4-FFF2-40B4-BE49-F238E27FC236}">
                  <a16:creationId xmlns:a16="http://schemas.microsoft.com/office/drawing/2014/main" id="{AA71B833-BA1E-4616-AB0B-5881C5F3EE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09574" y="5462587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4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5"/>
                    <a:pt x="0" y="12"/>
                    <a:pt x="3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19" y="22"/>
                  </a:cubicBezTo>
                  <a:cubicBezTo>
                    <a:pt x="25" y="18"/>
                    <a:pt x="27" y="11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45" name="Freeform 84">
              <a:extLst>
                <a:ext uri="{FF2B5EF4-FFF2-40B4-BE49-F238E27FC236}">
                  <a16:creationId xmlns:a16="http://schemas.microsoft.com/office/drawing/2014/main" id="{E764C7B4-7F50-466F-8499-DA36A2B899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06411" y="5405437"/>
              <a:ext cx="85725" cy="80962"/>
            </a:xfrm>
            <a:custGeom>
              <a:avLst/>
              <a:gdLst>
                <a:gd name="T0" fmla="*/ 13 w 26"/>
                <a:gd name="T1" fmla="*/ 0 h 24"/>
                <a:gd name="T2" fmla="*/ 7 w 26"/>
                <a:gd name="T3" fmla="*/ 2 h 24"/>
                <a:gd name="T4" fmla="*/ 3 w 26"/>
                <a:gd name="T5" fmla="*/ 18 h 24"/>
                <a:gd name="T6" fmla="*/ 13 w 26"/>
                <a:gd name="T7" fmla="*/ 24 h 24"/>
                <a:gd name="T8" fmla="*/ 19 w 26"/>
                <a:gd name="T9" fmla="*/ 22 h 24"/>
                <a:gd name="T10" fmla="*/ 23 w 26"/>
                <a:gd name="T11" fmla="*/ 6 h 24"/>
                <a:gd name="T12" fmla="*/ 13 w 26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1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4" y="19"/>
                    <a:pt x="26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46" name="Freeform 85">
              <a:extLst>
                <a:ext uri="{FF2B5EF4-FFF2-40B4-BE49-F238E27FC236}">
                  <a16:creationId xmlns:a16="http://schemas.microsoft.com/office/drawing/2014/main" id="{092929F9-5B9E-4756-9ABB-428BAC74A5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98486" y="5353050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7 w 27"/>
                <a:gd name="T3" fmla="*/ 2 h 23"/>
                <a:gd name="T4" fmla="*/ 3 w 27"/>
                <a:gd name="T5" fmla="*/ 18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47" name="Freeform 86">
              <a:extLst>
                <a:ext uri="{FF2B5EF4-FFF2-40B4-BE49-F238E27FC236}">
                  <a16:creationId xmlns:a16="http://schemas.microsoft.com/office/drawing/2014/main" id="{8C90C5E6-79A2-4060-8EB1-737E351C3E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90561" y="5299075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5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4"/>
                    <a:pt x="0" y="12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8"/>
                    <a:pt x="27" y="11"/>
                    <a:pt x="24" y="5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8B86A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cxnSp>
          <p:nvCxnSpPr>
            <p:cNvPr id="4096" name="直接连接符 4095">
              <a:extLst>
                <a:ext uri="{FF2B5EF4-FFF2-40B4-BE49-F238E27FC236}">
                  <a16:creationId xmlns:a16="http://schemas.microsoft.com/office/drawing/2014/main" id="{B1EA0FC5-29CD-4F28-A45D-D157FD7E5BA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41802" y="5287830"/>
              <a:ext cx="827436" cy="50191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>
              <a:extLst>
                <a:ext uri="{FF2B5EF4-FFF2-40B4-BE49-F238E27FC236}">
                  <a16:creationId xmlns:a16="http://schemas.microsoft.com/office/drawing/2014/main" id="{867A0B53-8EDF-48B5-9A4E-8F1B2EE88CC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352276" y="5405437"/>
              <a:ext cx="618290" cy="39859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连接符 192">
              <a:extLst>
                <a:ext uri="{FF2B5EF4-FFF2-40B4-BE49-F238E27FC236}">
                  <a16:creationId xmlns:a16="http://schemas.microsoft.com/office/drawing/2014/main" id="{459F3CA0-87B8-43D8-B691-12FB120D8EC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731243" y="5471253"/>
              <a:ext cx="328843" cy="21199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>
              <a:extLst>
                <a:ext uri="{FF2B5EF4-FFF2-40B4-BE49-F238E27FC236}">
                  <a16:creationId xmlns:a16="http://schemas.microsoft.com/office/drawing/2014/main" id="{E3DD8066-40F4-4A02-9DF1-05A162F2CA2C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10065044" y="5664134"/>
              <a:ext cx="618290" cy="39859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椭圆 198">
              <a:extLst>
                <a:ext uri="{FF2B5EF4-FFF2-40B4-BE49-F238E27FC236}">
                  <a16:creationId xmlns:a16="http://schemas.microsoft.com/office/drawing/2014/main" id="{001A6F1F-C585-4281-828C-058AB5EDE524}"/>
                </a:ext>
              </a:extLst>
            </p:cNvPr>
            <p:cNvSpPr/>
            <p:nvPr userDrawn="1"/>
          </p:nvSpPr>
          <p:spPr>
            <a:xfrm>
              <a:off x="10861128" y="4188135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0" name="直接连接符 199">
              <a:extLst>
                <a:ext uri="{FF2B5EF4-FFF2-40B4-BE49-F238E27FC236}">
                  <a16:creationId xmlns:a16="http://schemas.microsoft.com/office/drawing/2014/main" id="{493F7646-9DF0-4328-BA59-726818EBD66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0552112" y="4285080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椭圆 201">
              <a:extLst>
                <a:ext uri="{FF2B5EF4-FFF2-40B4-BE49-F238E27FC236}">
                  <a16:creationId xmlns:a16="http://schemas.microsoft.com/office/drawing/2014/main" id="{557EAC11-F2A0-4C08-8F11-44BF87802B10}"/>
                </a:ext>
              </a:extLst>
            </p:cNvPr>
            <p:cNvSpPr/>
            <p:nvPr userDrawn="1"/>
          </p:nvSpPr>
          <p:spPr>
            <a:xfrm>
              <a:off x="9754989" y="3713379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3" name="直接连接符 202">
              <a:extLst>
                <a:ext uri="{FF2B5EF4-FFF2-40B4-BE49-F238E27FC236}">
                  <a16:creationId xmlns:a16="http://schemas.microsoft.com/office/drawing/2014/main" id="{5D1273CE-BE25-441B-953B-C1B5966CAE6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445973" y="3810324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" name="椭圆 203">
              <a:extLst>
                <a:ext uri="{FF2B5EF4-FFF2-40B4-BE49-F238E27FC236}">
                  <a16:creationId xmlns:a16="http://schemas.microsoft.com/office/drawing/2014/main" id="{8F096A9B-1AA8-431A-BB04-8C15CF5627F3}"/>
                </a:ext>
              </a:extLst>
            </p:cNvPr>
            <p:cNvSpPr/>
            <p:nvPr userDrawn="1"/>
          </p:nvSpPr>
          <p:spPr>
            <a:xfrm>
              <a:off x="10020604" y="4130676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5" name="直接连接符 204">
              <a:extLst>
                <a:ext uri="{FF2B5EF4-FFF2-40B4-BE49-F238E27FC236}">
                  <a16:creationId xmlns:a16="http://schemas.microsoft.com/office/drawing/2014/main" id="{2919DAC9-4D15-444E-AD29-DB55069F5E6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906261" y="4226956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椭圆 210">
              <a:extLst>
                <a:ext uri="{FF2B5EF4-FFF2-40B4-BE49-F238E27FC236}">
                  <a16:creationId xmlns:a16="http://schemas.microsoft.com/office/drawing/2014/main" id="{E0D349D6-48B6-4D60-8DDF-1C1342CDA205}"/>
                </a:ext>
              </a:extLst>
            </p:cNvPr>
            <p:cNvSpPr/>
            <p:nvPr userDrawn="1"/>
          </p:nvSpPr>
          <p:spPr>
            <a:xfrm>
              <a:off x="7626655" y="4176741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2" name="直接连接符 211">
              <a:extLst>
                <a:ext uri="{FF2B5EF4-FFF2-40B4-BE49-F238E27FC236}">
                  <a16:creationId xmlns:a16="http://schemas.microsoft.com/office/drawing/2014/main" id="{7089C232-3C85-423F-947B-0BFA9401DFA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12312" y="4273021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" name="椭圆 212">
              <a:extLst>
                <a:ext uri="{FF2B5EF4-FFF2-40B4-BE49-F238E27FC236}">
                  <a16:creationId xmlns:a16="http://schemas.microsoft.com/office/drawing/2014/main" id="{C560641A-F420-4727-A7F7-179E3FE63748}"/>
                </a:ext>
              </a:extLst>
            </p:cNvPr>
            <p:cNvSpPr/>
            <p:nvPr userDrawn="1"/>
          </p:nvSpPr>
          <p:spPr>
            <a:xfrm>
              <a:off x="8387012" y="3360161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4" name="直接连接符 213">
              <a:extLst>
                <a:ext uri="{FF2B5EF4-FFF2-40B4-BE49-F238E27FC236}">
                  <a16:creationId xmlns:a16="http://schemas.microsoft.com/office/drawing/2014/main" id="{545304FD-1796-4169-B922-A5937A78C4F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272669" y="3456441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" name="椭圆 214">
              <a:extLst>
                <a:ext uri="{FF2B5EF4-FFF2-40B4-BE49-F238E27FC236}">
                  <a16:creationId xmlns:a16="http://schemas.microsoft.com/office/drawing/2014/main" id="{73E6A0CA-67C2-42EF-8383-B14B770ED349}"/>
                </a:ext>
              </a:extLst>
            </p:cNvPr>
            <p:cNvSpPr/>
            <p:nvPr userDrawn="1"/>
          </p:nvSpPr>
          <p:spPr>
            <a:xfrm>
              <a:off x="8071311" y="3424099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6" name="直接连接符 215">
              <a:extLst>
                <a:ext uri="{FF2B5EF4-FFF2-40B4-BE49-F238E27FC236}">
                  <a16:creationId xmlns:a16="http://schemas.microsoft.com/office/drawing/2014/main" id="{AF574737-39F9-4472-AE17-3BFF53B46DE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762295" y="3521044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>
              <a:extLst>
                <a:ext uri="{FF2B5EF4-FFF2-40B4-BE49-F238E27FC236}">
                  <a16:creationId xmlns:a16="http://schemas.microsoft.com/office/drawing/2014/main" id="{9D684D3A-8C4E-4158-8772-8D8471CDA919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8216506" y="2821117"/>
              <a:ext cx="5025" cy="2074259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162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>
              <a:extLst>
                <a:ext uri="{FF2B5EF4-FFF2-40B4-BE49-F238E27FC236}">
                  <a16:creationId xmlns:a16="http://schemas.microsoft.com/office/drawing/2014/main" id="{1E239B15-E30E-46F9-A6D0-F08CDCC35D74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10208402" y="2813165"/>
              <a:ext cx="5025" cy="2074259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162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54" name="Freeform 90">
              <a:extLst>
                <a:ext uri="{FF2B5EF4-FFF2-40B4-BE49-F238E27FC236}">
                  <a16:creationId xmlns:a16="http://schemas.microsoft.com/office/drawing/2014/main" id="{AF6DEBA4-934D-42E9-8FD3-EA26D0DCE3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8638" y="4267200"/>
              <a:ext cx="2168525" cy="1239838"/>
            </a:xfrm>
            <a:custGeom>
              <a:avLst/>
              <a:gdLst>
                <a:gd name="T0" fmla="*/ 270 w 538"/>
                <a:gd name="T1" fmla="*/ 0 h 307"/>
                <a:gd name="T2" fmla="*/ 249 w 538"/>
                <a:gd name="T3" fmla="*/ 6 h 307"/>
                <a:gd name="T4" fmla="*/ 13 w 538"/>
                <a:gd name="T5" fmla="*/ 142 h 307"/>
                <a:gd name="T6" fmla="*/ 10 w 538"/>
                <a:gd name="T7" fmla="*/ 164 h 307"/>
                <a:gd name="T8" fmla="*/ 251 w 538"/>
                <a:gd name="T9" fmla="*/ 303 h 307"/>
                <a:gd name="T10" fmla="*/ 268 w 538"/>
                <a:gd name="T11" fmla="*/ 307 h 307"/>
                <a:gd name="T12" fmla="*/ 290 w 538"/>
                <a:gd name="T13" fmla="*/ 302 h 307"/>
                <a:gd name="T14" fmla="*/ 525 w 538"/>
                <a:gd name="T15" fmla="*/ 166 h 307"/>
                <a:gd name="T16" fmla="*/ 528 w 538"/>
                <a:gd name="T17" fmla="*/ 144 h 307"/>
                <a:gd name="T18" fmla="*/ 287 w 538"/>
                <a:gd name="T19" fmla="*/ 4 h 307"/>
                <a:gd name="T20" fmla="*/ 270 w 538"/>
                <a:gd name="T21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307">
                  <a:moveTo>
                    <a:pt x="270" y="0"/>
                  </a:moveTo>
                  <a:cubicBezTo>
                    <a:pt x="263" y="0"/>
                    <a:pt x="255" y="2"/>
                    <a:pt x="249" y="6"/>
                  </a:cubicBezTo>
                  <a:cubicBezTo>
                    <a:pt x="13" y="142"/>
                    <a:pt x="13" y="142"/>
                    <a:pt x="13" y="142"/>
                  </a:cubicBezTo>
                  <a:cubicBezTo>
                    <a:pt x="2" y="149"/>
                    <a:pt x="0" y="158"/>
                    <a:pt x="10" y="164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6" y="306"/>
                    <a:pt x="262" y="307"/>
                    <a:pt x="268" y="307"/>
                  </a:cubicBezTo>
                  <a:cubicBezTo>
                    <a:pt x="275" y="307"/>
                    <a:pt x="283" y="305"/>
                    <a:pt x="290" y="302"/>
                  </a:cubicBezTo>
                  <a:cubicBezTo>
                    <a:pt x="525" y="166"/>
                    <a:pt x="525" y="166"/>
                    <a:pt x="525" y="166"/>
                  </a:cubicBezTo>
                  <a:cubicBezTo>
                    <a:pt x="537" y="159"/>
                    <a:pt x="538" y="149"/>
                    <a:pt x="528" y="144"/>
                  </a:cubicBezTo>
                  <a:cubicBezTo>
                    <a:pt x="287" y="4"/>
                    <a:pt x="287" y="4"/>
                    <a:pt x="287" y="4"/>
                  </a:cubicBezTo>
                  <a:cubicBezTo>
                    <a:pt x="282" y="2"/>
                    <a:pt x="276" y="0"/>
                    <a:pt x="270" y="0"/>
                  </a:cubicBezTo>
                </a:path>
              </a:pathLst>
            </a:custGeom>
            <a:solidFill>
              <a:srgbClr val="736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55" name="Freeform 91">
              <a:extLst>
                <a:ext uri="{FF2B5EF4-FFF2-40B4-BE49-F238E27FC236}">
                  <a16:creationId xmlns:a16="http://schemas.microsoft.com/office/drawing/2014/main" id="{D3086A1B-50B2-4CAF-9735-932CF494AE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8638" y="4264025"/>
              <a:ext cx="2168525" cy="714375"/>
            </a:xfrm>
            <a:custGeom>
              <a:avLst/>
              <a:gdLst>
                <a:gd name="T0" fmla="*/ 10 w 538"/>
                <a:gd name="T1" fmla="*/ 165 h 177"/>
                <a:gd name="T2" fmla="*/ 31 w 538"/>
                <a:gd name="T3" fmla="*/ 177 h 177"/>
                <a:gd name="T4" fmla="*/ 249 w 538"/>
                <a:gd name="T5" fmla="*/ 52 h 177"/>
                <a:gd name="T6" fmla="*/ 287 w 538"/>
                <a:gd name="T7" fmla="*/ 50 h 177"/>
                <a:gd name="T8" fmla="*/ 507 w 538"/>
                <a:gd name="T9" fmla="*/ 177 h 177"/>
                <a:gd name="T10" fmla="*/ 525 w 538"/>
                <a:gd name="T11" fmla="*/ 167 h 177"/>
                <a:gd name="T12" fmla="*/ 528 w 538"/>
                <a:gd name="T13" fmla="*/ 145 h 177"/>
                <a:gd name="T14" fmla="*/ 287 w 538"/>
                <a:gd name="T15" fmla="*/ 5 h 177"/>
                <a:gd name="T16" fmla="*/ 249 w 538"/>
                <a:gd name="T17" fmla="*/ 7 h 177"/>
                <a:gd name="T18" fmla="*/ 13 w 538"/>
                <a:gd name="T19" fmla="*/ 143 h 177"/>
                <a:gd name="T20" fmla="*/ 10 w 538"/>
                <a:gd name="T21" fmla="*/ 165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177">
                  <a:moveTo>
                    <a:pt x="10" y="165"/>
                  </a:moveTo>
                  <a:cubicBezTo>
                    <a:pt x="31" y="177"/>
                    <a:pt x="31" y="177"/>
                    <a:pt x="31" y="177"/>
                  </a:cubicBezTo>
                  <a:cubicBezTo>
                    <a:pt x="249" y="52"/>
                    <a:pt x="249" y="52"/>
                    <a:pt x="249" y="52"/>
                  </a:cubicBezTo>
                  <a:cubicBezTo>
                    <a:pt x="260" y="45"/>
                    <a:pt x="277" y="45"/>
                    <a:pt x="287" y="50"/>
                  </a:cubicBezTo>
                  <a:cubicBezTo>
                    <a:pt x="507" y="177"/>
                    <a:pt x="507" y="177"/>
                    <a:pt x="507" y="177"/>
                  </a:cubicBezTo>
                  <a:cubicBezTo>
                    <a:pt x="525" y="167"/>
                    <a:pt x="525" y="167"/>
                    <a:pt x="525" y="167"/>
                  </a:cubicBezTo>
                  <a:cubicBezTo>
                    <a:pt x="537" y="160"/>
                    <a:pt x="538" y="150"/>
                    <a:pt x="528" y="145"/>
                  </a:cubicBezTo>
                  <a:cubicBezTo>
                    <a:pt x="287" y="5"/>
                    <a:pt x="287" y="5"/>
                    <a:pt x="287" y="5"/>
                  </a:cubicBezTo>
                  <a:cubicBezTo>
                    <a:pt x="277" y="0"/>
                    <a:pt x="260" y="0"/>
                    <a:pt x="249" y="7"/>
                  </a:cubicBezTo>
                  <a:cubicBezTo>
                    <a:pt x="13" y="143"/>
                    <a:pt x="13" y="143"/>
                    <a:pt x="13" y="143"/>
                  </a:cubicBezTo>
                  <a:cubicBezTo>
                    <a:pt x="2" y="150"/>
                    <a:pt x="0" y="159"/>
                    <a:pt x="10" y="165"/>
                  </a:cubicBezTo>
                  <a:close/>
                </a:path>
              </a:pathLst>
            </a:custGeom>
            <a:solidFill>
              <a:srgbClr val="42E8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6" name="Freeform 90">
              <a:extLst>
                <a:ext uri="{FF2B5EF4-FFF2-40B4-BE49-F238E27FC236}">
                  <a16:creationId xmlns:a16="http://schemas.microsoft.com/office/drawing/2014/main" id="{C63D826E-5E90-4F6D-88F7-EA5A08B904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2017" y="4267200"/>
              <a:ext cx="2168525" cy="1239838"/>
            </a:xfrm>
            <a:custGeom>
              <a:avLst/>
              <a:gdLst>
                <a:gd name="T0" fmla="*/ 270 w 538"/>
                <a:gd name="T1" fmla="*/ 0 h 307"/>
                <a:gd name="T2" fmla="*/ 249 w 538"/>
                <a:gd name="T3" fmla="*/ 6 h 307"/>
                <a:gd name="T4" fmla="*/ 13 w 538"/>
                <a:gd name="T5" fmla="*/ 142 h 307"/>
                <a:gd name="T6" fmla="*/ 10 w 538"/>
                <a:gd name="T7" fmla="*/ 164 h 307"/>
                <a:gd name="T8" fmla="*/ 251 w 538"/>
                <a:gd name="T9" fmla="*/ 303 h 307"/>
                <a:gd name="T10" fmla="*/ 268 w 538"/>
                <a:gd name="T11" fmla="*/ 307 h 307"/>
                <a:gd name="T12" fmla="*/ 290 w 538"/>
                <a:gd name="T13" fmla="*/ 302 h 307"/>
                <a:gd name="T14" fmla="*/ 525 w 538"/>
                <a:gd name="T15" fmla="*/ 166 h 307"/>
                <a:gd name="T16" fmla="*/ 528 w 538"/>
                <a:gd name="T17" fmla="*/ 144 h 307"/>
                <a:gd name="T18" fmla="*/ 287 w 538"/>
                <a:gd name="T19" fmla="*/ 4 h 307"/>
                <a:gd name="T20" fmla="*/ 270 w 538"/>
                <a:gd name="T21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307">
                  <a:moveTo>
                    <a:pt x="270" y="0"/>
                  </a:moveTo>
                  <a:cubicBezTo>
                    <a:pt x="263" y="0"/>
                    <a:pt x="255" y="2"/>
                    <a:pt x="249" y="6"/>
                  </a:cubicBezTo>
                  <a:cubicBezTo>
                    <a:pt x="13" y="142"/>
                    <a:pt x="13" y="142"/>
                    <a:pt x="13" y="142"/>
                  </a:cubicBezTo>
                  <a:cubicBezTo>
                    <a:pt x="2" y="149"/>
                    <a:pt x="0" y="158"/>
                    <a:pt x="10" y="164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6" y="306"/>
                    <a:pt x="262" y="307"/>
                    <a:pt x="268" y="307"/>
                  </a:cubicBezTo>
                  <a:cubicBezTo>
                    <a:pt x="275" y="307"/>
                    <a:pt x="283" y="305"/>
                    <a:pt x="290" y="302"/>
                  </a:cubicBezTo>
                  <a:cubicBezTo>
                    <a:pt x="525" y="166"/>
                    <a:pt x="525" y="166"/>
                    <a:pt x="525" y="166"/>
                  </a:cubicBezTo>
                  <a:cubicBezTo>
                    <a:pt x="537" y="159"/>
                    <a:pt x="538" y="149"/>
                    <a:pt x="528" y="144"/>
                  </a:cubicBezTo>
                  <a:cubicBezTo>
                    <a:pt x="287" y="4"/>
                    <a:pt x="287" y="4"/>
                    <a:pt x="287" y="4"/>
                  </a:cubicBezTo>
                  <a:cubicBezTo>
                    <a:pt x="282" y="2"/>
                    <a:pt x="276" y="0"/>
                    <a:pt x="270" y="0"/>
                  </a:cubicBezTo>
                </a:path>
              </a:pathLst>
            </a:custGeom>
            <a:gradFill>
              <a:gsLst>
                <a:gs pos="22000">
                  <a:srgbClr val="180D5B">
                    <a:alpha val="34000"/>
                  </a:srgbClr>
                </a:gs>
                <a:gs pos="100000">
                  <a:srgbClr val="42E8E0">
                    <a:alpha val="74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247" name="任意多边形: 形状 246">
              <a:extLst>
                <a:ext uri="{FF2B5EF4-FFF2-40B4-BE49-F238E27FC236}">
                  <a16:creationId xmlns:a16="http://schemas.microsoft.com/office/drawing/2014/main" id="{A1430432-40EA-4925-AA20-F60AF99BA0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278938" y="3259138"/>
              <a:ext cx="120650" cy="2243743"/>
            </a:xfrm>
            <a:custGeom>
              <a:avLst/>
              <a:gdLst>
                <a:gd name="connsiteX0" fmla="*/ 33514 w 120650"/>
                <a:gd name="connsiteY0" fmla="*/ 0 h 2243743"/>
                <a:gd name="connsiteX1" fmla="*/ 56974 w 120650"/>
                <a:gd name="connsiteY1" fmla="*/ 6605 h 2243743"/>
                <a:gd name="connsiteX2" fmla="*/ 63676 w 120650"/>
                <a:gd name="connsiteY2" fmla="*/ 9908 h 2243743"/>
                <a:gd name="connsiteX3" fmla="*/ 120650 w 120650"/>
                <a:gd name="connsiteY3" fmla="*/ 115587 h 2243743"/>
                <a:gd name="connsiteX4" fmla="*/ 120650 w 120650"/>
                <a:gd name="connsiteY4" fmla="*/ 2080273 h 2243743"/>
                <a:gd name="connsiteX5" fmla="*/ 120650 w 120650"/>
                <a:gd name="connsiteY5" fmla="*/ 2177592 h 2243743"/>
                <a:gd name="connsiteX6" fmla="*/ 0 w 120650"/>
                <a:gd name="connsiteY6" fmla="*/ 2243743 h 2243743"/>
                <a:gd name="connsiteX7" fmla="*/ 0 w 120650"/>
                <a:gd name="connsiteY7" fmla="*/ 2132585 h 2243743"/>
                <a:gd name="connsiteX8" fmla="*/ 0 w 120650"/>
                <a:gd name="connsiteY8" fmla="*/ 46235 h 2243743"/>
                <a:gd name="connsiteX9" fmla="*/ 33514 w 120650"/>
                <a:gd name="connsiteY9" fmla="*/ 0 h 22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650" h="2243743">
                  <a:moveTo>
                    <a:pt x="33514" y="0"/>
                  </a:moveTo>
                  <a:cubicBezTo>
                    <a:pt x="40217" y="0"/>
                    <a:pt x="46919" y="0"/>
                    <a:pt x="56974" y="6605"/>
                  </a:cubicBezTo>
                  <a:cubicBezTo>
                    <a:pt x="56974" y="6605"/>
                    <a:pt x="56974" y="6605"/>
                    <a:pt x="63676" y="9908"/>
                  </a:cubicBezTo>
                  <a:cubicBezTo>
                    <a:pt x="97190" y="26420"/>
                    <a:pt x="120650" y="75957"/>
                    <a:pt x="120650" y="115587"/>
                  </a:cubicBezTo>
                  <a:cubicBezTo>
                    <a:pt x="120650" y="115587"/>
                    <a:pt x="120650" y="115587"/>
                    <a:pt x="120650" y="2080273"/>
                  </a:cubicBezTo>
                  <a:lnTo>
                    <a:pt x="120650" y="2177592"/>
                  </a:lnTo>
                  <a:lnTo>
                    <a:pt x="0" y="2243743"/>
                  </a:lnTo>
                  <a:lnTo>
                    <a:pt x="0" y="2132585"/>
                  </a:lnTo>
                  <a:cubicBezTo>
                    <a:pt x="0" y="1834535"/>
                    <a:pt x="0" y="1238435"/>
                    <a:pt x="0" y="46235"/>
                  </a:cubicBezTo>
                  <a:cubicBezTo>
                    <a:pt x="0" y="16513"/>
                    <a:pt x="13406" y="0"/>
                    <a:pt x="33514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45" name="任意多边形: 形状 244">
              <a:extLst>
                <a:ext uri="{FF2B5EF4-FFF2-40B4-BE49-F238E27FC236}">
                  <a16:creationId xmlns:a16="http://schemas.microsoft.com/office/drawing/2014/main" id="{20D60DA0-3304-4EAA-A6B3-B1D71DBAC6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501188" y="3767138"/>
              <a:ext cx="119063" cy="1621772"/>
            </a:xfrm>
            <a:custGeom>
              <a:avLst/>
              <a:gdLst>
                <a:gd name="connsiteX0" fmla="*/ 33073 w 119063"/>
                <a:gd name="connsiteY0" fmla="*/ 0 h 1621772"/>
                <a:gd name="connsiteX1" fmla="*/ 56224 w 119063"/>
                <a:gd name="connsiteY1" fmla="*/ 6607 h 1621772"/>
                <a:gd name="connsiteX2" fmla="*/ 66146 w 119063"/>
                <a:gd name="connsiteY2" fmla="*/ 9910 h 1621772"/>
                <a:gd name="connsiteX3" fmla="*/ 119063 w 119063"/>
                <a:gd name="connsiteY3" fmla="*/ 115614 h 1621772"/>
                <a:gd name="connsiteX4" fmla="*/ 119063 w 119063"/>
                <a:gd name="connsiteY4" fmla="*/ 1458860 h 1621772"/>
                <a:gd name="connsiteX5" fmla="*/ 119063 w 119063"/>
                <a:gd name="connsiteY5" fmla="*/ 1553686 h 1621772"/>
                <a:gd name="connsiteX6" fmla="*/ 0 w 119063"/>
                <a:gd name="connsiteY6" fmla="*/ 1621772 h 1621772"/>
                <a:gd name="connsiteX7" fmla="*/ 0 w 119063"/>
                <a:gd name="connsiteY7" fmla="*/ 1561802 h 1621772"/>
                <a:gd name="connsiteX8" fmla="*/ 0 w 119063"/>
                <a:gd name="connsiteY8" fmla="*/ 46246 h 1621772"/>
                <a:gd name="connsiteX9" fmla="*/ 33073 w 119063"/>
                <a:gd name="connsiteY9" fmla="*/ 0 h 16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063" h="1621772">
                  <a:moveTo>
                    <a:pt x="33073" y="0"/>
                  </a:moveTo>
                  <a:cubicBezTo>
                    <a:pt x="39688" y="0"/>
                    <a:pt x="49610" y="0"/>
                    <a:pt x="56224" y="6607"/>
                  </a:cubicBezTo>
                  <a:cubicBezTo>
                    <a:pt x="56224" y="6607"/>
                    <a:pt x="56224" y="6607"/>
                    <a:pt x="66146" y="9910"/>
                  </a:cubicBezTo>
                  <a:cubicBezTo>
                    <a:pt x="95912" y="26426"/>
                    <a:pt x="119063" y="75975"/>
                    <a:pt x="119063" y="115614"/>
                  </a:cubicBezTo>
                  <a:cubicBezTo>
                    <a:pt x="119063" y="115614"/>
                    <a:pt x="119063" y="115614"/>
                    <a:pt x="119063" y="1458860"/>
                  </a:cubicBezTo>
                  <a:lnTo>
                    <a:pt x="119063" y="1553686"/>
                  </a:lnTo>
                  <a:lnTo>
                    <a:pt x="0" y="1621772"/>
                  </a:lnTo>
                  <a:lnTo>
                    <a:pt x="0" y="1561802"/>
                  </a:lnTo>
                  <a:cubicBezTo>
                    <a:pt x="0" y="1268090"/>
                    <a:pt x="0" y="798150"/>
                    <a:pt x="0" y="46246"/>
                  </a:cubicBezTo>
                  <a:cubicBezTo>
                    <a:pt x="0" y="16516"/>
                    <a:pt x="16537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41" name="任意多边形: 形状 240">
              <a:extLst>
                <a:ext uri="{FF2B5EF4-FFF2-40B4-BE49-F238E27FC236}">
                  <a16:creationId xmlns:a16="http://schemas.microsoft.com/office/drawing/2014/main" id="{5F215D2E-5F33-46B1-BF06-9545891E75A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26613" y="4365625"/>
              <a:ext cx="115888" cy="874224"/>
            </a:xfrm>
            <a:custGeom>
              <a:avLst/>
              <a:gdLst>
                <a:gd name="connsiteX0" fmla="*/ 33111 w 115888"/>
                <a:gd name="connsiteY0" fmla="*/ 0 h 874224"/>
                <a:gd name="connsiteX1" fmla="*/ 52977 w 115888"/>
                <a:gd name="connsiteY1" fmla="*/ 6602 h 874224"/>
                <a:gd name="connsiteX2" fmla="*/ 62911 w 115888"/>
                <a:gd name="connsiteY2" fmla="*/ 13203 h 874224"/>
                <a:gd name="connsiteX3" fmla="*/ 115888 w 115888"/>
                <a:gd name="connsiteY3" fmla="*/ 118823 h 874224"/>
                <a:gd name="connsiteX4" fmla="*/ 115888 w 115888"/>
                <a:gd name="connsiteY4" fmla="*/ 620757 h 874224"/>
                <a:gd name="connsiteX5" fmla="*/ 115888 w 115888"/>
                <a:gd name="connsiteY5" fmla="*/ 825103 h 874224"/>
                <a:gd name="connsiteX6" fmla="*/ 26514 w 115888"/>
                <a:gd name="connsiteY6" fmla="*/ 874224 h 874224"/>
                <a:gd name="connsiteX7" fmla="*/ 15314 w 115888"/>
                <a:gd name="connsiteY7" fmla="*/ 861465 h 874224"/>
                <a:gd name="connsiteX8" fmla="*/ 0 w 115888"/>
                <a:gd name="connsiteY8" fmla="*/ 798753 h 874224"/>
                <a:gd name="connsiteX9" fmla="*/ 0 w 115888"/>
                <a:gd name="connsiteY9" fmla="*/ 49510 h 874224"/>
                <a:gd name="connsiteX10" fmla="*/ 33111 w 115888"/>
                <a:gd name="connsiteY10" fmla="*/ 0 h 87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888" h="874224">
                  <a:moveTo>
                    <a:pt x="33111" y="0"/>
                  </a:moveTo>
                  <a:cubicBezTo>
                    <a:pt x="39733" y="0"/>
                    <a:pt x="46355" y="3301"/>
                    <a:pt x="52977" y="6602"/>
                  </a:cubicBezTo>
                  <a:cubicBezTo>
                    <a:pt x="52977" y="6602"/>
                    <a:pt x="52977" y="6602"/>
                    <a:pt x="62911" y="13203"/>
                  </a:cubicBezTo>
                  <a:cubicBezTo>
                    <a:pt x="92710" y="29706"/>
                    <a:pt x="115888" y="75915"/>
                    <a:pt x="115888" y="118823"/>
                  </a:cubicBezTo>
                  <a:cubicBezTo>
                    <a:pt x="115888" y="118823"/>
                    <a:pt x="115888" y="118823"/>
                    <a:pt x="115888" y="620757"/>
                  </a:cubicBezTo>
                  <a:lnTo>
                    <a:pt x="115888" y="825103"/>
                  </a:lnTo>
                  <a:lnTo>
                    <a:pt x="26514" y="874224"/>
                  </a:lnTo>
                  <a:lnTo>
                    <a:pt x="15314" y="861465"/>
                  </a:lnTo>
                  <a:cubicBezTo>
                    <a:pt x="5795" y="842486"/>
                    <a:pt x="0" y="820207"/>
                    <a:pt x="0" y="798753"/>
                  </a:cubicBezTo>
                  <a:cubicBezTo>
                    <a:pt x="0" y="798753"/>
                    <a:pt x="0" y="798753"/>
                    <a:pt x="0" y="49510"/>
                  </a:cubicBezTo>
                  <a:cubicBezTo>
                    <a:pt x="0" y="19804"/>
                    <a:pt x="13244" y="0"/>
                    <a:pt x="33111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39" name="任意多边形: 形状 238">
              <a:extLst>
                <a:ext uri="{FF2B5EF4-FFF2-40B4-BE49-F238E27FC236}">
                  <a16:creationId xmlns:a16="http://schemas.microsoft.com/office/drawing/2014/main" id="{3999E84D-AA32-4328-8EB1-E150383BC4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45688" y="4695825"/>
              <a:ext cx="119063" cy="414899"/>
            </a:xfrm>
            <a:custGeom>
              <a:avLst/>
              <a:gdLst>
                <a:gd name="connsiteX0" fmla="*/ 33073 w 119063"/>
                <a:gd name="connsiteY0" fmla="*/ 0 h 414899"/>
                <a:gd name="connsiteX1" fmla="*/ 56224 w 119063"/>
                <a:gd name="connsiteY1" fmla="*/ 6605 h 414899"/>
                <a:gd name="connsiteX2" fmla="*/ 62839 w 119063"/>
                <a:gd name="connsiteY2" fmla="*/ 9908 h 414899"/>
                <a:gd name="connsiteX3" fmla="*/ 119063 w 119063"/>
                <a:gd name="connsiteY3" fmla="*/ 115586 h 414899"/>
                <a:gd name="connsiteX4" fmla="*/ 119063 w 119063"/>
                <a:gd name="connsiteY4" fmla="*/ 310277 h 414899"/>
                <a:gd name="connsiteX5" fmla="*/ 119063 w 119063"/>
                <a:gd name="connsiteY5" fmla="*/ 363731 h 414899"/>
                <a:gd name="connsiteX6" fmla="*/ 29159 w 119063"/>
                <a:gd name="connsiteY6" fmla="*/ 414899 h 414899"/>
                <a:gd name="connsiteX7" fmla="*/ 16950 w 119063"/>
                <a:gd name="connsiteY7" fmla="*/ 397121 h 414899"/>
                <a:gd name="connsiteX8" fmla="*/ 0 w 119063"/>
                <a:gd name="connsiteY8" fmla="*/ 336851 h 414899"/>
                <a:gd name="connsiteX9" fmla="*/ 0 w 119063"/>
                <a:gd name="connsiteY9" fmla="*/ 49537 h 414899"/>
                <a:gd name="connsiteX10" fmla="*/ 33073 w 119063"/>
                <a:gd name="connsiteY10" fmla="*/ 0 h 4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063" h="414899">
                  <a:moveTo>
                    <a:pt x="33073" y="0"/>
                  </a:moveTo>
                  <a:cubicBezTo>
                    <a:pt x="39688" y="0"/>
                    <a:pt x="49610" y="3303"/>
                    <a:pt x="56224" y="6605"/>
                  </a:cubicBezTo>
                  <a:cubicBezTo>
                    <a:pt x="56224" y="6605"/>
                    <a:pt x="56224" y="6605"/>
                    <a:pt x="62839" y="9908"/>
                  </a:cubicBezTo>
                  <a:cubicBezTo>
                    <a:pt x="95912" y="29722"/>
                    <a:pt x="119063" y="75957"/>
                    <a:pt x="119063" y="115586"/>
                  </a:cubicBezTo>
                  <a:cubicBezTo>
                    <a:pt x="119063" y="115586"/>
                    <a:pt x="119063" y="115586"/>
                    <a:pt x="119063" y="310277"/>
                  </a:cubicBezTo>
                  <a:lnTo>
                    <a:pt x="119063" y="363731"/>
                  </a:lnTo>
                  <a:lnTo>
                    <a:pt x="29159" y="414899"/>
                  </a:lnTo>
                  <a:lnTo>
                    <a:pt x="16950" y="397121"/>
                  </a:lnTo>
                  <a:cubicBezTo>
                    <a:pt x="6615" y="378132"/>
                    <a:pt x="0" y="356666"/>
                    <a:pt x="0" y="336851"/>
                  </a:cubicBezTo>
                  <a:cubicBezTo>
                    <a:pt x="0" y="336851"/>
                    <a:pt x="0" y="336851"/>
                    <a:pt x="0" y="49537"/>
                  </a:cubicBezTo>
                  <a:cubicBezTo>
                    <a:pt x="0" y="16513"/>
                    <a:pt x="13229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48" name="任意多边形: 形状 247">
              <a:extLst>
                <a:ext uri="{FF2B5EF4-FFF2-40B4-BE49-F238E27FC236}">
                  <a16:creationId xmlns:a16="http://schemas.microsoft.com/office/drawing/2014/main" id="{E2DF0AA1-2C0A-4E2E-99B1-A1EB47B77077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9056822" y="3261347"/>
              <a:ext cx="120650" cy="2243743"/>
            </a:xfrm>
            <a:custGeom>
              <a:avLst/>
              <a:gdLst>
                <a:gd name="connsiteX0" fmla="*/ 33514 w 120650"/>
                <a:gd name="connsiteY0" fmla="*/ 0 h 2243743"/>
                <a:gd name="connsiteX1" fmla="*/ 56974 w 120650"/>
                <a:gd name="connsiteY1" fmla="*/ 6605 h 2243743"/>
                <a:gd name="connsiteX2" fmla="*/ 63676 w 120650"/>
                <a:gd name="connsiteY2" fmla="*/ 9908 h 2243743"/>
                <a:gd name="connsiteX3" fmla="*/ 120650 w 120650"/>
                <a:gd name="connsiteY3" fmla="*/ 115587 h 2243743"/>
                <a:gd name="connsiteX4" fmla="*/ 120650 w 120650"/>
                <a:gd name="connsiteY4" fmla="*/ 2080273 h 2243743"/>
                <a:gd name="connsiteX5" fmla="*/ 120650 w 120650"/>
                <a:gd name="connsiteY5" fmla="*/ 2177592 h 2243743"/>
                <a:gd name="connsiteX6" fmla="*/ 0 w 120650"/>
                <a:gd name="connsiteY6" fmla="*/ 2243743 h 2243743"/>
                <a:gd name="connsiteX7" fmla="*/ 0 w 120650"/>
                <a:gd name="connsiteY7" fmla="*/ 2132585 h 2243743"/>
                <a:gd name="connsiteX8" fmla="*/ 0 w 120650"/>
                <a:gd name="connsiteY8" fmla="*/ 46235 h 2243743"/>
                <a:gd name="connsiteX9" fmla="*/ 33514 w 120650"/>
                <a:gd name="connsiteY9" fmla="*/ 0 h 22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650" h="2243743">
                  <a:moveTo>
                    <a:pt x="33514" y="0"/>
                  </a:moveTo>
                  <a:cubicBezTo>
                    <a:pt x="40217" y="0"/>
                    <a:pt x="46919" y="0"/>
                    <a:pt x="56974" y="6605"/>
                  </a:cubicBezTo>
                  <a:cubicBezTo>
                    <a:pt x="56974" y="6605"/>
                    <a:pt x="56974" y="6605"/>
                    <a:pt x="63676" y="9908"/>
                  </a:cubicBezTo>
                  <a:cubicBezTo>
                    <a:pt x="97190" y="26420"/>
                    <a:pt x="120650" y="75957"/>
                    <a:pt x="120650" y="115587"/>
                  </a:cubicBezTo>
                  <a:cubicBezTo>
                    <a:pt x="120650" y="115587"/>
                    <a:pt x="120650" y="115587"/>
                    <a:pt x="120650" y="2080273"/>
                  </a:cubicBezTo>
                  <a:lnTo>
                    <a:pt x="120650" y="2177592"/>
                  </a:lnTo>
                  <a:lnTo>
                    <a:pt x="0" y="2243743"/>
                  </a:lnTo>
                  <a:lnTo>
                    <a:pt x="0" y="2132585"/>
                  </a:lnTo>
                  <a:cubicBezTo>
                    <a:pt x="0" y="1834535"/>
                    <a:pt x="0" y="1238435"/>
                    <a:pt x="0" y="46235"/>
                  </a:cubicBezTo>
                  <a:cubicBezTo>
                    <a:pt x="0" y="16513"/>
                    <a:pt x="13406" y="0"/>
                    <a:pt x="33514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49" name="任意多边形: 形状 248">
              <a:extLst>
                <a:ext uri="{FF2B5EF4-FFF2-40B4-BE49-F238E27FC236}">
                  <a16:creationId xmlns:a16="http://schemas.microsoft.com/office/drawing/2014/main" id="{93F95DFF-692A-4154-AB5C-0BEB1715CA9F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8836159" y="3769347"/>
              <a:ext cx="119063" cy="1621772"/>
            </a:xfrm>
            <a:custGeom>
              <a:avLst/>
              <a:gdLst>
                <a:gd name="connsiteX0" fmla="*/ 33073 w 119063"/>
                <a:gd name="connsiteY0" fmla="*/ 0 h 1621772"/>
                <a:gd name="connsiteX1" fmla="*/ 56224 w 119063"/>
                <a:gd name="connsiteY1" fmla="*/ 6607 h 1621772"/>
                <a:gd name="connsiteX2" fmla="*/ 66146 w 119063"/>
                <a:gd name="connsiteY2" fmla="*/ 9910 h 1621772"/>
                <a:gd name="connsiteX3" fmla="*/ 119063 w 119063"/>
                <a:gd name="connsiteY3" fmla="*/ 115614 h 1621772"/>
                <a:gd name="connsiteX4" fmla="*/ 119063 w 119063"/>
                <a:gd name="connsiteY4" fmla="*/ 1458860 h 1621772"/>
                <a:gd name="connsiteX5" fmla="*/ 119063 w 119063"/>
                <a:gd name="connsiteY5" fmla="*/ 1553686 h 1621772"/>
                <a:gd name="connsiteX6" fmla="*/ 0 w 119063"/>
                <a:gd name="connsiteY6" fmla="*/ 1621772 h 1621772"/>
                <a:gd name="connsiteX7" fmla="*/ 0 w 119063"/>
                <a:gd name="connsiteY7" fmla="*/ 1561802 h 1621772"/>
                <a:gd name="connsiteX8" fmla="*/ 0 w 119063"/>
                <a:gd name="connsiteY8" fmla="*/ 46246 h 1621772"/>
                <a:gd name="connsiteX9" fmla="*/ 33073 w 119063"/>
                <a:gd name="connsiteY9" fmla="*/ 0 h 16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063" h="1621772">
                  <a:moveTo>
                    <a:pt x="33073" y="0"/>
                  </a:moveTo>
                  <a:cubicBezTo>
                    <a:pt x="39688" y="0"/>
                    <a:pt x="49610" y="0"/>
                    <a:pt x="56224" y="6607"/>
                  </a:cubicBezTo>
                  <a:cubicBezTo>
                    <a:pt x="56224" y="6607"/>
                    <a:pt x="56224" y="6607"/>
                    <a:pt x="66146" y="9910"/>
                  </a:cubicBezTo>
                  <a:cubicBezTo>
                    <a:pt x="95912" y="26426"/>
                    <a:pt x="119063" y="75975"/>
                    <a:pt x="119063" y="115614"/>
                  </a:cubicBezTo>
                  <a:cubicBezTo>
                    <a:pt x="119063" y="115614"/>
                    <a:pt x="119063" y="115614"/>
                    <a:pt x="119063" y="1458860"/>
                  </a:cubicBezTo>
                  <a:lnTo>
                    <a:pt x="119063" y="1553686"/>
                  </a:lnTo>
                  <a:lnTo>
                    <a:pt x="0" y="1621772"/>
                  </a:lnTo>
                  <a:lnTo>
                    <a:pt x="0" y="1561802"/>
                  </a:lnTo>
                  <a:cubicBezTo>
                    <a:pt x="0" y="1268090"/>
                    <a:pt x="0" y="798150"/>
                    <a:pt x="0" y="46246"/>
                  </a:cubicBezTo>
                  <a:cubicBezTo>
                    <a:pt x="0" y="16516"/>
                    <a:pt x="16537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50" name="任意多边形: 形状 249">
              <a:extLst>
                <a:ext uri="{FF2B5EF4-FFF2-40B4-BE49-F238E27FC236}">
                  <a16:creationId xmlns:a16="http://schemas.microsoft.com/office/drawing/2014/main" id="{12DE8761-93A2-4BA5-96ED-CBDB609E5AA2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8613909" y="4367834"/>
              <a:ext cx="115888" cy="874224"/>
            </a:xfrm>
            <a:custGeom>
              <a:avLst/>
              <a:gdLst>
                <a:gd name="connsiteX0" fmla="*/ 33111 w 115888"/>
                <a:gd name="connsiteY0" fmla="*/ 0 h 874224"/>
                <a:gd name="connsiteX1" fmla="*/ 52977 w 115888"/>
                <a:gd name="connsiteY1" fmla="*/ 6602 h 874224"/>
                <a:gd name="connsiteX2" fmla="*/ 62911 w 115888"/>
                <a:gd name="connsiteY2" fmla="*/ 13203 h 874224"/>
                <a:gd name="connsiteX3" fmla="*/ 115888 w 115888"/>
                <a:gd name="connsiteY3" fmla="*/ 118823 h 874224"/>
                <a:gd name="connsiteX4" fmla="*/ 115888 w 115888"/>
                <a:gd name="connsiteY4" fmla="*/ 620757 h 874224"/>
                <a:gd name="connsiteX5" fmla="*/ 115888 w 115888"/>
                <a:gd name="connsiteY5" fmla="*/ 825103 h 874224"/>
                <a:gd name="connsiteX6" fmla="*/ 26514 w 115888"/>
                <a:gd name="connsiteY6" fmla="*/ 874224 h 874224"/>
                <a:gd name="connsiteX7" fmla="*/ 15314 w 115888"/>
                <a:gd name="connsiteY7" fmla="*/ 861465 h 874224"/>
                <a:gd name="connsiteX8" fmla="*/ 0 w 115888"/>
                <a:gd name="connsiteY8" fmla="*/ 798753 h 874224"/>
                <a:gd name="connsiteX9" fmla="*/ 0 w 115888"/>
                <a:gd name="connsiteY9" fmla="*/ 49510 h 874224"/>
                <a:gd name="connsiteX10" fmla="*/ 33111 w 115888"/>
                <a:gd name="connsiteY10" fmla="*/ 0 h 87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888" h="874224">
                  <a:moveTo>
                    <a:pt x="33111" y="0"/>
                  </a:moveTo>
                  <a:cubicBezTo>
                    <a:pt x="39733" y="0"/>
                    <a:pt x="46355" y="3301"/>
                    <a:pt x="52977" y="6602"/>
                  </a:cubicBezTo>
                  <a:cubicBezTo>
                    <a:pt x="52977" y="6602"/>
                    <a:pt x="52977" y="6602"/>
                    <a:pt x="62911" y="13203"/>
                  </a:cubicBezTo>
                  <a:cubicBezTo>
                    <a:pt x="92710" y="29706"/>
                    <a:pt x="115888" y="75915"/>
                    <a:pt x="115888" y="118823"/>
                  </a:cubicBezTo>
                  <a:cubicBezTo>
                    <a:pt x="115888" y="118823"/>
                    <a:pt x="115888" y="118823"/>
                    <a:pt x="115888" y="620757"/>
                  </a:cubicBezTo>
                  <a:lnTo>
                    <a:pt x="115888" y="825103"/>
                  </a:lnTo>
                  <a:lnTo>
                    <a:pt x="26514" y="874224"/>
                  </a:lnTo>
                  <a:lnTo>
                    <a:pt x="15314" y="861465"/>
                  </a:lnTo>
                  <a:cubicBezTo>
                    <a:pt x="5795" y="842486"/>
                    <a:pt x="0" y="820207"/>
                    <a:pt x="0" y="798753"/>
                  </a:cubicBezTo>
                  <a:cubicBezTo>
                    <a:pt x="0" y="798753"/>
                    <a:pt x="0" y="798753"/>
                    <a:pt x="0" y="49510"/>
                  </a:cubicBezTo>
                  <a:cubicBezTo>
                    <a:pt x="0" y="19804"/>
                    <a:pt x="13244" y="0"/>
                    <a:pt x="33111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51" name="任意多边形: 形状 250">
              <a:extLst>
                <a:ext uri="{FF2B5EF4-FFF2-40B4-BE49-F238E27FC236}">
                  <a16:creationId xmlns:a16="http://schemas.microsoft.com/office/drawing/2014/main" id="{31E777D3-0C18-4121-89DC-F8148821A7C1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8391659" y="4698034"/>
              <a:ext cx="119063" cy="414899"/>
            </a:xfrm>
            <a:custGeom>
              <a:avLst/>
              <a:gdLst>
                <a:gd name="connsiteX0" fmla="*/ 33073 w 119063"/>
                <a:gd name="connsiteY0" fmla="*/ 0 h 414899"/>
                <a:gd name="connsiteX1" fmla="*/ 56224 w 119063"/>
                <a:gd name="connsiteY1" fmla="*/ 6605 h 414899"/>
                <a:gd name="connsiteX2" fmla="*/ 62839 w 119063"/>
                <a:gd name="connsiteY2" fmla="*/ 9908 h 414899"/>
                <a:gd name="connsiteX3" fmla="*/ 119063 w 119063"/>
                <a:gd name="connsiteY3" fmla="*/ 115586 h 414899"/>
                <a:gd name="connsiteX4" fmla="*/ 119063 w 119063"/>
                <a:gd name="connsiteY4" fmla="*/ 310277 h 414899"/>
                <a:gd name="connsiteX5" fmla="*/ 119063 w 119063"/>
                <a:gd name="connsiteY5" fmla="*/ 363731 h 414899"/>
                <a:gd name="connsiteX6" fmla="*/ 29159 w 119063"/>
                <a:gd name="connsiteY6" fmla="*/ 414899 h 414899"/>
                <a:gd name="connsiteX7" fmla="*/ 16950 w 119063"/>
                <a:gd name="connsiteY7" fmla="*/ 397121 h 414899"/>
                <a:gd name="connsiteX8" fmla="*/ 0 w 119063"/>
                <a:gd name="connsiteY8" fmla="*/ 336851 h 414899"/>
                <a:gd name="connsiteX9" fmla="*/ 0 w 119063"/>
                <a:gd name="connsiteY9" fmla="*/ 49537 h 414899"/>
                <a:gd name="connsiteX10" fmla="*/ 33073 w 119063"/>
                <a:gd name="connsiteY10" fmla="*/ 0 h 4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063" h="414899">
                  <a:moveTo>
                    <a:pt x="33073" y="0"/>
                  </a:moveTo>
                  <a:cubicBezTo>
                    <a:pt x="39688" y="0"/>
                    <a:pt x="49610" y="3303"/>
                    <a:pt x="56224" y="6605"/>
                  </a:cubicBezTo>
                  <a:cubicBezTo>
                    <a:pt x="56224" y="6605"/>
                    <a:pt x="56224" y="6605"/>
                    <a:pt x="62839" y="9908"/>
                  </a:cubicBezTo>
                  <a:cubicBezTo>
                    <a:pt x="95912" y="29722"/>
                    <a:pt x="119063" y="75957"/>
                    <a:pt x="119063" y="115586"/>
                  </a:cubicBezTo>
                  <a:cubicBezTo>
                    <a:pt x="119063" y="115586"/>
                    <a:pt x="119063" y="115586"/>
                    <a:pt x="119063" y="310277"/>
                  </a:cubicBezTo>
                  <a:lnTo>
                    <a:pt x="119063" y="363731"/>
                  </a:lnTo>
                  <a:lnTo>
                    <a:pt x="29159" y="414899"/>
                  </a:lnTo>
                  <a:lnTo>
                    <a:pt x="16950" y="397121"/>
                  </a:lnTo>
                  <a:cubicBezTo>
                    <a:pt x="6615" y="378132"/>
                    <a:pt x="0" y="356666"/>
                    <a:pt x="0" y="336851"/>
                  </a:cubicBezTo>
                  <a:cubicBezTo>
                    <a:pt x="0" y="336851"/>
                    <a:pt x="0" y="336851"/>
                    <a:pt x="0" y="49537"/>
                  </a:cubicBezTo>
                  <a:cubicBezTo>
                    <a:pt x="0" y="16513"/>
                    <a:pt x="13229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46" name="Freeform 106">
              <a:extLst>
                <a:ext uri="{FF2B5EF4-FFF2-40B4-BE49-F238E27FC236}">
                  <a16:creationId xmlns:a16="http://schemas.microsoft.com/office/drawing/2014/main" id="{4E1033CC-A13D-4768-92B6-DDBAE3D7D4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55909" y="2437995"/>
              <a:ext cx="1951037" cy="3057525"/>
            </a:xfrm>
            <a:custGeom>
              <a:avLst/>
              <a:gdLst>
                <a:gd name="T0" fmla="*/ 531 w 531"/>
                <a:gd name="T1" fmla="*/ 0 h 835"/>
                <a:gd name="T2" fmla="*/ 0 w 531"/>
                <a:gd name="T3" fmla="*/ 0 h 835"/>
                <a:gd name="T4" fmla="*/ 0 w 531"/>
                <a:gd name="T5" fmla="*/ 682 h 835"/>
                <a:gd name="T6" fmla="*/ 0 w 531"/>
                <a:gd name="T7" fmla="*/ 682 h 835"/>
                <a:gd name="T8" fmla="*/ 6 w 531"/>
                <a:gd name="T9" fmla="*/ 692 h 835"/>
                <a:gd name="T10" fmla="*/ 248 w 531"/>
                <a:gd name="T11" fmla="*/ 831 h 835"/>
                <a:gd name="T12" fmla="*/ 264 w 531"/>
                <a:gd name="T13" fmla="*/ 835 h 835"/>
                <a:gd name="T14" fmla="*/ 286 w 531"/>
                <a:gd name="T15" fmla="*/ 830 h 835"/>
                <a:gd name="T16" fmla="*/ 522 w 531"/>
                <a:gd name="T17" fmla="*/ 693 h 835"/>
                <a:gd name="T18" fmla="*/ 531 w 531"/>
                <a:gd name="T19" fmla="*/ 682 h 835"/>
                <a:gd name="T20" fmla="*/ 531 w 531"/>
                <a:gd name="T21" fmla="*/ 682 h 835"/>
                <a:gd name="T22" fmla="*/ 531 w 531"/>
                <a:gd name="T23" fmla="*/ 0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31" h="835">
                  <a:moveTo>
                    <a:pt x="5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82"/>
                    <a:pt x="0" y="682"/>
                    <a:pt x="0" y="682"/>
                  </a:cubicBezTo>
                  <a:cubicBezTo>
                    <a:pt x="0" y="682"/>
                    <a:pt x="0" y="682"/>
                    <a:pt x="0" y="682"/>
                  </a:cubicBezTo>
                  <a:cubicBezTo>
                    <a:pt x="0" y="685"/>
                    <a:pt x="2" y="689"/>
                    <a:pt x="6" y="692"/>
                  </a:cubicBezTo>
                  <a:cubicBezTo>
                    <a:pt x="248" y="831"/>
                    <a:pt x="248" y="831"/>
                    <a:pt x="248" y="831"/>
                  </a:cubicBezTo>
                  <a:cubicBezTo>
                    <a:pt x="252" y="834"/>
                    <a:pt x="258" y="835"/>
                    <a:pt x="264" y="835"/>
                  </a:cubicBezTo>
                  <a:cubicBezTo>
                    <a:pt x="272" y="835"/>
                    <a:pt x="280" y="833"/>
                    <a:pt x="286" y="830"/>
                  </a:cubicBezTo>
                  <a:cubicBezTo>
                    <a:pt x="522" y="693"/>
                    <a:pt x="522" y="693"/>
                    <a:pt x="522" y="693"/>
                  </a:cubicBezTo>
                  <a:cubicBezTo>
                    <a:pt x="528" y="690"/>
                    <a:pt x="531" y="686"/>
                    <a:pt x="531" y="682"/>
                  </a:cubicBezTo>
                  <a:cubicBezTo>
                    <a:pt x="531" y="682"/>
                    <a:pt x="531" y="682"/>
                    <a:pt x="531" y="682"/>
                  </a:cubicBezTo>
                  <a:cubicBezTo>
                    <a:pt x="531" y="0"/>
                    <a:pt x="531" y="0"/>
                    <a:pt x="531" y="0"/>
                  </a:cubicBezTo>
                </a:path>
              </a:pathLst>
            </a:custGeom>
            <a:gradFill>
              <a:gsLst>
                <a:gs pos="100000">
                  <a:srgbClr val="42E6E0">
                    <a:alpha val="20000"/>
                  </a:srgbClr>
                </a:gs>
                <a:gs pos="0">
                  <a:srgbClr val="180D5B">
                    <a:alpha val="5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</p:grp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943403" y="4071055"/>
            <a:ext cx="2340818" cy="296271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943402" y="4533176"/>
            <a:ext cx="5087595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F43A69A-C441-46B2-A04C-833C041584CC}"/>
              </a:ext>
            </a:extLst>
          </p:cNvPr>
          <p:cNvSpPr/>
          <p:nvPr userDrawn="1"/>
        </p:nvSpPr>
        <p:spPr>
          <a:xfrm>
            <a:off x="-111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5457956" y="2573757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5459072" y="3469107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bg1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DFAD072-98A3-4A9A-A57D-A2BBD0C400AF}"/>
              </a:ext>
            </a:extLst>
          </p:cNvPr>
          <p:cNvGrpSpPr/>
          <p:nvPr userDrawn="1"/>
        </p:nvGrpSpPr>
        <p:grpSpPr>
          <a:xfrm flipH="1">
            <a:off x="347887" y="1993644"/>
            <a:ext cx="7140148" cy="3966548"/>
            <a:chOff x="4656138" y="2437995"/>
            <a:chExt cx="6846887" cy="3803634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1FEC273-3D18-48A3-8E14-F2C2E0EA1388}"/>
                </a:ext>
              </a:extLst>
            </p:cNvPr>
            <p:cNvSpPr/>
            <p:nvPr userDrawn="1"/>
          </p:nvSpPr>
          <p:spPr>
            <a:xfrm>
              <a:off x="9791994" y="5509651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E5B24915-2C92-4794-B49D-726193F73647}"/>
                </a:ext>
              </a:extLst>
            </p:cNvPr>
            <p:cNvSpPr/>
            <p:nvPr userDrawn="1"/>
          </p:nvSpPr>
          <p:spPr>
            <a:xfrm>
              <a:off x="8951536" y="5923755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A23F1A1F-8473-4CAC-8B68-2ECBFEBF8864}"/>
                </a:ext>
              </a:extLst>
            </p:cNvPr>
            <p:cNvSpPr/>
            <p:nvPr userDrawn="1"/>
          </p:nvSpPr>
          <p:spPr>
            <a:xfrm>
              <a:off x="7681196" y="5266157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4E18F4E0-9855-455A-9AB4-8E45971C61FF}"/>
                </a:ext>
              </a:extLst>
            </p:cNvPr>
            <p:cNvSpPr/>
            <p:nvPr userDrawn="1"/>
          </p:nvSpPr>
          <p:spPr>
            <a:xfrm>
              <a:off x="6269331" y="5704329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20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30A201A1-80D9-4DA8-A881-55B80110B5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56138" y="4818063"/>
              <a:ext cx="6846887" cy="1335087"/>
            </a:xfrm>
            <a:custGeom>
              <a:avLst/>
              <a:gdLst>
                <a:gd name="T0" fmla="*/ 2059 w 2076"/>
                <a:gd name="T1" fmla="*/ 0 h 404"/>
                <a:gd name="T2" fmla="*/ 2053 w 2076"/>
                <a:gd name="T3" fmla="*/ 2 h 404"/>
                <a:gd name="T4" fmla="*/ 1420 w 2076"/>
                <a:gd name="T5" fmla="*/ 368 h 404"/>
                <a:gd name="T6" fmla="*/ 1388 w 2076"/>
                <a:gd name="T7" fmla="*/ 376 h 404"/>
                <a:gd name="T8" fmla="*/ 1357 w 2076"/>
                <a:gd name="T9" fmla="*/ 368 h 404"/>
                <a:gd name="T10" fmla="*/ 949 w 2076"/>
                <a:gd name="T11" fmla="*/ 132 h 404"/>
                <a:gd name="T12" fmla="*/ 903 w 2076"/>
                <a:gd name="T13" fmla="*/ 120 h 404"/>
                <a:gd name="T14" fmla="*/ 858 w 2076"/>
                <a:gd name="T15" fmla="*/ 132 h 404"/>
                <a:gd name="T16" fmla="*/ 521 w 2076"/>
                <a:gd name="T17" fmla="*/ 326 h 404"/>
                <a:gd name="T18" fmla="*/ 490 w 2076"/>
                <a:gd name="T19" fmla="*/ 335 h 404"/>
                <a:gd name="T20" fmla="*/ 459 w 2076"/>
                <a:gd name="T21" fmla="*/ 326 h 404"/>
                <a:gd name="T22" fmla="*/ 23 w 2076"/>
                <a:gd name="T23" fmla="*/ 75 h 404"/>
                <a:gd name="T24" fmla="*/ 16 w 2076"/>
                <a:gd name="T25" fmla="*/ 73 h 404"/>
                <a:gd name="T26" fmla="*/ 4 w 2076"/>
                <a:gd name="T27" fmla="*/ 80 h 404"/>
                <a:gd name="T28" fmla="*/ 9 w 2076"/>
                <a:gd name="T29" fmla="*/ 99 h 404"/>
                <a:gd name="T30" fmla="*/ 445 w 2076"/>
                <a:gd name="T31" fmla="*/ 351 h 404"/>
                <a:gd name="T32" fmla="*/ 490 w 2076"/>
                <a:gd name="T33" fmla="*/ 363 h 404"/>
                <a:gd name="T34" fmla="*/ 535 w 2076"/>
                <a:gd name="T35" fmla="*/ 351 h 404"/>
                <a:gd name="T36" fmla="*/ 872 w 2076"/>
                <a:gd name="T37" fmla="*/ 156 h 404"/>
                <a:gd name="T38" fmla="*/ 903 w 2076"/>
                <a:gd name="T39" fmla="*/ 148 h 404"/>
                <a:gd name="T40" fmla="*/ 935 w 2076"/>
                <a:gd name="T41" fmla="*/ 156 h 404"/>
                <a:gd name="T42" fmla="*/ 1343 w 2076"/>
                <a:gd name="T43" fmla="*/ 392 h 404"/>
                <a:gd name="T44" fmla="*/ 1388 w 2076"/>
                <a:gd name="T45" fmla="*/ 404 h 404"/>
                <a:gd name="T46" fmla="*/ 1434 w 2076"/>
                <a:gd name="T47" fmla="*/ 392 h 404"/>
                <a:gd name="T48" fmla="*/ 2067 w 2076"/>
                <a:gd name="T49" fmla="*/ 26 h 404"/>
                <a:gd name="T50" fmla="*/ 2072 w 2076"/>
                <a:gd name="T51" fmla="*/ 7 h 404"/>
                <a:gd name="T52" fmla="*/ 2059 w 2076"/>
                <a:gd name="T53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076" h="404">
                  <a:moveTo>
                    <a:pt x="2059" y="0"/>
                  </a:moveTo>
                  <a:cubicBezTo>
                    <a:pt x="2057" y="0"/>
                    <a:pt x="2055" y="1"/>
                    <a:pt x="2053" y="2"/>
                  </a:cubicBezTo>
                  <a:cubicBezTo>
                    <a:pt x="1420" y="368"/>
                    <a:pt x="1420" y="368"/>
                    <a:pt x="1420" y="368"/>
                  </a:cubicBezTo>
                  <a:cubicBezTo>
                    <a:pt x="1410" y="373"/>
                    <a:pt x="1399" y="376"/>
                    <a:pt x="1388" y="376"/>
                  </a:cubicBezTo>
                  <a:cubicBezTo>
                    <a:pt x="1378" y="376"/>
                    <a:pt x="1367" y="373"/>
                    <a:pt x="1357" y="368"/>
                  </a:cubicBezTo>
                  <a:cubicBezTo>
                    <a:pt x="949" y="132"/>
                    <a:pt x="949" y="132"/>
                    <a:pt x="949" y="132"/>
                  </a:cubicBezTo>
                  <a:cubicBezTo>
                    <a:pt x="935" y="124"/>
                    <a:pt x="919" y="120"/>
                    <a:pt x="903" y="120"/>
                  </a:cubicBezTo>
                  <a:cubicBezTo>
                    <a:pt x="888" y="120"/>
                    <a:pt x="872" y="124"/>
                    <a:pt x="858" y="132"/>
                  </a:cubicBezTo>
                  <a:cubicBezTo>
                    <a:pt x="521" y="326"/>
                    <a:pt x="521" y="326"/>
                    <a:pt x="521" y="326"/>
                  </a:cubicBezTo>
                  <a:cubicBezTo>
                    <a:pt x="511" y="332"/>
                    <a:pt x="501" y="335"/>
                    <a:pt x="490" y="335"/>
                  </a:cubicBezTo>
                  <a:cubicBezTo>
                    <a:pt x="479" y="335"/>
                    <a:pt x="468" y="332"/>
                    <a:pt x="459" y="326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1" y="74"/>
                    <a:pt x="19" y="73"/>
                    <a:pt x="16" y="73"/>
                  </a:cubicBezTo>
                  <a:cubicBezTo>
                    <a:pt x="11" y="73"/>
                    <a:pt x="7" y="76"/>
                    <a:pt x="4" y="80"/>
                  </a:cubicBezTo>
                  <a:cubicBezTo>
                    <a:pt x="0" y="87"/>
                    <a:pt x="3" y="95"/>
                    <a:pt x="9" y="99"/>
                  </a:cubicBezTo>
                  <a:cubicBezTo>
                    <a:pt x="445" y="351"/>
                    <a:pt x="445" y="351"/>
                    <a:pt x="445" y="351"/>
                  </a:cubicBezTo>
                  <a:cubicBezTo>
                    <a:pt x="459" y="359"/>
                    <a:pt x="474" y="363"/>
                    <a:pt x="490" y="363"/>
                  </a:cubicBezTo>
                  <a:cubicBezTo>
                    <a:pt x="506" y="363"/>
                    <a:pt x="521" y="359"/>
                    <a:pt x="535" y="351"/>
                  </a:cubicBezTo>
                  <a:cubicBezTo>
                    <a:pt x="872" y="156"/>
                    <a:pt x="872" y="156"/>
                    <a:pt x="872" y="156"/>
                  </a:cubicBezTo>
                  <a:cubicBezTo>
                    <a:pt x="882" y="150"/>
                    <a:pt x="893" y="148"/>
                    <a:pt x="903" y="148"/>
                  </a:cubicBezTo>
                  <a:cubicBezTo>
                    <a:pt x="914" y="148"/>
                    <a:pt x="925" y="150"/>
                    <a:pt x="935" y="156"/>
                  </a:cubicBezTo>
                  <a:cubicBezTo>
                    <a:pt x="1343" y="392"/>
                    <a:pt x="1343" y="392"/>
                    <a:pt x="1343" y="392"/>
                  </a:cubicBezTo>
                  <a:cubicBezTo>
                    <a:pt x="1357" y="400"/>
                    <a:pt x="1373" y="404"/>
                    <a:pt x="1388" y="404"/>
                  </a:cubicBezTo>
                  <a:cubicBezTo>
                    <a:pt x="1404" y="404"/>
                    <a:pt x="1420" y="400"/>
                    <a:pt x="1434" y="392"/>
                  </a:cubicBezTo>
                  <a:cubicBezTo>
                    <a:pt x="2067" y="26"/>
                    <a:pt x="2067" y="26"/>
                    <a:pt x="2067" y="26"/>
                  </a:cubicBezTo>
                  <a:cubicBezTo>
                    <a:pt x="2073" y="23"/>
                    <a:pt x="2076" y="14"/>
                    <a:pt x="2072" y="7"/>
                  </a:cubicBezTo>
                  <a:cubicBezTo>
                    <a:pt x="2069" y="3"/>
                    <a:pt x="2064" y="0"/>
                    <a:pt x="2059" y="0"/>
                  </a:cubicBezTo>
                </a:path>
              </a:pathLst>
            </a:custGeom>
            <a:gradFill>
              <a:gsLst>
                <a:gs pos="74000">
                  <a:srgbClr val="2D7C9E">
                    <a:alpha val="50000"/>
                  </a:srgbClr>
                </a:gs>
                <a:gs pos="37000">
                  <a:srgbClr val="41E4DE">
                    <a:alpha val="50000"/>
                  </a:srgbClr>
                </a:gs>
                <a:gs pos="0">
                  <a:srgbClr val="19145F">
                    <a:alpha val="50000"/>
                  </a:srgbClr>
                </a:gs>
                <a:gs pos="100000">
                  <a:srgbClr val="19125E">
                    <a:alpha val="50000"/>
                  </a:srgbClr>
                </a:gs>
              </a:gsLst>
              <a:lin ang="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1F3FC629-F814-44C8-848B-3A13EF052D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40638" y="3989388"/>
              <a:ext cx="3186112" cy="1830387"/>
            </a:xfrm>
            <a:custGeom>
              <a:avLst/>
              <a:gdLst>
                <a:gd name="T0" fmla="*/ 483 w 966"/>
                <a:gd name="T1" fmla="*/ 466 h 554"/>
                <a:gd name="T2" fmla="*/ 157 w 966"/>
                <a:gd name="T3" fmla="*/ 277 h 554"/>
                <a:gd name="T4" fmla="*/ 483 w 966"/>
                <a:gd name="T5" fmla="*/ 89 h 554"/>
                <a:gd name="T6" fmla="*/ 810 w 966"/>
                <a:gd name="T7" fmla="*/ 277 h 554"/>
                <a:gd name="T8" fmla="*/ 483 w 966"/>
                <a:gd name="T9" fmla="*/ 466 h 554"/>
                <a:gd name="T10" fmla="*/ 483 w 966"/>
                <a:gd name="T11" fmla="*/ 48 h 554"/>
                <a:gd name="T12" fmla="*/ 472 w 966"/>
                <a:gd name="T13" fmla="*/ 51 h 554"/>
                <a:gd name="T14" fmla="*/ 82 w 966"/>
                <a:gd name="T15" fmla="*/ 276 h 554"/>
                <a:gd name="T16" fmla="*/ 81 w 966"/>
                <a:gd name="T17" fmla="*/ 277 h 554"/>
                <a:gd name="T18" fmla="*/ 82 w 966"/>
                <a:gd name="T19" fmla="*/ 278 h 554"/>
                <a:gd name="T20" fmla="*/ 472 w 966"/>
                <a:gd name="T21" fmla="*/ 503 h 554"/>
                <a:gd name="T22" fmla="*/ 472 w 966"/>
                <a:gd name="T23" fmla="*/ 503 h 554"/>
                <a:gd name="T24" fmla="*/ 483 w 966"/>
                <a:gd name="T25" fmla="*/ 506 h 554"/>
                <a:gd name="T26" fmla="*/ 494 w 966"/>
                <a:gd name="T27" fmla="*/ 503 h 554"/>
                <a:gd name="T28" fmla="*/ 884 w 966"/>
                <a:gd name="T29" fmla="*/ 278 h 554"/>
                <a:gd name="T30" fmla="*/ 885 w 966"/>
                <a:gd name="T31" fmla="*/ 277 h 554"/>
                <a:gd name="T32" fmla="*/ 884 w 966"/>
                <a:gd name="T33" fmla="*/ 276 h 554"/>
                <a:gd name="T34" fmla="*/ 494 w 966"/>
                <a:gd name="T35" fmla="*/ 51 h 554"/>
                <a:gd name="T36" fmla="*/ 483 w 966"/>
                <a:gd name="T37" fmla="*/ 48 h 554"/>
                <a:gd name="T38" fmla="*/ 483 w 966"/>
                <a:gd name="T39" fmla="*/ 518 h 554"/>
                <a:gd name="T40" fmla="*/ 466 w 966"/>
                <a:gd name="T41" fmla="*/ 514 h 554"/>
                <a:gd name="T42" fmla="*/ 466 w 966"/>
                <a:gd name="T43" fmla="*/ 514 h 554"/>
                <a:gd name="T44" fmla="*/ 76 w 966"/>
                <a:gd name="T45" fmla="*/ 289 h 554"/>
                <a:gd name="T46" fmla="*/ 69 w 966"/>
                <a:gd name="T47" fmla="*/ 277 h 554"/>
                <a:gd name="T48" fmla="*/ 76 w 966"/>
                <a:gd name="T49" fmla="*/ 266 h 554"/>
                <a:gd name="T50" fmla="*/ 466 w 966"/>
                <a:gd name="T51" fmla="*/ 41 h 554"/>
                <a:gd name="T52" fmla="*/ 483 w 966"/>
                <a:gd name="T53" fmla="*/ 36 h 554"/>
                <a:gd name="T54" fmla="*/ 500 w 966"/>
                <a:gd name="T55" fmla="*/ 41 h 554"/>
                <a:gd name="T56" fmla="*/ 890 w 966"/>
                <a:gd name="T57" fmla="*/ 266 h 554"/>
                <a:gd name="T58" fmla="*/ 897 w 966"/>
                <a:gd name="T59" fmla="*/ 277 h 554"/>
                <a:gd name="T60" fmla="*/ 890 w 966"/>
                <a:gd name="T61" fmla="*/ 289 h 554"/>
                <a:gd name="T62" fmla="*/ 500 w 966"/>
                <a:gd name="T63" fmla="*/ 514 h 554"/>
                <a:gd name="T64" fmla="*/ 483 w 966"/>
                <a:gd name="T65" fmla="*/ 518 h 554"/>
                <a:gd name="T66" fmla="*/ 483 w 966"/>
                <a:gd name="T67" fmla="*/ 0 h 554"/>
                <a:gd name="T68" fmla="*/ 462 w 966"/>
                <a:gd name="T69" fmla="*/ 6 h 554"/>
                <a:gd name="T70" fmla="*/ 7 w 966"/>
                <a:gd name="T71" fmla="*/ 269 h 554"/>
                <a:gd name="T72" fmla="*/ 7 w 966"/>
                <a:gd name="T73" fmla="*/ 286 h 554"/>
                <a:gd name="T74" fmla="*/ 462 w 966"/>
                <a:gd name="T75" fmla="*/ 548 h 554"/>
                <a:gd name="T76" fmla="*/ 483 w 966"/>
                <a:gd name="T77" fmla="*/ 554 h 554"/>
                <a:gd name="T78" fmla="*/ 505 w 966"/>
                <a:gd name="T79" fmla="*/ 548 h 554"/>
                <a:gd name="T80" fmla="*/ 960 w 966"/>
                <a:gd name="T81" fmla="*/ 286 h 554"/>
                <a:gd name="T82" fmla="*/ 960 w 966"/>
                <a:gd name="T83" fmla="*/ 269 h 554"/>
                <a:gd name="T84" fmla="*/ 505 w 966"/>
                <a:gd name="T85" fmla="*/ 6 h 554"/>
                <a:gd name="T86" fmla="*/ 483 w 966"/>
                <a:gd name="T87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66" h="554">
                  <a:moveTo>
                    <a:pt x="483" y="466"/>
                  </a:moveTo>
                  <a:cubicBezTo>
                    <a:pt x="157" y="277"/>
                    <a:pt x="157" y="277"/>
                    <a:pt x="157" y="277"/>
                  </a:cubicBezTo>
                  <a:cubicBezTo>
                    <a:pt x="483" y="89"/>
                    <a:pt x="483" y="89"/>
                    <a:pt x="483" y="89"/>
                  </a:cubicBezTo>
                  <a:cubicBezTo>
                    <a:pt x="810" y="277"/>
                    <a:pt x="810" y="277"/>
                    <a:pt x="810" y="277"/>
                  </a:cubicBezTo>
                  <a:cubicBezTo>
                    <a:pt x="483" y="466"/>
                    <a:pt x="483" y="466"/>
                    <a:pt x="483" y="466"/>
                  </a:cubicBezTo>
                  <a:moveTo>
                    <a:pt x="483" y="48"/>
                  </a:moveTo>
                  <a:cubicBezTo>
                    <a:pt x="479" y="48"/>
                    <a:pt x="475" y="49"/>
                    <a:pt x="472" y="51"/>
                  </a:cubicBezTo>
                  <a:cubicBezTo>
                    <a:pt x="82" y="276"/>
                    <a:pt x="82" y="276"/>
                    <a:pt x="82" y="276"/>
                  </a:cubicBezTo>
                  <a:cubicBezTo>
                    <a:pt x="82" y="277"/>
                    <a:pt x="81" y="277"/>
                    <a:pt x="81" y="277"/>
                  </a:cubicBezTo>
                  <a:cubicBezTo>
                    <a:pt x="81" y="278"/>
                    <a:pt x="82" y="278"/>
                    <a:pt x="82" y="278"/>
                  </a:cubicBezTo>
                  <a:cubicBezTo>
                    <a:pt x="472" y="503"/>
                    <a:pt x="472" y="503"/>
                    <a:pt x="472" y="503"/>
                  </a:cubicBezTo>
                  <a:cubicBezTo>
                    <a:pt x="472" y="503"/>
                    <a:pt x="472" y="503"/>
                    <a:pt x="472" y="503"/>
                  </a:cubicBezTo>
                  <a:cubicBezTo>
                    <a:pt x="475" y="505"/>
                    <a:pt x="479" y="506"/>
                    <a:pt x="483" y="506"/>
                  </a:cubicBezTo>
                  <a:cubicBezTo>
                    <a:pt x="487" y="506"/>
                    <a:pt x="491" y="505"/>
                    <a:pt x="494" y="503"/>
                  </a:cubicBezTo>
                  <a:cubicBezTo>
                    <a:pt x="884" y="278"/>
                    <a:pt x="884" y="278"/>
                    <a:pt x="884" y="278"/>
                  </a:cubicBezTo>
                  <a:cubicBezTo>
                    <a:pt x="885" y="278"/>
                    <a:pt x="885" y="278"/>
                    <a:pt x="885" y="277"/>
                  </a:cubicBezTo>
                  <a:cubicBezTo>
                    <a:pt x="885" y="277"/>
                    <a:pt x="885" y="277"/>
                    <a:pt x="884" y="276"/>
                  </a:cubicBezTo>
                  <a:cubicBezTo>
                    <a:pt x="494" y="51"/>
                    <a:pt x="494" y="51"/>
                    <a:pt x="494" y="51"/>
                  </a:cubicBezTo>
                  <a:cubicBezTo>
                    <a:pt x="491" y="49"/>
                    <a:pt x="487" y="48"/>
                    <a:pt x="483" y="48"/>
                  </a:cubicBezTo>
                  <a:moveTo>
                    <a:pt x="483" y="518"/>
                  </a:moveTo>
                  <a:cubicBezTo>
                    <a:pt x="477" y="518"/>
                    <a:pt x="471" y="517"/>
                    <a:pt x="466" y="514"/>
                  </a:cubicBezTo>
                  <a:cubicBezTo>
                    <a:pt x="466" y="514"/>
                    <a:pt x="466" y="514"/>
                    <a:pt x="466" y="514"/>
                  </a:cubicBezTo>
                  <a:cubicBezTo>
                    <a:pt x="76" y="289"/>
                    <a:pt x="76" y="289"/>
                    <a:pt x="76" y="289"/>
                  </a:cubicBezTo>
                  <a:cubicBezTo>
                    <a:pt x="72" y="286"/>
                    <a:pt x="69" y="282"/>
                    <a:pt x="69" y="277"/>
                  </a:cubicBezTo>
                  <a:cubicBezTo>
                    <a:pt x="69" y="273"/>
                    <a:pt x="72" y="268"/>
                    <a:pt x="76" y="266"/>
                  </a:cubicBezTo>
                  <a:cubicBezTo>
                    <a:pt x="466" y="41"/>
                    <a:pt x="466" y="41"/>
                    <a:pt x="466" y="41"/>
                  </a:cubicBezTo>
                  <a:cubicBezTo>
                    <a:pt x="471" y="38"/>
                    <a:pt x="477" y="36"/>
                    <a:pt x="483" y="36"/>
                  </a:cubicBezTo>
                  <a:cubicBezTo>
                    <a:pt x="489" y="36"/>
                    <a:pt x="495" y="38"/>
                    <a:pt x="500" y="41"/>
                  </a:cubicBezTo>
                  <a:cubicBezTo>
                    <a:pt x="890" y="266"/>
                    <a:pt x="890" y="266"/>
                    <a:pt x="890" y="266"/>
                  </a:cubicBezTo>
                  <a:cubicBezTo>
                    <a:pt x="894" y="268"/>
                    <a:pt x="897" y="273"/>
                    <a:pt x="897" y="277"/>
                  </a:cubicBezTo>
                  <a:cubicBezTo>
                    <a:pt x="897" y="282"/>
                    <a:pt x="894" y="286"/>
                    <a:pt x="890" y="289"/>
                  </a:cubicBezTo>
                  <a:cubicBezTo>
                    <a:pt x="500" y="514"/>
                    <a:pt x="500" y="514"/>
                    <a:pt x="500" y="514"/>
                  </a:cubicBezTo>
                  <a:cubicBezTo>
                    <a:pt x="495" y="517"/>
                    <a:pt x="489" y="518"/>
                    <a:pt x="483" y="518"/>
                  </a:cubicBezTo>
                  <a:moveTo>
                    <a:pt x="483" y="0"/>
                  </a:moveTo>
                  <a:cubicBezTo>
                    <a:pt x="476" y="0"/>
                    <a:pt x="468" y="2"/>
                    <a:pt x="462" y="6"/>
                  </a:cubicBezTo>
                  <a:cubicBezTo>
                    <a:pt x="7" y="269"/>
                    <a:pt x="7" y="269"/>
                    <a:pt x="7" y="269"/>
                  </a:cubicBezTo>
                  <a:cubicBezTo>
                    <a:pt x="0" y="273"/>
                    <a:pt x="0" y="282"/>
                    <a:pt x="7" y="286"/>
                  </a:cubicBezTo>
                  <a:cubicBezTo>
                    <a:pt x="462" y="548"/>
                    <a:pt x="462" y="548"/>
                    <a:pt x="462" y="548"/>
                  </a:cubicBezTo>
                  <a:cubicBezTo>
                    <a:pt x="468" y="552"/>
                    <a:pt x="476" y="554"/>
                    <a:pt x="483" y="554"/>
                  </a:cubicBezTo>
                  <a:cubicBezTo>
                    <a:pt x="491" y="554"/>
                    <a:pt x="498" y="552"/>
                    <a:pt x="505" y="548"/>
                  </a:cubicBezTo>
                  <a:cubicBezTo>
                    <a:pt x="960" y="286"/>
                    <a:pt x="960" y="286"/>
                    <a:pt x="960" y="286"/>
                  </a:cubicBezTo>
                  <a:cubicBezTo>
                    <a:pt x="966" y="282"/>
                    <a:pt x="966" y="273"/>
                    <a:pt x="960" y="269"/>
                  </a:cubicBezTo>
                  <a:cubicBezTo>
                    <a:pt x="505" y="6"/>
                    <a:pt x="505" y="6"/>
                    <a:pt x="505" y="6"/>
                  </a:cubicBezTo>
                  <a:cubicBezTo>
                    <a:pt x="498" y="2"/>
                    <a:pt x="491" y="0"/>
                    <a:pt x="483" y="0"/>
                  </a:cubicBezTo>
                </a:path>
              </a:pathLst>
            </a:custGeom>
            <a:solidFill>
              <a:srgbClr val="5E57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DC71528E-8757-4884-83C1-214745F9F21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69238" y="4108450"/>
              <a:ext cx="2730500" cy="1592262"/>
            </a:xfrm>
            <a:custGeom>
              <a:avLst/>
              <a:gdLst>
                <a:gd name="T0" fmla="*/ 403 w 828"/>
                <a:gd name="T1" fmla="*/ 467 h 482"/>
                <a:gd name="T2" fmla="*/ 13 w 828"/>
                <a:gd name="T3" fmla="*/ 242 h 482"/>
                <a:gd name="T4" fmla="*/ 12 w 828"/>
                <a:gd name="T5" fmla="*/ 241 h 482"/>
                <a:gd name="T6" fmla="*/ 13 w 828"/>
                <a:gd name="T7" fmla="*/ 240 h 482"/>
                <a:gd name="T8" fmla="*/ 403 w 828"/>
                <a:gd name="T9" fmla="*/ 15 h 482"/>
                <a:gd name="T10" fmla="*/ 414 w 828"/>
                <a:gd name="T11" fmla="*/ 12 h 482"/>
                <a:gd name="T12" fmla="*/ 425 w 828"/>
                <a:gd name="T13" fmla="*/ 15 h 482"/>
                <a:gd name="T14" fmla="*/ 815 w 828"/>
                <a:gd name="T15" fmla="*/ 240 h 482"/>
                <a:gd name="T16" fmla="*/ 816 w 828"/>
                <a:gd name="T17" fmla="*/ 241 h 482"/>
                <a:gd name="T18" fmla="*/ 815 w 828"/>
                <a:gd name="T19" fmla="*/ 242 h 482"/>
                <a:gd name="T20" fmla="*/ 425 w 828"/>
                <a:gd name="T21" fmla="*/ 467 h 482"/>
                <a:gd name="T22" fmla="*/ 414 w 828"/>
                <a:gd name="T23" fmla="*/ 470 h 482"/>
                <a:gd name="T24" fmla="*/ 403 w 828"/>
                <a:gd name="T25" fmla="*/ 467 h 482"/>
                <a:gd name="T26" fmla="*/ 403 w 828"/>
                <a:gd name="T27" fmla="*/ 467 h 482"/>
                <a:gd name="T28" fmla="*/ 414 w 828"/>
                <a:gd name="T29" fmla="*/ 0 h 482"/>
                <a:gd name="T30" fmla="*/ 397 w 828"/>
                <a:gd name="T31" fmla="*/ 5 h 482"/>
                <a:gd name="T32" fmla="*/ 7 w 828"/>
                <a:gd name="T33" fmla="*/ 230 h 482"/>
                <a:gd name="T34" fmla="*/ 0 w 828"/>
                <a:gd name="T35" fmla="*/ 241 h 482"/>
                <a:gd name="T36" fmla="*/ 7 w 828"/>
                <a:gd name="T37" fmla="*/ 253 h 482"/>
                <a:gd name="T38" fmla="*/ 397 w 828"/>
                <a:gd name="T39" fmla="*/ 478 h 482"/>
                <a:gd name="T40" fmla="*/ 397 w 828"/>
                <a:gd name="T41" fmla="*/ 478 h 482"/>
                <a:gd name="T42" fmla="*/ 414 w 828"/>
                <a:gd name="T43" fmla="*/ 482 h 482"/>
                <a:gd name="T44" fmla="*/ 431 w 828"/>
                <a:gd name="T45" fmla="*/ 478 h 482"/>
                <a:gd name="T46" fmla="*/ 821 w 828"/>
                <a:gd name="T47" fmla="*/ 253 h 482"/>
                <a:gd name="T48" fmla="*/ 828 w 828"/>
                <a:gd name="T49" fmla="*/ 241 h 482"/>
                <a:gd name="T50" fmla="*/ 821 w 828"/>
                <a:gd name="T51" fmla="*/ 230 h 482"/>
                <a:gd name="T52" fmla="*/ 431 w 828"/>
                <a:gd name="T53" fmla="*/ 5 h 482"/>
                <a:gd name="T54" fmla="*/ 414 w 828"/>
                <a:gd name="T55" fmla="*/ 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28" h="482">
                  <a:moveTo>
                    <a:pt x="403" y="467"/>
                  </a:moveTo>
                  <a:cubicBezTo>
                    <a:pt x="13" y="242"/>
                    <a:pt x="13" y="242"/>
                    <a:pt x="13" y="242"/>
                  </a:cubicBezTo>
                  <a:cubicBezTo>
                    <a:pt x="13" y="242"/>
                    <a:pt x="12" y="242"/>
                    <a:pt x="12" y="241"/>
                  </a:cubicBezTo>
                  <a:cubicBezTo>
                    <a:pt x="12" y="241"/>
                    <a:pt x="13" y="241"/>
                    <a:pt x="13" y="240"/>
                  </a:cubicBezTo>
                  <a:cubicBezTo>
                    <a:pt x="403" y="15"/>
                    <a:pt x="403" y="15"/>
                    <a:pt x="403" y="15"/>
                  </a:cubicBezTo>
                  <a:cubicBezTo>
                    <a:pt x="406" y="13"/>
                    <a:pt x="410" y="12"/>
                    <a:pt x="414" y="12"/>
                  </a:cubicBezTo>
                  <a:cubicBezTo>
                    <a:pt x="418" y="12"/>
                    <a:pt x="422" y="13"/>
                    <a:pt x="425" y="15"/>
                  </a:cubicBezTo>
                  <a:cubicBezTo>
                    <a:pt x="815" y="240"/>
                    <a:pt x="815" y="240"/>
                    <a:pt x="815" y="240"/>
                  </a:cubicBezTo>
                  <a:cubicBezTo>
                    <a:pt x="816" y="241"/>
                    <a:pt x="816" y="241"/>
                    <a:pt x="816" y="241"/>
                  </a:cubicBezTo>
                  <a:cubicBezTo>
                    <a:pt x="816" y="242"/>
                    <a:pt x="816" y="242"/>
                    <a:pt x="815" y="242"/>
                  </a:cubicBezTo>
                  <a:cubicBezTo>
                    <a:pt x="425" y="467"/>
                    <a:pt x="425" y="467"/>
                    <a:pt x="425" y="467"/>
                  </a:cubicBezTo>
                  <a:cubicBezTo>
                    <a:pt x="422" y="469"/>
                    <a:pt x="418" y="470"/>
                    <a:pt x="414" y="470"/>
                  </a:cubicBezTo>
                  <a:cubicBezTo>
                    <a:pt x="410" y="470"/>
                    <a:pt x="406" y="469"/>
                    <a:pt x="403" y="467"/>
                  </a:cubicBezTo>
                  <a:cubicBezTo>
                    <a:pt x="403" y="467"/>
                    <a:pt x="403" y="467"/>
                    <a:pt x="403" y="467"/>
                  </a:cubicBezTo>
                  <a:moveTo>
                    <a:pt x="414" y="0"/>
                  </a:moveTo>
                  <a:cubicBezTo>
                    <a:pt x="408" y="0"/>
                    <a:pt x="402" y="2"/>
                    <a:pt x="397" y="5"/>
                  </a:cubicBezTo>
                  <a:cubicBezTo>
                    <a:pt x="7" y="230"/>
                    <a:pt x="7" y="230"/>
                    <a:pt x="7" y="230"/>
                  </a:cubicBezTo>
                  <a:cubicBezTo>
                    <a:pt x="3" y="232"/>
                    <a:pt x="0" y="237"/>
                    <a:pt x="0" y="241"/>
                  </a:cubicBezTo>
                  <a:cubicBezTo>
                    <a:pt x="0" y="246"/>
                    <a:pt x="3" y="250"/>
                    <a:pt x="7" y="253"/>
                  </a:cubicBezTo>
                  <a:cubicBezTo>
                    <a:pt x="397" y="478"/>
                    <a:pt x="397" y="478"/>
                    <a:pt x="397" y="478"/>
                  </a:cubicBezTo>
                  <a:cubicBezTo>
                    <a:pt x="397" y="478"/>
                    <a:pt x="397" y="478"/>
                    <a:pt x="397" y="478"/>
                  </a:cubicBezTo>
                  <a:cubicBezTo>
                    <a:pt x="402" y="481"/>
                    <a:pt x="408" y="482"/>
                    <a:pt x="414" y="482"/>
                  </a:cubicBezTo>
                  <a:cubicBezTo>
                    <a:pt x="420" y="482"/>
                    <a:pt x="426" y="481"/>
                    <a:pt x="431" y="478"/>
                  </a:cubicBezTo>
                  <a:cubicBezTo>
                    <a:pt x="821" y="253"/>
                    <a:pt x="821" y="253"/>
                    <a:pt x="821" y="253"/>
                  </a:cubicBezTo>
                  <a:cubicBezTo>
                    <a:pt x="825" y="250"/>
                    <a:pt x="828" y="246"/>
                    <a:pt x="828" y="241"/>
                  </a:cubicBezTo>
                  <a:cubicBezTo>
                    <a:pt x="828" y="237"/>
                    <a:pt x="825" y="232"/>
                    <a:pt x="821" y="230"/>
                  </a:cubicBezTo>
                  <a:cubicBezTo>
                    <a:pt x="431" y="5"/>
                    <a:pt x="431" y="5"/>
                    <a:pt x="431" y="5"/>
                  </a:cubicBezTo>
                  <a:cubicBezTo>
                    <a:pt x="426" y="2"/>
                    <a:pt x="420" y="0"/>
                    <a:pt x="414" y="0"/>
                  </a:cubicBezTo>
                </a:path>
              </a:pathLst>
            </a:custGeom>
            <a:gradFill>
              <a:gsLst>
                <a:gs pos="74000">
                  <a:srgbClr val="2D7C9E">
                    <a:alpha val="74000"/>
                  </a:srgbClr>
                </a:gs>
                <a:gs pos="37000">
                  <a:srgbClr val="41E4DE">
                    <a:alpha val="71000"/>
                  </a:srgbClr>
                </a:gs>
                <a:gs pos="0">
                  <a:srgbClr val="19145F"/>
                </a:gs>
                <a:gs pos="100000">
                  <a:srgbClr val="19125E">
                    <a:alpha val="82000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ED5565D2-665C-4D02-AF53-29AFF656BF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58163" y="4283075"/>
              <a:ext cx="2154237" cy="1246187"/>
            </a:xfrm>
            <a:custGeom>
              <a:avLst/>
              <a:gdLst>
                <a:gd name="T0" fmla="*/ 678 w 1357"/>
                <a:gd name="T1" fmla="*/ 0 h 785"/>
                <a:gd name="T2" fmla="*/ 0 w 1357"/>
                <a:gd name="T3" fmla="*/ 391 h 785"/>
                <a:gd name="T4" fmla="*/ 678 w 1357"/>
                <a:gd name="T5" fmla="*/ 785 h 785"/>
                <a:gd name="T6" fmla="*/ 1357 w 1357"/>
                <a:gd name="T7" fmla="*/ 391 h 785"/>
                <a:gd name="T8" fmla="*/ 678 w 1357"/>
                <a:gd name="T9" fmla="*/ 0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7" h="785">
                  <a:moveTo>
                    <a:pt x="678" y="0"/>
                  </a:moveTo>
                  <a:lnTo>
                    <a:pt x="0" y="391"/>
                  </a:lnTo>
                  <a:lnTo>
                    <a:pt x="678" y="785"/>
                  </a:lnTo>
                  <a:lnTo>
                    <a:pt x="1357" y="391"/>
                  </a:lnTo>
                  <a:lnTo>
                    <a:pt x="678" y="0"/>
                  </a:lnTo>
                  <a:close/>
                </a:path>
              </a:pathLst>
            </a:custGeom>
            <a:solidFill>
              <a:srgbClr val="100B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8470F6EC-9358-4962-9498-35900AC547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58163" y="4283075"/>
              <a:ext cx="2154237" cy="1246187"/>
            </a:xfrm>
            <a:custGeom>
              <a:avLst/>
              <a:gdLst>
                <a:gd name="T0" fmla="*/ 678 w 1357"/>
                <a:gd name="T1" fmla="*/ 0 h 785"/>
                <a:gd name="T2" fmla="*/ 0 w 1357"/>
                <a:gd name="T3" fmla="*/ 391 h 785"/>
                <a:gd name="T4" fmla="*/ 678 w 1357"/>
                <a:gd name="T5" fmla="*/ 785 h 785"/>
                <a:gd name="T6" fmla="*/ 1357 w 1357"/>
                <a:gd name="T7" fmla="*/ 391 h 785"/>
                <a:gd name="T8" fmla="*/ 678 w 1357"/>
                <a:gd name="T9" fmla="*/ 0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7" h="785">
                  <a:moveTo>
                    <a:pt x="678" y="0"/>
                  </a:moveTo>
                  <a:lnTo>
                    <a:pt x="0" y="391"/>
                  </a:lnTo>
                  <a:lnTo>
                    <a:pt x="678" y="785"/>
                  </a:lnTo>
                  <a:lnTo>
                    <a:pt x="1357" y="391"/>
                  </a:lnTo>
                  <a:lnTo>
                    <a:pt x="67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55">
              <a:extLst>
                <a:ext uri="{FF2B5EF4-FFF2-40B4-BE49-F238E27FC236}">
                  <a16:creationId xmlns:a16="http://schemas.microsoft.com/office/drawing/2014/main" id="{1B8B1E90-E8E6-474C-A9F4-D613AE0CAB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13861" y="5810250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7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3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3" y="6"/>
                  </a:cubicBezTo>
                  <a:cubicBezTo>
                    <a:pt x="21" y="3"/>
                    <a:pt x="17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56">
              <a:extLst>
                <a:ext uri="{FF2B5EF4-FFF2-40B4-BE49-F238E27FC236}">
                  <a16:creationId xmlns:a16="http://schemas.microsoft.com/office/drawing/2014/main" id="{069847D9-8534-4608-A15D-B6E42ACE98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05936" y="5756275"/>
              <a:ext cx="88900" cy="79375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4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4" y="24"/>
                  </a:cubicBezTo>
                  <a:cubicBezTo>
                    <a:pt x="16" y="24"/>
                    <a:pt x="18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57">
              <a:extLst>
                <a:ext uri="{FF2B5EF4-FFF2-40B4-BE49-F238E27FC236}">
                  <a16:creationId xmlns:a16="http://schemas.microsoft.com/office/drawing/2014/main" id="{48EC9D43-F746-48CA-9F08-8E6CB81079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01186" y="5702300"/>
              <a:ext cx="85725" cy="77787"/>
            </a:xfrm>
            <a:custGeom>
              <a:avLst/>
              <a:gdLst>
                <a:gd name="T0" fmla="*/ 13 w 26"/>
                <a:gd name="T1" fmla="*/ 0 h 23"/>
                <a:gd name="T2" fmla="*/ 7 w 26"/>
                <a:gd name="T3" fmla="*/ 1 h 23"/>
                <a:gd name="T4" fmla="*/ 3 w 26"/>
                <a:gd name="T5" fmla="*/ 18 h 23"/>
                <a:gd name="T6" fmla="*/ 13 w 26"/>
                <a:gd name="T7" fmla="*/ 23 h 23"/>
                <a:gd name="T8" fmla="*/ 19 w 26"/>
                <a:gd name="T9" fmla="*/ 22 h 23"/>
                <a:gd name="T10" fmla="*/ 23 w 26"/>
                <a:gd name="T11" fmla="*/ 6 h 23"/>
                <a:gd name="T12" fmla="*/ 13 w 26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3">
                  <a:moveTo>
                    <a:pt x="13" y="0"/>
                  </a:moveTo>
                  <a:cubicBezTo>
                    <a:pt x="11" y="0"/>
                    <a:pt x="9" y="0"/>
                    <a:pt x="7" y="1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4" y="19"/>
                    <a:pt x="26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58">
              <a:extLst>
                <a:ext uri="{FF2B5EF4-FFF2-40B4-BE49-F238E27FC236}">
                  <a16:creationId xmlns:a16="http://schemas.microsoft.com/office/drawing/2014/main" id="{54203647-D14B-459B-A874-D5CE3FF3B5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3261" y="5649912"/>
              <a:ext cx="90488" cy="76200"/>
            </a:xfrm>
            <a:custGeom>
              <a:avLst/>
              <a:gdLst>
                <a:gd name="T0" fmla="*/ 13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8" y="1"/>
                  </a:cubicBezTo>
                  <a:cubicBezTo>
                    <a:pt x="2" y="4"/>
                    <a:pt x="0" y="12"/>
                    <a:pt x="3" y="17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2" y="2"/>
                    <a:pt x="18" y="0"/>
                    <a:pt x="13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59">
              <a:extLst>
                <a:ext uri="{FF2B5EF4-FFF2-40B4-BE49-F238E27FC236}">
                  <a16:creationId xmlns:a16="http://schemas.microsoft.com/office/drawing/2014/main" id="{08820E61-22DB-4B15-9C62-34AE5ADA75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6924" y="5595937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5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4"/>
                    <a:pt x="0" y="11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8"/>
                    <a:pt x="27" y="11"/>
                    <a:pt x="24" y="5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266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60">
              <a:extLst>
                <a:ext uri="{FF2B5EF4-FFF2-40B4-BE49-F238E27FC236}">
                  <a16:creationId xmlns:a16="http://schemas.microsoft.com/office/drawing/2014/main" id="{AEDA835B-253D-49A4-AD92-D38F3FD8A5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82174" y="5538787"/>
              <a:ext cx="88900" cy="80962"/>
            </a:xfrm>
            <a:custGeom>
              <a:avLst/>
              <a:gdLst>
                <a:gd name="T0" fmla="*/ 13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4266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61">
              <a:extLst>
                <a:ext uri="{FF2B5EF4-FFF2-40B4-BE49-F238E27FC236}">
                  <a16:creationId xmlns:a16="http://schemas.microsoft.com/office/drawing/2014/main" id="{EAAF6E4C-9F9A-49F1-8348-DF77685638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63161" y="5372100"/>
              <a:ext cx="88900" cy="77787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6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5"/>
                    <a:pt x="0" y="12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62">
              <a:extLst>
                <a:ext uri="{FF2B5EF4-FFF2-40B4-BE49-F238E27FC236}">
                  <a16:creationId xmlns:a16="http://schemas.microsoft.com/office/drawing/2014/main" id="{0347101B-1CD1-4977-A202-28F12251DD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1086" y="5426075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63">
              <a:extLst>
                <a:ext uri="{FF2B5EF4-FFF2-40B4-BE49-F238E27FC236}">
                  <a16:creationId xmlns:a16="http://schemas.microsoft.com/office/drawing/2014/main" id="{A65CBAA9-9DF4-4F79-A533-CE5F4A3231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74249" y="5480050"/>
              <a:ext cx="88900" cy="79375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4 w 27"/>
                <a:gd name="T5" fmla="*/ 18 h 24"/>
                <a:gd name="T6" fmla="*/ 14 w 27"/>
                <a:gd name="T7" fmla="*/ 24 h 24"/>
                <a:gd name="T8" fmla="*/ 20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4" y="18"/>
                  </a:cubicBezTo>
                  <a:cubicBezTo>
                    <a:pt x="6" y="22"/>
                    <a:pt x="10" y="24"/>
                    <a:pt x="14" y="24"/>
                  </a:cubicBezTo>
                  <a:cubicBezTo>
                    <a:pt x="16" y="24"/>
                    <a:pt x="18" y="23"/>
                    <a:pt x="20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57EA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64">
              <a:extLst>
                <a:ext uri="{FF2B5EF4-FFF2-40B4-BE49-F238E27FC236}">
                  <a16:creationId xmlns:a16="http://schemas.microsoft.com/office/drawing/2014/main" id="{306AC6B0-8C0B-470D-9853-86D766DEA4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23561" y="5372100"/>
              <a:ext cx="88900" cy="77787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5 h 23"/>
                <a:gd name="T4" fmla="*/ 8 w 27"/>
                <a:gd name="T5" fmla="*/ 22 h 23"/>
                <a:gd name="T6" fmla="*/ 13 w 27"/>
                <a:gd name="T7" fmla="*/ 23 h 23"/>
                <a:gd name="T8" fmla="*/ 24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5"/>
                  </a:cubicBezTo>
                  <a:cubicBezTo>
                    <a:pt x="0" y="11"/>
                    <a:pt x="2" y="18"/>
                    <a:pt x="8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8" y="23"/>
                    <a:pt x="21" y="21"/>
                    <a:pt x="24" y="17"/>
                  </a:cubicBezTo>
                  <a:cubicBezTo>
                    <a:pt x="27" y="11"/>
                    <a:pt x="25" y="4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65">
              <a:extLst>
                <a:ext uri="{FF2B5EF4-FFF2-40B4-BE49-F238E27FC236}">
                  <a16:creationId xmlns:a16="http://schemas.microsoft.com/office/drawing/2014/main" id="{D8CA5445-3AAF-46BA-84D0-F11755E0E5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15636" y="5426075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4 w 27"/>
                <a:gd name="T3" fmla="*/ 6 h 23"/>
                <a:gd name="T4" fmla="*/ 8 w 27"/>
                <a:gd name="T5" fmla="*/ 22 h 23"/>
                <a:gd name="T6" fmla="*/ 14 w 27"/>
                <a:gd name="T7" fmla="*/ 23 h 23"/>
                <a:gd name="T8" fmla="*/ 24 w 27"/>
                <a:gd name="T9" fmla="*/ 17 h 23"/>
                <a:gd name="T10" fmla="*/ 20 w 27"/>
                <a:gd name="T11" fmla="*/ 1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1"/>
                    <a:pt x="2" y="19"/>
                    <a:pt x="8" y="22"/>
                  </a:cubicBezTo>
                  <a:cubicBezTo>
                    <a:pt x="10" y="23"/>
                    <a:pt x="12" y="23"/>
                    <a:pt x="14" y="23"/>
                  </a:cubicBezTo>
                  <a:cubicBezTo>
                    <a:pt x="18" y="23"/>
                    <a:pt x="22" y="21"/>
                    <a:pt x="24" y="17"/>
                  </a:cubicBezTo>
                  <a:cubicBezTo>
                    <a:pt x="27" y="12"/>
                    <a:pt x="25" y="5"/>
                    <a:pt x="20" y="1"/>
                  </a:cubicBezTo>
                  <a:cubicBezTo>
                    <a:pt x="18" y="0"/>
                    <a:pt x="16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66">
              <a:extLst>
                <a:ext uri="{FF2B5EF4-FFF2-40B4-BE49-F238E27FC236}">
                  <a16:creationId xmlns:a16="http://schemas.microsoft.com/office/drawing/2014/main" id="{6E0F6EDD-9620-4A0A-9E52-85896B6B3E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10886" y="5480050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3 w 27"/>
                <a:gd name="T3" fmla="*/ 6 h 24"/>
                <a:gd name="T4" fmla="*/ 8 w 27"/>
                <a:gd name="T5" fmla="*/ 22 h 24"/>
                <a:gd name="T6" fmla="*/ 13 w 27"/>
                <a:gd name="T7" fmla="*/ 24 h 24"/>
                <a:gd name="T8" fmla="*/ 24 w 27"/>
                <a:gd name="T9" fmla="*/ 18 h 24"/>
                <a:gd name="T10" fmla="*/ 19 w 27"/>
                <a:gd name="T11" fmla="*/ 2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9" y="0"/>
                    <a:pt x="5" y="2"/>
                    <a:pt x="3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9" y="23"/>
                    <a:pt x="11" y="24"/>
                    <a:pt x="13" y="24"/>
                  </a:cubicBezTo>
                  <a:cubicBezTo>
                    <a:pt x="17" y="24"/>
                    <a:pt x="21" y="21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67">
              <a:extLst>
                <a:ext uri="{FF2B5EF4-FFF2-40B4-BE49-F238E27FC236}">
                  <a16:creationId xmlns:a16="http://schemas.microsoft.com/office/drawing/2014/main" id="{2B23DE40-FEA9-419A-A012-944D8879A7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04549" y="5532437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4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2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68">
              <a:extLst>
                <a:ext uri="{FF2B5EF4-FFF2-40B4-BE49-F238E27FC236}">
                  <a16:creationId xmlns:a16="http://schemas.microsoft.com/office/drawing/2014/main" id="{467CDEB9-2068-43B0-9F98-13F176B669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99799" y="5586412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3 w 27"/>
                <a:gd name="T3" fmla="*/ 6 h 24"/>
                <a:gd name="T4" fmla="*/ 7 w 27"/>
                <a:gd name="T5" fmla="*/ 22 h 24"/>
                <a:gd name="T6" fmla="*/ 13 w 27"/>
                <a:gd name="T7" fmla="*/ 24 h 24"/>
                <a:gd name="T8" fmla="*/ 24 w 27"/>
                <a:gd name="T9" fmla="*/ 18 h 24"/>
                <a:gd name="T10" fmla="*/ 19 w 27"/>
                <a:gd name="T11" fmla="*/ 2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9" y="0"/>
                    <a:pt x="5" y="3"/>
                    <a:pt x="3" y="6"/>
                  </a:cubicBezTo>
                  <a:cubicBezTo>
                    <a:pt x="0" y="12"/>
                    <a:pt x="2" y="19"/>
                    <a:pt x="7" y="22"/>
                  </a:cubicBezTo>
                  <a:cubicBezTo>
                    <a:pt x="9" y="23"/>
                    <a:pt x="11" y="24"/>
                    <a:pt x="13" y="24"/>
                  </a:cubicBezTo>
                  <a:cubicBezTo>
                    <a:pt x="17" y="24"/>
                    <a:pt x="21" y="22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7" y="1"/>
                    <a:pt x="15" y="0"/>
                    <a:pt x="13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71">
              <a:extLst>
                <a:ext uri="{FF2B5EF4-FFF2-40B4-BE49-F238E27FC236}">
                  <a16:creationId xmlns:a16="http://schemas.microsoft.com/office/drawing/2014/main" id="{2BA56708-F51B-4820-B39A-C5A8772A9E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945911" y="5972175"/>
              <a:ext cx="90488" cy="80962"/>
            </a:xfrm>
            <a:custGeom>
              <a:avLst/>
              <a:gdLst>
                <a:gd name="T0" fmla="*/ 14 w 27"/>
                <a:gd name="T1" fmla="*/ 0 h 24"/>
                <a:gd name="T2" fmla="*/ 3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3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1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72">
              <a:extLst>
                <a:ext uri="{FF2B5EF4-FFF2-40B4-BE49-F238E27FC236}">
                  <a16:creationId xmlns:a16="http://schemas.microsoft.com/office/drawing/2014/main" id="{3A242F8D-27D2-48B9-B89B-292D52ED31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53836" y="5919787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6 h 23"/>
                <a:gd name="T4" fmla="*/ 7 w 27"/>
                <a:gd name="T5" fmla="*/ 22 h 23"/>
                <a:gd name="T6" fmla="*/ 13 w 27"/>
                <a:gd name="T7" fmla="*/ 23 h 23"/>
                <a:gd name="T8" fmla="*/ 23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6"/>
                  </a:cubicBezTo>
                  <a:cubicBezTo>
                    <a:pt x="0" y="11"/>
                    <a:pt x="2" y="18"/>
                    <a:pt x="7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7" y="23"/>
                    <a:pt x="21" y="21"/>
                    <a:pt x="23" y="17"/>
                  </a:cubicBezTo>
                  <a:cubicBezTo>
                    <a:pt x="27" y="12"/>
                    <a:pt x="25" y="5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73">
              <a:extLst>
                <a:ext uri="{FF2B5EF4-FFF2-40B4-BE49-F238E27FC236}">
                  <a16:creationId xmlns:a16="http://schemas.microsoft.com/office/drawing/2014/main" id="{2B847F8F-E746-4ABE-9736-9BBD73E82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758586" y="5862637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4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2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74">
              <a:extLst>
                <a:ext uri="{FF2B5EF4-FFF2-40B4-BE49-F238E27FC236}">
                  <a16:creationId xmlns:a16="http://schemas.microsoft.com/office/drawing/2014/main" id="{F9BFC2B0-E8DC-476C-8440-1E265F6C55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6511" y="5810250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3 w 27"/>
                <a:gd name="T3" fmla="*/ 6 h 23"/>
                <a:gd name="T4" fmla="*/ 8 w 27"/>
                <a:gd name="T5" fmla="*/ 22 h 23"/>
                <a:gd name="T6" fmla="*/ 14 w 27"/>
                <a:gd name="T7" fmla="*/ 23 h 23"/>
                <a:gd name="T8" fmla="*/ 24 w 27"/>
                <a:gd name="T9" fmla="*/ 18 h 23"/>
                <a:gd name="T10" fmla="*/ 19 w 27"/>
                <a:gd name="T11" fmla="*/ 2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0" y="0"/>
                    <a:pt x="6" y="2"/>
                    <a:pt x="3" y="6"/>
                  </a:cubicBezTo>
                  <a:cubicBezTo>
                    <a:pt x="0" y="11"/>
                    <a:pt x="2" y="19"/>
                    <a:pt x="8" y="22"/>
                  </a:cubicBezTo>
                  <a:cubicBezTo>
                    <a:pt x="10" y="23"/>
                    <a:pt x="12" y="23"/>
                    <a:pt x="14" y="23"/>
                  </a:cubicBezTo>
                  <a:cubicBezTo>
                    <a:pt x="18" y="23"/>
                    <a:pt x="22" y="21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8" y="0"/>
                    <a:pt x="16" y="0"/>
                    <a:pt x="14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75">
              <a:extLst>
                <a:ext uri="{FF2B5EF4-FFF2-40B4-BE49-F238E27FC236}">
                  <a16:creationId xmlns:a16="http://schemas.microsoft.com/office/drawing/2014/main" id="{F68124A6-7643-4752-A093-522E178E22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2849" y="5756275"/>
              <a:ext cx="90488" cy="76200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5 h 23"/>
                <a:gd name="T4" fmla="*/ 7 w 27"/>
                <a:gd name="T5" fmla="*/ 22 h 23"/>
                <a:gd name="T6" fmla="*/ 13 w 27"/>
                <a:gd name="T7" fmla="*/ 23 h 23"/>
                <a:gd name="T8" fmla="*/ 23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5"/>
                  </a:cubicBezTo>
                  <a:cubicBezTo>
                    <a:pt x="0" y="11"/>
                    <a:pt x="2" y="18"/>
                    <a:pt x="7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7" y="23"/>
                    <a:pt x="21" y="21"/>
                    <a:pt x="23" y="17"/>
                  </a:cubicBezTo>
                  <a:cubicBezTo>
                    <a:pt x="27" y="12"/>
                    <a:pt x="25" y="4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77">
              <a:extLst>
                <a:ext uri="{FF2B5EF4-FFF2-40B4-BE49-F238E27FC236}">
                  <a16:creationId xmlns:a16="http://schemas.microsoft.com/office/drawing/2014/main" id="{7479CF2F-F825-4ED9-8980-9CDC581AD2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87124" y="5699125"/>
              <a:ext cx="79375" cy="73025"/>
            </a:xfrm>
            <a:custGeom>
              <a:avLst/>
              <a:gdLst>
                <a:gd name="T0" fmla="*/ 11 w 24"/>
                <a:gd name="T1" fmla="*/ 0 h 22"/>
                <a:gd name="T2" fmla="*/ 6 w 24"/>
                <a:gd name="T3" fmla="*/ 1 h 22"/>
                <a:gd name="T4" fmla="*/ 3 w 24"/>
                <a:gd name="T5" fmla="*/ 5 h 22"/>
                <a:gd name="T6" fmla="*/ 7 w 24"/>
                <a:gd name="T7" fmla="*/ 21 h 22"/>
                <a:gd name="T8" fmla="*/ 13 w 24"/>
                <a:gd name="T9" fmla="*/ 22 h 22"/>
                <a:gd name="T10" fmla="*/ 18 w 24"/>
                <a:gd name="T11" fmla="*/ 21 h 22"/>
                <a:gd name="T12" fmla="*/ 21 w 24"/>
                <a:gd name="T13" fmla="*/ 18 h 22"/>
                <a:gd name="T14" fmla="*/ 17 w 24"/>
                <a:gd name="T15" fmla="*/ 2 h 22"/>
                <a:gd name="T16" fmla="*/ 11 w 24"/>
                <a:gd name="T1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2">
                  <a:moveTo>
                    <a:pt x="11" y="0"/>
                  </a:moveTo>
                  <a:cubicBezTo>
                    <a:pt x="9" y="0"/>
                    <a:pt x="8" y="0"/>
                    <a:pt x="6" y="1"/>
                  </a:cubicBezTo>
                  <a:cubicBezTo>
                    <a:pt x="5" y="2"/>
                    <a:pt x="4" y="3"/>
                    <a:pt x="3" y="5"/>
                  </a:cubicBezTo>
                  <a:cubicBezTo>
                    <a:pt x="0" y="10"/>
                    <a:pt x="2" y="18"/>
                    <a:pt x="7" y="21"/>
                  </a:cubicBezTo>
                  <a:cubicBezTo>
                    <a:pt x="9" y="22"/>
                    <a:pt x="11" y="22"/>
                    <a:pt x="13" y="22"/>
                  </a:cubicBezTo>
                  <a:cubicBezTo>
                    <a:pt x="15" y="22"/>
                    <a:pt x="16" y="22"/>
                    <a:pt x="18" y="21"/>
                  </a:cubicBezTo>
                  <a:cubicBezTo>
                    <a:pt x="19" y="21"/>
                    <a:pt x="20" y="19"/>
                    <a:pt x="21" y="18"/>
                  </a:cubicBezTo>
                  <a:cubicBezTo>
                    <a:pt x="24" y="12"/>
                    <a:pt x="22" y="5"/>
                    <a:pt x="17" y="2"/>
                  </a:cubicBezTo>
                  <a:cubicBezTo>
                    <a:pt x="15" y="1"/>
                    <a:pt x="13" y="0"/>
                    <a:pt x="11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79">
              <a:extLst>
                <a:ext uri="{FF2B5EF4-FFF2-40B4-BE49-F238E27FC236}">
                  <a16:creationId xmlns:a16="http://schemas.microsoft.com/office/drawing/2014/main" id="{E2AC8F3E-E460-4D8E-A14F-DE4BCDA07A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91874" y="5646737"/>
              <a:ext cx="82550" cy="73025"/>
            </a:xfrm>
            <a:custGeom>
              <a:avLst/>
              <a:gdLst>
                <a:gd name="T0" fmla="*/ 11 w 25"/>
                <a:gd name="T1" fmla="*/ 0 h 22"/>
                <a:gd name="T2" fmla="*/ 7 w 25"/>
                <a:gd name="T3" fmla="*/ 1 h 22"/>
                <a:gd name="T4" fmla="*/ 4 w 25"/>
                <a:gd name="T5" fmla="*/ 5 h 22"/>
                <a:gd name="T6" fmla="*/ 8 w 25"/>
                <a:gd name="T7" fmla="*/ 21 h 22"/>
                <a:gd name="T8" fmla="*/ 14 w 25"/>
                <a:gd name="T9" fmla="*/ 22 h 22"/>
                <a:gd name="T10" fmla="*/ 18 w 25"/>
                <a:gd name="T11" fmla="*/ 21 h 22"/>
                <a:gd name="T12" fmla="*/ 22 w 25"/>
                <a:gd name="T13" fmla="*/ 17 h 22"/>
                <a:gd name="T14" fmla="*/ 17 w 25"/>
                <a:gd name="T15" fmla="*/ 1 h 22"/>
                <a:gd name="T16" fmla="*/ 11 w 25"/>
                <a:gd name="T1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2">
                  <a:moveTo>
                    <a:pt x="11" y="0"/>
                  </a:moveTo>
                  <a:cubicBezTo>
                    <a:pt x="10" y="0"/>
                    <a:pt x="9" y="0"/>
                    <a:pt x="7" y="1"/>
                  </a:cubicBezTo>
                  <a:cubicBezTo>
                    <a:pt x="6" y="2"/>
                    <a:pt x="4" y="3"/>
                    <a:pt x="4" y="5"/>
                  </a:cubicBezTo>
                  <a:cubicBezTo>
                    <a:pt x="0" y="10"/>
                    <a:pt x="2" y="17"/>
                    <a:pt x="8" y="21"/>
                  </a:cubicBezTo>
                  <a:cubicBezTo>
                    <a:pt x="10" y="22"/>
                    <a:pt x="12" y="22"/>
                    <a:pt x="14" y="22"/>
                  </a:cubicBezTo>
                  <a:cubicBezTo>
                    <a:pt x="15" y="22"/>
                    <a:pt x="17" y="22"/>
                    <a:pt x="18" y="21"/>
                  </a:cubicBezTo>
                  <a:cubicBezTo>
                    <a:pt x="19" y="20"/>
                    <a:pt x="21" y="19"/>
                    <a:pt x="22" y="17"/>
                  </a:cubicBezTo>
                  <a:cubicBezTo>
                    <a:pt x="25" y="12"/>
                    <a:pt x="23" y="5"/>
                    <a:pt x="17" y="1"/>
                  </a:cubicBezTo>
                  <a:cubicBezTo>
                    <a:pt x="15" y="0"/>
                    <a:pt x="13" y="0"/>
                    <a:pt x="11" y="0"/>
                  </a:cubicBezTo>
                </a:path>
              </a:pathLst>
            </a:custGeom>
            <a:solidFill>
              <a:srgbClr val="51498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80">
              <a:extLst>
                <a:ext uri="{FF2B5EF4-FFF2-40B4-BE49-F238E27FC236}">
                  <a16:creationId xmlns:a16="http://schemas.microsoft.com/office/drawing/2014/main" id="{877DA411-2751-44F2-A7EE-AA70CF8BCC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030174" y="5626100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8" y="1"/>
                  </a:cubicBezTo>
                  <a:cubicBezTo>
                    <a:pt x="2" y="5"/>
                    <a:pt x="0" y="12"/>
                    <a:pt x="3" y="17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1" y="2"/>
                    <a:pt x="18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81">
              <a:extLst>
                <a:ext uri="{FF2B5EF4-FFF2-40B4-BE49-F238E27FC236}">
                  <a16:creationId xmlns:a16="http://schemas.microsoft.com/office/drawing/2014/main" id="{08C14B30-69E1-436F-9656-9A670ED0AF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22249" y="5568950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4 w 27"/>
                <a:gd name="T5" fmla="*/ 18 h 24"/>
                <a:gd name="T6" fmla="*/ 14 w 27"/>
                <a:gd name="T7" fmla="*/ 24 h 24"/>
                <a:gd name="T8" fmla="*/ 20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4" y="18"/>
                  </a:cubicBezTo>
                  <a:cubicBezTo>
                    <a:pt x="6" y="22"/>
                    <a:pt x="10" y="24"/>
                    <a:pt x="14" y="24"/>
                  </a:cubicBezTo>
                  <a:cubicBezTo>
                    <a:pt x="16" y="24"/>
                    <a:pt x="18" y="23"/>
                    <a:pt x="20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3"/>
                    <a:pt x="18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82">
              <a:extLst>
                <a:ext uri="{FF2B5EF4-FFF2-40B4-BE49-F238E27FC236}">
                  <a16:creationId xmlns:a16="http://schemas.microsoft.com/office/drawing/2014/main" id="{81AB594C-8CCA-4332-AD1F-2ABC1E9301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17499" y="5516562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7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3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83">
              <a:extLst>
                <a:ext uri="{FF2B5EF4-FFF2-40B4-BE49-F238E27FC236}">
                  <a16:creationId xmlns:a16="http://schemas.microsoft.com/office/drawing/2014/main" id="{F5473C86-4E85-479B-A4DF-0AE3B70A98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09574" y="5462587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4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5"/>
                    <a:pt x="0" y="12"/>
                    <a:pt x="3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19" y="22"/>
                  </a:cubicBezTo>
                  <a:cubicBezTo>
                    <a:pt x="25" y="18"/>
                    <a:pt x="27" y="11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84">
              <a:extLst>
                <a:ext uri="{FF2B5EF4-FFF2-40B4-BE49-F238E27FC236}">
                  <a16:creationId xmlns:a16="http://schemas.microsoft.com/office/drawing/2014/main" id="{939CD653-6F1F-4C21-B0AD-212B0C319E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06411" y="5405437"/>
              <a:ext cx="85725" cy="80962"/>
            </a:xfrm>
            <a:custGeom>
              <a:avLst/>
              <a:gdLst>
                <a:gd name="T0" fmla="*/ 13 w 26"/>
                <a:gd name="T1" fmla="*/ 0 h 24"/>
                <a:gd name="T2" fmla="*/ 7 w 26"/>
                <a:gd name="T3" fmla="*/ 2 h 24"/>
                <a:gd name="T4" fmla="*/ 3 w 26"/>
                <a:gd name="T5" fmla="*/ 18 h 24"/>
                <a:gd name="T6" fmla="*/ 13 w 26"/>
                <a:gd name="T7" fmla="*/ 24 h 24"/>
                <a:gd name="T8" fmla="*/ 19 w 26"/>
                <a:gd name="T9" fmla="*/ 22 h 24"/>
                <a:gd name="T10" fmla="*/ 23 w 26"/>
                <a:gd name="T11" fmla="*/ 6 h 24"/>
                <a:gd name="T12" fmla="*/ 13 w 26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1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4" y="19"/>
                    <a:pt x="26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85">
              <a:extLst>
                <a:ext uri="{FF2B5EF4-FFF2-40B4-BE49-F238E27FC236}">
                  <a16:creationId xmlns:a16="http://schemas.microsoft.com/office/drawing/2014/main" id="{F3EE7AF8-F12B-4F2A-ADA4-D056575153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98486" y="5353050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7 w 27"/>
                <a:gd name="T3" fmla="*/ 2 h 23"/>
                <a:gd name="T4" fmla="*/ 3 w 27"/>
                <a:gd name="T5" fmla="*/ 18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86">
              <a:extLst>
                <a:ext uri="{FF2B5EF4-FFF2-40B4-BE49-F238E27FC236}">
                  <a16:creationId xmlns:a16="http://schemas.microsoft.com/office/drawing/2014/main" id="{40F9DFFF-4CD4-43CD-AB17-5E0589E608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90561" y="5299075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5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4"/>
                    <a:pt x="0" y="12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8"/>
                    <a:pt x="27" y="11"/>
                    <a:pt x="24" y="5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8B86A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0A3D1317-FBA6-4CE2-896A-4E1EEC200D9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41802" y="5287830"/>
              <a:ext cx="827436" cy="50191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90039AA1-8B60-43A6-A6DB-294AF4C0BEC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352276" y="5405437"/>
              <a:ext cx="618290" cy="39859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8C686BC3-7823-4311-971E-CED47FEC2331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731243" y="5471253"/>
              <a:ext cx="328843" cy="21199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83AA01B2-BBA9-482C-AF61-FE5CC7143586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10065044" y="5664134"/>
              <a:ext cx="618290" cy="39859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61B26D1D-08BE-425A-97B5-DD08D3807562}"/>
                </a:ext>
              </a:extLst>
            </p:cNvPr>
            <p:cNvSpPr/>
            <p:nvPr userDrawn="1"/>
          </p:nvSpPr>
          <p:spPr>
            <a:xfrm>
              <a:off x="10861128" y="4188135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634BC058-D62E-4510-8D65-416300B44AC9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0552112" y="4285080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03276EA7-5327-40E5-8F85-64AF830B6CA1}"/>
                </a:ext>
              </a:extLst>
            </p:cNvPr>
            <p:cNvSpPr/>
            <p:nvPr userDrawn="1"/>
          </p:nvSpPr>
          <p:spPr>
            <a:xfrm>
              <a:off x="9754989" y="3713379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C9789196-78EC-4E5A-A04D-62DD88105C0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445973" y="3810324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E4B2A535-B781-4AF0-ADDC-76897951D9BB}"/>
                </a:ext>
              </a:extLst>
            </p:cNvPr>
            <p:cNvSpPr/>
            <p:nvPr userDrawn="1"/>
          </p:nvSpPr>
          <p:spPr>
            <a:xfrm>
              <a:off x="10020604" y="4130676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28CECE6A-AC08-4EF9-B3FE-1D230C534BB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906261" y="4226956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737CB0B0-345F-4485-8D6F-9F7A19E99ABD}"/>
                </a:ext>
              </a:extLst>
            </p:cNvPr>
            <p:cNvSpPr/>
            <p:nvPr userDrawn="1"/>
          </p:nvSpPr>
          <p:spPr>
            <a:xfrm>
              <a:off x="7626655" y="4176741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E066FF86-60CC-413B-A38C-5877DF3423B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12312" y="4273021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3418658E-3C78-4374-B2D3-E9F25A672F8D}"/>
                </a:ext>
              </a:extLst>
            </p:cNvPr>
            <p:cNvSpPr/>
            <p:nvPr userDrawn="1"/>
          </p:nvSpPr>
          <p:spPr>
            <a:xfrm>
              <a:off x="8387012" y="3360161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F8A1BA54-6C50-42DD-9E37-F4BE9AAC50C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272669" y="3456441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DC5D5A44-A1EF-4532-8AD3-E8823B57F81E}"/>
                </a:ext>
              </a:extLst>
            </p:cNvPr>
            <p:cNvSpPr/>
            <p:nvPr userDrawn="1"/>
          </p:nvSpPr>
          <p:spPr>
            <a:xfrm>
              <a:off x="8071311" y="3424099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055015E5-0B2E-46E6-A7AB-11C57440AE3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762295" y="3521044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4C463780-6B50-492E-8198-C64C39D93999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8216506" y="2821117"/>
              <a:ext cx="5025" cy="2074259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162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3EB51A2E-F9D5-43AA-8F4D-C0E2739FFE05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10208402" y="2813165"/>
              <a:ext cx="5025" cy="2074259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162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Freeform 90">
              <a:extLst>
                <a:ext uri="{FF2B5EF4-FFF2-40B4-BE49-F238E27FC236}">
                  <a16:creationId xmlns:a16="http://schemas.microsoft.com/office/drawing/2014/main" id="{AF8EE743-B501-40A3-87A8-EE389C9346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8638" y="4267200"/>
              <a:ext cx="2168525" cy="1239838"/>
            </a:xfrm>
            <a:custGeom>
              <a:avLst/>
              <a:gdLst>
                <a:gd name="T0" fmla="*/ 270 w 538"/>
                <a:gd name="T1" fmla="*/ 0 h 307"/>
                <a:gd name="T2" fmla="*/ 249 w 538"/>
                <a:gd name="T3" fmla="*/ 6 h 307"/>
                <a:gd name="T4" fmla="*/ 13 w 538"/>
                <a:gd name="T5" fmla="*/ 142 h 307"/>
                <a:gd name="T6" fmla="*/ 10 w 538"/>
                <a:gd name="T7" fmla="*/ 164 h 307"/>
                <a:gd name="T8" fmla="*/ 251 w 538"/>
                <a:gd name="T9" fmla="*/ 303 h 307"/>
                <a:gd name="T10" fmla="*/ 268 w 538"/>
                <a:gd name="T11" fmla="*/ 307 h 307"/>
                <a:gd name="T12" fmla="*/ 290 w 538"/>
                <a:gd name="T13" fmla="*/ 302 h 307"/>
                <a:gd name="T14" fmla="*/ 525 w 538"/>
                <a:gd name="T15" fmla="*/ 166 h 307"/>
                <a:gd name="T16" fmla="*/ 528 w 538"/>
                <a:gd name="T17" fmla="*/ 144 h 307"/>
                <a:gd name="T18" fmla="*/ 287 w 538"/>
                <a:gd name="T19" fmla="*/ 4 h 307"/>
                <a:gd name="T20" fmla="*/ 270 w 538"/>
                <a:gd name="T21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307">
                  <a:moveTo>
                    <a:pt x="270" y="0"/>
                  </a:moveTo>
                  <a:cubicBezTo>
                    <a:pt x="263" y="0"/>
                    <a:pt x="255" y="2"/>
                    <a:pt x="249" y="6"/>
                  </a:cubicBezTo>
                  <a:cubicBezTo>
                    <a:pt x="13" y="142"/>
                    <a:pt x="13" y="142"/>
                    <a:pt x="13" y="142"/>
                  </a:cubicBezTo>
                  <a:cubicBezTo>
                    <a:pt x="2" y="149"/>
                    <a:pt x="0" y="158"/>
                    <a:pt x="10" y="164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6" y="306"/>
                    <a:pt x="262" y="307"/>
                    <a:pt x="268" y="307"/>
                  </a:cubicBezTo>
                  <a:cubicBezTo>
                    <a:pt x="275" y="307"/>
                    <a:pt x="283" y="305"/>
                    <a:pt x="290" y="302"/>
                  </a:cubicBezTo>
                  <a:cubicBezTo>
                    <a:pt x="525" y="166"/>
                    <a:pt x="525" y="166"/>
                    <a:pt x="525" y="166"/>
                  </a:cubicBezTo>
                  <a:cubicBezTo>
                    <a:pt x="537" y="159"/>
                    <a:pt x="538" y="149"/>
                    <a:pt x="528" y="144"/>
                  </a:cubicBezTo>
                  <a:cubicBezTo>
                    <a:pt x="287" y="4"/>
                    <a:pt x="287" y="4"/>
                    <a:pt x="287" y="4"/>
                  </a:cubicBezTo>
                  <a:cubicBezTo>
                    <a:pt x="282" y="2"/>
                    <a:pt x="276" y="0"/>
                    <a:pt x="270" y="0"/>
                  </a:cubicBezTo>
                </a:path>
              </a:pathLst>
            </a:custGeom>
            <a:solidFill>
              <a:srgbClr val="736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Freeform 91">
              <a:extLst>
                <a:ext uri="{FF2B5EF4-FFF2-40B4-BE49-F238E27FC236}">
                  <a16:creationId xmlns:a16="http://schemas.microsoft.com/office/drawing/2014/main" id="{434E1605-FC1A-45F6-A9B3-8B234DCB5A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8638" y="4264025"/>
              <a:ext cx="2168525" cy="714375"/>
            </a:xfrm>
            <a:custGeom>
              <a:avLst/>
              <a:gdLst>
                <a:gd name="T0" fmla="*/ 10 w 538"/>
                <a:gd name="T1" fmla="*/ 165 h 177"/>
                <a:gd name="T2" fmla="*/ 31 w 538"/>
                <a:gd name="T3" fmla="*/ 177 h 177"/>
                <a:gd name="T4" fmla="*/ 249 w 538"/>
                <a:gd name="T5" fmla="*/ 52 h 177"/>
                <a:gd name="T6" fmla="*/ 287 w 538"/>
                <a:gd name="T7" fmla="*/ 50 h 177"/>
                <a:gd name="T8" fmla="*/ 507 w 538"/>
                <a:gd name="T9" fmla="*/ 177 h 177"/>
                <a:gd name="T10" fmla="*/ 525 w 538"/>
                <a:gd name="T11" fmla="*/ 167 h 177"/>
                <a:gd name="T12" fmla="*/ 528 w 538"/>
                <a:gd name="T13" fmla="*/ 145 h 177"/>
                <a:gd name="T14" fmla="*/ 287 w 538"/>
                <a:gd name="T15" fmla="*/ 5 h 177"/>
                <a:gd name="T16" fmla="*/ 249 w 538"/>
                <a:gd name="T17" fmla="*/ 7 h 177"/>
                <a:gd name="T18" fmla="*/ 13 w 538"/>
                <a:gd name="T19" fmla="*/ 143 h 177"/>
                <a:gd name="T20" fmla="*/ 10 w 538"/>
                <a:gd name="T21" fmla="*/ 165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177">
                  <a:moveTo>
                    <a:pt x="10" y="165"/>
                  </a:moveTo>
                  <a:cubicBezTo>
                    <a:pt x="31" y="177"/>
                    <a:pt x="31" y="177"/>
                    <a:pt x="31" y="177"/>
                  </a:cubicBezTo>
                  <a:cubicBezTo>
                    <a:pt x="249" y="52"/>
                    <a:pt x="249" y="52"/>
                    <a:pt x="249" y="52"/>
                  </a:cubicBezTo>
                  <a:cubicBezTo>
                    <a:pt x="260" y="45"/>
                    <a:pt x="277" y="45"/>
                    <a:pt x="287" y="50"/>
                  </a:cubicBezTo>
                  <a:cubicBezTo>
                    <a:pt x="507" y="177"/>
                    <a:pt x="507" y="177"/>
                    <a:pt x="507" y="177"/>
                  </a:cubicBezTo>
                  <a:cubicBezTo>
                    <a:pt x="525" y="167"/>
                    <a:pt x="525" y="167"/>
                    <a:pt x="525" y="167"/>
                  </a:cubicBezTo>
                  <a:cubicBezTo>
                    <a:pt x="537" y="160"/>
                    <a:pt x="538" y="150"/>
                    <a:pt x="528" y="145"/>
                  </a:cubicBezTo>
                  <a:cubicBezTo>
                    <a:pt x="287" y="5"/>
                    <a:pt x="287" y="5"/>
                    <a:pt x="287" y="5"/>
                  </a:cubicBezTo>
                  <a:cubicBezTo>
                    <a:pt x="277" y="0"/>
                    <a:pt x="260" y="0"/>
                    <a:pt x="249" y="7"/>
                  </a:cubicBezTo>
                  <a:cubicBezTo>
                    <a:pt x="13" y="143"/>
                    <a:pt x="13" y="143"/>
                    <a:pt x="13" y="143"/>
                  </a:cubicBezTo>
                  <a:cubicBezTo>
                    <a:pt x="2" y="150"/>
                    <a:pt x="0" y="159"/>
                    <a:pt x="10" y="165"/>
                  </a:cubicBezTo>
                  <a:close/>
                </a:path>
              </a:pathLst>
            </a:custGeom>
            <a:solidFill>
              <a:srgbClr val="42E8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90">
              <a:extLst>
                <a:ext uri="{FF2B5EF4-FFF2-40B4-BE49-F238E27FC236}">
                  <a16:creationId xmlns:a16="http://schemas.microsoft.com/office/drawing/2014/main" id="{8CC5DB59-0C2F-44B5-9B7F-1F2AD177C7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2017" y="4267200"/>
              <a:ext cx="2168525" cy="1239838"/>
            </a:xfrm>
            <a:custGeom>
              <a:avLst/>
              <a:gdLst>
                <a:gd name="T0" fmla="*/ 270 w 538"/>
                <a:gd name="T1" fmla="*/ 0 h 307"/>
                <a:gd name="T2" fmla="*/ 249 w 538"/>
                <a:gd name="T3" fmla="*/ 6 h 307"/>
                <a:gd name="T4" fmla="*/ 13 w 538"/>
                <a:gd name="T5" fmla="*/ 142 h 307"/>
                <a:gd name="T6" fmla="*/ 10 w 538"/>
                <a:gd name="T7" fmla="*/ 164 h 307"/>
                <a:gd name="T8" fmla="*/ 251 w 538"/>
                <a:gd name="T9" fmla="*/ 303 h 307"/>
                <a:gd name="T10" fmla="*/ 268 w 538"/>
                <a:gd name="T11" fmla="*/ 307 h 307"/>
                <a:gd name="T12" fmla="*/ 290 w 538"/>
                <a:gd name="T13" fmla="*/ 302 h 307"/>
                <a:gd name="T14" fmla="*/ 525 w 538"/>
                <a:gd name="T15" fmla="*/ 166 h 307"/>
                <a:gd name="T16" fmla="*/ 528 w 538"/>
                <a:gd name="T17" fmla="*/ 144 h 307"/>
                <a:gd name="T18" fmla="*/ 287 w 538"/>
                <a:gd name="T19" fmla="*/ 4 h 307"/>
                <a:gd name="T20" fmla="*/ 270 w 538"/>
                <a:gd name="T21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307">
                  <a:moveTo>
                    <a:pt x="270" y="0"/>
                  </a:moveTo>
                  <a:cubicBezTo>
                    <a:pt x="263" y="0"/>
                    <a:pt x="255" y="2"/>
                    <a:pt x="249" y="6"/>
                  </a:cubicBezTo>
                  <a:cubicBezTo>
                    <a:pt x="13" y="142"/>
                    <a:pt x="13" y="142"/>
                    <a:pt x="13" y="142"/>
                  </a:cubicBezTo>
                  <a:cubicBezTo>
                    <a:pt x="2" y="149"/>
                    <a:pt x="0" y="158"/>
                    <a:pt x="10" y="164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6" y="306"/>
                    <a:pt x="262" y="307"/>
                    <a:pt x="268" y="307"/>
                  </a:cubicBezTo>
                  <a:cubicBezTo>
                    <a:pt x="275" y="307"/>
                    <a:pt x="283" y="305"/>
                    <a:pt x="290" y="302"/>
                  </a:cubicBezTo>
                  <a:cubicBezTo>
                    <a:pt x="525" y="166"/>
                    <a:pt x="525" y="166"/>
                    <a:pt x="525" y="166"/>
                  </a:cubicBezTo>
                  <a:cubicBezTo>
                    <a:pt x="537" y="159"/>
                    <a:pt x="538" y="149"/>
                    <a:pt x="528" y="144"/>
                  </a:cubicBezTo>
                  <a:cubicBezTo>
                    <a:pt x="287" y="4"/>
                    <a:pt x="287" y="4"/>
                    <a:pt x="287" y="4"/>
                  </a:cubicBezTo>
                  <a:cubicBezTo>
                    <a:pt x="282" y="2"/>
                    <a:pt x="276" y="0"/>
                    <a:pt x="270" y="0"/>
                  </a:cubicBezTo>
                </a:path>
              </a:pathLst>
            </a:custGeom>
            <a:gradFill>
              <a:gsLst>
                <a:gs pos="22000">
                  <a:srgbClr val="180D5B">
                    <a:alpha val="34000"/>
                  </a:srgbClr>
                </a:gs>
                <a:gs pos="100000">
                  <a:srgbClr val="42E8E0">
                    <a:alpha val="74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66" name="任意多边形: 形状 65" hidden="1">
              <a:extLst>
                <a:ext uri="{FF2B5EF4-FFF2-40B4-BE49-F238E27FC236}">
                  <a16:creationId xmlns:a16="http://schemas.microsoft.com/office/drawing/2014/main" id="{CA81584A-65BF-4DB2-BCDC-906ECBF8F7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278938" y="3259138"/>
              <a:ext cx="120650" cy="2243743"/>
            </a:xfrm>
            <a:custGeom>
              <a:avLst/>
              <a:gdLst>
                <a:gd name="connsiteX0" fmla="*/ 33514 w 120650"/>
                <a:gd name="connsiteY0" fmla="*/ 0 h 2243743"/>
                <a:gd name="connsiteX1" fmla="*/ 56974 w 120650"/>
                <a:gd name="connsiteY1" fmla="*/ 6605 h 2243743"/>
                <a:gd name="connsiteX2" fmla="*/ 63676 w 120650"/>
                <a:gd name="connsiteY2" fmla="*/ 9908 h 2243743"/>
                <a:gd name="connsiteX3" fmla="*/ 120650 w 120650"/>
                <a:gd name="connsiteY3" fmla="*/ 115587 h 2243743"/>
                <a:gd name="connsiteX4" fmla="*/ 120650 w 120650"/>
                <a:gd name="connsiteY4" fmla="*/ 2080273 h 2243743"/>
                <a:gd name="connsiteX5" fmla="*/ 120650 w 120650"/>
                <a:gd name="connsiteY5" fmla="*/ 2177592 h 2243743"/>
                <a:gd name="connsiteX6" fmla="*/ 0 w 120650"/>
                <a:gd name="connsiteY6" fmla="*/ 2243743 h 2243743"/>
                <a:gd name="connsiteX7" fmla="*/ 0 w 120650"/>
                <a:gd name="connsiteY7" fmla="*/ 2132585 h 2243743"/>
                <a:gd name="connsiteX8" fmla="*/ 0 w 120650"/>
                <a:gd name="connsiteY8" fmla="*/ 46235 h 2243743"/>
                <a:gd name="connsiteX9" fmla="*/ 33514 w 120650"/>
                <a:gd name="connsiteY9" fmla="*/ 0 h 22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650" h="2243743">
                  <a:moveTo>
                    <a:pt x="33514" y="0"/>
                  </a:moveTo>
                  <a:cubicBezTo>
                    <a:pt x="40217" y="0"/>
                    <a:pt x="46919" y="0"/>
                    <a:pt x="56974" y="6605"/>
                  </a:cubicBezTo>
                  <a:cubicBezTo>
                    <a:pt x="56974" y="6605"/>
                    <a:pt x="56974" y="6605"/>
                    <a:pt x="63676" y="9908"/>
                  </a:cubicBezTo>
                  <a:cubicBezTo>
                    <a:pt x="97190" y="26420"/>
                    <a:pt x="120650" y="75957"/>
                    <a:pt x="120650" y="115587"/>
                  </a:cubicBezTo>
                  <a:cubicBezTo>
                    <a:pt x="120650" y="115587"/>
                    <a:pt x="120650" y="115587"/>
                    <a:pt x="120650" y="2080273"/>
                  </a:cubicBezTo>
                  <a:lnTo>
                    <a:pt x="120650" y="2177592"/>
                  </a:lnTo>
                  <a:lnTo>
                    <a:pt x="0" y="2243743"/>
                  </a:lnTo>
                  <a:lnTo>
                    <a:pt x="0" y="2132585"/>
                  </a:lnTo>
                  <a:cubicBezTo>
                    <a:pt x="0" y="1834535"/>
                    <a:pt x="0" y="1238435"/>
                    <a:pt x="0" y="46235"/>
                  </a:cubicBezTo>
                  <a:cubicBezTo>
                    <a:pt x="0" y="16513"/>
                    <a:pt x="13406" y="0"/>
                    <a:pt x="33514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7" name="任意多边形: 形状 66" hidden="1">
              <a:extLst>
                <a:ext uri="{FF2B5EF4-FFF2-40B4-BE49-F238E27FC236}">
                  <a16:creationId xmlns:a16="http://schemas.microsoft.com/office/drawing/2014/main" id="{79F8DF02-08D3-40AF-8A42-A376AB444B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501188" y="3767138"/>
              <a:ext cx="119063" cy="1621772"/>
            </a:xfrm>
            <a:custGeom>
              <a:avLst/>
              <a:gdLst>
                <a:gd name="connsiteX0" fmla="*/ 33073 w 119063"/>
                <a:gd name="connsiteY0" fmla="*/ 0 h 1621772"/>
                <a:gd name="connsiteX1" fmla="*/ 56224 w 119063"/>
                <a:gd name="connsiteY1" fmla="*/ 6607 h 1621772"/>
                <a:gd name="connsiteX2" fmla="*/ 66146 w 119063"/>
                <a:gd name="connsiteY2" fmla="*/ 9910 h 1621772"/>
                <a:gd name="connsiteX3" fmla="*/ 119063 w 119063"/>
                <a:gd name="connsiteY3" fmla="*/ 115614 h 1621772"/>
                <a:gd name="connsiteX4" fmla="*/ 119063 w 119063"/>
                <a:gd name="connsiteY4" fmla="*/ 1458860 h 1621772"/>
                <a:gd name="connsiteX5" fmla="*/ 119063 w 119063"/>
                <a:gd name="connsiteY5" fmla="*/ 1553686 h 1621772"/>
                <a:gd name="connsiteX6" fmla="*/ 0 w 119063"/>
                <a:gd name="connsiteY6" fmla="*/ 1621772 h 1621772"/>
                <a:gd name="connsiteX7" fmla="*/ 0 w 119063"/>
                <a:gd name="connsiteY7" fmla="*/ 1561802 h 1621772"/>
                <a:gd name="connsiteX8" fmla="*/ 0 w 119063"/>
                <a:gd name="connsiteY8" fmla="*/ 46246 h 1621772"/>
                <a:gd name="connsiteX9" fmla="*/ 33073 w 119063"/>
                <a:gd name="connsiteY9" fmla="*/ 0 h 16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063" h="1621772">
                  <a:moveTo>
                    <a:pt x="33073" y="0"/>
                  </a:moveTo>
                  <a:cubicBezTo>
                    <a:pt x="39688" y="0"/>
                    <a:pt x="49610" y="0"/>
                    <a:pt x="56224" y="6607"/>
                  </a:cubicBezTo>
                  <a:cubicBezTo>
                    <a:pt x="56224" y="6607"/>
                    <a:pt x="56224" y="6607"/>
                    <a:pt x="66146" y="9910"/>
                  </a:cubicBezTo>
                  <a:cubicBezTo>
                    <a:pt x="95912" y="26426"/>
                    <a:pt x="119063" y="75975"/>
                    <a:pt x="119063" y="115614"/>
                  </a:cubicBezTo>
                  <a:cubicBezTo>
                    <a:pt x="119063" y="115614"/>
                    <a:pt x="119063" y="115614"/>
                    <a:pt x="119063" y="1458860"/>
                  </a:cubicBezTo>
                  <a:lnTo>
                    <a:pt x="119063" y="1553686"/>
                  </a:lnTo>
                  <a:lnTo>
                    <a:pt x="0" y="1621772"/>
                  </a:lnTo>
                  <a:lnTo>
                    <a:pt x="0" y="1561802"/>
                  </a:lnTo>
                  <a:cubicBezTo>
                    <a:pt x="0" y="1268090"/>
                    <a:pt x="0" y="798150"/>
                    <a:pt x="0" y="46246"/>
                  </a:cubicBezTo>
                  <a:cubicBezTo>
                    <a:pt x="0" y="16516"/>
                    <a:pt x="16537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8" name="任意多边形: 形状 67" hidden="1">
              <a:extLst>
                <a:ext uri="{FF2B5EF4-FFF2-40B4-BE49-F238E27FC236}">
                  <a16:creationId xmlns:a16="http://schemas.microsoft.com/office/drawing/2014/main" id="{2E910DF9-4B42-45E0-8930-43DB730251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26613" y="4365625"/>
              <a:ext cx="115888" cy="874224"/>
            </a:xfrm>
            <a:custGeom>
              <a:avLst/>
              <a:gdLst>
                <a:gd name="connsiteX0" fmla="*/ 33111 w 115888"/>
                <a:gd name="connsiteY0" fmla="*/ 0 h 874224"/>
                <a:gd name="connsiteX1" fmla="*/ 52977 w 115888"/>
                <a:gd name="connsiteY1" fmla="*/ 6602 h 874224"/>
                <a:gd name="connsiteX2" fmla="*/ 62911 w 115888"/>
                <a:gd name="connsiteY2" fmla="*/ 13203 h 874224"/>
                <a:gd name="connsiteX3" fmla="*/ 115888 w 115888"/>
                <a:gd name="connsiteY3" fmla="*/ 118823 h 874224"/>
                <a:gd name="connsiteX4" fmla="*/ 115888 w 115888"/>
                <a:gd name="connsiteY4" fmla="*/ 620757 h 874224"/>
                <a:gd name="connsiteX5" fmla="*/ 115888 w 115888"/>
                <a:gd name="connsiteY5" fmla="*/ 825103 h 874224"/>
                <a:gd name="connsiteX6" fmla="*/ 26514 w 115888"/>
                <a:gd name="connsiteY6" fmla="*/ 874224 h 874224"/>
                <a:gd name="connsiteX7" fmla="*/ 15314 w 115888"/>
                <a:gd name="connsiteY7" fmla="*/ 861465 h 874224"/>
                <a:gd name="connsiteX8" fmla="*/ 0 w 115888"/>
                <a:gd name="connsiteY8" fmla="*/ 798753 h 874224"/>
                <a:gd name="connsiteX9" fmla="*/ 0 w 115888"/>
                <a:gd name="connsiteY9" fmla="*/ 49510 h 874224"/>
                <a:gd name="connsiteX10" fmla="*/ 33111 w 115888"/>
                <a:gd name="connsiteY10" fmla="*/ 0 h 87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888" h="874224">
                  <a:moveTo>
                    <a:pt x="33111" y="0"/>
                  </a:moveTo>
                  <a:cubicBezTo>
                    <a:pt x="39733" y="0"/>
                    <a:pt x="46355" y="3301"/>
                    <a:pt x="52977" y="6602"/>
                  </a:cubicBezTo>
                  <a:cubicBezTo>
                    <a:pt x="52977" y="6602"/>
                    <a:pt x="52977" y="6602"/>
                    <a:pt x="62911" y="13203"/>
                  </a:cubicBezTo>
                  <a:cubicBezTo>
                    <a:pt x="92710" y="29706"/>
                    <a:pt x="115888" y="75915"/>
                    <a:pt x="115888" y="118823"/>
                  </a:cubicBezTo>
                  <a:cubicBezTo>
                    <a:pt x="115888" y="118823"/>
                    <a:pt x="115888" y="118823"/>
                    <a:pt x="115888" y="620757"/>
                  </a:cubicBezTo>
                  <a:lnTo>
                    <a:pt x="115888" y="825103"/>
                  </a:lnTo>
                  <a:lnTo>
                    <a:pt x="26514" y="874224"/>
                  </a:lnTo>
                  <a:lnTo>
                    <a:pt x="15314" y="861465"/>
                  </a:lnTo>
                  <a:cubicBezTo>
                    <a:pt x="5795" y="842486"/>
                    <a:pt x="0" y="820207"/>
                    <a:pt x="0" y="798753"/>
                  </a:cubicBezTo>
                  <a:cubicBezTo>
                    <a:pt x="0" y="798753"/>
                    <a:pt x="0" y="798753"/>
                    <a:pt x="0" y="49510"/>
                  </a:cubicBezTo>
                  <a:cubicBezTo>
                    <a:pt x="0" y="19804"/>
                    <a:pt x="13244" y="0"/>
                    <a:pt x="33111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9" name="任意多边形: 形状 68" hidden="1">
              <a:extLst>
                <a:ext uri="{FF2B5EF4-FFF2-40B4-BE49-F238E27FC236}">
                  <a16:creationId xmlns:a16="http://schemas.microsoft.com/office/drawing/2014/main" id="{5EC3441C-AA60-434F-89C7-FAE737B82B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45688" y="4695825"/>
              <a:ext cx="119063" cy="414899"/>
            </a:xfrm>
            <a:custGeom>
              <a:avLst/>
              <a:gdLst>
                <a:gd name="connsiteX0" fmla="*/ 33073 w 119063"/>
                <a:gd name="connsiteY0" fmla="*/ 0 h 414899"/>
                <a:gd name="connsiteX1" fmla="*/ 56224 w 119063"/>
                <a:gd name="connsiteY1" fmla="*/ 6605 h 414899"/>
                <a:gd name="connsiteX2" fmla="*/ 62839 w 119063"/>
                <a:gd name="connsiteY2" fmla="*/ 9908 h 414899"/>
                <a:gd name="connsiteX3" fmla="*/ 119063 w 119063"/>
                <a:gd name="connsiteY3" fmla="*/ 115586 h 414899"/>
                <a:gd name="connsiteX4" fmla="*/ 119063 w 119063"/>
                <a:gd name="connsiteY4" fmla="*/ 310277 h 414899"/>
                <a:gd name="connsiteX5" fmla="*/ 119063 w 119063"/>
                <a:gd name="connsiteY5" fmla="*/ 363731 h 414899"/>
                <a:gd name="connsiteX6" fmla="*/ 29159 w 119063"/>
                <a:gd name="connsiteY6" fmla="*/ 414899 h 414899"/>
                <a:gd name="connsiteX7" fmla="*/ 16950 w 119063"/>
                <a:gd name="connsiteY7" fmla="*/ 397121 h 414899"/>
                <a:gd name="connsiteX8" fmla="*/ 0 w 119063"/>
                <a:gd name="connsiteY8" fmla="*/ 336851 h 414899"/>
                <a:gd name="connsiteX9" fmla="*/ 0 w 119063"/>
                <a:gd name="connsiteY9" fmla="*/ 49537 h 414899"/>
                <a:gd name="connsiteX10" fmla="*/ 33073 w 119063"/>
                <a:gd name="connsiteY10" fmla="*/ 0 h 4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063" h="414899">
                  <a:moveTo>
                    <a:pt x="33073" y="0"/>
                  </a:moveTo>
                  <a:cubicBezTo>
                    <a:pt x="39688" y="0"/>
                    <a:pt x="49610" y="3303"/>
                    <a:pt x="56224" y="6605"/>
                  </a:cubicBezTo>
                  <a:cubicBezTo>
                    <a:pt x="56224" y="6605"/>
                    <a:pt x="56224" y="6605"/>
                    <a:pt x="62839" y="9908"/>
                  </a:cubicBezTo>
                  <a:cubicBezTo>
                    <a:pt x="95912" y="29722"/>
                    <a:pt x="119063" y="75957"/>
                    <a:pt x="119063" y="115586"/>
                  </a:cubicBezTo>
                  <a:cubicBezTo>
                    <a:pt x="119063" y="115586"/>
                    <a:pt x="119063" y="115586"/>
                    <a:pt x="119063" y="310277"/>
                  </a:cubicBezTo>
                  <a:lnTo>
                    <a:pt x="119063" y="363731"/>
                  </a:lnTo>
                  <a:lnTo>
                    <a:pt x="29159" y="414899"/>
                  </a:lnTo>
                  <a:lnTo>
                    <a:pt x="16950" y="397121"/>
                  </a:lnTo>
                  <a:cubicBezTo>
                    <a:pt x="6615" y="378132"/>
                    <a:pt x="0" y="356666"/>
                    <a:pt x="0" y="336851"/>
                  </a:cubicBezTo>
                  <a:cubicBezTo>
                    <a:pt x="0" y="336851"/>
                    <a:pt x="0" y="336851"/>
                    <a:pt x="0" y="49537"/>
                  </a:cubicBezTo>
                  <a:cubicBezTo>
                    <a:pt x="0" y="16513"/>
                    <a:pt x="13229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0" name="任意多边形: 形状 69" hidden="1">
              <a:extLst>
                <a:ext uri="{FF2B5EF4-FFF2-40B4-BE49-F238E27FC236}">
                  <a16:creationId xmlns:a16="http://schemas.microsoft.com/office/drawing/2014/main" id="{E5982589-29D3-4142-AE6E-E82171962760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9056822" y="3261347"/>
              <a:ext cx="120650" cy="2243743"/>
            </a:xfrm>
            <a:custGeom>
              <a:avLst/>
              <a:gdLst>
                <a:gd name="connsiteX0" fmla="*/ 33514 w 120650"/>
                <a:gd name="connsiteY0" fmla="*/ 0 h 2243743"/>
                <a:gd name="connsiteX1" fmla="*/ 56974 w 120650"/>
                <a:gd name="connsiteY1" fmla="*/ 6605 h 2243743"/>
                <a:gd name="connsiteX2" fmla="*/ 63676 w 120650"/>
                <a:gd name="connsiteY2" fmla="*/ 9908 h 2243743"/>
                <a:gd name="connsiteX3" fmla="*/ 120650 w 120650"/>
                <a:gd name="connsiteY3" fmla="*/ 115587 h 2243743"/>
                <a:gd name="connsiteX4" fmla="*/ 120650 w 120650"/>
                <a:gd name="connsiteY4" fmla="*/ 2080273 h 2243743"/>
                <a:gd name="connsiteX5" fmla="*/ 120650 w 120650"/>
                <a:gd name="connsiteY5" fmla="*/ 2177592 h 2243743"/>
                <a:gd name="connsiteX6" fmla="*/ 0 w 120650"/>
                <a:gd name="connsiteY6" fmla="*/ 2243743 h 2243743"/>
                <a:gd name="connsiteX7" fmla="*/ 0 w 120650"/>
                <a:gd name="connsiteY7" fmla="*/ 2132585 h 2243743"/>
                <a:gd name="connsiteX8" fmla="*/ 0 w 120650"/>
                <a:gd name="connsiteY8" fmla="*/ 46235 h 2243743"/>
                <a:gd name="connsiteX9" fmla="*/ 33514 w 120650"/>
                <a:gd name="connsiteY9" fmla="*/ 0 h 22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650" h="2243743">
                  <a:moveTo>
                    <a:pt x="33514" y="0"/>
                  </a:moveTo>
                  <a:cubicBezTo>
                    <a:pt x="40217" y="0"/>
                    <a:pt x="46919" y="0"/>
                    <a:pt x="56974" y="6605"/>
                  </a:cubicBezTo>
                  <a:cubicBezTo>
                    <a:pt x="56974" y="6605"/>
                    <a:pt x="56974" y="6605"/>
                    <a:pt x="63676" y="9908"/>
                  </a:cubicBezTo>
                  <a:cubicBezTo>
                    <a:pt x="97190" y="26420"/>
                    <a:pt x="120650" y="75957"/>
                    <a:pt x="120650" y="115587"/>
                  </a:cubicBezTo>
                  <a:cubicBezTo>
                    <a:pt x="120650" y="115587"/>
                    <a:pt x="120650" y="115587"/>
                    <a:pt x="120650" y="2080273"/>
                  </a:cubicBezTo>
                  <a:lnTo>
                    <a:pt x="120650" y="2177592"/>
                  </a:lnTo>
                  <a:lnTo>
                    <a:pt x="0" y="2243743"/>
                  </a:lnTo>
                  <a:lnTo>
                    <a:pt x="0" y="2132585"/>
                  </a:lnTo>
                  <a:cubicBezTo>
                    <a:pt x="0" y="1834535"/>
                    <a:pt x="0" y="1238435"/>
                    <a:pt x="0" y="46235"/>
                  </a:cubicBezTo>
                  <a:cubicBezTo>
                    <a:pt x="0" y="16513"/>
                    <a:pt x="13406" y="0"/>
                    <a:pt x="33514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1" name="任意多边形: 形状 70" hidden="1">
              <a:extLst>
                <a:ext uri="{FF2B5EF4-FFF2-40B4-BE49-F238E27FC236}">
                  <a16:creationId xmlns:a16="http://schemas.microsoft.com/office/drawing/2014/main" id="{06FDC9FE-130B-4BB1-B7E7-2875335138B5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8836159" y="3769347"/>
              <a:ext cx="119063" cy="1621772"/>
            </a:xfrm>
            <a:custGeom>
              <a:avLst/>
              <a:gdLst>
                <a:gd name="connsiteX0" fmla="*/ 33073 w 119063"/>
                <a:gd name="connsiteY0" fmla="*/ 0 h 1621772"/>
                <a:gd name="connsiteX1" fmla="*/ 56224 w 119063"/>
                <a:gd name="connsiteY1" fmla="*/ 6607 h 1621772"/>
                <a:gd name="connsiteX2" fmla="*/ 66146 w 119063"/>
                <a:gd name="connsiteY2" fmla="*/ 9910 h 1621772"/>
                <a:gd name="connsiteX3" fmla="*/ 119063 w 119063"/>
                <a:gd name="connsiteY3" fmla="*/ 115614 h 1621772"/>
                <a:gd name="connsiteX4" fmla="*/ 119063 w 119063"/>
                <a:gd name="connsiteY4" fmla="*/ 1458860 h 1621772"/>
                <a:gd name="connsiteX5" fmla="*/ 119063 w 119063"/>
                <a:gd name="connsiteY5" fmla="*/ 1553686 h 1621772"/>
                <a:gd name="connsiteX6" fmla="*/ 0 w 119063"/>
                <a:gd name="connsiteY6" fmla="*/ 1621772 h 1621772"/>
                <a:gd name="connsiteX7" fmla="*/ 0 w 119063"/>
                <a:gd name="connsiteY7" fmla="*/ 1561802 h 1621772"/>
                <a:gd name="connsiteX8" fmla="*/ 0 w 119063"/>
                <a:gd name="connsiteY8" fmla="*/ 46246 h 1621772"/>
                <a:gd name="connsiteX9" fmla="*/ 33073 w 119063"/>
                <a:gd name="connsiteY9" fmla="*/ 0 h 16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063" h="1621772">
                  <a:moveTo>
                    <a:pt x="33073" y="0"/>
                  </a:moveTo>
                  <a:cubicBezTo>
                    <a:pt x="39688" y="0"/>
                    <a:pt x="49610" y="0"/>
                    <a:pt x="56224" y="6607"/>
                  </a:cubicBezTo>
                  <a:cubicBezTo>
                    <a:pt x="56224" y="6607"/>
                    <a:pt x="56224" y="6607"/>
                    <a:pt x="66146" y="9910"/>
                  </a:cubicBezTo>
                  <a:cubicBezTo>
                    <a:pt x="95912" y="26426"/>
                    <a:pt x="119063" y="75975"/>
                    <a:pt x="119063" y="115614"/>
                  </a:cubicBezTo>
                  <a:cubicBezTo>
                    <a:pt x="119063" y="115614"/>
                    <a:pt x="119063" y="115614"/>
                    <a:pt x="119063" y="1458860"/>
                  </a:cubicBezTo>
                  <a:lnTo>
                    <a:pt x="119063" y="1553686"/>
                  </a:lnTo>
                  <a:lnTo>
                    <a:pt x="0" y="1621772"/>
                  </a:lnTo>
                  <a:lnTo>
                    <a:pt x="0" y="1561802"/>
                  </a:lnTo>
                  <a:cubicBezTo>
                    <a:pt x="0" y="1268090"/>
                    <a:pt x="0" y="798150"/>
                    <a:pt x="0" y="46246"/>
                  </a:cubicBezTo>
                  <a:cubicBezTo>
                    <a:pt x="0" y="16516"/>
                    <a:pt x="16537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2" name="任意多边形: 形状 71" hidden="1">
              <a:extLst>
                <a:ext uri="{FF2B5EF4-FFF2-40B4-BE49-F238E27FC236}">
                  <a16:creationId xmlns:a16="http://schemas.microsoft.com/office/drawing/2014/main" id="{D0408D99-7102-4AE9-903E-0A3463396D8E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8613909" y="4367834"/>
              <a:ext cx="115888" cy="874224"/>
            </a:xfrm>
            <a:custGeom>
              <a:avLst/>
              <a:gdLst>
                <a:gd name="connsiteX0" fmla="*/ 33111 w 115888"/>
                <a:gd name="connsiteY0" fmla="*/ 0 h 874224"/>
                <a:gd name="connsiteX1" fmla="*/ 52977 w 115888"/>
                <a:gd name="connsiteY1" fmla="*/ 6602 h 874224"/>
                <a:gd name="connsiteX2" fmla="*/ 62911 w 115888"/>
                <a:gd name="connsiteY2" fmla="*/ 13203 h 874224"/>
                <a:gd name="connsiteX3" fmla="*/ 115888 w 115888"/>
                <a:gd name="connsiteY3" fmla="*/ 118823 h 874224"/>
                <a:gd name="connsiteX4" fmla="*/ 115888 w 115888"/>
                <a:gd name="connsiteY4" fmla="*/ 620757 h 874224"/>
                <a:gd name="connsiteX5" fmla="*/ 115888 w 115888"/>
                <a:gd name="connsiteY5" fmla="*/ 825103 h 874224"/>
                <a:gd name="connsiteX6" fmla="*/ 26514 w 115888"/>
                <a:gd name="connsiteY6" fmla="*/ 874224 h 874224"/>
                <a:gd name="connsiteX7" fmla="*/ 15314 w 115888"/>
                <a:gd name="connsiteY7" fmla="*/ 861465 h 874224"/>
                <a:gd name="connsiteX8" fmla="*/ 0 w 115888"/>
                <a:gd name="connsiteY8" fmla="*/ 798753 h 874224"/>
                <a:gd name="connsiteX9" fmla="*/ 0 w 115888"/>
                <a:gd name="connsiteY9" fmla="*/ 49510 h 874224"/>
                <a:gd name="connsiteX10" fmla="*/ 33111 w 115888"/>
                <a:gd name="connsiteY10" fmla="*/ 0 h 87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888" h="874224">
                  <a:moveTo>
                    <a:pt x="33111" y="0"/>
                  </a:moveTo>
                  <a:cubicBezTo>
                    <a:pt x="39733" y="0"/>
                    <a:pt x="46355" y="3301"/>
                    <a:pt x="52977" y="6602"/>
                  </a:cubicBezTo>
                  <a:cubicBezTo>
                    <a:pt x="52977" y="6602"/>
                    <a:pt x="52977" y="6602"/>
                    <a:pt x="62911" y="13203"/>
                  </a:cubicBezTo>
                  <a:cubicBezTo>
                    <a:pt x="92710" y="29706"/>
                    <a:pt x="115888" y="75915"/>
                    <a:pt x="115888" y="118823"/>
                  </a:cubicBezTo>
                  <a:cubicBezTo>
                    <a:pt x="115888" y="118823"/>
                    <a:pt x="115888" y="118823"/>
                    <a:pt x="115888" y="620757"/>
                  </a:cubicBezTo>
                  <a:lnTo>
                    <a:pt x="115888" y="825103"/>
                  </a:lnTo>
                  <a:lnTo>
                    <a:pt x="26514" y="874224"/>
                  </a:lnTo>
                  <a:lnTo>
                    <a:pt x="15314" y="861465"/>
                  </a:lnTo>
                  <a:cubicBezTo>
                    <a:pt x="5795" y="842486"/>
                    <a:pt x="0" y="820207"/>
                    <a:pt x="0" y="798753"/>
                  </a:cubicBezTo>
                  <a:cubicBezTo>
                    <a:pt x="0" y="798753"/>
                    <a:pt x="0" y="798753"/>
                    <a:pt x="0" y="49510"/>
                  </a:cubicBezTo>
                  <a:cubicBezTo>
                    <a:pt x="0" y="19804"/>
                    <a:pt x="13244" y="0"/>
                    <a:pt x="33111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3" name="任意多边形: 形状 72" hidden="1">
              <a:extLst>
                <a:ext uri="{FF2B5EF4-FFF2-40B4-BE49-F238E27FC236}">
                  <a16:creationId xmlns:a16="http://schemas.microsoft.com/office/drawing/2014/main" id="{AEB11552-24CE-450D-BC4B-BD0B224E7CD7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8391659" y="4698034"/>
              <a:ext cx="119063" cy="414899"/>
            </a:xfrm>
            <a:custGeom>
              <a:avLst/>
              <a:gdLst>
                <a:gd name="connsiteX0" fmla="*/ 33073 w 119063"/>
                <a:gd name="connsiteY0" fmla="*/ 0 h 414899"/>
                <a:gd name="connsiteX1" fmla="*/ 56224 w 119063"/>
                <a:gd name="connsiteY1" fmla="*/ 6605 h 414899"/>
                <a:gd name="connsiteX2" fmla="*/ 62839 w 119063"/>
                <a:gd name="connsiteY2" fmla="*/ 9908 h 414899"/>
                <a:gd name="connsiteX3" fmla="*/ 119063 w 119063"/>
                <a:gd name="connsiteY3" fmla="*/ 115586 h 414899"/>
                <a:gd name="connsiteX4" fmla="*/ 119063 w 119063"/>
                <a:gd name="connsiteY4" fmla="*/ 310277 h 414899"/>
                <a:gd name="connsiteX5" fmla="*/ 119063 w 119063"/>
                <a:gd name="connsiteY5" fmla="*/ 363731 h 414899"/>
                <a:gd name="connsiteX6" fmla="*/ 29159 w 119063"/>
                <a:gd name="connsiteY6" fmla="*/ 414899 h 414899"/>
                <a:gd name="connsiteX7" fmla="*/ 16950 w 119063"/>
                <a:gd name="connsiteY7" fmla="*/ 397121 h 414899"/>
                <a:gd name="connsiteX8" fmla="*/ 0 w 119063"/>
                <a:gd name="connsiteY8" fmla="*/ 336851 h 414899"/>
                <a:gd name="connsiteX9" fmla="*/ 0 w 119063"/>
                <a:gd name="connsiteY9" fmla="*/ 49537 h 414899"/>
                <a:gd name="connsiteX10" fmla="*/ 33073 w 119063"/>
                <a:gd name="connsiteY10" fmla="*/ 0 h 4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063" h="414899">
                  <a:moveTo>
                    <a:pt x="33073" y="0"/>
                  </a:moveTo>
                  <a:cubicBezTo>
                    <a:pt x="39688" y="0"/>
                    <a:pt x="49610" y="3303"/>
                    <a:pt x="56224" y="6605"/>
                  </a:cubicBezTo>
                  <a:cubicBezTo>
                    <a:pt x="56224" y="6605"/>
                    <a:pt x="56224" y="6605"/>
                    <a:pt x="62839" y="9908"/>
                  </a:cubicBezTo>
                  <a:cubicBezTo>
                    <a:pt x="95912" y="29722"/>
                    <a:pt x="119063" y="75957"/>
                    <a:pt x="119063" y="115586"/>
                  </a:cubicBezTo>
                  <a:cubicBezTo>
                    <a:pt x="119063" y="115586"/>
                    <a:pt x="119063" y="115586"/>
                    <a:pt x="119063" y="310277"/>
                  </a:cubicBezTo>
                  <a:lnTo>
                    <a:pt x="119063" y="363731"/>
                  </a:lnTo>
                  <a:lnTo>
                    <a:pt x="29159" y="414899"/>
                  </a:lnTo>
                  <a:lnTo>
                    <a:pt x="16950" y="397121"/>
                  </a:lnTo>
                  <a:cubicBezTo>
                    <a:pt x="6615" y="378132"/>
                    <a:pt x="0" y="356666"/>
                    <a:pt x="0" y="336851"/>
                  </a:cubicBezTo>
                  <a:cubicBezTo>
                    <a:pt x="0" y="336851"/>
                    <a:pt x="0" y="336851"/>
                    <a:pt x="0" y="49537"/>
                  </a:cubicBezTo>
                  <a:cubicBezTo>
                    <a:pt x="0" y="16513"/>
                    <a:pt x="13229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4" name="Freeform 106">
              <a:extLst>
                <a:ext uri="{FF2B5EF4-FFF2-40B4-BE49-F238E27FC236}">
                  <a16:creationId xmlns:a16="http://schemas.microsoft.com/office/drawing/2014/main" id="{802652E2-13D5-4D4D-A1C1-D4A24DA696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55909" y="2437995"/>
              <a:ext cx="1951037" cy="3057525"/>
            </a:xfrm>
            <a:custGeom>
              <a:avLst/>
              <a:gdLst>
                <a:gd name="T0" fmla="*/ 531 w 531"/>
                <a:gd name="T1" fmla="*/ 0 h 835"/>
                <a:gd name="T2" fmla="*/ 0 w 531"/>
                <a:gd name="T3" fmla="*/ 0 h 835"/>
                <a:gd name="T4" fmla="*/ 0 w 531"/>
                <a:gd name="T5" fmla="*/ 682 h 835"/>
                <a:gd name="T6" fmla="*/ 0 w 531"/>
                <a:gd name="T7" fmla="*/ 682 h 835"/>
                <a:gd name="T8" fmla="*/ 6 w 531"/>
                <a:gd name="T9" fmla="*/ 692 h 835"/>
                <a:gd name="T10" fmla="*/ 248 w 531"/>
                <a:gd name="T11" fmla="*/ 831 h 835"/>
                <a:gd name="T12" fmla="*/ 264 w 531"/>
                <a:gd name="T13" fmla="*/ 835 h 835"/>
                <a:gd name="T14" fmla="*/ 286 w 531"/>
                <a:gd name="T15" fmla="*/ 830 h 835"/>
                <a:gd name="T16" fmla="*/ 522 w 531"/>
                <a:gd name="T17" fmla="*/ 693 h 835"/>
                <a:gd name="T18" fmla="*/ 531 w 531"/>
                <a:gd name="T19" fmla="*/ 682 h 835"/>
                <a:gd name="T20" fmla="*/ 531 w 531"/>
                <a:gd name="T21" fmla="*/ 682 h 835"/>
                <a:gd name="T22" fmla="*/ 531 w 531"/>
                <a:gd name="T23" fmla="*/ 0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31" h="835">
                  <a:moveTo>
                    <a:pt x="5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82"/>
                    <a:pt x="0" y="682"/>
                    <a:pt x="0" y="682"/>
                  </a:cubicBezTo>
                  <a:cubicBezTo>
                    <a:pt x="0" y="682"/>
                    <a:pt x="0" y="682"/>
                    <a:pt x="0" y="682"/>
                  </a:cubicBezTo>
                  <a:cubicBezTo>
                    <a:pt x="0" y="685"/>
                    <a:pt x="2" y="689"/>
                    <a:pt x="6" y="692"/>
                  </a:cubicBezTo>
                  <a:cubicBezTo>
                    <a:pt x="248" y="831"/>
                    <a:pt x="248" y="831"/>
                    <a:pt x="248" y="831"/>
                  </a:cubicBezTo>
                  <a:cubicBezTo>
                    <a:pt x="252" y="834"/>
                    <a:pt x="258" y="835"/>
                    <a:pt x="264" y="835"/>
                  </a:cubicBezTo>
                  <a:cubicBezTo>
                    <a:pt x="272" y="835"/>
                    <a:pt x="280" y="833"/>
                    <a:pt x="286" y="830"/>
                  </a:cubicBezTo>
                  <a:cubicBezTo>
                    <a:pt x="522" y="693"/>
                    <a:pt x="522" y="693"/>
                    <a:pt x="522" y="693"/>
                  </a:cubicBezTo>
                  <a:cubicBezTo>
                    <a:pt x="528" y="690"/>
                    <a:pt x="531" y="686"/>
                    <a:pt x="531" y="682"/>
                  </a:cubicBezTo>
                  <a:cubicBezTo>
                    <a:pt x="531" y="682"/>
                    <a:pt x="531" y="682"/>
                    <a:pt x="531" y="682"/>
                  </a:cubicBezTo>
                  <a:cubicBezTo>
                    <a:pt x="531" y="0"/>
                    <a:pt x="531" y="0"/>
                    <a:pt x="531" y="0"/>
                  </a:cubicBezTo>
                </a:path>
              </a:pathLst>
            </a:custGeom>
            <a:gradFill>
              <a:gsLst>
                <a:gs pos="100000">
                  <a:srgbClr val="42E6E0">
                    <a:alpha val="20000"/>
                  </a:srgbClr>
                </a:gs>
                <a:gs pos="0">
                  <a:srgbClr val="180D5B">
                    <a:alpha val="5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pPr/>
              <a:t>2026/3/2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59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pPr/>
              <a:t>2026/3/2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176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矩形 75">
            <a:extLst>
              <a:ext uri="{FF2B5EF4-FFF2-40B4-BE49-F238E27FC236}">
                <a16:creationId xmlns:a16="http://schemas.microsoft.com/office/drawing/2014/main" id="{818B7027-5C92-45CB-BBAA-AB7DCDF6E2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6405683" y="1846467"/>
            <a:ext cx="5079462" cy="1621509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405683" y="4152703"/>
            <a:ext cx="5079462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13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05685" y="3856432"/>
            <a:ext cx="5079462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3383A2F-1BBF-442C-B637-EC75AFBB314F}"/>
              </a:ext>
            </a:extLst>
          </p:cNvPr>
          <p:cNvGrpSpPr/>
          <p:nvPr userDrawn="1"/>
        </p:nvGrpSpPr>
        <p:grpSpPr>
          <a:xfrm flipH="1">
            <a:off x="140435" y="835838"/>
            <a:ext cx="9680127" cy="5377577"/>
            <a:chOff x="4656138" y="2437995"/>
            <a:chExt cx="6846887" cy="3803634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9C554A3D-024E-478A-AA3F-7C9AC070E6DE}"/>
                </a:ext>
              </a:extLst>
            </p:cNvPr>
            <p:cNvSpPr/>
            <p:nvPr userDrawn="1"/>
          </p:nvSpPr>
          <p:spPr>
            <a:xfrm>
              <a:off x="9791994" y="5509651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7CC78CBC-9FE1-4BEC-900F-4C15400789B4}"/>
                </a:ext>
              </a:extLst>
            </p:cNvPr>
            <p:cNvSpPr/>
            <p:nvPr userDrawn="1"/>
          </p:nvSpPr>
          <p:spPr>
            <a:xfrm>
              <a:off x="8951536" y="5923755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22C2BE32-0DCF-4892-BE44-3D28A9D09EA9}"/>
                </a:ext>
              </a:extLst>
            </p:cNvPr>
            <p:cNvSpPr/>
            <p:nvPr userDrawn="1"/>
          </p:nvSpPr>
          <p:spPr>
            <a:xfrm>
              <a:off x="7681196" y="5266157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EE4A866-47D1-4299-A8BC-68ECE5F053D6}"/>
                </a:ext>
              </a:extLst>
            </p:cNvPr>
            <p:cNvSpPr/>
            <p:nvPr userDrawn="1"/>
          </p:nvSpPr>
          <p:spPr>
            <a:xfrm>
              <a:off x="6269331" y="5704329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20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368F80A6-5641-486A-AF6D-506CE3D7EC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56138" y="4818063"/>
              <a:ext cx="6846887" cy="1335087"/>
            </a:xfrm>
            <a:custGeom>
              <a:avLst/>
              <a:gdLst>
                <a:gd name="T0" fmla="*/ 2059 w 2076"/>
                <a:gd name="T1" fmla="*/ 0 h 404"/>
                <a:gd name="T2" fmla="*/ 2053 w 2076"/>
                <a:gd name="T3" fmla="*/ 2 h 404"/>
                <a:gd name="T4" fmla="*/ 1420 w 2076"/>
                <a:gd name="T5" fmla="*/ 368 h 404"/>
                <a:gd name="T6" fmla="*/ 1388 w 2076"/>
                <a:gd name="T7" fmla="*/ 376 h 404"/>
                <a:gd name="T8" fmla="*/ 1357 w 2076"/>
                <a:gd name="T9" fmla="*/ 368 h 404"/>
                <a:gd name="T10" fmla="*/ 949 w 2076"/>
                <a:gd name="T11" fmla="*/ 132 h 404"/>
                <a:gd name="T12" fmla="*/ 903 w 2076"/>
                <a:gd name="T13" fmla="*/ 120 h 404"/>
                <a:gd name="T14" fmla="*/ 858 w 2076"/>
                <a:gd name="T15" fmla="*/ 132 h 404"/>
                <a:gd name="T16" fmla="*/ 521 w 2076"/>
                <a:gd name="T17" fmla="*/ 326 h 404"/>
                <a:gd name="T18" fmla="*/ 490 w 2076"/>
                <a:gd name="T19" fmla="*/ 335 h 404"/>
                <a:gd name="T20" fmla="*/ 459 w 2076"/>
                <a:gd name="T21" fmla="*/ 326 h 404"/>
                <a:gd name="T22" fmla="*/ 23 w 2076"/>
                <a:gd name="T23" fmla="*/ 75 h 404"/>
                <a:gd name="T24" fmla="*/ 16 w 2076"/>
                <a:gd name="T25" fmla="*/ 73 h 404"/>
                <a:gd name="T26" fmla="*/ 4 w 2076"/>
                <a:gd name="T27" fmla="*/ 80 h 404"/>
                <a:gd name="T28" fmla="*/ 9 w 2076"/>
                <a:gd name="T29" fmla="*/ 99 h 404"/>
                <a:gd name="T30" fmla="*/ 445 w 2076"/>
                <a:gd name="T31" fmla="*/ 351 h 404"/>
                <a:gd name="T32" fmla="*/ 490 w 2076"/>
                <a:gd name="T33" fmla="*/ 363 h 404"/>
                <a:gd name="T34" fmla="*/ 535 w 2076"/>
                <a:gd name="T35" fmla="*/ 351 h 404"/>
                <a:gd name="T36" fmla="*/ 872 w 2076"/>
                <a:gd name="T37" fmla="*/ 156 h 404"/>
                <a:gd name="T38" fmla="*/ 903 w 2076"/>
                <a:gd name="T39" fmla="*/ 148 h 404"/>
                <a:gd name="T40" fmla="*/ 935 w 2076"/>
                <a:gd name="T41" fmla="*/ 156 h 404"/>
                <a:gd name="T42" fmla="*/ 1343 w 2076"/>
                <a:gd name="T43" fmla="*/ 392 h 404"/>
                <a:gd name="T44" fmla="*/ 1388 w 2076"/>
                <a:gd name="T45" fmla="*/ 404 h 404"/>
                <a:gd name="T46" fmla="*/ 1434 w 2076"/>
                <a:gd name="T47" fmla="*/ 392 h 404"/>
                <a:gd name="T48" fmla="*/ 2067 w 2076"/>
                <a:gd name="T49" fmla="*/ 26 h 404"/>
                <a:gd name="T50" fmla="*/ 2072 w 2076"/>
                <a:gd name="T51" fmla="*/ 7 h 404"/>
                <a:gd name="T52" fmla="*/ 2059 w 2076"/>
                <a:gd name="T53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076" h="404">
                  <a:moveTo>
                    <a:pt x="2059" y="0"/>
                  </a:moveTo>
                  <a:cubicBezTo>
                    <a:pt x="2057" y="0"/>
                    <a:pt x="2055" y="1"/>
                    <a:pt x="2053" y="2"/>
                  </a:cubicBezTo>
                  <a:cubicBezTo>
                    <a:pt x="1420" y="368"/>
                    <a:pt x="1420" y="368"/>
                    <a:pt x="1420" y="368"/>
                  </a:cubicBezTo>
                  <a:cubicBezTo>
                    <a:pt x="1410" y="373"/>
                    <a:pt x="1399" y="376"/>
                    <a:pt x="1388" y="376"/>
                  </a:cubicBezTo>
                  <a:cubicBezTo>
                    <a:pt x="1378" y="376"/>
                    <a:pt x="1367" y="373"/>
                    <a:pt x="1357" y="368"/>
                  </a:cubicBezTo>
                  <a:cubicBezTo>
                    <a:pt x="949" y="132"/>
                    <a:pt x="949" y="132"/>
                    <a:pt x="949" y="132"/>
                  </a:cubicBezTo>
                  <a:cubicBezTo>
                    <a:pt x="935" y="124"/>
                    <a:pt x="919" y="120"/>
                    <a:pt x="903" y="120"/>
                  </a:cubicBezTo>
                  <a:cubicBezTo>
                    <a:pt x="888" y="120"/>
                    <a:pt x="872" y="124"/>
                    <a:pt x="858" y="132"/>
                  </a:cubicBezTo>
                  <a:cubicBezTo>
                    <a:pt x="521" y="326"/>
                    <a:pt x="521" y="326"/>
                    <a:pt x="521" y="326"/>
                  </a:cubicBezTo>
                  <a:cubicBezTo>
                    <a:pt x="511" y="332"/>
                    <a:pt x="501" y="335"/>
                    <a:pt x="490" y="335"/>
                  </a:cubicBezTo>
                  <a:cubicBezTo>
                    <a:pt x="479" y="335"/>
                    <a:pt x="468" y="332"/>
                    <a:pt x="459" y="326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1" y="74"/>
                    <a:pt x="19" y="73"/>
                    <a:pt x="16" y="73"/>
                  </a:cubicBezTo>
                  <a:cubicBezTo>
                    <a:pt x="11" y="73"/>
                    <a:pt x="7" y="76"/>
                    <a:pt x="4" y="80"/>
                  </a:cubicBezTo>
                  <a:cubicBezTo>
                    <a:pt x="0" y="87"/>
                    <a:pt x="3" y="95"/>
                    <a:pt x="9" y="99"/>
                  </a:cubicBezTo>
                  <a:cubicBezTo>
                    <a:pt x="445" y="351"/>
                    <a:pt x="445" y="351"/>
                    <a:pt x="445" y="351"/>
                  </a:cubicBezTo>
                  <a:cubicBezTo>
                    <a:pt x="459" y="359"/>
                    <a:pt x="474" y="363"/>
                    <a:pt x="490" y="363"/>
                  </a:cubicBezTo>
                  <a:cubicBezTo>
                    <a:pt x="506" y="363"/>
                    <a:pt x="521" y="359"/>
                    <a:pt x="535" y="351"/>
                  </a:cubicBezTo>
                  <a:cubicBezTo>
                    <a:pt x="872" y="156"/>
                    <a:pt x="872" y="156"/>
                    <a:pt x="872" y="156"/>
                  </a:cubicBezTo>
                  <a:cubicBezTo>
                    <a:pt x="882" y="150"/>
                    <a:pt x="893" y="148"/>
                    <a:pt x="903" y="148"/>
                  </a:cubicBezTo>
                  <a:cubicBezTo>
                    <a:pt x="914" y="148"/>
                    <a:pt x="925" y="150"/>
                    <a:pt x="935" y="156"/>
                  </a:cubicBezTo>
                  <a:cubicBezTo>
                    <a:pt x="1343" y="392"/>
                    <a:pt x="1343" y="392"/>
                    <a:pt x="1343" y="392"/>
                  </a:cubicBezTo>
                  <a:cubicBezTo>
                    <a:pt x="1357" y="400"/>
                    <a:pt x="1373" y="404"/>
                    <a:pt x="1388" y="404"/>
                  </a:cubicBezTo>
                  <a:cubicBezTo>
                    <a:pt x="1404" y="404"/>
                    <a:pt x="1420" y="400"/>
                    <a:pt x="1434" y="392"/>
                  </a:cubicBezTo>
                  <a:cubicBezTo>
                    <a:pt x="2067" y="26"/>
                    <a:pt x="2067" y="26"/>
                    <a:pt x="2067" y="26"/>
                  </a:cubicBezTo>
                  <a:cubicBezTo>
                    <a:pt x="2073" y="23"/>
                    <a:pt x="2076" y="14"/>
                    <a:pt x="2072" y="7"/>
                  </a:cubicBezTo>
                  <a:cubicBezTo>
                    <a:pt x="2069" y="3"/>
                    <a:pt x="2064" y="0"/>
                    <a:pt x="2059" y="0"/>
                  </a:cubicBezTo>
                </a:path>
              </a:pathLst>
            </a:custGeom>
            <a:gradFill>
              <a:gsLst>
                <a:gs pos="74000">
                  <a:srgbClr val="2D7C9E">
                    <a:alpha val="50000"/>
                  </a:srgbClr>
                </a:gs>
                <a:gs pos="37000">
                  <a:srgbClr val="41E4DE">
                    <a:alpha val="50000"/>
                  </a:srgbClr>
                </a:gs>
                <a:gs pos="0">
                  <a:srgbClr val="19145F">
                    <a:alpha val="50000"/>
                  </a:srgbClr>
                </a:gs>
                <a:gs pos="100000">
                  <a:srgbClr val="19125E">
                    <a:alpha val="50000"/>
                  </a:srgbClr>
                </a:gs>
              </a:gsLst>
              <a:lin ang="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EC823025-CC4D-448B-B923-ED6EE7BAFF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40638" y="3989388"/>
              <a:ext cx="3186112" cy="1830387"/>
            </a:xfrm>
            <a:custGeom>
              <a:avLst/>
              <a:gdLst>
                <a:gd name="T0" fmla="*/ 483 w 966"/>
                <a:gd name="T1" fmla="*/ 466 h 554"/>
                <a:gd name="T2" fmla="*/ 157 w 966"/>
                <a:gd name="T3" fmla="*/ 277 h 554"/>
                <a:gd name="T4" fmla="*/ 483 w 966"/>
                <a:gd name="T5" fmla="*/ 89 h 554"/>
                <a:gd name="T6" fmla="*/ 810 w 966"/>
                <a:gd name="T7" fmla="*/ 277 h 554"/>
                <a:gd name="T8" fmla="*/ 483 w 966"/>
                <a:gd name="T9" fmla="*/ 466 h 554"/>
                <a:gd name="T10" fmla="*/ 483 w 966"/>
                <a:gd name="T11" fmla="*/ 48 h 554"/>
                <a:gd name="T12" fmla="*/ 472 w 966"/>
                <a:gd name="T13" fmla="*/ 51 h 554"/>
                <a:gd name="T14" fmla="*/ 82 w 966"/>
                <a:gd name="T15" fmla="*/ 276 h 554"/>
                <a:gd name="T16" fmla="*/ 81 w 966"/>
                <a:gd name="T17" fmla="*/ 277 h 554"/>
                <a:gd name="T18" fmla="*/ 82 w 966"/>
                <a:gd name="T19" fmla="*/ 278 h 554"/>
                <a:gd name="T20" fmla="*/ 472 w 966"/>
                <a:gd name="T21" fmla="*/ 503 h 554"/>
                <a:gd name="T22" fmla="*/ 472 w 966"/>
                <a:gd name="T23" fmla="*/ 503 h 554"/>
                <a:gd name="T24" fmla="*/ 483 w 966"/>
                <a:gd name="T25" fmla="*/ 506 h 554"/>
                <a:gd name="T26" fmla="*/ 494 w 966"/>
                <a:gd name="T27" fmla="*/ 503 h 554"/>
                <a:gd name="T28" fmla="*/ 884 w 966"/>
                <a:gd name="T29" fmla="*/ 278 h 554"/>
                <a:gd name="T30" fmla="*/ 885 w 966"/>
                <a:gd name="T31" fmla="*/ 277 h 554"/>
                <a:gd name="T32" fmla="*/ 884 w 966"/>
                <a:gd name="T33" fmla="*/ 276 h 554"/>
                <a:gd name="T34" fmla="*/ 494 w 966"/>
                <a:gd name="T35" fmla="*/ 51 h 554"/>
                <a:gd name="T36" fmla="*/ 483 w 966"/>
                <a:gd name="T37" fmla="*/ 48 h 554"/>
                <a:gd name="T38" fmla="*/ 483 w 966"/>
                <a:gd name="T39" fmla="*/ 518 h 554"/>
                <a:gd name="T40" fmla="*/ 466 w 966"/>
                <a:gd name="T41" fmla="*/ 514 h 554"/>
                <a:gd name="T42" fmla="*/ 466 w 966"/>
                <a:gd name="T43" fmla="*/ 514 h 554"/>
                <a:gd name="T44" fmla="*/ 76 w 966"/>
                <a:gd name="T45" fmla="*/ 289 h 554"/>
                <a:gd name="T46" fmla="*/ 69 w 966"/>
                <a:gd name="T47" fmla="*/ 277 h 554"/>
                <a:gd name="T48" fmla="*/ 76 w 966"/>
                <a:gd name="T49" fmla="*/ 266 h 554"/>
                <a:gd name="T50" fmla="*/ 466 w 966"/>
                <a:gd name="T51" fmla="*/ 41 h 554"/>
                <a:gd name="T52" fmla="*/ 483 w 966"/>
                <a:gd name="T53" fmla="*/ 36 h 554"/>
                <a:gd name="T54" fmla="*/ 500 w 966"/>
                <a:gd name="T55" fmla="*/ 41 h 554"/>
                <a:gd name="T56" fmla="*/ 890 w 966"/>
                <a:gd name="T57" fmla="*/ 266 h 554"/>
                <a:gd name="T58" fmla="*/ 897 w 966"/>
                <a:gd name="T59" fmla="*/ 277 h 554"/>
                <a:gd name="T60" fmla="*/ 890 w 966"/>
                <a:gd name="T61" fmla="*/ 289 h 554"/>
                <a:gd name="T62" fmla="*/ 500 w 966"/>
                <a:gd name="T63" fmla="*/ 514 h 554"/>
                <a:gd name="T64" fmla="*/ 483 w 966"/>
                <a:gd name="T65" fmla="*/ 518 h 554"/>
                <a:gd name="T66" fmla="*/ 483 w 966"/>
                <a:gd name="T67" fmla="*/ 0 h 554"/>
                <a:gd name="T68" fmla="*/ 462 w 966"/>
                <a:gd name="T69" fmla="*/ 6 h 554"/>
                <a:gd name="T70" fmla="*/ 7 w 966"/>
                <a:gd name="T71" fmla="*/ 269 h 554"/>
                <a:gd name="T72" fmla="*/ 7 w 966"/>
                <a:gd name="T73" fmla="*/ 286 h 554"/>
                <a:gd name="T74" fmla="*/ 462 w 966"/>
                <a:gd name="T75" fmla="*/ 548 h 554"/>
                <a:gd name="T76" fmla="*/ 483 w 966"/>
                <a:gd name="T77" fmla="*/ 554 h 554"/>
                <a:gd name="T78" fmla="*/ 505 w 966"/>
                <a:gd name="T79" fmla="*/ 548 h 554"/>
                <a:gd name="T80" fmla="*/ 960 w 966"/>
                <a:gd name="T81" fmla="*/ 286 h 554"/>
                <a:gd name="T82" fmla="*/ 960 w 966"/>
                <a:gd name="T83" fmla="*/ 269 h 554"/>
                <a:gd name="T84" fmla="*/ 505 w 966"/>
                <a:gd name="T85" fmla="*/ 6 h 554"/>
                <a:gd name="T86" fmla="*/ 483 w 966"/>
                <a:gd name="T87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66" h="554">
                  <a:moveTo>
                    <a:pt x="483" y="466"/>
                  </a:moveTo>
                  <a:cubicBezTo>
                    <a:pt x="157" y="277"/>
                    <a:pt x="157" y="277"/>
                    <a:pt x="157" y="277"/>
                  </a:cubicBezTo>
                  <a:cubicBezTo>
                    <a:pt x="483" y="89"/>
                    <a:pt x="483" y="89"/>
                    <a:pt x="483" y="89"/>
                  </a:cubicBezTo>
                  <a:cubicBezTo>
                    <a:pt x="810" y="277"/>
                    <a:pt x="810" y="277"/>
                    <a:pt x="810" y="277"/>
                  </a:cubicBezTo>
                  <a:cubicBezTo>
                    <a:pt x="483" y="466"/>
                    <a:pt x="483" y="466"/>
                    <a:pt x="483" y="466"/>
                  </a:cubicBezTo>
                  <a:moveTo>
                    <a:pt x="483" y="48"/>
                  </a:moveTo>
                  <a:cubicBezTo>
                    <a:pt x="479" y="48"/>
                    <a:pt x="475" y="49"/>
                    <a:pt x="472" y="51"/>
                  </a:cubicBezTo>
                  <a:cubicBezTo>
                    <a:pt x="82" y="276"/>
                    <a:pt x="82" y="276"/>
                    <a:pt x="82" y="276"/>
                  </a:cubicBezTo>
                  <a:cubicBezTo>
                    <a:pt x="82" y="277"/>
                    <a:pt x="81" y="277"/>
                    <a:pt x="81" y="277"/>
                  </a:cubicBezTo>
                  <a:cubicBezTo>
                    <a:pt x="81" y="278"/>
                    <a:pt x="82" y="278"/>
                    <a:pt x="82" y="278"/>
                  </a:cubicBezTo>
                  <a:cubicBezTo>
                    <a:pt x="472" y="503"/>
                    <a:pt x="472" y="503"/>
                    <a:pt x="472" y="503"/>
                  </a:cubicBezTo>
                  <a:cubicBezTo>
                    <a:pt x="472" y="503"/>
                    <a:pt x="472" y="503"/>
                    <a:pt x="472" y="503"/>
                  </a:cubicBezTo>
                  <a:cubicBezTo>
                    <a:pt x="475" y="505"/>
                    <a:pt x="479" y="506"/>
                    <a:pt x="483" y="506"/>
                  </a:cubicBezTo>
                  <a:cubicBezTo>
                    <a:pt x="487" y="506"/>
                    <a:pt x="491" y="505"/>
                    <a:pt x="494" y="503"/>
                  </a:cubicBezTo>
                  <a:cubicBezTo>
                    <a:pt x="884" y="278"/>
                    <a:pt x="884" y="278"/>
                    <a:pt x="884" y="278"/>
                  </a:cubicBezTo>
                  <a:cubicBezTo>
                    <a:pt x="885" y="278"/>
                    <a:pt x="885" y="278"/>
                    <a:pt x="885" y="277"/>
                  </a:cubicBezTo>
                  <a:cubicBezTo>
                    <a:pt x="885" y="277"/>
                    <a:pt x="885" y="277"/>
                    <a:pt x="884" y="276"/>
                  </a:cubicBezTo>
                  <a:cubicBezTo>
                    <a:pt x="494" y="51"/>
                    <a:pt x="494" y="51"/>
                    <a:pt x="494" y="51"/>
                  </a:cubicBezTo>
                  <a:cubicBezTo>
                    <a:pt x="491" y="49"/>
                    <a:pt x="487" y="48"/>
                    <a:pt x="483" y="48"/>
                  </a:cubicBezTo>
                  <a:moveTo>
                    <a:pt x="483" y="518"/>
                  </a:moveTo>
                  <a:cubicBezTo>
                    <a:pt x="477" y="518"/>
                    <a:pt x="471" y="517"/>
                    <a:pt x="466" y="514"/>
                  </a:cubicBezTo>
                  <a:cubicBezTo>
                    <a:pt x="466" y="514"/>
                    <a:pt x="466" y="514"/>
                    <a:pt x="466" y="514"/>
                  </a:cubicBezTo>
                  <a:cubicBezTo>
                    <a:pt x="76" y="289"/>
                    <a:pt x="76" y="289"/>
                    <a:pt x="76" y="289"/>
                  </a:cubicBezTo>
                  <a:cubicBezTo>
                    <a:pt x="72" y="286"/>
                    <a:pt x="69" y="282"/>
                    <a:pt x="69" y="277"/>
                  </a:cubicBezTo>
                  <a:cubicBezTo>
                    <a:pt x="69" y="273"/>
                    <a:pt x="72" y="268"/>
                    <a:pt x="76" y="266"/>
                  </a:cubicBezTo>
                  <a:cubicBezTo>
                    <a:pt x="466" y="41"/>
                    <a:pt x="466" y="41"/>
                    <a:pt x="466" y="41"/>
                  </a:cubicBezTo>
                  <a:cubicBezTo>
                    <a:pt x="471" y="38"/>
                    <a:pt x="477" y="36"/>
                    <a:pt x="483" y="36"/>
                  </a:cubicBezTo>
                  <a:cubicBezTo>
                    <a:pt x="489" y="36"/>
                    <a:pt x="495" y="38"/>
                    <a:pt x="500" y="41"/>
                  </a:cubicBezTo>
                  <a:cubicBezTo>
                    <a:pt x="890" y="266"/>
                    <a:pt x="890" y="266"/>
                    <a:pt x="890" y="266"/>
                  </a:cubicBezTo>
                  <a:cubicBezTo>
                    <a:pt x="894" y="268"/>
                    <a:pt x="897" y="273"/>
                    <a:pt x="897" y="277"/>
                  </a:cubicBezTo>
                  <a:cubicBezTo>
                    <a:pt x="897" y="282"/>
                    <a:pt x="894" y="286"/>
                    <a:pt x="890" y="289"/>
                  </a:cubicBezTo>
                  <a:cubicBezTo>
                    <a:pt x="500" y="514"/>
                    <a:pt x="500" y="514"/>
                    <a:pt x="500" y="514"/>
                  </a:cubicBezTo>
                  <a:cubicBezTo>
                    <a:pt x="495" y="517"/>
                    <a:pt x="489" y="518"/>
                    <a:pt x="483" y="518"/>
                  </a:cubicBezTo>
                  <a:moveTo>
                    <a:pt x="483" y="0"/>
                  </a:moveTo>
                  <a:cubicBezTo>
                    <a:pt x="476" y="0"/>
                    <a:pt x="468" y="2"/>
                    <a:pt x="462" y="6"/>
                  </a:cubicBezTo>
                  <a:cubicBezTo>
                    <a:pt x="7" y="269"/>
                    <a:pt x="7" y="269"/>
                    <a:pt x="7" y="269"/>
                  </a:cubicBezTo>
                  <a:cubicBezTo>
                    <a:pt x="0" y="273"/>
                    <a:pt x="0" y="282"/>
                    <a:pt x="7" y="286"/>
                  </a:cubicBezTo>
                  <a:cubicBezTo>
                    <a:pt x="462" y="548"/>
                    <a:pt x="462" y="548"/>
                    <a:pt x="462" y="548"/>
                  </a:cubicBezTo>
                  <a:cubicBezTo>
                    <a:pt x="468" y="552"/>
                    <a:pt x="476" y="554"/>
                    <a:pt x="483" y="554"/>
                  </a:cubicBezTo>
                  <a:cubicBezTo>
                    <a:pt x="491" y="554"/>
                    <a:pt x="498" y="552"/>
                    <a:pt x="505" y="548"/>
                  </a:cubicBezTo>
                  <a:cubicBezTo>
                    <a:pt x="960" y="286"/>
                    <a:pt x="960" y="286"/>
                    <a:pt x="960" y="286"/>
                  </a:cubicBezTo>
                  <a:cubicBezTo>
                    <a:pt x="966" y="282"/>
                    <a:pt x="966" y="273"/>
                    <a:pt x="960" y="269"/>
                  </a:cubicBezTo>
                  <a:cubicBezTo>
                    <a:pt x="505" y="6"/>
                    <a:pt x="505" y="6"/>
                    <a:pt x="505" y="6"/>
                  </a:cubicBezTo>
                  <a:cubicBezTo>
                    <a:pt x="498" y="2"/>
                    <a:pt x="491" y="0"/>
                    <a:pt x="483" y="0"/>
                  </a:cubicBezTo>
                </a:path>
              </a:pathLst>
            </a:custGeom>
            <a:solidFill>
              <a:srgbClr val="5E57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6DA1449B-9DF5-422D-8D4F-8ECFC57F0F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69238" y="4108450"/>
              <a:ext cx="2730500" cy="1592262"/>
            </a:xfrm>
            <a:custGeom>
              <a:avLst/>
              <a:gdLst>
                <a:gd name="T0" fmla="*/ 403 w 828"/>
                <a:gd name="T1" fmla="*/ 467 h 482"/>
                <a:gd name="T2" fmla="*/ 13 w 828"/>
                <a:gd name="T3" fmla="*/ 242 h 482"/>
                <a:gd name="T4" fmla="*/ 12 w 828"/>
                <a:gd name="T5" fmla="*/ 241 h 482"/>
                <a:gd name="T6" fmla="*/ 13 w 828"/>
                <a:gd name="T7" fmla="*/ 240 h 482"/>
                <a:gd name="T8" fmla="*/ 403 w 828"/>
                <a:gd name="T9" fmla="*/ 15 h 482"/>
                <a:gd name="T10" fmla="*/ 414 w 828"/>
                <a:gd name="T11" fmla="*/ 12 h 482"/>
                <a:gd name="T12" fmla="*/ 425 w 828"/>
                <a:gd name="T13" fmla="*/ 15 h 482"/>
                <a:gd name="T14" fmla="*/ 815 w 828"/>
                <a:gd name="T15" fmla="*/ 240 h 482"/>
                <a:gd name="T16" fmla="*/ 816 w 828"/>
                <a:gd name="T17" fmla="*/ 241 h 482"/>
                <a:gd name="T18" fmla="*/ 815 w 828"/>
                <a:gd name="T19" fmla="*/ 242 h 482"/>
                <a:gd name="T20" fmla="*/ 425 w 828"/>
                <a:gd name="T21" fmla="*/ 467 h 482"/>
                <a:gd name="T22" fmla="*/ 414 w 828"/>
                <a:gd name="T23" fmla="*/ 470 h 482"/>
                <a:gd name="T24" fmla="*/ 403 w 828"/>
                <a:gd name="T25" fmla="*/ 467 h 482"/>
                <a:gd name="T26" fmla="*/ 403 w 828"/>
                <a:gd name="T27" fmla="*/ 467 h 482"/>
                <a:gd name="T28" fmla="*/ 414 w 828"/>
                <a:gd name="T29" fmla="*/ 0 h 482"/>
                <a:gd name="T30" fmla="*/ 397 w 828"/>
                <a:gd name="T31" fmla="*/ 5 h 482"/>
                <a:gd name="T32" fmla="*/ 7 w 828"/>
                <a:gd name="T33" fmla="*/ 230 h 482"/>
                <a:gd name="T34" fmla="*/ 0 w 828"/>
                <a:gd name="T35" fmla="*/ 241 h 482"/>
                <a:gd name="T36" fmla="*/ 7 w 828"/>
                <a:gd name="T37" fmla="*/ 253 h 482"/>
                <a:gd name="T38" fmla="*/ 397 w 828"/>
                <a:gd name="T39" fmla="*/ 478 h 482"/>
                <a:gd name="T40" fmla="*/ 397 w 828"/>
                <a:gd name="T41" fmla="*/ 478 h 482"/>
                <a:gd name="T42" fmla="*/ 414 w 828"/>
                <a:gd name="T43" fmla="*/ 482 h 482"/>
                <a:gd name="T44" fmla="*/ 431 w 828"/>
                <a:gd name="T45" fmla="*/ 478 h 482"/>
                <a:gd name="T46" fmla="*/ 821 w 828"/>
                <a:gd name="T47" fmla="*/ 253 h 482"/>
                <a:gd name="T48" fmla="*/ 828 w 828"/>
                <a:gd name="T49" fmla="*/ 241 h 482"/>
                <a:gd name="T50" fmla="*/ 821 w 828"/>
                <a:gd name="T51" fmla="*/ 230 h 482"/>
                <a:gd name="T52" fmla="*/ 431 w 828"/>
                <a:gd name="T53" fmla="*/ 5 h 482"/>
                <a:gd name="T54" fmla="*/ 414 w 828"/>
                <a:gd name="T55" fmla="*/ 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28" h="482">
                  <a:moveTo>
                    <a:pt x="403" y="467"/>
                  </a:moveTo>
                  <a:cubicBezTo>
                    <a:pt x="13" y="242"/>
                    <a:pt x="13" y="242"/>
                    <a:pt x="13" y="242"/>
                  </a:cubicBezTo>
                  <a:cubicBezTo>
                    <a:pt x="13" y="242"/>
                    <a:pt x="12" y="242"/>
                    <a:pt x="12" y="241"/>
                  </a:cubicBezTo>
                  <a:cubicBezTo>
                    <a:pt x="12" y="241"/>
                    <a:pt x="13" y="241"/>
                    <a:pt x="13" y="240"/>
                  </a:cubicBezTo>
                  <a:cubicBezTo>
                    <a:pt x="403" y="15"/>
                    <a:pt x="403" y="15"/>
                    <a:pt x="403" y="15"/>
                  </a:cubicBezTo>
                  <a:cubicBezTo>
                    <a:pt x="406" y="13"/>
                    <a:pt x="410" y="12"/>
                    <a:pt x="414" y="12"/>
                  </a:cubicBezTo>
                  <a:cubicBezTo>
                    <a:pt x="418" y="12"/>
                    <a:pt x="422" y="13"/>
                    <a:pt x="425" y="15"/>
                  </a:cubicBezTo>
                  <a:cubicBezTo>
                    <a:pt x="815" y="240"/>
                    <a:pt x="815" y="240"/>
                    <a:pt x="815" y="240"/>
                  </a:cubicBezTo>
                  <a:cubicBezTo>
                    <a:pt x="816" y="241"/>
                    <a:pt x="816" y="241"/>
                    <a:pt x="816" y="241"/>
                  </a:cubicBezTo>
                  <a:cubicBezTo>
                    <a:pt x="816" y="242"/>
                    <a:pt x="816" y="242"/>
                    <a:pt x="815" y="242"/>
                  </a:cubicBezTo>
                  <a:cubicBezTo>
                    <a:pt x="425" y="467"/>
                    <a:pt x="425" y="467"/>
                    <a:pt x="425" y="467"/>
                  </a:cubicBezTo>
                  <a:cubicBezTo>
                    <a:pt x="422" y="469"/>
                    <a:pt x="418" y="470"/>
                    <a:pt x="414" y="470"/>
                  </a:cubicBezTo>
                  <a:cubicBezTo>
                    <a:pt x="410" y="470"/>
                    <a:pt x="406" y="469"/>
                    <a:pt x="403" y="467"/>
                  </a:cubicBezTo>
                  <a:cubicBezTo>
                    <a:pt x="403" y="467"/>
                    <a:pt x="403" y="467"/>
                    <a:pt x="403" y="467"/>
                  </a:cubicBezTo>
                  <a:moveTo>
                    <a:pt x="414" y="0"/>
                  </a:moveTo>
                  <a:cubicBezTo>
                    <a:pt x="408" y="0"/>
                    <a:pt x="402" y="2"/>
                    <a:pt x="397" y="5"/>
                  </a:cubicBezTo>
                  <a:cubicBezTo>
                    <a:pt x="7" y="230"/>
                    <a:pt x="7" y="230"/>
                    <a:pt x="7" y="230"/>
                  </a:cubicBezTo>
                  <a:cubicBezTo>
                    <a:pt x="3" y="232"/>
                    <a:pt x="0" y="237"/>
                    <a:pt x="0" y="241"/>
                  </a:cubicBezTo>
                  <a:cubicBezTo>
                    <a:pt x="0" y="246"/>
                    <a:pt x="3" y="250"/>
                    <a:pt x="7" y="253"/>
                  </a:cubicBezTo>
                  <a:cubicBezTo>
                    <a:pt x="397" y="478"/>
                    <a:pt x="397" y="478"/>
                    <a:pt x="397" y="478"/>
                  </a:cubicBezTo>
                  <a:cubicBezTo>
                    <a:pt x="397" y="478"/>
                    <a:pt x="397" y="478"/>
                    <a:pt x="397" y="478"/>
                  </a:cubicBezTo>
                  <a:cubicBezTo>
                    <a:pt x="402" y="481"/>
                    <a:pt x="408" y="482"/>
                    <a:pt x="414" y="482"/>
                  </a:cubicBezTo>
                  <a:cubicBezTo>
                    <a:pt x="420" y="482"/>
                    <a:pt x="426" y="481"/>
                    <a:pt x="431" y="478"/>
                  </a:cubicBezTo>
                  <a:cubicBezTo>
                    <a:pt x="821" y="253"/>
                    <a:pt x="821" y="253"/>
                    <a:pt x="821" y="253"/>
                  </a:cubicBezTo>
                  <a:cubicBezTo>
                    <a:pt x="825" y="250"/>
                    <a:pt x="828" y="246"/>
                    <a:pt x="828" y="241"/>
                  </a:cubicBezTo>
                  <a:cubicBezTo>
                    <a:pt x="828" y="237"/>
                    <a:pt x="825" y="232"/>
                    <a:pt x="821" y="230"/>
                  </a:cubicBezTo>
                  <a:cubicBezTo>
                    <a:pt x="431" y="5"/>
                    <a:pt x="431" y="5"/>
                    <a:pt x="431" y="5"/>
                  </a:cubicBezTo>
                  <a:cubicBezTo>
                    <a:pt x="426" y="2"/>
                    <a:pt x="420" y="0"/>
                    <a:pt x="414" y="0"/>
                  </a:cubicBezTo>
                </a:path>
              </a:pathLst>
            </a:custGeom>
            <a:gradFill>
              <a:gsLst>
                <a:gs pos="74000">
                  <a:srgbClr val="2D7C9E">
                    <a:alpha val="74000"/>
                  </a:srgbClr>
                </a:gs>
                <a:gs pos="37000">
                  <a:srgbClr val="41E4DE">
                    <a:alpha val="71000"/>
                  </a:srgbClr>
                </a:gs>
                <a:gs pos="0">
                  <a:srgbClr val="19145F"/>
                </a:gs>
                <a:gs pos="100000">
                  <a:srgbClr val="19125E">
                    <a:alpha val="82000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10B2BFE2-CBF3-401C-AE0A-ABD3A26EA6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58163" y="4283075"/>
              <a:ext cx="2154237" cy="1246187"/>
            </a:xfrm>
            <a:custGeom>
              <a:avLst/>
              <a:gdLst>
                <a:gd name="T0" fmla="*/ 678 w 1357"/>
                <a:gd name="T1" fmla="*/ 0 h 785"/>
                <a:gd name="T2" fmla="*/ 0 w 1357"/>
                <a:gd name="T3" fmla="*/ 391 h 785"/>
                <a:gd name="T4" fmla="*/ 678 w 1357"/>
                <a:gd name="T5" fmla="*/ 785 h 785"/>
                <a:gd name="T6" fmla="*/ 1357 w 1357"/>
                <a:gd name="T7" fmla="*/ 391 h 785"/>
                <a:gd name="T8" fmla="*/ 678 w 1357"/>
                <a:gd name="T9" fmla="*/ 0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7" h="785">
                  <a:moveTo>
                    <a:pt x="678" y="0"/>
                  </a:moveTo>
                  <a:lnTo>
                    <a:pt x="0" y="391"/>
                  </a:lnTo>
                  <a:lnTo>
                    <a:pt x="678" y="785"/>
                  </a:lnTo>
                  <a:lnTo>
                    <a:pt x="1357" y="391"/>
                  </a:lnTo>
                  <a:lnTo>
                    <a:pt x="678" y="0"/>
                  </a:lnTo>
                  <a:close/>
                </a:path>
              </a:pathLst>
            </a:custGeom>
            <a:solidFill>
              <a:srgbClr val="100B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27BD26F7-83BE-43A6-ADDF-5050C8D1A5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58163" y="4283075"/>
              <a:ext cx="2154237" cy="1246187"/>
            </a:xfrm>
            <a:custGeom>
              <a:avLst/>
              <a:gdLst>
                <a:gd name="T0" fmla="*/ 678 w 1357"/>
                <a:gd name="T1" fmla="*/ 0 h 785"/>
                <a:gd name="T2" fmla="*/ 0 w 1357"/>
                <a:gd name="T3" fmla="*/ 391 h 785"/>
                <a:gd name="T4" fmla="*/ 678 w 1357"/>
                <a:gd name="T5" fmla="*/ 785 h 785"/>
                <a:gd name="T6" fmla="*/ 1357 w 1357"/>
                <a:gd name="T7" fmla="*/ 391 h 785"/>
                <a:gd name="T8" fmla="*/ 678 w 1357"/>
                <a:gd name="T9" fmla="*/ 0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7" h="785">
                  <a:moveTo>
                    <a:pt x="678" y="0"/>
                  </a:moveTo>
                  <a:lnTo>
                    <a:pt x="0" y="391"/>
                  </a:lnTo>
                  <a:lnTo>
                    <a:pt x="678" y="785"/>
                  </a:lnTo>
                  <a:lnTo>
                    <a:pt x="1357" y="391"/>
                  </a:lnTo>
                  <a:lnTo>
                    <a:pt x="67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55">
              <a:extLst>
                <a:ext uri="{FF2B5EF4-FFF2-40B4-BE49-F238E27FC236}">
                  <a16:creationId xmlns:a16="http://schemas.microsoft.com/office/drawing/2014/main" id="{6E07EA3C-1B70-4FDE-B7A1-5C2C57B1F9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13861" y="5810250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7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3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3" y="6"/>
                  </a:cubicBezTo>
                  <a:cubicBezTo>
                    <a:pt x="21" y="3"/>
                    <a:pt x="17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56">
              <a:extLst>
                <a:ext uri="{FF2B5EF4-FFF2-40B4-BE49-F238E27FC236}">
                  <a16:creationId xmlns:a16="http://schemas.microsoft.com/office/drawing/2014/main" id="{36A0F9D0-6FD0-4967-B8F9-B088C32BD0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05936" y="5756275"/>
              <a:ext cx="88900" cy="79375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4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4" y="24"/>
                  </a:cubicBezTo>
                  <a:cubicBezTo>
                    <a:pt x="16" y="24"/>
                    <a:pt x="18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57">
              <a:extLst>
                <a:ext uri="{FF2B5EF4-FFF2-40B4-BE49-F238E27FC236}">
                  <a16:creationId xmlns:a16="http://schemas.microsoft.com/office/drawing/2014/main" id="{9CE429ED-D423-4FF2-8997-F925A4EE3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01186" y="5702300"/>
              <a:ext cx="85725" cy="77787"/>
            </a:xfrm>
            <a:custGeom>
              <a:avLst/>
              <a:gdLst>
                <a:gd name="T0" fmla="*/ 13 w 26"/>
                <a:gd name="T1" fmla="*/ 0 h 23"/>
                <a:gd name="T2" fmla="*/ 7 w 26"/>
                <a:gd name="T3" fmla="*/ 1 h 23"/>
                <a:gd name="T4" fmla="*/ 3 w 26"/>
                <a:gd name="T5" fmla="*/ 18 h 23"/>
                <a:gd name="T6" fmla="*/ 13 w 26"/>
                <a:gd name="T7" fmla="*/ 23 h 23"/>
                <a:gd name="T8" fmla="*/ 19 w 26"/>
                <a:gd name="T9" fmla="*/ 22 h 23"/>
                <a:gd name="T10" fmla="*/ 23 w 26"/>
                <a:gd name="T11" fmla="*/ 6 h 23"/>
                <a:gd name="T12" fmla="*/ 13 w 26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3">
                  <a:moveTo>
                    <a:pt x="13" y="0"/>
                  </a:moveTo>
                  <a:cubicBezTo>
                    <a:pt x="11" y="0"/>
                    <a:pt x="9" y="0"/>
                    <a:pt x="7" y="1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4" y="19"/>
                    <a:pt x="26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58">
              <a:extLst>
                <a:ext uri="{FF2B5EF4-FFF2-40B4-BE49-F238E27FC236}">
                  <a16:creationId xmlns:a16="http://schemas.microsoft.com/office/drawing/2014/main" id="{3AD1FA30-1A5F-45B7-8F47-0495666ED6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3261" y="5649912"/>
              <a:ext cx="90488" cy="76200"/>
            </a:xfrm>
            <a:custGeom>
              <a:avLst/>
              <a:gdLst>
                <a:gd name="T0" fmla="*/ 13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8" y="1"/>
                  </a:cubicBezTo>
                  <a:cubicBezTo>
                    <a:pt x="2" y="4"/>
                    <a:pt x="0" y="12"/>
                    <a:pt x="3" y="17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2" y="2"/>
                    <a:pt x="18" y="0"/>
                    <a:pt x="13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59">
              <a:extLst>
                <a:ext uri="{FF2B5EF4-FFF2-40B4-BE49-F238E27FC236}">
                  <a16:creationId xmlns:a16="http://schemas.microsoft.com/office/drawing/2014/main" id="{5AF43635-36A7-45F9-A4B6-9FC4A78501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6924" y="5595937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5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4"/>
                    <a:pt x="0" y="11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8"/>
                    <a:pt x="27" y="11"/>
                    <a:pt x="24" y="5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266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60">
              <a:extLst>
                <a:ext uri="{FF2B5EF4-FFF2-40B4-BE49-F238E27FC236}">
                  <a16:creationId xmlns:a16="http://schemas.microsoft.com/office/drawing/2014/main" id="{2C941137-2484-49B8-AF1F-1BDF791815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82174" y="5538787"/>
              <a:ext cx="88900" cy="80962"/>
            </a:xfrm>
            <a:custGeom>
              <a:avLst/>
              <a:gdLst>
                <a:gd name="T0" fmla="*/ 13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4266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61">
              <a:extLst>
                <a:ext uri="{FF2B5EF4-FFF2-40B4-BE49-F238E27FC236}">
                  <a16:creationId xmlns:a16="http://schemas.microsoft.com/office/drawing/2014/main" id="{4035D36C-9987-492B-8D32-29DACD2F0B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63161" y="5372100"/>
              <a:ext cx="88900" cy="77787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6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5"/>
                    <a:pt x="0" y="12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62">
              <a:extLst>
                <a:ext uri="{FF2B5EF4-FFF2-40B4-BE49-F238E27FC236}">
                  <a16:creationId xmlns:a16="http://schemas.microsoft.com/office/drawing/2014/main" id="{3B4E7CED-FE5C-49BE-9362-C2587E4A94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1086" y="5426075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63">
              <a:extLst>
                <a:ext uri="{FF2B5EF4-FFF2-40B4-BE49-F238E27FC236}">
                  <a16:creationId xmlns:a16="http://schemas.microsoft.com/office/drawing/2014/main" id="{531F4641-AD0A-4223-9658-0A902DDBCE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74249" y="5480050"/>
              <a:ext cx="88900" cy="79375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4 w 27"/>
                <a:gd name="T5" fmla="*/ 18 h 24"/>
                <a:gd name="T6" fmla="*/ 14 w 27"/>
                <a:gd name="T7" fmla="*/ 24 h 24"/>
                <a:gd name="T8" fmla="*/ 20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4" y="18"/>
                  </a:cubicBezTo>
                  <a:cubicBezTo>
                    <a:pt x="6" y="22"/>
                    <a:pt x="10" y="24"/>
                    <a:pt x="14" y="24"/>
                  </a:cubicBezTo>
                  <a:cubicBezTo>
                    <a:pt x="16" y="24"/>
                    <a:pt x="18" y="23"/>
                    <a:pt x="20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57EA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64">
              <a:extLst>
                <a:ext uri="{FF2B5EF4-FFF2-40B4-BE49-F238E27FC236}">
                  <a16:creationId xmlns:a16="http://schemas.microsoft.com/office/drawing/2014/main" id="{05E0E6C8-D006-42F6-8C42-980DEB3AC5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23561" y="5372100"/>
              <a:ext cx="88900" cy="77787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5 h 23"/>
                <a:gd name="T4" fmla="*/ 8 w 27"/>
                <a:gd name="T5" fmla="*/ 22 h 23"/>
                <a:gd name="T6" fmla="*/ 13 w 27"/>
                <a:gd name="T7" fmla="*/ 23 h 23"/>
                <a:gd name="T8" fmla="*/ 24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5"/>
                  </a:cubicBezTo>
                  <a:cubicBezTo>
                    <a:pt x="0" y="11"/>
                    <a:pt x="2" y="18"/>
                    <a:pt x="8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8" y="23"/>
                    <a:pt x="21" y="21"/>
                    <a:pt x="24" y="17"/>
                  </a:cubicBezTo>
                  <a:cubicBezTo>
                    <a:pt x="27" y="11"/>
                    <a:pt x="25" y="4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65">
              <a:extLst>
                <a:ext uri="{FF2B5EF4-FFF2-40B4-BE49-F238E27FC236}">
                  <a16:creationId xmlns:a16="http://schemas.microsoft.com/office/drawing/2014/main" id="{E0F525E9-9A56-4973-AFFE-546EA91421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15636" y="5426075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4 w 27"/>
                <a:gd name="T3" fmla="*/ 6 h 23"/>
                <a:gd name="T4" fmla="*/ 8 w 27"/>
                <a:gd name="T5" fmla="*/ 22 h 23"/>
                <a:gd name="T6" fmla="*/ 14 w 27"/>
                <a:gd name="T7" fmla="*/ 23 h 23"/>
                <a:gd name="T8" fmla="*/ 24 w 27"/>
                <a:gd name="T9" fmla="*/ 17 h 23"/>
                <a:gd name="T10" fmla="*/ 20 w 27"/>
                <a:gd name="T11" fmla="*/ 1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1"/>
                    <a:pt x="2" y="19"/>
                    <a:pt x="8" y="22"/>
                  </a:cubicBezTo>
                  <a:cubicBezTo>
                    <a:pt x="10" y="23"/>
                    <a:pt x="12" y="23"/>
                    <a:pt x="14" y="23"/>
                  </a:cubicBezTo>
                  <a:cubicBezTo>
                    <a:pt x="18" y="23"/>
                    <a:pt x="22" y="21"/>
                    <a:pt x="24" y="17"/>
                  </a:cubicBezTo>
                  <a:cubicBezTo>
                    <a:pt x="27" y="12"/>
                    <a:pt x="25" y="5"/>
                    <a:pt x="20" y="1"/>
                  </a:cubicBezTo>
                  <a:cubicBezTo>
                    <a:pt x="18" y="0"/>
                    <a:pt x="16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66">
              <a:extLst>
                <a:ext uri="{FF2B5EF4-FFF2-40B4-BE49-F238E27FC236}">
                  <a16:creationId xmlns:a16="http://schemas.microsoft.com/office/drawing/2014/main" id="{BEAE6FF4-C501-4C1E-BE5C-FD002C7403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10886" y="5480050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3 w 27"/>
                <a:gd name="T3" fmla="*/ 6 h 24"/>
                <a:gd name="T4" fmla="*/ 8 w 27"/>
                <a:gd name="T5" fmla="*/ 22 h 24"/>
                <a:gd name="T6" fmla="*/ 13 w 27"/>
                <a:gd name="T7" fmla="*/ 24 h 24"/>
                <a:gd name="T8" fmla="*/ 24 w 27"/>
                <a:gd name="T9" fmla="*/ 18 h 24"/>
                <a:gd name="T10" fmla="*/ 19 w 27"/>
                <a:gd name="T11" fmla="*/ 2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9" y="0"/>
                    <a:pt x="5" y="2"/>
                    <a:pt x="3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9" y="23"/>
                    <a:pt x="11" y="24"/>
                    <a:pt x="13" y="24"/>
                  </a:cubicBezTo>
                  <a:cubicBezTo>
                    <a:pt x="17" y="24"/>
                    <a:pt x="21" y="21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67">
              <a:extLst>
                <a:ext uri="{FF2B5EF4-FFF2-40B4-BE49-F238E27FC236}">
                  <a16:creationId xmlns:a16="http://schemas.microsoft.com/office/drawing/2014/main" id="{220CDB65-2265-4F3C-900F-82CA48E66F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04549" y="5532437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4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2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68">
              <a:extLst>
                <a:ext uri="{FF2B5EF4-FFF2-40B4-BE49-F238E27FC236}">
                  <a16:creationId xmlns:a16="http://schemas.microsoft.com/office/drawing/2014/main" id="{ECAD736F-A86C-4A0E-9501-9B69D6915A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99799" y="5586412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3 w 27"/>
                <a:gd name="T3" fmla="*/ 6 h 24"/>
                <a:gd name="T4" fmla="*/ 7 w 27"/>
                <a:gd name="T5" fmla="*/ 22 h 24"/>
                <a:gd name="T6" fmla="*/ 13 w 27"/>
                <a:gd name="T7" fmla="*/ 24 h 24"/>
                <a:gd name="T8" fmla="*/ 24 w 27"/>
                <a:gd name="T9" fmla="*/ 18 h 24"/>
                <a:gd name="T10" fmla="*/ 19 w 27"/>
                <a:gd name="T11" fmla="*/ 2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9" y="0"/>
                    <a:pt x="5" y="3"/>
                    <a:pt x="3" y="6"/>
                  </a:cubicBezTo>
                  <a:cubicBezTo>
                    <a:pt x="0" y="12"/>
                    <a:pt x="2" y="19"/>
                    <a:pt x="7" y="22"/>
                  </a:cubicBezTo>
                  <a:cubicBezTo>
                    <a:pt x="9" y="23"/>
                    <a:pt x="11" y="24"/>
                    <a:pt x="13" y="24"/>
                  </a:cubicBezTo>
                  <a:cubicBezTo>
                    <a:pt x="17" y="24"/>
                    <a:pt x="21" y="22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7" y="1"/>
                    <a:pt x="15" y="0"/>
                    <a:pt x="13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71">
              <a:extLst>
                <a:ext uri="{FF2B5EF4-FFF2-40B4-BE49-F238E27FC236}">
                  <a16:creationId xmlns:a16="http://schemas.microsoft.com/office/drawing/2014/main" id="{98532914-5A4F-4DDE-A3CD-6827FFEBCA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945911" y="5972175"/>
              <a:ext cx="90488" cy="80962"/>
            </a:xfrm>
            <a:custGeom>
              <a:avLst/>
              <a:gdLst>
                <a:gd name="T0" fmla="*/ 14 w 27"/>
                <a:gd name="T1" fmla="*/ 0 h 24"/>
                <a:gd name="T2" fmla="*/ 3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3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1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72">
              <a:extLst>
                <a:ext uri="{FF2B5EF4-FFF2-40B4-BE49-F238E27FC236}">
                  <a16:creationId xmlns:a16="http://schemas.microsoft.com/office/drawing/2014/main" id="{A7BDCC71-1F86-4B47-B459-2477B26D26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53836" y="5919787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6 h 23"/>
                <a:gd name="T4" fmla="*/ 7 w 27"/>
                <a:gd name="T5" fmla="*/ 22 h 23"/>
                <a:gd name="T6" fmla="*/ 13 w 27"/>
                <a:gd name="T7" fmla="*/ 23 h 23"/>
                <a:gd name="T8" fmla="*/ 23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6"/>
                  </a:cubicBezTo>
                  <a:cubicBezTo>
                    <a:pt x="0" y="11"/>
                    <a:pt x="2" y="18"/>
                    <a:pt x="7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7" y="23"/>
                    <a:pt x="21" y="21"/>
                    <a:pt x="23" y="17"/>
                  </a:cubicBezTo>
                  <a:cubicBezTo>
                    <a:pt x="27" y="12"/>
                    <a:pt x="25" y="5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73">
              <a:extLst>
                <a:ext uri="{FF2B5EF4-FFF2-40B4-BE49-F238E27FC236}">
                  <a16:creationId xmlns:a16="http://schemas.microsoft.com/office/drawing/2014/main" id="{8EDB264D-3D4F-4F98-A42E-3355C4154F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758586" y="5862637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4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2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74">
              <a:extLst>
                <a:ext uri="{FF2B5EF4-FFF2-40B4-BE49-F238E27FC236}">
                  <a16:creationId xmlns:a16="http://schemas.microsoft.com/office/drawing/2014/main" id="{33638A6C-CE95-4C7E-B7B4-8FC32CD0D2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6511" y="5810250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3 w 27"/>
                <a:gd name="T3" fmla="*/ 6 h 23"/>
                <a:gd name="T4" fmla="*/ 8 w 27"/>
                <a:gd name="T5" fmla="*/ 22 h 23"/>
                <a:gd name="T6" fmla="*/ 14 w 27"/>
                <a:gd name="T7" fmla="*/ 23 h 23"/>
                <a:gd name="T8" fmla="*/ 24 w 27"/>
                <a:gd name="T9" fmla="*/ 18 h 23"/>
                <a:gd name="T10" fmla="*/ 19 w 27"/>
                <a:gd name="T11" fmla="*/ 2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0" y="0"/>
                    <a:pt x="6" y="2"/>
                    <a:pt x="3" y="6"/>
                  </a:cubicBezTo>
                  <a:cubicBezTo>
                    <a:pt x="0" y="11"/>
                    <a:pt x="2" y="19"/>
                    <a:pt x="8" y="22"/>
                  </a:cubicBezTo>
                  <a:cubicBezTo>
                    <a:pt x="10" y="23"/>
                    <a:pt x="12" y="23"/>
                    <a:pt x="14" y="23"/>
                  </a:cubicBezTo>
                  <a:cubicBezTo>
                    <a:pt x="18" y="23"/>
                    <a:pt x="22" y="21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8" y="0"/>
                    <a:pt x="16" y="0"/>
                    <a:pt x="14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75">
              <a:extLst>
                <a:ext uri="{FF2B5EF4-FFF2-40B4-BE49-F238E27FC236}">
                  <a16:creationId xmlns:a16="http://schemas.microsoft.com/office/drawing/2014/main" id="{C23CA099-DAC1-432C-8C4E-11E19A22FD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2849" y="5756275"/>
              <a:ext cx="90488" cy="76200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5 h 23"/>
                <a:gd name="T4" fmla="*/ 7 w 27"/>
                <a:gd name="T5" fmla="*/ 22 h 23"/>
                <a:gd name="T6" fmla="*/ 13 w 27"/>
                <a:gd name="T7" fmla="*/ 23 h 23"/>
                <a:gd name="T8" fmla="*/ 23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5"/>
                  </a:cubicBezTo>
                  <a:cubicBezTo>
                    <a:pt x="0" y="11"/>
                    <a:pt x="2" y="18"/>
                    <a:pt x="7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7" y="23"/>
                    <a:pt x="21" y="21"/>
                    <a:pt x="23" y="17"/>
                  </a:cubicBezTo>
                  <a:cubicBezTo>
                    <a:pt x="27" y="12"/>
                    <a:pt x="25" y="4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77">
              <a:extLst>
                <a:ext uri="{FF2B5EF4-FFF2-40B4-BE49-F238E27FC236}">
                  <a16:creationId xmlns:a16="http://schemas.microsoft.com/office/drawing/2014/main" id="{07FA81A5-EEEB-44AB-9090-766B35EE42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87124" y="5699125"/>
              <a:ext cx="79375" cy="73025"/>
            </a:xfrm>
            <a:custGeom>
              <a:avLst/>
              <a:gdLst>
                <a:gd name="T0" fmla="*/ 11 w 24"/>
                <a:gd name="T1" fmla="*/ 0 h 22"/>
                <a:gd name="T2" fmla="*/ 6 w 24"/>
                <a:gd name="T3" fmla="*/ 1 h 22"/>
                <a:gd name="T4" fmla="*/ 3 w 24"/>
                <a:gd name="T5" fmla="*/ 5 h 22"/>
                <a:gd name="T6" fmla="*/ 7 w 24"/>
                <a:gd name="T7" fmla="*/ 21 h 22"/>
                <a:gd name="T8" fmla="*/ 13 w 24"/>
                <a:gd name="T9" fmla="*/ 22 h 22"/>
                <a:gd name="T10" fmla="*/ 18 w 24"/>
                <a:gd name="T11" fmla="*/ 21 h 22"/>
                <a:gd name="T12" fmla="*/ 21 w 24"/>
                <a:gd name="T13" fmla="*/ 18 h 22"/>
                <a:gd name="T14" fmla="*/ 17 w 24"/>
                <a:gd name="T15" fmla="*/ 2 h 22"/>
                <a:gd name="T16" fmla="*/ 11 w 24"/>
                <a:gd name="T1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2">
                  <a:moveTo>
                    <a:pt x="11" y="0"/>
                  </a:moveTo>
                  <a:cubicBezTo>
                    <a:pt x="9" y="0"/>
                    <a:pt x="8" y="0"/>
                    <a:pt x="6" y="1"/>
                  </a:cubicBezTo>
                  <a:cubicBezTo>
                    <a:pt x="5" y="2"/>
                    <a:pt x="4" y="3"/>
                    <a:pt x="3" y="5"/>
                  </a:cubicBezTo>
                  <a:cubicBezTo>
                    <a:pt x="0" y="10"/>
                    <a:pt x="2" y="18"/>
                    <a:pt x="7" y="21"/>
                  </a:cubicBezTo>
                  <a:cubicBezTo>
                    <a:pt x="9" y="22"/>
                    <a:pt x="11" y="22"/>
                    <a:pt x="13" y="22"/>
                  </a:cubicBezTo>
                  <a:cubicBezTo>
                    <a:pt x="15" y="22"/>
                    <a:pt x="16" y="22"/>
                    <a:pt x="18" y="21"/>
                  </a:cubicBezTo>
                  <a:cubicBezTo>
                    <a:pt x="19" y="21"/>
                    <a:pt x="20" y="19"/>
                    <a:pt x="21" y="18"/>
                  </a:cubicBezTo>
                  <a:cubicBezTo>
                    <a:pt x="24" y="12"/>
                    <a:pt x="22" y="5"/>
                    <a:pt x="17" y="2"/>
                  </a:cubicBezTo>
                  <a:cubicBezTo>
                    <a:pt x="15" y="1"/>
                    <a:pt x="13" y="0"/>
                    <a:pt x="11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79">
              <a:extLst>
                <a:ext uri="{FF2B5EF4-FFF2-40B4-BE49-F238E27FC236}">
                  <a16:creationId xmlns:a16="http://schemas.microsoft.com/office/drawing/2014/main" id="{40C15D7D-C48E-4DE3-B760-B9144BDAA1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91874" y="5646737"/>
              <a:ext cx="82550" cy="73025"/>
            </a:xfrm>
            <a:custGeom>
              <a:avLst/>
              <a:gdLst>
                <a:gd name="T0" fmla="*/ 11 w 25"/>
                <a:gd name="T1" fmla="*/ 0 h 22"/>
                <a:gd name="T2" fmla="*/ 7 w 25"/>
                <a:gd name="T3" fmla="*/ 1 h 22"/>
                <a:gd name="T4" fmla="*/ 4 w 25"/>
                <a:gd name="T5" fmla="*/ 5 h 22"/>
                <a:gd name="T6" fmla="*/ 8 w 25"/>
                <a:gd name="T7" fmla="*/ 21 h 22"/>
                <a:gd name="T8" fmla="*/ 14 w 25"/>
                <a:gd name="T9" fmla="*/ 22 h 22"/>
                <a:gd name="T10" fmla="*/ 18 w 25"/>
                <a:gd name="T11" fmla="*/ 21 h 22"/>
                <a:gd name="T12" fmla="*/ 22 w 25"/>
                <a:gd name="T13" fmla="*/ 17 h 22"/>
                <a:gd name="T14" fmla="*/ 17 w 25"/>
                <a:gd name="T15" fmla="*/ 1 h 22"/>
                <a:gd name="T16" fmla="*/ 11 w 25"/>
                <a:gd name="T1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2">
                  <a:moveTo>
                    <a:pt x="11" y="0"/>
                  </a:moveTo>
                  <a:cubicBezTo>
                    <a:pt x="10" y="0"/>
                    <a:pt x="9" y="0"/>
                    <a:pt x="7" y="1"/>
                  </a:cubicBezTo>
                  <a:cubicBezTo>
                    <a:pt x="6" y="2"/>
                    <a:pt x="4" y="3"/>
                    <a:pt x="4" y="5"/>
                  </a:cubicBezTo>
                  <a:cubicBezTo>
                    <a:pt x="0" y="10"/>
                    <a:pt x="2" y="17"/>
                    <a:pt x="8" y="21"/>
                  </a:cubicBezTo>
                  <a:cubicBezTo>
                    <a:pt x="10" y="22"/>
                    <a:pt x="12" y="22"/>
                    <a:pt x="14" y="22"/>
                  </a:cubicBezTo>
                  <a:cubicBezTo>
                    <a:pt x="15" y="22"/>
                    <a:pt x="17" y="22"/>
                    <a:pt x="18" y="21"/>
                  </a:cubicBezTo>
                  <a:cubicBezTo>
                    <a:pt x="19" y="20"/>
                    <a:pt x="21" y="19"/>
                    <a:pt x="22" y="17"/>
                  </a:cubicBezTo>
                  <a:cubicBezTo>
                    <a:pt x="25" y="12"/>
                    <a:pt x="23" y="5"/>
                    <a:pt x="17" y="1"/>
                  </a:cubicBezTo>
                  <a:cubicBezTo>
                    <a:pt x="15" y="0"/>
                    <a:pt x="13" y="0"/>
                    <a:pt x="11" y="0"/>
                  </a:cubicBezTo>
                </a:path>
              </a:pathLst>
            </a:custGeom>
            <a:solidFill>
              <a:srgbClr val="51498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80">
              <a:extLst>
                <a:ext uri="{FF2B5EF4-FFF2-40B4-BE49-F238E27FC236}">
                  <a16:creationId xmlns:a16="http://schemas.microsoft.com/office/drawing/2014/main" id="{6779B2B1-D922-4492-BD11-EBA2348D0B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030174" y="5626100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8" y="1"/>
                  </a:cubicBezTo>
                  <a:cubicBezTo>
                    <a:pt x="2" y="5"/>
                    <a:pt x="0" y="12"/>
                    <a:pt x="3" y="17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1" y="2"/>
                    <a:pt x="18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81">
              <a:extLst>
                <a:ext uri="{FF2B5EF4-FFF2-40B4-BE49-F238E27FC236}">
                  <a16:creationId xmlns:a16="http://schemas.microsoft.com/office/drawing/2014/main" id="{8DC4648F-D8C5-4ED1-87D1-6178D01C91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22249" y="5568950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4 w 27"/>
                <a:gd name="T5" fmla="*/ 18 h 24"/>
                <a:gd name="T6" fmla="*/ 14 w 27"/>
                <a:gd name="T7" fmla="*/ 24 h 24"/>
                <a:gd name="T8" fmla="*/ 20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4" y="18"/>
                  </a:cubicBezTo>
                  <a:cubicBezTo>
                    <a:pt x="6" y="22"/>
                    <a:pt x="10" y="24"/>
                    <a:pt x="14" y="24"/>
                  </a:cubicBezTo>
                  <a:cubicBezTo>
                    <a:pt x="16" y="24"/>
                    <a:pt x="18" y="23"/>
                    <a:pt x="20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3"/>
                    <a:pt x="18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82">
              <a:extLst>
                <a:ext uri="{FF2B5EF4-FFF2-40B4-BE49-F238E27FC236}">
                  <a16:creationId xmlns:a16="http://schemas.microsoft.com/office/drawing/2014/main" id="{DAAB9D96-B8A7-4454-9A5F-02E1F41C26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17499" y="5516562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7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3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83">
              <a:extLst>
                <a:ext uri="{FF2B5EF4-FFF2-40B4-BE49-F238E27FC236}">
                  <a16:creationId xmlns:a16="http://schemas.microsoft.com/office/drawing/2014/main" id="{1B036E91-4C69-4222-A490-26DAD84EB3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09574" y="5462587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4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5"/>
                    <a:pt x="0" y="12"/>
                    <a:pt x="3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19" y="22"/>
                  </a:cubicBezTo>
                  <a:cubicBezTo>
                    <a:pt x="25" y="18"/>
                    <a:pt x="27" y="11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84">
              <a:extLst>
                <a:ext uri="{FF2B5EF4-FFF2-40B4-BE49-F238E27FC236}">
                  <a16:creationId xmlns:a16="http://schemas.microsoft.com/office/drawing/2014/main" id="{B1B66889-09F0-4432-A227-802D35A643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06411" y="5405437"/>
              <a:ext cx="85725" cy="80962"/>
            </a:xfrm>
            <a:custGeom>
              <a:avLst/>
              <a:gdLst>
                <a:gd name="T0" fmla="*/ 13 w 26"/>
                <a:gd name="T1" fmla="*/ 0 h 24"/>
                <a:gd name="T2" fmla="*/ 7 w 26"/>
                <a:gd name="T3" fmla="*/ 2 h 24"/>
                <a:gd name="T4" fmla="*/ 3 w 26"/>
                <a:gd name="T5" fmla="*/ 18 h 24"/>
                <a:gd name="T6" fmla="*/ 13 w 26"/>
                <a:gd name="T7" fmla="*/ 24 h 24"/>
                <a:gd name="T8" fmla="*/ 19 w 26"/>
                <a:gd name="T9" fmla="*/ 22 h 24"/>
                <a:gd name="T10" fmla="*/ 23 w 26"/>
                <a:gd name="T11" fmla="*/ 6 h 24"/>
                <a:gd name="T12" fmla="*/ 13 w 26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1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4" y="19"/>
                    <a:pt x="26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85">
              <a:extLst>
                <a:ext uri="{FF2B5EF4-FFF2-40B4-BE49-F238E27FC236}">
                  <a16:creationId xmlns:a16="http://schemas.microsoft.com/office/drawing/2014/main" id="{2F47A813-4EED-4E9B-B0F3-284D629F43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98486" y="5353050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7 w 27"/>
                <a:gd name="T3" fmla="*/ 2 h 23"/>
                <a:gd name="T4" fmla="*/ 3 w 27"/>
                <a:gd name="T5" fmla="*/ 18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86">
              <a:extLst>
                <a:ext uri="{FF2B5EF4-FFF2-40B4-BE49-F238E27FC236}">
                  <a16:creationId xmlns:a16="http://schemas.microsoft.com/office/drawing/2014/main" id="{C6845FB4-EB66-4A79-B099-375E8788F0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90561" y="5299075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5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4"/>
                    <a:pt x="0" y="12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8"/>
                    <a:pt x="27" y="11"/>
                    <a:pt x="24" y="5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8B86A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AF1A2538-5051-469B-8640-A4CD17CE4FE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41802" y="5287830"/>
              <a:ext cx="827436" cy="50191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EBC8B80E-FE5E-4E19-85A2-95C8DD2CB0A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352276" y="5405437"/>
              <a:ext cx="618290" cy="39859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E2B74C08-DAB2-4B60-BE63-31B1EF58C774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731243" y="5471253"/>
              <a:ext cx="328843" cy="21199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E0CA069-C0B0-4E7A-B11B-4ACD2B3E0552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10065044" y="5664134"/>
              <a:ext cx="618290" cy="39859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C535D6E5-49D9-45E0-A8B6-B2D1231A1859}"/>
                </a:ext>
              </a:extLst>
            </p:cNvPr>
            <p:cNvSpPr/>
            <p:nvPr userDrawn="1"/>
          </p:nvSpPr>
          <p:spPr>
            <a:xfrm>
              <a:off x="10861128" y="4188135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316616A3-795D-402D-BC50-063C43F0436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0552112" y="4285080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DBFB945A-9C54-49A8-93AD-3E9D6BB6536C}"/>
                </a:ext>
              </a:extLst>
            </p:cNvPr>
            <p:cNvSpPr/>
            <p:nvPr userDrawn="1"/>
          </p:nvSpPr>
          <p:spPr>
            <a:xfrm>
              <a:off x="9754989" y="3713379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8FCF84FC-3336-420C-9745-AFFA473676B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445973" y="3810324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7993B824-2430-4010-8ADC-F1F4A4D36729}"/>
                </a:ext>
              </a:extLst>
            </p:cNvPr>
            <p:cNvSpPr/>
            <p:nvPr userDrawn="1"/>
          </p:nvSpPr>
          <p:spPr>
            <a:xfrm>
              <a:off x="10020604" y="4130676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E2BC9A81-D7DF-4CAF-8B08-A6DE7D5ACCB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906261" y="4226956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8868605B-D722-4164-B21F-08BFE13E61E2}"/>
                </a:ext>
              </a:extLst>
            </p:cNvPr>
            <p:cNvSpPr/>
            <p:nvPr userDrawn="1"/>
          </p:nvSpPr>
          <p:spPr>
            <a:xfrm>
              <a:off x="7626655" y="4176741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CEA79255-9C71-432C-B4D0-195CB612AB02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12312" y="4273021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130C72F6-B790-4963-829E-CC6199EAA068}"/>
                </a:ext>
              </a:extLst>
            </p:cNvPr>
            <p:cNvSpPr/>
            <p:nvPr userDrawn="1"/>
          </p:nvSpPr>
          <p:spPr>
            <a:xfrm>
              <a:off x="8387012" y="3360161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3C4643EB-2B36-4F72-BC7D-553950FDE15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272669" y="3456441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BA2B3455-F5C8-4779-912D-30053B105227}"/>
                </a:ext>
              </a:extLst>
            </p:cNvPr>
            <p:cNvSpPr/>
            <p:nvPr userDrawn="1"/>
          </p:nvSpPr>
          <p:spPr>
            <a:xfrm>
              <a:off x="8071311" y="3424099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07D7C74C-5DD7-4AF7-99FD-900C366926D2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762295" y="3521044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36428A0B-65F9-46F4-9E1C-ABB7B30059FA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8216506" y="2821117"/>
              <a:ext cx="5025" cy="2074259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162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848627E4-D75D-4A0C-88BB-46A1C4837B9C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10208402" y="2813165"/>
              <a:ext cx="5025" cy="2074259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162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Freeform 90">
              <a:extLst>
                <a:ext uri="{FF2B5EF4-FFF2-40B4-BE49-F238E27FC236}">
                  <a16:creationId xmlns:a16="http://schemas.microsoft.com/office/drawing/2014/main" id="{40F9FBC8-FE03-45D5-BD33-637B1B60C5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8638" y="4267200"/>
              <a:ext cx="2168525" cy="1239838"/>
            </a:xfrm>
            <a:custGeom>
              <a:avLst/>
              <a:gdLst>
                <a:gd name="T0" fmla="*/ 270 w 538"/>
                <a:gd name="T1" fmla="*/ 0 h 307"/>
                <a:gd name="T2" fmla="*/ 249 w 538"/>
                <a:gd name="T3" fmla="*/ 6 h 307"/>
                <a:gd name="T4" fmla="*/ 13 w 538"/>
                <a:gd name="T5" fmla="*/ 142 h 307"/>
                <a:gd name="T6" fmla="*/ 10 w 538"/>
                <a:gd name="T7" fmla="*/ 164 h 307"/>
                <a:gd name="T8" fmla="*/ 251 w 538"/>
                <a:gd name="T9" fmla="*/ 303 h 307"/>
                <a:gd name="T10" fmla="*/ 268 w 538"/>
                <a:gd name="T11" fmla="*/ 307 h 307"/>
                <a:gd name="T12" fmla="*/ 290 w 538"/>
                <a:gd name="T13" fmla="*/ 302 h 307"/>
                <a:gd name="T14" fmla="*/ 525 w 538"/>
                <a:gd name="T15" fmla="*/ 166 h 307"/>
                <a:gd name="T16" fmla="*/ 528 w 538"/>
                <a:gd name="T17" fmla="*/ 144 h 307"/>
                <a:gd name="T18" fmla="*/ 287 w 538"/>
                <a:gd name="T19" fmla="*/ 4 h 307"/>
                <a:gd name="T20" fmla="*/ 270 w 538"/>
                <a:gd name="T21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307">
                  <a:moveTo>
                    <a:pt x="270" y="0"/>
                  </a:moveTo>
                  <a:cubicBezTo>
                    <a:pt x="263" y="0"/>
                    <a:pt x="255" y="2"/>
                    <a:pt x="249" y="6"/>
                  </a:cubicBezTo>
                  <a:cubicBezTo>
                    <a:pt x="13" y="142"/>
                    <a:pt x="13" y="142"/>
                    <a:pt x="13" y="142"/>
                  </a:cubicBezTo>
                  <a:cubicBezTo>
                    <a:pt x="2" y="149"/>
                    <a:pt x="0" y="158"/>
                    <a:pt x="10" y="164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6" y="306"/>
                    <a:pt x="262" y="307"/>
                    <a:pt x="268" y="307"/>
                  </a:cubicBezTo>
                  <a:cubicBezTo>
                    <a:pt x="275" y="307"/>
                    <a:pt x="283" y="305"/>
                    <a:pt x="290" y="302"/>
                  </a:cubicBezTo>
                  <a:cubicBezTo>
                    <a:pt x="525" y="166"/>
                    <a:pt x="525" y="166"/>
                    <a:pt x="525" y="166"/>
                  </a:cubicBezTo>
                  <a:cubicBezTo>
                    <a:pt x="537" y="159"/>
                    <a:pt x="538" y="149"/>
                    <a:pt x="528" y="144"/>
                  </a:cubicBezTo>
                  <a:cubicBezTo>
                    <a:pt x="287" y="4"/>
                    <a:pt x="287" y="4"/>
                    <a:pt x="287" y="4"/>
                  </a:cubicBezTo>
                  <a:cubicBezTo>
                    <a:pt x="282" y="2"/>
                    <a:pt x="276" y="0"/>
                    <a:pt x="270" y="0"/>
                  </a:cubicBezTo>
                </a:path>
              </a:pathLst>
            </a:custGeom>
            <a:solidFill>
              <a:srgbClr val="736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91">
              <a:extLst>
                <a:ext uri="{FF2B5EF4-FFF2-40B4-BE49-F238E27FC236}">
                  <a16:creationId xmlns:a16="http://schemas.microsoft.com/office/drawing/2014/main" id="{4AD0337E-0914-4CCE-BFFF-D0311277AC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8638" y="4264025"/>
              <a:ext cx="2168525" cy="714375"/>
            </a:xfrm>
            <a:custGeom>
              <a:avLst/>
              <a:gdLst>
                <a:gd name="T0" fmla="*/ 10 w 538"/>
                <a:gd name="T1" fmla="*/ 165 h 177"/>
                <a:gd name="T2" fmla="*/ 31 w 538"/>
                <a:gd name="T3" fmla="*/ 177 h 177"/>
                <a:gd name="T4" fmla="*/ 249 w 538"/>
                <a:gd name="T5" fmla="*/ 52 h 177"/>
                <a:gd name="T6" fmla="*/ 287 w 538"/>
                <a:gd name="T7" fmla="*/ 50 h 177"/>
                <a:gd name="T8" fmla="*/ 507 w 538"/>
                <a:gd name="T9" fmla="*/ 177 h 177"/>
                <a:gd name="T10" fmla="*/ 525 w 538"/>
                <a:gd name="T11" fmla="*/ 167 h 177"/>
                <a:gd name="T12" fmla="*/ 528 w 538"/>
                <a:gd name="T13" fmla="*/ 145 h 177"/>
                <a:gd name="T14" fmla="*/ 287 w 538"/>
                <a:gd name="T15" fmla="*/ 5 h 177"/>
                <a:gd name="T16" fmla="*/ 249 w 538"/>
                <a:gd name="T17" fmla="*/ 7 h 177"/>
                <a:gd name="T18" fmla="*/ 13 w 538"/>
                <a:gd name="T19" fmla="*/ 143 h 177"/>
                <a:gd name="T20" fmla="*/ 10 w 538"/>
                <a:gd name="T21" fmla="*/ 165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177">
                  <a:moveTo>
                    <a:pt x="10" y="165"/>
                  </a:moveTo>
                  <a:cubicBezTo>
                    <a:pt x="31" y="177"/>
                    <a:pt x="31" y="177"/>
                    <a:pt x="31" y="177"/>
                  </a:cubicBezTo>
                  <a:cubicBezTo>
                    <a:pt x="249" y="52"/>
                    <a:pt x="249" y="52"/>
                    <a:pt x="249" y="52"/>
                  </a:cubicBezTo>
                  <a:cubicBezTo>
                    <a:pt x="260" y="45"/>
                    <a:pt x="277" y="45"/>
                    <a:pt x="287" y="50"/>
                  </a:cubicBezTo>
                  <a:cubicBezTo>
                    <a:pt x="507" y="177"/>
                    <a:pt x="507" y="177"/>
                    <a:pt x="507" y="177"/>
                  </a:cubicBezTo>
                  <a:cubicBezTo>
                    <a:pt x="525" y="167"/>
                    <a:pt x="525" y="167"/>
                    <a:pt x="525" y="167"/>
                  </a:cubicBezTo>
                  <a:cubicBezTo>
                    <a:pt x="537" y="160"/>
                    <a:pt x="538" y="150"/>
                    <a:pt x="528" y="145"/>
                  </a:cubicBezTo>
                  <a:cubicBezTo>
                    <a:pt x="287" y="5"/>
                    <a:pt x="287" y="5"/>
                    <a:pt x="287" y="5"/>
                  </a:cubicBezTo>
                  <a:cubicBezTo>
                    <a:pt x="277" y="0"/>
                    <a:pt x="260" y="0"/>
                    <a:pt x="249" y="7"/>
                  </a:cubicBezTo>
                  <a:cubicBezTo>
                    <a:pt x="13" y="143"/>
                    <a:pt x="13" y="143"/>
                    <a:pt x="13" y="143"/>
                  </a:cubicBezTo>
                  <a:cubicBezTo>
                    <a:pt x="2" y="150"/>
                    <a:pt x="0" y="159"/>
                    <a:pt x="10" y="165"/>
                  </a:cubicBezTo>
                  <a:close/>
                </a:path>
              </a:pathLst>
            </a:custGeom>
            <a:solidFill>
              <a:srgbClr val="42E8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Freeform 90">
              <a:extLst>
                <a:ext uri="{FF2B5EF4-FFF2-40B4-BE49-F238E27FC236}">
                  <a16:creationId xmlns:a16="http://schemas.microsoft.com/office/drawing/2014/main" id="{911FC156-5CDB-4E0E-92E9-AD223BC37F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2017" y="4267200"/>
              <a:ext cx="2168525" cy="1239838"/>
            </a:xfrm>
            <a:custGeom>
              <a:avLst/>
              <a:gdLst>
                <a:gd name="T0" fmla="*/ 270 w 538"/>
                <a:gd name="T1" fmla="*/ 0 h 307"/>
                <a:gd name="T2" fmla="*/ 249 w 538"/>
                <a:gd name="T3" fmla="*/ 6 h 307"/>
                <a:gd name="T4" fmla="*/ 13 w 538"/>
                <a:gd name="T5" fmla="*/ 142 h 307"/>
                <a:gd name="T6" fmla="*/ 10 w 538"/>
                <a:gd name="T7" fmla="*/ 164 h 307"/>
                <a:gd name="T8" fmla="*/ 251 w 538"/>
                <a:gd name="T9" fmla="*/ 303 h 307"/>
                <a:gd name="T10" fmla="*/ 268 w 538"/>
                <a:gd name="T11" fmla="*/ 307 h 307"/>
                <a:gd name="T12" fmla="*/ 290 w 538"/>
                <a:gd name="T13" fmla="*/ 302 h 307"/>
                <a:gd name="T14" fmla="*/ 525 w 538"/>
                <a:gd name="T15" fmla="*/ 166 h 307"/>
                <a:gd name="T16" fmla="*/ 528 w 538"/>
                <a:gd name="T17" fmla="*/ 144 h 307"/>
                <a:gd name="T18" fmla="*/ 287 w 538"/>
                <a:gd name="T19" fmla="*/ 4 h 307"/>
                <a:gd name="T20" fmla="*/ 270 w 538"/>
                <a:gd name="T21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307">
                  <a:moveTo>
                    <a:pt x="270" y="0"/>
                  </a:moveTo>
                  <a:cubicBezTo>
                    <a:pt x="263" y="0"/>
                    <a:pt x="255" y="2"/>
                    <a:pt x="249" y="6"/>
                  </a:cubicBezTo>
                  <a:cubicBezTo>
                    <a:pt x="13" y="142"/>
                    <a:pt x="13" y="142"/>
                    <a:pt x="13" y="142"/>
                  </a:cubicBezTo>
                  <a:cubicBezTo>
                    <a:pt x="2" y="149"/>
                    <a:pt x="0" y="158"/>
                    <a:pt x="10" y="164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6" y="306"/>
                    <a:pt x="262" y="307"/>
                    <a:pt x="268" y="307"/>
                  </a:cubicBezTo>
                  <a:cubicBezTo>
                    <a:pt x="275" y="307"/>
                    <a:pt x="283" y="305"/>
                    <a:pt x="290" y="302"/>
                  </a:cubicBezTo>
                  <a:cubicBezTo>
                    <a:pt x="525" y="166"/>
                    <a:pt x="525" y="166"/>
                    <a:pt x="525" y="166"/>
                  </a:cubicBezTo>
                  <a:cubicBezTo>
                    <a:pt x="537" y="159"/>
                    <a:pt x="538" y="149"/>
                    <a:pt x="528" y="144"/>
                  </a:cubicBezTo>
                  <a:cubicBezTo>
                    <a:pt x="287" y="4"/>
                    <a:pt x="287" y="4"/>
                    <a:pt x="287" y="4"/>
                  </a:cubicBezTo>
                  <a:cubicBezTo>
                    <a:pt x="282" y="2"/>
                    <a:pt x="276" y="0"/>
                    <a:pt x="270" y="0"/>
                  </a:cubicBezTo>
                </a:path>
              </a:pathLst>
            </a:custGeom>
            <a:gradFill>
              <a:gsLst>
                <a:gs pos="22000">
                  <a:srgbClr val="180D5B">
                    <a:alpha val="34000"/>
                  </a:srgbClr>
                </a:gs>
                <a:gs pos="100000">
                  <a:srgbClr val="42E8E0">
                    <a:alpha val="74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67" name="任意多边形: 形状 66">
              <a:extLst>
                <a:ext uri="{FF2B5EF4-FFF2-40B4-BE49-F238E27FC236}">
                  <a16:creationId xmlns:a16="http://schemas.microsoft.com/office/drawing/2014/main" id="{5CB8E1C3-E366-4D22-9AF9-FBB35170BB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278938" y="3259138"/>
              <a:ext cx="120650" cy="2243743"/>
            </a:xfrm>
            <a:custGeom>
              <a:avLst/>
              <a:gdLst>
                <a:gd name="connsiteX0" fmla="*/ 33514 w 120650"/>
                <a:gd name="connsiteY0" fmla="*/ 0 h 2243743"/>
                <a:gd name="connsiteX1" fmla="*/ 56974 w 120650"/>
                <a:gd name="connsiteY1" fmla="*/ 6605 h 2243743"/>
                <a:gd name="connsiteX2" fmla="*/ 63676 w 120650"/>
                <a:gd name="connsiteY2" fmla="*/ 9908 h 2243743"/>
                <a:gd name="connsiteX3" fmla="*/ 120650 w 120650"/>
                <a:gd name="connsiteY3" fmla="*/ 115587 h 2243743"/>
                <a:gd name="connsiteX4" fmla="*/ 120650 w 120650"/>
                <a:gd name="connsiteY4" fmla="*/ 2080273 h 2243743"/>
                <a:gd name="connsiteX5" fmla="*/ 120650 w 120650"/>
                <a:gd name="connsiteY5" fmla="*/ 2177592 h 2243743"/>
                <a:gd name="connsiteX6" fmla="*/ 0 w 120650"/>
                <a:gd name="connsiteY6" fmla="*/ 2243743 h 2243743"/>
                <a:gd name="connsiteX7" fmla="*/ 0 w 120650"/>
                <a:gd name="connsiteY7" fmla="*/ 2132585 h 2243743"/>
                <a:gd name="connsiteX8" fmla="*/ 0 w 120650"/>
                <a:gd name="connsiteY8" fmla="*/ 46235 h 2243743"/>
                <a:gd name="connsiteX9" fmla="*/ 33514 w 120650"/>
                <a:gd name="connsiteY9" fmla="*/ 0 h 22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650" h="2243743">
                  <a:moveTo>
                    <a:pt x="33514" y="0"/>
                  </a:moveTo>
                  <a:cubicBezTo>
                    <a:pt x="40217" y="0"/>
                    <a:pt x="46919" y="0"/>
                    <a:pt x="56974" y="6605"/>
                  </a:cubicBezTo>
                  <a:cubicBezTo>
                    <a:pt x="56974" y="6605"/>
                    <a:pt x="56974" y="6605"/>
                    <a:pt x="63676" y="9908"/>
                  </a:cubicBezTo>
                  <a:cubicBezTo>
                    <a:pt x="97190" y="26420"/>
                    <a:pt x="120650" y="75957"/>
                    <a:pt x="120650" y="115587"/>
                  </a:cubicBezTo>
                  <a:cubicBezTo>
                    <a:pt x="120650" y="115587"/>
                    <a:pt x="120650" y="115587"/>
                    <a:pt x="120650" y="2080273"/>
                  </a:cubicBezTo>
                  <a:lnTo>
                    <a:pt x="120650" y="2177592"/>
                  </a:lnTo>
                  <a:lnTo>
                    <a:pt x="0" y="2243743"/>
                  </a:lnTo>
                  <a:lnTo>
                    <a:pt x="0" y="2132585"/>
                  </a:lnTo>
                  <a:cubicBezTo>
                    <a:pt x="0" y="1834535"/>
                    <a:pt x="0" y="1238435"/>
                    <a:pt x="0" y="46235"/>
                  </a:cubicBezTo>
                  <a:cubicBezTo>
                    <a:pt x="0" y="16513"/>
                    <a:pt x="13406" y="0"/>
                    <a:pt x="33514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8" name="任意多边形: 形状 67">
              <a:extLst>
                <a:ext uri="{FF2B5EF4-FFF2-40B4-BE49-F238E27FC236}">
                  <a16:creationId xmlns:a16="http://schemas.microsoft.com/office/drawing/2014/main" id="{20E11BDB-3C31-439E-9DDB-16AA665E41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501188" y="3767138"/>
              <a:ext cx="119063" cy="1621772"/>
            </a:xfrm>
            <a:custGeom>
              <a:avLst/>
              <a:gdLst>
                <a:gd name="connsiteX0" fmla="*/ 33073 w 119063"/>
                <a:gd name="connsiteY0" fmla="*/ 0 h 1621772"/>
                <a:gd name="connsiteX1" fmla="*/ 56224 w 119063"/>
                <a:gd name="connsiteY1" fmla="*/ 6607 h 1621772"/>
                <a:gd name="connsiteX2" fmla="*/ 66146 w 119063"/>
                <a:gd name="connsiteY2" fmla="*/ 9910 h 1621772"/>
                <a:gd name="connsiteX3" fmla="*/ 119063 w 119063"/>
                <a:gd name="connsiteY3" fmla="*/ 115614 h 1621772"/>
                <a:gd name="connsiteX4" fmla="*/ 119063 w 119063"/>
                <a:gd name="connsiteY4" fmla="*/ 1458860 h 1621772"/>
                <a:gd name="connsiteX5" fmla="*/ 119063 w 119063"/>
                <a:gd name="connsiteY5" fmla="*/ 1553686 h 1621772"/>
                <a:gd name="connsiteX6" fmla="*/ 0 w 119063"/>
                <a:gd name="connsiteY6" fmla="*/ 1621772 h 1621772"/>
                <a:gd name="connsiteX7" fmla="*/ 0 w 119063"/>
                <a:gd name="connsiteY7" fmla="*/ 1561802 h 1621772"/>
                <a:gd name="connsiteX8" fmla="*/ 0 w 119063"/>
                <a:gd name="connsiteY8" fmla="*/ 46246 h 1621772"/>
                <a:gd name="connsiteX9" fmla="*/ 33073 w 119063"/>
                <a:gd name="connsiteY9" fmla="*/ 0 h 16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063" h="1621772">
                  <a:moveTo>
                    <a:pt x="33073" y="0"/>
                  </a:moveTo>
                  <a:cubicBezTo>
                    <a:pt x="39688" y="0"/>
                    <a:pt x="49610" y="0"/>
                    <a:pt x="56224" y="6607"/>
                  </a:cubicBezTo>
                  <a:cubicBezTo>
                    <a:pt x="56224" y="6607"/>
                    <a:pt x="56224" y="6607"/>
                    <a:pt x="66146" y="9910"/>
                  </a:cubicBezTo>
                  <a:cubicBezTo>
                    <a:pt x="95912" y="26426"/>
                    <a:pt x="119063" y="75975"/>
                    <a:pt x="119063" y="115614"/>
                  </a:cubicBezTo>
                  <a:cubicBezTo>
                    <a:pt x="119063" y="115614"/>
                    <a:pt x="119063" y="115614"/>
                    <a:pt x="119063" y="1458860"/>
                  </a:cubicBezTo>
                  <a:lnTo>
                    <a:pt x="119063" y="1553686"/>
                  </a:lnTo>
                  <a:lnTo>
                    <a:pt x="0" y="1621772"/>
                  </a:lnTo>
                  <a:lnTo>
                    <a:pt x="0" y="1561802"/>
                  </a:lnTo>
                  <a:cubicBezTo>
                    <a:pt x="0" y="1268090"/>
                    <a:pt x="0" y="798150"/>
                    <a:pt x="0" y="46246"/>
                  </a:cubicBezTo>
                  <a:cubicBezTo>
                    <a:pt x="0" y="16516"/>
                    <a:pt x="16537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9" name="任意多边形: 形状 68">
              <a:extLst>
                <a:ext uri="{FF2B5EF4-FFF2-40B4-BE49-F238E27FC236}">
                  <a16:creationId xmlns:a16="http://schemas.microsoft.com/office/drawing/2014/main" id="{F7AE4EF4-FD61-4FC6-8585-EC7A430BAE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26613" y="4365625"/>
              <a:ext cx="115888" cy="874224"/>
            </a:xfrm>
            <a:custGeom>
              <a:avLst/>
              <a:gdLst>
                <a:gd name="connsiteX0" fmla="*/ 33111 w 115888"/>
                <a:gd name="connsiteY0" fmla="*/ 0 h 874224"/>
                <a:gd name="connsiteX1" fmla="*/ 52977 w 115888"/>
                <a:gd name="connsiteY1" fmla="*/ 6602 h 874224"/>
                <a:gd name="connsiteX2" fmla="*/ 62911 w 115888"/>
                <a:gd name="connsiteY2" fmla="*/ 13203 h 874224"/>
                <a:gd name="connsiteX3" fmla="*/ 115888 w 115888"/>
                <a:gd name="connsiteY3" fmla="*/ 118823 h 874224"/>
                <a:gd name="connsiteX4" fmla="*/ 115888 w 115888"/>
                <a:gd name="connsiteY4" fmla="*/ 620757 h 874224"/>
                <a:gd name="connsiteX5" fmla="*/ 115888 w 115888"/>
                <a:gd name="connsiteY5" fmla="*/ 825103 h 874224"/>
                <a:gd name="connsiteX6" fmla="*/ 26514 w 115888"/>
                <a:gd name="connsiteY6" fmla="*/ 874224 h 874224"/>
                <a:gd name="connsiteX7" fmla="*/ 15314 w 115888"/>
                <a:gd name="connsiteY7" fmla="*/ 861465 h 874224"/>
                <a:gd name="connsiteX8" fmla="*/ 0 w 115888"/>
                <a:gd name="connsiteY8" fmla="*/ 798753 h 874224"/>
                <a:gd name="connsiteX9" fmla="*/ 0 w 115888"/>
                <a:gd name="connsiteY9" fmla="*/ 49510 h 874224"/>
                <a:gd name="connsiteX10" fmla="*/ 33111 w 115888"/>
                <a:gd name="connsiteY10" fmla="*/ 0 h 87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888" h="874224">
                  <a:moveTo>
                    <a:pt x="33111" y="0"/>
                  </a:moveTo>
                  <a:cubicBezTo>
                    <a:pt x="39733" y="0"/>
                    <a:pt x="46355" y="3301"/>
                    <a:pt x="52977" y="6602"/>
                  </a:cubicBezTo>
                  <a:cubicBezTo>
                    <a:pt x="52977" y="6602"/>
                    <a:pt x="52977" y="6602"/>
                    <a:pt x="62911" y="13203"/>
                  </a:cubicBezTo>
                  <a:cubicBezTo>
                    <a:pt x="92710" y="29706"/>
                    <a:pt x="115888" y="75915"/>
                    <a:pt x="115888" y="118823"/>
                  </a:cubicBezTo>
                  <a:cubicBezTo>
                    <a:pt x="115888" y="118823"/>
                    <a:pt x="115888" y="118823"/>
                    <a:pt x="115888" y="620757"/>
                  </a:cubicBezTo>
                  <a:lnTo>
                    <a:pt x="115888" y="825103"/>
                  </a:lnTo>
                  <a:lnTo>
                    <a:pt x="26514" y="874224"/>
                  </a:lnTo>
                  <a:lnTo>
                    <a:pt x="15314" y="861465"/>
                  </a:lnTo>
                  <a:cubicBezTo>
                    <a:pt x="5795" y="842486"/>
                    <a:pt x="0" y="820207"/>
                    <a:pt x="0" y="798753"/>
                  </a:cubicBezTo>
                  <a:cubicBezTo>
                    <a:pt x="0" y="798753"/>
                    <a:pt x="0" y="798753"/>
                    <a:pt x="0" y="49510"/>
                  </a:cubicBezTo>
                  <a:cubicBezTo>
                    <a:pt x="0" y="19804"/>
                    <a:pt x="13244" y="0"/>
                    <a:pt x="33111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0" name="任意多边形: 形状 69">
              <a:extLst>
                <a:ext uri="{FF2B5EF4-FFF2-40B4-BE49-F238E27FC236}">
                  <a16:creationId xmlns:a16="http://schemas.microsoft.com/office/drawing/2014/main" id="{95F02460-F328-4C7B-811F-E3D7D6C353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45688" y="4695825"/>
              <a:ext cx="119063" cy="414899"/>
            </a:xfrm>
            <a:custGeom>
              <a:avLst/>
              <a:gdLst>
                <a:gd name="connsiteX0" fmla="*/ 33073 w 119063"/>
                <a:gd name="connsiteY0" fmla="*/ 0 h 414899"/>
                <a:gd name="connsiteX1" fmla="*/ 56224 w 119063"/>
                <a:gd name="connsiteY1" fmla="*/ 6605 h 414899"/>
                <a:gd name="connsiteX2" fmla="*/ 62839 w 119063"/>
                <a:gd name="connsiteY2" fmla="*/ 9908 h 414899"/>
                <a:gd name="connsiteX3" fmla="*/ 119063 w 119063"/>
                <a:gd name="connsiteY3" fmla="*/ 115586 h 414899"/>
                <a:gd name="connsiteX4" fmla="*/ 119063 w 119063"/>
                <a:gd name="connsiteY4" fmla="*/ 310277 h 414899"/>
                <a:gd name="connsiteX5" fmla="*/ 119063 w 119063"/>
                <a:gd name="connsiteY5" fmla="*/ 363731 h 414899"/>
                <a:gd name="connsiteX6" fmla="*/ 29159 w 119063"/>
                <a:gd name="connsiteY6" fmla="*/ 414899 h 414899"/>
                <a:gd name="connsiteX7" fmla="*/ 16950 w 119063"/>
                <a:gd name="connsiteY7" fmla="*/ 397121 h 414899"/>
                <a:gd name="connsiteX8" fmla="*/ 0 w 119063"/>
                <a:gd name="connsiteY8" fmla="*/ 336851 h 414899"/>
                <a:gd name="connsiteX9" fmla="*/ 0 w 119063"/>
                <a:gd name="connsiteY9" fmla="*/ 49537 h 414899"/>
                <a:gd name="connsiteX10" fmla="*/ 33073 w 119063"/>
                <a:gd name="connsiteY10" fmla="*/ 0 h 4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063" h="414899">
                  <a:moveTo>
                    <a:pt x="33073" y="0"/>
                  </a:moveTo>
                  <a:cubicBezTo>
                    <a:pt x="39688" y="0"/>
                    <a:pt x="49610" y="3303"/>
                    <a:pt x="56224" y="6605"/>
                  </a:cubicBezTo>
                  <a:cubicBezTo>
                    <a:pt x="56224" y="6605"/>
                    <a:pt x="56224" y="6605"/>
                    <a:pt x="62839" y="9908"/>
                  </a:cubicBezTo>
                  <a:cubicBezTo>
                    <a:pt x="95912" y="29722"/>
                    <a:pt x="119063" y="75957"/>
                    <a:pt x="119063" y="115586"/>
                  </a:cubicBezTo>
                  <a:cubicBezTo>
                    <a:pt x="119063" y="115586"/>
                    <a:pt x="119063" y="115586"/>
                    <a:pt x="119063" y="310277"/>
                  </a:cubicBezTo>
                  <a:lnTo>
                    <a:pt x="119063" y="363731"/>
                  </a:lnTo>
                  <a:lnTo>
                    <a:pt x="29159" y="414899"/>
                  </a:lnTo>
                  <a:lnTo>
                    <a:pt x="16950" y="397121"/>
                  </a:lnTo>
                  <a:cubicBezTo>
                    <a:pt x="6615" y="378132"/>
                    <a:pt x="0" y="356666"/>
                    <a:pt x="0" y="336851"/>
                  </a:cubicBezTo>
                  <a:cubicBezTo>
                    <a:pt x="0" y="336851"/>
                    <a:pt x="0" y="336851"/>
                    <a:pt x="0" y="49537"/>
                  </a:cubicBezTo>
                  <a:cubicBezTo>
                    <a:pt x="0" y="16513"/>
                    <a:pt x="13229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1" name="任意多边形: 形状 70">
              <a:extLst>
                <a:ext uri="{FF2B5EF4-FFF2-40B4-BE49-F238E27FC236}">
                  <a16:creationId xmlns:a16="http://schemas.microsoft.com/office/drawing/2014/main" id="{044DA748-443B-4276-8AB5-330D73460CE3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9056822" y="3261347"/>
              <a:ext cx="120650" cy="2243743"/>
            </a:xfrm>
            <a:custGeom>
              <a:avLst/>
              <a:gdLst>
                <a:gd name="connsiteX0" fmla="*/ 33514 w 120650"/>
                <a:gd name="connsiteY0" fmla="*/ 0 h 2243743"/>
                <a:gd name="connsiteX1" fmla="*/ 56974 w 120650"/>
                <a:gd name="connsiteY1" fmla="*/ 6605 h 2243743"/>
                <a:gd name="connsiteX2" fmla="*/ 63676 w 120650"/>
                <a:gd name="connsiteY2" fmla="*/ 9908 h 2243743"/>
                <a:gd name="connsiteX3" fmla="*/ 120650 w 120650"/>
                <a:gd name="connsiteY3" fmla="*/ 115587 h 2243743"/>
                <a:gd name="connsiteX4" fmla="*/ 120650 w 120650"/>
                <a:gd name="connsiteY4" fmla="*/ 2080273 h 2243743"/>
                <a:gd name="connsiteX5" fmla="*/ 120650 w 120650"/>
                <a:gd name="connsiteY5" fmla="*/ 2177592 h 2243743"/>
                <a:gd name="connsiteX6" fmla="*/ 0 w 120650"/>
                <a:gd name="connsiteY6" fmla="*/ 2243743 h 2243743"/>
                <a:gd name="connsiteX7" fmla="*/ 0 w 120650"/>
                <a:gd name="connsiteY7" fmla="*/ 2132585 h 2243743"/>
                <a:gd name="connsiteX8" fmla="*/ 0 w 120650"/>
                <a:gd name="connsiteY8" fmla="*/ 46235 h 2243743"/>
                <a:gd name="connsiteX9" fmla="*/ 33514 w 120650"/>
                <a:gd name="connsiteY9" fmla="*/ 0 h 22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650" h="2243743">
                  <a:moveTo>
                    <a:pt x="33514" y="0"/>
                  </a:moveTo>
                  <a:cubicBezTo>
                    <a:pt x="40217" y="0"/>
                    <a:pt x="46919" y="0"/>
                    <a:pt x="56974" y="6605"/>
                  </a:cubicBezTo>
                  <a:cubicBezTo>
                    <a:pt x="56974" y="6605"/>
                    <a:pt x="56974" y="6605"/>
                    <a:pt x="63676" y="9908"/>
                  </a:cubicBezTo>
                  <a:cubicBezTo>
                    <a:pt x="97190" y="26420"/>
                    <a:pt x="120650" y="75957"/>
                    <a:pt x="120650" y="115587"/>
                  </a:cubicBezTo>
                  <a:cubicBezTo>
                    <a:pt x="120650" y="115587"/>
                    <a:pt x="120650" y="115587"/>
                    <a:pt x="120650" y="2080273"/>
                  </a:cubicBezTo>
                  <a:lnTo>
                    <a:pt x="120650" y="2177592"/>
                  </a:lnTo>
                  <a:lnTo>
                    <a:pt x="0" y="2243743"/>
                  </a:lnTo>
                  <a:lnTo>
                    <a:pt x="0" y="2132585"/>
                  </a:lnTo>
                  <a:cubicBezTo>
                    <a:pt x="0" y="1834535"/>
                    <a:pt x="0" y="1238435"/>
                    <a:pt x="0" y="46235"/>
                  </a:cubicBezTo>
                  <a:cubicBezTo>
                    <a:pt x="0" y="16513"/>
                    <a:pt x="13406" y="0"/>
                    <a:pt x="33514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2" name="任意多边形: 形状 71">
              <a:extLst>
                <a:ext uri="{FF2B5EF4-FFF2-40B4-BE49-F238E27FC236}">
                  <a16:creationId xmlns:a16="http://schemas.microsoft.com/office/drawing/2014/main" id="{8E6C05D2-B2A6-4C87-B0F6-6FB68429918C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8836159" y="3769347"/>
              <a:ext cx="119063" cy="1621772"/>
            </a:xfrm>
            <a:custGeom>
              <a:avLst/>
              <a:gdLst>
                <a:gd name="connsiteX0" fmla="*/ 33073 w 119063"/>
                <a:gd name="connsiteY0" fmla="*/ 0 h 1621772"/>
                <a:gd name="connsiteX1" fmla="*/ 56224 w 119063"/>
                <a:gd name="connsiteY1" fmla="*/ 6607 h 1621772"/>
                <a:gd name="connsiteX2" fmla="*/ 66146 w 119063"/>
                <a:gd name="connsiteY2" fmla="*/ 9910 h 1621772"/>
                <a:gd name="connsiteX3" fmla="*/ 119063 w 119063"/>
                <a:gd name="connsiteY3" fmla="*/ 115614 h 1621772"/>
                <a:gd name="connsiteX4" fmla="*/ 119063 w 119063"/>
                <a:gd name="connsiteY4" fmla="*/ 1458860 h 1621772"/>
                <a:gd name="connsiteX5" fmla="*/ 119063 w 119063"/>
                <a:gd name="connsiteY5" fmla="*/ 1553686 h 1621772"/>
                <a:gd name="connsiteX6" fmla="*/ 0 w 119063"/>
                <a:gd name="connsiteY6" fmla="*/ 1621772 h 1621772"/>
                <a:gd name="connsiteX7" fmla="*/ 0 w 119063"/>
                <a:gd name="connsiteY7" fmla="*/ 1561802 h 1621772"/>
                <a:gd name="connsiteX8" fmla="*/ 0 w 119063"/>
                <a:gd name="connsiteY8" fmla="*/ 46246 h 1621772"/>
                <a:gd name="connsiteX9" fmla="*/ 33073 w 119063"/>
                <a:gd name="connsiteY9" fmla="*/ 0 h 16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063" h="1621772">
                  <a:moveTo>
                    <a:pt x="33073" y="0"/>
                  </a:moveTo>
                  <a:cubicBezTo>
                    <a:pt x="39688" y="0"/>
                    <a:pt x="49610" y="0"/>
                    <a:pt x="56224" y="6607"/>
                  </a:cubicBezTo>
                  <a:cubicBezTo>
                    <a:pt x="56224" y="6607"/>
                    <a:pt x="56224" y="6607"/>
                    <a:pt x="66146" y="9910"/>
                  </a:cubicBezTo>
                  <a:cubicBezTo>
                    <a:pt x="95912" y="26426"/>
                    <a:pt x="119063" y="75975"/>
                    <a:pt x="119063" y="115614"/>
                  </a:cubicBezTo>
                  <a:cubicBezTo>
                    <a:pt x="119063" y="115614"/>
                    <a:pt x="119063" y="115614"/>
                    <a:pt x="119063" y="1458860"/>
                  </a:cubicBezTo>
                  <a:lnTo>
                    <a:pt x="119063" y="1553686"/>
                  </a:lnTo>
                  <a:lnTo>
                    <a:pt x="0" y="1621772"/>
                  </a:lnTo>
                  <a:lnTo>
                    <a:pt x="0" y="1561802"/>
                  </a:lnTo>
                  <a:cubicBezTo>
                    <a:pt x="0" y="1268090"/>
                    <a:pt x="0" y="798150"/>
                    <a:pt x="0" y="46246"/>
                  </a:cubicBezTo>
                  <a:cubicBezTo>
                    <a:pt x="0" y="16516"/>
                    <a:pt x="16537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3" name="任意多边形: 形状 72">
              <a:extLst>
                <a:ext uri="{FF2B5EF4-FFF2-40B4-BE49-F238E27FC236}">
                  <a16:creationId xmlns:a16="http://schemas.microsoft.com/office/drawing/2014/main" id="{69418B36-BBFD-4077-8C67-A8378FA40868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8613909" y="4367834"/>
              <a:ext cx="115888" cy="874224"/>
            </a:xfrm>
            <a:custGeom>
              <a:avLst/>
              <a:gdLst>
                <a:gd name="connsiteX0" fmla="*/ 33111 w 115888"/>
                <a:gd name="connsiteY0" fmla="*/ 0 h 874224"/>
                <a:gd name="connsiteX1" fmla="*/ 52977 w 115888"/>
                <a:gd name="connsiteY1" fmla="*/ 6602 h 874224"/>
                <a:gd name="connsiteX2" fmla="*/ 62911 w 115888"/>
                <a:gd name="connsiteY2" fmla="*/ 13203 h 874224"/>
                <a:gd name="connsiteX3" fmla="*/ 115888 w 115888"/>
                <a:gd name="connsiteY3" fmla="*/ 118823 h 874224"/>
                <a:gd name="connsiteX4" fmla="*/ 115888 w 115888"/>
                <a:gd name="connsiteY4" fmla="*/ 620757 h 874224"/>
                <a:gd name="connsiteX5" fmla="*/ 115888 w 115888"/>
                <a:gd name="connsiteY5" fmla="*/ 825103 h 874224"/>
                <a:gd name="connsiteX6" fmla="*/ 26514 w 115888"/>
                <a:gd name="connsiteY6" fmla="*/ 874224 h 874224"/>
                <a:gd name="connsiteX7" fmla="*/ 15314 w 115888"/>
                <a:gd name="connsiteY7" fmla="*/ 861465 h 874224"/>
                <a:gd name="connsiteX8" fmla="*/ 0 w 115888"/>
                <a:gd name="connsiteY8" fmla="*/ 798753 h 874224"/>
                <a:gd name="connsiteX9" fmla="*/ 0 w 115888"/>
                <a:gd name="connsiteY9" fmla="*/ 49510 h 874224"/>
                <a:gd name="connsiteX10" fmla="*/ 33111 w 115888"/>
                <a:gd name="connsiteY10" fmla="*/ 0 h 87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888" h="874224">
                  <a:moveTo>
                    <a:pt x="33111" y="0"/>
                  </a:moveTo>
                  <a:cubicBezTo>
                    <a:pt x="39733" y="0"/>
                    <a:pt x="46355" y="3301"/>
                    <a:pt x="52977" y="6602"/>
                  </a:cubicBezTo>
                  <a:cubicBezTo>
                    <a:pt x="52977" y="6602"/>
                    <a:pt x="52977" y="6602"/>
                    <a:pt x="62911" y="13203"/>
                  </a:cubicBezTo>
                  <a:cubicBezTo>
                    <a:pt x="92710" y="29706"/>
                    <a:pt x="115888" y="75915"/>
                    <a:pt x="115888" y="118823"/>
                  </a:cubicBezTo>
                  <a:cubicBezTo>
                    <a:pt x="115888" y="118823"/>
                    <a:pt x="115888" y="118823"/>
                    <a:pt x="115888" y="620757"/>
                  </a:cubicBezTo>
                  <a:lnTo>
                    <a:pt x="115888" y="825103"/>
                  </a:lnTo>
                  <a:lnTo>
                    <a:pt x="26514" y="874224"/>
                  </a:lnTo>
                  <a:lnTo>
                    <a:pt x="15314" y="861465"/>
                  </a:lnTo>
                  <a:cubicBezTo>
                    <a:pt x="5795" y="842486"/>
                    <a:pt x="0" y="820207"/>
                    <a:pt x="0" y="798753"/>
                  </a:cubicBezTo>
                  <a:cubicBezTo>
                    <a:pt x="0" y="798753"/>
                    <a:pt x="0" y="798753"/>
                    <a:pt x="0" y="49510"/>
                  </a:cubicBezTo>
                  <a:cubicBezTo>
                    <a:pt x="0" y="19804"/>
                    <a:pt x="13244" y="0"/>
                    <a:pt x="33111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4" name="任意多边形: 形状 73">
              <a:extLst>
                <a:ext uri="{FF2B5EF4-FFF2-40B4-BE49-F238E27FC236}">
                  <a16:creationId xmlns:a16="http://schemas.microsoft.com/office/drawing/2014/main" id="{EF0C0E3C-2AFE-47E6-B968-7228E9662A2B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8391659" y="4698034"/>
              <a:ext cx="119063" cy="414899"/>
            </a:xfrm>
            <a:custGeom>
              <a:avLst/>
              <a:gdLst>
                <a:gd name="connsiteX0" fmla="*/ 33073 w 119063"/>
                <a:gd name="connsiteY0" fmla="*/ 0 h 414899"/>
                <a:gd name="connsiteX1" fmla="*/ 56224 w 119063"/>
                <a:gd name="connsiteY1" fmla="*/ 6605 h 414899"/>
                <a:gd name="connsiteX2" fmla="*/ 62839 w 119063"/>
                <a:gd name="connsiteY2" fmla="*/ 9908 h 414899"/>
                <a:gd name="connsiteX3" fmla="*/ 119063 w 119063"/>
                <a:gd name="connsiteY3" fmla="*/ 115586 h 414899"/>
                <a:gd name="connsiteX4" fmla="*/ 119063 w 119063"/>
                <a:gd name="connsiteY4" fmla="*/ 310277 h 414899"/>
                <a:gd name="connsiteX5" fmla="*/ 119063 w 119063"/>
                <a:gd name="connsiteY5" fmla="*/ 363731 h 414899"/>
                <a:gd name="connsiteX6" fmla="*/ 29159 w 119063"/>
                <a:gd name="connsiteY6" fmla="*/ 414899 h 414899"/>
                <a:gd name="connsiteX7" fmla="*/ 16950 w 119063"/>
                <a:gd name="connsiteY7" fmla="*/ 397121 h 414899"/>
                <a:gd name="connsiteX8" fmla="*/ 0 w 119063"/>
                <a:gd name="connsiteY8" fmla="*/ 336851 h 414899"/>
                <a:gd name="connsiteX9" fmla="*/ 0 w 119063"/>
                <a:gd name="connsiteY9" fmla="*/ 49537 h 414899"/>
                <a:gd name="connsiteX10" fmla="*/ 33073 w 119063"/>
                <a:gd name="connsiteY10" fmla="*/ 0 h 4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063" h="414899">
                  <a:moveTo>
                    <a:pt x="33073" y="0"/>
                  </a:moveTo>
                  <a:cubicBezTo>
                    <a:pt x="39688" y="0"/>
                    <a:pt x="49610" y="3303"/>
                    <a:pt x="56224" y="6605"/>
                  </a:cubicBezTo>
                  <a:cubicBezTo>
                    <a:pt x="56224" y="6605"/>
                    <a:pt x="56224" y="6605"/>
                    <a:pt x="62839" y="9908"/>
                  </a:cubicBezTo>
                  <a:cubicBezTo>
                    <a:pt x="95912" y="29722"/>
                    <a:pt x="119063" y="75957"/>
                    <a:pt x="119063" y="115586"/>
                  </a:cubicBezTo>
                  <a:cubicBezTo>
                    <a:pt x="119063" y="115586"/>
                    <a:pt x="119063" y="115586"/>
                    <a:pt x="119063" y="310277"/>
                  </a:cubicBezTo>
                  <a:lnTo>
                    <a:pt x="119063" y="363731"/>
                  </a:lnTo>
                  <a:lnTo>
                    <a:pt x="29159" y="414899"/>
                  </a:lnTo>
                  <a:lnTo>
                    <a:pt x="16950" y="397121"/>
                  </a:lnTo>
                  <a:cubicBezTo>
                    <a:pt x="6615" y="378132"/>
                    <a:pt x="0" y="356666"/>
                    <a:pt x="0" y="336851"/>
                  </a:cubicBezTo>
                  <a:cubicBezTo>
                    <a:pt x="0" y="336851"/>
                    <a:pt x="0" y="336851"/>
                    <a:pt x="0" y="49537"/>
                  </a:cubicBezTo>
                  <a:cubicBezTo>
                    <a:pt x="0" y="16513"/>
                    <a:pt x="13229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5" name="Freeform 106">
              <a:extLst>
                <a:ext uri="{FF2B5EF4-FFF2-40B4-BE49-F238E27FC236}">
                  <a16:creationId xmlns:a16="http://schemas.microsoft.com/office/drawing/2014/main" id="{CCBE267B-8FF3-4D30-9A4A-1C1BC6BBDF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55909" y="2437995"/>
              <a:ext cx="1951037" cy="3057525"/>
            </a:xfrm>
            <a:custGeom>
              <a:avLst/>
              <a:gdLst>
                <a:gd name="T0" fmla="*/ 531 w 531"/>
                <a:gd name="T1" fmla="*/ 0 h 835"/>
                <a:gd name="T2" fmla="*/ 0 w 531"/>
                <a:gd name="T3" fmla="*/ 0 h 835"/>
                <a:gd name="T4" fmla="*/ 0 w 531"/>
                <a:gd name="T5" fmla="*/ 682 h 835"/>
                <a:gd name="T6" fmla="*/ 0 w 531"/>
                <a:gd name="T7" fmla="*/ 682 h 835"/>
                <a:gd name="T8" fmla="*/ 6 w 531"/>
                <a:gd name="T9" fmla="*/ 692 h 835"/>
                <a:gd name="T10" fmla="*/ 248 w 531"/>
                <a:gd name="T11" fmla="*/ 831 h 835"/>
                <a:gd name="T12" fmla="*/ 264 w 531"/>
                <a:gd name="T13" fmla="*/ 835 h 835"/>
                <a:gd name="T14" fmla="*/ 286 w 531"/>
                <a:gd name="T15" fmla="*/ 830 h 835"/>
                <a:gd name="T16" fmla="*/ 522 w 531"/>
                <a:gd name="T17" fmla="*/ 693 h 835"/>
                <a:gd name="T18" fmla="*/ 531 w 531"/>
                <a:gd name="T19" fmla="*/ 682 h 835"/>
                <a:gd name="T20" fmla="*/ 531 w 531"/>
                <a:gd name="T21" fmla="*/ 682 h 835"/>
                <a:gd name="T22" fmla="*/ 531 w 531"/>
                <a:gd name="T23" fmla="*/ 0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31" h="835">
                  <a:moveTo>
                    <a:pt x="5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82"/>
                    <a:pt x="0" y="682"/>
                    <a:pt x="0" y="682"/>
                  </a:cubicBezTo>
                  <a:cubicBezTo>
                    <a:pt x="0" y="682"/>
                    <a:pt x="0" y="682"/>
                    <a:pt x="0" y="682"/>
                  </a:cubicBezTo>
                  <a:cubicBezTo>
                    <a:pt x="0" y="685"/>
                    <a:pt x="2" y="689"/>
                    <a:pt x="6" y="692"/>
                  </a:cubicBezTo>
                  <a:cubicBezTo>
                    <a:pt x="248" y="831"/>
                    <a:pt x="248" y="831"/>
                    <a:pt x="248" y="831"/>
                  </a:cubicBezTo>
                  <a:cubicBezTo>
                    <a:pt x="252" y="834"/>
                    <a:pt x="258" y="835"/>
                    <a:pt x="264" y="835"/>
                  </a:cubicBezTo>
                  <a:cubicBezTo>
                    <a:pt x="272" y="835"/>
                    <a:pt x="280" y="833"/>
                    <a:pt x="286" y="830"/>
                  </a:cubicBezTo>
                  <a:cubicBezTo>
                    <a:pt x="522" y="693"/>
                    <a:pt x="522" y="693"/>
                    <a:pt x="522" y="693"/>
                  </a:cubicBezTo>
                  <a:cubicBezTo>
                    <a:pt x="528" y="690"/>
                    <a:pt x="531" y="686"/>
                    <a:pt x="531" y="682"/>
                  </a:cubicBezTo>
                  <a:cubicBezTo>
                    <a:pt x="531" y="682"/>
                    <a:pt x="531" y="682"/>
                    <a:pt x="531" y="682"/>
                  </a:cubicBezTo>
                  <a:cubicBezTo>
                    <a:pt x="531" y="0"/>
                    <a:pt x="531" y="0"/>
                    <a:pt x="531" y="0"/>
                  </a:cubicBezTo>
                </a:path>
              </a:pathLst>
            </a:custGeom>
            <a:gradFill>
              <a:gsLst>
                <a:gs pos="100000">
                  <a:srgbClr val="42E6E0">
                    <a:alpha val="20000"/>
                  </a:srgbClr>
                </a:gs>
                <a:gs pos="0">
                  <a:srgbClr val="180D5B">
                    <a:alpha val="5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alphaModFix amt="31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sp>
        <p:nvSpPr>
          <p:cNvPr id="8" name="日期占位符 3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pPr/>
              <a:t>2026/3/2</a:t>
            </a:fld>
            <a:endParaRPr lang="zh-CN" altLang="en-US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69" r:id="rId3"/>
    <p:sldLayoutId id="2147483662" r:id="rId4"/>
    <p:sldLayoutId id="2147483655" r:id="rId5"/>
    <p:sldLayoutId id="2147483661" r:id="rId6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6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.bin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3.bin"/><Relationship Id="rId4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tags" Target="../tags/tag20.xml"/><Relationship Id="rId18" Type="http://schemas.openxmlformats.org/officeDocument/2006/relationships/tags" Target="../tags/tag25.xml"/><Relationship Id="rId26" Type="http://schemas.openxmlformats.org/officeDocument/2006/relationships/image" Target="../media/image6.tmp"/><Relationship Id="rId3" Type="http://schemas.openxmlformats.org/officeDocument/2006/relationships/tags" Target="../tags/tag10.xml"/><Relationship Id="rId21" Type="http://schemas.openxmlformats.org/officeDocument/2006/relationships/tags" Target="../tags/tag28.xml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17" Type="http://schemas.openxmlformats.org/officeDocument/2006/relationships/tags" Target="../tags/tag24.xml"/><Relationship Id="rId25" Type="http://schemas.openxmlformats.org/officeDocument/2006/relationships/slideLayout" Target="../slideLayouts/slideLayout5.xml"/><Relationship Id="rId2" Type="http://schemas.openxmlformats.org/officeDocument/2006/relationships/tags" Target="../tags/tag9.xml"/><Relationship Id="rId16" Type="http://schemas.openxmlformats.org/officeDocument/2006/relationships/tags" Target="../tags/tag23.xml"/><Relationship Id="rId20" Type="http://schemas.openxmlformats.org/officeDocument/2006/relationships/tags" Target="../tags/tag27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24" Type="http://schemas.openxmlformats.org/officeDocument/2006/relationships/tags" Target="../tags/tag31.xml"/><Relationship Id="rId5" Type="http://schemas.openxmlformats.org/officeDocument/2006/relationships/tags" Target="../tags/tag12.xml"/><Relationship Id="rId15" Type="http://schemas.openxmlformats.org/officeDocument/2006/relationships/tags" Target="../tags/tag22.xml"/><Relationship Id="rId23" Type="http://schemas.openxmlformats.org/officeDocument/2006/relationships/tags" Target="../tags/tag30.xml"/><Relationship Id="rId10" Type="http://schemas.openxmlformats.org/officeDocument/2006/relationships/tags" Target="../tags/tag17.xml"/><Relationship Id="rId19" Type="http://schemas.openxmlformats.org/officeDocument/2006/relationships/tags" Target="../tags/tag26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tags" Target="../tags/tag21.xml"/><Relationship Id="rId22" Type="http://schemas.openxmlformats.org/officeDocument/2006/relationships/tags" Target="../tags/tag2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4.bin"/><Relationship Id="rId4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5.bin"/><Relationship Id="rId4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6.bin"/><Relationship Id="rId4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image" Target="../media/image6.tmp"/><Relationship Id="rId5" Type="http://schemas.openxmlformats.org/officeDocument/2006/relationships/tags" Target="../tags/tag42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41.xml"/><Relationship Id="rId9" Type="http://schemas.openxmlformats.org/officeDocument/2006/relationships/tags" Target="../tags/tag4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7.bin"/><Relationship Id="rId4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image" Target="../media/image6.tmp"/><Relationship Id="rId5" Type="http://schemas.openxmlformats.org/officeDocument/2006/relationships/tags" Target="../tags/tag53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52.xml"/><Relationship Id="rId9" Type="http://schemas.openxmlformats.org/officeDocument/2006/relationships/tags" Target="../tags/tag57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13" Type="http://schemas.openxmlformats.org/officeDocument/2006/relationships/tags" Target="../tags/tag70.xml"/><Relationship Id="rId3" Type="http://schemas.openxmlformats.org/officeDocument/2006/relationships/tags" Target="../tags/tag60.xml"/><Relationship Id="rId7" Type="http://schemas.openxmlformats.org/officeDocument/2006/relationships/tags" Target="../tags/tag64.xml"/><Relationship Id="rId12" Type="http://schemas.openxmlformats.org/officeDocument/2006/relationships/tags" Target="../tags/tag69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tags" Target="../tags/tag68.xml"/><Relationship Id="rId5" Type="http://schemas.openxmlformats.org/officeDocument/2006/relationships/tags" Target="../tags/tag62.xml"/><Relationship Id="rId15" Type="http://schemas.openxmlformats.org/officeDocument/2006/relationships/image" Target="../media/image6.tmp"/><Relationship Id="rId10" Type="http://schemas.openxmlformats.org/officeDocument/2006/relationships/tags" Target="../tags/tag67.xml"/><Relationship Id="rId4" Type="http://schemas.openxmlformats.org/officeDocument/2006/relationships/tags" Target="../tags/tag61.xml"/><Relationship Id="rId9" Type="http://schemas.openxmlformats.org/officeDocument/2006/relationships/tags" Target="../tags/tag66.xml"/><Relationship Id="rId14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8.bin"/><Relationship Id="rId4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9.bin"/><Relationship Id="rId4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3" Type="http://schemas.openxmlformats.org/officeDocument/2006/relationships/tags" Target="../tags/tag77.xml"/><Relationship Id="rId7" Type="http://schemas.openxmlformats.org/officeDocument/2006/relationships/tags" Target="../tags/tag81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1" Type="http://schemas.openxmlformats.org/officeDocument/2006/relationships/image" Target="../media/image6.tmp"/><Relationship Id="rId5" Type="http://schemas.openxmlformats.org/officeDocument/2006/relationships/tags" Target="../tags/tag79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78.xml"/><Relationship Id="rId9" Type="http://schemas.openxmlformats.org/officeDocument/2006/relationships/tags" Target="../tags/tag83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0.bin"/><Relationship Id="rId4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1.bin"/><Relationship Id="rId4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3C326D0B-7DAB-41B6-8030-2E4A18CC949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7" name="think-cell Slide" r:id="rId5" imgW="360" imgH="360" progId="">
                  <p:embed/>
                </p:oleObj>
              </mc:Choice>
              <mc:Fallback>
                <p:oleObj name="think-cell Slide" r:id="rId5" imgW="360" imgH="36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id="{EC933494-1B63-4A32-964F-D05236799BA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cs typeface="+mn-ea"/>
              <a:sym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978949" y="2023969"/>
            <a:ext cx="6041284" cy="1058852"/>
          </a:xfrm>
        </p:spPr>
        <p:txBody>
          <a:bodyPr>
            <a:normAutofit/>
          </a:bodyPr>
          <a:lstStyle/>
          <a:p>
            <a:r>
              <a:rPr lang="zh-CN" altLang="en-US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lt"/>
                <a:ea typeface="+mn-ea"/>
                <a:cs typeface="+mn-ea"/>
                <a:sym typeface="+mn-lt"/>
              </a:rPr>
              <a:t>单片机原理及其应用</a:t>
            </a: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3AE36C13-51F4-4440-8DB2-2A4E128FFD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6322" y="3993091"/>
            <a:ext cx="3267310" cy="548173"/>
          </a:xfr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r>
              <a:rPr lang="zh-CN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重庆大学   电气工程学院</a:t>
            </a:r>
          </a:p>
        </p:txBody>
      </p:sp>
      <p:sp>
        <p:nvSpPr>
          <p:cNvPr id="5" name="矩形 4"/>
          <p:cNvSpPr/>
          <p:nvPr/>
        </p:nvSpPr>
        <p:spPr>
          <a:xfrm>
            <a:off x="622577" y="1378227"/>
            <a:ext cx="69500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800" dirty="0">
                <a:solidFill>
                  <a:schemeClr val="bg1"/>
                </a:solidFill>
                <a:cs typeface="+mn-ea"/>
                <a:sym typeface="+mn-lt"/>
              </a:rPr>
              <a:t>ARM Cortex-M3 </a:t>
            </a:r>
            <a:r>
              <a:rPr lang="zh-CN" altLang="zh-CN" sz="2800" b="1" kern="1800" dirty="0">
                <a:solidFill>
                  <a:schemeClr val="bg1"/>
                </a:solidFill>
                <a:cs typeface="+mn-ea"/>
                <a:sym typeface="+mn-lt"/>
              </a:rPr>
              <a:t>的</a:t>
            </a:r>
            <a:r>
              <a:rPr lang="en-US" altLang="zh-CN" sz="2800" b="1" kern="1800" dirty="0">
                <a:solidFill>
                  <a:schemeClr val="bg1"/>
                </a:solidFill>
                <a:cs typeface="+mn-ea"/>
                <a:sym typeface="+mn-lt"/>
              </a:rPr>
              <a:t>STM32</a:t>
            </a:r>
            <a:r>
              <a:rPr lang="zh-CN" altLang="zh-CN" sz="2800" b="1" kern="1800" dirty="0">
                <a:solidFill>
                  <a:schemeClr val="bg1"/>
                </a:solidFill>
                <a:cs typeface="+mn-ea"/>
                <a:sym typeface="+mn-lt"/>
              </a:rPr>
              <a:t>系列</a:t>
            </a:r>
            <a:r>
              <a:rPr lang="zh-CN" altLang="zh-CN" sz="4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cs typeface="+mn-ea"/>
                <a:sym typeface="+mn-lt"/>
              </a:rPr>
              <a:t>——</a:t>
            </a:r>
            <a:endParaRPr lang="zh-CN" altLang="en-US" sz="4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2577" y="3167390"/>
            <a:ext cx="68169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2E6E0"/>
                </a:solidFill>
                <a:cs typeface="+mn-ea"/>
                <a:sym typeface="+mn-lt"/>
              </a:rPr>
              <a:t>微型计算机的组成</a:t>
            </a:r>
            <a:r>
              <a:rPr lang="en-US" altLang="zh-CN" sz="2800" b="1" dirty="0">
                <a:solidFill>
                  <a:srgbClr val="42E6E0"/>
                </a:solidFill>
                <a:cs typeface="+mn-ea"/>
                <a:sym typeface="+mn-lt"/>
              </a:rPr>
              <a:t>——</a:t>
            </a:r>
            <a:r>
              <a:rPr lang="zh-CN" altLang="en-US" sz="2800" b="1" dirty="0">
                <a:solidFill>
                  <a:srgbClr val="42E6E0"/>
                </a:solidFill>
                <a:cs typeface="+mn-ea"/>
                <a:sym typeface="+mn-lt"/>
              </a:rPr>
              <a:t>硬件和软件</a:t>
            </a:r>
            <a:endParaRPr lang="en-US" altLang="zh-CN" sz="2800" b="1" dirty="0">
              <a:solidFill>
                <a:srgbClr val="42E6E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0881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微型计算机的硬件组成</a:t>
            </a:r>
            <a:r>
              <a:rPr lang="en-US" altLang="zh-CN" sz="2800" b="1" dirty="0">
                <a:cs typeface="+mn-ea"/>
                <a:sym typeface="+mn-lt"/>
              </a:rPr>
              <a:t>——</a:t>
            </a:r>
            <a:r>
              <a:rPr lang="zh-CN" altLang="en-US" sz="2800" b="1" dirty="0">
                <a:cs typeface="+mn-ea"/>
                <a:sym typeface="+mn-lt"/>
              </a:rPr>
              <a:t>三个层次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69925" y="788273"/>
            <a:ext cx="5884518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defTabSz="914354">
              <a:lnSpc>
                <a:spcPct val="90000"/>
              </a:lnSpc>
              <a:spcBef>
                <a:spcPct val="0"/>
              </a:spcBef>
            </a:pPr>
            <a:r>
              <a:rPr lang="zh-CN" altLang="en-US" sz="3200" b="1" dirty="0">
                <a:solidFill>
                  <a:srgbClr val="CC3300"/>
                </a:solidFill>
                <a:cs typeface="+mn-ea"/>
                <a:sym typeface="+mn-lt"/>
              </a:rPr>
              <a:t>微型计算机系统的三个层次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154566" y="1323804"/>
            <a:ext cx="2644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cs typeface="+mn-ea"/>
                <a:sym typeface="+mn-lt"/>
              </a:rPr>
              <a:t>微处理器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1880647" y="1323805"/>
            <a:ext cx="3520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cs typeface="+mn-ea"/>
                <a:sym typeface="+mn-lt"/>
              </a:rPr>
              <a:t>微型计算机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4958510" y="1323804"/>
            <a:ext cx="2736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cs typeface="+mn-ea"/>
                <a:sym typeface="+mn-lt"/>
              </a:rPr>
              <a:t>微型计算机系统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7765165" y="1329960"/>
            <a:ext cx="1071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cs typeface="+mn-ea"/>
                <a:sym typeface="+mn-lt"/>
              </a:rPr>
              <a:t>局部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9240078" y="1329960"/>
            <a:ext cx="1071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cs typeface="+mn-ea"/>
                <a:sym typeface="+mn-lt"/>
              </a:rPr>
              <a:t>全局</a:t>
            </a:r>
          </a:p>
        </p:txBody>
      </p:sp>
      <p:sp>
        <p:nvSpPr>
          <p:cNvPr id="47" name="右箭头 46"/>
          <p:cNvSpPr/>
          <p:nvPr/>
        </p:nvSpPr>
        <p:spPr>
          <a:xfrm>
            <a:off x="2210860" y="1412152"/>
            <a:ext cx="473628" cy="2611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8" name="右箭头 47"/>
          <p:cNvSpPr/>
          <p:nvPr/>
        </p:nvSpPr>
        <p:spPr>
          <a:xfrm>
            <a:off x="4564136" y="1420594"/>
            <a:ext cx="473628" cy="2611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右箭头 48"/>
          <p:cNvSpPr/>
          <p:nvPr/>
        </p:nvSpPr>
        <p:spPr>
          <a:xfrm>
            <a:off x="8850696" y="1415714"/>
            <a:ext cx="473628" cy="2887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7A76F56-6D36-4C7C-B54B-5FAB1B2A7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827" y="1908385"/>
            <a:ext cx="9682536" cy="426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606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1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7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3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  <p:bldP spid="45" grpId="0"/>
      <p:bldP spid="46" grpId="0"/>
      <p:bldP spid="47" grpId="0" animBg="1"/>
      <p:bldP spid="48" grpId="0" animBg="1"/>
      <p:bldP spid="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  微型计算机的硬件组成</a:t>
            </a:r>
            <a:r>
              <a:rPr lang="en-US" altLang="zh-CN" sz="2800" b="1" dirty="0">
                <a:cs typeface="+mn-ea"/>
                <a:sym typeface="+mn-lt"/>
              </a:rPr>
              <a:t>——</a:t>
            </a:r>
            <a:r>
              <a:rPr lang="zh-CN" altLang="en-US" sz="2800" b="1" dirty="0">
                <a:cs typeface="+mn-ea"/>
                <a:sym typeface="+mn-lt"/>
              </a:rPr>
              <a:t>三个层次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1193075" y="2006108"/>
            <a:ext cx="1018467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cs typeface="+mn-ea"/>
                <a:sym typeface="+mn-lt"/>
              </a:rPr>
              <a:t>即</a:t>
            </a:r>
            <a:r>
              <a:rPr lang="en-US" altLang="zh-CN" sz="2800" dirty="0">
                <a:cs typeface="+mn-ea"/>
                <a:sym typeface="+mn-lt"/>
              </a:rPr>
              <a:t>CPU</a:t>
            </a:r>
            <a:r>
              <a:rPr lang="zh-CN" altLang="en-US" sz="2800" dirty="0">
                <a:cs typeface="+mn-ea"/>
                <a:sym typeface="+mn-lt"/>
              </a:rPr>
              <a:t>，是微型计算的核心部件，是整个计算机系统的“大脑”。包括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算术逻辑运算单元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ALU</a:t>
            </a:r>
            <a:r>
              <a:rPr lang="zh-CN" altLang="en-US" sz="2800" dirty="0">
                <a:cs typeface="+mn-ea"/>
                <a:sym typeface="+mn-lt"/>
              </a:rPr>
              <a:t>（</a:t>
            </a:r>
            <a:r>
              <a:rPr lang="en-US" altLang="zh-CN" sz="2800" dirty="0">
                <a:cs typeface="+mn-ea"/>
                <a:sym typeface="+mn-lt"/>
              </a:rPr>
              <a:t>Arithmetic  Logic  Unit</a:t>
            </a:r>
            <a:r>
              <a:rPr lang="zh-CN" altLang="en-US" sz="2800" dirty="0">
                <a:cs typeface="+mn-ea"/>
                <a:sym typeface="+mn-lt"/>
              </a:rPr>
              <a:t>）、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控制部件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CU</a:t>
            </a:r>
            <a:r>
              <a:rPr lang="zh-CN" altLang="en-US" sz="2800" dirty="0">
                <a:cs typeface="+mn-ea"/>
                <a:sym typeface="+mn-lt"/>
              </a:rPr>
              <a:t>（</a:t>
            </a:r>
            <a:r>
              <a:rPr lang="en-US" altLang="zh-CN" sz="2800" dirty="0">
                <a:cs typeface="+mn-ea"/>
                <a:sym typeface="+mn-lt"/>
              </a:rPr>
              <a:t>Control  Unit</a:t>
            </a:r>
            <a:r>
              <a:rPr lang="zh-CN" altLang="en-US" sz="2800" dirty="0">
                <a:cs typeface="+mn-ea"/>
                <a:sym typeface="+mn-lt"/>
              </a:rPr>
              <a:t>）和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寄存器组</a:t>
            </a:r>
            <a:r>
              <a:rPr lang="zh-CN" altLang="en-US" sz="2800" dirty="0">
                <a:cs typeface="+mn-ea"/>
                <a:sym typeface="+mn-lt"/>
              </a:rPr>
              <a:t>（</a:t>
            </a:r>
            <a:r>
              <a:rPr lang="en-US" altLang="zh-CN" sz="2800" dirty="0">
                <a:cs typeface="+mn-ea"/>
                <a:sym typeface="+mn-lt"/>
              </a:rPr>
              <a:t>Registers</a:t>
            </a:r>
            <a:r>
              <a:rPr lang="zh-CN" altLang="en-US" sz="2800" dirty="0">
                <a:cs typeface="+mn-ea"/>
                <a:sym typeface="+mn-lt"/>
              </a:rPr>
              <a:t>）三个部分组成，通常由超大规模集成电路组成。</a:t>
            </a:r>
            <a:endParaRPr lang="en-US" altLang="zh-CN" sz="2800" dirty="0">
              <a:cs typeface="+mn-ea"/>
              <a:sym typeface="+mn-lt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1193074" y="1192513"/>
            <a:ext cx="3405051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marL="514350" indent="-514350" defTabSz="914354">
              <a:lnSpc>
                <a:spcPct val="9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zh-CN" altLang="en-US" sz="3200" b="1" dirty="0">
                <a:solidFill>
                  <a:srgbClr val="CC3300"/>
                </a:solidFill>
                <a:cs typeface="+mn-ea"/>
                <a:sym typeface="+mn-lt"/>
              </a:rPr>
              <a:t>微处理器</a:t>
            </a:r>
          </a:p>
        </p:txBody>
      </p:sp>
    </p:spTree>
    <p:extLst>
      <p:ext uri="{BB962C8B-B14F-4D97-AF65-F5344CB8AC3E}">
        <p14:creationId xmlns:p14="http://schemas.microsoft.com/office/powerpoint/2010/main" val="2092505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  微型计算机的硬件组成</a:t>
            </a:r>
            <a:r>
              <a:rPr lang="en-US" altLang="zh-CN" sz="2800" b="1" dirty="0">
                <a:cs typeface="+mn-ea"/>
                <a:sym typeface="+mn-lt"/>
              </a:rPr>
              <a:t>——</a:t>
            </a:r>
            <a:r>
              <a:rPr lang="zh-CN" altLang="en-US" sz="2800" b="1" dirty="0">
                <a:cs typeface="+mn-ea"/>
                <a:sym typeface="+mn-lt"/>
              </a:rPr>
              <a:t>三个层次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1193075" y="2006108"/>
            <a:ext cx="1018467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cs typeface="+mn-ea"/>
                <a:sym typeface="+mn-lt"/>
              </a:rPr>
              <a:t>微型计算机以微处理器为核心，加上大规模集成电路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存储器</a:t>
            </a:r>
            <a:r>
              <a:rPr lang="zh-CN" altLang="en-US" sz="2800" dirty="0">
                <a:cs typeface="+mn-ea"/>
                <a:sym typeface="+mn-lt"/>
              </a:rPr>
              <a:t>（</a:t>
            </a:r>
            <a:r>
              <a:rPr lang="en-US" altLang="zh-CN" sz="2800" dirty="0">
                <a:cs typeface="+mn-ea"/>
                <a:sym typeface="+mn-lt"/>
              </a:rPr>
              <a:t>ROM</a:t>
            </a:r>
            <a:r>
              <a:rPr lang="zh-CN" altLang="en-US" sz="2800" dirty="0">
                <a:cs typeface="+mn-ea"/>
                <a:sym typeface="+mn-lt"/>
              </a:rPr>
              <a:t>和</a:t>
            </a:r>
            <a:r>
              <a:rPr lang="en-US" altLang="zh-CN" sz="2800" dirty="0">
                <a:cs typeface="+mn-ea"/>
                <a:sym typeface="+mn-lt"/>
              </a:rPr>
              <a:t>RAM</a:t>
            </a:r>
            <a:r>
              <a:rPr lang="zh-CN" altLang="en-US" sz="2800" dirty="0">
                <a:cs typeface="+mn-ea"/>
                <a:sym typeface="+mn-lt"/>
              </a:rPr>
              <a:t>）、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输入输出接口</a:t>
            </a:r>
            <a:r>
              <a:rPr lang="zh-CN" altLang="en-US" sz="2800" dirty="0">
                <a:cs typeface="+mn-ea"/>
                <a:sym typeface="+mn-lt"/>
              </a:rPr>
              <a:t>和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系统总线</a:t>
            </a:r>
            <a:r>
              <a:rPr lang="zh-CN" altLang="en-US" sz="2800" dirty="0">
                <a:cs typeface="+mn-ea"/>
                <a:sym typeface="+mn-lt"/>
              </a:rPr>
              <a:t>。有的微型计算机则将这些组成部分集成到一个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超大规模集成芯片</a:t>
            </a:r>
            <a:r>
              <a:rPr lang="zh-CN" altLang="en-US" sz="2800" dirty="0">
                <a:cs typeface="+mn-ea"/>
                <a:sym typeface="+mn-lt"/>
              </a:rPr>
              <a:t>上，则称之为单片微型计算机，简称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单片机</a:t>
            </a:r>
            <a:r>
              <a:rPr lang="zh-CN" altLang="en-US" sz="2800" dirty="0">
                <a:cs typeface="+mn-ea"/>
                <a:sym typeface="+mn-lt"/>
              </a:rPr>
              <a:t>。</a:t>
            </a:r>
            <a:endParaRPr lang="en-US" altLang="zh-CN" sz="2800" dirty="0">
              <a:cs typeface="+mn-ea"/>
              <a:sym typeface="+mn-lt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1193074" y="1192513"/>
            <a:ext cx="3405051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marL="514350" indent="-514350" defTabSz="914354">
              <a:lnSpc>
                <a:spcPct val="90000"/>
              </a:lnSpc>
              <a:spcBef>
                <a:spcPct val="0"/>
              </a:spcBef>
              <a:buFont typeface="+mj-ea"/>
              <a:buAutoNum type="circleNumDbPlain" startAt="2"/>
            </a:pPr>
            <a:r>
              <a:rPr lang="zh-CN" altLang="en-US" sz="3200" b="1" dirty="0">
                <a:solidFill>
                  <a:srgbClr val="CC3300"/>
                </a:solidFill>
                <a:cs typeface="+mn-ea"/>
                <a:sym typeface="+mn-lt"/>
              </a:rPr>
              <a:t>微型计算机</a:t>
            </a:r>
          </a:p>
        </p:txBody>
      </p:sp>
    </p:spTree>
    <p:extLst>
      <p:ext uri="{BB962C8B-B14F-4D97-AF65-F5344CB8AC3E}">
        <p14:creationId xmlns:p14="http://schemas.microsoft.com/office/powerpoint/2010/main" val="2279302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  微型计算机的硬件组成</a:t>
            </a:r>
            <a:r>
              <a:rPr lang="en-US" altLang="zh-CN" sz="2800" b="1" dirty="0">
                <a:cs typeface="+mn-ea"/>
                <a:sym typeface="+mn-lt"/>
              </a:rPr>
              <a:t>——</a:t>
            </a:r>
            <a:r>
              <a:rPr lang="zh-CN" altLang="en-US" sz="2800" b="1" dirty="0">
                <a:cs typeface="+mn-ea"/>
                <a:sym typeface="+mn-lt"/>
              </a:rPr>
              <a:t>三个层次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1193075" y="2006108"/>
            <a:ext cx="1018467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cs typeface="+mn-ea"/>
                <a:sym typeface="+mn-lt"/>
              </a:rPr>
              <a:t>微型计算机系统以微型计算机为核心，配以相应的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外围设备</a:t>
            </a:r>
            <a:r>
              <a:rPr lang="zh-CN" altLang="en-US" sz="2800" dirty="0">
                <a:cs typeface="+mn-ea"/>
                <a:sym typeface="+mn-lt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电源</a:t>
            </a:r>
            <a:r>
              <a:rPr lang="zh-CN" altLang="en-US" sz="2800" dirty="0">
                <a:cs typeface="+mn-ea"/>
                <a:sym typeface="+mn-lt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辅助电路</a:t>
            </a:r>
            <a:r>
              <a:rPr lang="zh-CN" altLang="en-US" sz="2800" dirty="0">
                <a:cs typeface="+mn-ea"/>
                <a:sym typeface="+mn-lt"/>
              </a:rPr>
              <a:t>和控制微型计算机工作的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软件</a:t>
            </a:r>
            <a:r>
              <a:rPr lang="zh-CN" altLang="en-US" sz="2800" dirty="0">
                <a:cs typeface="+mn-ea"/>
                <a:sym typeface="+mn-lt"/>
              </a:rPr>
              <a:t>。只有微型计算机系统才是完整的计算系统，才具有实用意义，才可以正常工作。</a:t>
            </a:r>
            <a:endParaRPr lang="en-US" altLang="zh-CN" sz="2800" dirty="0">
              <a:cs typeface="+mn-ea"/>
              <a:sym typeface="+mn-lt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1193074" y="1192513"/>
            <a:ext cx="4828903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marL="514350" indent="-514350" defTabSz="914354">
              <a:lnSpc>
                <a:spcPct val="90000"/>
              </a:lnSpc>
              <a:spcBef>
                <a:spcPct val="0"/>
              </a:spcBef>
              <a:buFont typeface="+mj-ea"/>
              <a:buAutoNum type="circleNumDbPlain" startAt="3"/>
            </a:pPr>
            <a:r>
              <a:rPr lang="zh-CN" altLang="en-US" sz="3200" b="1" dirty="0">
                <a:solidFill>
                  <a:srgbClr val="CC3300"/>
                </a:solidFill>
                <a:cs typeface="+mn-ea"/>
                <a:sym typeface="+mn-lt"/>
              </a:rPr>
              <a:t>微型计算机系统</a:t>
            </a:r>
          </a:p>
        </p:txBody>
      </p:sp>
    </p:spTree>
    <p:extLst>
      <p:ext uri="{BB962C8B-B14F-4D97-AF65-F5344CB8AC3E}">
        <p14:creationId xmlns:p14="http://schemas.microsoft.com/office/powerpoint/2010/main" val="573425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solidFill>
                  <a:srgbClr val="FFFFFF"/>
                </a:solidFill>
                <a:cs typeface="+mn-ea"/>
                <a:sym typeface="+mn-lt"/>
              </a:rPr>
              <a:t>         微型计算机</a:t>
            </a:r>
            <a:r>
              <a:rPr lang="zh-CN" altLang="en-US" sz="2800" b="1">
                <a:solidFill>
                  <a:srgbClr val="FFFFFF"/>
                </a:solidFill>
                <a:cs typeface="+mn-ea"/>
                <a:sym typeface="+mn-lt"/>
              </a:rPr>
              <a:t>的软件组成</a:t>
            </a:r>
            <a:endParaRPr lang="zh-CN" altLang="en-US" sz="2800" b="1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1005840" y="2537940"/>
            <a:ext cx="109336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用来支持应用软件的开发和运行的软件，包括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操作系统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、标准使用程序、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计算机语言处理程序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数据库管理程序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、联网及通信软件、各类服务程序和工具软件等。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1005840" y="1767277"/>
            <a:ext cx="2286000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defTabSz="914354">
              <a:lnSpc>
                <a:spcPct val="90000"/>
              </a:lnSpc>
              <a:spcBef>
                <a:spcPct val="0"/>
              </a:spcBef>
            </a:pPr>
            <a:r>
              <a:rPr lang="zh-CN" altLang="en-US" sz="3200" b="1" dirty="0" smtClean="0">
                <a:solidFill>
                  <a:srgbClr val="CC3300"/>
                </a:solidFill>
                <a:cs typeface="+mn-ea"/>
                <a:sym typeface="+mn-lt"/>
              </a:rPr>
              <a:t>④系统软件</a:t>
            </a:r>
            <a:endParaRPr lang="zh-CN" altLang="en-US" sz="3200" b="1" dirty="0">
              <a:solidFill>
                <a:srgbClr val="CC330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35898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solidFill>
                  <a:srgbClr val="FFFFFF"/>
                </a:solidFill>
                <a:cs typeface="+mn-ea"/>
                <a:sym typeface="+mn-lt"/>
              </a:rPr>
              <a:t>         微型计算机的软件组成</a:t>
            </a: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1005839" y="2072277"/>
            <a:ext cx="5760720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defTabSz="914354">
              <a:lnSpc>
                <a:spcPct val="90000"/>
              </a:lnSpc>
              <a:spcBef>
                <a:spcPct val="0"/>
              </a:spcBef>
            </a:pPr>
            <a:r>
              <a:rPr lang="zh-CN" altLang="en-US" sz="3200" dirty="0">
                <a:solidFill>
                  <a:srgbClr val="CC3300"/>
                </a:solidFill>
                <a:cs typeface="+mn-ea"/>
                <a:sym typeface="+mn-lt"/>
              </a:rPr>
              <a:t>操作系统（</a:t>
            </a:r>
            <a:r>
              <a:rPr lang="en-US" altLang="zh-CN" sz="3200" dirty="0">
                <a:solidFill>
                  <a:srgbClr val="CC3300"/>
                </a:solidFill>
                <a:cs typeface="+mn-ea"/>
                <a:sym typeface="+mn-lt"/>
              </a:rPr>
              <a:t>Operating System</a:t>
            </a:r>
            <a:r>
              <a:rPr lang="zh-CN" altLang="en-US" sz="3200" dirty="0">
                <a:solidFill>
                  <a:srgbClr val="CC3300"/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1005838" y="2646996"/>
            <a:ext cx="109336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管理计算机系统的各种硬件资源（例如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CPU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、内存空间、磁盘空间、外部设备等），并解释用户对机器的管理命令，使它转换为机器实际的操作。如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:DOS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WINDOWS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UNIX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等。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1005839" y="4839785"/>
            <a:ext cx="5760720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defTabSz="914354">
              <a:lnSpc>
                <a:spcPct val="90000"/>
              </a:lnSpc>
              <a:spcBef>
                <a:spcPct val="0"/>
              </a:spcBef>
            </a:pPr>
            <a:r>
              <a:rPr lang="zh-CN" altLang="en-US" sz="3200" dirty="0">
                <a:solidFill>
                  <a:srgbClr val="CC3300"/>
                </a:solidFill>
                <a:cs typeface="+mn-ea"/>
                <a:sym typeface="+mn-lt"/>
              </a:rPr>
              <a:t>文字处理程序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1005838" y="5427567"/>
            <a:ext cx="10933611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用于处理文字，实现办公自动化。如：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WPS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Word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等。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05838" y="1080528"/>
            <a:ext cx="5211683" cy="662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计算机中几种常用的系统软件：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29979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solidFill>
                  <a:srgbClr val="FFFFFF"/>
                </a:solidFill>
                <a:cs typeface="+mn-ea"/>
                <a:sym typeface="+mn-lt"/>
              </a:rPr>
              <a:t>         微型计算机的软件组成</a:t>
            </a: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931410" y="1433655"/>
            <a:ext cx="5760720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defTabSz="914354">
              <a:lnSpc>
                <a:spcPct val="90000"/>
              </a:lnSpc>
              <a:spcBef>
                <a:spcPct val="0"/>
              </a:spcBef>
            </a:pPr>
            <a:r>
              <a:rPr lang="zh-CN" altLang="en-US" sz="3200" dirty="0">
                <a:solidFill>
                  <a:srgbClr val="CC3300"/>
                </a:solidFill>
                <a:cs typeface="+mn-ea"/>
                <a:sym typeface="+mn-lt"/>
              </a:rPr>
              <a:t>计算机语言处理程序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931408" y="1957680"/>
            <a:ext cx="107006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编程人员和计算机进行交流的语言。编程就是通过计算机语言来指挥计算机，让计算机为我们完成任务。计算机语言可分为机器言、汇编语言和高级语言。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931407" y="3244344"/>
            <a:ext cx="5760720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defTabSz="914354">
              <a:lnSpc>
                <a:spcPct val="90000"/>
              </a:lnSpc>
              <a:spcBef>
                <a:spcPct val="0"/>
              </a:spcBef>
            </a:pPr>
            <a:r>
              <a:rPr lang="zh-CN" altLang="en-US" sz="3200" dirty="0">
                <a:solidFill>
                  <a:srgbClr val="CC3300"/>
                </a:solidFill>
                <a:cs typeface="+mn-ea"/>
                <a:sym typeface="+mn-lt"/>
              </a:rPr>
              <a:t>数据库管理系统（</a:t>
            </a:r>
            <a:r>
              <a:rPr lang="en-US" altLang="zh-CN" sz="3200" dirty="0">
                <a:solidFill>
                  <a:srgbClr val="CC3300"/>
                </a:solidFill>
                <a:cs typeface="+mn-ea"/>
                <a:sym typeface="+mn-lt"/>
              </a:rPr>
              <a:t>DBMS</a:t>
            </a:r>
            <a:r>
              <a:rPr lang="zh-CN" altLang="en-US" sz="3200" dirty="0">
                <a:solidFill>
                  <a:srgbClr val="CC3300"/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931407" y="3652441"/>
            <a:ext cx="10933611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用于对数据组进行管理。较著名的适用于微机系统数据库管理程序的有</a:t>
            </a:r>
            <a:r>
              <a:rPr lang="en-US" altLang="zh-CN" sz="2400" dirty="0" err="1">
                <a:solidFill>
                  <a:srgbClr val="000000"/>
                </a:solidFill>
                <a:cs typeface="+mn-ea"/>
                <a:sym typeface="+mn-lt"/>
              </a:rPr>
              <a:t>dBASE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2400" dirty="0" err="1">
                <a:solidFill>
                  <a:srgbClr val="000000"/>
                </a:solidFill>
                <a:cs typeface="+mn-ea"/>
                <a:sym typeface="+mn-lt"/>
              </a:rPr>
              <a:t>FoxBase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Visual FoxPro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等。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931409" y="4927826"/>
            <a:ext cx="5760720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defTabSz="914354">
              <a:lnSpc>
                <a:spcPct val="90000"/>
              </a:lnSpc>
              <a:spcBef>
                <a:spcPct val="0"/>
              </a:spcBef>
            </a:pPr>
            <a:r>
              <a:rPr lang="zh-CN" altLang="en-US" sz="3200" dirty="0">
                <a:solidFill>
                  <a:srgbClr val="CC3300"/>
                </a:solidFill>
                <a:cs typeface="+mn-ea"/>
                <a:sym typeface="+mn-lt"/>
              </a:rPr>
              <a:t>其他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931407" y="5266514"/>
            <a:ext cx="10933611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联网及通信软件，各类服务程序，多媒体软件和工具软件等。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65109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solidFill>
                  <a:srgbClr val="FFFFFF"/>
                </a:solidFill>
                <a:cs typeface="+mn-ea"/>
                <a:sym typeface="+mn-lt"/>
              </a:rPr>
              <a:t>         微型计算机的软件组成</a:t>
            </a: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1005840" y="2443702"/>
            <a:ext cx="109336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应用软件是用来解决具体问题的程序及有关的文档和资料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, 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是用户为了自己的业务应用而使用系统开发出来的用户软件。系统软件依赖于机器，而应用软件则更接近用户业务。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1097280" y="1688900"/>
            <a:ext cx="2286000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defTabSz="914354">
              <a:lnSpc>
                <a:spcPct val="90000"/>
              </a:lnSpc>
              <a:spcBef>
                <a:spcPct val="0"/>
              </a:spcBef>
            </a:pPr>
            <a:r>
              <a:rPr lang="zh-CN" altLang="en-US" sz="3200" b="1" dirty="0" smtClean="0">
                <a:solidFill>
                  <a:srgbClr val="CC3300"/>
                </a:solidFill>
                <a:cs typeface="+mn-ea"/>
                <a:sym typeface="+mn-lt"/>
              </a:rPr>
              <a:t>⑤应用软件</a:t>
            </a:r>
            <a:endParaRPr lang="zh-CN" altLang="en-US" sz="3200" b="1" dirty="0">
              <a:solidFill>
                <a:srgbClr val="CC330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81257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solidFill>
                  <a:srgbClr val="FFFFFF"/>
                </a:solidFill>
                <a:cs typeface="+mn-ea"/>
                <a:sym typeface="+mn-lt"/>
              </a:rPr>
              <a:t>         微型计算机的软件组成</a:t>
            </a: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1014293" y="3711579"/>
            <a:ext cx="2286000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defTabSz="914354">
              <a:lnSpc>
                <a:spcPct val="90000"/>
              </a:lnSpc>
              <a:spcBef>
                <a:spcPct val="0"/>
              </a:spcBef>
            </a:pPr>
            <a:r>
              <a:rPr lang="zh-CN" altLang="en-US" sz="3200" b="1" dirty="0">
                <a:solidFill>
                  <a:srgbClr val="CC3300"/>
                </a:solidFill>
                <a:cs typeface="+mn-ea"/>
                <a:sym typeface="+mn-lt"/>
              </a:rPr>
              <a:t>软件组成</a:t>
            </a:r>
          </a:p>
        </p:txBody>
      </p:sp>
      <p:grpSp>
        <p:nvGrpSpPr>
          <p:cNvPr id="33" name="Group 5"/>
          <p:cNvGrpSpPr>
            <a:grpSpLocks/>
          </p:cNvGrpSpPr>
          <p:nvPr/>
        </p:nvGrpSpPr>
        <p:grpSpPr bwMode="auto">
          <a:xfrm>
            <a:off x="3434436" y="984798"/>
            <a:ext cx="6697662" cy="5397499"/>
            <a:chOff x="0" y="-209"/>
            <a:chExt cx="4219" cy="3400"/>
          </a:xfrm>
        </p:grpSpPr>
        <p:sp>
          <p:nvSpPr>
            <p:cNvPr id="34" name="Rectangle 6"/>
            <p:cNvSpPr>
              <a:spLocks noChangeArrowheads="1"/>
            </p:cNvSpPr>
            <p:nvPr/>
          </p:nvSpPr>
          <p:spPr bwMode="auto">
            <a:xfrm>
              <a:off x="182" y="899"/>
              <a:ext cx="1134" cy="17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系统软件</a:t>
              </a:r>
            </a:p>
            <a:p>
              <a:pPr marL="342900" indent="-342900" fontAlgn="base">
                <a:spcBef>
                  <a:spcPct val="20000"/>
                </a:spcBef>
                <a:spcAft>
                  <a:spcPct val="0"/>
                </a:spcAft>
              </a:pPr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  <a:p>
              <a:pPr marL="342900" indent="-342900" fontAlgn="base">
                <a:spcBef>
                  <a:spcPct val="20000"/>
                </a:spcBef>
                <a:spcAft>
                  <a:spcPct val="0"/>
                </a:spcAft>
              </a:pPr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  <a:p>
              <a:pPr marL="342900" indent="-342900" fontAlgn="base">
                <a:spcBef>
                  <a:spcPct val="20000"/>
                </a:spcBef>
                <a:spcAft>
                  <a:spcPct val="0"/>
                </a:spcAft>
              </a:pPr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  <a:p>
              <a:pPr marL="342900" indent="-342900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应用软件</a:t>
              </a:r>
            </a:p>
          </p:txBody>
        </p:sp>
        <p:sp>
          <p:nvSpPr>
            <p:cNvPr id="35" name="Text Box 7"/>
            <p:cNvSpPr txBox="1">
              <a:spLocks noChangeArrowheads="1"/>
            </p:cNvSpPr>
            <p:nvPr/>
          </p:nvSpPr>
          <p:spPr bwMode="auto">
            <a:xfrm>
              <a:off x="1452" y="425"/>
              <a:ext cx="1588" cy="11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fontAlgn="base">
                <a:lnSpc>
                  <a:spcPct val="110000"/>
                </a:lnSpc>
                <a:spcBef>
                  <a:spcPct val="1000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操作系统</a:t>
              </a:r>
            </a:p>
            <a:p>
              <a:pPr fontAlgn="base">
                <a:lnSpc>
                  <a:spcPct val="110000"/>
                </a:lnSpc>
                <a:spcBef>
                  <a:spcPct val="10000"/>
                </a:spcBef>
                <a:spcAft>
                  <a:spcPct val="0"/>
                </a:spcAft>
              </a:pPr>
              <a:endPara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  <a:p>
              <a:pPr fontAlgn="base">
                <a:lnSpc>
                  <a:spcPct val="110000"/>
                </a:lnSpc>
                <a:spcBef>
                  <a:spcPct val="10000"/>
                </a:spcBef>
                <a:spcAft>
                  <a:spcPct val="0"/>
                </a:spcAft>
              </a:pPr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  <a:p>
              <a:pPr fontAlgn="base">
                <a:lnSpc>
                  <a:spcPct val="110000"/>
                </a:lnSpc>
                <a:spcBef>
                  <a:spcPct val="1000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系统应用软件</a:t>
              </a:r>
            </a:p>
          </p:txBody>
        </p:sp>
        <p:sp>
          <p:nvSpPr>
            <p:cNvPr id="36" name="AutoShape 8"/>
            <p:cNvSpPr>
              <a:spLocks/>
            </p:cNvSpPr>
            <p:nvPr/>
          </p:nvSpPr>
          <p:spPr bwMode="auto">
            <a:xfrm>
              <a:off x="1270" y="689"/>
              <a:ext cx="137" cy="789"/>
            </a:xfrm>
            <a:prstGeom prst="leftBrace">
              <a:avLst>
                <a:gd name="adj1" fmla="val 47993"/>
                <a:gd name="adj2" fmla="val 50000"/>
              </a:avLst>
            </a:prstGeom>
            <a:noFill/>
            <a:ln w="25400">
              <a:solidFill>
                <a:srgbClr val="99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7" name="AutoShape 9"/>
            <p:cNvSpPr>
              <a:spLocks/>
            </p:cNvSpPr>
            <p:nvPr/>
          </p:nvSpPr>
          <p:spPr bwMode="auto">
            <a:xfrm>
              <a:off x="0" y="1109"/>
              <a:ext cx="136" cy="1210"/>
            </a:xfrm>
            <a:prstGeom prst="leftBrace">
              <a:avLst>
                <a:gd name="adj1" fmla="val 74142"/>
                <a:gd name="adj2" fmla="val 50000"/>
              </a:avLst>
            </a:prstGeom>
            <a:noFill/>
            <a:ln w="25400">
              <a:solidFill>
                <a:srgbClr val="99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8" name="Text Box 10"/>
            <p:cNvSpPr txBox="1">
              <a:spLocks noChangeArrowheads="1"/>
            </p:cNvSpPr>
            <p:nvPr/>
          </p:nvSpPr>
          <p:spPr bwMode="auto">
            <a:xfrm>
              <a:off x="2624" y="-209"/>
              <a:ext cx="1255" cy="1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存储器管理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进程管理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设备管理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文件管理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用户界面</a:t>
              </a:r>
              <a:r>
                <a:rPr lang="en-US" altLang="zh-CN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GUI</a:t>
              </a:r>
            </a:p>
          </p:txBody>
        </p:sp>
        <p:sp>
          <p:nvSpPr>
            <p:cNvPr id="39" name="AutoShape 11"/>
            <p:cNvSpPr>
              <a:spLocks/>
            </p:cNvSpPr>
            <p:nvPr/>
          </p:nvSpPr>
          <p:spPr bwMode="auto">
            <a:xfrm>
              <a:off x="2431" y="108"/>
              <a:ext cx="137" cy="788"/>
            </a:xfrm>
            <a:prstGeom prst="leftBrace">
              <a:avLst>
                <a:gd name="adj1" fmla="val 47932"/>
                <a:gd name="adj2" fmla="val 56028"/>
              </a:avLst>
            </a:prstGeom>
            <a:noFill/>
            <a:ln w="25400">
              <a:solidFill>
                <a:srgbClr val="99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0" name="Text Box 12"/>
            <p:cNvSpPr txBox="1">
              <a:spLocks noChangeArrowheads="1"/>
            </p:cNvSpPr>
            <p:nvPr/>
          </p:nvSpPr>
          <p:spPr bwMode="auto">
            <a:xfrm>
              <a:off x="2933" y="1010"/>
              <a:ext cx="1286" cy="1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网络软件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编译系统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系统维护程序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工具软件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系统增强软件</a:t>
              </a:r>
            </a:p>
          </p:txBody>
        </p:sp>
        <p:sp>
          <p:nvSpPr>
            <p:cNvPr id="42" name="AutoShape 13"/>
            <p:cNvSpPr>
              <a:spLocks/>
            </p:cNvSpPr>
            <p:nvPr/>
          </p:nvSpPr>
          <p:spPr bwMode="auto">
            <a:xfrm>
              <a:off x="2717" y="1186"/>
              <a:ext cx="136" cy="841"/>
            </a:xfrm>
            <a:prstGeom prst="leftBrace">
              <a:avLst>
                <a:gd name="adj1" fmla="val 51532"/>
                <a:gd name="adj2" fmla="val 29704"/>
              </a:avLst>
            </a:prstGeom>
            <a:noFill/>
            <a:ln w="25400">
              <a:solidFill>
                <a:srgbClr val="99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3" name="AutoShape 14"/>
            <p:cNvSpPr>
              <a:spLocks/>
            </p:cNvSpPr>
            <p:nvPr/>
          </p:nvSpPr>
          <p:spPr bwMode="auto">
            <a:xfrm>
              <a:off x="1225" y="1846"/>
              <a:ext cx="182" cy="1157"/>
            </a:xfrm>
            <a:prstGeom prst="leftBrace">
              <a:avLst>
                <a:gd name="adj1" fmla="val 52976"/>
                <a:gd name="adj2" fmla="val 44139"/>
              </a:avLst>
            </a:prstGeom>
            <a:noFill/>
            <a:ln w="25400">
              <a:solidFill>
                <a:srgbClr val="99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4" name="Text Box 15"/>
            <p:cNvSpPr txBox="1">
              <a:spLocks noChangeArrowheads="1"/>
            </p:cNvSpPr>
            <p:nvPr/>
          </p:nvSpPr>
          <p:spPr bwMode="auto">
            <a:xfrm>
              <a:off x="1452" y="1737"/>
              <a:ext cx="896" cy="14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办公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数据库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图形图像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游戏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娱乐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0330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3C326D0B-7DAB-41B6-8030-2E4A18CC949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5" name="think-cell Slide" r:id="rId5" imgW="347" imgH="348" progId="TCLayout.ActiveDocument.1">
                  <p:embed/>
                </p:oleObj>
              </mc:Choice>
              <mc:Fallback>
                <p:oleObj name="think-cell Slide" r:id="rId5" imgW="347" imgH="348" progId="TCLayout.ActiveDocument.1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id="{3C326D0B-7DAB-41B6-8030-2E4A18CC94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id="{EC933494-1B63-4A32-964F-D05236799BA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cs typeface="+mn-ea"/>
              <a:sym typeface="+mn-lt"/>
            </a:endParaRPr>
          </a:p>
        </p:txBody>
      </p:sp>
      <p:sp>
        <p:nvSpPr>
          <p:cNvPr id="8" name="标题 3"/>
          <p:cNvSpPr>
            <a:spLocks noGrp="1"/>
          </p:cNvSpPr>
          <p:nvPr>
            <p:ph type="ctrTitle"/>
          </p:nvPr>
        </p:nvSpPr>
        <p:spPr>
          <a:xfrm>
            <a:off x="3978949" y="2023969"/>
            <a:ext cx="6041284" cy="1058852"/>
          </a:xfrm>
        </p:spPr>
        <p:txBody>
          <a:bodyPr>
            <a:normAutofit/>
          </a:bodyPr>
          <a:lstStyle/>
          <a:p>
            <a:r>
              <a:rPr lang="zh-CN" altLang="en-US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lt"/>
                <a:ea typeface="+mn-ea"/>
                <a:cs typeface="+mn-ea"/>
                <a:sym typeface="+mn-lt"/>
              </a:rPr>
              <a:t>单片机原理及其应用</a:t>
            </a:r>
          </a:p>
        </p:txBody>
      </p:sp>
      <p:sp>
        <p:nvSpPr>
          <p:cNvPr id="9" name="文本占位符 10">
            <a:extLst>
              <a:ext uri="{FF2B5EF4-FFF2-40B4-BE49-F238E27FC236}">
                <a16:creationId xmlns:a16="http://schemas.microsoft.com/office/drawing/2014/main" id="{3AE36C13-51F4-4440-8DB2-2A4E128FFD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6065" y="3993091"/>
            <a:ext cx="3262884" cy="548173"/>
          </a:xfr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r>
              <a:rPr lang="zh-CN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重庆大学   电气工程学院</a:t>
            </a:r>
          </a:p>
        </p:txBody>
      </p:sp>
      <p:sp>
        <p:nvSpPr>
          <p:cNvPr id="10" name="矩形 9"/>
          <p:cNvSpPr/>
          <p:nvPr/>
        </p:nvSpPr>
        <p:spPr>
          <a:xfrm>
            <a:off x="622577" y="1378227"/>
            <a:ext cx="69500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ARM Cortex-M3 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的</a:t>
            </a:r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STM32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系列</a:t>
            </a:r>
            <a:r>
              <a:rPr lang="zh-CN" altLang="zh-CN" sz="4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ea"/>
                <a:cs typeface="+mn-ea"/>
              </a:rPr>
              <a:t>——</a:t>
            </a:r>
            <a:endParaRPr lang="zh-CN" altLang="en-US" sz="4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+mn-ea"/>
              <a:cs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2577" y="3167390"/>
            <a:ext cx="65529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2E6E0"/>
                </a:solidFill>
              </a:rPr>
              <a:t>微型计算机的硬件组成</a:t>
            </a:r>
            <a:endParaRPr lang="en-US" altLang="zh-CN" sz="2800" b="1" dirty="0">
              <a:solidFill>
                <a:srgbClr val="42E6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2115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  微型计算机的硬件组成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627797" y="5802818"/>
            <a:ext cx="6375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7675" indent="-447675" algn="ctr"/>
            <a:r>
              <a:rPr lang="zh-CN" altLang="en-US" sz="2400" b="1" dirty="0">
                <a:solidFill>
                  <a:srgbClr val="180D5B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微型计算机的冯</a:t>
            </a:r>
            <a:r>
              <a:rPr lang="en-US" altLang="zh-CN" sz="2400" b="1" dirty="0">
                <a:solidFill>
                  <a:srgbClr val="180D5B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·</a:t>
            </a:r>
            <a:r>
              <a:rPr lang="zh-CN" altLang="en-US" sz="2400" b="1" dirty="0">
                <a:solidFill>
                  <a:srgbClr val="180D5B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诺依曼结构</a:t>
            </a:r>
          </a:p>
        </p:txBody>
      </p: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516162" y="2137774"/>
            <a:ext cx="7632700" cy="3344862"/>
            <a:chOff x="0" y="0"/>
            <a:chExt cx="4808" cy="2107"/>
          </a:xfrm>
        </p:grpSpPr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1724" y="804"/>
              <a:ext cx="635" cy="304"/>
            </a:xfrm>
            <a:prstGeom prst="rect">
              <a:avLst/>
            </a:prstGeom>
            <a:solidFill>
              <a:srgbClr val="339966"/>
            </a:solidFill>
            <a:ln w="9525">
              <a:miter lim="800000"/>
              <a:headEnd/>
              <a:tailEnd/>
            </a:ln>
            <a:scene3d>
              <a:camera prst="legacyPerspectiveBottom"/>
              <a:lightRig rig="legacyFlat3" dir="t"/>
            </a:scene3d>
            <a:sp3d extrusionH="887400" prstMaterial="legacyMatte">
              <a:bevelT w="13500" h="13500" prst="angle"/>
              <a:bevelB w="13500" h="13500" prst="angle"/>
              <a:extrusionClr>
                <a:srgbClr val="339966"/>
              </a:extrusionClr>
            </a:sp3d>
          </p:spPr>
          <p:txBody>
            <a:bodyPr>
              <a:spAutoFit/>
              <a:flatTx/>
            </a:bodyPr>
            <a:lstStyle/>
            <a:p>
              <a:pPr>
                <a:lnSpc>
                  <a:spcPct val="125000"/>
                </a:lnSpc>
                <a:spcBef>
                  <a:spcPct val="80000"/>
                </a:spcBef>
                <a:spcAft>
                  <a:spcPct val="130000"/>
                </a:spcAft>
              </a:pPr>
              <a:r>
                <a:rPr lang="zh-CN" altLang="en-US" sz="2000" b="1" dirty="0">
                  <a:solidFill>
                    <a:schemeClr val="bg1"/>
                  </a:solidFill>
                  <a:latin typeface="Arial" charset="0"/>
                </a:rPr>
                <a:t>运算器</a:t>
              </a: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2812" y="804"/>
              <a:ext cx="771" cy="304"/>
            </a:xfrm>
            <a:prstGeom prst="rect">
              <a:avLst/>
            </a:prstGeom>
            <a:solidFill>
              <a:srgbClr val="339966"/>
            </a:solidFill>
            <a:ln w="9525">
              <a:miter lim="800000"/>
              <a:headEnd/>
              <a:tailEnd/>
            </a:ln>
            <a:scene3d>
              <a:camera prst="legacyPerspectiveBottom"/>
              <a:lightRig rig="legacyFlat3" dir="t"/>
            </a:scene3d>
            <a:sp3d extrusionH="887400" prstMaterial="legacyMatte">
              <a:bevelT w="13500" h="13500" prst="angle"/>
              <a:bevelB w="13500" h="13500" prst="angle"/>
              <a:extrusionClr>
                <a:srgbClr val="339966"/>
              </a:extrusionClr>
            </a:sp3d>
          </p:spPr>
          <p:txBody>
            <a:bodyPr>
              <a:spAutoFit/>
              <a:flatTx/>
            </a:bodyPr>
            <a:lstStyle/>
            <a:p>
              <a:pPr>
                <a:lnSpc>
                  <a:spcPct val="125000"/>
                </a:lnSpc>
                <a:spcBef>
                  <a:spcPct val="80000"/>
                </a:spcBef>
                <a:spcAft>
                  <a:spcPct val="130000"/>
                </a:spcAft>
              </a:pPr>
              <a:r>
                <a:rPr lang="zh-CN" altLang="en-US" sz="2000" b="1" dirty="0">
                  <a:solidFill>
                    <a:schemeClr val="bg1"/>
                  </a:solidFill>
                  <a:latin typeface="Arial" charset="0"/>
                </a:rPr>
                <a:t>输出设备</a:t>
              </a:r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1724" y="0"/>
              <a:ext cx="635" cy="304"/>
            </a:xfrm>
            <a:prstGeom prst="rect">
              <a:avLst/>
            </a:prstGeom>
            <a:solidFill>
              <a:srgbClr val="339966"/>
            </a:solidFill>
            <a:ln w="9525">
              <a:miter lim="800000"/>
              <a:headEnd/>
              <a:tailEnd/>
            </a:ln>
            <a:scene3d>
              <a:camera prst="legacyPerspectiveBottom"/>
              <a:lightRig rig="legacyFlat3" dir="t"/>
            </a:scene3d>
            <a:sp3d extrusionH="887400" prstMaterial="legacyMatte">
              <a:bevelT w="13500" h="13500" prst="angle"/>
              <a:bevelB w="13500" h="13500" prst="angle"/>
              <a:extrusionClr>
                <a:srgbClr val="339966"/>
              </a:extrusionClr>
            </a:sp3d>
          </p:spPr>
          <p:txBody>
            <a:bodyPr>
              <a:spAutoFit/>
              <a:flatTx/>
            </a:bodyPr>
            <a:lstStyle/>
            <a:p>
              <a:pPr>
                <a:lnSpc>
                  <a:spcPct val="125000"/>
                </a:lnSpc>
                <a:spcBef>
                  <a:spcPct val="80000"/>
                </a:spcBef>
                <a:spcAft>
                  <a:spcPct val="130000"/>
                </a:spcAft>
              </a:pPr>
              <a:r>
                <a:rPr lang="zh-CN" altLang="en-US" sz="2000" b="1" dirty="0">
                  <a:solidFill>
                    <a:schemeClr val="bg1"/>
                  </a:solidFill>
                  <a:latin typeface="Arial" charset="0"/>
                </a:rPr>
                <a:t>控制器</a:t>
              </a:r>
            </a:p>
          </p:txBody>
        </p:sp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454" y="804"/>
              <a:ext cx="816" cy="304"/>
            </a:xfrm>
            <a:prstGeom prst="rect">
              <a:avLst/>
            </a:prstGeom>
            <a:solidFill>
              <a:srgbClr val="339966"/>
            </a:solidFill>
            <a:ln w="9525">
              <a:miter lim="800000"/>
              <a:headEnd/>
              <a:tailEnd/>
            </a:ln>
            <a:scene3d>
              <a:camera prst="legacyPerspectiveBottom"/>
              <a:lightRig rig="legacyFlat3" dir="t"/>
            </a:scene3d>
            <a:sp3d extrusionH="887400" prstMaterial="legacyMatte">
              <a:bevelT w="13500" h="13500" prst="angle"/>
              <a:bevelB w="13500" h="13500" prst="angle"/>
              <a:extrusionClr>
                <a:srgbClr val="339966"/>
              </a:extrusionClr>
            </a:sp3d>
          </p:spPr>
          <p:txBody>
            <a:bodyPr>
              <a:spAutoFit/>
              <a:flatTx/>
            </a:bodyPr>
            <a:lstStyle/>
            <a:p>
              <a:pPr>
                <a:lnSpc>
                  <a:spcPct val="125000"/>
                </a:lnSpc>
                <a:spcBef>
                  <a:spcPct val="80000"/>
                </a:spcBef>
                <a:spcAft>
                  <a:spcPct val="130000"/>
                </a:spcAft>
              </a:pPr>
              <a:r>
                <a:rPr lang="zh-CN" altLang="en-US" sz="2000" b="1">
                  <a:solidFill>
                    <a:schemeClr val="bg1"/>
                  </a:solidFill>
                  <a:latin typeface="Arial" charset="0"/>
                </a:rPr>
                <a:t>输入设备</a:t>
              </a: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1724" y="1618"/>
              <a:ext cx="635" cy="304"/>
            </a:xfrm>
            <a:prstGeom prst="rect">
              <a:avLst/>
            </a:prstGeom>
            <a:solidFill>
              <a:srgbClr val="339966"/>
            </a:solidFill>
            <a:ln w="9525">
              <a:miter lim="800000"/>
              <a:headEnd/>
              <a:tailEnd/>
            </a:ln>
            <a:scene3d>
              <a:camera prst="legacyPerspectiveBottom"/>
              <a:lightRig rig="legacyFlat3" dir="t"/>
            </a:scene3d>
            <a:sp3d extrusionH="887400" prstMaterial="legacyMatte">
              <a:bevelT w="13500" h="13500" prst="angle"/>
              <a:bevelB w="13500" h="13500" prst="angle"/>
              <a:extrusionClr>
                <a:srgbClr val="339966"/>
              </a:extrusionClr>
            </a:sp3d>
          </p:spPr>
          <p:txBody>
            <a:bodyPr>
              <a:spAutoFit/>
              <a:flatTx/>
            </a:bodyPr>
            <a:lstStyle/>
            <a:p>
              <a:pPr>
                <a:lnSpc>
                  <a:spcPct val="125000"/>
                </a:lnSpc>
                <a:spcBef>
                  <a:spcPct val="80000"/>
                </a:spcBef>
                <a:spcAft>
                  <a:spcPct val="130000"/>
                </a:spcAft>
              </a:pPr>
              <a:r>
                <a:rPr lang="zh-CN" altLang="en-US" sz="2000" b="1">
                  <a:solidFill>
                    <a:schemeClr val="bg1"/>
                  </a:solidFill>
                  <a:latin typeface="Arial" charset="0"/>
                </a:rPr>
                <a:t>存储器</a:t>
              </a:r>
            </a:p>
          </p:txBody>
        </p:sp>
        <p:sp>
          <p:nvSpPr>
            <p:cNvPr id="13" name="AutoShape 11"/>
            <p:cNvSpPr>
              <a:spLocks noChangeArrowheads="1"/>
            </p:cNvSpPr>
            <p:nvPr/>
          </p:nvSpPr>
          <p:spPr bwMode="auto">
            <a:xfrm>
              <a:off x="1270" y="895"/>
              <a:ext cx="453" cy="181"/>
            </a:xfrm>
            <a:prstGeom prst="rightArrow">
              <a:avLst>
                <a:gd name="adj1" fmla="val 50000"/>
                <a:gd name="adj2" fmla="val 62569"/>
              </a:avLst>
            </a:prstGeom>
            <a:solidFill>
              <a:srgbClr val="FF6600"/>
            </a:solidFill>
            <a:ln w="9525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AutoShape 12"/>
            <p:cNvSpPr>
              <a:spLocks noChangeArrowheads="1"/>
            </p:cNvSpPr>
            <p:nvPr/>
          </p:nvSpPr>
          <p:spPr bwMode="auto">
            <a:xfrm>
              <a:off x="2359" y="894"/>
              <a:ext cx="453" cy="181"/>
            </a:xfrm>
            <a:prstGeom prst="rightArrow">
              <a:avLst>
                <a:gd name="adj1" fmla="val 50000"/>
                <a:gd name="adj2" fmla="val 62569"/>
              </a:avLst>
            </a:prstGeom>
            <a:solidFill>
              <a:srgbClr val="FF6600"/>
            </a:solidFill>
            <a:ln w="9525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AutoShape 13"/>
            <p:cNvSpPr>
              <a:spLocks noChangeArrowheads="1"/>
            </p:cNvSpPr>
            <p:nvPr/>
          </p:nvSpPr>
          <p:spPr bwMode="auto">
            <a:xfrm>
              <a:off x="3584" y="894"/>
              <a:ext cx="453" cy="181"/>
            </a:xfrm>
            <a:prstGeom prst="rightArrow">
              <a:avLst>
                <a:gd name="adj1" fmla="val 50000"/>
                <a:gd name="adj2" fmla="val 62569"/>
              </a:avLst>
            </a:prstGeom>
            <a:solidFill>
              <a:srgbClr val="FF6600"/>
            </a:solidFill>
            <a:ln w="9525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AutoShape 14"/>
            <p:cNvSpPr>
              <a:spLocks noChangeArrowheads="1"/>
            </p:cNvSpPr>
            <p:nvPr/>
          </p:nvSpPr>
          <p:spPr bwMode="auto">
            <a:xfrm>
              <a:off x="0" y="894"/>
              <a:ext cx="453" cy="181"/>
            </a:xfrm>
            <a:prstGeom prst="rightArrow">
              <a:avLst>
                <a:gd name="adj1" fmla="val 50000"/>
                <a:gd name="adj2" fmla="val 62569"/>
              </a:avLst>
            </a:prstGeom>
            <a:solidFill>
              <a:srgbClr val="FF6600"/>
            </a:solidFill>
            <a:ln w="9525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AutoShape 15"/>
            <p:cNvSpPr>
              <a:spLocks noChangeArrowheads="1"/>
            </p:cNvSpPr>
            <p:nvPr/>
          </p:nvSpPr>
          <p:spPr bwMode="auto">
            <a:xfrm rot="10800000">
              <a:off x="1950" y="1166"/>
              <a:ext cx="182" cy="453"/>
            </a:xfrm>
            <a:prstGeom prst="upDownArrow">
              <a:avLst>
                <a:gd name="adj1" fmla="val 50000"/>
                <a:gd name="adj2" fmla="val 49780"/>
              </a:avLst>
            </a:prstGeom>
            <a:solidFill>
              <a:srgbClr val="FF6600"/>
            </a:solidFill>
            <a:ln w="9525">
              <a:solidFill>
                <a:srgbClr val="FF6600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22" name="Line 16"/>
            <p:cNvSpPr>
              <a:spLocks noChangeShapeType="1"/>
            </p:cNvSpPr>
            <p:nvPr/>
          </p:nvSpPr>
          <p:spPr bwMode="auto">
            <a:xfrm>
              <a:off x="2359" y="178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17"/>
            <p:cNvSpPr>
              <a:spLocks noChangeShapeType="1"/>
            </p:cNvSpPr>
            <p:nvPr/>
          </p:nvSpPr>
          <p:spPr bwMode="auto">
            <a:xfrm flipV="1">
              <a:off x="2586" y="243"/>
              <a:ext cx="0" cy="15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18"/>
            <p:cNvSpPr>
              <a:spLocks noChangeShapeType="1"/>
            </p:cNvSpPr>
            <p:nvPr/>
          </p:nvSpPr>
          <p:spPr bwMode="auto">
            <a:xfrm flipH="1">
              <a:off x="2359" y="241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19"/>
            <p:cNvSpPr>
              <a:spLocks noChangeShapeType="1"/>
            </p:cNvSpPr>
            <p:nvPr/>
          </p:nvSpPr>
          <p:spPr bwMode="auto">
            <a:xfrm flipH="1">
              <a:off x="862" y="70"/>
              <a:ext cx="8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0"/>
            <p:cNvSpPr>
              <a:spLocks noChangeShapeType="1"/>
            </p:cNvSpPr>
            <p:nvPr/>
          </p:nvSpPr>
          <p:spPr bwMode="auto">
            <a:xfrm>
              <a:off x="862" y="70"/>
              <a:ext cx="0" cy="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1"/>
            <p:cNvSpPr>
              <a:spLocks noChangeShapeType="1"/>
            </p:cNvSpPr>
            <p:nvPr/>
          </p:nvSpPr>
          <p:spPr bwMode="auto">
            <a:xfrm>
              <a:off x="2041" y="401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2"/>
            <p:cNvSpPr>
              <a:spLocks noChangeShapeType="1"/>
            </p:cNvSpPr>
            <p:nvPr/>
          </p:nvSpPr>
          <p:spPr bwMode="auto">
            <a:xfrm flipH="1">
              <a:off x="2359" y="62"/>
              <a:ext cx="8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3"/>
            <p:cNvSpPr>
              <a:spLocks noChangeShapeType="1"/>
            </p:cNvSpPr>
            <p:nvPr/>
          </p:nvSpPr>
          <p:spPr bwMode="auto">
            <a:xfrm>
              <a:off x="3175" y="62"/>
              <a:ext cx="0" cy="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24"/>
            <p:cNvSpPr>
              <a:spLocks noChangeShapeType="1"/>
            </p:cNvSpPr>
            <p:nvPr/>
          </p:nvSpPr>
          <p:spPr bwMode="auto">
            <a:xfrm flipH="1">
              <a:off x="1497" y="243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25"/>
            <p:cNvSpPr>
              <a:spLocks noChangeShapeType="1"/>
            </p:cNvSpPr>
            <p:nvPr/>
          </p:nvSpPr>
          <p:spPr bwMode="auto">
            <a:xfrm flipH="1">
              <a:off x="1497" y="243"/>
              <a:ext cx="1" cy="15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26"/>
            <p:cNvSpPr>
              <a:spLocks noChangeShapeType="1"/>
            </p:cNvSpPr>
            <p:nvPr/>
          </p:nvSpPr>
          <p:spPr bwMode="auto">
            <a:xfrm>
              <a:off x="1497" y="1786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27"/>
            <p:cNvSpPr>
              <a:spLocks noChangeShapeType="1"/>
            </p:cNvSpPr>
            <p:nvPr/>
          </p:nvSpPr>
          <p:spPr bwMode="auto">
            <a:xfrm>
              <a:off x="3582" y="1468"/>
              <a:ext cx="40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Text Box 28"/>
            <p:cNvSpPr txBox="1">
              <a:spLocks noChangeArrowheads="1"/>
            </p:cNvSpPr>
            <p:nvPr/>
          </p:nvSpPr>
          <p:spPr bwMode="auto">
            <a:xfrm>
              <a:off x="4037" y="1332"/>
              <a:ext cx="63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180D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指令流</a:t>
              </a:r>
            </a:p>
          </p:txBody>
        </p:sp>
        <p:sp>
          <p:nvSpPr>
            <p:cNvPr id="35" name="Line 29"/>
            <p:cNvSpPr>
              <a:spLocks noChangeShapeType="1"/>
            </p:cNvSpPr>
            <p:nvPr/>
          </p:nvSpPr>
          <p:spPr bwMode="auto">
            <a:xfrm>
              <a:off x="3582" y="1740"/>
              <a:ext cx="4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 Box 30"/>
            <p:cNvSpPr txBox="1">
              <a:spLocks noChangeArrowheads="1"/>
            </p:cNvSpPr>
            <p:nvPr/>
          </p:nvSpPr>
          <p:spPr bwMode="auto">
            <a:xfrm>
              <a:off x="4037" y="1604"/>
              <a:ext cx="77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180D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控制命令</a:t>
              </a:r>
            </a:p>
          </p:txBody>
        </p:sp>
        <p:sp>
          <p:nvSpPr>
            <p:cNvPr id="37" name="AutoShape 31"/>
            <p:cNvSpPr>
              <a:spLocks noChangeArrowheads="1"/>
            </p:cNvSpPr>
            <p:nvPr/>
          </p:nvSpPr>
          <p:spPr bwMode="auto">
            <a:xfrm>
              <a:off x="3582" y="1922"/>
              <a:ext cx="409" cy="136"/>
            </a:xfrm>
            <a:prstGeom prst="rightArrow">
              <a:avLst>
                <a:gd name="adj1" fmla="val 50000"/>
                <a:gd name="adj2" fmla="val 75184"/>
              </a:avLst>
            </a:prstGeom>
            <a:solidFill>
              <a:srgbClr val="FF6600"/>
            </a:solidFill>
            <a:ln w="9525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Text Box 32"/>
            <p:cNvSpPr txBox="1">
              <a:spLocks noChangeArrowheads="1"/>
            </p:cNvSpPr>
            <p:nvPr/>
          </p:nvSpPr>
          <p:spPr bwMode="auto">
            <a:xfrm>
              <a:off x="4037" y="1876"/>
              <a:ext cx="77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180D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数据流</a:t>
              </a:r>
            </a:p>
          </p:txBody>
        </p:sp>
        <p:sp>
          <p:nvSpPr>
            <p:cNvPr id="39" name="AutoShape 33"/>
            <p:cNvSpPr>
              <a:spLocks noChangeArrowheads="1"/>
            </p:cNvSpPr>
            <p:nvPr/>
          </p:nvSpPr>
          <p:spPr bwMode="auto">
            <a:xfrm flipV="1">
              <a:off x="681" y="1241"/>
              <a:ext cx="771" cy="726"/>
            </a:xfrm>
            <a:custGeom>
              <a:avLst/>
              <a:gdLst>
                <a:gd name="T0" fmla="*/ 21 w 21600"/>
                <a:gd name="T1" fmla="*/ 0 h 21600"/>
                <a:gd name="T2" fmla="*/ 21 w 21600"/>
                <a:gd name="T3" fmla="*/ 14 h 21600"/>
                <a:gd name="T4" fmla="*/ 4 w 21600"/>
                <a:gd name="T5" fmla="*/ 24 h 21600"/>
                <a:gd name="T6" fmla="*/ 28 w 21600"/>
                <a:gd name="T7" fmla="*/ 7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39 w 21600"/>
                <a:gd name="T13" fmla="*/ 3273 h 21600"/>
                <a:gd name="T14" fmla="*/ 19359 w 21600"/>
                <a:gd name="T15" fmla="*/ 889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6778" y="0"/>
                  </a:lnTo>
                  <a:lnTo>
                    <a:pt x="16778" y="3258"/>
                  </a:lnTo>
                  <a:lnTo>
                    <a:pt x="12427" y="3258"/>
                  </a:lnTo>
                  <a:cubicBezTo>
                    <a:pt x="5564" y="3258"/>
                    <a:pt x="0" y="7243"/>
                    <a:pt x="0" y="12158"/>
                  </a:cubicBezTo>
                  <a:lnTo>
                    <a:pt x="0" y="21600"/>
                  </a:lnTo>
                  <a:lnTo>
                    <a:pt x="5767" y="21600"/>
                  </a:lnTo>
                  <a:lnTo>
                    <a:pt x="5767" y="12158"/>
                  </a:lnTo>
                  <a:cubicBezTo>
                    <a:pt x="5767" y="10359"/>
                    <a:pt x="8749" y="8900"/>
                    <a:pt x="12427" y="8900"/>
                  </a:cubicBezTo>
                  <a:lnTo>
                    <a:pt x="16778" y="8900"/>
                  </a:lnTo>
                  <a:lnTo>
                    <a:pt x="16778" y="12158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AutoShape 34"/>
            <p:cNvSpPr>
              <a:spLocks noChangeArrowheads="1"/>
            </p:cNvSpPr>
            <p:nvPr/>
          </p:nvSpPr>
          <p:spPr bwMode="auto">
            <a:xfrm rot="16200000" flipV="1">
              <a:off x="2720" y="1195"/>
              <a:ext cx="635" cy="726"/>
            </a:xfrm>
            <a:custGeom>
              <a:avLst/>
              <a:gdLst>
                <a:gd name="T0" fmla="*/ 14 w 21600"/>
                <a:gd name="T1" fmla="*/ 0 h 21600"/>
                <a:gd name="T2" fmla="*/ 14 w 21600"/>
                <a:gd name="T3" fmla="*/ 14 h 21600"/>
                <a:gd name="T4" fmla="*/ 2 w 21600"/>
                <a:gd name="T5" fmla="*/ 24 h 21600"/>
                <a:gd name="T6" fmla="*/ 19 w 21600"/>
                <a:gd name="T7" fmla="*/ 7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16 w 21600"/>
                <a:gd name="T13" fmla="*/ 3273 h 21600"/>
                <a:gd name="T14" fmla="*/ 19355 w 21600"/>
                <a:gd name="T15" fmla="*/ 889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6778" y="0"/>
                  </a:lnTo>
                  <a:lnTo>
                    <a:pt x="16778" y="3258"/>
                  </a:lnTo>
                  <a:lnTo>
                    <a:pt x="12427" y="3258"/>
                  </a:lnTo>
                  <a:cubicBezTo>
                    <a:pt x="5564" y="3258"/>
                    <a:pt x="0" y="7243"/>
                    <a:pt x="0" y="12158"/>
                  </a:cubicBezTo>
                  <a:lnTo>
                    <a:pt x="0" y="21600"/>
                  </a:lnTo>
                  <a:lnTo>
                    <a:pt x="5767" y="21600"/>
                  </a:lnTo>
                  <a:lnTo>
                    <a:pt x="5767" y="12158"/>
                  </a:lnTo>
                  <a:cubicBezTo>
                    <a:pt x="5767" y="10359"/>
                    <a:pt x="8749" y="8900"/>
                    <a:pt x="12427" y="8900"/>
                  </a:cubicBezTo>
                  <a:lnTo>
                    <a:pt x="16778" y="8900"/>
                  </a:lnTo>
                  <a:lnTo>
                    <a:pt x="16778" y="12158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581594" y="1022752"/>
            <a:ext cx="8033770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defTabSz="914354">
              <a:lnSpc>
                <a:spcPct val="90000"/>
              </a:lnSpc>
              <a:spcBef>
                <a:spcPct val="0"/>
              </a:spcBef>
            </a:pPr>
            <a:r>
              <a:rPr lang="zh-CN" altLang="en-US" sz="3200" b="1" dirty="0">
                <a:solidFill>
                  <a:srgbClr val="CC3300"/>
                </a:solidFill>
                <a:latin typeface="+mj-lt"/>
                <a:ea typeface="+mj-ea"/>
                <a:cs typeface="+mj-cs"/>
                <a:sym typeface="+mn-lt"/>
              </a:rPr>
              <a:t>微型计算机系统硬件的五大组成部分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8221888" y="1653705"/>
            <a:ext cx="358775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zh-CN" altLang="en-US" sz="2400" dirty="0"/>
              <a:t>最核心的控制器和运算器部分由</a:t>
            </a:r>
            <a:r>
              <a:rPr lang="en-US" altLang="zh-CN" sz="2400" dirty="0"/>
              <a:t>CPU</a:t>
            </a:r>
            <a:r>
              <a:rPr lang="zh-CN" altLang="en-US" sz="2400" dirty="0"/>
              <a:t>承担，所有操作都在控制器发出的控制信号的控制下完成的。控制器根据程序产生控制信号，程序则由编程人员编制并存放在存储器中。</a:t>
            </a:r>
            <a:endParaRPr lang="en-US" altLang="zh-CN" sz="2400" dirty="0"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63206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4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  微型计算机的硬件组成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1136735" y="1707263"/>
            <a:ext cx="1069821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执行算术运算和逻辑运算的部件。由</a:t>
            </a:r>
            <a:r>
              <a:rPr lang="zh-CN" altLang="en-US" sz="2800" dirty="0">
                <a:solidFill>
                  <a:srgbClr val="FF0000"/>
                </a:solidFill>
              </a:rPr>
              <a:t>累加器</a:t>
            </a:r>
            <a:r>
              <a:rPr lang="zh-CN" altLang="en-US" sz="2800" dirty="0"/>
              <a:t>（</a:t>
            </a:r>
            <a:r>
              <a:rPr lang="en-US" altLang="zh-CN" sz="2800" dirty="0"/>
              <a:t>Accumulator</a:t>
            </a:r>
            <a:r>
              <a:rPr lang="zh-CN" altLang="en-US" sz="2800" dirty="0"/>
              <a:t>，</a:t>
            </a:r>
            <a:r>
              <a:rPr lang="en-US" altLang="zh-CN" sz="2800" dirty="0"/>
              <a:t>A</a:t>
            </a:r>
            <a:r>
              <a:rPr lang="zh-CN" altLang="en-US" sz="2800" dirty="0"/>
              <a:t>）、</a:t>
            </a:r>
            <a:r>
              <a:rPr lang="zh-CN" altLang="en-US" sz="2800" dirty="0">
                <a:solidFill>
                  <a:srgbClr val="FF0000"/>
                </a:solidFill>
              </a:rPr>
              <a:t>暂存器</a:t>
            </a:r>
            <a:r>
              <a:rPr lang="zh-CN" altLang="en-US" sz="2800" dirty="0"/>
              <a:t>（</a:t>
            </a:r>
            <a:r>
              <a:rPr lang="en-US" altLang="zh-CN" sz="2800" dirty="0"/>
              <a:t>Temporary</a:t>
            </a:r>
            <a:r>
              <a:rPr lang="zh-CN" altLang="en-US" sz="2800" dirty="0"/>
              <a:t>，</a:t>
            </a:r>
            <a:r>
              <a:rPr lang="en-US" altLang="zh-CN" sz="2800" dirty="0"/>
              <a:t>TMP</a:t>
            </a:r>
            <a:r>
              <a:rPr lang="zh-CN" altLang="en-US" sz="2800" dirty="0"/>
              <a:t>）、</a:t>
            </a:r>
            <a:r>
              <a:rPr lang="zh-CN" altLang="en-US" sz="2800" dirty="0">
                <a:solidFill>
                  <a:srgbClr val="FF0000"/>
                </a:solidFill>
              </a:rPr>
              <a:t>算术逻辑单元</a:t>
            </a:r>
            <a:r>
              <a:rPr lang="zh-CN" altLang="en-US" sz="2800" dirty="0"/>
              <a:t>（</a:t>
            </a:r>
            <a:r>
              <a:rPr lang="en-US" altLang="zh-CN" sz="2800" dirty="0" err="1"/>
              <a:t>Arithmatic</a:t>
            </a:r>
            <a:r>
              <a:rPr lang="en-US" altLang="zh-CN" sz="2800" dirty="0"/>
              <a:t> Logic Unit</a:t>
            </a:r>
            <a:r>
              <a:rPr lang="zh-CN" altLang="en-US" sz="2800" dirty="0"/>
              <a:t>，</a:t>
            </a:r>
            <a:r>
              <a:rPr lang="en-US" altLang="zh-CN" sz="2800" dirty="0"/>
              <a:t>ALU</a:t>
            </a:r>
            <a:r>
              <a:rPr lang="zh-CN" altLang="en-US" sz="2800" dirty="0"/>
              <a:t>）、</a:t>
            </a:r>
            <a:r>
              <a:rPr lang="zh-CN" altLang="en-US" sz="2800" dirty="0">
                <a:solidFill>
                  <a:srgbClr val="FF0000"/>
                </a:solidFill>
              </a:rPr>
              <a:t>标志寄存器</a:t>
            </a:r>
            <a:r>
              <a:rPr lang="zh-CN" altLang="en-US" sz="2800" dirty="0"/>
              <a:t>（</a:t>
            </a:r>
            <a:r>
              <a:rPr lang="en-US" altLang="zh-CN" sz="2800" dirty="0"/>
              <a:t>Flag Registers</a:t>
            </a:r>
            <a:r>
              <a:rPr lang="zh-CN" altLang="en-US" sz="2800" dirty="0"/>
              <a:t>，</a:t>
            </a:r>
            <a:r>
              <a:rPr lang="en-US" altLang="zh-CN" sz="2800" dirty="0"/>
              <a:t>F</a:t>
            </a:r>
            <a:r>
              <a:rPr lang="zh-CN" altLang="en-US" sz="2800" dirty="0"/>
              <a:t>）和一些逻辑电路组成。</a:t>
            </a:r>
            <a:endParaRPr lang="en-US" altLang="zh-CN" sz="2800" dirty="0">
              <a:sym typeface="+mn-lt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1136735" y="1022752"/>
            <a:ext cx="2873562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marL="514350" indent="-514350" defTabSz="914354">
              <a:lnSpc>
                <a:spcPct val="9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zh-CN" altLang="en-US" sz="3200" b="1" dirty="0">
                <a:solidFill>
                  <a:srgbClr val="CC3300"/>
                </a:solidFill>
                <a:latin typeface="+mj-lt"/>
                <a:ea typeface="+mj-ea"/>
                <a:cs typeface="+mj-cs"/>
                <a:sym typeface="+mn-lt"/>
              </a:rPr>
              <a:t>运算器</a:t>
            </a:r>
          </a:p>
        </p:txBody>
      </p:sp>
    </p:spTree>
    <p:extLst>
      <p:ext uri="{BB962C8B-B14F-4D97-AF65-F5344CB8AC3E}">
        <p14:creationId xmlns:p14="http://schemas.microsoft.com/office/powerpoint/2010/main" val="2564994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  微型计算机的硬件组成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1136735" y="1830408"/>
            <a:ext cx="1090721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控制器是指令执行部件，包括取指令、分析指令（指令译码）和执行指令，由</a:t>
            </a:r>
            <a:r>
              <a:rPr lang="zh-CN" altLang="en-US" sz="2800" dirty="0">
                <a:solidFill>
                  <a:srgbClr val="FF0000"/>
                </a:solidFill>
              </a:rPr>
              <a:t>指令寄存器</a:t>
            </a:r>
            <a:r>
              <a:rPr lang="zh-CN" altLang="en-US" sz="2800" dirty="0"/>
              <a:t>（</a:t>
            </a:r>
            <a:r>
              <a:rPr lang="en-US" altLang="zh-CN" sz="2800" dirty="0"/>
              <a:t>Instruction Register</a:t>
            </a:r>
            <a:r>
              <a:rPr lang="zh-CN" altLang="en-US" sz="2800" dirty="0"/>
              <a:t>，</a:t>
            </a:r>
            <a:r>
              <a:rPr lang="en-US" altLang="zh-CN" sz="2800" dirty="0"/>
              <a:t>IR</a:t>
            </a:r>
            <a:r>
              <a:rPr lang="zh-CN" altLang="en-US" sz="2800" dirty="0"/>
              <a:t>）、</a:t>
            </a:r>
            <a:r>
              <a:rPr lang="zh-CN" altLang="en-US" sz="2800" dirty="0">
                <a:solidFill>
                  <a:srgbClr val="FF0000"/>
                </a:solidFill>
              </a:rPr>
              <a:t>指令译码器</a:t>
            </a:r>
            <a:r>
              <a:rPr lang="zh-CN" altLang="en-US" sz="2800" dirty="0"/>
              <a:t>（</a:t>
            </a:r>
            <a:r>
              <a:rPr lang="en-US" altLang="zh-CN" sz="2800" dirty="0"/>
              <a:t>Instruction Decoder</a:t>
            </a:r>
            <a:r>
              <a:rPr lang="zh-CN" altLang="en-US" sz="2800" dirty="0"/>
              <a:t>，</a:t>
            </a:r>
            <a:r>
              <a:rPr lang="en-US" altLang="zh-CN" sz="2800" dirty="0"/>
              <a:t>ID</a:t>
            </a:r>
            <a:r>
              <a:rPr lang="zh-CN" altLang="en-US" sz="2800" dirty="0"/>
              <a:t>）和</a:t>
            </a:r>
            <a:r>
              <a:rPr lang="zh-CN" altLang="en-US" sz="2800" dirty="0">
                <a:solidFill>
                  <a:srgbClr val="FF0000"/>
                </a:solidFill>
              </a:rPr>
              <a:t>定时控制电路</a:t>
            </a:r>
            <a:r>
              <a:rPr lang="zh-CN" altLang="en-US" sz="2800" dirty="0"/>
              <a:t>（</a:t>
            </a:r>
            <a:r>
              <a:rPr lang="en-US" altLang="zh-CN" sz="2800" dirty="0"/>
              <a:t>Timing and Control</a:t>
            </a:r>
            <a:r>
              <a:rPr lang="zh-CN" altLang="en-US" sz="2800" dirty="0"/>
              <a:t>）等组成。计算机的所有操作都是在控制器的控制下完成的。</a:t>
            </a:r>
            <a:endParaRPr lang="en-US" altLang="zh-CN" sz="2800" dirty="0">
              <a:sym typeface="+mn-lt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1136735" y="1022752"/>
            <a:ext cx="2873562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marL="514350" indent="-514350" defTabSz="914354">
              <a:lnSpc>
                <a:spcPct val="90000"/>
              </a:lnSpc>
              <a:spcBef>
                <a:spcPct val="0"/>
              </a:spcBef>
              <a:buFont typeface="+mj-ea"/>
              <a:buAutoNum type="circleNumDbPlain" startAt="2"/>
            </a:pPr>
            <a:r>
              <a:rPr lang="zh-CN" altLang="en-US" sz="3200" b="1" dirty="0">
                <a:solidFill>
                  <a:srgbClr val="CC3300"/>
                </a:solidFill>
                <a:latin typeface="+mj-lt"/>
                <a:ea typeface="+mj-ea"/>
                <a:cs typeface="+mj-cs"/>
                <a:sym typeface="+mn-lt"/>
              </a:rPr>
              <a:t>控制器</a:t>
            </a:r>
          </a:p>
        </p:txBody>
      </p:sp>
    </p:spTree>
    <p:extLst>
      <p:ext uri="{BB962C8B-B14F-4D97-AF65-F5344CB8AC3E}">
        <p14:creationId xmlns:p14="http://schemas.microsoft.com/office/powerpoint/2010/main" val="2981604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  微型计算机的硬件组成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1136735" y="1830408"/>
            <a:ext cx="109072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存储器是计算机中</a:t>
            </a:r>
            <a:r>
              <a:rPr lang="zh-CN" altLang="en-US" sz="2800" dirty="0">
                <a:solidFill>
                  <a:srgbClr val="FF0000"/>
                </a:solidFill>
              </a:rPr>
              <a:t>存储程序和数据</a:t>
            </a:r>
            <a:r>
              <a:rPr lang="zh-CN" altLang="en-US" sz="2800" dirty="0"/>
              <a:t>的部件。计算机的存储器分为两大部分，一部分为内部存储器或</a:t>
            </a:r>
            <a:r>
              <a:rPr lang="zh-CN" altLang="en-US" sz="2800" dirty="0">
                <a:solidFill>
                  <a:srgbClr val="FF0000"/>
                </a:solidFill>
              </a:rPr>
              <a:t>主存储器</a:t>
            </a:r>
            <a:r>
              <a:rPr lang="zh-CN" altLang="en-US" sz="2800" dirty="0"/>
              <a:t>，简称内存或主存；另一部分为外部存储器或</a:t>
            </a:r>
            <a:r>
              <a:rPr lang="zh-CN" altLang="en-US" sz="2800" dirty="0">
                <a:solidFill>
                  <a:srgbClr val="FF0000"/>
                </a:solidFill>
              </a:rPr>
              <a:t>辅助存储器</a:t>
            </a:r>
            <a:r>
              <a:rPr lang="zh-CN" altLang="en-US" sz="2800" dirty="0"/>
              <a:t>，简称外存或辅存。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1136735" y="1022752"/>
            <a:ext cx="2873562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marL="514350" indent="-514350" defTabSz="914354">
              <a:lnSpc>
                <a:spcPct val="90000"/>
              </a:lnSpc>
              <a:spcBef>
                <a:spcPct val="0"/>
              </a:spcBef>
              <a:buFont typeface="+mj-ea"/>
              <a:buAutoNum type="circleNumDbPlain" startAt="3"/>
            </a:pPr>
            <a:r>
              <a:rPr lang="zh-CN" altLang="en-US" sz="3200" b="1" dirty="0">
                <a:solidFill>
                  <a:srgbClr val="CC3300"/>
                </a:solidFill>
                <a:latin typeface="+mj-lt"/>
                <a:ea typeface="+mj-ea"/>
                <a:cs typeface="+mj-cs"/>
                <a:sym typeface="+mn-lt"/>
              </a:rPr>
              <a:t>存储器</a:t>
            </a:r>
          </a:p>
        </p:txBody>
      </p:sp>
    </p:spTree>
    <p:extLst>
      <p:ext uri="{BB962C8B-B14F-4D97-AF65-F5344CB8AC3E}">
        <p14:creationId xmlns:p14="http://schemas.microsoft.com/office/powerpoint/2010/main" val="818851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  微型计算机的硬件组成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834894" y="2656031"/>
            <a:ext cx="10907218" cy="1955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cs typeface="+mn-ea"/>
                <a:sym typeface="+mn-lt"/>
              </a:rPr>
              <a:t>计算机的硬件组成如何？</a:t>
            </a:r>
            <a:endParaRPr lang="en-US" altLang="zh-CN" sz="2800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cs typeface="+mn-ea"/>
                <a:sym typeface="+mn-lt"/>
              </a:rPr>
              <a:t>运算器的组成及功能？</a:t>
            </a:r>
            <a:endParaRPr lang="en-US" altLang="zh-CN" sz="2800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cs typeface="+mn-ea"/>
                <a:sym typeface="+mn-lt"/>
              </a:rPr>
              <a:t>控制器的组成及功能？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834894" y="1848375"/>
            <a:ext cx="2873562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defTabSz="914354">
              <a:lnSpc>
                <a:spcPct val="90000"/>
              </a:lnSpc>
              <a:spcBef>
                <a:spcPct val="0"/>
              </a:spcBef>
            </a:pPr>
            <a:r>
              <a:rPr lang="zh-CN" altLang="en-US" sz="3200" b="1" dirty="0">
                <a:solidFill>
                  <a:srgbClr val="CC3300"/>
                </a:solidFill>
                <a:cs typeface="+mn-ea"/>
                <a:sym typeface="+mn-lt"/>
              </a:rPr>
              <a:t>问题与思考</a:t>
            </a:r>
          </a:p>
        </p:txBody>
      </p:sp>
    </p:spTree>
    <p:extLst>
      <p:ext uri="{BB962C8B-B14F-4D97-AF65-F5344CB8AC3E}">
        <p14:creationId xmlns:p14="http://schemas.microsoft.com/office/powerpoint/2010/main" val="1842200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3C326D0B-7DAB-41B6-8030-2E4A18CC949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9" name="think-cell Slide" r:id="rId5" imgW="360" imgH="360" progId="">
                  <p:embed/>
                </p:oleObj>
              </mc:Choice>
              <mc:Fallback>
                <p:oleObj name="think-cell Slide" r:id="rId5" imgW="360" imgH="360" progId="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id="{3C326D0B-7DAB-41B6-8030-2E4A18CC94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id="{EC933494-1B63-4A32-964F-D05236799BA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cs typeface="+mn-ea"/>
              <a:sym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978949" y="2023969"/>
            <a:ext cx="6041284" cy="1058852"/>
          </a:xfrm>
        </p:spPr>
        <p:txBody>
          <a:bodyPr>
            <a:normAutofit/>
          </a:bodyPr>
          <a:lstStyle/>
          <a:p>
            <a:r>
              <a:rPr lang="zh-CN" altLang="en-US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lt"/>
                <a:ea typeface="+mn-ea"/>
                <a:cs typeface="+mn-ea"/>
                <a:sym typeface="+mn-lt"/>
              </a:rPr>
              <a:t>单片机原理及其应用</a:t>
            </a: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3AE36C13-51F4-4440-8DB2-2A4E128FFD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6065" y="3993091"/>
            <a:ext cx="3170135" cy="548173"/>
          </a:xfr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r>
              <a:rPr lang="zh-CN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重庆大学   电气工程学院</a:t>
            </a:r>
          </a:p>
        </p:txBody>
      </p:sp>
      <p:sp>
        <p:nvSpPr>
          <p:cNvPr id="5" name="矩形 4"/>
          <p:cNvSpPr/>
          <p:nvPr/>
        </p:nvSpPr>
        <p:spPr>
          <a:xfrm>
            <a:off x="622577" y="1378227"/>
            <a:ext cx="69500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ARM Cortex-M3 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的</a:t>
            </a:r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STM32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系列</a:t>
            </a:r>
            <a:r>
              <a:rPr lang="zh-CN" altLang="zh-CN" sz="4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ea"/>
                <a:cs typeface="+mn-ea"/>
              </a:rPr>
              <a:t>——</a:t>
            </a:r>
            <a:endParaRPr lang="zh-CN" altLang="en-US" sz="4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+mn-ea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26630" y="3205343"/>
            <a:ext cx="68169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2E6E0"/>
                </a:solidFill>
              </a:rPr>
              <a:t>存储器</a:t>
            </a:r>
            <a:endParaRPr lang="en-US" altLang="zh-CN" sz="2800" b="1" dirty="0">
              <a:solidFill>
                <a:srgbClr val="42E6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988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  微型计算机的硬件组成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1397996" y="2261480"/>
            <a:ext cx="804645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计算机中存储程序和数据的部件。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>
                <a:sym typeface="+mn-lt"/>
              </a:rPr>
              <a:t>可分为：</a:t>
            </a:r>
            <a:endParaRPr lang="en-US" altLang="zh-CN" sz="2800" dirty="0">
              <a:sym typeface="+mn-lt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zh-CN" altLang="en-US" sz="2800" b="1" dirty="0">
                <a:sym typeface="+mn-lt"/>
              </a:rPr>
              <a:t>内部存储器</a:t>
            </a:r>
            <a:r>
              <a:rPr lang="zh-CN" altLang="en-US" sz="2800" dirty="0">
                <a:sym typeface="+mn-lt"/>
              </a:rPr>
              <a:t>（</a:t>
            </a:r>
            <a:r>
              <a:rPr lang="zh-CN" altLang="en-US" sz="2800" b="1" dirty="0">
                <a:sym typeface="+mn-lt"/>
              </a:rPr>
              <a:t>内存</a:t>
            </a:r>
            <a:r>
              <a:rPr lang="zh-CN" altLang="en-US" sz="2800" dirty="0">
                <a:sym typeface="+mn-lt"/>
              </a:rPr>
              <a:t>）</a:t>
            </a:r>
            <a:r>
              <a:rPr lang="en-US" altLang="zh-CN" sz="2800" dirty="0">
                <a:sym typeface="+mn-lt"/>
              </a:rPr>
              <a:t>/ </a:t>
            </a:r>
            <a:r>
              <a:rPr lang="zh-CN" altLang="en-US" sz="2800" b="1" dirty="0">
                <a:sym typeface="+mn-lt"/>
              </a:rPr>
              <a:t>主存储器</a:t>
            </a:r>
            <a:r>
              <a:rPr lang="zh-CN" altLang="en-US" sz="2800" dirty="0">
                <a:sym typeface="+mn-lt"/>
              </a:rPr>
              <a:t>（</a:t>
            </a:r>
            <a:r>
              <a:rPr lang="zh-CN" altLang="en-US" sz="2800" b="1" dirty="0">
                <a:sym typeface="+mn-lt"/>
              </a:rPr>
              <a:t>主存</a:t>
            </a:r>
            <a:r>
              <a:rPr lang="zh-CN" altLang="en-US" sz="2800" dirty="0">
                <a:sym typeface="+mn-lt"/>
              </a:rPr>
              <a:t>）</a:t>
            </a:r>
            <a:endParaRPr lang="en-US" altLang="zh-CN" sz="2800" dirty="0">
              <a:sym typeface="+mn-lt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zh-CN" altLang="en-US" sz="2800" b="1" dirty="0">
                <a:sym typeface="+mn-lt"/>
              </a:rPr>
              <a:t>外部存储器</a:t>
            </a:r>
            <a:r>
              <a:rPr lang="zh-CN" altLang="en-US" sz="2800" dirty="0">
                <a:sym typeface="+mn-lt"/>
              </a:rPr>
              <a:t>（</a:t>
            </a:r>
            <a:r>
              <a:rPr lang="zh-CN" altLang="en-US" sz="2800" b="1" dirty="0">
                <a:sym typeface="+mn-lt"/>
              </a:rPr>
              <a:t>外存</a:t>
            </a:r>
            <a:r>
              <a:rPr lang="zh-CN" altLang="en-US" sz="2800" dirty="0">
                <a:sym typeface="+mn-lt"/>
              </a:rPr>
              <a:t>）</a:t>
            </a:r>
            <a:r>
              <a:rPr lang="en-US" altLang="zh-CN" sz="2800" dirty="0">
                <a:sym typeface="+mn-lt"/>
              </a:rPr>
              <a:t>/ </a:t>
            </a:r>
            <a:r>
              <a:rPr lang="zh-CN" altLang="en-US" sz="2800" b="1" dirty="0">
                <a:sym typeface="+mn-lt"/>
              </a:rPr>
              <a:t>辅助存储器</a:t>
            </a:r>
            <a:r>
              <a:rPr lang="zh-CN" altLang="en-US" sz="2800" dirty="0">
                <a:sym typeface="+mn-lt"/>
              </a:rPr>
              <a:t>（</a:t>
            </a:r>
            <a:r>
              <a:rPr lang="zh-CN" altLang="en-US" sz="2800" b="1" dirty="0">
                <a:sym typeface="+mn-lt"/>
              </a:rPr>
              <a:t>辅存</a:t>
            </a:r>
            <a:r>
              <a:rPr lang="zh-CN" altLang="en-US" sz="2800" dirty="0">
                <a:sym typeface="+mn-lt"/>
              </a:rPr>
              <a:t>）</a:t>
            </a:r>
            <a:endParaRPr lang="en-US" altLang="zh-CN" sz="2800" dirty="0">
              <a:sym typeface="+mn-lt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1136735" y="1401578"/>
            <a:ext cx="1567276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defTabSz="914354">
              <a:lnSpc>
                <a:spcPct val="90000"/>
              </a:lnSpc>
              <a:spcBef>
                <a:spcPct val="0"/>
              </a:spcBef>
            </a:pPr>
            <a:r>
              <a:rPr lang="zh-CN" altLang="en-US" sz="3200" b="1" dirty="0">
                <a:solidFill>
                  <a:srgbClr val="CC3300"/>
                </a:solidFill>
                <a:latin typeface="+mj-lt"/>
                <a:ea typeface="+mj-ea"/>
                <a:cs typeface="+mj-cs"/>
                <a:sym typeface="+mn-lt"/>
              </a:rPr>
              <a:t>存储器</a:t>
            </a:r>
          </a:p>
        </p:txBody>
      </p:sp>
    </p:spTree>
    <p:extLst>
      <p:ext uri="{BB962C8B-B14F-4D97-AF65-F5344CB8AC3E}">
        <p14:creationId xmlns:p14="http://schemas.microsoft.com/office/powerpoint/2010/main" val="2042059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  微型计算机的硬件组成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1136736" y="1004225"/>
            <a:ext cx="2122417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defTabSz="914354">
              <a:lnSpc>
                <a:spcPct val="90000"/>
              </a:lnSpc>
              <a:spcBef>
                <a:spcPct val="0"/>
              </a:spcBef>
            </a:pPr>
            <a:r>
              <a:rPr lang="zh-CN" altLang="en-US" sz="3200" dirty="0">
                <a:solidFill>
                  <a:srgbClr val="CC3300"/>
                </a:solidFill>
                <a:latin typeface="+mj-lt"/>
                <a:ea typeface="+mj-ea"/>
                <a:cs typeface="+mj-cs"/>
                <a:sym typeface="+mn-lt"/>
              </a:rPr>
              <a:t>存储容量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1818050" y="1425931"/>
            <a:ext cx="92612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ym typeface="+mn-lt"/>
              </a:rPr>
              <a:t>描述存储器存储二进制信息量多少。</a:t>
            </a:r>
            <a:endParaRPr lang="en-US" altLang="zh-CN" sz="2800" dirty="0"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ym typeface="+mn-lt"/>
              </a:rPr>
              <a:t>存储二进制信息的基本单位：</a:t>
            </a:r>
            <a:r>
              <a:rPr lang="zh-CN" altLang="en-US" sz="2800" b="1" dirty="0">
                <a:sym typeface="+mn-lt"/>
              </a:rPr>
              <a:t>位</a:t>
            </a:r>
            <a:r>
              <a:rPr lang="zh-CN" altLang="en-US" sz="2800" dirty="0">
                <a:sym typeface="+mn-lt"/>
              </a:rPr>
              <a:t>（</a:t>
            </a:r>
            <a:r>
              <a:rPr kumimoji="1" lang="en-US" altLang="zh-CN" sz="2800" b="1" dirty="0">
                <a:latin typeface="Times New Roman" pitchFamily="18" charset="0"/>
                <a:ea typeface="楷体_GB2312" pitchFamily="49" charset="-122"/>
                <a:sym typeface="+mn-lt"/>
              </a:rPr>
              <a:t>bit</a:t>
            </a:r>
            <a:r>
              <a:rPr kumimoji="1" lang="zh-CN" altLang="en-US" sz="2800" dirty="0">
                <a:latin typeface="Times New Roman" pitchFamily="18" charset="0"/>
                <a:ea typeface="楷体_GB2312" pitchFamily="49" charset="-122"/>
                <a:sym typeface="+mn-lt"/>
              </a:rPr>
              <a:t>，</a:t>
            </a:r>
            <a:r>
              <a:rPr kumimoji="1" lang="en-US" altLang="zh-CN" sz="2800" b="1" dirty="0">
                <a:latin typeface="Times New Roman" pitchFamily="18" charset="0"/>
                <a:ea typeface="楷体_GB2312" pitchFamily="49" charset="-122"/>
                <a:sym typeface="+mn-lt"/>
              </a:rPr>
              <a:t>b</a:t>
            </a:r>
            <a:r>
              <a:rPr lang="zh-CN" altLang="en-US" sz="2800" dirty="0">
                <a:sym typeface="+mn-lt"/>
              </a:rPr>
              <a:t>）</a:t>
            </a:r>
            <a:endParaRPr lang="en-US" altLang="zh-CN" sz="2800" dirty="0"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sym typeface="+mn-lt"/>
              </a:rPr>
              <a:t>8</a:t>
            </a:r>
            <a:r>
              <a:rPr lang="zh-CN" altLang="en-US" sz="2800" dirty="0">
                <a:sym typeface="+mn-lt"/>
              </a:rPr>
              <a:t>个二进制位组成的通用基本单元：</a:t>
            </a:r>
            <a:r>
              <a:rPr lang="zh-CN" altLang="en-US" sz="2800" b="1" dirty="0">
                <a:sym typeface="+mn-lt"/>
              </a:rPr>
              <a:t>字节</a:t>
            </a:r>
            <a:r>
              <a:rPr lang="zh-CN" altLang="en-US" sz="2800" dirty="0">
                <a:sym typeface="+mn-lt"/>
              </a:rPr>
              <a:t>（</a:t>
            </a:r>
            <a:r>
              <a:rPr kumimoji="1" lang="en-US" altLang="zh-CN" sz="2800" b="1" dirty="0">
                <a:latin typeface="Times New Roman" pitchFamily="18" charset="0"/>
                <a:ea typeface="楷体_GB2312" pitchFamily="49" charset="-122"/>
                <a:sym typeface="+mn-lt"/>
              </a:rPr>
              <a:t>Byte</a:t>
            </a:r>
            <a:r>
              <a:rPr kumimoji="1" lang="zh-CN" altLang="en-US" sz="2800" b="1" dirty="0">
                <a:latin typeface="Times New Roman" pitchFamily="18" charset="0"/>
                <a:ea typeface="楷体_GB2312" pitchFamily="49" charset="-122"/>
                <a:sym typeface="+mn-lt"/>
              </a:rPr>
              <a:t>，</a:t>
            </a:r>
            <a:r>
              <a:rPr kumimoji="1" lang="en-US" altLang="zh-CN" sz="2800" b="1" dirty="0">
                <a:latin typeface="Times New Roman" pitchFamily="18" charset="0"/>
                <a:ea typeface="楷体_GB2312" pitchFamily="49" charset="-122"/>
                <a:sym typeface="+mn-lt"/>
              </a:rPr>
              <a:t>B</a:t>
            </a:r>
            <a:r>
              <a:rPr lang="zh-CN" altLang="en-US" sz="2800" dirty="0">
                <a:sym typeface="+mn-lt"/>
              </a:rPr>
              <a:t>）</a:t>
            </a:r>
            <a:endParaRPr lang="en-US" altLang="zh-CN" sz="2800" dirty="0"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ym typeface="+mn-lt"/>
              </a:rPr>
              <a:t>微型计算机中通常以字节为单位表示存储容量。 </a:t>
            </a:r>
            <a:endParaRPr lang="en-US" altLang="zh-CN" sz="2800" dirty="0"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1136736" y="4288409"/>
            <a:ext cx="4010030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defTabSz="914354">
              <a:lnSpc>
                <a:spcPct val="90000"/>
              </a:lnSpc>
              <a:spcBef>
                <a:spcPct val="0"/>
              </a:spcBef>
            </a:pPr>
            <a:r>
              <a:rPr lang="zh-CN" altLang="en-US" sz="3200" dirty="0">
                <a:solidFill>
                  <a:srgbClr val="CC3300"/>
                </a:solidFill>
                <a:latin typeface="+mj-lt"/>
                <a:ea typeface="+mj-ea"/>
                <a:cs typeface="+mj-cs"/>
                <a:sym typeface="+mn-lt"/>
              </a:rPr>
              <a:t>存储容量单位换算</a:t>
            </a: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2898384" y="4971067"/>
            <a:ext cx="6342981" cy="1252552"/>
          </a:xfrm>
          <a:prstGeom prst="rect">
            <a:avLst/>
          </a:prstGeom>
          <a:solidFill>
            <a:srgbClr val="FFCC99">
              <a:alpha val="30196"/>
            </a:srgbClr>
          </a:solidFill>
          <a:ln w="38100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lvl="1">
              <a:lnSpc>
                <a:spcPct val="150000"/>
              </a:lnSpc>
              <a:spcBef>
                <a:spcPts val="500"/>
              </a:spcBef>
              <a:buNone/>
              <a:defRPr/>
            </a:pPr>
            <a:r>
              <a:rPr lang="en-US" altLang="zh-CN" sz="2400" dirty="0">
                <a:solidFill>
                  <a:prstClr val="black"/>
                </a:solidFill>
                <a:latin typeface="+mn-lt"/>
                <a:ea typeface="+mn-ea"/>
              </a:rPr>
              <a:t>1KB=1024B		1MB=1024KB</a:t>
            </a:r>
          </a:p>
          <a:p>
            <a:pPr lvl="1">
              <a:lnSpc>
                <a:spcPct val="150000"/>
              </a:lnSpc>
              <a:spcBef>
                <a:spcPts val="500"/>
              </a:spcBef>
              <a:buNone/>
              <a:defRPr/>
            </a:pPr>
            <a:r>
              <a:rPr lang="en-US" altLang="zh-CN" sz="2400" dirty="0">
                <a:solidFill>
                  <a:prstClr val="black"/>
                </a:solidFill>
                <a:latin typeface="+mn-lt"/>
                <a:ea typeface="+mn-ea"/>
              </a:rPr>
              <a:t>1GB=1024MB		1TB=1024GB</a:t>
            </a:r>
          </a:p>
        </p:txBody>
      </p:sp>
    </p:spTree>
    <p:extLst>
      <p:ext uri="{BB962C8B-B14F-4D97-AF65-F5344CB8AC3E}">
        <p14:creationId xmlns:p14="http://schemas.microsoft.com/office/powerpoint/2010/main" val="3437425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  微型计算机的硬件组成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1136736" y="1271990"/>
            <a:ext cx="2122417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defTabSz="914354">
              <a:lnSpc>
                <a:spcPct val="90000"/>
              </a:lnSpc>
              <a:spcBef>
                <a:spcPct val="0"/>
              </a:spcBef>
            </a:pPr>
            <a:r>
              <a:rPr lang="zh-CN" altLang="en-US" sz="3200" dirty="0">
                <a:solidFill>
                  <a:srgbClr val="CC3300"/>
                </a:solidFill>
                <a:latin typeface="+mj-lt"/>
                <a:ea typeface="+mj-ea"/>
                <a:cs typeface="+mj-cs"/>
                <a:sym typeface="+mn-lt"/>
              </a:rPr>
              <a:t>存储容量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432393" y="2116025"/>
                <a:ext cx="3678978" cy="33470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zh-CN" altLang="en-US" sz="2800" dirty="0"/>
                  <a:t>具有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zh-CN" altLang="en-US" sz="2800" dirty="0"/>
                  <a:t>根地址线，一个存储单元包含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zh-CN" altLang="en-US" sz="2800" dirty="0"/>
                  <a:t>位的存储器，其容量为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sup>
                    </m:sSup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zh-CN" altLang="en-US" sz="2800" dirty="0"/>
                  <a:t>位。如果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zh-CN" altLang="en-US" sz="2800" dirty="0"/>
                  <a:t>为</a:t>
                </a:r>
                <a:r>
                  <a:rPr lang="en-US" altLang="zh-CN" sz="2800" dirty="0"/>
                  <a:t>8</a:t>
                </a:r>
                <a:r>
                  <a:rPr lang="zh-CN" altLang="en-US" sz="2800" dirty="0"/>
                  <a:t>，则容量为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𝑵</m:t>
                        </m:r>
                      </m:sup>
                    </m:sSup>
                  </m:oMath>
                </a14:m>
                <a:r>
                  <a:rPr lang="zh-CN" altLang="en-US" sz="2800" dirty="0"/>
                  <a:t>字节</a:t>
                </a:r>
                <a:r>
                  <a:rPr lang="en-US" altLang="zh-CN" sz="2800" dirty="0"/>
                  <a:t>(B)</a:t>
                </a: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393" y="2116025"/>
                <a:ext cx="3678978" cy="3347070"/>
              </a:xfrm>
              <a:prstGeom prst="rect">
                <a:avLst/>
              </a:prstGeom>
              <a:blipFill>
                <a:blip r:embed="rId2"/>
                <a:stretch>
                  <a:fillRect l="-3483" r="-12935" b="-18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930546C9-D731-435E-8C03-A1D18810A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371" y="2176970"/>
            <a:ext cx="7934325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902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  微型计算机的硬件组成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1698439" y="1705041"/>
            <a:ext cx="92612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ym typeface="+mn-lt"/>
              </a:rPr>
              <a:t>信息存入存储器和从存储器中取出所需要的时间，是描述存储器工作快慢程度的指标。 </a:t>
            </a:r>
            <a:endParaRPr lang="en-US" altLang="zh-CN" sz="2800" dirty="0"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1136736" y="1156394"/>
            <a:ext cx="4010030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defTabSz="914354">
              <a:lnSpc>
                <a:spcPct val="90000"/>
              </a:lnSpc>
              <a:spcBef>
                <a:spcPct val="0"/>
              </a:spcBef>
            </a:pPr>
            <a:r>
              <a:rPr lang="zh-CN" altLang="en-US" sz="3200" dirty="0">
                <a:solidFill>
                  <a:srgbClr val="CC3300"/>
                </a:solidFill>
                <a:latin typeface="+mj-lt"/>
                <a:ea typeface="+mj-ea"/>
                <a:cs typeface="+mj-cs"/>
                <a:sym typeface="+mn-lt"/>
              </a:rPr>
              <a:t>存取速度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1136736" y="3103152"/>
            <a:ext cx="4010030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defTabSz="914354">
              <a:lnSpc>
                <a:spcPct val="90000"/>
              </a:lnSpc>
              <a:spcBef>
                <a:spcPct val="0"/>
              </a:spcBef>
            </a:pPr>
            <a:r>
              <a:rPr lang="zh-CN" altLang="en-US" sz="3200" dirty="0">
                <a:solidFill>
                  <a:srgbClr val="CC3300"/>
                </a:solidFill>
                <a:latin typeface="+mj-lt"/>
                <a:ea typeface="+mj-ea"/>
                <a:cs typeface="+mj-cs"/>
                <a:sym typeface="+mn-lt"/>
              </a:rPr>
              <a:t>存储器类型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1698439" y="3512569"/>
            <a:ext cx="957480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51435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800" dirty="0">
                <a:solidFill>
                  <a:srgbClr val="FF0000"/>
                </a:solidFill>
                <a:sym typeface="+mn-lt"/>
              </a:rPr>
              <a:t>半导体存储器</a:t>
            </a:r>
            <a:r>
              <a:rPr lang="zh-CN" altLang="en-US" sz="2800" dirty="0">
                <a:sym typeface="+mn-lt"/>
              </a:rPr>
              <a:t>。</a:t>
            </a:r>
            <a:r>
              <a:rPr lang="zh-CN" altLang="en-US" sz="2800" dirty="0"/>
              <a:t>分为随机读写存储器</a:t>
            </a:r>
            <a:r>
              <a:rPr lang="en-US" altLang="zh-CN" sz="2800" dirty="0"/>
              <a:t>RAM</a:t>
            </a:r>
            <a:r>
              <a:rPr lang="zh-CN" altLang="en-US" sz="2800" dirty="0"/>
              <a:t>和只读存储器</a:t>
            </a:r>
            <a:r>
              <a:rPr lang="en-US" altLang="zh-CN" sz="2800" dirty="0"/>
              <a:t>ROM</a:t>
            </a:r>
            <a:r>
              <a:rPr lang="zh-CN" altLang="en-US" sz="2800" dirty="0"/>
              <a:t>。一般</a:t>
            </a:r>
            <a:r>
              <a:rPr lang="en-US" altLang="zh-CN" sz="2800" dirty="0"/>
              <a:t>RAM</a:t>
            </a:r>
            <a:r>
              <a:rPr lang="zh-CN" altLang="en-US" sz="2800" dirty="0"/>
              <a:t>用作数据存储器，存储临时数据，读写速度更快；</a:t>
            </a:r>
            <a:r>
              <a:rPr lang="en-US" altLang="zh-CN" sz="2800" dirty="0"/>
              <a:t>ROM</a:t>
            </a:r>
            <a:r>
              <a:rPr lang="zh-CN" altLang="en-US" sz="2800" dirty="0"/>
              <a:t>用作程序存储器，比如计算机</a:t>
            </a:r>
            <a:r>
              <a:rPr lang="en-US" altLang="zh-CN" sz="2800" dirty="0"/>
              <a:t>BIOS</a:t>
            </a:r>
            <a:r>
              <a:rPr lang="zh-CN" altLang="en-US" sz="2800" dirty="0"/>
              <a:t>程序就存放在</a:t>
            </a:r>
            <a:r>
              <a:rPr lang="en-US" altLang="zh-CN" sz="2800" dirty="0"/>
              <a:t>ROM</a:t>
            </a:r>
            <a:r>
              <a:rPr lang="zh-CN" altLang="en-US" sz="2800" dirty="0"/>
              <a:t>当中。</a:t>
            </a:r>
            <a:r>
              <a:rPr lang="en-US" altLang="zh-CN" sz="2800" dirty="0"/>
              <a:t>RAM</a:t>
            </a:r>
            <a:r>
              <a:rPr lang="zh-CN" altLang="en-US" sz="2800" dirty="0"/>
              <a:t>又可以分为</a:t>
            </a:r>
            <a:r>
              <a:rPr lang="en-US" altLang="zh-CN" sz="2800" dirty="0"/>
              <a:t>SRAM</a:t>
            </a:r>
            <a:r>
              <a:rPr lang="zh-CN" altLang="en-US" sz="2800" dirty="0"/>
              <a:t>和</a:t>
            </a:r>
            <a:r>
              <a:rPr lang="en-US" altLang="zh-CN" sz="2800" dirty="0"/>
              <a:t>DRAM</a:t>
            </a:r>
            <a:r>
              <a:rPr lang="zh-CN" altLang="en-US" sz="2800" dirty="0"/>
              <a:t>。</a:t>
            </a:r>
            <a:endParaRPr lang="zh-CN" altLang="en-US" sz="2800" dirty="0"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66326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  微型计算机的硬件组成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627797" y="899490"/>
            <a:ext cx="8077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+mj-ea"/>
                <a:ea typeface="+mj-ea"/>
              </a:rPr>
              <a:t>高速缓冲存储器技术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ea"/>
                <a:ea typeface="+mj-ea"/>
              </a:rPr>
              <a:t>目的：加快内存的访问速度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+mj-ea"/>
                <a:ea typeface="+mj-ea"/>
              </a:rPr>
              <a:t> 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627797" y="1440242"/>
            <a:ext cx="10802815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b="1" dirty="0">
                <a:latin typeface="宋体" charset="-122"/>
              </a:rPr>
              <a:t>    为了加快处理速度，在</a:t>
            </a:r>
            <a:r>
              <a:rPr lang="en-US" altLang="zh-CN" sz="2000" b="1" dirty="0">
                <a:latin typeface="宋体" charset="-122"/>
              </a:rPr>
              <a:t>CPU</a:t>
            </a:r>
            <a:r>
              <a:rPr lang="zh-CN" altLang="en-US" sz="2000" b="1" dirty="0">
                <a:latin typeface="宋体" charset="-122"/>
              </a:rPr>
              <a:t>与主存储器之间增设了一级或两级</a:t>
            </a:r>
            <a:r>
              <a:rPr lang="zh-CN" altLang="en-US" sz="2000" b="1" dirty="0">
                <a:solidFill>
                  <a:srgbClr val="FF3300"/>
                </a:solidFill>
                <a:latin typeface="宋体" charset="-122"/>
              </a:rPr>
              <a:t>高速小容量存储器</a:t>
            </a:r>
            <a:r>
              <a:rPr lang="zh-CN" altLang="en-US" sz="2000" b="1" dirty="0">
                <a:latin typeface="宋体" charset="-122"/>
              </a:rPr>
              <a:t>，称之为高速缓冲存储器（</a:t>
            </a:r>
            <a:r>
              <a:rPr lang="en-US" altLang="zh-CN" sz="2000" b="1" dirty="0">
                <a:latin typeface="宋体" charset="-122"/>
              </a:rPr>
              <a:t>Cache</a:t>
            </a:r>
            <a:r>
              <a:rPr lang="zh-CN" altLang="en-US" sz="2000" b="1" dirty="0">
                <a:latin typeface="宋体" charset="-122"/>
              </a:rPr>
              <a:t>）。</a:t>
            </a:r>
            <a:r>
              <a:rPr lang="zh-CN" altLang="en-US" sz="2000" b="1" dirty="0">
                <a:solidFill>
                  <a:srgbClr val="FF3300"/>
                </a:solidFill>
                <a:latin typeface="宋体" charset="-122"/>
              </a:rPr>
              <a:t>高速缓冲存储器</a:t>
            </a:r>
            <a:r>
              <a:rPr lang="zh-CN" altLang="en-US" sz="2000" b="1" dirty="0">
                <a:latin typeface="宋体" charset="-122"/>
              </a:rPr>
              <a:t>的存取速度比</a:t>
            </a:r>
            <a:r>
              <a:rPr lang="zh-CN" altLang="en-US" sz="2000" b="1" dirty="0">
                <a:solidFill>
                  <a:srgbClr val="FF3300"/>
                </a:solidFill>
                <a:latin typeface="宋体" charset="-122"/>
              </a:rPr>
              <a:t>主存</a:t>
            </a:r>
            <a:r>
              <a:rPr lang="zh-CN" altLang="en-US" sz="2000" b="1" dirty="0">
                <a:latin typeface="宋体" charset="-122"/>
              </a:rPr>
              <a:t>要快一个数量级，</a:t>
            </a:r>
            <a:r>
              <a:rPr lang="zh-CN" altLang="en-US" sz="2000" b="1" dirty="0">
                <a:solidFill>
                  <a:srgbClr val="FF3300"/>
                </a:solidFill>
                <a:latin typeface="宋体" charset="-122"/>
              </a:rPr>
              <a:t>大体与</a:t>
            </a:r>
            <a:r>
              <a:rPr lang="en-US" altLang="zh-CN" sz="2000" b="1" dirty="0">
                <a:solidFill>
                  <a:srgbClr val="FF3300"/>
                </a:solidFill>
                <a:latin typeface="宋体" charset="-122"/>
              </a:rPr>
              <a:t>CPU</a:t>
            </a:r>
            <a:r>
              <a:rPr lang="zh-CN" altLang="en-US" sz="2000" b="1" dirty="0">
                <a:solidFill>
                  <a:srgbClr val="FF3300"/>
                </a:solidFill>
                <a:latin typeface="宋体" charset="-122"/>
              </a:rPr>
              <a:t>的速度相当</a:t>
            </a:r>
            <a:r>
              <a:rPr lang="zh-CN" altLang="en-US" sz="2000" b="1" dirty="0">
                <a:latin typeface="宋体" charset="-122"/>
              </a:rPr>
              <a:t>。</a:t>
            </a:r>
            <a:r>
              <a:rPr lang="en-US" altLang="zh-CN" sz="2000" b="1" dirty="0">
                <a:latin typeface="宋体" charset="-122"/>
              </a:rPr>
              <a:t>CPU</a:t>
            </a:r>
            <a:r>
              <a:rPr lang="zh-CN" altLang="en-US" sz="2000" b="1" dirty="0">
                <a:latin typeface="宋体" charset="-122"/>
              </a:rPr>
              <a:t>在取指令或取操作数时，首先看其是否在高速缓冲存储器中，不在时才访问主存储器。指令或操作数在高速缓冲存储器中时，称为</a:t>
            </a:r>
            <a:r>
              <a:rPr lang="zh-CN" altLang="en-US" sz="2000" b="1" dirty="0">
                <a:latin typeface="Times New Roman"/>
              </a:rPr>
              <a:t>“</a:t>
            </a:r>
            <a:r>
              <a:rPr lang="zh-CN" altLang="en-US" sz="2000" b="1" dirty="0">
                <a:solidFill>
                  <a:srgbClr val="FF0000"/>
                </a:solidFill>
                <a:latin typeface="宋体" charset="-122"/>
              </a:rPr>
              <a:t>命中</a:t>
            </a:r>
            <a:r>
              <a:rPr lang="zh-CN" altLang="en-US" sz="2000" b="1" dirty="0">
                <a:latin typeface="Times New Roman"/>
              </a:rPr>
              <a:t>”</a:t>
            </a:r>
            <a:r>
              <a:rPr lang="zh-CN" altLang="en-US" sz="2000" b="1" dirty="0">
                <a:latin typeface="宋体" charset="-122"/>
              </a:rPr>
              <a:t>，反之称为</a:t>
            </a:r>
            <a:r>
              <a:rPr lang="zh-CN" altLang="en-US" sz="2000" b="1" dirty="0">
                <a:latin typeface="Times New Roman"/>
              </a:rPr>
              <a:t>“</a:t>
            </a:r>
            <a:r>
              <a:rPr lang="zh-CN" altLang="en-US" sz="2000" b="1" dirty="0">
                <a:solidFill>
                  <a:srgbClr val="FF0000"/>
                </a:solidFill>
                <a:latin typeface="宋体" charset="-122"/>
              </a:rPr>
              <a:t>未命中</a:t>
            </a:r>
            <a:r>
              <a:rPr lang="zh-CN" altLang="en-US" sz="2000" b="1" dirty="0">
                <a:latin typeface="Times New Roman"/>
              </a:rPr>
              <a:t>”</a:t>
            </a:r>
            <a:r>
              <a:rPr lang="zh-CN" altLang="en-US" sz="2000" b="1" dirty="0">
                <a:latin typeface="宋体" charset="-122"/>
              </a:rPr>
              <a:t>。</a:t>
            </a:r>
          </a:p>
        </p:txBody>
      </p:sp>
      <p:grpSp>
        <p:nvGrpSpPr>
          <p:cNvPr id="9" name="Group 35"/>
          <p:cNvGrpSpPr>
            <a:grpSpLocks/>
          </p:cNvGrpSpPr>
          <p:nvPr/>
        </p:nvGrpSpPr>
        <p:grpSpPr bwMode="auto">
          <a:xfrm>
            <a:off x="1833924" y="3584021"/>
            <a:ext cx="7848600" cy="2695575"/>
            <a:chOff x="385" y="326"/>
            <a:chExt cx="4944" cy="1698"/>
          </a:xfrm>
        </p:grpSpPr>
        <p:sp>
          <p:nvSpPr>
            <p:cNvPr id="10" name="AutoShape 3"/>
            <p:cNvSpPr>
              <a:spLocks noChangeArrowheads="1"/>
            </p:cNvSpPr>
            <p:nvPr/>
          </p:nvSpPr>
          <p:spPr bwMode="auto">
            <a:xfrm>
              <a:off x="2784" y="806"/>
              <a:ext cx="672" cy="144"/>
            </a:xfrm>
            <a:prstGeom prst="leftRightArrow">
              <a:avLst>
                <a:gd name="adj1" fmla="val 50000"/>
                <a:gd name="adj2" fmla="val 93333"/>
              </a:avLst>
            </a:prstGeom>
            <a:solidFill>
              <a:srgbClr val="0000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4"/>
            <p:cNvSpPr>
              <a:spLocks noChangeShapeType="1"/>
            </p:cNvSpPr>
            <p:nvPr/>
          </p:nvSpPr>
          <p:spPr bwMode="auto">
            <a:xfrm>
              <a:off x="1248" y="326"/>
              <a:ext cx="0" cy="1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5"/>
            <p:cNvSpPr>
              <a:spLocks noChangeShapeType="1"/>
            </p:cNvSpPr>
            <p:nvPr/>
          </p:nvSpPr>
          <p:spPr bwMode="auto">
            <a:xfrm>
              <a:off x="1248" y="2006"/>
              <a:ext cx="40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385" y="516"/>
              <a:ext cx="706" cy="51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lang="en-US" altLang="zh-CN" sz="2000" b="1"/>
                <a:t>CPU</a:t>
              </a:r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1444" y="602"/>
              <a:ext cx="1354" cy="431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</a:rPr>
                <a:t>Cache</a:t>
              </a:r>
            </a:p>
          </p:txBody>
        </p:sp>
        <p:sp>
          <p:nvSpPr>
            <p:cNvPr id="16" name="Rectangle 9"/>
            <p:cNvSpPr>
              <a:spLocks noChangeArrowheads="1"/>
            </p:cNvSpPr>
            <p:nvPr/>
          </p:nvSpPr>
          <p:spPr bwMode="auto">
            <a:xfrm>
              <a:off x="1680" y="430"/>
              <a:ext cx="883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lang="en-US" altLang="zh-CN" sz="1800" b="1">
                  <a:solidFill>
                    <a:schemeClr val="tx2"/>
                  </a:solidFill>
                </a:rPr>
                <a:t>SRAM</a:t>
              </a:r>
            </a:p>
          </p:txBody>
        </p:sp>
        <p:sp>
          <p:nvSpPr>
            <p:cNvPr id="17" name="Rectangle 10"/>
            <p:cNvSpPr>
              <a:spLocks noChangeArrowheads="1"/>
            </p:cNvSpPr>
            <p:nvPr/>
          </p:nvSpPr>
          <p:spPr bwMode="auto">
            <a:xfrm>
              <a:off x="1444" y="1249"/>
              <a:ext cx="1413" cy="4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lang="zh-CN" altLang="en-US" b="1">
                  <a:solidFill>
                    <a:schemeClr val="tx2"/>
                  </a:solidFill>
                </a:rPr>
                <a:t>高速缓存</a:t>
              </a:r>
              <a:endParaRPr lang="zh-CN" altLang="en-US">
                <a:solidFill>
                  <a:schemeClr val="tx2"/>
                </a:solidFill>
              </a:endParaRPr>
            </a:p>
            <a:p>
              <a:pPr algn="ctr" eaLnBrk="1" hangingPunct="1"/>
              <a:r>
                <a:rPr lang="zh-CN" altLang="en-US" b="1">
                  <a:solidFill>
                    <a:schemeClr val="tx2"/>
                  </a:solidFill>
                </a:rPr>
                <a:t> </a:t>
              </a:r>
              <a:r>
                <a:rPr lang="zh-CN" altLang="en-US" b="1">
                  <a:solidFill>
                    <a:schemeClr val="tx2"/>
                  </a:solidFill>
                  <a:latin typeface="宋体" charset="-122"/>
                </a:rPr>
                <a:t>控制器</a:t>
              </a:r>
              <a:r>
                <a:rPr lang="zh-CN" altLang="en-US">
                  <a:solidFill>
                    <a:schemeClr val="tx2"/>
                  </a:solidFill>
                </a:rPr>
                <a:t> </a:t>
              </a:r>
            </a:p>
          </p:txBody>
        </p:sp>
        <p:sp>
          <p:nvSpPr>
            <p:cNvPr id="18" name="AutoShape 11"/>
            <p:cNvSpPr>
              <a:spLocks noChangeArrowheads="1"/>
            </p:cNvSpPr>
            <p:nvPr/>
          </p:nvSpPr>
          <p:spPr bwMode="auto">
            <a:xfrm>
              <a:off x="1974" y="1033"/>
              <a:ext cx="294" cy="216"/>
            </a:xfrm>
            <a:prstGeom prst="upArrow">
              <a:avLst>
                <a:gd name="adj1" fmla="val 50000"/>
                <a:gd name="adj2" fmla="val 25000"/>
              </a:avLst>
            </a:prstGeom>
            <a:solidFill>
              <a:srgbClr val="009900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9" name="Rectangle 12"/>
            <p:cNvSpPr>
              <a:spLocks noChangeArrowheads="1"/>
            </p:cNvSpPr>
            <p:nvPr/>
          </p:nvSpPr>
          <p:spPr bwMode="auto">
            <a:xfrm>
              <a:off x="3446" y="646"/>
              <a:ext cx="1471" cy="1033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lang="zh-CN" altLang="en-US" b="1">
                  <a:solidFill>
                    <a:schemeClr val="bg1"/>
                  </a:solidFill>
                  <a:latin typeface="宋体" charset="-122"/>
                </a:rPr>
                <a:t>主存</a:t>
              </a:r>
              <a:r>
                <a:rPr lang="zh-CN" altLang="en-US"/>
                <a:t> </a:t>
              </a:r>
            </a:p>
          </p:txBody>
        </p:sp>
        <p:sp>
          <p:nvSpPr>
            <p:cNvPr id="20" name="Rectangle 13"/>
            <p:cNvSpPr>
              <a:spLocks noChangeArrowheads="1"/>
            </p:cNvSpPr>
            <p:nvPr/>
          </p:nvSpPr>
          <p:spPr bwMode="auto">
            <a:xfrm>
              <a:off x="3563" y="430"/>
              <a:ext cx="824" cy="1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lang="en-US" altLang="zh-CN" sz="1800" b="1"/>
                <a:t>DRAM</a:t>
              </a:r>
            </a:p>
          </p:txBody>
        </p:sp>
        <p:sp>
          <p:nvSpPr>
            <p:cNvPr id="21" name="Line 14"/>
            <p:cNvSpPr>
              <a:spLocks noChangeShapeType="1"/>
            </p:cNvSpPr>
            <p:nvPr/>
          </p:nvSpPr>
          <p:spPr bwMode="auto">
            <a:xfrm>
              <a:off x="1268" y="344"/>
              <a:ext cx="40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Rectangle 15"/>
            <p:cNvSpPr>
              <a:spLocks noChangeArrowheads="1"/>
            </p:cNvSpPr>
            <p:nvPr/>
          </p:nvSpPr>
          <p:spPr bwMode="auto">
            <a:xfrm>
              <a:off x="2151" y="1766"/>
              <a:ext cx="258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endParaRPr lang="en-US" altLang="zh-CN" sz="2000" b="1" dirty="0"/>
            </a:p>
            <a:p>
              <a:pPr algn="ctr" eaLnBrk="1" hangingPunct="1"/>
              <a:r>
                <a:rPr lang="zh-CN" altLang="en-US" sz="2000" b="1" dirty="0"/>
                <a:t>高速缓存系统</a:t>
              </a:r>
              <a:endParaRPr lang="zh-CN" altLang="en-US" sz="2000" dirty="0"/>
            </a:p>
            <a:p>
              <a:pPr algn="ctr" eaLnBrk="1" hangingPunct="1"/>
              <a:endParaRPr lang="en-US" altLang="zh-CN" dirty="0"/>
            </a:p>
          </p:txBody>
        </p:sp>
        <p:sp>
          <p:nvSpPr>
            <p:cNvPr id="23" name="Line 16"/>
            <p:cNvSpPr>
              <a:spLocks noChangeShapeType="1"/>
            </p:cNvSpPr>
            <p:nvPr/>
          </p:nvSpPr>
          <p:spPr bwMode="auto">
            <a:xfrm>
              <a:off x="5329" y="344"/>
              <a:ext cx="0" cy="1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AutoShape 17"/>
            <p:cNvSpPr>
              <a:spLocks noChangeArrowheads="1"/>
            </p:cNvSpPr>
            <p:nvPr/>
          </p:nvSpPr>
          <p:spPr bwMode="auto">
            <a:xfrm>
              <a:off x="1091" y="775"/>
              <a:ext cx="353" cy="86"/>
            </a:xfrm>
            <a:prstGeom prst="leftRightArrow">
              <a:avLst>
                <a:gd name="adj1" fmla="val 50000"/>
                <a:gd name="adj2" fmla="val 82093"/>
              </a:avLst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Line 32"/>
            <p:cNvSpPr>
              <a:spLocks noChangeShapeType="1"/>
            </p:cNvSpPr>
            <p:nvPr/>
          </p:nvSpPr>
          <p:spPr bwMode="auto">
            <a:xfrm flipV="1">
              <a:off x="2857" y="1489"/>
              <a:ext cx="589" cy="0"/>
            </a:xfrm>
            <a:prstGeom prst="line">
              <a:avLst/>
            </a:prstGeom>
            <a:noFill/>
            <a:ln w="57150">
              <a:solidFill>
                <a:srgbClr val="0099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1797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4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  微型计算机的硬件组成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76786" y="887995"/>
            <a:ext cx="75953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 smtClean="0">
                <a:solidFill>
                  <a:srgbClr val="800000"/>
                </a:solidFill>
                <a:latin typeface="+mj-ea"/>
                <a:ea typeface="+mj-ea"/>
              </a:rPr>
              <a:t>  虚拟存储器</a:t>
            </a:r>
            <a:r>
              <a:rPr kumimoji="1" lang="zh-CN" altLang="en-US" sz="2400" b="1" dirty="0">
                <a:solidFill>
                  <a:srgbClr val="800000"/>
                </a:solidFill>
                <a:latin typeface="+mj-ea"/>
                <a:ea typeface="+mj-ea"/>
              </a:rPr>
              <a:t>技术    </a:t>
            </a:r>
            <a:r>
              <a:rPr kumimoji="1"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目的：扩大用户可用内存储器空间</a:t>
            </a:r>
            <a:r>
              <a:rPr kumimoji="1" lang="zh-CN" altLang="en-US" sz="2400" b="1" dirty="0">
                <a:solidFill>
                  <a:srgbClr val="800000"/>
                </a:solidFill>
                <a:latin typeface="+mj-ea"/>
                <a:ea typeface="+mj-ea"/>
              </a:rPr>
              <a:t> </a:t>
            </a:r>
            <a:endParaRPr lang="zh-CN" altLang="en-US" dirty="0">
              <a:latin typeface="+mj-ea"/>
              <a:ea typeface="+mj-ea"/>
            </a:endParaRPr>
          </a:p>
        </p:txBody>
      </p: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1258521" y="3155340"/>
            <a:ext cx="8153400" cy="3048000"/>
            <a:chOff x="466" y="2115"/>
            <a:chExt cx="5136" cy="1920"/>
          </a:xfrm>
        </p:grpSpPr>
        <p:sp>
          <p:nvSpPr>
            <p:cNvPr id="5" name="Rectangle 18"/>
            <p:cNvSpPr>
              <a:spLocks noChangeArrowheads="1"/>
            </p:cNvSpPr>
            <p:nvPr/>
          </p:nvSpPr>
          <p:spPr bwMode="auto">
            <a:xfrm>
              <a:off x="466" y="2499"/>
              <a:ext cx="480" cy="66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lang="en-US" altLang="zh-CN" sz="2000" b="1"/>
                <a:t>CPU</a:t>
              </a:r>
            </a:p>
          </p:txBody>
        </p:sp>
        <p:sp>
          <p:nvSpPr>
            <p:cNvPr id="6" name="Rectangle 19"/>
            <p:cNvSpPr>
              <a:spLocks noChangeArrowheads="1"/>
            </p:cNvSpPr>
            <p:nvPr/>
          </p:nvSpPr>
          <p:spPr bwMode="auto">
            <a:xfrm>
              <a:off x="1330" y="2499"/>
              <a:ext cx="2064" cy="864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endParaRPr lang="zh-CN" altLang="zh-CN" b="1">
                <a:solidFill>
                  <a:schemeClr val="bg1"/>
                </a:solidFill>
              </a:endParaRPr>
            </a:p>
          </p:txBody>
        </p:sp>
        <p:sp>
          <p:nvSpPr>
            <p:cNvPr id="7" name="Rectangle 20"/>
            <p:cNvSpPr>
              <a:spLocks noChangeArrowheads="1"/>
            </p:cNvSpPr>
            <p:nvPr/>
          </p:nvSpPr>
          <p:spPr bwMode="auto">
            <a:xfrm>
              <a:off x="2002" y="2643"/>
              <a:ext cx="1104" cy="6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lang="zh-CN" altLang="en-US" sz="2000" b="1">
                  <a:solidFill>
                    <a:schemeClr val="bg1"/>
                  </a:solidFill>
                </a:rPr>
                <a:t>物理主内存</a:t>
              </a:r>
            </a:p>
            <a:p>
              <a:pPr algn="ctr" eaLnBrk="1" hangingPunct="1"/>
              <a:endParaRPr lang="zh-CN" altLang="en-US" sz="2000" b="1">
                <a:solidFill>
                  <a:schemeClr val="bg1"/>
                </a:solidFill>
              </a:endParaRPr>
            </a:p>
            <a:p>
              <a:pPr algn="ctr" eaLnBrk="1" hangingPunct="1"/>
              <a:r>
                <a:rPr lang="zh-CN" altLang="en-US" sz="2000" b="1">
                  <a:solidFill>
                    <a:schemeClr val="bg1"/>
                  </a:solidFill>
                </a:rPr>
                <a:t>高速、小容量</a:t>
              </a:r>
            </a:p>
          </p:txBody>
        </p:sp>
        <p:sp>
          <p:nvSpPr>
            <p:cNvPr id="8" name="Rectangle 21"/>
            <p:cNvSpPr>
              <a:spLocks noChangeArrowheads="1"/>
            </p:cNvSpPr>
            <p:nvPr/>
          </p:nvSpPr>
          <p:spPr bwMode="auto">
            <a:xfrm>
              <a:off x="1748" y="3612"/>
              <a:ext cx="1467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lang="zh-CN" altLang="en-US" sz="2000" b="1">
                  <a:solidFill>
                    <a:schemeClr val="tx2"/>
                  </a:solidFill>
                  <a:latin typeface="宋体" charset="-122"/>
                </a:rPr>
                <a:t>存储管理机制</a:t>
              </a:r>
              <a:r>
                <a:rPr lang="zh-CN" altLang="en-US" sz="2000">
                  <a:solidFill>
                    <a:schemeClr val="tx2"/>
                  </a:solidFill>
                </a:rPr>
                <a:t>  </a:t>
              </a:r>
            </a:p>
          </p:txBody>
        </p:sp>
        <p:sp>
          <p:nvSpPr>
            <p:cNvPr id="9" name="Rectangle 22"/>
            <p:cNvSpPr>
              <a:spLocks noChangeArrowheads="1"/>
            </p:cNvSpPr>
            <p:nvPr/>
          </p:nvSpPr>
          <p:spPr bwMode="auto">
            <a:xfrm>
              <a:off x="3730" y="2499"/>
              <a:ext cx="1529" cy="1329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r>
                <a:rPr lang="zh-CN" altLang="en-US" b="1">
                  <a:solidFill>
                    <a:srgbClr val="0000FF"/>
                  </a:solidFill>
                </a:rPr>
                <a:t>外部存储器</a:t>
              </a:r>
              <a:endParaRPr lang="zh-CN" altLang="en-US">
                <a:solidFill>
                  <a:srgbClr val="0000FF"/>
                </a:solidFill>
              </a:endParaRPr>
            </a:p>
            <a:p>
              <a:pPr eaLnBrk="1" hangingPunct="1"/>
              <a:r>
                <a:rPr lang="zh-CN" altLang="en-US" b="1">
                  <a:solidFill>
                    <a:srgbClr val="0000FF"/>
                  </a:solidFill>
                </a:rPr>
                <a:t>低速、大容量</a:t>
              </a:r>
              <a:endParaRPr lang="zh-CN" altLang="en-US">
                <a:solidFill>
                  <a:srgbClr val="0000FF"/>
                </a:solidFill>
              </a:endParaRPr>
            </a:p>
            <a:p>
              <a:pPr eaLnBrk="1" hangingPunct="1"/>
              <a:r>
                <a:rPr lang="zh-CN" altLang="en-US" b="1">
                  <a:solidFill>
                    <a:srgbClr val="0000FF"/>
                  </a:solidFill>
                  <a:latin typeface="宋体" charset="-122"/>
                </a:rPr>
                <a:t>如：硬盘、光盘</a:t>
              </a:r>
              <a:r>
                <a:rPr lang="zh-CN" altLang="en-US"/>
                <a:t>  </a:t>
              </a:r>
            </a:p>
          </p:txBody>
        </p:sp>
        <p:sp>
          <p:nvSpPr>
            <p:cNvPr id="10" name="Line 23"/>
            <p:cNvSpPr>
              <a:spLocks noChangeShapeType="1"/>
            </p:cNvSpPr>
            <p:nvPr/>
          </p:nvSpPr>
          <p:spPr bwMode="auto">
            <a:xfrm>
              <a:off x="1138" y="2307"/>
              <a:ext cx="4416" cy="0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24"/>
            <p:cNvSpPr>
              <a:spLocks noChangeShapeType="1"/>
            </p:cNvSpPr>
            <p:nvPr/>
          </p:nvSpPr>
          <p:spPr bwMode="auto">
            <a:xfrm>
              <a:off x="5602" y="2307"/>
              <a:ext cx="0" cy="1680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AutoShape 25"/>
            <p:cNvSpPr>
              <a:spLocks noChangeArrowheads="1"/>
            </p:cNvSpPr>
            <p:nvPr/>
          </p:nvSpPr>
          <p:spPr bwMode="auto">
            <a:xfrm>
              <a:off x="946" y="2787"/>
              <a:ext cx="367" cy="111"/>
            </a:xfrm>
            <a:prstGeom prst="leftRightArrow">
              <a:avLst>
                <a:gd name="adj1" fmla="val 50000"/>
                <a:gd name="adj2" fmla="val 66126"/>
              </a:avLst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Rectangle 26"/>
            <p:cNvSpPr>
              <a:spLocks noChangeArrowheads="1"/>
            </p:cNvSpPr>
            <p:nvPr/>
          </p:nvSpPr>
          <p:spPr bwMode="auto">
            <a:xfrm>
              <a:off x="1330" y="2691"/>
              <a:ext cx="576" cy="33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lang="en-US" altLang="zh-CN" sz="2000" b="1">
                  <a:solidFill>
                    <a:schemeClr val="bg1"/>
                  </a:solidFill>
                </a:rPr>
                <a:t>Cache</a:t>
              </a:r>
            </a:p>
          </p:txBody>
        </p:sp>
        <p:sp>
          <p:nvSpPr>
            <p:cNvPr id="14" name="Line 27"/>
            <p:cNvSpPr>
              <a:spLocks noChangeShapeType="1"/>
            </p:cNvSpPr>
            <p:nvPr/>
          </p:nvSpPr>
          <p:spPr bwMode="auto">
            <a:xfrm>
              <a:off x="3215" y="3740"/>
              <a:ext cx="45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28"/>
            <p:cNvSpPr>
              <a:spLocks noChangeShapeType="1"/>
            </p:cNvSpPr>
            <p:nvPr/>
          </p:nvSpPr>
          <p:spPr bwMode="auto">
            <a:xfrm flipH="1" flipV="1">
              <a:off x="2478" y="3372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29"/>
            <p:cNvSpPr>
              <a:spLocks noChangeShapeType="1"/>
            </p:cNvSpPr>
            <p:nvPr/>
          </p:nvSpPr>
          <p:spPr bwMode="auto">
            <a:xfrm>
              <a:off x="1186" y="4035"/>
              <a:ext cx="4416" cy="0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30"/>
            <p:cNvSpPr>
              <a:spLocks noChangeShapeType="1"/>
            </p:cNvSpPr>
            <p:nvPr/>
          </p:nvSpPr>
          <p:spPr bwMode="auto">
            <a:xfrm>
              <a:off x="1138" y="2307"/>
              <a:ext cx="0" cy="1728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Rectangle 31"/>
            <p:cNvSpPr>
              <a:spLocks noChangeArrowheads="1"/>
            </p:cNvSpPr>
            <p:nvPr/>
          </p:nvSpPr>
          <p:spPr bwMode="auto">
            <a:xfrm>
              <a:off x="2386" y="2115"/>
              <a:ext cx="1872" cy="288"/>
            </a:xfrm>
            <a:prstGeom prst="rect">
              <a:avLst/>
            </a:prstGeom>
            <a:solidFill>
              <a:srgbClr val="00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lang="zh-CN" altLang="en-US" b="1">
                  <a:solidFill>
                    <a:schemeClr val="bg1"/>
                  </a:solidFill>
                  <a:latin typeface="宋体" charset="-122"/>
                </a:rPr>
                <a:t>虚拟主内存</a:t>
              </a:r>
              <a:r>
                <a:rPr lang="zh-CN" altLang="en-US"/>
                <a:t> </a:t>
              </a:r>
            </a:p>
          </p:txBody>
        </p:sp>
        <p:sp>
          <p:nvSpPr>
            <p:cNvPr id="19" name="AutoShape 33"/>
            <p:cNvSpPr>
              <a:spLocks noChangeArrowheads="1"/>
            </p:cNvSpPr>
            <p:nvPr/>
          </p:nvSpPr>
          <p:spPr bwMode="auto">
            <a:xfrm>
              <a:off x="3381" y="2931"/>
              <a:ext cx="363" cy="137"/>
            </a:xfrm>
            <a:prstGeom prst="leftRightArrow">
              <a:avLst>
                <a:gd name="adj1" fmla="val 50000"/>
                <a:gd name="adj2" fmla="val 5299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562708" y="1499089"/>
            <a:ext cx="106299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000" b="1" dirty="0">
                <a:latin typeface="宋体" charset="-122"/>
              </a:rPr>
              <a:t>虚拟存储器技术是一种通过</a:t>
            </a:r>
            <a:r>
              <a:rPr lang="zh-CN" altLang="en-US" sz="2000" b="1" dirty="0">
                <a:solidFill>
                  <a:srgbClr val="FF0000"/>
                </a:solidFill>
                <a:latin typeface="宋体" charset="-122"/>
              </a:rPr>
              <a:t>硬件和软件结合</a:t>
            </a:r>
            <a:r>
              <a:rPr lang="zh-CN" altLang="en-US" sz="2000" b="1" dirty="0">
                <a:latin typeface="宋体" charset="-122"/>
              </a:rPr>
              <a:t>扩大用户可用存储空间的技术。它在内存储器和外存储器（软盘、硬盘或光盘）之间增加一些的硬件和软件，使两者形成一个有机整体。</a:t>
            </a:r>
          </a:p>
        </p:txBody>
      </p:sp>
    </p:spTree>
    <p:extLst>
      <p:ext uri="{BB962C8B-B14F-4D97-AF65-F5344CB8AC3E}">
        <p14:creationId xmlns:p14="http://schemas.microsoft.com/office/powerpoint/2010/main" val="130969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  微型计算机的硬件组成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1698439" y="1705041"/>
            <a:ext cx="9261299" cy="445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/>
              <a:t>某处理器有</a:t>
            </a:r>
            <a:r>
              <a:rPr lang="en-US" altLang="zh-CN" sz="2400" dirty="0"/>
              <a:t>30</a:t>
            </a:r>
            <a:r>
              <a:rPr lang="zh-CN" altLang="zh-CN" sz="2400" dirty="0"/>
              <a:t>根地址线，可寻址地址空间为（</a:t>
            </a:r>
            <a:r>
              <a:rPr lang="en-US" altLang="zh-CN" sz="2400" dirty="0"/>
              <a:t>       </a:t>
            </a:r>
            <a:r>
              <a:rPr lang="zh-CN" altLang="zh-CN" sz="2400" dirty="0"/>
              <a:t>）。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A</a:t>
            </a:r>
            <a:r>
              <a:rPr lang="zh-CN" altLang="zh-CN" sz="2400" dirty="0"/>
              <a:t>．</a:t>
            </a:r>
            <a:r>
              <a:rPr lang="en-US" altLang="zh-CN" sz="2400" dirty="0"/>
              <a:t>16M				        B.256M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C</a:t>
            </a:r>
            <a:r>
              <a:rPr lang="zh-CN" altLang="zh-CN" sz="2400" dirty="0"/>
              <a:t>．</a:t>
            </a:r>
            <a:r>
              <a:rPr lang="en-US" altLang="zh-CN" sz="2400" dirty="0"/>
              <a:t>1G				        D.4G                                                                                                  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endParaRPr lang="en-US" altLang="zh-CN" sz="2400" dirty="0"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ym typeface="+mn-lt"/>
              </a:rPr>
              <a:t>ROM</a:t>
            </a:r>
            <a:r>
              <a:rPr lang="zh-CN" altLang="en-US" sz="2400" dirty="0">
                <a:sym typeface="+mn-lt"/>
              </a:rPr>
              <a:t>和</a:t>
            </a:r>
            <a:r>
              <a:rPr lang="en-US" altLang="zh-CN" sz="2400" dirty="0">
                <a:sym typeface="+mn-lt"/>
              </a:rPr>
              <a:t>RAM</a:t>
            </a:r>
            <a:r>
              <a:rPr lang="zh-CN" altLang="en-US" sz="2400" dirty="0">
                <a:sym typeface="+mn-lt"/>
              </a:rPr>
              <a:t>性能的主要区别即各自的应用领域如何？</a:t>
            </a:r>
            <a:endParaRPr lang="en-US" altLang="zh-CN" sz="2400" dirty="0"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lt"/>
              </a:rPr>
              <a:t>存储器涉及哪些引脚，读写过程是如何实现的？ </a:t>
            </a:r>
            <a:endParaRPr lang="en-US" altLang="zh-CN" sz="2400" dirty="0"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1136736" y="1156394"/>
            <a:ext cx="4010030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defTabSz="914354">
              <a:lnSpc>
                <a:spcPct val="90000"/>
              </a:lnSpc>
              <a:spcBef>
                <a:spcPct val="0"/>
              </a:spcBef>
            </a:pPr>
            <a:r>
              <a:rPr lang="zh-CN" altLang="en-US" sz="3200" b="1" dirty="0">
                <a:solidFill>
                  <a:srgbClr val="CC3300"/>
                </a:solidFill>
                <a:latin typeface="+mj-lt"/>
                <a:ea typeface="+mj-ea"/>
                <a:cs typeface="+mj-cs"/>
                <a:sym typeface="+mn-lt"/>
              </a:rPr>
              <a:t>问题与思考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644D0FE-F3A0-4C11-907F-A91CDAB744E4}"/>
              </a:ext>
            </a:extLst>
          </p:cNvPr>
          <p:cNvSpPr txBox="1"/>
          <p:nvPr/>
        </p:nvSpPr>
        <p:spPr>
          <a:xfrm>
            <a:off x="1136736" y="4782700"/>
            <a:ext cx="4010030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defTabSz="914354">
              <a:lnSpc>
                <a:spcPct val="90000"/>
              </a:lnSpc>
              <a:spcBef>
                <a:spcPct val="0"/>
              </a:spcBef>
            </a:pPr>
            <a:r>
              <a:rPr lang="zh-CN" altLang="en-US" sz="3200" b="1" dirty="0">
                <a:solidFill>
                  <a:srgbClr val="CC3300"/>
                </a:solidFill>
                <a:latin typeface="+mj-lt"/>
                <a:ea typeface="+mj-ea"/>
                <a:cs typeface="+mj-cs"/>
                <a:sym typeface="+mn-lt"/>
              </a:rPr>
              <a:t>讨论与交流</a:t>
            </a:r>
          </a:p>
        </p:txBody>
      </p:sp>
    </p:spTree>
    <p:extLst>
      <p:ext uri="{BB962C8B-B14F-4D97-AF65-F5344CB8AC3E}">
        <p14:creationId xmlns:p14="http://schemas.microsoft.com/office/powerpoint/2010/main" val="3131980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1517891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dirty="0"/>
              <a:t>某处理器有</a:t>
            </a:r>
            <a:r>
              <a:rPr lang="en-US" altLang="zh-CN" sz="2800" dirty="0"/>
              <a:t>30</a:t>
            </a:r>
            <a:r>
              <a:rPr lang="zh-CN" altLang="zh-CN" sz="2800" dirty="0"/>
              <a:t>根地址线，可寻址地址空间为（</a:t>
            </a:r>
            <a:r>
              <a:rPr lang="en-US" altLang="zh-CN" sz="2800" dirty="0"/>
              <a:t>       </a:t>
            </a:r>
            <a:r>
              <a:rPr lang="zh-CN" altLang="zh-CN" sz="2800" dirty="0"/>
              <a:t>）。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159000" y="2152891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/>
              <a:t>16M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159000" y="3010141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/>
              <a:t>256M</a:t>
            </a:r>
            <a:endParaRPr lang="zh-CN" altLang="zh-CN" sz="2800" dirty="0"/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159000" y="3867391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/>
              <a:t>1G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159000" y="4724641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 smtClean="0"/>
              <a:t>4G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292225" y="2217184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292225" y="3074434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292225" y="3931684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292225" y="4788934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636000" y="5581891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2000" b="1" dirty="0" smtClean="0">
                <a:solidFill>
                  <a:srgbClr val="FFFFFF"/>
                </a:solidFill>
                <a:latin typeface="+mn-ea"/>
                <a:sym typeface="Microsoft Yahei" panose="020B0503020204020204" pitchFamily="34" charset="-122"/>
              </a:rPr>
              <a:t>提交</a:t>
            </a:r>
            <a:endParaRPr lang="zh-CN" altLang="en-US" sz="2000" b="1" dirty="0">
              <a:solidFill>
                <a:srgbClr val="FFFFFF"/>
              </a:solidFill>
              <a:latin typeface="+mn-ea"/>
              <a:sym typeface="Microsoft Yahei" panose="020B0503020204020204" pitchFamily="34" charset="-122"/>
            </a:endParaRPr>
          </a:p>
        </p:txBody>
      </p:sp>
      <p:sp>
        <p:nvSpPr>
          <p:cNvPr id="19" name="矩形 18"/>
          <p:cNvSpPr/>
          <p:nvPr>
            <p:custDataLst>
              <p:tags r:id="rId12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" name="文本框 23"/>
          <p:cNvSpPr txBox="1"/>
          <p:nvPr>
            <p:custDataLst>
              <p:tags r:id="rId13"/>
            </p:custDataLst>
          </p:nvPr>
        </p:nvSpPr>
        <p:spPr>
          <a:xfrm>
            <a:off x="12661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14"/>
            </p:custDataLst>
          </p:nvPr>
        </p:nvSpPr>
        <p:spPr>
          <a:xfrm>
            <a:off x="12827000" y="1270000"/>
            <a:ext cx="3332480" cy="40011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lvl="0"/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2^30=1G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3" name="组合 22"/>
          <p:cNvGrpSpPr/>
          <p:nvPr>
            <p:custDataLst>
              <p:tags r:id="rId15"/>
            </p:custDataLst>
          </p:nvPr>
        </p:nvGrpSpPr>
        <p:grpSpPr>
          <a:xfrm>
            <a:off x="12585700" y="0"/>
            <a:ext cx="3815080" cy="647700"/>
            <a:chOff x="12585700" y="0"/>
            <a:chExt cx="3815080" cy="647700"/>
          </a:xfrm>
        </p:grpSpPr>
        <p:sp>
          <p:nvSpPr>
            <p:cNvPr id="20" name="RemarkBack"/>
            <p:cNvSpPr/>
            <p:nvPr>
              <p:custDataLst>
                <p:tags r:id="rId22"/>
              </p:custDataLst>
            </p:nvPr>
          </p:nvSpPr>
          <p:spPr>
            <a:xfrm>
              <a:off x="12585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RemarkBlock"/>
            <p:cNvSpPr/>
            <p:nvPr>
              <p:custDataLst>
                <p:tags r:id="rId23"/>
              </p:custDataLst>
            </p:nvPr>
          </p:nvSpPr>
          <p:spPr>
            <a:xfrm>
              <a:off x="12585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RemarkTitleText"/>
            <p:cNvSpPr txBox="1"/>
            <p:nvPr>
              <p:custDataLst>
                <p:tags r:id="rId24"/>
              </p:custDataLst>
            </p:nvPr>
          </p:nvSpPr>
          <p:spPr>
            <a:xfrm>
              <a:off x="12827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16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2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21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7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13031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3C326D0B-7DAB-41B6-8030-2E4A18CC949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3" name="think-cell Slide" r:id="rId5" imgW="360" imgH="360" progId="">
                  <p:embed/>
                </p:oleObj>
              </mc:Choice>
              <mc:Fallback>
                <p:oleObj name="think-cell Slide" r:id="rId5" imgW="360" imgH="360" progId="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id="{3C326D0B-7DAB-41B6-8030-2E4A18CC94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id="{EC933494-1B63-4A32-964F-D05236799BA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cs typeface="+mn-ea"/>
              <a:sym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978949" y="2023969"/>
            <a:ext cx="6041284" cy="1058852"/>
          </a:xfrm>
        </p:spPr>
        <p:txBody>
          <a:bodyPr>
            <a:normAutofit/>
          </a:bodyPr>
          <a:lstStyle/>
          <a:p>
            <a:r>
              <a:rPr lang="zh-CN" altLang="en-US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lt"/>
                <a:ea typeface="+mn-ea"/>
                <a:cs typeface="+mn-ea"/>
                <a:sym typeface="+mn-lt"/>
              </a:rPr>
              <a:t>单片机原理及其应用</a:t>
            </a: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3AE36C13-51F4-4440-8DB2-2A4E128FFD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6065" y="3993091"/>
            <a:ext cx="3262884" cy="548173"/>
          </a:xfr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r>
              <a:rPr lang="zh-CN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重庆大学   电气工程学院</a:t>
            </a:r>
          </a:p>
        </p:txBody>
      </p:sp>
      <p:sp>
        <p:nvSpPr>
          <p:cNvPr id="5" name="矩形 4"/>
          <p:cNvSpPr/>
          <p:nvPr/>
        </p:nvSpPr>
        <p:spPr>
          <a:xfrm>
            <a:off x="622577" y="1378227"/>
            <a:ext cx="69500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800" dirty="0">
                <a:solidFill>
                  <a:schemeClr val="bg1"/>
                </a:solidFill>
                <a:cs typeface="+mn-ea"/>
                <a:sym typeface="+mn-lt"/>
              </a:rPr>
              <a:t>ARM Cortex-M3 </a:t>
            </a:r>
            <a:r>
              <a:rPr lang="zh-CN" altLang="zh-CN" sz="2800" b="1" kern="1800" dirty="0">
                <a:solidFill>
                  <a:schemeClr val="bg1"/>
                </a:solidFill>
                <a:cs typeface="+mn-ea"/>
                <a:sym typeface="+mn-lt"/>
              </a:rPr>
              <a:t>的</a:t>
            </a:r>
            <a:r>
              <a:rPr lang="en-US" altLang="zh-CN" sz="2800" b="1" kern="1800" dirty="0">
                <a:solidFill>
                  <a:schemeClr val="bg1"/>
                </a:solidFill>
                <a:cs typeface="+mn-ea"/>
                <a:sym typeface="+mn-lt"/>
              </a:rPr>
              <a:t>STM32</a:t>
            </a:r>
            <a:r>
              <a:rPr lang="zh-CN" altLang="zh-CN" sz="2800" b="1" kern="1800" dirty="0">
                <a:solidFill>
                  <a:schemeClr val="bg1"/>
                </a:solidFill>
                <a:cs typeface="+mn-ea"/>
                <a:sym typeface="+mn-lt"/>
              </a:rPr>
              <a:t>系列</a:t>
            </a:r>
            <a:r>
              <a:rPr lang="zh-CN" altLang="zh-CN" sz="4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cs typeface="+mn-ea"/>
                <a:sym typeface="+mn-lt"/>
              </a:rPr>
              <a:t>——</a:t>
            </a:r>
            <a:endParaRPr lang="zh-CN" altLang="en-US" sz="4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53317" y="3205343"/>
            <a:ext cx="68169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2E6E0"/>
                </a:solidFill>
                <a:cs typeface="+mn-ea"/>
                <a:sym typeface="+mn-lt"/>
              </a:rPr>
              <a:t>寄存器阵列</a:t>
            </a:r>
            <a:endParaRPr lang="en-US" altLang="zh-CN" sz="2800" b="1" dirty="0">
              <a:solidFill>
                <a:srgbClr val="42E6E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67374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6C3B0CB-6491-41BC-A7FF-4592B2339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328" y="887989"/>
            <a:ext cx="7077075" cy="524827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  微型计算机的硬件组成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627797" y="2272825"/>
            <a:ext cx="35792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cs typeface="+mn-ea"/>
                <a:sym typeface="+mn-lt"/>
              </a:rPr>
              <a:t>是微型计算机的运算和控制指挥中心，由</a:t>
            </a:r>
            <a:r>
              <a:rPr lang="zh-CN" altLang="en-US" sz="2400" b="1" dirty="0">
                <a:cs typeface="+mn-ea"/>
                <a:sym typeface="+mn-lt"/>
              </a:rPr>
              <a:t>运算器</a:t>
            </a:r>
            <a:r>
              <a:rPr lang="zh-CN" altLang="en-US" sz="2400" dirty="0">
                <a:cs typeface="+mn-ea"/>
                <a:sym typeface="+mn-lt"/>
              </a:rPr>
              <a:t>、</a:t>
            </a:r>
            <a:r>
              <a:rPr lang="zh-CN" altLang="en-US" sz="2400" b="1" dirty="0">
                <a:cs typeface="+mn-ea"/>
                <a:sym typeface="+mn-lt"/>
              </a:rPr>
              <a:t>控制器</a:t>
            </a:r>
            <a:r>
              <a:rPr lang="zh-CN" altLang="en-US" sz="2400" dirty="0">
                <a:cs typeface="+mn-ea"/>
                <a:sym typeface="+mn-lt"/>
              </a:rPr>
              <a:t>和</a:t>
            </a:r>
            <a:r>
              <a:rPr lang="zh-CN" altLang="en-US" sz="2400" b="1" dirty="0">
                <a:cs typeface="+mn-ea"/>
                <a:sym typeface="+mn-lt"/>
              </a:rPr>
              <a:t>寄存器阵列</a:t>
            </a:r>
            <a:r>
              <a:rPr lang="zh-CN" altLang="en-US" sz="2400" dirty="0">
                <a:cs typeface="+mn-ea"/>
                <a:sym typeface="+mn-lt"/>
              </a:rPr>
              <a:t>三个主要部件组成</a:t>
            </a:r>
            <a:endParaRPr lang="en-US" altLang="zh-CN" sz="2400" dirty="0">
              <a:cs typeface="+mn-ea"/>
              <a:sym typeface="+mn-lt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1248284" y="1564182"/>
            <a:ext cx="2338251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defTabSz="914354">
              <a:lnSpc>
                <a:spcPct val="90000"/>
              </a:lnSpc>
              <a:spcBef>
                <a:spcPct val="0"/>
              </a:spcBef>
            </a:pPr>
            <a:r>
              <a:rPr lang="zh-CN" altLang="en-US" sz="3200" b="1" dirty="0">
                <a:solidFill>
                  <a:srgbClr val="CC3300"/>
                </a:solidFill>
                <a:cs typeface="+mn-ea"/>
                <a:sym typeface="+mn-lt"/>
              </a:rPr>
              <a:t>微处理器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BA1C99F-34D8-4933-88EA-FEE4A8B10E5D}"/>
              </a:ext>
            </a:extLst>
          </p:cNvPr>
          <p:cNvSpPr txBox="1"/>
          <p:nvPr/>
        </p:nvSpPr>
        <p:spPr>
          <a:xfrm>
            <a:off x="2522089" y="5576408"/>
            <a:ext cx="2336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7675" indent="-447675" algn="ctr"/>
            <a:r>
              <a:rPr lang="zh-CN" altLang="en-US" sz="2400" b="1" dirty="0">
                <a:solidFill>
                  <a:srgbClr val="180D5B"/>
                </a:solidFill>
                <a:cs typeface="+mn-ea"/>
                <a:sym typeface="+mn-lt"/>
              </a:rPr>
              <a:t>微处理内部结构</a:t>
            </a:r>
            <a:endParaRPr lang="en-US" altLang="zh-CN" sz="2400" b="1" dirty="0">
              <a:solidFill>
                <a:srgbClr val="180D5B"/>
              </a:solidFill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862439" y="3275860"/>
            <a:ext cx="2077375" cy="1325012"/>
          </a:xfrm>
          <a:prstGeom prst="rect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227076" y="5459766"/>
            <a:ext cx="1435636" cy="426129"/>
          </a:xfrm>
          <a:prstGeom prst="rect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50548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  微型计算机的硬件组成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1223088" y="2787170"/>
            <a:ext cx="100714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cs typeface="+mn-ea"/>
                <a:sym typeface="+mn-lt"/>
              </a:rPr>
              <a:t>执行算术运算和逻辑运算的部件，由</a:t>
            </a:r>
            <a:r>
              <a:rPr lang="zh-CN" altLang="en-US" sz="2400" dirty="0">
                <a:solidFill>
                  <a:srgbClr val="FF0000"/>
                </a:solidFill>
                <a:cs typeface="+mn-ea"/>
                <a:sym typeface="+mn-lt"/>
              </a:rPr>
              <a:t>累加器</a:t>
            </a:r>
            <a:r>
              <a:rPr lang="zh-CN" altLang="en-US" sz="2400" dirty="0">
                <a:cs typeface="+mn-ea"/>
                <a:sym typeface="+mn-lt"/>
              </a:rPr>
              <a:t>（</a:t>
            </a:r>
            <a:r>
              <a:rPr lang="en-US" altLang="zh-CN" sz="2400" dirty="0">
                <a:cs typeface="+mn-ea"/>
                <a:sym typeface="+mn-lt"/>
              </a:rPr>
              <a:t>Accumulator</a:t>
            </a:r>
            <a:r>
              <a:rPr lang="zh-CN" altLang="en-US" sz="2400" dirty="0">
                <a:cs typeface="+mn-ea"/>
                <a:sym typeface="+mn-lt"/>
              </a:rPr>
              <a:t>，</a:t>
            </a:r>
            <a:r>
              <a:rPr lang="en-US" altLang="zh-CN" sz="2400" dirty="0">
                <a:cs typeface="+mn-ea"/>
                <a:sym typeface="+mn-lt"/>
              </a:rPr>
              <a:t>A</a:t>
            </a:r>
            <a:r>
              <a:rPr lang="zh-CN" altLang="en-US" sz="2400" dirty="0">
                <a:cs typeface="+mn-ea"/>
                <a:sym typeface="+mn-lt"/>
              </a:rPr>
              <a:t>）、</a:t>
            </a:r>
            <a:r>
              <a:rPr lang="zh-CN" altLang="en-US" sz="2400" dirty="0">
                <a:solidFill>
                  <a:srgbClr val="FF0000"/>
                </a:solidFill>
                <a:cs typeface="+mn-ea"/>
                <a:sym typeface="+mn-lt"/>
              </a:rPr>
              <a:t>暂存器</a:t>
            </a:r>
            <a:r>
              <a:rPr lang="zh-CN" altLang="en-US" sz="2400" dirty="0">
                <a:cs typeface="+mn-ea"/>
                <a:sym typeface="+mn-lt"/>
              </a:rPr>
              <a:t>（</a:t>
            </a:r>
            <a:r>
              <a:rPr lang="en-US" altLang="zh-CN" sz="2400" dirty="0">
                <a:cs typeface="+mn-ea"/>
                <a:sym typeface="+mn-lt"/>
              </a:rPr>
              <a:t>Temporary</a:t>
            </a:r>
            <a:r>
              <a:rPr lang="zh-CN" altLang="en-US" sz="2400" dirty="0">
                <a:cs typeface="+mn-ea"/>
                <a:sym typeface="+mn-lt"/>
              </a:rPr>
              <a:t>，</a:t>
            </a:r>
            <a:r>
              <a:rPr lang="en-US" altLang="zh-CN" sz="2400" dirty="0">
                <a:cs typeface="+mn-ea"/>
                <a:sym typeface="+mn-lt"/>
              </a:rPr>
              <a:t>TMP</a:t>
            </a:r>
            <a:r>
              <a:rPr lang="zh-CN" altLang="en-US" sz="2400" dirty="0">
                <a:cs typeface="+mn-ea"/>
                <a:sym typeface="+mn-lt"/>
              </a:rPr>
              <a:t>）、</a:t>
            </a:r>
            <a:r>
              <a:rPr lang="zh-CN" altLang="en-US" sz="2400" dirty="0">
                <a:solidFill>
                  <a:srgbClr val="FF0000"/>
                </a:solidFill>
                <a:cs typeface="+mn-ea"/>
                <a:sym typeface="+mn-lt"/>
              </a:rPr>
              <a:t>算术逻辑单元</a:t>
            </a:r>
            <a:r>
              <a:rPr lang="zh-CN" altLang="en-US" sz="2400" dirty="0">
                <a:cs typeface="+mn-ea"/>
                <a:sym typeface="+mn-lt"/>
              </a:rPr>
              <a:t>（</a:t>
            </a:r>
            <a:r>
              <a:rPr lang="en-US" altLang="zh-CN" sz="2400" dirty="0" err="1">
                <a:cs typeface="+mn-ea"/>
                <a:sym typeface="+mn-lt"/>
              </a:rPr>
              <a:t>Arithmatic</a:t>
            </a:r>
            <a:r>
              <a:rPr lang="en-US" altLang="zh-CN" sz="2400" dirty="0">
                <a:cs typeface="+mn-ea"/>
                <a:sym typeface="+mn-lt"/>
              </a:rPr>
              <a:t> Logic Unit</a:t>
            </a:r>
            <a:r>
              <a:rPr lang="zh-CN" altLang="en-US" sz="2400" dirty="0">
                <a:cs typeface="+mn-ea"/>
                <a:sym typeface="+mn-lt"/>
              </a:rPr>
              <a:t>，</a:t>
            </a:r>
            <a:r>
              <a:rPr lang="en-US" altLang="zh-CN" sz="2400" dirty="0">
                <a:cs typeface="+mn-ea"/>
                <a:sym typeface="+mn-lt"/>
              </a:rPr>
              <a:t>ALU</a:t>
            </a:r>
            <a:r>
              <a:rPr lang="zh-CN" altLang="en-US" sz="2400" dirty="0">
                <a:cs typeface="+mn-ea"/>
                <a:sym typeface="+mn-lt"/>
              </a:rPr>
              <a:t>）、</a:t>
            </a:r>
            <a:r>
              <a:rPr lang="zh-CN" altLang="en-US" sz="2400" dirty="0">
                <a:solidFill>
                  <a:srgbClr val="FF0000"/>
                </a:solidFill>
                <a:cs typeface="+mn-ea"/>
                <a:sym typeface="+mn-lt"/>
              </a:rPr>
              <a:t>标志寄存器</a:t>
            </a:r>
            <a:r>
              <a:rPr lang="zh-CN" altLang="en-US" sz="2400" dirty="0">
                <a:cs typeface="+mn-ea"/>
                <a:sym typeface="+mn-lt"/>
              </a:rPr>
              <a:t>（</a:t>
            </a:r>
            <a:r>
              <a:rPr lang="en-US" altLang="zh-CN" sz="2400" dirty="0">
                <a:cs typeface="+mn-ea"/>
                <a:sym typeface="+mn-lt"/>
              </a:rPr>
              <a:t>Flag Registers</a:t>
            </a:r>
            <a:r>
              <a:rPr lang="zh-CN" altLang="en-US" sz="2400" dirty="0">
                <a:cs typeface="+mn-ea"/>
                <a:sym typeface="+mn-lt"/>
              </a:rPr>
              <a:t>，</a:t>
            </a:r>
            <a:r>
              <a:rPr lang="en-US" altLang="zh-CN" sz="2400" dirty="0">
                <a:cs typeface="+mn-ea"/>
                <a:sym typeface="+mn-lt"/>
              </a:rPr>
              <a:t>F</a:t>
            </a:r>
            <a:r>
              <a:rPr lang="zh-CN" altLang="en-US" sz="2400" dirty="0">
                <a:cs typeface="+mn-ea"/>
                <a:sym typeface="+mn-lt"/>
              </a:rPr>
              <a:t>）和一些</a:t>
            </a:r>
            <a:r>
              <a:rPr lang="zh-CN" altLang="en-US" sz="2400" dirty="0">
                <a:solidFill>
                  <a:srgbClr val="FF0000"/>
                </a:solidFill>
                <a:cs typeface="+mn-ea"/>
                <a:sym typeface="+mn-lt"/>
              </a:rPr>
              <a:t>逻辑电路</a:t>
            </a:r>
            <a:r>
              <a:rPr lang="zh-CN" altLang="en-US" sz="2400" dirty="0">
                <a:cs typeface="+mn-ea"/>
                <a:sym typeface="+mn-lt"/>
              </a:rPr>
              <a:t>组成。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1223088" y="1986487"/>
            <a:ext cx="2338251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marL="514350" indent="-514350" defTabSz="914354">
              <a:lnSpc>
                <a:spcPct val="9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zh-CN" altLang="en-US" sz="3200" b="1" dirty="0">
                <a:solidFill>
                  <a:srgbClr val="CC3300"/>
                </a:solidFill>
                <a:cs typeface="+mn-ea"/>
                <a:sym typeface="+mn-lt"/>
              </a:rPr>
              <a:t>运算器</a:t>
            </a:r>
          </a:p>
        </p:txBody>
      </p:sp>
    </p:spTree>
    <p:extLst>
      <p:ext uri="{BB962C8B-B14F-4D97-AF65-F5344CB8AC3E}">
        <p14:creationId xmlns:p14="http://schemas.microsoft.com/office/powerpoint/2010/main" val="2513043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  微型计算机的硬件组成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620950" y="3971991"/>
            <a:ext cx="109500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cs typeface="+mn-ea"/>
                <a:sym typeface="+mn-lt"/>
              </a:rPr>
              <a:t>控制器是指令执行部件，包括</a:t>
            </a:r>
            <a:r>
              <a:rPr lang="zh-CN" altLang="en-US" sz="2400" dirty="0">
                <a:solidFill>
                  <a:srgbClr val="FF0000"/>
                </a:solidFill>
                <a:cs typeface="+mn-ea"/>
                <a:sym typeface="+mn-lt"/>
              </a:rPr>
              <a:t>取指令</a:t>
            </a:r>
            <a:r>
              <a:rPr lang="zh-CN" altLang="en-US" sz="2400" dirty="0">
                <a:cs typeface="+mn-ea"/>
                <a:sym typeface="+mn-lt"/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  <a:cs typeface="+mn-ea"/>
                <a:sym typeface="+mn-lt"/>
              </a:rPr>
              <a:t>分析指令</a:t>
            </a:r>
            <a:r>
              <a:rPr lang="zh-CN" altLang="en-US" sz="2400" dirty="0">
                <a:cs typeface="+mn-ea"/>
                <a:sym typeface="+mn-lt"/>
              </a:rPr>
              <a:t>（指令译码）和</a:t>
            </a:r>
            <a:r>
              <a:rPr lang="zh-CN" altLang="en-US" sz="2400" dirty="0">
                <a:solidFill>
                  <a:srgbClr val="FF0000"/>
                </a:solidFill>
                <a:cs typeface="+mn-ea"/>
                <a:sym typeface="+mn-lt"/>
              </a:rPr>
              <a:t>执行指令</a:t>
            </a:r>
            <a:r>
              <a:rPr lang="zh-CN" altLang="en-US" sz="2400" dirty="0">
                <a:cs typeface="+mn-ea"/>
                <a:sym typeface="+mn-lt"/>
              </a:rPr>
              <a:t>，由</a:t>
            </a:r>
            <a:r>
              <a:rPr lang="zh-CN" altLang="en-US" sz="2400" dirty="0">
                <a:solidFill>
                  <a:srgbClr val="FF0000"/>
                </a:solidFill>
                <a:cs typeface="+mn-ea"/>
                <a:sym typeface="+mn-lt"/>
              </a:rPr>
              <a:t>指令寄存器</a:t>
            </a:r>
            <a:r>
              <a:rPr lang="zh-CN" altLang="en-US" sz="2400" dirty="0">
                <a:cs typeface="+mn-ea"/>
                <a:sym typeface="+mn-lt"/>
              </a:rPr>
              <a:t>（</a:t>
            </a:r>
            <a:r>
              <a:rPr lang="en-US" altLang="zh-CN" sz="2400" dirty="0">
                <a:cs typeface="+mn-ea"/>
                <a:sym typeface="+mn-lt"/>
              </a:rPr>
              <a:t>Instruction Register</a:t>
            </a:r>
            <a:r>
              <a:rPr lang="zh-CN" altLang="en-US" sz="2400" dirty="0">
                <a:cs typeface="+mn-ea"/>
                <a:sym typeface="+mn-lt"/>
              </a:rPr>
              <a:t>，</a:t>
            </a:r>
            <a:r>
              <a:rPr lang="en-US" altLang="zh-CN" sz="2400" dirty="0">
                <a:cs typeface="+mn-ea"/>
                <a:sym typeface="+mn-lt"/>
              </a:rPr>
              <a:t>IR</a:t>
            </a:r>
            <a:r>
              <a:rPr lang="zh-CN" altLang="en-US" sz="2400" dirty="0">
                <a:cs typeface="+mn-ea"/>
                <a:sym typeface="+mn-lt"/>
              </a:rPr>
              <a:t>）、</a:t>
            </a:r>
            <a:r>
              <a:rPr lang="zh-CN" altLang="en-US" sz="2400" dirty="0">
                <a:solidFill>
                  <a:srgbClr val="FF0000"/>
                </a:solidFill>
                <a:cs typeface="+mn-ea"/>
                <a:sym typeface="+mn-lt"/>
              </a:rPr>
              <a:t>指令译码器</a:t>
            </a:r>
            <a:r>
              <a:rPr lang="zh-CN" altLang="en-US" sz="2400" dirty="0">
                <a:cs typeface="+mn-ea"/>
                <a:sym typeface="+mn-lt"/>
              </a:rPr>
              <a:t>（</a:t>
            </a:r>
            <a:r>
              <a:rPr lang="en-US" altLang="zh-CN" sz="2400" dirty="0">
                <a:cs typeface="+mn-ea"/>
                <a:sym typeface="+mn-lt"/>
              </a:rPr>
              <a:t>Instruction Decoder</a:t>
            </a:r>
            <a:r>
              <a:rPr lang="zh-CN" altLang="en-US" sz="2400" dirty="0">
                <a:cs typeface="+mn-ea"/>
                <a:sym typeface="+mn-lt"/>
              </a:rPr>
              <a:t>，</a:t>
            </a:r>
            <a:r>
              <a:rPr lang="en-US" altLang="zh-CN" sz="2400" dirty="0">
                <a:cs typeface="+mn-ea"/>
                <a:sym typeface="+mn-lt"/>
              </a:rPr>
              <a:t>ID</a:t>
            </a:r>
            <a:r>
              <a:rPr lang="zh-CN" altLang="en-US" sz="2400" dirty="0">
                <a:cs typeface="+mn-ea"/>
                <a:sym typeface="+mn-lt"/>
              </a:rPr>
              <a:t>）和</a:t>
            </a:r>
            <a:r>
              <a:rPr lang="zh-CN" altLang="en-US" sz="2400" dirty="0">
                <a:solidFill>
                  <a:srgbClr val="FF0000"/>
                </a:solidFill>
                <a:cs typeface="+mn-ea"/>
                <a:sym typeface="+mn-lt"/>
              </a:rPr>
              <a:t>定时控制电路</a:t>
            </a:r>
            <a:r>
              <a:rPr lang="zh-CN" altLang="en-US" sz="2400" dirty="0">
                <a:cs typeface="+mn-ea"/>
                <a:sym typeface="+mn-lt"/>
              </a:rPr>
              <a:t>（</a:t>
            </a:r>
            <a:r>
              <a:rPr lang="en-US" altLang="zh-CN" sz="2400" dirty="0">
                <a:cs typeface="+mn-ea"/>
                <a:sym typeface="+mn-lt"/>
              </a:rPr>
              <a:t>Timing and Control</a:t>
            </a:r>
            <a:r>
              <a:rPr lang="zh-CN" altLang="en-US" sz="2400" dirty="0">
                <a:cs typeface="+mn-ea"/>
                <a:sym typeface="+mn-lt"/>
              </a:rPr>
              <a:t>）等组成。计算机的所有操作都是在控制器的控制下完成的。</a:t>
            </a:r>
            <a:endParaRPr lang="en-US" altLang="zh-CN" sz="2400" dirty="0">
              <a:cs typeface="+mn-ea"/>
              <a:sym typeface="+mn-lt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800457" y="1805412"/>
            <a:ext cx="2873562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marL="514350" indent="-514350" defTabSz="914354">
              <a:lnSpc>
                <a:spcPct val="90000"/>
              </a:lnSpc>
              <a:spcBef>
                <a:spcPct val="0"/>
              </a:spcBef>
              <a:buFont typeface="+mj-ea"/>
              <a:buAutoNum type="circleNumDbPlain" startAt="2"/>
            </a:pPr>
            <a:r>
              <a:rPr lang="zh-CN" altLang="en-US" sz="3200" b="1" dirty="0">
                <a:solidFill>
                  <a:srgbClr val="CC3300"/>
                </a:solidFill>
                <a:cs typeface="+mn-ea"/>
                <a:sym typeface="+mn-lt"/>
              </a:rPr>
              <a:t>控制器</a:t>
            </a:r>
          </a:p>
        </p:txBody>
      </p: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4689832" y="947804"/>
            <a:ext cx="7226300" cy="2940050"/>
            <a:chOff x="0" y="0"/>
            <a:chExt cx="4552" cy="1852"/>
          </a:xfrm>
        </p:grpSpPr>
        <p:sp>
          <p:nvSpPr>
            <p:cNvPr id="7" name="AutoShape 6"/>
            <p:cNvSpPr>
              <a:spLocks noChangeArrowheads="1"/>
            </p:cNvSpPr>
            <p:nvPr/>
          </p:nvSpPr>
          <p:spPr bwMode="auto">
            <a:xfrm>
              <a:off x="0" y="272"/>
              <a:ext cx="1225" cy="1580"/>
            </a:xfrm>
            <a:prstGeom prst="flowChartDocumen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46" y="0"/>
              <a:ext cx="45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>
                  <a:solidFill>
                    <a:srgbClr val="D60093"/>
                  </a:solidFill>
                  <a:cs typeface="+mn-ea"/>
                  <a:sym typeface="+mn-lt"/>
                </a:rPr>
                <a:t>程序</a:t>
              </a: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137" y="317"/>
              <a:ext cx="907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CN" altLang="en-US" sz="1800" b="1" dirty="0">
                  <a:solidFill>
                    <a:srgbClr val="D60093"/>
                  </a:solidFill>
                  <a:cs typeface="+mn-ea"/>
                  <a:sym typeface="+mn-lt"/>
                </a:rPr>
                <a:t>指令</a:t>
              </a:r>
              <a:r>
                <a:rPr lang="en-US" altLang="zh-CN" sz="1800" b="1" dirty="0">
                  <a:solidFill>
                    <a:srgbClr val="D60093"/>
                  </a:solidFill>
                  <a:cs typeface="+mn-ea"/>
                  <a:sym typeface="+mn-lt"/>
                </a:rPr>
                <a:t>1</a:t>
              </a: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137" y="589"/>
              <a:ext cx="907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CN" altLang="en-US" sz="1800" b="1">
                  <a:solidFill>
                    <a:srgbClr val="D60093"/>
                  </a:solidFill>
                  <a:cs typeface="+mn-ea"/>
                  <a:sym typeface="+mn-lt"/>
                </a:rPr>
                <a:t>指令</a:t>
              </a:r>
              <a:r>
                <a:rPr lang="en-US" altLang="zh-CN" sz="1800" b="1">
                  <a:solidFill>
                    <a:srgbClr val="D60093"/>
                  </a:solidFill>
                  <a:cs typeface="+mn-ea"/>
                  <a:sym typeface="+mn-lt"/>
                </a:rPr>
                <a:t>2</a:t>
              </a: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137" y="862"/>
              <a:ext cx="907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CN" altLang="en-US" sz="1800" b="1" dirty="0">
                  <a:solidFill>
                    <a:srgbClr val="D60093"/>
                  </a:solidFill>
                  <a:cs typeface="+mn-ea"/>
                  <a:sym typeface="+mn-lt"/>
                </a:rPr>
                <a:t>指令</a:t>
              </a:r>
              <a:r>
                <a:rPr lang="en-US" altLang="zh-CN" sz="1800" b="1" dirty="0">
                  <a:solidFill>
                    <a:srgbClr val="D60093"/>
                  </a:solidFill>
                  <a:cs typeface="+mn-ea"/>
                  <a:sym typeface="+mn-lt"/>
                </a:rPr>
                <a:t>3</a:t>
              </a:r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137" y="1258"/>
              <a:ext cx="907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CN" altLang="en-US" sz="1800" b="1" dirty="0">
                  <a:solidFill>
                    <a:srgbClr val="D60093"/>
                  </a:solidFill>
                  <a:cs typeface="+mn-ea"/>
                  <a:sym typeface="+mn-lt"/>
                </a:rPr>
                <a:t>指令</a:t>
              </a:r>
              <a:r>
                <a:rPr lang="en-US" altLang="zh-CN" sz="1800" b="1" dirty="0">
                  <a:solidFill>
                    <a:srgbClr val="D60093"/>
                  </a:solidFill>
                  <a:cs typeface="+mn-ea"/>
                  <a:sym typeface="+mn-lt"/>
                </a:rPr>
                <a:t>n</a:t>
              </a:r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318" y="1067"/>
              <a:ext cx="589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tIns="0" bIns="0">
              <a:spAutoFit/>
            </a:bodyPr>
            <a:lstStyle/>
            <a:p>
              <a:r>
                <a:rPr lang="en-US" altLang="zh-CN" sz="1800" b="1" dirty="0">
                  <a:solidFill>
                    <a:srgbClr val="D60093"/>
                  </a:solidFill>
                  <a:cs typeface="+mn-ea"/>
                  <a:sym typeface="+mn-lt"/>
                </a:rPr>
                <a:t>… …</a:t>
              </a:r>
            </a:p>
          </p:txBody>
        </p:sp>
        <p:sp>
          <p:nvSpPr>
            <p:cNvPr id="16" name="Rectangle 14"/>
            <p:cNvSpPr>
              <a:spLocks noChangeArrowheads="1"/>
            </p:cNvSpPr>
            <p:nvPr/>
          </p:nvSpPr>
          <p:spPr bwMode="auto">
            <a:xfrm>
              <a:off x="2677" y="317"/>
              <a:ext cx="907" cy="182"/>
            </a:xfrm>
            <a:prstGeom prst="rect">
              <a:avLst/>
            </a:prstGeom>
            <a:solidFill>
              <a:srgbClr val="F8FD3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CN" altLang="en-US" sz="1800" b="1">
                  <a:solidFill>
                    <a:srgbClr val="D60093"/>
                  </a:solidFill>
                  <a:cs typeface="+mn-ea"/>
                  <a:sym typeface="+mn-lt"/>
                </a:rPr>
                <a:t>取指令</a:t>
              </a:r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2677" y="589"/>
              <a:ext cx="907" cy="182"/>
            </a:xfrm>
            <a:prstGeom prst="rect">
              <a:avLst/>
            </a:prstGeom>
            <a:solidFill>
              <a:srgbClr val="F8FD3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CN" altLang="en-US" sz="1800" b="1">
                  <a:solidFill>
                    <a:srgbClr val="D60093"/>
                  </a:solidFill>
                  <a:cs typeface="+mn-ea"/>
                  <a:sym typeface="+mn-lt"/>
                </a:rPr>
                <a:t>指令译码</a:t>
              </a:r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2677" y="907"/>
              <a:ext cx="907" cy="182"/>
            </a:xfrm>
            <a:prstGeom prst="rect">
              <a:avLst/>
            </a:prstGeom>
            <a:solidFill>
              <a:srgbClr val="82ECF4"/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CN" altLang="en-US" sz="1800" b="1" dirty="0">
                  <a:solidFill>
                    <a:srgbClr val="D60093"/>
                  </a:solidFill>
                  <a:cs typeface="+mn-ea"/>
                  <a:sym typeface="+mn-lt"/>
                </a:rPr>
                <a:t>取操作数</a:t>
              </a:r>
            </a:p>
          </p:txBody>
        </p:sp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2677" y="1225"/>
              <a:ext cx="907" cy="182"/>
            </a:xfrm>
            <a:prstGeom prst="rect">
              <a:avLst/>
            </a:prstGeom>
            <a:solidFill>
              <a:srgbClr val="F8FD3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CN" altLang="en-US" sz="1800" b="1">
                  <a:solidFill>
                    <a:srgbClr val="D60093"/>
                  </a:solidFill>
                  <a:cs typeface="+mn-ea"/>
                  <a:sym typeface="+mn-lt"/>
                </a:rPr>
                <a:t>执行指令</a:t>
              </a:r>
            </a:p>
          </p:txBody>
        </p:sp>
        <p:sp>
          <p:nvSpPr>
            <p:cNvPr id="21" name="Rectangle 18"/>
            <p:cNvSpPr>
              <a:spLocks noChangeArrowheads="1"/>
            </p:cNvSpPr>
            <p:nvPr/>
          </p:nvSpPr>
          <p:spPr bwMode="auto">
            <a:xfrm>
              <a:off x="2677" y="1542"/>
              <a:ext cx="907" cy="182"/>
            </a:xfrm>
            <a:prstGeom prst="rect">
              <a:avLst/>
            </a:prstGeom>
            <a:solidFill>
              <a:srgbClr val="82ECF4"/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CN" altLang="en-US" sz="1800" b="1">
                  <a:solidFill>
                    <a:srgbClr val="D60093"/>
                  </a:solidFill>
                  <a:cs typeface="+mn-ea"/>
                  <a:sym typeface="+mn-lt"/>
                </a:rPr>
                <a:t>存结果</a:t>
              </a:r>
            </a:p>
          </p:txBody>
        </p:sp>
        <p:sp>
          <p:nvSpPr>
            <p:cNvPr id="22" name="Line 19"/>
            <p:cNvSpPr>
              <a:spLocks noChangeShapeType="1"/>
            </p:cNvSpPr>
            <p:nvPr/>
          </p:nvSpPr>
          <p:spPr bwMode="auto">
            <a:xfrm flipV="1">
              <a:off x="1044" y="317"/>
              <a:ext cx="15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" name="Line 20"/>
            <p:cNvSpPr>
              <a:spLocks noChangeShapeType="1"/>
            </p:cNvSpPr>
            <p:nvPr/>
          </p:nvSpPr>
          <p:spPr bwMode="auto">
            <a:xfrm>
              <a:off x="1044" y="499"/>
              <a:ext cx="1542" cy="11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" name="AutoShape 21"/>
            <p:cNvSpPr>
              <a:spLocks/>
            </p:cNvSpPr>
            <p:nvPr/>
          </p:nvSpPr>
          <p:spPr bwMode="auto">
            <a:xfrm>
              <a:off x="3675" y="317"/>
              <a:ext cx="136" cy="1406"/>
            </a:xfrm>
            <a:prstGeom prst="rightBrace">
              <a:avLst>
                <a:gd name="adj1" fmla="val 8615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Text Box 22"/>
            <p:cNvSpPr txBox="1">
              <a:spLocks noChangeArrowheads="1"/>
            </p:cNvSpPr>
            <p:nvPr/>
          </p:nvSpPr>
          <p:spPr bwMode="auto">
            <a:xfrm>
              <a:off x="3856" y="907"/>
              <a:ext cx="6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800" b="1">
                  <a:solidFill>
                    <a:srgbClr val="D60093"/>
                  </a:solidFill>
                  <a:cs typeface="+mn-ea"/>
                  <a:sym typeface="+mn-lt"/>
                </a:rPr>
                <a:t>指令周期</a:t>
              </a:r>
            </a:p>
          </p:txBody>
        </p:sp>
        <p:sp>
          <p:nvSpPr>
            <p:cNvPr id="26" name="Rectangle 23"/>
            <p:cNvSpPr>
              <a:spLocks noChangeArrowheads="1"/>
            </p:cNvSpPr>
            <p:nvPr/>
          </p:nvSpPr>
          <p:spPr bwMode="auto">
            <a:xfrm>
              <a:off x="1452" y="499"/>
              <a:ext cx="544" cy="27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CN" altLang="en-US" sz="1800" b="1">
                  <a:solidFill>
                    <a:srgbClr val="D60093"/>
                  </a:solidFill>
                  <a:cs typeface="+mn-ea"/>
                  <a:sym typeface="+mn-lt"/>
                </a:rPr>
                <a:t>操作码</a:t>
              </a:r>
            </a:p>
          </p:txBody>
        </p:sp>
        <p:sp>
          <p:nvSpPr>
            <p:cNvPr id="27" name="Rectangle 24"/>
            <p:cNvSpPr>
              <a:spLocks noChangeArrowheads="1"/>
            </p:cNvSpPr>
            <p:nvPr/>
          </p:nvSpPr>
          <p:spPr bwMode="auto">
            <a:xfrm>
              <a:off x="1996" y="499"/>
              <a:ext cx="544" cy="27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CN" altLang="en-US" sz="1800" b="1">
                  <a:solidFill>
                    <a:srgbClr val="D60093"/>
                  </a:solidFill>
                  <a:cs typeface="+mn-ea"/>
                  <a:sym typeface="+mn-lt"/>
                </a:rPr>
                <a:t>操作数</a:t>
              </a:r>
            </a:p>
          </p:txBody>
        </p:sp>
        <p:sp>
          <p:nvSpPr>
            <p:cNvPr id="28" name="Text Box 25"/>
            <p:cNvSpPr txBox="1">
              <a:spLocks noChangeArrowheads="1"/>
            </p:cNvSpPr>
            <p:nvPr/>
          </p:nvSpPr>
          <p:spPr bwMode="auto">
            <a:xfrm>
              <a:off x="2677" y="0"/>
              <a:ext cx="45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>
                  <a:solidFill>
                    <a:srgbClr val="D60093"/>
                  </a:solidFill>
                  <a:cs typeface="+mn-ea"/>
                  <a:sym typeface="+mn-lt"/>
                </a:rPr>
                <a:t>执行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7315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  微型计算机的硬件组成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1060269" y="2191861"/>
            <a:ext cx="100714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cs typeface="+mn-ea"/>
                <a:sym typeface="+mn-lt"/>
              </a:rPr>
              <a:t>寄存器也是</a:t>
            </a:r>
            <a:r>
              <a:rPr lang="en-US" altLang="zh-CN" sz="2400" dirty="0">
                <a:cs typeface="+mn-ea"/>
                <a:sym typeface="+mn-lt"/>
              </a:rPr>
              <a:t>CPU</a:t>
            </a:r>
            <a:r>
              <a:rPr lang="zh-CN" altLang="en-US" sz="2400" dirty="0">
                <a:cs typeface="+mn-ea"/>
                <a:sym typeface="+mn-lt"/>
              </a:rPr>
              <a:t>的重要组成部分，用来“寄存”数据处理的当前信息。</a:t>
            </a:r>
            <a:endParaRPr lang="en-US" altLang="zh-CN" sz="2400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cs typeface="+mn-ea"/>
                <a:sym typeface="+mn-lt"/>
              </a:rPr>
              <a:t>按照用途可分为：</a:t>
            </a:r>
            <a:endParaRPr lang="en-US" altLang="zh-CN" sz="2400" dirty="0">
              <a:cs typeface="+mn-ea"/>
              <a:sym typeface="+mn-lt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zh-CN" altLang="en-US" sz="2400" b="1" dirty="0">
                <a:cs typeface="+mn-ea"/>
                <a:sym typeface="+mn-lt"/>
              </a:rPr>
              <a:t>通用寄存器</a:t>
            </a:r>
            <a:r>
              <a:rPr lang="zh-CN" altLang="en-US" sz="2400" dirty="0">
                <a:cs typeface="+mn-ea"/>
                <a:sym typeface="+mn-lt"/>
              </a:rPr>
              <a:t>，供用户存取数据</a:t>
            </a:r>
            <a:endParaRPr lang="en-US" altLang="zh-CN" sz="2400" dirty="0">
              <a:cs typeface="+mn-ea"/>
              <a:sym typeface="+mn-lt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zh-CN" altLang="en-US" sz="2400" b="1" dirty="0">
                <a:cs typeface="+mn-ea"/>
                <a:sym typeface="+mn-lt"/>
              </a:rPr>
              <a:t>特殊寄存器</a:t>
            </a:r>
            <a:r>
              <a:rPr lang="zh-CN" altLang="en-US" sz="2400" dirty="0">
                <a:cs typeface="+mn-ea"/>
                <a:sym typeface="+mn-lt"/>
              </a:rPr>
              <a:t>，用来管理堆栈的寄存器</a:t>
            </a:r>
            <a:r>
              <a:rPr lang="en-US" altLang="zh-CN" sz="2400" dirty="0">
                <a:cs typeface="+mn-ea"/>
                <a:sym typeface="+mn-lt"/>
              </a:rPr>
              <a:t>---</a:t>
            </a:r>
            <a:r>
              <a:rPr lang="zh-CN" altLang="en-US" sz="2400" dirty="0">
                <a:solidFill>
                  <a:srgbClr val="FF0000"/>
                </a:solidFill>
                <a:cs typeface="+mn-ea"/>
                <a:sym typeface="+mn-lt"/>
              </a:rPr>
              <a:t>堆栈指示器</a:t>
            </a:r>
            <a:r>
              <a:rPr lang="en-US" altLang="zh-CN" sz="2400" dirty="0">
                <a:solidFill>
                  <a:srgbClr val="FF0000"/>
                </a:solidFill>
                <a:cs typeface="+mn-ea"/>
                <a:sym typeface="+mn-lt"/>
              </a:rPr>
              <a:t>SP</a:t>
            </a:r>
            <a:r>
              <a:rPr lang="zh-CN" altLang="en-US" sz="2400" dirty="0">
                <a:cs typeface="+mn-ea"/>
                <a:sym typeface="+mn-lt"/>
              </a:rPr>
              <a:t>，还比如用来管理程序步序的</a:t>
            </a:r>
            <a:r>
              <a:rPr lang="zh-CN" altLang="en-US" sz="2400" dirty="0">
                <a:solidFill>
                  <a:srgbClr val="FF0000"/>
                </a:solidFill>
                <a:cs typeface="+mn-ea"/>
                <a:sym typeface="+mn-lt"/>
              </a:rPr>
              <a:t>程序计数器</a:t>
            </a:r>
            <a:r>
              <a:rPr lang="en-US" altLang="zh-CN" sz="2400" dirty="0">
                <a:solidFill>
                  <a:srgbClr val="FF0000"/>
                </a:solidFill>
                <a:cs typeface="+mn-ea"/>
                <a:sym typeface="+mn-lt"/>
              </a:rPr>
              <a:t>PC</a:t>
            </a:r>
            <a:r>
              <a:rPr lang="zh-CN" altLang="en-US" sz="2400" dirty="0">
                <a:cs typeface="+mn-ea"/>
                <a:sym typeface="+mn-lt"/>
              </a:rPr>
              <a:t>。特殊寄存器一般不允许用户随便使用。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1060269" y="1541168"/>
            <a:ext cx="4062549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marL="514350" indent="-514350" defTabSz="914354">
              <a:lnSpc>
                <a:spcPct val="90000"/>
              </a:lnSpc>
              <a:spcBef>
                <a:spcPct val="0"/>
              </a:spcBef>
              <a:buFont typeface="+mj-ea"/>
              <a:buAutoNum type="circleNumDbPlain" startAt="3"/>
            </a:pPr>
            <a:r>
              <a:rPr lang="zh-CN" altLang="en-US" sz="3200" b="1" dirty="0">
                <a:solidFill>
                  <a:srgbClr val="CC3300"/>
                </a:solidFill>
                <a:cs typeface="+mn-ea"/>
                <a:sym typeface="+mn-lt"/>
              </a:rPr>
              <a:t>寄存器阵列</a:t>
            </a:r>
          </a:p>
        </p:txBody>
      </p:sp>
    </p:spTree>
    <p:extLst>
      <p:ext uri="{BB962C8B-B14F-4D97-AF65-F5344CB8AC3E}">
        <p14:creationId xmlns:p14="http://schemas.microsoft.com/office/powerpoint/2010/main" val="1769504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  微型计算机的硬件组成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1005840" y="1503833"/>
            <a:ext cx="10933611" cy="1896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zh-CN" altLang="en-US" sz="2400" dirty="0">
                <a:cs typeface="+mn-ea"/>
                <a:sym typeface="+mn-lt"/>
              </a:rPr>
              <a:t>一块设在内存中按</a:t>
            </a:r>
            <a:r>
              <a:rPr lang="zh-CN" altLang="en-US" sz="2400" b="1" dirty="0">
                <a:cs typeface="+mn-ea"/>
                <a:sym typeface="+mn-lt"/>
              </a:rPr>
              <a:t>先进后出</a:t>
            </a:r>
            <a:r>
              <a:rPr lang="en-US" altLang="zh-CN" sz="2400" dirty="0">
                <a:cs typeface="+mn-ea"/>
                <a:sym typeface="+mn-lt"/>
              </a:rPr>
              <a:t>(First In Last Out</a:t>
            </a:r>
            <a:r>
              <a:rPr lang="zh-CN" altLang="en-US" sz="2400" dirty="0">
                <a:cs typeface="+mn-ea"/>
                <a:sym typeface="+mn-lt"/>
              </a:rPr>
              <a:t>，</a:t>
            </a:r>
            <a:r>
              <a:rPr lang="en-US" altLang="zh-CN" sz="2400" dirty="0">
                <a:cs typeface="+mn-ea"/>
                <a:sym typeface="+mn-lt"/>
              </a:rPr>
              <a:t>FILO)</a:t>
            </a:r>
            <a:r>
              <a:rPr lang="zh-CN" altLang="en-US" sz="2400" dirty="0">
                <a:cs typeface="+mn-ea"/>
                <a:sym typeface="+mn-lt"/>
              </a:rPr>
              <a:t>原则组织的存储区域，用于子程序和中断程序调用时的现场保护和参数传递，也可存放数据。数据存入栈区称为</a:t>
            </a:r>
            <a:r>
              <a:rPr lang="zh-CN" altLang="en-US" sz="2400" b="1" dirty="0">
                <a:cs typeface="+mn-ea"/>
                <a:sym typeface="+mn-lt"/>
              </a:rPr>
              <a:t>压栈</a:t>
            </a:r>
            <a:r>
              <a:rPr lang="en-US" altLang="zh-CN" sz="2400" dirty="0">
                <a:cs typeface="+mn-ea"/>
                <a:sym typeface="+mn-lt"/>
              </a:rPr>
              <a:t>(</a:t>
            </a:r>
            <a:r>
              <a:rPr lang="en-US" altLang="zh-CN" sz="2400" b="1" dirty="0">
                <a:cs typeface="+mn-ea"/>
                <a:sym typeface="+mn-lt"/>
              </a:rPr>
              <a:t>PUSH</a:t>
            </a:r>
            <a:r>
              <a:rPr lang="en-US" altLang="zh-CN" sz="2400" dirty="0">
                <a:cs typeface="+mn-ea"/>
                <a:sym typeface="+mn-lt"/>
              </a:rPr>
              <a:t>)</a:t>
            </a:r>
            <a:r>
              <a:rPr lang="zh-CN" altLang="en-US" sz="2400" dirty="0">
                <a:cs typeface="+mn-ea"/>
                <a:sym typeface="+mn-lt"/>
              </a:rPr>
              <a:t>，从栈区中取出数据称为</a:t>
            </a:r>
            <a:r>
              <a:rPr lang="zh-CN" altLang="en-US" sz="2400" b="1" dirty="0">
                <a:cs typeface="+mn-ea"/>
                <a:sym typeface="+mn-lt"/>
              </a:rPr>
              <a:t>弹栈</a:t>
            </a:r>
            <a:r>
              <a:rPr lang="en-US" altLang="zh-CN" sz="2400" dirty="0">
                <a:cs typeface="+mn-ea"/>
                <a:sym typeface="+mn-lt"/>
              </a:rPr>
              <a:t>(</a:t>
            </a:r>
            <a:r>
              <a:rPr lang="en-US" altLang="zh-CN" sz="2400" b="1" dirty="0">
                <a:cs typeface="+mn-ea"/>
                <a:sym typeface="+mn-lt"/>
              </a:rPr>
              <a:t>POP</a:t>
            </a:r>
            <a:r>
              <a:rPr lang="en-US" altLang="zh-CN" sz="2400" dirty="0">
                <a:cs typeface="+mn-ea"/>
                <a:sym typeface="+mn-lt"/>
              </a:rPr>
              <a:t>)</a:t>
            </a:r>
            <a:r>
              <a:rPr lang="zh-CN" altLang="en-US" sz="2400" dirty="0">
                <a:cs typeface="+mn-ea"/>
                <a:sym typeface="+mn-lt"/>
              </a:rPr>
              <a:t>。</a:t>
            </a:r>
            <a:r>
              <a:rPr lang="en-US" altLang="zh-CN" sz="2400" dirty="0">
                <a:cs typeface="+mn-ea"/>
                <a:sym typeface="+mn-lt"/>
              </a:rPr>
              <a:t> PUSH</a:t>
            </a:r>
            <a:r>
              <a:rPr lang="zh-CN" altLang="en-US" sz="2400" dirty="0">
                <a:cs typeface="+mn-ea"/>
                <a:sym typeface="+mn-lt"/>
              </a:rPr>
              <a:t>和</a:t>
            </a:r>
            <a:r>
              <a:rPr lang="en-US" altLang="zh-CN" sz="2400" dirty="0">
                <a:cs typeface="+mn-ea"/>
                <a:sym typeface="+mn-lt"/>
              </a:rPr>
              <a:t>POP</a:t>
            </a:r>
            <a:r>
              <a:rPr lang="zh-CN" altLang="en-US" sz="2400" dirty="0">
                <a:cs typeface="+mn-ea"/>
                <a:sym typeface="+mn-lt"/>
              </a:rPr>
              <a:t>操作每次压入或弹出一个元素，元素的大小根据机型和指令不同而不同。</a:t>
            </a:r>
            <a:endParaRPr lang="en-US" altLang="zh-CN" sz="2400" dirty="0">
              <a:cs typeface="+mn-ea"/>
              <a:sym typeface="+mn-lt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1005840" y="1048820"/>
            <a:ext cx="2286000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defTabSz="914354">
              <a:lnSpc>
                <a:spcPct val="90000"/>
              </a:lnSpc>
              <a:spcBef>
                <a:spcPct val="0"/>
              </a:spcBef>
            </a:pPr>
            <a:r>
              <a:rPr lang="zh-CN" altLang="en-US" sz="3200" b="1" dirty="0">
                <a:solidFill>
                  <a:srgbClr val="CC3300"/>
                </a:solidFill>
                <a:cs typeface="+mn-ea"/>
                <a:sym typeface="+mn-lt"/>
              </a:rPr>
              <a:t>堆栈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1005840" y="3692096"/>
            <a:ext cx="3187337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defTabSz="914354">
              <a:lnSpc>
                <a:spcPct val="90000"/>
              </a:lnSpc>
              <a:spcBef>
                <a:spcPct val="0"/>
              </a:spcBef>
            </a:pPr>
            <a:r>
              <a:rPr lang="zh-CN" altLang="en-US" sz="3200" b="1" dirty="0">
                <a:solidFill>
                  <a:srgbClr val="CC3300"/>
                </a:solidFill>
                <a:cs typeface="+mn-ea"/>
                <a:sym typeface="+mn-lt"/>
              </a:rPr>
              <a:t>堆栈指示器</a:t>
            </a:r>
            <a:r>
              <a:rPr lang="en-US" altLang="zh-CN" sz="3200" b="1" dirty="0">
                <a:solidFill>
                  <a:srgbClr val="CC3300"/>
                </a:solidFill>
                <a:cs typeface="+mn-ea"/>
                <a:sym typeface="+mn-lt"/>
              </a:rPr>
              <a:t>SP</a:t>
            </a:r>
            <a:endParaRPr lang="zh-CN" altLang="en-US" sz="3200" b="1" dirty="0">
              <a:solidFill>
                <a:srgbClr val="CC3300"/>
              </a:solidFill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1005840" y="4227627"/>
            <a:ext cx="61858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cs typeface="+mn-ea"/>
                <a:sym typeface="+mn-lt"/>
              </a:rPr>
              <a:t>用于</a:t>
            </a:r>
            <a:r>
              <a:rPr lang="zh-CN" altLang="en-US" sz="2400" b="1" dirty="0">
                <a:cs typeface="+mn-ea"/>
                <a:sym typeface="+mn-lt"/>
              </a:rPr>
              <a:t>指示当前栈顶元素所在的位置</a:t>
            </a:r>
            <a:r>
              <a:rPr lang="zh-CN" altLang="en-US" sz="2400" dirty="0">
                <a:cs typeface="+mn-ea"/>
                <a:sym typeface="+mn-lt"/>
              </a:rPr>
              <a:t>。压栈、弹栈总是在栈顶进行的，随着对堆栈的压入和弹出操作，</a:t>
            </a:r>
            <a:r>
              <a:rPr lang="en-US" altLang="zh-CN" sz="2400" dirty="0">
                <a:cs typeface="+mn-ea"/>
                <a:sym typeface="+mn-lt"/>
              </a:rPr>
              <a:t>SP</a:t>
            </a:r>
            <a:r>
              <a:rPr lang="zh-CN" altLang="en-US" sz="2400" dirty="0">
                <a:cs typeface="+mn-ea"/>
                <a:sym typeface="+mn-lt"/>
              </a:rPr>
              <a:t>的值会自动变化。</a:t>
            </a:r>
            <a:endParaRPr lang="en-US" altLang="zh-CN" sz="2400" dirty="0"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1984" y="3319234"/>
            <a:ext cx="3413655" cy="316590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7464405" y="3731901"/>
            <a:ext cx="925744" cy="5529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8121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  微型计算机的硬件组成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1005840" y="1503833"/>
            <a:ext cx="10933611" cy="1896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zh-CN" altLang="en-US" sz="2400" dirty="0">
                <a:cs typeface="+mn-ea"/>
                <a:sym typeface="+mn-lt"/>
              </a:rPr>
              <a:t>堆栈区的访问特点？</a:t>
            </a:r>
            <a:endParaRPr lang="en-US" altLang="zh-CN" sz="2400" dirty="0">
              <a:cs typeface="+mn-ea"/>
              <a:sym typeface="+mn-lt"/>
            </a:endParaRPr>
          </a:p>
          <a:p>
            <a:pPr>
              <a:lnSpc>
                <a:spcPts val="3600"/>
              </a:lnSpc>
            </a:pPr>
            <a:r>
              <a:rPr lang="zh-CN" altLang="en-US" sz="2400" dirty="0">
                <a:cs typeface="+mn-ea"/>
                <a:sym typeface="+mn-lt"/>
              </a:rPr>
              <a:t>堆栈区的主要用途</a:t>
            </a:r>
            <a:r>
              <a:rPr lang="en-US" altLang="zh-CN" sz="2400" dirty="0">
                <a:cs typeface="+mn-ea"/>
                <a:sym typeface="+mn-lt"/>
              </a:rPr>
              <a:t>?</a:t>
            </a:r>
          </a:p>
          <a:p>
            <a:pPr>
              <a:lnSpc>
                <a:spcPts val="3600"/>
              </a:lnSpc>
            </a:pPr>
            <a:r>
              <a:rPr lang="zh-CN" altLang="en-US" sz="2400" dirty="0">
                <a:cs typeface="+mn-ea"/>
                <a:sym typeface="+mn-lt"/>
              </a:rPr>
              <a:t>四种堆栈访问方式究竟是如何工作的？</a:t>
            </a:r>
            <a:endParaRPr lang="en-US" altLang="zh-CN" sz="2400" dirty="0">
              <a:cs typeface="+mn-ea"/>
              <a:sym typeface="+mn-lt"/>
            </a:endParaRPr>
          </a:p>
          <a:p>
            <a:pPr>
              <a:lnSpc>
                <a:spcPts val="3600"/>
              </a:lnSpc>
            </a:pPr>
            <a:endParaRPr lang="en-US" altLang="zh-CN" sz="2400" dirty="0">
              <a:cs typeface="+mn-ea"/>
              <a:sym typeface="+mn-lt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1005840" y="1048820"/>
            <a:ext cx="2286000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defTabSz="914354">
              <a:lnSpc>
                <a:spcPct val="90000"/>
              </a:lnSpc>
              <a:spcBef>
                <a:spcPct val="0"/>
              </a:spcBef>
            </a:pPr>
            <a:r>
              <a:rPr lang="zh-CN" altLang="en-US" sz="3200" b="1" dirty="0">
                <a:solidFill>
                  <a:srgbClr val="CC3300"/>
                </a:solidFill>
                <a:cs typeface="+mn-ea"/>
                <a:sym typeface="+mn-lt"/>
              </a:rPr>
              <a:t>讨论与交流</a:t>
            </a:r>
          </a:p>
        </p:txBody>
      </p:sp>
    </p:spTree>
    <p:extLst>
      <p:ext uri="{BB962C8B-B14F-4D97-AF65-F5344CB8AC3E}">
        <p14:creationId xmlns:p14="http://schemas.microsoft.com/office/powerpoint/2010/main" val="2708836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3C326D0B-7DAB-41B6-8030-2E4A18CC949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7" name="think-cell Slide" r:id="rId5" imgW="347" imgH="348" progId="TCLayout.ActiveDocument.1">
                  <p:embed/>
                </p:oleObj>
              </mc:Choice>
              <mc:Fallback>
                <p:oleObj name="think-cell Slide" r:id="rId5" imgW="347" imgH="348" progId="TCLayout.ActiveDocument.1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id="{3C326D0B-7DAB-41B6-8030-2E4A18CC94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id="{EC933494-1B63-4A32-964F-D05236799BA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cs typeface="+mn-ea"/>
              <a:sym typeface="+mn-lt"/>
            </a:endParaRPr>
          </a:p>
        </p:txBody>
      </p:sp>
      <p:sp>
        <p:nvSpPr>
          <p:cNvPr id="8" name="标题 3"/>
          <p:cNvSpPr>
            <a:spLocks noGrp="1"/>
          </p:cNvSpPr>
          <p:nvPr>
            <p:ph type="ctrTitle"/>
          </p:nvPr>
        </p:nvSpPr>
        <p:spPr>
          <a:xfrm>
            <a:off x="3978949" y="2023969"/>
            <a:ext cx="6041284" cy="1058852"/>
          </a:xfrm>
        </p:spPr>
        <p:txBody>
          <a:bodyPr>
            <a:normAutofit/>
          </a:bodyPr>
          <a:lstStyle/>
          <a:p>
            <a:r>
              <a:rPr lang="zh-CN" altLang="en-US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lt"/>
                <a:ea typeface="+mn-ea"/>
                <a:cs typeface="+mn-ea"/>
                <a:sym typeface="+mn-lt"/>
              </a:rPr>
              <a:t>单片机原理及其应用</a:t>
            </a:r>
          </a:p>
        </p:txBody>
      </p:sp>
      <p:sp>
        <p:nvSpPr>
          <p:cNvPr id="9" name="矩形 8"/>
          <p:cNvSpPr/>
          <p:nvPr/>
        </p:nvSpPr>
        <p:spPr>
          <a:xfrm>
            <a:off x="622577" y="1378227"/>
            <a:ext cx="69500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800" dirty="0">
                <a:solidFill>
                  <a:schemeClr val="bg1"/>
                </a:solidFill>
                <a:cs typeface="+mn-ea"/>
                <a:sym typeface="+mn-lt"/>
              </a:rPr>
              <a:t>ARM Cortex-M3 </a:t>
            </a:r>
            <a:r>
              <a:rPr lang="zh-CN" altLang="zh-CN" sz="2800" b="1" kern="1800" dirty="0">
                <a:solidFill>
                  <a:schemeClr val="bg1"/>
                </a:solidFill>
                <a:cs typeface="+mn-ea"/>
                <a:sym typeface="+mn-lt"/>
              </a:rPr>
              <a:t>的</a:t>
            </a:r>
            <a:r>
              <a:rPr lang="en-US" altLang="zh-CN" sz="2800" b="1" kern="1800" dirty="0">
                <a:solidFill>
                  <a:schemeClr val="bg1"/>
                </a:solidFill>
                <a:cs typeface="+mn-ea"/>
                <a:sym typeface="+mn-lt"/>
              </a:rPr>
              <a:t>STM32</a:t>
            </a:r>
            <a:r>
              <a:rPr lang="zh-CN" altLang="zh-CN" sz="2800" b="1" kern="1800" dirty="0">
                <a:solidFill>
                  <a:schemeClr val="bg1"/>
                </a:solidFill>
                <a:cs typeface="+mn-ea"/>
                <a:sym typeface="+mn-lt"/>
              </a:rPr>
              <a:t>系列</a:t>
            </a:r>
            <a:r>
              <a:rPr lang="zh-CN" altLang="zh-CN" sz="4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cs typeface="+mn-ea"/>
                <a:sym typeface="+mn-lt"/>
              </a:rPr>
              <a:t>——</a:t>
            </a:r>
            <a:endParaRPr lang="zh-CN" altLang="en-US" sz="4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16065" y="3205343"/>
            <a:ext cx="68169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2E6E0"/>
                </a:solidFill>
                <a:cs typeface="+mn-ea"/>
                <a:sym typeface="+mn-lt"/>
              </a:rPr>
              <a:t>微型计算机的硬件结构与三总线</a:t>
            </a:r>
            <a:endParaRPr lang="en-US" altLang="zh-CN" sz="2800" b="1" dirty="0">
              <a:solidFill>
                <a:srgbClr val="42E6E0"/>
              </a:solidFill>
              <a:cs typeface="+mn-ea"/>
              <a:sym typeface="+mn-lt"/>
            </a:endParaRPr>
          </a:p>
        </p:txBody>
      </p:sp>
      <p:sp>
        <p:nvSpPr>
          <p:cNvPr id="7" name="文本占位符 10">
            <a:extLst>
              <a:ext uri="{FF2B5EF4-FFF2-40B4-BE49-F238E27FC236}">
                <a16:creationId xmlns:a16="http://schemas.microsoft.com/office/drawing/2014/main" id="{3AE36C13-51F4-4440-8DB2-2A4E128FFD33}"/>
              </a:ext>
            </a:extLst>
          </p:cNvPr>
          <p:cNvSpPr>
            <a:spLocks noGrp="1"/>
          </p:cNvSpPr>
          <p:nvPr/>
        </p:nvSpPr>
        <p:spPr>
          <a:xfrm>
            <a:off x="716065" y="4189887"/>
            <a:ext cx="3262884" cy="548173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3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重庆大学   电气工程学院</a:t>
            </a:r>
          </a:p>
        </p:txBody>
      </p:sp>
    </p:spTree>
    <p:extLst>
      <p:ext uri="{BB962C8B-B14F-4D97-AF65-F5344CB8AC3E}">
        <p14:creationId xmlns:p14="http://schemas.microsoft.com/office/powerpoint/2010/main" val="927511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  微型计算机的硬件结构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425640" y="2503915"/>
            <a:ext cx="1541417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defTabSz="914354">
              <a:lnSpc>
                <a:spcPct val="90000"/>
              </a:lnSpc>
              <a:spcBef>
                <a:spcPct val="0"/>
              </a:spcBef>
            </a:pPr>
            <a:r>
              <a:rPr lang="zh-CN" altLang="en-US" sz="3200" b="1" dirty="0">
                <a:solidFill>
                  <a:srgbClr val="CC3300"/>
                </a:solidFill>
                <a:latin typeface="+mj-lt"/>
                <a:ea typeface="+mj-ea"/>
                <a:cs typeface="+mj-cs"/>
                <a:sym typeface="+mn-lt"/>
              </a:rPr>
              <a:t>总线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613634" y="1055943"/>
            <a:ext cx="109281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zh-CN" altLang="en-US" sz="2800" dirty="0"/>
              <a:t>微型计算机在硬件上普遍采用</a:t>
            </a:r>
            <a:r>
              <a:rPr lang="zh-CN" altLang="en-US" sz="2800" b="1" dirty="0"/>
              <a:t>总线结构。</a:t>
            </a:r>
            <a:r>
              <a:rPr lang="zh-CN" altLang="en-US" sz="2800" dirty="0"/>
              <a:t>总线结构使系统构成方便，并具有很好的可维护性和可扩展性。</a:t>
            </a:r>
            <a:endParaRPr lang="zh-CN" altLang="en-US" sz="2800" dirty="0">
              <a:sym typeface="+mn-lt"/>
            </a:endParaRPr>
          </a:p>
        </p:txBody>
      </p:sp>
      <p:grpSp>
        <p:nvGrpSpPr>
          <p:cNvPr id="72" name="Group 5"/>
          <p:cNvGrpSpPr>
            <a:grpSpLocks/>
          </p:cNvGrpSpPr>
          <p:nvPr/>
        </p:nvGrpSpPr>
        <p:grpSpPr bwMode="auto">
          <a:xfrm>
            <a:off x="4888831" y="2319584"/>
            <a:ext cx="7259464" cy="3672408"/>
            <a:chOff x="0" y="0"/>
            <a:chExt cx="4800" cy="2449"/>
          </a:xfrm>
        </p:grpSpPr>
        <p:sp>
          <p:nvSpPr>
            <p:cNvPr id="73" name="AutoShape 6"/>
            <p:cNvSpPr>
              <a:spLocks noChangeArrowheads="1"/>
            </p:cNvSpPr>
            <p:nvPr/>
          </p:nvSpPr>
          <p:spPr bwMode="auto">
            <a:xfrm>
              <a:off x="4100" y="1494"/>
              <a:ext cx="179" cy="316"/>
            </a:xfrm>
            <a:prstGeom prst="upArrow">
              <a:avLst>
                <a:gd name="adj1" fmla="val 50000"/>
                <a:gd name="adj2" fmla="val 44134"/>
              </a:avLst>
            </a:prstGeom>
            <a:solidFill>
              <a:srgbClr val="00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4" name="AutoShape 7"/>
            <p:cNvSpPr>
              <a:spLocks noChangeArrowheads="1"/>
            </p:cNvSpPr>
            <p:nvPr/>
          </p:nvSpPr>
          <p:spPr bwMode="auto">
            <a:xfrm>
              <a:off x="4351" y="1478"/>
              <a:ext cx="179" cy="713"/>
            </a:xfrm>
            <a:prstGeom prst="upArrow">
              <a:avLst>
                <a:gd name="adj1" fmla="val 56426"/>
                <a:gd name="adj2" fmla="val 45272"/>
              </a:avLst>
            </a:prstGeom>
            <a:solidFill>
              <a:srgbClr val="FF99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5" name="AutoShape 8"/>
            <p:cNvSpPr>
              <a:spLocks noChangeArrowheads="1"/>
            </p:cNvSpPr>
            <p:nvPr/>
          </p:nvSpPr>
          <p:spPr bwMode="auto">
            <a:xfrm>
              <a:off x="1644" y="373"/>
              <a:ext cx="180" cy="213"/>
            </a:xfrm>
            <a:prstGeom prst="downArrow">
              <a:avLst>
                <a:gd name="adj1" fmla="val 50000"/>
                <a:gd name="adj2" fmla="val 29583"/>
              </a:avLst>
            </a:prstGeom>
            <a:solidFill>
              <a:srgbClr val="FF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6" name="AutoShape 9"/>
            <p:cNvSpPr>
              <a:spLocks noChangeArrowheads="1"/>
            </p:cNvSpPr>
            <p:nvPr/>
          </p:nvSpPr>
          <p:spPr bwMode="auto">
            <a:xfrm>
              <a:off x="1020" y="374"/>
              <a:ext cx="180" cy="212"/>
            </a:xfrm>
            <a:prstGeom prst="downArrow">
              <a:avLst>
                <a:gd name="adj1" fmla="val 50000"/>
                <a:gd name="adj2" fmla="val 29444"/>
              </a:avLst>
            </a:prstGeom>
            <a:solidFill>
              <a:srgbClr val="FF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7" name="AutoShape 10"/>
            <p:cNvSpPr>
              <a:spLocks noChangeArrowheads="1"/>
            </p:cNvSpPr>
            <p:nvPr/>
          </p:nvSpPr>
          <p:spPr bwMode="auto">
            <a:xfrm>
              <a:off x="3223" y="1477"/>
              <a:ext cx="179" cy="713"/>
            </a:xfrm>
            <a:prstGeom prst="upArrow">
              <a:avLst>
                <a:gd name="adj1" fmla="val 56426"/>
                <a:gd name="adj2" fmla="val 45272"/>
              </a:avLst>
            </a:prstGeom>
            <a:solidFill>
              <a:srgbClr val="FF99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8" name="AutoShape 11"/>
            <p:cNvSpPr>
              <a:spLocks noChangeArrowheads="1"/>
            </p:cNvSpPr>
            <p:nvPr/>
          </p:nvSpPr>
          <p:spPr bwMode="auto">
            <a:xfrm>
              <a:off x="1769" y="1477"/>
              <a:ext cx="180" cy="713"/>
            </a:xfrm>
            <a:prstGeom prst="upArrow">
              <a:avLst>
                <a:gd name="adj1" fmla="val 56426"/>
                <a:gd name="adj2" fmla="val 45021"/>
              </a:avLst>
            </a:prstGeom>
            <a:solidFill>
              <a:srgbClr val="FF99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9" name="AutoShape 12"/>
            <p:cNvSpPr>
              <a:spLocks noChangeArrowheads="1"/>
            </p:cNvSpPr>
            <p:nvPr/>
          </p:nvSpPr>
          <p:spPr bwMode="auto">
            <a:xfrm>
              <a:off x="1137" y="1477"/>
              <a:ext cx="178" cy="713"/>
            </a:xfrm>
            <a:prstGeom prst="upArrow">
              <a:avLst>
                <a:gd name="adj1" fmla="val 56426"/>
                <a:gd name="adj2" fmla="val 45527"/>
              </a:avLst>
            </a:prstGeom>
            <a:solidFill>
              <a:srgbClr val="FF99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0" name="AutoShape 13"/>
            <p:cNvSpPr>
              <a:spLocks noChangeArrowheads="1"/>
            </p:cNvSpPr>
            <p:nvPr/>
          </p:nvSpPr>
          <p:spPr bwMode="auto">
            <a:xfrm>
              <a:off x="609" y="136"/>
              <a:ext cx="4143" cy="317"/>
            </a:xfrm>
            <a:prstGeom prst="rightArrow">
              <a:avLst>
                <a:gd name="adj1" fmla="val 50000"/>
                <a:gd name="adj2" fmla="val 46106"/>
              </a:avLst>
            </a:prstGeom>
            <a:solidFill>
              <a:srgbClr val="FF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1" name="Text Box 14"/>
            <p:cNvSpPr txBox="1">
              <a:spLocks noChangeArrowheads="1"/>
            </p:cNvSpPr>
            <p:nvPr/>
          </p:nvSpPr>
          <p:spPr bwMode="auto">
            <a:xfrm>
              <a:off x="932" y="593"/>
              <a:ext cx="352" cy="884"/>
            </a:xfrm>
            <a:prstGeom prst="rect">
              <a:avLst/>
            </a:prstGeom>
            <a:solidFill>
              <a:srgbClr val="00CC99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180000" rIns="0" bIns="0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存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储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器</a:t>
              </a:r>
            </a:p>
          </p:txBody>
        </p:sp>
        <p:sp>
          <p:nvSpPr>
            <p:cNvPr id="82" name="Text Box 15"/>
            <p:cNvSpPr txBox="1">
              <a:spLocks noChangeArrowheads="1"/>
            </p:cNvSpPr>
            <p:nvPr/>
          </p:nvSpPr>
          <p:spPr bwMode="auto">
            <a:xfrm>
              <a:off x="1571" y="588"/>
              <a:ext cx="351" cy="886"/>
            </a:xfrm>
            <a:prstGeom prst="rect">
              <a:avLst/>
            </a:prstGeom>
            <a:solidFill>
              <a:srgbClr val="6699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180000" rIns="0" bIns="0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I/O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接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口</a:t>
              </a:r>
            </a:p>
          </p:txBody>
        </p:sp>
        <p:sp>
          <p:nvSpPr>
            <p:cNvPr id="83" name="AutoShape 16"/>
            <p:cNvSpPr>
              <a:spLocks noChangeArrowheads="1"/>
            </p:cNvSpPr>
            <p:nvPr/>
          </p:nvSpPr>
          <p:spPr bwMode="auto">
            <a:xfrm>
              <a:off x="1918" y="895"/>
              <a:ext cx="297" cy="216"/>
            </a:xfrm>
            <a:prstGeom prst="leftRightArrow">
              <a:avLst>
                <a:gd name="adj1" fmla="val 50000"/>
                <a:gd name="adj2" fmla="val 27500"/>
              </a:avLst>
            </a:prstGeom>
            <a:solidFill>
              <a:srgbClr val="3366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4" name="Text Box 17"/>
            <p:cNvSpPr txBox="1">
              <a:spLocks noChangeArrowheads="1"/>
            </p:cNvSpPr>
            <p:nvPr/>
          </p:nvSpPr>
          <p:spPr bwMode="auto">
            <a:xfrm>
              <a:off x="2226" y="590"/>
              <a:ext cx="281" cy="867"/>
            </a:xfrm>
            <a:prstGeom prst="rect">
              <a:avLst/>
            </a:prstGeom>
            <a:solidFill>
              <a:srgbClr val="FFCCCC"/>
            </a:solidFill>
            <a:ln w="25400">
              <a:solidFill>
                <a:srgbClr val="FF6600"/>
              </a:solidFill>
              <a:miter lim="800000"/>
              <a:headEnd/>
              <a:tailEnd/>
            </a:ln>
          </p:spPr>
          <p:txBody>
            <a:bodyPr lIns="0" tIns="72000" rIns="0" bIns="0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输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入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设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备</a:t>
              </a:r>
            </a:p>
          </p:txBody>
        </p:sp>
        <p:sp>
          <p:nvSpPr>
            <p:cNvPr id="85" name="Oval 18"/>
            <p:cNvSpPr>
              <a:spLocks noChangeArrowheads="1"/>
            </p:cNvSpPr>
            <p:nvPr/>
          </p:nvSpPr>
          <p:spPr bwMode="auto">
            <a:xfrm>
              <a:off x="2636" y="988"/>
              <a:ext cx="44" cy="41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6" name="Oval 19"/>
            <p:cNvSpPr>
              <a:spLocks noChangeArrowheads="1"/>
            </p:cNvSpPr>
            <p:nvPr/>
          </p:nvSpPr>
          <p:spPr bwMode="auto">
            <a:xfrm>
              <a:off x="2730" y="988"/>
              <a:ext cx="44" cy="41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7" name="Oval 20"/>
            <p:cNvSpPr>
              <a:spLocks noChangeArrowheads="1"/>
            </p:cNvSpPr>
            <p:nvPr/>
          </p:nvSpPr>
          <p:spPr bwMode="auto">
            <a:xfrm>
              <a:off x="2824" y="983"/>
              <a:ext cx="44" cy="41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8" name="Text Box 21"/>
            <p:cNvSpPr txBox="1">
              <a:spLocks noChangeArrowheads="1"/>
            </p:cNvSpPr>
            <p:nvPr/>
          </p:nvSpPr>
          <p:spPr bwMode="auto">
            <a:xfrm>
              <a:off x="3004" y="586"/>
              <a:ext cx="352" cy="884"/>
            </a:xfrm>
            <a:prstGeom prst="rect">
              <a:avLst/>
            </a:prstGeom>
            <a:solidFill>
              <a:srgbClr val="6699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180000" rIns="0" bIns="0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I/O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接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口</a:t>
              </a:r>
            </a:p>
          </p:txBody>
        </p:sp>
        <p:sp>
          <p:nvSpPr>
            <p:cNvPr id="89" name="Text Box 22"/>
            <p:cNvSpPr txBox="1">
              <a:spLocks noChangeArrowheads="1"/>
            </p:cNvSpPr>
            <p:nvPr/>
          </p:nvSpPr>
          <p:spPr bwMode="auto">
            <a:xfrm>
              <a:off x="2113" y="196"/>
              <a:ext cx="861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地址总线 </a:t>
              </a: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AB</a:t>
              </a:r>
            </a:p>
          </p:txBody>
        </p:sp>
        <p:sp>
          <p:nvSpPr>
            <p:cNvPr id="90" name="AutoShape 23"/>
            <p:cNvSpPr>
              <a:spLocks noChangeArrowheads="1"/>
            </p:cNvSpPr>
            <p:nvPr/>
          </p:nvSpPr>
          <p:spPr bwMode="auto">
            <a:xfrm>
              <a:off x="3354" y="895"/>
              <a:ext cx="297" cy="216"/>
            </a:xfrm>
            <a:prstGeom prst="leftRightArrow">
              <a:avLst>
                <a:gd name="adj1" fmla="val 50000"/>
                <a:gd name="adj2" fmla="val 27500"/>
              </a:avLst>
            </a:prstGeom>
            <a:solidFill>
              <a:srgbClr val="3366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1" name="Text Box 24"/>
            <p:cNvSpPr txBox="1">
              <a:spLocks noChangeArrowheads="1"/>
            </p:cNvSpPr>
            <p:nvPr/>
          </p:nvSpPr>
          <p:spPr bwMode="auto">
            <a:xfrm>
              <a:off x="3652" y="586"/>
              <a:ext cx="282" cy="867"/>
            </a:xfrm>
            <a:prstGeom prst="rect">
              <a:avLst/>
            </a:prstGeom>
            <a:solidFill>
              <a:srgbClr val="FFCCCC"/>
            </a:solidFill>
            <a:ln w="25400">
              <a:solidFill>
                <a:srgbClr val="FF6600"/>
              </a:solidFill>
              <a:miter lim="800000"/>
              <a:headEnd/>
              <a:tailEnd/>
            </a:ln>
          </p:spPr>
          <p:txBody>
            <a:bodyPr lIns="0" tIns="72000" rIns="0" bIns="0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输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出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设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备</a:t>
              </a:r>
            </a:p>
          </p:txBody>
        </p:sp>
        <p:sp>
          <p:nvSpPr>
            <p:cNvPr id="92" name="AutoShape 25"/>
            <p:cNvSpPr>
              <a:spLocks noChangeArrowheads="1"/>
            </p:cNvSpPr>
            <p:nvPr/>
          </p:nvSpPr>
          <p:spPr bwMode="auto">
            <a:xfrm>
              <a:off x="620" y="1727"/>
              <a:ext cx="4180" cy="314"/>
            </a:xfrm>
            <a:prstGeom prst="leftRightArrow">
              <a:avLst>
                <a:gd name="adj1" fmla="val 52056"/>
                <a:gd name="adj2" fmla="val 51030"/>
              </a:avLst>
            </a:prstGeom>
            <a:solidFill>
              <a:srgbClr val="00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3" name="AutoShape 26"/>
            <p:cNvSpPr>
              <a:spLocks noChangeArrowheads="1"/>
            </p:cNvSpPr>
            <p:nvPr/>
          </p:nvSpPr>
          <p:spPr bwMode="auto">
            <a:xfrm>
              <a:off x="612" y="2069"/>
              <a:ext cx="4188" cy="335"/>
            </a:xfrm>
            <a:prstGeom prst="leftRightArrow">
              <a:avLst>
                <a:gd name="adj1" fmla="val 52056"/>
                <a:gd name="adj2" fmla="val 51569"/>
              </a:avLst>
            </a:prstGeom>
            <a:solidFill>
              <a:srgbClr val="FF99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4" name="AutoShape 27"/>
            <p:cNvSpPr>
              <a:spLocks noChangeArrowheads="1"/>
            </p:cNvSpPr>
            <p:nvPr/>
          </p:nvSpPr>
          <p:spPr bwMode="auto">
            <a:xfrm>
              <a:off x="909" y="1485"/>
              <a:ext cx="179" cy="316"/>
            </a:xfrm>
            <a:prstGeom prst="upArrow">
              <a:avLst>
                <a:gd name="adj1" fmla="val 50000"/>
                <a:gd name="adj2" fmla="val 44134"/>
              </a:avLst>
            </a:prstGeom>
            <a:solidFill>
              <a:srgbClr val="00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5" name="AutoShape 28"/>
            <p:cNvSpPr>
              <a:spLocks noChangeArrowheads="1"/>
            </p:cNvSpPr>
            <p:nvPr/>
          </p:nvSpPr>
          <p:spPr bwMode="auto">
            <a:xfrm>
              <a:off x="1526" y="1481"/>
              <a:ext cx="180" cy="316"/>
            </a:xfrm>
            <a:prstGeom prst="upArrow">
              <a:avLst>
                <a:gd name="adj1" fmla="val 50000"/>
                <a:gd name="adj2" fmla="val 43889"/>
              </a:avLst>
            </a:prstGeom>
            <a:solidFill>
              <a:srgbClr val="00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6" name="AutoShape 29"/>
            <p:cNvSpPr>
              <a:spLocks noChangeArrowheads="1"/>
            </p:cNvSpPr>
            <p:nvPr/>
          </p:nvSpPr>
          <p:spPr bwMode="auto">
            <a:xfrm>
              <a:off x="2965" y="1481"/>
              <a:ext cx="179" cy="316"/>
            </a:xfrm>
            <a:prstGeom prst="upArrow">
              <a:avLst>
                <a:gd name="adj1" fmla="val 50000"/>
                <a:gd name="adj2" fmla="val 44134"/>
              </a:avLst>
            </a:prstGeom>
            <a:solidFill>
              <a:srgbClr val="00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7" name="Rectangle 30"/>
            <p:cNvSpPr>
              <a:spLocks noChangeArrowheads="1"/>
            </p:cNvSpPr>
            <p:nvPr/>
          </p:nvSpPr>
          <p:spPr bwMode="auto">
            <a:xfrm>
              <a:off x="963" y="1767"/>
              <a:ext cx="71" cy="51"/>
            </a:xfrm>
            <a:prstGeom prst="rect">
              <a:avLst/>
            </a:prstGeom>
            <a:solidFill>
              <a:srgbClr val="00CCFF"/>
            </a:solidFill>
            <a:ln w="25400">
              <a:solidFill>
                <a:srgbClr val="00CCFF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8" name="Rectangle 31"/>
            <p:cNvSpPr>
              <a:spLocks noChangeArrowheads="1"/>
            </p:cNvSpPr>
            <p:nvPr/>
          </p:nvSpPr>
          <p:spPr bwMode="auto">
            <a:xfrm>
              <a:off x="1582" y="1767"/>
              <a:ext cx="66" cy="51"/>
            </a:xfrm>
            <a:prstGeom prst="rect">
              <a:avLst/>
            </a:prstGeom>
            <a:solidFill>
              <a:srgbClr val="00CCFF"/>
            </a:solidFill>
            <a:ln w="25400">
              <a:solidFill>
                <a:srgbClr val="00CCFF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9" name="Rectangle 32"/>
            <p:cNvSpPr>
              <a:spLocks noChangeArrowheads="1"/>
            </p:cNvSpPr>
            <p:nvPr/>
          </p:nvSpPr>
          <p:spPr bwMode="auto">
            <a:xfrm>
              <a:off x="1187" y="2085"/>
              <a:ext cx="74" cy="50"/>
            </a:xfrm>
            <a:prstGeom prst="rect">
              <a:avLst/>
            </a:prstGeom>
            <a:solidFill>
              <a:srgbClr val="FF9900"/>
            </a:solidFill>
            <a:ln w="25400">
              <a:solidFill>
                <a:srgbClr val="FF99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0" name="Rectangle 33"/>
            <p:cNvSpPr>
              <a:spLocks noChangeArrowheads="1"/>
            </p:cNvSpPr>
            <p:nvPr/>
          </p:nvSpPr>
          <p:spPr bwMode="auto">
            <a:xfrm>
              <a:off x="1821" y="2095"/>
              <a:ext cx="73" cy="50"/>
            </a:xfrm>
            <a:prstGeom prst="rect">
              <a:avLst/>
            </a:prstGeom>
            <a:solidFill>
              <a:srgbClr val="FF9900"/>
            </a:solidFill>
            <a:ln w="25400">
              <a:solidFill>
                <a:srgbClr val="FF99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1" name="Rectangle 34"/>
            <p:cNvSpPr>
              <a:spLocks noChangeArrowheads="1"/>
            </p:cNvSpPr>
            <p:nvPr/>
          </p:nvSpPr>
          <p:spPr bwMode="auto">
            <a:xfrm>
              <a:off x="3274" y="2085"/>
              <a:ext cx="75" cy="50"/>
            </a:xfrm>
            <a:prstGeom prst="rect">
              <a:avLst/>
            </a:prstGeom>
            <a:solidFill>
              <a:srgbClr val="FF9900"/>
            </a:solidFill>
            <a:ln w="25400">
              <a:solidFill>
                <a:srgbClr val="FF99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2" name="Rectangle 35"/>
            <p:cNvSpPr>
              <a:spLocks noChangeArrowheads="1"/>
            </p:cNvSpPr>
            <p:nvPr/>
          </p:nvSpPr>
          <p:spPr bwMode="auto">
            <a:xfrm>
              <a:off x="3023" y="1761"/>
              <a:ext cx="66" cy="51"/>
            </a:xfrm>
            <a:prstGeom prst="rect">
              <a:avLst/>
            </a:prstGeom>
            <a:solidFill>
              <a:srgbClr val="00CCFF"/>
            </a:solidFill>
            <a:ln w="25400">
              <a:solidFill>
                <a:srgbClr val="00CCFF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3" name="Rectangle 36"/>
            <p:cNvSpPr>
              <a:spLocks noChangeArrowheads="1"/>
            </p:cNvSpPr>
            <p:nvPr/>
          </p:nvSpPr>
          <p:spPr bwMode="auto">
            <a:xfrm>
              <a:off x="1075" y="361"/>
              <a:ext cx="69" cy="33"/>
            </a:xfrm>
            <a:prstGeom prst="rect">
              <a:avLst/>
            </a:prstGeom>
            <a:solidFill>
              <a:srgbClr val="FFCC00"/>
            </a:solidFill>
            <a:ln w="25400">
              <a:solidFill>
                <a:srgbClr val="FFCC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4" name="Rectangle 37"/>
            <p:cNvSpPr>
              <a:spLocks noChangeArrowheads="1"/>
            </p:cNvSpPr>
            <p:nvPr/>
          </p:nvSpPr>
          <p:spPr bwMode="auto">
            <a:xfrm>
              <a:off x="1700" y="366"/>
              <a:ext cx="69" cy="34"/>
            </a:xfrm>
            <a:prstGeom prst="rect">
              <a:avLst/>
            </a:prstGeom>
            <a:solidFill>
              <a:srgbClr val="FFCC00"/>
            </a:solidFill>
            <a:ln w="25400">
              <a:solidFill>
                <a:srgbClr val="FFCC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5" name="Text Box 38"/>
            <p:cNvSpPr txBox="1">
              <a:spLocks noChangeArrowheads="1"/>
            </p:cNvSpPr>
            <p:nvPr/>
          </p:nvSpPr>
          <p:spPr bwMode="auto">
            <a:xfrm>
              <a:off x="0" y="0"/>
              <a:ext cx="612" cy="2449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72000" tIns="360000" rIns="0" bIns="0"/>
            <a:lstStyle/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E9E4"/>
                  </a:solidFill>
                  <a:effectLst/>
                  <a:uLnTx/>
                  <a:uFillTx/>
                  <a:ea typeface="宋体" pitchFamily="2" charset="-122"/>
                </a:rPr>
                <a:t>C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E9E4"/>
                  </a:solidFill>
                  <a:effectLst/>
                  <a:uLnTx/>
                  <a:uFillTx/>
                  <a:ea typeface="宋体" pitchFamily="2" charset="-122"/>
                </a:rPr>
                <a:t>P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E9E4"/>
                  </a:solidFill>
                  <a:effectLst/>
                  <a:uLnTx/>
                  <a:uFillTx/>
                  <a:ea typeface="宋体" pitchFamily="2" charset="-122"/>
                </a:rPr>
                <a:t>U</a:t>
              </a:r>
            </a:p>
          </p:txBody>
        </p:sp>
        <p:sp>
          <p:nvSpPr>
            <p:cNvPr id="106" name="AutoShape 39"/>
            <p:cNvSpPr>
              <a:spLocks noChangeArrowheads="1"/>
            </p:cNvSpPr>
            <p:nvPr/>
          </p:nvSpPr>
          <p:spPr bwMode="auto">
            <a:xfrm>
              <a:off x="3084" y="377"/>
              <a:ext cx="180" cy="212"/>
            </a:xfrm>
            <a:prstGeom prst="downArrow">
              <a:avLst>
                <a:gd name="adj1" fmla="val 50000"/>
                <a:gd name="adj2" fmla="val 29444"/>
              </a:avLst>
            </a:prstGeom>
            <a:solidFill>
              <a:srgbClr val="FF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7" name="Rectangle 40"/>
            <p:cNvSpPr>
              <a:spLocks noChangeArrowheads="1"/>
            </p:cNvSpPr>
            <p:nvPr/>
          </p:nvSpPr>
          <p:spPr bwMode="auto">
            <a:xfrm>
              <a:off x="3140" y="369"/>
              <a:ext cx="69" cy="34"/>
            </a:xfrm>
            <a:prstGeom prst="rect">
              <a:avLst/>
            </a:prstGeom>
            <a:solidFill>
              <a:srgbClr val="FFCC00"/>
            </a:solidFill>
            <a:ln w="25400">
              <a:solidFill>
                <a:srgbClr val="FFCC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8" name="Text Box 41"/>
            <p:cNvSpPr txBox="1">
              <a:spLocks noChangeArrowheads="1"/>
            </p:cNvSpPr>
            <p:nvPr/>
          </p:nvSpPr>
          <p:spPr bwMode="auto">
            <a:xfrm>
              <a:off x="2140" y="1783"/>
              <a:ext cx="857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数据总线 </a:t>
              </a: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DB</a:t>
              </a:r>
            </a:p>
          </p:txBody>
        </p:sp>
        <p:sp>
          <p:nvSpPr>
            <p:cNvPr id="109" name="Text Box 42"/>
            <p:cNvSpPr txBox="1">
              <a:spLocks noChangeArrowheads="1"/>
            </p:cNvSpPr>
            <p:nvPr/>
          </p:nvSpPr>
          <p:spPr bwMode="auto">
            <a:xfrm>
              <a:off x="2149" y="2146"/>
              <a:ext cx="862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控制总线 </a:t>
              </a: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CB</a:t>
              </a:r>
            </a:p>
          </p:txBody>
        </p:sp>
        <p:sp>
          <p:nvSpPr>
            <p:cNvPr id="110" name="Text Box 43"/>
            <p:cNvSpPr txBox="1">
              <a:spLocks noChangeArrowheads="1"/>
            </p:cNvSpPr>
            <p:nvPr/>
          </p:nvSpPr>
          <p:spPr bwMode="auto">
            <a:xfrm>
              <a:off x="4132" y="587"/>
              <a:ext cx="352" cy="884"/>
            </a:xfrm>
            <a:prstGeom prst="rect">
              <a:avLst/>
            </a:prstGeom>
            <a:solidFill>
              <a:srgbClr val="6699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180000" rIns="0" bIns="0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I/O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接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口</a:t>
              </a:r>
            </a:p>
          </p:txBody>
        </p:sp>
        <p:sp>
          <p:nvSpPr>
            <p:cNvPr id="111" name="AutoShape 44"/>
            <p:cNvSpPr>
              <a:spLocks noChangeArrowheads="1"/>
            </p:cNvSpPr>
            <p:nvPr/>
          </p:nvSpPr>
          <p:spPr bwMode="auto">
            <a:xfrm>
              <a:off x="4482" y="896"/>
              <a:ext cx="297" cy="216"/>
            </a:xfrm>
            <a:prstGeom prst="leftRightArrow">
              <a:avLst>
                <a:gd name="adj1" fmla="val 50000"/>
                <a:gd name="adj2" fmla="val 27500"/>
              </a:avLst>
            </a:prstGeom>
            <a:solidFill>
              <a:srgbClr val="3366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2" name="Rectangle 45"/>
            <p:cNvSpPr>
              <a:spLocks noChangeArrowheads="1"/>
            </p:cNvSpPr>
            <p:nvPr/>
          </p:nvSpPr>
          <p:spPr bwMode="auto">
            <a:xfrm>
              <a:off x="4402" y="2086"/>
              <a:ext cx="75" cy="50"/>
            </a:xfrm>
            <a:prstGeom prst="rect">
              <a:avLst/>
            </a:prstGeom>
            <a:solidFill>
              <a:srgbClr val="FF9900"/>
            </a:solidFill>
            <a:ln w="25400">
              <a:solidFill>
                <a:srgbClr val="FF99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3" name="Rectangle 46"/>
            <p:cNvSpPr>
              <a:spLocks noChangeArrowheads="1"/>
            </p:cNvSpPr>
            <p:nvPr/>
          </p:nvSpPr>
          <p:spPr bwMode="auto">
            <a:xfrm>
              <a:off x="4155" y="1762"/>
              <a:ext cx="66" cy="51"/>
            </a:xfrm>
            <a:prstGeom prst="rect">
              <a:avLst/>
            </a:prstGeom>
            <a:solidFill>
              <a:srgbClr val="00CCFF"/>
            </a:solidFill>
            <a:ln w="25400">
              <a:solidFill>
                <a:srgbClr val="00CCFF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4" name="AutoShape 47"/>
            <p:cNvSpPr>
              <a:spLocks noChangeArrowheads="1"/>
            </p:cNvSpPr>
            <p:nvPr/>
          </p:nvSpPr>
          <p:spPr bwMode="auto">
            <a:xfrm>
              <a:off x="4212" y="378"/>
              <a:ext cx="180" cy="212"/>
            </a:xfrm>
            <a:prstGeom prst="downArrow">
              <a:avLst>
                <a:gd name="adj1" fmla="val 50000"/>
                <a:gd name="adj2" fmla="val 29444"/>
              </a:avLst>
            </a:prstGeom>
            <a:solidFill>
              <a:srgbClr val="FF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5" name="Rectangle 48"/>
            <p:cNvSpPr>
              <a:spLocks noChangeArrowheads="1"/>
            </p:cNvSpPr>
            <p:nvPr/>
          </p:nvSpPr>
          <p:spPr bwMode="auto">
            <a:xfrm>
              <a:off x="4268" y="370"/>
              <a:ext cx="69" cy="34"/>
            </a:xfrm>
            <a:prstGeom prst="rect">
              <a:avLst/>
            </a:prstGeom>
            <a:solidFill>
              <a:srgbClr val="FFCC00"/>
            </a:solidFill>
            <a:ln w="25400">
              <a:solidFill>
                <a:srgbClr val="FFCC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6" name="Rectangle 49"/>
            <p:cNvSpPr>
              <a:spLocks noChangeArrowheads="1"/>
            </p:cNvSpPr>
            <p:nvPr/>
          </p:nvSpPr>
          <p:spPr bwMode="auto">
            <a:xfrm>
              <a:off x="3269" y="2086"/>
              <a:ext cx="86" cy="91"/>
            </a:xfrm>
            <a:prstGeom prst="rect">
              <a:avLst/>
            </a:prstGeom>
            <a:solidFill>
              <a:srgbClr val="FF9966"/>
            </a:solidFill>
            <a:ln w="9525">
              <a:solidFill>
                <a:srgbClr val="FF99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7" name="Rectangle 50"/>
            <p:cNvSpPr>
              <a:spLocks noChangeArrowheads="1"/>
            </p:cNvSpPr>
            <p:nvPr/>
          </p:nvSpPr>
          <p:spPr bwMode="auto">
            <a:xfrm>
              <a:off x="4399" y="2086"/>
              <a:ext cx="86" cy="91"/>
            </a:xfrm>
            <a:prstGeom prst="rect">
              <a:avLst/>
            </a:prstGeom>
            <a:solidFill>
              <a:srgbClr val="FF9966"/>
            </a:solidFill>
            <a:ln w="9525">
              <a:solidFill>
                <a:srgbClr val="FF99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8" name="Rectangle 51"/>
            <p:cNvSpPr>
              <a:spLocks noChangeArrowheads="1"/>
            </p:cNvSpPr>
            <p:nvPr/>
          </p:nvSpPr>
          <p:spPr bwMode="auto">
            <a:xfrm>
              <a:off x="1818" y="2086"/>
              <a:ext cx="86" cy="91"/>
            </a:xfrm>
            <a:prstGeom prst="rect">
              <a:avLst/>
            </a:prstGeom>
            <a:solidFill>
              <a:srgbClr val="FF9966"/>
            </a:solidFill>
            <a:ln w="9525">
              <a:solidFill>
                <a:srgbClr val="FF99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9" name="Rectangle 52"/>
            <p:cNvSpPr>
              <a:spLocks noChangeArrowheads="1"/>
            </p:cNvSpPr>
            <p:nvPr/>
          </p:nvSpPr>
          <p:spPr bwMode="auto">
            <a:xfrm>
              <a:off x="1183" y="2086"/>
              <a:ext cx="86" cy="91"/>
            </a:xfrm>
            <a:prstGeom prst="rect">
              <a:avLst/>
            </a:prstGeom>
            <a:solidFill>
              <a:srgbClr val="FF9966"/>
            </a:solidFill>
            <a:ln w="9525">
              <a:solidFill>
                <a:srgbClr val="FF99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120" name="文本框 119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405745" y="3116942"/>
            <a:ext cx="4394625" cy="2428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lang="zh-CN" altLang="en-US" sz="2800" dirty="0"/>
              <a:t>连接多个功能部件或多个装置的一组公共信号线。连在总线上的所有部件均能使用的公共线路，但使用必须是分时的。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806438" y="6008487"/>
            <a:ext cx="57246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7675" indent="-447675" algn="ctr"/>
            <a:r>
              <a:rPr lang="zh-CN" altLang="en-US" sz="2400" b="1" dirty="0">
                <a:solidFill>
                  <a:srgbClr val="180D5B"/>
                </a:solidFill>
                <a:latin typeface="楷体_GB2312" pitchFamily="49" charset="-122"/>
                <a:ea typeface="楷体_GB2312" pitchFamily="49" charset="-122"/>
              </a:rPr>
              <a:t>计算机总线系统</a:t>
            </a:r>
          </a:p>
        </p:txBody>
      </p:sp>
    </p:spTree>
    <p:extLst>
      <p:ext uri="{BB962C8B-B14F-4D97-AF65-F5344CB8AC3E}">
        <p14:creationId xmlns:p14="http://schemas.microsoft.com/office/powerpoint/2010/main" val="2555286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20" grpId="0"/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  微型计算机的硬件结构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902507" y="1470122"/>
            <a:ext cx="5550934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defTabSz="914354">
              <a:lnSpc>
                <a:spcPct val="90000"/>
              </a:lnSpc>
              <a:spcBef>
                <a:spcPct val="0"/>
              </a:spcBef>
            </a:pPr>
            <a:r>
              <a:rPr lang="zh-CN" altLang="en-US" sz="3200" dirty="0">
                <a:solidFill>
                  <a:srgbClr val="CC3300"/>
                </a:solidFill>
                <a:latin typeface="+mj-lt"/>
                <a:ea typeface="+mj-ea"/>
                <a:cs typeface="+mj-cs"/>
                <a:sym typeface="+mn-lt"/>
              </a:rPr>
              <a:t>按传输信息类别，总线分为：</a:t>
            </a: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823740" y="2332225"/>
            <a:ext cx="11259403" cy="194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lnSpc>
                <a:spcPct val="110000"/>
              </a:lnSpc>
              <a:spcBef>
                <a:spcPct val="50000"/>
              </a:spcBef>
              <a:buFont typeface="+mj-ea"/>
              <a:buAutoNum type="circleNumDbPlain"/>
            </a:pPr>
            <a:r>
              <a:rPr lang="zh-CN" altLang="en-US" sz="2800" dirty="0"/>
              <a:t>数据总线（</a:t>
            </a:r>
            <a:r>
              <a:rPr lang="en-US" altLang="zh-CN" sz="2800" dirty="0"/>
              <a:t>Data Bus ,DB</a:t>
            </a:r>
            <a:r>
              <a:rPr lang="zh-CN" altLang="en-US" sz="2800" dirty="0"/>
              <a:t>），传输数据信息</a:t>
            </a:r>
            <a:endParaRPr lang="en-US" altLang="zh-CN" sz="2800" dirty="0"/>
          </a:p>
          <a:p>
            <a:pPr marL="514350" indent="-514350" algn="just">
              <a:lnSpc>
                <a:spcPct val="110000"/>
              </a:lnSpc>
              <a:spcBef>
                <a:spcPct val="50000"/>
              </a:spcBef>
              <a:buFont typeface="+mj-ea"/>
              <a:buAutoNum type="circleNumDbPlain"/>
            </a:pPr>
            <a:r>
              <a:rPr lang="zh-CN" altLang="en-US" sz="2800" dirty="0"/>
              <a:t>地址总线（</a:t>
            </a:r>
            <a:r>
              <a:rPr lang="en-US" altLang="zh-CN" sz="2800" dirty="0"/>
              <a:t>Address Bus </a:t>
            </a:r>
            <a:r>
              <a:rPr lang="zh-CN" altLang="en-US" sz="2800" dirty="0"/>
              <a:t>，</a:t>
            </a:r>
            <a:r>
              <a:rPr lang="en-US" altLang="zh-CN" sz="2800" dirty="0"/>
              <a:t>AB </a:t>
            </a:r>
            <a:r>
              <a:rPr lang="zh-CN" altLang="en-US" sz="2800" dirty="0"/>
              <a:t>），传输地址信息</a:t>
            </a:r>
            <a:endParaRPr lang="en-US" altLang="zh-CN" sz="2800" dirty="0"/>
          </a:p>
          <a:p>
            <a:pPr marL="514350" indent="-514350" algn="just">
              <a:lnSpc>
                <a:spcPct val="110000"/>
              </a:lnSpc>
              <a:spcBef>
                <a:spcPct val="50000"/>
              </a:spcBef>
              <a:buFont typeface="+mj-ea"/>
              <a:buAutoNum type="circleNumDbPlain"/>
            </a:pPr>
            <a:r>
              <a:rPr lang="zh-CN" altLang="en-US" sz="2800" dirty="0"/>
              <a:t>控制总线（</a:t>
            </a:r>
            <a:r>
              <a:rPr lang="en-US" altLang="zh-CN" sz="2800" dirty="0"/>
              <a:t>Control Bus, CB</a:t>
            </a:r>
            <a:r>
              <a:rPr lang="zh-CN" altLang="en-US" sz="2800" dirty="0"/>
              <a:t>），传输控制信息</a:t>
            </a:r>
          </a:p>
        </p:txBody>
      </p:sp>
    </p:spTree>
    <p:extLst>
      <p:ext uri="{BB962C8B-B14F-4D97-AF65-F5344CB8AC3E}">
        <p14:creationId xmlns:p14="http://schemas.microsoft.com/office/powerpoint/2010/main" val="1509046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  微型计算机的硬件结构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902506" y="1391746"/>
            <a:ext cx="5550934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marL="514350" indent="-514350" defTabSz="914354">
              <a:lnSpc>
                <a:spcPct val="9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zh-CN" altLang="en-US" sz="3200" b="1" dirty="0">
                <a:solidFill>
                  <a:srgbClr val="CC3300"/>
                </a:solidFill>
                <a:latin typeface="+mj-lt"/>
                <a:ea typeface="+mj-ea"/>
                <a:cs typeface="+mj-cs"/>
                <a:sym typeface="+mn-lt"/>
              </a:rPr>
              <a:t>数据总线</a:t>
            </a:r>
            <a:r>
              <a:rPr lang="en-US" altLang="zh-CN" sz="3200" b="1" dirty="0">
                <a:solidFill>
                  <a:srgbClr val="CC3300"/>
                </a:solidFill>
                <a:latin typeface="+mj-lt"/>
                <a:ea typeface="+mj-ea"/>
                <a:cs typeface="+mj-cs"/>
                <a:sym typeface="+mn-lt"/>
              </a:rPr>
              <a:t>DB</a:t>
            </a:r>
            <a:endParaRPr lang="zh-CN" altLang="en-US" sz="3200" b="1" dirty="0">
              <a:solidFill>
                <a:srgbClr val="CC3300"/>
              </a:solidFill>
              <a:latin typeface="+mj-lt"/>
              <a:ea typeface="+mj-ea"/>
              <a:cs typeface="+mj-cs"/>
              <a:sym typeface="+mn-lt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1267875" y="2188532"/>
            <a:ext cx="10371129" cy="151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lang="zh-CN" altLang="en-US" sz="2800" dirty="0"/>
              <a:t>是</a:t>
            </a:r>
            <a:r>
              <a:rPr lang="en-US" altLang="zh-CN" sz="2800" dirty="0"/>
              <a:t>CPU</a:t>
            </a:r>
            <a:r>
              <a:rPr lang="zh-CN" altLang="en-US" sz="2800" dirty="0"/>
              <a:t>用来传送数据信息的信号线，为</a:t>
            </a:r>
            <a:r>
              <a:rPr lang="zh-CN" altLang="en-US" sz="2800" b="1" dirty="0"/>
              <a:t>双向</a:t>
            </a:r>
            <a:r>
              <a:rPr lang="zh-CN" altLang="en-US" sz="2800" dirty="0"/>
              <a:t>（双向传送信息）、</a:t>
            </a:r>
            <a:r>
              <a:rPr lang="zh-CN" altLang="en-US" sz="2800" b="1" dirty="0"/>
              <a:t>三态</a:t>
            </a:r>
            <a:r>
              <a:rPr lang="zh-CN" altLang="en-US" sz="2800" dirty="0"/>
              <a:t>（高、低电平状态，以及高阻抗状态（浮空状态））总线。位数越宽，一次数据传输的信息量就越大。</a:t>
            </a:r>
          </a:p>
        </p:txBody>
      </p:sp>
    </p:spTree>
    <p:extLst>
      <p:ext uri="{BB962C8B-B14F-4D97-AF65-F5344CB8AC3E}">
        <p14:creationId xmlns:p14="http://schemas.microsoft.com/office/powerpoint/2010/main" val="2265921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  微型计算机的硬件结构与三总线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902507" y="1588857"/>
            <a:ext cx="5550934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marL="514350" indent="-514350" defTabSz="914354">
              <a:lnSpc>
                <a:spcPct val="90000"/>
              </a:lnSpc>
              <a:spcBef>
                <a:spcPct val="0"/>
              </a:spcBef>
              <a:buFont typeface="+mj-ea"/>
              <a:buAutoNum type="circleNumDbPlain" startAt="2"/>
            </a:pPr>
            <a:r>
              <a:rPr lang="zh-CN" altLang="en-US" sz="3200" b="1" dirty="0">
                <a:solidFill>
                  <a:srgbClr val="CC3300"/>
                </a:solidFill>
                <a:cs typeface="+mn-ea"/>
                <a:sym typeface="+mn-lt"/>
              </a:rPr>
              <a:t>地址总线</a:t>
            </a:r>
            <a:r>
              <a:rPr lang="en-US" altLang="zh-CN" sz="3200" b="1" dirty="0">
                <a:solidFill>
                  <a:srgbClr val="CC3300"/>
                </a:solidFill>
                <a:cs typeface="+mn-ea"/>
                <a:sym typeface="+mn-lt"/>
              </a:rPr>
              <a:t>AB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1364061" y="2453074"/>
            <a:ext cx="989612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lang="zh-CN" altLang="en-US" sz="2800" dirty="0">
                <a:cs typeface="+mn-ea"/>
                <a:sym typeface="+mn-lt"/>
              </a:rPr>
              <a:t>是微型计算机用来传送地址信息的信号线，为</a:t>
            </a:r>
            <a:r>
              <a:rPr lang="zh-CN" altLang="en-US" sz="2800" b="1" dirty="0">
                <a:cs typeface="+mn-ea"/>
                <a:sym typeface="+mn-lt"/>
              </a:rPr>
              <a:t>单向</a:t>
            </a:r>
            <a:r>
              <a:rPr lang="zh-CN" altLang="en-US" sz="2800" dirty="0">
                <a:cs typeface="+mn-ea"/>
                <a:sym typeface="+mn-lt"/>
              </a:rPr>
              <a:t>（单向传送信息）、</a:t>
            </a:r>
            <a:r>
              <a:rPr lang="zh-CN" altLang="en-US" sz="2800" b="1" dirty="0">
                <a:cs typeface="+mn-ea"/>
                <a:sym typeface="+mn-lt"/>
              </a:rPr>
              <a:t>三态</a:t>
            </a:r>
            <a:r>
              <a:rPr lang="zh-CN" altLang="en-US" sz="2800" dirty="0">
                <a:cs typeface="+mn-ea"/>
                <a:sym typeface="+mn-lt"/>
              </a:rPr>
              <a:t>总线，由微处理器发出，寻址存储器或外设。</a:t>
            </a:r>
            <a:r>
              <a:rPr lang="en-US" altLang="zh-CN" sz="2800" dirty="0">
                <a:cs typeface="+mn-ea"/>
                <a:sym typeface="+mn-lt"/>
              </a:rPr>
              <a:t>AB</a:t>
            </a:r>
            <a:r>
              <a:rPr lang="zh-CN" altLang="en-US" sz="2800" dirty="0">
                <a:cs typeface="+mn-ea"/>
                <a:sym typeface="+mn-lt"/>
              </a:rPr>
              <a:t>的位数越宽，寻址的空间就越大。</a:t>
            </a:r>
            <a:endParaRPr lang="en-US" altLang="zh-CN" sz="2800" dirty="0">
              <a:cs typeface="+mn-ea"/>
              <a:sym typeface="+mn-lt"/>
            </a:endParaRPr>
          </a:p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dirty="0">
                <a:cs typeface="+mn-ea"/>
                <a:sym typeface="+mn-lt"/>
              </a:rPr>
              <a:t>  </a:t>
            </a:r>
            <a:r>
              <a:rPr lang="zh-CN" altLang="en-US" sz="2800" b="1" dirty="0">
                <a:cs typeface="+mn-ea"/>
                <a:sym typeface="+mn-lt"/>
              </a:rPr>
              <a:t>编址</a:t>
            </a:r>
            <a:r>
              <a:rPr lang="zh-CN" altLang="en-US" sz="2800" b="1" dirty="0" smtClean="0">
                <a:cs typeface="+mn-ea"/>
                <a:sym typeface="+mn-lt"/>
              </a:rPr>
              <a:t>方式：</a:t>
            </a:r>
            <a:r>
              <a:rPr lang="en-US" altLang="zh-CN" sz="2800" b="1" dirty="0" smtClean="0">
                <a:cs typeface="+mn-ea"/>
                <a:sym typeface="+mn-lt"/>
              </a:rPr>
              <a:t>            </a:t>
            </a:r>
            <a:r>
              <a:rPr lang="zh-CN" altLang="en-US" sz="2800" dirty="0">
                <a:solidFill>
                  <a:srgbClr val="FF0000"/>
                </a:solidFill>
                <a:cs typeface="+mn-ea"/>
                <a:sym typeface="+mn-lt"/>
              </a:rPr>
              <a:t>独立编址</a:t>
            </a:r>
            <a:r>
              <a:rPr lang="en-US" altLang="zh-CN" sz="2800" dirty="0">
                <a:cs typeface="+mn-ea"/>
                <a:sym typeface="+mn-lt"/>
              </a:rPr>
              <a:t>---</a:t>
            </a:r>
            <a:r>
              <a:rPr lang="zh-CN" altLang="en-US" sz="2800" dirty="0">
                <a:cs typeface="+mn-ea"/>
                <a:sym typeface="+mn-lt"/>
              </a:rPr>
              <a:t>多种寻址指令</a:t>
            </a:r>
            <a:endParaRPr lang="en-US" altLang="zh-CN" sz="2800" dirty="0">
              <a:cs typeface="+mn-ea"/>
              <a:sym typeface="+mn-lt"/>
            </a:endParaRPr>
          </a:p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dirty="0">
                <a:cs typeface="+mn-ea"/>
                <a:sym typeface="+mn-lt"/>
              </a:rPr>
              <a:t>                               </a:t>
            </a:r>
            <a:r>
              <a:rPr lang="zh-CN" altLang="en-US" sz="2800" dirty="0">
                <a:solidFill>
                  <a:srgbClr val="FF0000"/>
                </a:solidFill>
                <a:cs typeface="+mn-ea"/>
                <a:sym typeface="+mn-lt"/>
              </a:rPr>
              <a:t>统一编址</a:t>
            </a:r>
            <a:r>
              <a:rPr lang="en-US" altLang="zh-CN" sz="2800" dirty="0">
                <a:cs typeface="+mn-ea"/>
                <a:sym typeface="+mn-lt"/>
              </a:rPr>
              <a:t>---</a:t>
            </a:r>
            <a:r>
              <a:rPr lang="zh-CN" altLang="en-US" sz="2800" dirty="0">
                <a:cs typeface="+mn-ea"/>
                <a:sym typeface="+mn-lt"/>
              </a:rPr>
              <a:t>单个寻址指令</a:t>
            </a:r>
          </a:p>
        </p:txBody>
      </p:sp>
    </p:spTree>
    <p:extLst>
      <p:ext uri="{BB962C8B-B14F-4D97-AF65-F5344CB8AC3E}">
        <p14:creationId xmlns:p14="http://schemas.microsoft.com/office/powerpoint/2010/main" val="409577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  微型计算机的硬件结构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902506" y="1326431"/>
            <a:ext cx="5550934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marL="514350" indent="-514350" defTabSz="914354">
              <a:lnSpc>
                <a:spcPct val="90000"/>
              </a:lnSpc>
              <a:spcBef>
                <a:spcPct val="0"/>
              </a:spcBef>
              <a:buFont typeface="+mj-ea"/>
              <a:buAutoNum type="circleNumDbPlain" startAt="3"/>
            </a:pPr>
            <a:r>
              <a:rPr lang="zh-CN" altLang="en-US" sz="3200" b="1" dirty="0">
                <a:solidFill>
                  <a:srgbClr val="CC3300"/>
                </a:solidFill>
                <a:latin typeface="+mj-lt"/>
                <a:ea typeface="+mj-ea"/>
                <a:cs typeface="+mj-cs"/>
                <a:sym typeface="+mn-lt"/>
              </a:rPr>
              <a:t>控制总线</a:t>
            </a:r>
            <a:r>
              <a:rPr lang="en-US" altLang="zh-CN" sz="3200" b="1" dirty="0">
                <a:solidFill>
                  <a:srgbClr val="CC3300"/>
                </a:solidFill>
                <a:latin typeface="+mj-lt"/>
                <a:ea typeface="+mj-ea"/>
                <a:cs typeface="+mj-cs"/>
                <a:sym typeface="+mn-lt"/>
              </a:rPr>
              <a:t>CB</a:t>
            </a: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1442048" y="1992589"/>
            <a:ext cx="1006632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 dirty="0">
                <a:solidFill>
                  <a:schemeClr val="accent1"/>
                </a:solidFill>
              </a:rPr>
              <a:t>传送控制信号的一组总线</a:t>
            </a:r>
            <a:r>
              <a:rPr lang="zh-CN" altLang="en-US" sz="2800" dirty="0"/>
              <a:t>，实现</a:t>
            </a:r>
            <a:r>
              <a:rPr lang="en-US" altLang="zh-CN" sz="2800" dirty="0"/>
              <a:t>CPU</a:t>
            </a:r>
            <a:r>
              <a:rPr lang="zh-CN" altLang="en-US" sz="2800" dirty="0"/>
              <a:t>对外部功能部件（包括存储器和</a:t>
            </a:r>
            <a:r>
              <a:rPr lang="en-US" altLang="zh-CN" sz="2800" dirty="0"/>
              <a:t>I/O</a:t>
            </a:r>
            <a:r>
              <a:rPr lang="zh-CN" altLang="en-US" sz="2800" dirty="0"/>
              <a:t>接口）的控制及接收外部传送给</a:t>
            </a:r>
            <a:r>
              <a:rPr lang="en-US" altLang="zh-CN" sz="2800" dirty="0"/>
              <a:t>CPU</a:t>
            </a:r>
            <a:r>
              <a:rPr lang="zh-CN" altLang="en-US" sz="2800" dirty="0"/>
              <a:t>的状态信号，包括微处理器向存储器发送的读选通信号</a:t>
            </a:r>
            <a:r>
              <a:rPr lang="en-US" altLang="zh-CN" sz="2800" dirty="0"/>
              <a:t>RD</a:t>
            </a:r>
            <a:r>
              <a:rPr lang="zh-CN" altLang="en-US" sz="2800" dirty="0"/>
              <a:t>、写选通信号</a:t>
            </a:r>
            <a:r>
              <a:rPr lang="en-US" altLang="zh-CN" sz="2800" dirty="0"/>
              <a:t>WR</a:t>
            </a:r>
            <a:r>
              <a:rPr lang="zh-CN" altLang="en-US" sz="2800" dirty="0"/>
              <a:t>，以及外设向微处理器发送的中断请求信号</a:t>
            </a:r>
            <a:r>
              <a:rPr lang="en-US" altLang="zh-CN" sz="2800" dirty="0"/>
              <a:t>NMI</a:t>
            </a:r>
            <a:r>
              <a:rPr lang="zh-CN" altLang="en-US" sz="2800" dirty="0"/>
              <a:t>、</a:t>
            </a:r>
            <a:r>
              <a:rPr lang="en-US" altLang="zh-CN" sz="2800" dirty="0"/>
              <a:t>INTR</a:t>
            </a:r>
            <a:r>
              <a:rPr lang="zh-CN" altLang="en-US" sz="2800" dirty="0"/>
              <a:t>等。控制总线的各位作用不同，且一般都是单向的。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144970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  微型计算机的硬件结构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1198333" y="1805826"/>
            <a:ext cx="5550934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defTabSz="914354">
              <a:lnSpc>
                <a:spcPct val="90000"/>
              </a:lnSpc>
              <a:spcBef>
                <a:spcPct val="0"/>
              </a:spcBef>
            </a:pPr>
            <a:r>
              <a:rPr lang="zh-CN" altLang="en-US" sz="3200" b="1" dirty="0">
                <a:solidFill>
                  <a:srgbClr val="CC3300"/>
                </a:solidFill>
                <a:cs typeface="+mn-ea"/>
                <a:sym typeface="+mn-lt"/>
              </a:rPr>
              <a:t>讨论与交流</a:t>
            </a:r>
            <a:endParaRPr lang="en-US" altLang="zh-CN" sz="3200" b="1" dirty="0">
              <a:solidFill>
                <a:srgbClr val="CC3300"/>
              </a:solidFill>
              <a:cs typeface="+mn-ea"/>
              <a:sym typeface="+mn-lt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1198333" y="2587393"/>
            <a:ext cx="10066329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dirty="0">
                <a:cs typeface="+mn-ea"/>
                <a:sym typeface="+mn-lt"/>
              </a:rPr>
              <a:t>深入理解统一编址与独立编址问题，其含义及特点是什么？</a:t>
            </a:r>
          </a:p>
        </p:txBody>
      </p:sp>
    </p:spTree>
    <p:extLst>
      <p:ext uri="{BB962C8B-B14F-4D97-AF65-F5344CB8AC3E}">
        <p14:creationId xmlns:p14="http://schemas.microsoft.com/office/powerpoint/2010/main" val="3560420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3C326D0B-7DAB-41B6-8030-2E4A18CC949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1" name="think-cell Slide" r:id="rId5" imgW="360" imgH="360" progId="">
                  <p:embed/>
                </p:oleObj>
              </mc:Choice>
              <mc:Fallback>
                <p:oleObj name="think-cell Slide" r:id="rId5" imgW="360" imgH="360" progId="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id="{3C326D0B-7DAB-41B6-8030-2E4A18CC94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id="{EC933494-1B63-4A32-964F-D05236799BA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cs typeface="+mn-ea"/>
              <a:sym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978949" y="2023969"/>
            <a:ext cx="6041284" cy="1058852"/>
          </a:xfrm>
        </p:spPr>
        <p:txBody>
          <a:bodyPr>
            <a:normAutofit/>
          </a:bodyPr>
          <a:lstStyle/>
          <a:p>
            <a:r>
              <a:rPr lang="zh-CN" altLang="en-US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lt"/>
                <a:ea typeface="+mn-ea"/>
                <a:cs typeface="+mn-ea"/>
                <a:sym typeface="+mn-lt"/>
              </a:rPr>
              <a:t>单片机原理及其应用</a:t>
            </a: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3AE36C13-51F4-4440-8DB2-2A4E128FFD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6065" y="3993091"/>
            <a:ext cx="3205146" cy="548173"/>
          </a:xfr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r>
              <a:rPr lang="zh-CN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重庆大学   电气工程学院</a:t>
            </a:r>
          </a:p>
        </p:txBody>
      </p:sp>
      <p:sp>
        <p:nvSpPr>
          <p:cNvPr id="5" name="矩形 4"/>
          <p:cNvSpPr/>
          <p:nvPr/>
        </p:nvSpPr>
        <p:spPr>
          <a:xfrm>
            <a:off x="622577" y="1378227"/>
            <a:ext cx="69500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800" dirty="0">
                <a:solidFill>
                  <a:schemeClr val="bg1"/>
                </a:solidFill>
                <a:cs typeface="+mn-ea"/>
                <a:sym typeface="+mn-lt"/>
              </a:rPr>
              <a:t>ARM Cortex-M3 </a:t>
            </a:r>
            <a:r>
              <a:rPr lang="zh-CN" altLang="zh-CN" sz="2800" b="1" kern="1800" dirty="0">
                <a:solidFill>
                  <a:schemeClr val="bg1"/>
                </a:solidFill>
                <a:cs typeface="+mn-ea"/>
                <a:sym typeface="+mn-lt"/>
              </a:rPr>
              <a:t>的</a:t>
            </a:r>
            <a:r>
              <a:rPr lang="en-US" altLang="zh-CN" sz="2800" b="1" kern="1800" dirty="0">
                <a:solidFill>
                  <a:schemeClr val="bg1"/>
                </a:solidFill>
                <a:cs typeface="+mn-ea"/>
                <a:sym typeface="+mn-lt"/>
              </a:rPr>
              <a:t>STM32</a:t>
            </a:r>
            <a:r>
              <a:rPr lang="zh-CN" altLang="zh-CN" sz="2800" b="1" kern="1800" dirty="0">
                <a:solidFill>
                  <a:schemeClr val="bg1"/>
                </a:solidFill>
                <a:cs typeface="+mn-ea"/>
                <a:sym typeface="+mn-lt"/>
              </a:rPr>
              <a:t>系列</a:t>
            </a:r>
            <a:r>
              <a:rPr lang="zh-CN" altLang="zh-CN" sz="4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cs typeface="+mn-ea"/>
                <a:sym typeface="+mn-lt"/>
              </a:rPr>
              <a:t>——</a:t>
            </a:r>
            <a:endParaRPr lang="zh-CN" altLang="en-US" sz="4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6065" y="3167390"/>
            <a:ext cx="6723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2E6E0"/>
                </a:solidFill>
                <a:cs typeface="+mn-ea"/>
                <a:sym typeface="+mn-lt"/>
              </a:rPr>
              <a:t>无符号数的表示</a:t>
            </a:r>
            <a:endParaRPr lang="en-US" altLang="zh-CN" sz="2800" b="1" dirty="0">
              <a:solidFill>
                <a:srgbClr val="42E6E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9941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cs typeface="+mn-ea"/>
                <a:sym typeface="+mn-lt"/>
              </a:rPr>
              <a:t>	</a:t>
            </a:r>
            <a:r>
              <a:rPr lang="zh-CN" altLang="en-US" sz="2800" b="1" dirty="0">
                <a:cs typeface="+mn-ea"/>
                <a:sym typeface="+mn-lt"/>
              </a:rPr>
              <a:t>无符号数的表示 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16" name="Group 5"/>
          <p:cNvGrpSpPr>
            <a:grpSpLocks/>
          </p:cNvGrpSpPr>
          <p:nvPr/>
        </p:nvGrpSpPr>
        <p:grpSpPr bwMode="auto">
          <a:xfrm>
            <a:off x="2522067" y="1198950"/>
            <a:ext cx="6764489" cy="1769362"/>
            <a:chOff x="605" y="1083"/>
            <a:chExt cx="3944" cy="956"/>
          </a:xfrm>
        </p:grpSpPr>
        <p:sp>
          <p:nvSpPr>
            <p:cNvPr id="17" name="Rectangle 6"/>
            <p:cNvSpPr>
              <a:spLocks noChangeArrowheads="1"/>
            </p:cNvSpPr>
            <p:nvPr/>
          </p:nvSpPr>
          <p:spPr bwMode="auto">
            <a:xfrm>
              <a:off x="829" y="1663"/>
              <a:ext cx="3720" cy="376"/>
            </a:xfrm>
            <a:prstGeom prst="rect">
              <a:avLst/>
            </a:prstGeom>
            <a:solidFill>
              <a:srgbClr val="180D5B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/>
            <a:lstStyle>
              <a:lvl1pPr marL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 sz="2000" b="1" dirty="0">
                  <a:solidFill>
                    <a:srgbClr val="FFFFFF"/>
                  </a:solidFill>
                  <a:latin typeface="+mn-lt"/>
                  <a:ea typeface="+mn-ea"/>
                  <a:cs typeface="+mn-ea"/>
                  <a:sym typeface="+mn-lt"/>
                </a:rPr>
                <a:t>计算机采用二进制：只能认识和处理二进制数即：“</a:t>
              </a:r>
              <a:r>
                <a:rPr kumimoji="0" lang="en-US" altLang="zh-CN" sz="2000" b="1" dirty="0">
                  <a:solidFill>
                    <a:srgbClr val="FFFFFF"/>
                  </a:solidFill>
                  <a:latin typeface="+mn-lt"/>
                  <a:ea typeface="+mn-ea"/>
                  <a:cs typeface="+mn-ea"/>
                  <a:sym typeface="+mn-lt"/>
                </a:rPr>
                <a:t>0”</a:t>
              </a:r>
              <a:r>
                <a:rPr kumimoji="0" lang="zh-CN" altLang="en-US" sz="2000" b="1" dirty="0">
                  <a:solidFill>
                    <a:srgbClr val="FFFFFF"/>
                  </a:solidFill>
                  <a:latin typeface="+mn-lt"/>
                  <a:ea typeface="+mn-ea"/>
                  <a:cs typeface="+mn-ea"/>
                  <a:sym typeface="+mn-lt"/>
                </a:rPr>
                <a:t>、“</a:t>
              </a:r>
              <a:r>
                <a:rPr kumimoji="0" lang="en-US" altLang="zh-CN" sz="2000" b="1" dirty="0">
                  <a:solidFill>
                    <a:srgbClr val="FFFFFF"/>
                  </a:solidFill>
                  <a:latin typeface="+mn-lt"/>
                  <a:ea typeface="+mn-ea"/>
                  <a:cs typeface="+mn-ea"/>
                  <a:sym typeface="+mn-lt"/>
                </a:rPr>
                <a:t>1”</a:t>
              </a:r>
              <a:r>
                <a:rPr kumimoji="0" lang="zh-CN" altLang="en-US" sz="2000" b="1" dirty="0">
                  <a:solidFill>
                    <a:srgbClr val="FFFFFF"/>
                  </a:solidFill>
                  <a:latin typeface="+mn-lt"/>
                  <a:ea typeface="+mn-ea"/>
                  <a:cs typeface="+mn-ea"/>
                  <a:sym typeface="+mn-lt"/>
                </a:rPr>
                <a:t>以及由“</a:t>
              </a:r>
              <a:r>
                <a:rPr kumimoji="0" lang="en-US" altLang="zh-CN" sz="2000" b="1" dirty="0">
                  <a:solidFill>
                    <a:srgbClr val="FFFFFF"/>
                  </a:solidFill>
                  <a:latin typeface="+mn-lt"/>
                  <a:ea typeface="+mn-ea"/>
                  <a:cs typeface="+mn-ea"/>
                  <a:sym typeface="+mn-lt"/>
                </a:rPr>
                <a:t>0”“1”</a:t>
              </a:r>
              <a:r>
                <a:rPr kumimoji="0" lang="zh-CN" altLang="en-US" sz="2000" b="1" dirty="0">
                  <a:solidFill>
                    <a:srgbClr val="FFFFFF"/>
                  </a:solidFill>
                  <a:latin typeface="+mn-lt"/>
                  <a:ea typeface="+mn-ea"/>
                  <a:cs typeface="+mn-ea"/>
                  <a:sym typeface="+mn-lt"/>
                </a:rPr>
                <a:t>组成的信息</a:t>
              </a:r>
              <a:endParaRPr kumimoji="0" lang="zh-CN" altLang="en-US" sz="1600" b="1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Text Box 7"/>
            <p:cNvSpPr txBox="1">
              <a:spLocks noChangeArrowheads="1"/>
            </p:cNvSpPr>
            <p:nvPr/>
          </p:nvSpPr>
          <p:spPr bwMode="auto">
            <a:xfrm>
              <a:off x="605" y="1083"/>
              <a:ext cx="1160" cy="6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zh-CN" altLang="en-US" sz="1600" b="1" dirty="0">
                  <a:latin typeface="+mn-lt"/>
                  <a:ea typeface="+mn-ea"/>
                  <a:cs typeface="+mn-ea"/>
                  <a:sym typeface="+mn-lt"/>
                </a:rPr>
                <a:t>十进制数、</a:t>
              </a:r>
              <a:endParaRPr kumimoji="0" lang="en-US" altLang="zh-CN" sz="1600" b="1" dirty="0">
                <a:latin typeface="+mn-lt"/>
                <a:ea typeface="+mn-ea"/>
                <a:cs typeface="+mn-ea"/>
                <a:sym typeface="+mn-lt"/>
              </a:endParaRPr>
            </a:p>
            <a:p>
              <a:r>
                <a:rPr kumimoji="0" lang="en-US" altLang="zh-CN" sz="1600" b="1" dirty="0" err="1">
                  <a:latin typeface="+mn-lt"/>
                  <a:ea typeface="+mn-ea"/>
                  <a:cs typeface="+mn-ea"/>
                  <a:sym typeface="+mn-lt"/>
                </a:rPr>
                <a:t>a~z</a:t>
              </a:r>
              <a:r>
                <a:rPr kumimoji="0" lang="en-US" altLang="zh-CN" sz="1600" b="1" dirty="0">
                  <a:latin typeface="+mn-lt"/>
                  <a:ea typeface="+mn-ea"/>
                  <a:cs typeface="+mn-ea"/>
                  <a:sym typeface="+mn-lt"/>
                </a:rPr>
                <a:t>  A~Z</a:t>
              </a:r>
              <a:endParaRPr kumimoji="0" lang="en-US" altLang="zh-CN" sz="1200" b="1" dirty="0">
                <a:latin typeface="+mn-lt"/>
                <a:ea typeface="+mn-ea"/>
                <a:cs typeface="+mn-ea"/>
                <a:sym typeface="+mn-lt"/>
              </a:endParaRPr>
            </a:p>
            <a:p>
              <a:r>
                <a:rPr kumimoji="0" lang="en-US" altLang="zh-CN" sz="1600" b="1" dirty="0">
                  <a:latin typeface="+mn-lt"/>
                  <a:ea typeface="+mn-ea"/>
                  <a:cs typeface="+mn-ea"/>
                  <a:sym typeface="+mn-lt"/>
                </a:rPr>
                <a:t>%</a:t>
              </a:r>
              <a:r>
                <a:rPr kumimoji="0" lang="zh-CN" altLang="en-US" sz="1600" b="1" dirty="0">
                  <a:latin typeface="+mn-lt"/>
                  <a:ea typeface="+mn-ea"/>
                  <a:cs typeface="+mn-ea"/>
                  <a:sym typeface="+mn-lt"/>
                </a:rPr>
                <a:t>、</a:t>
              </a:r>
              <a:r>
                <a:rPr kumimoji="0" lang="en-US" altLang="zh-CN" sz="1600" b="1" dirty="0">
                  <a:latin typeface="+mn-lt"/>
                  <a:ea typeface="+mn-ea"/>
                  <a:cs typeface="+mn-ea"/>
                  <a:sym typeface="+mn-lt"/>
                </a:rPr>
                <a:t>!</a:t>
              </a:r>
              <a:r>
                <a:rPr kumimoji="0" lang="zh-CN" altLang="en-US" sz="1600" b="1" dirty="0">
                  <a:latin typeface="+mn-lt"/>
                  <a:ea typeface="+mn-ea"/>
                  <a:cs typeface="+mn-ea"/>
                  <a:sym typeface="+mn-lt"/>
                </a:rPr>
                <a:t>、</a:t>
              </a:r>
              <a:r>
                <a:rPr kumimoji="0" lang="en-US" altLang="zh-CN" sz="1600" b="1" dirty="0">
                  <a:latin typeface="+mn-lt"/>
                  <a:ea typeface="+mn-ea"/>
                  <a:cs typeface="+mn-ea"/>
                  <a:sym typeface="+mn-lt"/>
                </a:rPr>
                <a:t>$…</a:t>
              </a:r>
              <a:endParaRPr kumimoji="0" lang="en-US" altLang="zh-CN" sz="1600" dirty="0">
                <a:latin typeface="+mn-lt"/>
                <a:ea typeface="+mn-ea"/>
                <a:cs typeface="+mn-ea"/>
                <a:sym typeface="+mn-lt"/>
              </a:endParaRPr>
            </a:p>
            <a:p>
              <a:pPr algn="ctr" eaLnBrk="1" hangingPunct="1">
                <a:spcBef>
                  <a:spcPct val="50000"/>
                </a:spcBef>
              </a:pPr>
              <a:endParaRPr kumimoji="0" lang="zh-CN" altLang="en-US" sz="1600" b="1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AutoShape 8"/>
            <p:cNvSpPr>
              <a:spLocks noChangeArrowheads="1"/>
            </p:cNvSpPr>
            <p:nvPr/>
          </p:nvSpPr>
          <p:spPr bwMode="auto">
            <a:xfrm>
              <a:off x="1701" y="1253"/>
              <a:ext cx="318" cy="136"/>
            </a:xfrm>
            <a:prstGeom prst="rightArrow">
              <a:avLst>
                <a:gd name="adj1" fmla="val 50000"/>
                <a:gd name="adj2" fmla="val 58456"/>
              </a:avLst>
            </a:prstGeom>
            <a:solidFill>
              <a:srgbClr val="FFFFFF"/>
            </a:solidFill>
            <a:ln w="1905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cs typeface="+mn-ea"/>
                <a:sym typeface="+mn-lt"/>
              </a:endParaRPr>
            </a:p>
          </p:txBody>
        </p:sp>
        <p:sp>
          <p:nvSpPr>
            <p:cNvPr id="20" name="Rectangle 9"/>
            <p:cNvSpPr>
              <a:spLocks noChangeArrowheads="1"/>
            </p:cNvSpPr>
            <p:nvPr/>
          </p:nvSpPr>
          <p:spPr bwMode="auto">
            <a:xfrm>
              <a:off x="2077" y="1087"/>
              <a:ext cx="907" cy="408"/>
            </a:xfrm>
            <a:prstGeom prst="rect">
              <a:avLst/>
            </a:prstGeom>
            <a:noFill/>
            <a:ln w="19050" algn="ctr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cs typeface="+mn-ea"/>
                <a:sym typeface="+mn-lt"/>
              </a:endParaRPr>
            </a:p>
          </p:txBody>
        </p:sp>
        <p:sp>
          <p:nvSpPr>
            <p:cNvPr id="21" name="Text Box 10"/>
            <p:cNvSpPr txBox="1">
              <a:spLocks noChangeArrowheads="1"/>
            </p:cNvSpPr>
            <p:nvPr/>
          </p:nvSpPr>
          <p:spPr bwMode="auto">
            <a:xfrm>
              <a:off x="1837" y="1207"/>
              <a:ext cx="1179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0" lang="zh-CN" altLang="en-US" sz="1600" b="1" dirty="0">
                  <a:solidFill>
                    <a:srgbClr val="FF0000"/>
                  </a:solidFill>
                  <a:latin typeface="+mn-lt"/>
                  <a:ea typeface="+mn-ea"/>
                  <a:cs typeface="+mn-ea"/>
                  <a:sym typeface="+mn-lt"/>
                </a:rPr>
                <a:t>计算机系统</a:t>
              </a:r>
            </a:p>
          </p:txBody>
        </p:sp>
        <p:sp>
          <p:nvSpPr>
            <p:cNvPr id="22" name="AutoShape 11"/>
            <p:cNvSpPr>
              <a:spLocks noChangeArrowheads="1"/>
            </p:cNvSpPr>
            <p:nvPr/>
          </p:nvSpPr>
          <p:spPr bwMode="auto">
            <a:xfrm>
              <a:off x="3016" y="1253"/>
              <a:ext cx="408" cy="136"/>
            </a:xfrm>
            <a:prstGeom prst="rightArrow">
              <a:avLst>
                <a:gd name="adj1" fmla="val 50000"/>
                <a:gd name="adj2" fmla="val 75000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2000">
                <a:cs typeface="+mn-ea"/>
                <a:sym typeface="+mn-lt"/>
              </a:endParaRPr>
            </a:p>
          </p:txBody>
        </p:sp>
        <p:sp>
          <p:nvSpPr>
            <p:cNvPr id="23" name="Text Box 12"/>
            <p:cNvSpPr txBox="1">
              <a:spLocks noChangeArrowheads="1"/>
            </p:cNvSpPr>
            <p:nvPr/>
          </p:nvSpPr>
          <p:spPr bwMode="auto">
            <a:xfrm>
              <a:off x="3152" y="1207"/>
              <a:ext cx="907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0" lang="zh-CN" altLang="en-US" sz="1600" b="1" dirty="0">
                  <a:latin typeface="+mn-lt"/>
                  <a:ea typeface="+mn-ea"/>
                  <a:cs typeface="+mn-ea"/>
                  <a:sym typeface="+mn-lt"/>
                </a:rPr>
                <a:t>十进制数</a:t>
              </a:r>
            </a:p>
          </p:txBody>
        </p:sp>
        <p:sp>
          <p:nvSpPr>
            <p:cNvPr id="24" name="AutoShape 13"/>
            <p:cNvSpPr>
              <a:spLocks noChangeArrowheads="1"/>
            </p:cNvSpPr>
            <p:nvPr/>
          </p:nvSpPr>
          <p:spPr bwMode="auto">
            <a:xfrm>
              <a:off x="2426" y="1545"/>
              <a:ext cx="210" cy="122"/>
            </a:xfrm>
            <a:prstGeom prst="upArrow">
              <a:avLst>
                <a:gd name="adj1" fmla="val 50000"/>
                <a:gd name="adj2" fmla="val 25000"/>
              </a:avLst>
            </a:prstGeom>
            <a:solidFill>
              <a:srgbClr val="FFFFFF"/>
            </a:solidFill>
            <a:ln w="1905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eaVert"/>
            <a:lstStyle/>
            <a:p>
              <a:endParaRPr lang="zh-CN" altLang="en-US" sz="2000">
                <a:cs typeface="+mn-ea"/>
                <a:sym typeface="+mn-lt"/>
              </a:endParaRPr>
            </a:p>
          </p:txBody>
        </p:sp>
      </p:grpSp>
      <p:sp>
        <p:nvSpPr>
          <p:cNvPr id="26" name="内容占位符 2"/>
          <p:cNvSpPr txBox="1">
            <a:spLocks/>
          </p:cNvSpPr>
          <p:nvPr/>
        </p:nvSpPr>
        <p:spPr>
          <a:xfrm>
            <a:off x="627797" y="3088296"/>
            <a:ext cx="11351883" cy="3152167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2000" dirty="0">
                <a:cs typeface="+mn-ea"/>
                <a:sym typeface="+mn-lt"/>
              </a:rPr>
              <a:t>计算机只能操作二进制数，而人们日常只习惯使用十进制，人要和计算机打交道要进行进制之间的转换。先把十进制转换为二进制，交给计算进行运算，计算机运算的结果再转换成十进制输出给用户。由于二进制的缺点：书写冗长、易错，因此引入十六进制数</a:t>
            </a:r>
            <a:r>
              <a:rPr lang="en-US" altLang="zh-CN" sz="2000" dirty="0">
                <a:cs typeface="+mn-ea"/>
                <a:sym typeface="+mn-lt"/>
              </a:rPr>
              <a:t>(</a:t>
            </a:r>
            <a:r>
              <a:rPr lang="zh-CN" altLang="en-US" sz="2000" dirty="0">
                <a:solidFill>
                  <a:srgbClr val="FF0000"/>
                </a:solidFill>
                <a:cs typeface="+mn-ea"/>
                <a:sym typeface="+mn-lt"/>
              </a:rPr>
              <a:t>另有八进制</a:t>
            </a:r>
            <a:r>
              <a:rPr lang="en-US" altLang="zh-CN" sz="2000" dirty="0">
                <a:cs typeface="+mn-ea"/>
                <a:sym typeface="+mn-lt"/>
              </a:rPr>
              <a:t>)</a:t>
            </a:r>
            <a:r>
              <a:rPr lang="zh-CN" altLang="en-US" sz="2000" dirty="0">
                <a:cs typeface="+mn-ea"/>
                <a:sym typeface="+mn-lt"/>
              </a:rPr>
              <a:t>，作为二进制数的简化书写符号。</a:t>
            </a:r>
            <a:endParaRPr lang="en-US" altLang="zh-CN" sz="2000" dirty="0">
              <a:cs typeface="+mn-ea"/>
              <a:sym typeface="+mn-lt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2000" dirty="0">
                <a:cs typeface="+mn-ea"/>
                <a:sym typeface="+mn-lt"/>
              </a:rPr>
              <a:t>数字末尾标注：</a:t>
            </a:r>
            <a:endParaRPr lang="en-US" altLang="zh-CN" sz="2000" dirty="0">
              <a:cs typeface="+mn-ea"/>
              <a:sym typeface="+mn-lt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2000" dirty="0">
                <a:cs typeface="+mn-ea"/>
                <a:sym typeface="+mn-lt"/>
              </a:rPr>
              <a:t>二进制：</a:t>
            </a:r>
            <a:r>
              <a:rPr lang="en-US" altLang="zh-CN" sz="2000" dirty="0">
                <a:cs typeface="+mn-ea"/>
                <a:sym typeface="+mn-lt"/>
              </a:rPr>
              <a:t>B</a:t>
            </a:r>
            <a:r>
              <a:rPr lang="zh-CN" altLang="en-US" sz="2000" dirty="0">
                <a:cs typeface="+mn-ea"/>
                <a:sym typeface="+mn-lt"/>
              </a:rPr>
              <a:t>；</a:t>
            </a:r>
            <a:r>
              <a:rPr lang="en-US" altLang="zh-CN" sz="2000" dirty="0">
                <a:cs typeface="+mn-ea"/>
                <a:sym typeface="+mn-lt"/>
              </a:rPr>
              <a:t>	</a:t>
            </a:r>
            <a:r>
              <a:rPr lang="zh-CN" altLang="en-US" sz="2000" dirty="0">
                <a:cs typeface="+mn-ea"/>
                <a:sym typeface="+mn-lt"/>
              </a:rPr>
              <a:t>十进制：</a:t>
            </a:r>
            <a:r>
              <a:rPr lang="en-US" altLang="zh-CN" sz="2000" dirty="0">
                <a:cs typeface="+mn-ea"/>
                <a:sym typeface="+mn-lt"/>
              </a:rPr>
              <a:t>D</a:t>
            </a:r>
            <a:r>
              <a:rPr lang="zh-CN" altLang="en-US" sz="2000" dirty="0">
                <a:cs typeface="+mn-ea"/>
                <a:sym typeface="+mn-lt"/>
              </a:rPr>
              <a:t>或省略</a:t>
            </a:r>
            <a:r>
              <a:rPr lang="en-US" altLang="zh-CN" sz="2000" dirty="0">
                <a:cs typeface="+mn-ea"/>
                <a:sym typeface="+mn-lt"/>
              </a:rPr>
              <a:t>	</a:t>
            </a:r>
            <a:r>
              <a:rPr lang="zh-CN" altLang="en-US" sz="2000" dirty="0">
                <a:cs typeface="+mn-ea"/>
                <a:sym typeface="+mn-lt"/>
              </a:rPr>
              <a:t>十六进制：</a:t>
            </a:r>
            <a:r>
              <a:rPr lang="en-US" altLang="zh-CN" sz="2000" dirty="0">
                <a:cs typeface="+mn-ea"/>
                <a:sym typeface="+mn-lt"/>
              </a:rPr>
              <a:t>H</a:t>
            </a:r>
            <a:endParaRPr lang="zh-CN" altLang="en-US" sz="20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4598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1065136" y="2210799"/>
            <a:ext cx="4320290" cy="4339650"/>
          </a:xfrm>
          <a:prstGeom prst="rect">
            <a:avLst/>
          </a:prstGeom>
          <a:solidFill>
            <a:srgbClr val="FFCC99">
              <a:alpha val="30196"/>
            </a:srgbClr>
          </a:solidFill>
          <a:ln w="38100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lvl="1" algn="just">
              <a:spcBef>
                <a:spcPct val="50000"/>
              </a:spcBef>
              <a:buClr>
                <a:srgbClr val="0000FF"/>
              </a:buClr>
              <a:buNone/>
            </a:pPr>
            <a:endParaRPr kumimoji="1" lang="en-US" altLang="zh-CN" sz="2400" dirty="0">
              <a:latin typeface="+mn-lt"/>
              <a:ea typeface="+mn-ea"/>
              <a:cs typeface="+mn-ea"/>
              <a:sym typeface="+mn-lt"/>
            </a:endParaRPr>
          </a:p>
          <a:p>
            <a:pPr lvl="1" algn="just">
              <a:spcBef>
                <a:spcPct val="50000"/>
              </a:spcBef>
              <a:buClr>
                <a:srgbClr val="0000FF"/>
              </a:buClr>
              <a:buNone/>
            </a:pPr>
            <a:endParaRPr kumimoji="1" lang="en-US" altLang="zh-CN" sz="2400" dirty="0">
              <a:latin typeface="+mn-lt"/>
              <a:ea typeface="+mn-ea"/>
              <a:cs typeface="+mn-ea"/>
              <a:sym typeface="+mn-lt"/>
            </a:endParaRPr>
          </a:p>
          <a:p>
            <a:pPr lvl="1" algn="just">
              <a:spcBef>
                <a:spcPct val="50000"/>
              </a:spcBef>
              <a:buClr>
                <a:srgbClr val="0000FF"/>
              </a:buClr>
              <a:buNone/>
            </a:pPr>
            <a:endParaRPr kumimoji="1" lang="en-US" altLang="zh-CN" sz="2400" dirty="0">
              <a:latin typeface="+mn-lt"/>
              <a:ea typeface="+mn-ea"/>
              <a:cs typeface="+mn-ea"/>
              <a:sym typeface="+mn-lt"/>
            </a:endParaRPr>
          </a:p>
          <a:p>
            <a:pPr lvl="1" algn="just">
              <a:spcBef>
                <a:spcPct val="50000"/>
              </a:spcBef>
              <a:buClr>
                <a:srgbClr val="0000FF"/>
              </a:buClr>
              <a:buNone/>
            </a:pPr>
            <a:endParaRPr kumimoji="1" lang="en-US" altLang="zh-CN" sz="2400" dirty="0">
              <a:latin typeface="+mn-lt"/>
              <a:ea typeface="+mn-ea"/>
              <a:cs typeface="+mn-ea"/>
              <a:sym typeface="+mn-lt"/>
            </a:endParaRPr>
          </a:p>
          <a:p>
            <a:pPr lvl="1" algn="just">
              <a:spcBef>
                <a:spcPct val="50000"/>
              </a:spcBef>
              <a:buClr>
                <a:srgbClr val="0000FF"/>
              </a:buClr>
              <a:buNone/>
            </a:pPr>
            <a:endParaRPr kumimoji="1" lang="en-US" altLang="zh-CN" sz="2400" dirty="0">
              <a:latin typeface="+mn-lt"/>
              <a:ea typeface="+mn-ea"/>
              <a:cs typeface="+mn-ea"/>
              <a:sym typeface="+mn-lt"/>
            </a:endParaRPr>
          </a:p>
          <a:p>
            <a:pPr lvl="1" algn="just">
              <a:spcBef>
                <a:spcPct val="50000"/>
              </a:spcBef>
              <a:buClr>
                <a:srgbClr val="0000FF"/>
              </a:buClr>
              <a:buNone/>
            </a:pPr>
            <a:endParaRPr kumimoji="1" lang="en-US" altLang="zh-CN" sz="2400" dirty="0">
              <a:latin typeface="+mn-lt"/>
              <a:ea typeface="+mn-ea"/>
              <a:cs typeface="+mn-ea"/>
              <a:sym typeface="+mn-lt"/>
            </a:endParaRPr>
          </a:p>
          <a:p>
            <a:pPr lvl="1" algn="just">
              <a:spcBef>
                <a:spcPct val="50000"/>
              </a:spcBef>
              <a:buClr>
                <a:srgbClr val="0000FF"/>
              </a:buClr>
              <a:buNone/>
            </a:pPr>
            <a:endParaRPr kumimoji="1" lang="en-US" altLang="zh-CN" sz="2400" dirty="0">
              <a:latin typeface="+mn-lt"/>
              <a:ea typeface="+mn-ea"/>
              <a:cs typeface="+mn-ea"/>
              <a:sym typeface="+mn-lt"/>
            </a:endParaRPr>
          </a:p>
          <a:p>
            <a:pPr lvl="1" algn="just">
              <a:spcBef>
                <a:spcPct val="50000"/>
              </a:spcBef>
              <a:buClr>
                <a:srgbClr val="0000FF"/>
              </a:buClr>
              <a:buNone/>
            </a:pPr>
            <a:endParaRPr kumimoji="1" lang="en-US" altLang="zh-CN" sz="2400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4353348-C54F-4E2C-8AE2-20666480F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58" y="2642274"/>
            <a:ext cx="4048125" cy="3790950"/>
          </a:xfrm>
          <a:prstGeom prst="rect">
            <a:avLst/>
          </a:prstGeom>
        </p:spPr>
      </p:pic>
      <p:sp>
        <p:nvSpPr>
          <p:cNvPr id="2" name="标题 1"/>
          <p:cNvSpPr txBox="1">
            <a:spLocks/>
          </p:cNvSpPr>
          <p:nvPr/>
        </p:nvSpPr>
        <p:spPr>
          <a:xfrm>
            <a:off x="4094168" y="798966"/>
            <a:ext cx="4431268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十进制</a:t>
            </a:r>
            <a:r>
              <a:rPr lang="en-US" altLang="zh-CN" sz="32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		</a:t>
            </a:r>
            <a:r>
              <a:rPr lang="zh-CN" altLang="en-US" sz="32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二进制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cs typeface="+mn-ea"/>
                <a:sym typeface="+mn-lt"/>
              </a:rPr>
              <a:t>	</a:t>
            </a:r>
            <a:r>
              <a:rPr lang="zh-CN" altLang="en-US" sz="2800" b="1" dirty="0">
                <a:cs typeface="+mn-ea"/>
                <a:sym typeface="+mn-lt"/>
              </a:rPr>
              <a:t>无符号数的表示 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1354880" y="1317304"/>
            <a:ext cx="2056901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整数</a:t>
            </a:r>
          </a:p>
        </p:txBody>
      </p:sp>
      <p:sp>
        <p:nvSpPr>
          <p:cNvPr id="4" name="右箭头 3"/>
          <p:cNvSpPr/>
          <p:nvPr/>
        </p:nvSpPr>
        <p:spPr>
          <a:xfrm>
            <a:off x="5746121" y="937260"/>
            <a:ext cx="992777" cy="2351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内容占位符 2"/>
          <p:cNvSpPr txBox="1">
            <a:spLocks/>
          </p:cNvSpPr>
          <p:nvPr/>
        </p:nvSpPr>
        <p:spPr>
          <a:xfrm>
            <a:off x="1035481" y="1665875"/>
            <a:ext cx="3836964" cy="653795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zh-CN" altLang="en-US" sz="2400" dirty="0">
                <a:cs typeface="+mn-ea"/>
                <a:sym typeface="+mn-lt"/>
              </a:rPr>
              <a:t>“除</a:t>
            </a:r>
            <a:r>
              <a:rPr lang="en-US" altLang="zh-CN" sz="2400" dirty="0">
                <a:cs typeface="+mn-ea"/>
                <a:sym typeface="+mn-lt"/>
              </a:rPr>
              <a:t>2</a:t>
            </a:r>
            <a:r>
              <a:rPr lang="zh-CN" altLang="en-US" sz="2400" dirty="0">
                <a:cs typeface="+mn-ea"/>
                <a:sym typeface="+mn-lt"/>
              </a:rPr>
              <a:t>取余，逆序排列”</a:t>
            </a:r>
            <a:endParaRPr lang="zh-CN" altLang="en-US" sz="2400" b="1" dirty="0"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2"/>
              <p:cNvSpPr txBox="1">
                <a:spLocks noChangeArrowheads="1"/>
              </p:cNvSpPr>
              <p:nvPr/>
            </p:nvSpPr>
            <p:spPr bwMode="auto">
              <a:xfrm>
                <a:off x="5771268" y="2575665"/>
                <a:ext cx="5907577" cy="2686291"/>
              </a:xfrm>
              <a:prstGeom prst="rect">
                <a:avLst/>
              </a:prstGeom>
              <a:solidFill>
                <a:srgbClr val="FFCC99">
                  <a:alpha val="30196"/>
                </a:srgbClr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no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9pPr>
              </a:lstStyle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+mn-ea"/>
                        <a:cs typeface="+mn-ea"/>
                        <a:sym typeface="+mn-lt"/>
                      </a:rPr>
                      <m:t>0.375×2=</m:t>
                    </m:r>
                    <m:r>
                      <a:rPr lang="en-US" altLang="zh-C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+mn-ea"/>
                        <a:sym typeface="+mn-lt"/>
                      </a:rPr>
                      <m:t>0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+mn-ea"/>
                        <a:cs typeface="+mn-ea"/>
                        <a:sym typeface="+mn-lt"/>
                      </a:rPr>
                      <m:t>.75</m:t>
                    </m:r>
                  </m:oMath>
                </a14:m>
                <a:r>
                  <a:rPr lang="zh-CN" altLang="en-US" sz="2400" dirty="0">
                    <a:latin typeface="+mn-lt"/>
                    <a:ea typeface="+mn-ea"/>
                    <a:cs typeface="+mn-ea"/>
                    <a:sym typeface="+mn-lt"/>
                  </a:rPr>
                  <a:t>取出整数部分</a:t>
                </a:r>
                <a:r>
                  <a:rPr lang="en-US" altLang="zh-CN" sz="2400" dirty="0">
                    <a:latin typeface="+mn-lt"/>
                    <a:ea typeface="+mn-ea"/>
                    <a:cs typeface="+mn-ea"/>
                    <a:sym typeface="+mn-lt"/>
                  </a:rPr>
                  <a:t>0</a:t>
                </a:r>
                <a:endParaRPr lang="en-US" altLang="zh-CN" sz="2800" dirty="0">
                  <a:latin typeface="+mn-lt"/>
                  <a:ea typeface="+mn-ea"/>
                  <a:cs typeface="+mn-ea"/>
                  <a:sym typeface="+mn-lt"/>
                </a:endParaRP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+mn-ea"/>
                        <a:cs typeface="+mn-ea"/>
                        <a:sym typeface="+mn-lt"/>
                      </a:rPr>
                      <m:t>0.75×2=</m:t>
                    </m:r>
                    <m:r>
                      <a:rPr lang="en-US" altLang="zh-C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+mn-ea"/>
                        <a:sym typeface="+mn-lt"/>
                      </a:rPr>
                      <m:t>1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+mn-ea"/>
                        <a:cs typeface="+mn-ea"/>
                        <a:sym typeface="+mn-lt"/>
                      </a:rPr>
                      <m:t>.5</m:t>
                    </m:r>
                  </m:oMath>
                </a14:m>
                <a:r>
                  <a:rPr lang="zh-CN" altLang="en-US" sz="2400" dirty="0">
                    <a:latin typeface="+mn-lt"/>
                    <a:ea typeface="+mn-ea"/>
                    <a:cs typeface="+mn-ea"/>
                    <a:sym typeface="+mn-lt"/>
                  </a:rPr>
                  <a:t>取出整数部分</a:t>
                </a:r>
                <a:r>
                  <a:rPr lang="en-US" altLang="zh-CN" sz="2400" dirty="0">
                    <a:latin typeface="+mn-lt"/>
                    <a:ea typeface="+mn-ea"/>
                    <a:cs typeface="+mn-ea"/>
                    <a:sym typeface="+mn-lt"/>
                  </a:rPr>
                  <a:t>1</a:t>
                </a:r>
                <a:endParaRPr lang="en-US" altLang="zh-CN" dirty="0">
                  <a:latin typeface="+mn-lt"/>
                  <a:ea typeface="+mn-ea"/>
                  <a:cs typeface="+mn-ea"/>
                  <a:sym typeface="+mn-lt"/>
                </a:endParaRP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+mn-ea"/>
                        <a:cs typeface="+mn-ea"/>
                        <a:sym typeface="+mn-lt"/>
                      </a:rPr>
                      <m:t>0.5×2=</m:t>
                    </m:r>
                    <m:r>
                      <a:rPr lang="en-US" altLang="zh-C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+mn-ea"/>
                        <a:sym typeface="+mn-lt"/>
                      </a:rPr>
                      <m:t>1</m:t>
                    </m:r>
                  </m:oMath>
                </a14:m>
                <a:r>
                  <a:rPr lang="zh-CN" altLang="en-US" sz="2400" dirty="0">
                    <a:latin typeface="+mn-lt"/>
                    <a:ea typeface="+mn-ea"/>
                    <a:cs typeface="+mn-ea"/>
                    <a:sym typeface="+mn-lt"/>
                  </a:rPr>
                  <a:t>取出整数部分</a:t>
                </a:r>
                <a:r>
                  <a:rPr lang="en-US" altLang="zh-CN" sz="2400" dirty="0">
                    <a:latin typeface="+mn-lt"/>
                    <a:ea typeface="+mn-ea"/>
                    <a:cs typeface="+mn-ea"/>
                    <a:sym typeface="+mn-lt"/>
                  </a:rPr>
                  <a:t>1</a:t>
                </a:r>
                <a:endParaRPr lang="en-US" altLang="zh-CN" sz="2800" dirty="0">
                  <a:latin typeface="+mn-lt"/>
                  <a:ea typeface="+mn-ea"/>
                  <a:cs typeface="+mn-ea"/>
                  <a:sym typeface="+mn-lt"/>
                </a:endParaRPr>
              </a:p>
              <a:p>
                <a:pPr>
                  <a:buNone/>
                </a:pPr>
                <a:endParaRPr lang="en-US" altLang="zh-CN" sz="2800" dirty="0">
                  <a:latin typeface="+mn-lt"/>
                  <a:ea typeface="+mn-ea"/>
                  <a:cs typeface="+mn-ea"/>
                  <a:sym typeface="+mn-lt"/>
                </a:endParaRPr>
              </a:p>
              <a:p>
                <a:pPr lvl="1" algn="just">
                  <a:spcBef>
                    <a:spcPct val="50000"/>
                  </a:spcBef>
                  <a:buClr>
                    <a:srgbClr val="0000FF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+mn-ea"/>
                          <a:cs typeface="+mn-ea"/>
                          <a:sym typeface="+mn-lt"/>
                        </a:rPr>
                        <m:t>0.375=0.011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  <a:ea typeface="+mn-ea"/>
                          <a:cs typeface="+mn-ea"/>
                          <a:sym typeface="+mn-lt"/>
                        </a:rPr>
                        <m:t>B</m:t>
                      </m:r>
                    </m:oMath>
                  </m:oMathPara>
                </a14:m>
                <a:endParaRPr kumimoji="1" lang="en-US" altLang="zh-CN" dirty="0">
                  <a:latin typeface="+mn-lt"/>
                  <a:ea typeface="+mn-ea"/>
                  <a:cs typeface="+mn-ea"/>
                  <a:sym typeface="+mn-lt"/>
                </a:endParaRPr>
              </a:p>
              <a:p>
                <a:pPr lvl="1" algn="just">
                  <a:spcBef>
                    <a:spcPct val="50000"/>
                  </a:spcBef>
                  <a:buClr>
                    <a:srgbClr val="0000FF"/>
                  </a:buClr>
                  <a:buNone/>
                </a:pPr>
                <a:endParaRPr kumimoji="1" lang="en-US" altLang="zh-CN" dirty="0"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71268" y="2575665"/>
                <a:ext cx="5907577" cy="26862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66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标题 1"/>
          <p:cNvSpPr txBox="1">
            <a:spLocks/>
          </p:cNvSpPr>
          <p:nvPr/>
        </p:nvSpPr>
        <p:spPr>
          <a:xfrm>
            <a:off x="7034708" y="1333779"/>
            <a:ext cx="2056901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小数</a:t>
            </a:r>
          </a:p>
        </p:txBody>
      </p:sp>
      <p:sp>
        <p:nvSpPr>
          <p:cNvPr id="15" name="内容占位符 2"/>
          <p:cNvSpPr txBox="1">
            <a:spLocks/>
          </p:cNvSpPr>
          <p:nvPr/>
        </p:nvSpPr>
        <p:spPr>
          <a:xfrm>
            <a:off x="6806575" y="1665875"/>
            <a:ext cx="3836964" cy="653795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zh-CN" altLang="en-US" sz="2400" dirty="0">
                <a:cs typeface="+mn-ea"/>
                <a:sym typeface="+mn-lt"/>
              </a:rPr>
              <a:t>“乘</a:t>
            </a:r>
            <a:r>
              <a:rPr lang="en-US" altLang="zh-CN" sz="2400" dirty="0">
                <a:cs typeface="+mn-ea"/>
                <a:sym typeface="+mn-lt"/>
              </a:rPr>
              <a:t>2</a:t>
            </a:r>
            <a:r>
              <a:rPr lang="zh-CN" altLang="en-US" sz="2400" dirty="0">
                <a:cs typeface="+mn-ea"/>
                <a:sym typeface="+mn-lt"/>
              </a:rPr>
              <a:t>取整，顺序排列”</a:t>
            </a:r>
            <a:endParaRPr lang="zh-CN" altLang="en-US" sz="2400" b="1" dirty="0">
              <a:cs typeface="+mn-ea"/>
              <a:sym typeface="+mn-lt"/>
            </a:endParaRPr>
          </a:p>
        </p:txBody>
      </p:sp>
      <p:sp>
        <p:nvSpPr>
          <p:cNvPr id="3" name="下箭头 2"/>
          <p:cNvSpPr/>
          <p:nvPr/>
        </p:nvSpPr>
        <p:spPr>
          <a:xfrm>
            <a:off x="10744215" y="3028303"/>
            <a:ext cx="300445" cy="1509446"/>
          </a:xfrm>
          <a:prstGeom prst="downArrow">
            <a:avLst/>
          </a:prstGeom>
          <a:solidFill>
            <a:srgbClr val="00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下箭头 15"/>
          <p:cNvSpPr/>
          <p:nvPr/>
        </p:nvSpPr>
        <p:spPr>
          <a:xfrm rot="10800000">
            <a:off x="4555523" y="2759754"/>
            <a:ext cx="230660" cy="3063223"/>
          </a:xfrm>
          <a:prstGeom prst="downArrow">
            <a:avLst>
              <a:gd name="adj1" fmla="val 50000"/>
              <a:gd name="adj2" fmla="val 103571"/>
            </a:avLst>
          </a:prstGeom>
          <a:solidFill>
            <a:srgbClr val="00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43997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4094168" y="798966"/>
            <a:ext cx="4431268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二进制</a:t>
            </a:r>
            <a:r>
              <a:rPr lang="en-US" altLang="zh-CN" sz="32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		</a:t>
            </a:r>
            <a:r>
              <a:rPr lang="zh-CN" altLang="en-US" sz="32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十进制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cs typeface="+mn-ea"/>
                <a:sym typeface="+mn-lt"/>
              </a:rPr>
              <a:t>	</a:t>
            </a:r>
            <a:r>
              <a:rPr lang="zh-CN" altLang="en-US" sz="2800" b="1" dirty="0">
                <a:cs typeface="+mn-ea"/>
                <a:sym typeface="+mn-lt"/>
              </a:rPr>
              <a:t>无符号数的表示 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2"/>
              <p:cNvSpPr txBox="1">
                <a:spLocks noChangeArrowheads="1"/>
              </p:cNvSpPr>
              <p:nvPr/>
            </p:nvSpPr>
            <p:spPr bwMode="auto">
              <a:xfrm>
                <a:off x="799013" y="2367691"/>
                <a:ext cx="10593976" cy="3600986"/>
              </a:xfrm>
              <a:prstGeom prst="rect">
                <a:avLst/>
              </a:prstGeom>
              <a:solidFill>
                <a:srgbClr val="FFCC99">
                  <a:alpha val="30196"/>
                </a:srgbClr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9pPr>
              </a:lstStyle>
              <a:p>
                <a:pPr lvl="1" algn="just">
                  <a:spcBef>
                    <a:spcPct val="50000"/>
                  </a:spcBef>
                  <a:buClr>
                    <a:srgbClr val="0000FF"/>
                  </a:buClr>
                  <a:buNone/>
                </a:pPr>
                <a:endParaRPr kumimoji="1" lang="en-US" altLang="zh-CN" sz="2400" b="0" i="1" dirty="0">
                  <a:latin typeface="+mn-lt"/>
                  <a:ea typeface="+mn-ea"/>
                  <a:cs typeface="+mn-ea"/>
                  <a:sym typeface="+mn-lt"/>
                </a:endParaRPr>
              </a:p>
              <a:p>
                <a:pPr lvl="1" algn="just">
                  <a:spcBef>
                    <a:spcPct val="50000"/>
                  </a:spcBef>
                  <a:buClr>
                    <a:srgbClr val="0000FF"/>
                  </a:buClr>
                  <a:buNone/>
                </a:pPr>
                <a:endParaRPr kumimoji="1" lang="en-US" altLang="zh-CN" sz="2400" i="1" dirty="0">
                  <a:latin typeface="+mn-lt"/>
                  <a:ea typeface="+mn-ea"/>
                  <a:cs typeface="+mn-ea"/>
                  <a:sym typeface="+mn-lt"/>
                </a:endParaRPr>
              </a:p>
              <a:p>
                <a:pPr lvl="1">
                  <a:spcBef>
                    <a:spcPct val="50000"/>
                  </a:spcBef>
                  <a:buClr>
                    <a:srgbClr val="0000FF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  <a:ea typeface="+mn-ea"/>
                          <a:cs typeface="+mn-ea"/>
                          <a:sym typeface="+mn-lt"/>
                        </a:rPr>
                        <m:t>1101.01</m:t>
                      </m:r>
                      <m:r>
                        <m:rPr>
                          <m:sty m:val="p"/>
                        </m:rPr>
                        <a:rPr kumimoji="1" lang="en-US" altLang="zh-CN" sz="3200" b="0" i="0" smtClean="0">
                          <a:latin typeface="Cambria Math" panose="02040503050406030204" pitchFamily="18" charset="0"/>
                          <a:ea typeface="+mn-ea"/>
                          <a:cs typeface="+mn-ea"/>
                          <a:sym typeface="+mn-lt"/>
                        </a:rPr>
                        <m:t>B</m:t>
                      </m:r>
                    </m:oMath>
                  </m:oMathPara>
                </a14:m>
                <a:endParaRPr kumimoji="1" lang="en-US" altLang="zh-CN" sz="3200" b="0" dirty="0">
                  <a:latin typeface="+mn-lt"/>
                  <a:ea typeface="+mn-ea"/>
                  <a:cs typeface="+mn-ea"/>
                  <a:sym typeface="+mn-lt"/>
                </a:endParaRPr>
              </a:p>
              <a:p>
                <a:pPr lvl="1">
                  <a:spcBef>
                    <a:spcPct val="50000"/>
                  </a:spcBef>
                  <a:buClr>
                    <a:srgbClr val="0000FF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  <a:ea typeface="+mn-ea"/>
                          <a:cs typeface="+mn-ea"/>
                          <a:sym typeface="+mn-lt"/>
                        </a:rPr>
                        <m:t>=1×</m:t>
                      </m:r>
                      <m:sSup>
                        <m:sSupPr>
                          <m:ctrlPr>
                            <a:rPr kumimoji="1" lang="en-US" altLang="zh-CN" sz="3200" b="0" i="1" smtClean="0"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</m:ctrlPr>
                        </m:sSupPr>
                        <m:e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2</m:t>
                          </m:r>
                        </m:e>
                        <m:sup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3</m:t>
                          </m:r>
                        </m:sup>
                      </m:sSup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  <a:ea typeface="+mn-ea"/>
                          <a:cs typeface="+mn-ea"/>
                          <a:sym typeface="+mn-lt"/>
                        </a:rPr>
                        <m:t>+1×</m:t>
                      </m:r>
                      <m:sSup>
                        <m:sSupPr>
                          <m:ctrlPr>
                            <a:rPr kumimoji="1" lang="en-US" altLang="zh-CN" sz="3200" b="0" i="1" smtClean="0"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</m:ctrlPr>
                        </m:sSupPr>
                        <m:e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2</m:t>
                          </m:r>
                        </m:e>
                        <m:sup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  <a:ea typeface="+mn-ea"/>
                          <a:cs typeface="+mn-ea"/>
                          <a:sym typeface="+mn-lt"/>
                        </a:rPr>
                        <m:t>+0×</m:t>
                      </m:r>
                      <m:sSup>
                        <m:sSupPr>
                          <m:ctrlPr>
                            <a:rPr kumimoji="1" lang="en-US" altLang="zh-CN" sz="3200" b="0" i="1" smtClean="0"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</m:ctrlPr>
                        </m:sSupPr>
                        <m:e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2</m:t>
                          </m:r>
                        </m:e>
                        <m:sup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1</m:t>
                          </m:r>
                        </m:sup>
                      </m:sSup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  <a:ea typeface="+mn-ea"/>
                          <a:cs typeface="+mn-ea"/>
                          <a:sym typeface="+mn-lt"/>
                        </a:rPr>
                        <m:t>+1×</m:t>
                      </m:r>
                      <m:sSup>
                        <m:sSupPr>
                          <m:ctrlPr>
                            <a:rPr kumimoji="1" lang="en-US" altLang="zh-CN" sz="3200" b="0" i="1" smtClean="0"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</m:ctrlPr>
                        </m:sSupPr>
                        <m:e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2</m:t>
                          </m:r>
                        </m:e>
                        <m:sup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0</m:t>
                          </m:r>
                        </m:sup>
                      </m:sSup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  <a:ea typeface="+mn-ea"/>
                          <a:cs typeface="+mn-ea"/>
                          <a:sym typeface="+mn-lt"/>
                        </a:rPr>
                        <m:t>+0×</m:t>
                      </m:r>
                      <m:sSup>
                        <m:sSupPr>
                          <m:ctrlPr>
                            <a:rPr kumimoji="1" lang="en-US" altLang="zh-CN" sz="3200" b="0" i="1" smtClean="0"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</m:ctrlPr>
                        </m:sSupPr>
                        <m:e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2</m:t>
                          </m:r>
                        </m:e>
                        <m:sup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  <a:ea typeface="+mn-ea"/>
                          <a:cs typeface="+mn-ea"/>
                          <a:sym typeface="+mn-lt"/>
                        </a:rPr>
                        <m:t>+1×</m:t>
                      </m:r>
                      <m:sSup>
                        <m:sSupPr>
                          <m:ctrlPr>
                            <a:rPr kumimoji="1" lang="en-US" altLang="zh-CN" sz="3200" b="0" i="1" smtClean="0"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</m:ctrlPr>
                        </m:sSupPr>
                        <m:e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2</m:t>
                          </m:r>
                        </m:e>
                        <m:sup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−2</m:t>
                          </m:r>
                        </m:sup>
                      </m:sSup>
                    </m:oMath>
                  </m:oMathPara>
                </a14:m>
                <a:endParaRPr kumimoji="1" lang="en-US" altLang="zh-CN" sz="3200" b="0" i="1" dirty="0">
                  <a:latin typeface="+mn-lt"/>
                  <a:ea typeface="+mn-ea"/>
                  <a:cs typeface="+mn-ea"/>
                  <a:sym typeface="+mn-lt"/>
                </a:endParaRPr>
              </a:p>
              <a:p>
                <a:pPr lvl="1">
                  <a:spcBef>
                    <a:spcPct val="50000"/>
                  </a:spcBef>
                  <a:buClr>
                    <a:srgbClr val="0000FF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  <a:ea typeface="+mn-ea"/>
                          <a:cs typeface="+mn-ea"/>
                          <a:sym typeface="+mn-lt"/>
                        </a:rPr>
                        <m:t>=8+4+0+1+0+0.25=13.25</m:t>
                      </m:r>
                    </m:oMath>
                  </m:oMathPara>
                </a14:m>
                <a:endParaRPr kumimoji="1" lang="en-US" altLang="zh-CN" sz="2400" dirty="0">
                  <a:latin typeface="+mn-lt"/>
                  <a:ea typeface="+mn-ea"/>
                  <a:cs typeface="+mn-ea"/>
                  <a:sym typeface="+mn-lt"/>
                </a:endParaRPr>
              </a:p>
              <a:p>
                <a:pPr lvl="1">
                  <a:spcBef>
                    <a:spcPct val="50000"/>
                  </a:spcBef>
                  <a:buClr>
                    <a:srgbClr val="0000FF"/>
                  </a:buClr>
                  <a:buNone/>
                </a:pPr>
                <a:endParaRPr kumimoji="1" lang="en-US" altLang="zh-CN" sz="2400" dirty="0">
                  <a:latin typeface="+mn-lt"/>
                  <a:ea typeface="+mn-ea"/>
                  <a:cs typeface="+mn-ea"/>
                  <a:sym typeface="+mn-lt"/>
                </a:endParaRPr>
              </a:p>
              <a:p>
                <a:pPr lvl="1">
                  <a:spcBef>
                    <a:spcPct val="50000"/>
                  </a:spcBef>
                  <a:buClr>
                    <a:srgbClr val="0000FF"/>
                  </a:buClr>
                  <a:buNone/>
                </a:pPr>
                <a:endParaRPr kumimoji="1" lang="en-US" altLang="zh-CN" sz="2400" dirty="0"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9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9013" y="2367691"/>
                <a:ext cx="10593976" cy="36009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FF66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右箭头 3"/>
          <p:cNvSpPr/>
          <p:nvPr/>
        </p:nvSpPr>
        <p:spPr>
          <a:xfrm>
            <a:off x="5746121" y="937260"/>
            <a:ext cx="992777" cy="2351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内容占位符 2"/>
          <p:cNvSpPr txBox="1">
            <a:spLocks/>
          </p:cNvSpPr>
          <p:nvPr/>
        </p:nvSpPr>
        <p:spPr>
          <a:xfrm>
            <a:off x="1139983" y="1495869"/>
            <a:ext cx="9597686" cy="653795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zh-CN" altLang="en-US" sz="2800" dirty="0">
                <a:cs typeface="+mn-ea"/>
                <a:sym typeface="+mn-lt"/>
              </a:rPr>
              <a:t>从右到左每一位二进制的数乘以</a:t>
            </a:r>
            <a:r>
              <a:rPr lang="en-US" altLang="zh-CN" sz="2800" dirty="0">
                <a:cs typeface="+mn-ea"/>
                <a:sym typeface="+mn-lt"/>
              </a:rPr>
              <a:t>2</a:t>
            </a:r>
            <a:r>
              <a:rPr lang="zh-CN" altLang="en-US" sz="2800" dirty="0">
                <a:cs typeface="+mn-ea"/>
                <a:sym typeface="+mn-lt"/>
              </a:rPr>
              <a:t>的相应次方，再求和</a:t>
            </a:r>
            <a:endParaRPr lang="zh-CN" altLang="en-US" sz="2800" b="1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37807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autoUpdateAnimBg="0"/>
      <p:bldP spid="1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cs typeface="+mn-ea"/>
                <a:sym typeface="+mn-lt"/>
              </a:rPr>
              <a:t>	</a:t>
            </a:r>
            <a:r>
              <a:rPr lang="zh-CN" altLang="en-US" sz="2800" b="1" dirty="0">
                <a:cs typeface="+mn-ea"/>
                <a:sym typeface="+mn-lt"/>
              </a:rPr>
              <a:t>无符号数的表示 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7" name="Group 29"/>
          <p:cNvGrpSpPr>
            <a:grpSpLocks/>
          </p:cNvGrpSpPr>
          <p:nvPr/>
        </p:nvGrpSpPr>
        <p:grpSpPr bwMode="auto">
          <a:xfrm>
            <a:off x="448888" y="2211055"/>
            <a:ext cx="5537892" cy="1552414"/>
            <a:chOff x="922" y="3344"/>
            <a:chExt cx="2382" cy="749"/>
          </a:xfrm>
        </p:grpSpPr>
        <p:sp>
          <p:nvSpPr>
            <p:cNvPr id="8" name="Rectangle 21"/>
            <p:cNvSpPr>
              <a:spLocks noChangeArrowheads="1"/>
            </p:cNvSpPr>
            <p:nvPr/>
          </p:nvSpPr>
          <p:spPr bwMode="auto">
            <a:xfrm>
              <a:off x="1133" y="3344"/>
              <a:ext cx="1978" cy="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kumimoji="0" lang="en-US" altLang="zh-CN" sz="2000" b="1" dirty="0">
                  <a:cs typeface="+mn-ea"/>
                  <a:sym typeface="+mn-lt"/>
                </a:rPr>
                <a:t> </a:t>
              </a:r>
              <a:r>
                <a:rPr kumimoji="0" lang="en-US" altLang="zh-CN" sz="2000" b="1" dirty="0">
                  <a:solidFill>
                    <a:srgbClr val="180D5B"/>
                  </a:solidFill>
                  <a:cs typeface="+mn-ea"/>
                  <a:sym typeface="+mn-lt"/>
                </a:rPr>
                <a:t>0</a:t>
              </a:r>
              <a:r>
                <a:rPr kumimoji="0" lang="zh-CN" altLang="en-US" sz="2000" b="1" dirty="0">
                  <a:solidFill>
                    <a:srgbClr val="180D5B"/>
                  </a:solidFill>
                  <a:cs typeface="+mn-ea"/>
                  <a:sym typeface="+mn-lt"/>
                </a:rPr>
                <a:t>、</a:t>
              </a:r>
              <a:r>
                <a:rPr kumimoji="0" lang="en-US" altLang="zh-CN" sz="2000" b="1" dirty="0">
                  <a:solidFill>
                    <a:srgbClr val="180D5B"/>
                  </a:solidFill>
                  <a:cs typeface="+mn-ea"/>
                  <a:sym typeface="+mn-lt"/>
                </a:rPr>
                <a:t>1</a:t>
              </a:r>
              <a:r>
                <a:rPr kumimoji="0" lang="zh-CN" altLang="en-US" sz="2000" b="1" dirty="0">
                  <a:solidFill>
                    <a:srgbClr val="180D5B"/>
                  </a:solidFill>
                  <a:cs typeface="+mn-ea"/>
                  <a:sym typeface="+mn-lt"/>
                </a:rPr>
                <a:t>、</a:t>
              </a:r>
              <a:r>
                <a:rPr kumimoji="0" lang="en-US" altLang="zh-CN" sz="2000" b="1" dirty="0">
                  <a:solidFill>
                    <a:srgbClr val="180D5B"/>
                  </a:solidFill>
                  <a:cs typeface="+mn-ea"/>
                  <a:sym typeface="+mn-lt"/>
                </a:rPr>
                <a:t>2……9,   </a:t>
              </a:r>
              <a:r>
                <a:rPr kumimoji="0" lang="en-US" altLang="zh-CN" sz="2000" b="1" dirty="0">
                  <a:solidFill>
                    <a:srgbClr val="FF0000"/>
                  </a:solidFill>
                  <a:cs typeface="+mn-ea"/>
                  <a:sym typeface="+mn-lt"/>
                </a:rPr>
                <a:t>A</a:t>
              </a:r>
              <a:r>
                <a:rPr kumimoji="0" lang="zh-CN" altLang="en-US" sz="2000" b="1" dirty="0">
                  <a:solidFill>
                    <a:srgbClr val="FF0000"/>
                  </a:solidFill>
                  <a:cs typeface="+mn-ea"/>
                  <a:sym typeface="+mn-lt"/>
                </a:rPr>
                <a:t>、</a:t>
              </a:r>
              <a:r>
                <a:rPr kumimoji="0" lang="en-US" altLang="zh-CN" sz="2000" b="1" dirty="0">
                  <a:solidFill>
                    <a:srgbClr val="FF0000"/>
                  </a:solidFill>
                  <a:cs typeface="+mn-ea"/>
                  <a:sym typeface="+mn-lt"/>
                </a:rPr>
                <a:t>B</a:t>
              </a:r>
              <a:r>
                <a:rPr kumimoji="0" lang="zh-CN" altLang="en-US" sz="2000" b="1" dirty="0">
                  <a:solidFill>
                    <a:srgbClr val="FF0000"/>
                  </a:solidFill>
                  <a:cs typeface="+mn-ea"/>
                  <a:sym typeface="+mn-lt"/>
                </a:rPr>
                <a:t>、</a:t>
              </a:r>
              <a:r>
                <a:rPr kumimoji="0" lang="en-US" altLang="zh-CN" sz="2000" b="1" dirty="0">
                  <a:solidFill>
                    <a:srgbClr val="FF0000"/>
                  </a:solidFill>
                  <a:cs typeface="+mn-ea"/>
                  <a:sym typeface="+mn-lt"/>
                </a:rPr>
                <a:t>C</a:t>
              </a:r>
              <a:r>
                <a:rPr kumimoji="0" lang="zh-CN" altLang="en-US" sz="2000" b="1" dirty="0">
                  <a:solidFill>
                    <a:srgbClr val="FF0000"/>
                  </a:solidFill>
                  <a:cs typeface="+mn-ea"/>
                  <a:sym typeface="+mn-lt"/>
                </a:rPr>
                <a:t>、</a:t>
              </a:r>
              <a:r>
                <a:rPr kumimoji="0" lang="en-US" altLang="zh-CN" sz="2000" b="1" dirty="0">
                  <a:solidFill>
                    <a:srgbClr val="FF0000"/>
                  </a:solidFill>
                  <a:cs typeface="+mn-ea"/>
                  <a:sym typeface="+mn-lt"/>
                </a:rPr>
                <a:t>D</a:t>
              </a:r>
              <a:r>
                <a:rPr kumimoji="0" lang="zh-CN" altLang="en-US" sz="2000" b="1" dirty="0">
                  <a:solidFill>
                    <a:srgbClr val="FF0000"/>
                  </a:solidFill>
                  <a:cs typeface="+mn-ea"/>
                  <a:sym typeface="+mn-lt"/>
                </a:rPr>
                <a:t>、</a:t>
              </a:r>
              <a:r>
                <a:rPr kumimoji="0" lang="en-US" altLang="zh-CN" sz="2000" b="1" dirty="0">
                  <a:solidFill>
                    <a:srgbClr val="FF0000"/>
                  </a:solidFill>
                  <a:cs typeface="+mn-ea"/>
                  <a:sym typeface="+mn-lt"/>
                </a:rPr>
                <a:t>E</a:t>
              </a:r>
              <a:r>
                <a:rPr kumimoji="0" lang="zh-CN" altLang="en-US" sz="2000" b="1" dirty="0">
                  <a:solidFill>
                    <a:srgbClr val="FF0000"/>
                  </a:solidFill>
                  <a:cs typeface="+mn-ea"/>
                  <a:sym typeface="+mn-lt"/>
                </a:rPr>
                <a:t>、</a:t>
              </a:r>
              <a:r>
                <a:rPr kumimoji="0" lang="en-US" altLang="zh-CN" sz="2000" b="1" dirty="0">
                  <a:solidFill>
                    <a:srgbClr val="FF0000"/>
                  </a:solidFill>
                  <a:cs typeface="+mn-ea"/>
                  <a:sym typeface="+mn-lt"/>
                </a:rPr>
                <a:t>F</a:t>
              </a:r>
              <a:r>
                <a:rPr kumimoji="0" lang="en-US" altLang="zh-CN" sz="2000" b="1" dirty="0">
                  <a:cs typeface="+mn-ea"/>
                  <a:sym typeface="+mn-lt"/>
                </a:rPr>
                <a:t> </a:t>
              </a:r>
            </a:p>
          </p:txBody>
        </p:sp>
        <p:sp>
          <p:nvSpPr>
            <p:cNvPr id="9" name="AutoShape 22"/>
            <p:cNvSpPr>
              <a:spLocks/>
            </p:cNvSpPr>
            <p:nvPr/>
          </p:nvSpPr>
          <p:spPr bwMode="auto">
            <a:xfrm rot="16200000">
              <a:off x="1551" y="3105"/>
              <a:ext cx="91" cy="849"/>
            </a:xfrm>
            <a:prstGeom prst="leftBrace">
              <a:avLst>
                <a:gd name="adj1" fmla="val 54029"/>
                <a:gd name="adj2" fmla="val 50000"/>
              </a:avLst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cs typeface="+mn-ea"/>
                <a:sym typeface="+mn-lt"/>
              </a:endParaRPr>
            </a:p>
          </p:txBody>
        </p:sp>
        <p:sp>
          <p:nvSpPr>
            <p:cNvPr id="10" name="AutoShape 23"/>
            <p:cNvSpPr>
              <a:spLocks/>
            </p:cNvSpPr>
            <p:nvPr/>
          </p:nvSpPr>
          <p:spPr bwMode="auto">
            <a:xfrm rot="16200000">
              <a:off x="2598" y="2972"/>
              <a:ext cx="91" cy="1129"/>
            </a:xfrm>
            <a:prstGeom prst="leftBrace">
              <a:avLst>
                <a:gd name="adj1" fmla="val 91392"/>
                <a:gd name="adj2" fmla="val 50000"/>
              </a:avLst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cs typeface="+mn-ea"/>
                <a:sym typeface="+mn-lt"/>
              </a:endParaRPr>
            </a:p>
          </p:txBody>
        </p:sp>
        <p:sp>
          <p:nvSpPr>
            <p:cNvPr id="11" name="Rectangle 24"/>
            <p:cNvSpPr>
              <a:spLocks noChangeArrowheads="1"/>
            </p:cNvSpPr>
            <p:nvPr/>
          </p:nvSpPr>
          <p:spPr bwMode="auto">
            <a:xfrm>
              <a:off x="922" y="3571"/>
              <a:ext cx="1216" cy="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kumimoji="0" lang="zh-CN" altLang="en-US" sz="2000" b="1" dirty="0">
                  <a:solidFill>
                    <a:srgbClr val="180D5B"/>
                  </a:solidFill>
                  <a:cs typeface="+mn-ea"/>
                  <a:sym typeface="+mn-lt"/>
                </a:rPr>
                <a:t>借用十进制的十个符号 </a:t>
              </a:r>
            </a:p>
          </p:txBody>
        </p:sp>
        <p:sp>
          <p:nvSpPr>
            <p:cNvPr id="12" name="Rectangle 25"/>
            <p:cNvSpPr>
              <a:spLocks noChangeArrowheads="1"/>
            </p:cNvSpPr>
            <p:nvPr/>
          </p:nvSpPr>
          <p:spPr bwMode="auto">
            <a:xfrm>
              <a:off x="2309" y="3568"/>
              <a:ext cx="995" cy="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kumimoji="0" lang="zh-CN" altLang="en-US" sz="2000" b="1" dirty="0">
                  <a:solidFill>
                    <a:srgbClr val="FF0000"/>
                  </a:solidFill>
                  <a:cs typeface="+mn-ea"/>
                  <a:sym typeface="+mn-lt"/>
                </a:rPr>
                <a:t>借用六个英文字母</a:t>
              </a:r>
              <a:r>
                <a:rPr kumimoji="0" lang="zh-CN" altLang="en-US" sz="2000" b="1" dirty="0">
                  <a:cs typeface="+mn-ea"/>
                  <a:sym typeface="+mn-lt"/>
                </a:rPr>
                <a:t> </a:t>
              </a:r>
            </a:p>
          </p:txBody>
        </p:sp>
        <p:sp>
          <p:nvSpPr>
            <p:cNvPr id="13" name="Rectangle 26"/>
            <p:cNvSpPr>
              <a:spLocks noChangeArrowheads="1"/>
            </p:cNvSpPr>
            <p:nvPr/>
          </p:nvSpPr>
          <p:spPr bwMode="auto">
            <a:xfrm>
              <a:off x="1021" y="3879"/>
              <a:ext cx="2234" cy="214"/>
            </a:xfrm>
            <a:prstGeom prst="rect">
              <a:avLst/>
            </a:prstGeom>
            <a:solidFill>
              <a:srgbClr val="180D5B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marL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 b="1" dirty="0">
                  <a:solidFill>
                    <a:srgbClr val="FFFFFF"/>
                  </a:solidFill>
                  <a:latin typeface="+mn-lt"/>
                  <a:ea typeface="+mn-ea"/>
                  <a:cs typeface="+mn-ea"/>
                  <a:sym typeface="+mn-lt"/>
                </a:rPr>
                <a:t>构成十六进制的</a:t>
              </a:r>
              <a:r>
                <a:rPr kumimoji="0" lang="en-US" altLang="zh-CN" b="1" dirty="0">
                  <a:solidFill>
                    <a:srgbClr val="FFFFFF"/>
                  </a:solidFill>
                  <a:latin typeface="+mn-lt"/>
                  <a:ea typeface="+mn-ea"/>
                  <a:cs typeface="+mn-ea"/>
                  <a:sym typeface="+mn-lt"/>
                </a:rPr>
                <a:t>16</a:t>
              </a:r>
              <a:r>
                <a:rPr kumimoji="0" lang="zh-CN" altLang="en-US" b="1" dirty="0">
                  <a:solidFill>
                    <a:srgbClr val="FFFFFF"/>
                  </a:solidFill>
                  <a:latin typeface="+mn-lt"/>
                  <a:ea typeface="+mn-ea"/>
                  <a:cs typeface="+mn-ea"/>
                  <a:sym typeface="+mn-lt"/>
                </a:rPr>
                <a:t>个数字符号</a:t>
              </a:r>
              <a:endParaRPr kumimoji="0" lang="zh-CN" altLang="en-US" sz="2000" b="1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Line 27"/>
            <p:cNvSpPr>
              <a:spLocks noChangeShapeType="1"/>
            </p:cNvSpPr>
            <p:nvPr/>
          </p:nvSpPr>
          <p:spPr bwMode="auto">
            <a:xfrm>
              <a:off x="1278" y="3736"/>
              <a:ext cx="181" cy="1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cs typeface="+mn-ea"/>
                <a:sym typeface="+mn-lt"/>
              </a:endParaRPr>
            </a:p>
          </p:txBody>
        </p:sp>
        <p:sp>
          <p:nvSpPr>
            <p:cNvPr id="17" name="Line 27"/>
            <p:cNvSpPr>
              <a:spLocks noChangeShapeType="1"/>
            </p:cNvSpPr>
            <p:nvPr/>
          </p:nvSpPr>
          <p:spPr bwMode="auto">
            <a:xfrm flipH="1">
              <a:off x="2639" y="3722"/>
              <a:ext cx="273" cy="1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cs typeface="+mn-ea"/>
                <a:sym typeface="+mn-lt"/>
              </a:endParaRPr>
            </a:p>
          </p:txBody>
        </p:sp>
      </p:grpSp>
      <p:sp>
        <p:nvSpPr>
          <p:cNvPr id="16" name="标题 1"/>
          <p:cNvSpPr txBox="1">
            <a:spLocks/>
          </p:cNvSpPr>
          <p:nvPr/>
        </p:nvSpPr>
        <p:spPr>
          <a:xfrm>
            <a:off x="704597" y="1312755"/>
            <a:ext cx="2187471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十六进制</a:t>
            </a:r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3104400" y="4629048"/>
            <a:ext cx="5511832" cy="707886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>
              <a:tabLst>
                <a:tab pos="879475" algn="l"/>
                <a:tab pos="993775" algn="l"/>
              </a:tabLst>
            </a:pPr>
            <a:r>
              <a:rPr kumimoji="0" lang="en-US" altLang="zh-CN" sz="2000" b="1" dirty="0">
                <a:cs typeface="+mn-ea"/>
                <a:sym typeface="+mn-lt"/>
              </a:rPr>
              <a:t>“</a:t>
            </a:r>
            <a:r>
              <a:rPr kumimoji="0" lang="zh-CN" altLang="en-US" sz="2000" b="1" dirty="0">
                <a:solidFill>
                  <a:srgbClr val="C00000"/>
                </a:solidFill>
                <a:cs typeface="+mn-ea"/>
                <a:sym typeface="+mn-lt"/>
              </a:rPr>
              <a:t>一</a:t>
            </a:r>
            <a:r>
              <a:rPr kumimoji="0" lang="zh-CN" altLang="en-US" sz="2000" b="1" dirty="0">
                <a:cs typeface="+mn-ea"/>
                <a:sym typeface="+mn-lt"/>
              </a:rPr>
              <a:t>比</a:t>
            </a:r>
            <a:r>
              <a:rPr kumimoji="0" lang="zh-CN" altLang="en-US" sz="2000" b="1" dirty="0">
                <a:solidFill>
                  <a:srgbClr val="C00000"/>
                </a:solidFill>
                <a:cs typeface="+mn-ea"/>
                <a:sym typeface="+mn-lt"/>
              </a:rPr>
              <a:t>四</a:t>
            </a:r>
            <a:r>
              <a:rPr lang="zh-CN" altLang="en-US" sz="2000" b="1" dirty="0">
                <a:cs typeface="+mn-ea"/>
                <a:sym typeface="+mn-lt"/>
              </a:rPr>
              <a:t>”的对应</a:t>
            </a:r>
            <a:r>
              <a:rPr kumimoji="0" lang="zh-CN" altLang="en-US" sz="2000" b="1" dirty="0">
                <a:cs typeface="+mn-ea"/>
                <a:sym typeface="+mn-lt"/>
              </a:rPr>
              <a:t>关系：</a:t>
            </a:r>
            <a:endParaRPr kumimoji="0" lang="en-US" altLang="zh-CN" sz="2000" b="1" dirty="0">
              <a:cs typeface="+mn-ea"/>
              <a:sym typeface="+mn-lt"/>
            </a:endParaRPr>
          </a:p>
          <a:p>
            <a:pPr algn="ctr">
              <a:tabLst>
                <a:tab pos="879475" algn="l"/>
                <a:tab pos="993775" algn="l"/>
              </a:tabLst>
            </a:pPr>
            <a:r>
              <a:rPr kumimoji="0" lang="zh-CN" altLang="en-US" sz="2000" b="1" dirty="0">
                <a:cs typeface="+mn-ea"/>
                <a:sym typeface="+mn-lt"/>
              </a:rPr>
              <a:t>每</a:t>
            </a:r>
            <a:r>
              <a:rPr kumimoji="0" lang="zh-CN" altLang="en-US" sz="2000" b="1" dirty="0">
                <a:solidFill>
                  <a:srgbClr val="C00000"/>
                </a:solidFill>
                <a:cs typeface="+mn-ea"/>
                <a:sym typeface="+mn-lt"/>
              </a:rPr>
              <a:t>一位十六进制数</a:t>
            </a:r>
            <a:r>
              <a:rPr kumimoji="0" lang="zh-CN" altLang="en-US" sz="2000" b="1" dirty="0">
                <a:cs typeface="+mn-ea"/>
                <a:sym typeface="+mn-lt"/>
              </a:rPr>
              <a:t>对应</a:t>
            </a:r>
            <a:r>
              <a:rPr kumimoji="0"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四位二进制</a:t>
            </a:r>
            <a:endParaRPr kumimoji="0" lang="en-US" altLang="zh-CN" sz="16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/>
          </p:nvPr>
        </p:nvGraphicFramePr>
        <p:xfrm>
          <a:off x="8247217" y="913589"/>
          <a:ext cx="3154912" cy="569976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577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7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816">
                <a:tc>
                  <a:txBody>
                    <a:bodyPr/>
                    <a:lstStyle/>
                    <a:p>
                      <a:pPr algn="ctr"/>
                      <a:r>
                        <a:rPr kumimoji="0" lang="zh-CN" altLang="en-US" sz="1600" b="1" dirty="0">
                          <a:cs typeface="+mn-ea"/>
                          <a:sym typeface="+mn-lt"/>
                        </a:rPr>
                        <a:t>十六</a:t>
                      </a:r>
                      <a:r>
                        <a:rPr lang="zh-CN" altLang="en-US" sz="1600" b="1" dirty="0">
                          <a:cs typeface="+mn-ea"/>
                          <a:sym typeface="+mn-lt"/>
                        </a:rPr>
                        <a:t>进制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1" dirty="0">
                          <a:cs typeface="+mn-ea"/>
                          <a:sym typeface="+mn-lt"/>
                        </a:rPr>
                        <a:t>二进制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8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0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0000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8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0001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8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0010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8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0011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8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0100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8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0101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8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6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0110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8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7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0111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8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8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1000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98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9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1001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98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A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1010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98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B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1011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98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C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1100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98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D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1101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98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E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1110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98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F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1111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8466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1033125" y="1172280"/>
            <a:ext cx="8229600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二进制与十六进制的转换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5975539" y="1032091"/>
            <a:ext cx="5662358" cy="785832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2800" dirty="0">
                <a:cs typeface="+mn-ea"/>
                <a:sym typeface="+mn-lt"/>
              </a:rPr>
              <a:t>每</a:t>
            </a:r>
            <a:r>
              <a:rPr lang="en-US" altLang="zh-CN" sz="2800" dirty="0">
                <a:cs typeface="+mn-ea"/>
                <a:sym typeface="+mn-lt"/>
              </a:rPr>
              <a:t>4</a:t>
            </a:r>
            <a:r>
              <a:rPr lang="zh-CN" altLang="en-US" sz="2800" dirty="0">
                <a:cs typeface="+mn-ea"/>
                <a:sym typeface="+mn-lt"/>
              </a:rPr>
              <a:t>位二进制数对应</a:t>
            </a:r>
            <a:r>
              <a:rPr lang="en-US" altLang="zh-CN" sz="2800" dirty="0">
                <a:cs typeface="+mn-ea"/>
                <a:sym typeface="+mn-lt"/>
              </a:rPr>
              <a:t>1</a:t>
            </a:r>
            <a:r>
              <a:rPr lang="zh-CN" altLang="en-US" sz="2800" dirty="0">
                <a:cs typeface="+mn-ea"/>
                <a:sym typeface="+mn-lt"/>
              </a:rPr>
              <a:t>位十六进制数。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cs typeface="+mn-ea"/>
                <a:sym typeface="+mn-lt"/>
              </a:rPr>
              <a:t>	</a:t>
            </a:r>
            <a:r>
              <a:rPr lang="zh-CN" altLang="en-US" sz="2800" b="1" dirty="0">
                <a:cs typeface="+mn-ea"/>
                <a:sym typeface="+mn-lt"/>
              </a:rPr>
              <a:t>无符号数的表示 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2"/>
              <p:cNvSpPr txBox="1">
                <a:spLocks noChangeArrowheads="1"/>
              </p:cNvSpPr>
              <p:nvPr/>
            </p:nvSpPr>
            <p:spPr bwMode="auto">
              <a:xfrm>
                <a:off x="429558" y="1966981"/>
                <a:ext cx="11324717" cy="4293483"/>
              </a:xfrm>
              <a:prstGeom prst="rect">
                <a:avLst/>
              </a:prstGeom>
              <a:solidFill>
                <a:srgbClr val="FFCC99">
                  <a:alpha val="30196"/>
                </a:srgbClr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9pPr>
              </a:lstStyle>
              <a:p>
                <a:pPr lvl="1" defTabSz="914354">
                  <a:lnSpc>
                    <a:spcPct val="150000"/>
                  </a:lnSpc>
                  <a:spcBef>
                    <a:spcPts val="60"/>
                  </a:spcBef>
                  <a:buClr>
                    <a:srgbClr val="0000FF"/>
                  </a:buClr>
                  <a:buNone/>
                  <a:defRPr/>
                </a:pPr>
                <a:r>
                  <a:rPr lang="zh-CN" altLang="en-US" dirty="0">
                    <a:latin typeface="+mn-lt"/>
                    <a:ea typeface="+mn-ea"/>
                    <a:cs typeface="+mn-ea"/>
                    <a:sym typeface="+mn-lt"/>
                  </a:rPr>
                  <a:t>十六进制</a:t>
                </a:r>
                <a:r>
                  <a:rPr lang="en-US" altLang="zh-CN" dirty="0">
                    <a:latin typeface="+mn-lt"/>
                    <a:ea typeface="+mn-ea"/>
                    <a:cs typeface="+mn-ea"/>
                    <a:sym typeface="+mn-lt"/>
                  </a:rPr>
                  <a:t>		</a:t>
                </a:r>
                <a:r>
                  <a:rPr lang="zh-CN" altLang="en-US" dirty="0">
                    <a:latin typeface="+mn-lt"/>
                    <a:ea typeface="+mn-ea"/>
                    <a:cs typeface="+mn-ea"/>
                    <a:sym typeface="+mn-lt"/>
                  </a:rPr>
                  <a:t>二进制</a:t>
                </a:r>
                <a:endParaRPr lang="en-US" altLang="zh-CN" dirty="0">
                  <a:latin typeface="+mn-lt"/>
                  <a:ea typeface="+mn-ea"/>
                  <a:cs typeface="+mn-ea"/>
                  <a:sym typeface="+mn-lt"/>
                </a:endParaRPr>
              </a:p>
              <a:p>
                <a:pPr lvl="1" algn="just">
                  <a:spcBef>
                    <a:spcPct val="50000"/>
                  </a:spcBef>
                  <a:buClr>
                    <a:srgbClr val="0000FF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+mn-ea"/>
                          <a:cs typeface="+mn-ea"/>
                          <a:sym typeface="+mn-lt"/>
                        </a:rPr>
                        <m:t>𝐹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+mn-ea"/>
                          <a:cs typeface="+mn-ea"/>
                          <a:sym typeface="+mn-lt"/>
                        </a:rPr>
                        <m:t>8</m:t>
                      </m:r>
                      <m:r>
                        <m:rPr>
                          <m:sty m:val="p"/>
                        </m:rPr>
                        <a:rPr kumimoji="1" lang="en-US" altLang="zh-CN" sz="2400" b="0" i="0" smtClean="0">
                          <a:latin typeface="Cambria Math" panose="02040503050406030204" pitchFamily="18" charset="0"/>
                          <a:ea typeface="+mn-ea"/>
                          <a:cs typeface="+mn-ea"/>
                          <a:sym typeface="+mn-lt"/>
                        </a:rPr>
                        <m:t>H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+mn-ea"/>
                          <a:cs typeface="+mn-ea"/>
                          <a:sym typeface="+mn-lt"/>
                        </a:rPr>
                        <m:t>=1111 1000</m:t>
                      </m:r>
                      <m:r>
                        <m:rPr>
                          <m:sty m:val="p"/>
                        </m:rPr>
                        <a:rPr kumimoji="1" lang="en-US" altLang="zh-CN" sz="2400" b="0" i="0" smtClean="0">
                          <a:latin typeface="Cambria Math" panose="02040503050406030204" pitchFamily="18" charset="0"/>
                          <a:ea typeface="+mn-ea"/>
                          <a:cs typeface="+mn-ea"/>
                          <a:sym typeface="+mn-lt"/>
                        </a:rPr>
                        <m:t>B</m:t>
                      </m:r>
                    </m:oMath>
                  </m:oMathPara>
                </a14:m>
                <a:endParaRPr kumimoji="1" lang="en-US" altLang="zh-CN" sz="2400" b="0" dirty="0">
                  <a:latin typeface="+mn-lt"/>
                  <a:ea typeface="+mn-ea"/>
                  <a:cs typeface="+mn-ea"/>
                  <a:sym typeface="+mn-lt"/>
                </a:endParaRPr>
              </a:p>
              <a:p>
                <a:pPr lvl="1" algn="just">
                  <a:spcBef>
                    <a:spcPct val="50000"/>
                  </a:spcBef>
                  <a:buClr>
                    <a:srgbClr val="0000FF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+mn-ea"/>
                          <a:cs typeface="+mn-ea"/>
                          <a:sym typeface="+mn-lt"/>
                        </a:rPr>
                        <m:t>2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+mn-ea"/>
                          <a:cs typeface="+mn-ea"/>
                          <a:sym typeface="+mn-lt"/>
                        </a:rPr>
                        <m:t>𝐹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+mn-ea"/>
                          <a:cs typeface="+mn-ea"/>
                          <a:sym typeface="+mn-lt"/>
                        </a:rPr>
                        <m:t>0. 4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+mn-ea"/>
                          <a:cs typeface="+mn-ea"/>
                          <a:sym typeface="+mn-lt"/>
                        </a:rPr>
                        <m:t>𝐴</m:t>
                      </m:r>
                      <m:r>
                        <m:rPr>
                          <m:sty m:val="p"/>
                        </m:rPr>
                        <a:rPr kumimoji="1" lang="en-US" altLang="zh-CN" sz="2400" b="0" i="0" smtClean="0">
                          <a:latin typeface="Cambria Math" panose="02040503050406030204" pitchFamily="18" charset="0"/>
                          <a:ea typeface="+mn-ea"/>
                          <a:cs typeface="+mn-ea"/>
                          <a:sym typeface="+mn-lt"/>
                        </a:rPr>
                        <m:t>H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+mn-ea"/>
                          <a:cs typeface="+mn-ea"/>
                          <a:sym typeface="+mn-lt"/>
                        </a:rPr>
                        <m:t>=0010 1111 0000.  0100 1010</m:t>
                      </m:r>
                      <m:r>
                        <m:rPr>
                          <m:sty m:val="p"/>
                        </m:rPr>
                        <a:rPr kumimoji="1" lang="en-US" altLang="zh-CN" sz="2400" b="0" i="0" smtClean="0">
                          <a:latin typeface="Cambria Math" panose="02040503050406030204" pitchFamily="18" charset="0"/>
                          <a:ea typeface="+mn-ea"/>
                          <a:cs typeface="+mn-ea"/>
                          <a:sym typeface="+mn-lt"/>
                        </a:rPr>
                        <m:t>B</m:t>
                      </m:r>
                    </m:oMath>
                  </m:oMathPara>
                </a14:m>
                <a:endParaRPr kumimoji="1" lang="en-US" altLang="zh-CN" sz="2400" b="0" dirty="0">
                  <a:latin typeface="+mn-lt"/>
                  <a:ea typeface="+mn-ea"/>
                  <a:cs typeface="+mn-ea"/>
                  <a:sym typeface="+mn-lt"/>
                </a:endParaRPr>
              </a:p>
              <a:p>
                <a:pPr lvl="1" algn="just">
                  <a:spcBef>
                    <a:spcPct val="50000"/>
                  </a:spcBef>
                  <a:buClr>
                    <a:srgbClr val="0000FF"/>
                  </a:buClr>
                  <a:buNone/>
                </a:pPr>
                <a:r>
                  <a:rPr kumimoji="1" lang="zh-CN" altLang="en-US" dirty="0">
                    <a:latin typeface="+mn-lt"/>
                    <a:ea typeface="+mn-ea"/>
                    <a:cs typeface="+mn-ea"/>
                    <a:sym typeface="+mn-lt"/>
                  </a:rPr>
                  <a:t>二进制</a:t>
                </a:r>
                <a:r>
                  <a:rPr kumimoji="1" lang="en-US" altLang="zh-CN" dirty="0">
                    <a:latin typeface="+mn-lt"/>
                    <a:ea typeface="+mn-ea"/>
                    <a:cs typeface="+mn-ea"/>
                    <a:sym typeface="+mn-lt"/>
                  </a:rPr>
                  <a:t>		</a:t>
                </a:r>
                <a:r>
                  <a:rPr kumimoji="1" lang="zh-CN" altLang="en-US" dirty="0">
                    <a:latin typeface="+mn-lt"/>
                    <a:ea typeface="+mn-ea"/>
                    <a:cs typeface="+mn-ea"/>
                    <a:sym typeface="+mn-lt"/>
                  </a:rPr>
                  <a:t>十六进制</a:t>
                </a:r>
                <a:endParaRPr kumimoji="1" lang="en-US" altLang="zh-CN" dirty="0">
                  <a:latin typeface="+mn-lt"/>
                  <a:ea typeface="+mn-ea"/>
                  <a:cs typeface="+mn-ea"/>
                  <a:sym typeface="+mn-lt"/>
                </a:endParaRPr>
              </a:p>
              <a:p>
                <a:pPr lvl="1" algn="ctr">
                  <a:spcBef>
                    <a:spcPct val="50000"/>
                  </a:spcBef>
                  <a:buClr>
                    <a:srgbClr val="0000FF"/>
                  </a:buClr>
                  <a:buNone/>
                </a:pPr>
                <a:r>
                  <a:rPr kumimoji="1" lang="en-US" altLang="zh-CN" sz="2400" dirty="0">
                    <a:latin typeface="+mn-lt"/>
                    <a:ea typeface="+mn-ea"/>
                    <a:cs typeface="+mn-ea"/>
                    <a:sym typeface="+mn-lt"/>
                  </a:rPr>
                  <a:t>1 0011 1100 1010. 0101 11B</a:t>
                </a:r>
              </a:p>
              <a:p>
                <a:pPr lvl="1" algn="ctr">
                  <a:spcBef>
                    <a:spcPct val="50000"/>
                  </a:spcBef>
                  <a:buClr>
                    <a:srgbClr val="0000FF"/>
                  </a:buClr>
                  <a:buNone/>
                </a:pPr>
                <a:endParaRPr kumimoji="1" lang="en-US" altLang="zh-CN" sz="1100" i="1" dirty="0">
                  <a:latin typeface="+mn-lt"/>
                  <a:ea typeface="+mn-ea"/>
                  <a:cs typeface="+mn-ea"/>
                  <a:sym typeface="+mn-lt"/>
                </a:endParaRPr>
              </a:p>
              <a:p>
                <a:pPr lvl="1" algn="ctr">
                  <a:spcBef>
                    <a:spcPct val="50000"/>
                  </a:spcBef>
                  <a:buClr>
                    <a:srgbClr val="0000FF"/>
                  </a:buClr>
                  <a:buNone/>
                </a:pPr>
                <a:r>
                  <a:rPr kumimoji="1" lang="en-US" altLang="zh-CN" sz="2400" b="1" i="1" u="sng" dirty="0">
                    <a:solidFill>
                      <a:srgbClr val="FF0000"/>
                    </a:solidFill>
                    <a:latin typeface="+mn-lt"/>
                    <a:ea typeface="+mn-ea"/>
                    <a:cs typeface="+mn-ea"/>
                    <a:sym typeface="+mn-lt"/>
                  </a:rPr>
                  <a:t>000</a:t>
                </a:r>
                <a:r>
                  <a:rPr kumimoji="1" lang="en-US" altLang="zh-CN" sz="2400" u="sng" dirty="0">
                    <a:latin typeface="+mn-lt"/>
                    <a:ea typeface="+mn-ea"/>
                    <a:cs typeface="+mn-ea"/>
                    <a:sym typeface="+mn-lt"/>
                  </a:rPr>
                  <a:t>1001111001010</a:t>
                </a:r>
                <a:r>
                  <a:rPr kumimoji="1" lang="en-US" altLang="zh-CN" sz="2400" dirty="0">
                    <a:latin typeface="+mn-lt"/>
                    <a:ea typeface="+mn-ea"/>
                    <a:cs typeface="+mn-ea"/>
                    <a:sym typeface="+mn-lt"/>
                  </a:rPr>
                  <a:t>. </a:t>
                </a:r>
                <a:r>
                  <a:rPr kumimoji="1" lang="en-US" altLang="zh-CN" sz="2400" u="sng" dirty="0">
                    <a:latin typeface="+mn-lt"/>
                    <a:ea typeface="+mn-ea"/>
                    <a:cs typeface="+mn-ea"/>
                    <a:sym typeface="+mn-lt"/>
                  </a:rPr>
                  <a:t>010111</a:t>
                </a:r>
                <a:r>
                  <a:rPr kumimoji="1" lang="en-US" altLang="zh-CN" sz="2400" b="1" i="1" u="sng" dirty="0">
                    <a:solidFill>
                      <a:srgbClr val="FF0000"/>
                    </a:solidFill>
                    <a:latin typeface="+mn-lt"/>
                    <a:ea typeface="+mn-ea"/>
                    <a:cs typeface="+mn-ea"/>
                    <a:sym typeface="+mn-lt"/>
                  </a:rPr>
                  <a:t>00</a:t>
                </a:r>
                <a:r>
                  <a:rPr kumimoji="1" lang="en-US" altLang="zh-CN" sz="2400" dirty="0">
                    <a:latin typeface="+mn-lt"/>
                    <a:ea typeface="+mn-ea"/>
                    <a:cs typeface="+mn-ea"/>
                    <a:sym typeface="+mn-lt"/>
                  </a:rPr>
                  <a:t>B</a:t>
                </a:r>
                <a:endParaRPr kumimoji="1" lang="en-US" altLang="zh-CN" sz="1100" i="1" dirty="0">
                  <a:solidFill>
                    <a:srgbClr val="000000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  <a:p>
                <a:pPr lvl="1" algn="ctr">
                  <a:spcBef>
                    <a:spcPct val="50000"/>
                  </a:spcBef>
                  <a:buClr>
                    <a:srgbClr val="0000FF"/>
                  </a:buClr>
                  <a:buNone/>
                </a:pPr>
                <a:endParaRPr kumimoji="1" lang="en-US" altLang="zh-CN" sz="1100" dirty="0">
                  <a:latin typeface="+mn-lt"/>
                  <a:ea typeface="+mn-ea"/>
                  <a:cs typeface="+mn-ea"/>
                  <a:sym typeface="+mn-lt"/>
                </a:endParaRPr>
              </a:p>
              <a:p>
                <a:pPr lvl="1" algn="ctr">
                  <a:spcBef>
                    <a:spcPct val="50000"/>
                  </a:spcBef>
                  <a:buClr>
                    <a:srgbClr val="0000FF"/>
                  </a:buClr>
                  <a:buNone/>
                </a:pPr>
                <a:r>
                  <a:rPr kumimoji="1" lang="en-US" altLang="zh-CN" sz="2400" dirty="0">
                    <a:latin typeface="+mn-lt"/>
                    <a:ea typeface="+mn-ea"/>
                    <a:cs typeface="+mn-ea"/>
                    <a:sym typeface="+mn-lt"/>
                  </a:rPr>
                  <a:t>13CA. 5CH</a:t>
                </a:r>
              </a:p>
            </p:txBody>
          </p:sp>
        </mc:Choice>
        <mc:Fallback xmlns="">
          <p:sp>
            <p:nvSpPr>
              <p:cNvPr id="7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9558" y="1966981"/>
                <a:ext cx="11324717" cy="4293483"/>
              </a:xfrm>
              <a:prstGeom prst="rect">
                <a:avLst/>
              </a:prstGeom>
              <a:blipFill rotWithShape="0">
                <a:blip r:embed="rId2"/>
                <a:stretch>
                  <a:fillRect b="-1972"/>
                </a:stretch>
              </a:blipFill>
              <a:ln w="38100">
                <a:solidFill>
                  <a:srgbClr val="FF66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右箭头 3"/>
          <p:cNvSpPr/>
          <p:nvPr/>
        </p:nvSpPr>
        <p:spPr>
          <a:xfrm>
            <a:off x="2736136" y="2259523"/>
            <a:ext cx="953589" cy="2351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2165828" y="3721089"/>
            <a:ext cx="953589" cy="2351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下箭头 10"/>
          <p:cNvSpPr/>
          <p:nvPr/>
        </p:nvSpPr>
        <p:spPr>
          <a:xfrm>
            <a:off x="6164423" y="4629298"/>
            <a:ext cx="313509" cy="36071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下箭头 11"/>
          <p:cNvSpPr/>
          <p:nvPr/>
        </p:nvSpPr>
        <p:spPr>
          <a:xfrm>
            <a:off x="6164422" y="5444881"/>
            <a:ext cx="313509" cy="36071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29558" y="4620678"/>
            <a:ext cx="6265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cs typeface="+mn-ea"/>
                <a:sym typeface="+mn-lt"/>
              </a:rPr>
              <a:t>小数点向两侧，每</a:t>
            </a:r>
            <a:r>
              <a:rPr lang="en-US" altLang="zh-CN" dirty="0">
                <a:cs typeface="+mn-ea"/>
                <a:sym typeface="+mn-lt"/>
              </a:rPr>
              <a:t>4</a:t>
            </a:r>
            <a:r>
              <a:rPr lang="zh-CN" altLang="en-US" dirty="0">
                <a:cs typeface="+mn-ea"/>
                <a:sym typeface="+mn-lt"/>
              </a:rPr>
              <a:t>位分为</a:t>
            </a:r>
            <a:r>
              <a:rPr lang="en-US" altLang="zh-CN" dirty="0">
                <a:cs typeface="+mn-ea"/>
                <a:sym typeface="+mn-lt"/>
              </a:rPr>
              <a:t>1</a:t>
            </a:r>
            <a:r>
              <a:rPr lang="zh-CN" altLang="en-US" dirty="0">
                <a:cs typeface="+mn-ea"/>
                <a:sym typeface="+mn-lt"/>
              </a:rPr>
              <a:t>组，不足</a:t>
            </a:r>
            <a:r>
              <a:rPr lang="en-US" altLang="zh-CN" dirty="0">
                <a:cs typeface="+mn-ea"/>
                <a:sym typeface="+mn-lt"/>
              </a:rPr>
              <a:t>4</a:t>
            </a:r>
            <a:r>
              <a:rPr lang="zh-CN" altLang="en-US" dirty="0">
                <a:cs typeface="+mn-ea"/>
                <a:sym typeface="+mn-lt"/>
              </a:rPr>
              <a:t>位则添</a:t>
            </a:r>
            <a:r>
              <a:rPr lang="en-US" altLang="zh-CN" dirty="0">
                <a:cs typeface="+mn-ea"/>
                <a:sym typeface="+mn-lt"/>
              </a:rPr>
              <a:t>0</a:t>
            </a:r>
            <a:r>
              <a:rPr lang="zh-CN" altLang="en-US" dirty="0">
                <a:cs typeface="+mn-ea"/>
                <a:sym typeface="+mn-lt"/>
              </a:rPr>
              <a:t>凑够</a:t>
            </a:r>
            <a:r>
              <a:rPr lang="en-US" altLang="zh-CN" dirty="0">
                <a:cs typeface="+mn-ea"/>
                <a:sym typeface="+mn-lt"/>
              </a:rPr>
              <a:t>4</a:t>
            </a:r>
            <a:r>
              <a:rPr lang="zh-CN" altLang="en-US" dirty="0">
                <a:cs typeface="+mn-ea"/>
                <a:sym typeface="+mn-lt"/>
              </a:rPr>
              <a:t>位</a:t>
            </a:r>
          </a:p>
        </p:txBody>
      </p:sp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8715741" y="4255721"/>
            <a:ext cx="1779263" cy="32316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algn="ctr" eaLnBrk="1" hangingPunct="1">
              <a:spcBef>
                <a:spcPct val="50000"/>
              </a:spcBef>
            </a:pPr>
            <a:r>
              <a:rPr kumimoji="0" lang="en-US" altLang="zh-CN" sz="1500" b="1" dirty="0">
                <a:cs typeface="+mn-ea"/>
                <a:sym typeface="+mn-lt"/>
              </a:rPr>
              <a:t>(19</a:t>
            </a:r>
            <a:r>
              <a:rPr kumimoji="0" lang="zh-CN" altLang="en-US" sz="1500" b="1" dirty="0">
                <a:cs typeface="+mn-ea"/>
                <a:sym typeface="+mn-lt"/>
              </a:rPr>
              <a:t>个符号</a:t>
            </a:r>
            <a:r>
              <a:rPr kumimoji="0" lang="en-US" altLang="zh-CN" sz="1500" b="1" dirty="0">
                <a:cs typeface="+mn-ea"/>
                <a:sym typeface="+mn-lt"/>
              </a:rPr>
              <a:t>)</a:t>
            </a:r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8698157" y="5838947"/>
            <a:ext cx="1511300" cy="3206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algn="ctr" eaLnBrk="1" hangingPunct="1">
              <a:spcBef>
                <a:spcPct val="50000"/>
              </a:spcBef>
            </a:pPr>
            <a:r>
              <a:rPr kumimoji="0" lang="en-US" altLang="zh-CN" sz="1500" b="1" dirty="0">
                <a:cs typeface="+mn-ea"/>
                <a:sym typeface="+mn-lt"/>
              </a:rPr>
              <a:t>(6</a:t>
            </a:r>
            <a:r>
              <a:rPr kumimoji="0" lang="zh-CN" altLang="en-US" sz="1500" b="1" dirty="0">
                <a:cs typeface="+mn-ea"/>
                <a:sym typeface="+mn-lt"/>
              </a:rPr>
              <a:t>个符号</a:t>
            </a:r>
            <a:r>
              <a:rPr kumimoji="0" lang="en-US" altLang="zh-CN" sz="1500" b="1" dirty="0">
                <a:cs typeface="+mn-ea"/>
                <a:sym typeface="+mn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97498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14" grpId="0"/>
      <p:bldP spid="1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1413965" y="2217932"/>
            <a:ext cx="8229600" cy="113130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练习：（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11.1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）</a:t>
            </a:r>
            <a:r>
              <a:rPr lang="en-US" altLang="zh-CN" baseline="-25000" dirty="0">
                <a:latin typeface="+mn-lt"/>
                <a:ea typeface="+mn-ea"/>
                <a:cs typeface="+mn-ea"/>
                <a:sym typeface="+mn-lt"/>
              </a:rPr>
              <a:t>B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转换为十进制数是多少？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         （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11.1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）</a:t>
            </a:r>
            <a:r>
              <a:rPr lang="en-US" altLang="zh-CN" baseline="-25000" dirty="0">
                <a:latin typeface="+mn-lt"/>
                <a:ea typeface="+mn-ea"/>
                <a:cs typeface="+mn-ea"/>
                <a:sym typeface="+mn-lt"/>
              </a:rPr>
              <a:t>H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转换为十进制数是多少？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endParaRPr lang="zh-CN" altLang="en-US" sz="3200" dirty="0">
              <a:solidFill>
                <a:srgbClr val="CC33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cs typeface="+mn-ea"/>
                <a:sym typeface="+mn-lt"/>
              </a:rPr>
              <a:t>	</a:t>
            </a:r>
            <a:r>
              <a:rPr lang="zh-CN" altLang="en-US" sz="2800" b="1" dirty="0">
                <a:cs typeface="+mn-ea"/>
                <a:sym typeface="+mn-lt"/>
              </a:rPr>
              <a:t>无符号数的表示 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54937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045580" y="974566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>
                <a:cs typeface="+mn-ea"/>
                <a:sym typeface="+mn-lt"/>
              </a:rPr>
              <a:t>（</a:t>
            </a:r>
            <a:r>
              <a:rPr lang="en-US" altLang="zh-CN" sz="2800" dirty="0">
                <a:cs typeface="+mn-ea"/>
                <a:sym typeface="+mn-lt"/>
              </a:rPr>
              <a:t>11.1</a:t>
            </a:r>
            <a:r>
              <a:rPr lang="zh-CN" altLang="en-US" sz="2800" dirty="0">
                <a:cs typeface="+mn-ea"/>
                <a:sym typeface="+mn-lt"/>
              </a:rPr>
              <a:t>）</a:t>
            </a:r>
            <a:r>
              <a:rPr lang="en-US" altLang="zh-CN" sz="2800" baseline="-25000" dirty="0">
                <a:cs typeface="+mn-ea"/>
                <a:sym typeface="+mn-lt"/>
              </a:rPr>
              <a:t>B</a:t>
            </a:r>
            <a:r>
              <a:rPr lang="zh-CN" altLang="en-US" sz="2800" dirty="0">
                <a:cs typeface="+mn-ea"/>
                <a:sym typeface="+mn-lt"/>
              </a:rPr>
              <a:t>转换为十进制数是多少</a:t>
            </a:r>
            <a:r>
              <a:rPr lang="zh-CN" altLang="en-US" sz="2800" dirty="0" smtClean="0">
                <a:cs typeface="+mn-ea"/>
                <a:sym typeface="+mn-lt"/>
              </a:rPr>
              <a:t>？</a:t>
            </a:r>
            <a:r>
              <a:rPr lang="zh-CN" altLang="en-US" sz="2800" dirty="0" smtClean="0">
                <a:solidFill>
                  <a:srgbClr val="639EF4"/>
                </a:solidFill>
                <a:cs typeface="+mn-ea"/>
                <a:sym typeface="+mn-lt"/>
              </a:rPr>
              <a:t> </a:t>
            </a:r>
            <a:r>
              <a:rPr lang="en-US" altLang="zh-CN" sz="2800" dirty="0" smtClean="0">
                <a:solidFill>
                  <a:srgbClr val="639EF4"/>
                </a:solidFill>
                <a:cs typeface="+mn-ea"/>
                <a:sym typeface="+mn-lt"/>
              </a:rPr>
              <a:t>[</a:t>
            </a:r>
            <a:r>
              <a:rPr lang="zh-CN" altLang="en-US" sz="2800" dirty="0" smtClean="0">
                <a:solidFill>
                  <a:srgbClr val="639EF4"/>
                </a:solidFill>
                <a:cs typeface="+mn-ea"/>
                <a:sym typeface="+mn-lt"/>
              </a:rPr>
              <a:t>填空</a:t>
            </a:r>
            <a:r>
              <a:rPr lang="en-US" altLang="zh-CN" sz="2800" dirty="0" smtClean="0">
                <a:solidFill>
                  <a:srgbClr val="639EF4"/>
                </a:solidFill>
                <a:cs typeface="+mn-ea"/>
                <a:sym typeface="+mn-lt"/>
              </a:rPr>
              <a:t>1]</a:t>
            </a:r>
          </a:p>
          <a:p>
            <a:r>
              <a:rPr lang="zh-CN" altLang="en-US" sz="2800" dirty="0">
                <a:cs typeface="+mn-ea"/>
                <a:sym typeface="+mn-lt"/>
              </a:rPr>
              <a:t>（</a:t>
            </a:r>
            <a:r>
              <a:rPr lang="en-US" altLang="zh-CN" sz="2800" dirty="0">
                <a:cs typeface="+mn-ea"/>
                <a:sym typeface="+mn-lt"/>
              </a:rPr>
              <a:t>11.1</a:t>
            </a:r>
            <a:r>
              <a:rPr lang="zh-CN" altLang="en-US" sz="2800" dirty="0">
                <a:cs typeface="+mn-ea"/>
                <a:sym typeface="+mn-lt"/>
              </a:rPr>
              <a:t>）</a:t>
            </a:r>
            <a:r>
              <a:rPr lang="en-US" altLang="zh-CN" sz="2800" baseline="-25000" dirty="0">
                <a:cs typeface="+mn-ea"/>
                <a:sym typeface="+mn-lt"/>
              </a:rPr>
              <a:t>H</a:t>
            </a:r>
            <a:r>
              <a:rPr lang="zh-CN" altLang="en-US" sz="2800" dirty="0">
                <a:cs typeface="+mn-ea"/>
                <a:sym typeface="+mn-lt"/>
              </a:rPr>
              <a:t>转换为十进制数是多少</a:t>
            </a:r>
            <a:r>
              <a:rPr lang="zh-CN" altLang="en-US" sz="2800" dirty="0" smtClean="0">
                <a:cs typeface="+mn-ea"/>
                <a:sym typeface="+mn-lt"/>
              </a:rPr>
              <a:t>？</a:t>
            </a:r>
            <a:r>
              <a:rPr lang="zh-CN" altLang="en-US" sz="2800" dirty="0" smtClean="0">
                <a:solidFill>
                  <a:srgbClr val="639EF4"/>
                </a:solidFill>
                <a:cs typeface="+mn-ea"/>
                <a:sym typeface="+mn-lt"/>
              </a:rPr>
              <a:t> </a:t>
            </a:r>
            <a:r>
              <a:rPr lang="en-US" altLang="zh-CN" sz="2800" dirty="0" smtClean="0">
                <a:solidFill>
                  <a:srgbClr val="639EF4"/>
                </a:solidFill>
                <a:cs typeface="+mn-ea"/>
                <a:sym typeface="+mn-lt"/>
              </a:rPr>
              <a:t>[</a:t>
            </a:r>
            <a:r>
              <a:rPr lang="zh-CN" altLang="en-US" sz="2800" dirty="0" smtClean="0">
                <a:solidFill>
                  <a:srgbClr val="639EF4"/>
                </a:solidFill>
                <a:cs typeface="+mn-ea"/>
                <a:sym typeface="+mn-lt"/>
              </a:rPr>
              <a:t>填空</a:t>
            </a:r>
            <a:r>
              <a:rPr lang="en-US" altLang="zh-CN" sz="2800" dirty="0" smtClean="0">
                <a:solidFill>
                  <a:srgbClr val="639EF4"/>
                </a:solidFill>
                <a:cs typeface="+mn-ea"/>
                <a:sym typeface="+mn-lt"/>
              </a:rPr>
              <a:t>2]</a:t>
            </a:r>
            <a:r>
              <a:rPr lang="en-US" altLang="zh-CN" sz="2800" dirty="0" smtClean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r>
              <a:rPr lang="en-US" altLang="zh-CN" sz="2800" dirty="0" smtClean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2000" b="1" dirty="0" smtClean="0">
                <a:solidFill>
                  <a:srgbClr val="FFFFFF"/>
                </a:solidFill>
                <a:latin typeface="+mn-ea"/>
                <a:sym typeface="Microsoft Yahei" panose="020B0503020204020204" pitchFamily="34" charset="-122"/>
              </a:rPr>
              <a:t>作答</a:t>
            </a:r>
            <a:endParaRPr lang="zh-CN" altLang="en-US" sz="2000" b="1" dirty="0">
              <a:solidFill>
                <a:srgbClr val="FFFFFF"/>
              </a:solidFill>
              <a:latin typeface="+mn-ea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dirty="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03306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C75AAC0-A3F7-4734-836E-62EF3AD0ABA3}"/>
              </a:ext>
            </a:extLst>
          </p:cNvPr>
          <p:cNvSpPr/>
          <p:nvPr/>
        </p:nvSpPr>
        <p:spPr>
          <a:xfrm>
            <a:off x="0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cs typeface="+mn-ea"/>
                <a:sym typeface="+mn-lt"/>
              </a:rPr>
              <a:t>	</a:t>
            </a:r>
            <a:r>
              <a:rPr lang="zh-CN" altLang="en-US" sz="2800" b="1" dirty="0">
                <a:cs typeface="+mn-ea"/>
                <a:sym typeface="+mn-lt"/>
              </a:rPr>
              <a:t>无符号数的表示 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1198333" y="1805826"/>
            <a:ext cx="5550934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defTabSz="914354">
              <a:lnSpc>
                <a:spcPct val="90000"/>
              </a:lnSpc>
              <a:spcBef>
                <a:spcPct val="0"/>
              </a:spcBef>
            </a:pPr>
            <a:r>
              <a:rPr lang="zh-CN" altLang="en-US" sz="3200" b="1" dirty="0">
                <a:solidFill>
                  <a:srgbClr val="CC3300"/>
                </a:solidFill>
                <a:cs typeface="+mn-ea"/>
                <a:sym typeface="+mn-lt"/>
              </a:rPr>
              <a:t>问题与思考</a:t>
            </a:r>
            <a:endParaRPr lang="en-US" altLang="zh-CN" sz="3200" b="1" dirty="0">
              <a:solidFill>
                <a:srgbClr val="CC3300"/>
              </a:solidFill>
              <a:cs typeface="+mn-ea"/>
              <a:sym typeface="+mn-lt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1198333" y="2587393"/>
            <a:ext cx="10066329" cy="3535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cs typeface="+mn-ea"/>
              </a:rPr>
              <a:t>(101.01)B		--</a:t>
            </a:r>
            <a:r>
              <a:rPr lang="en-US" altLang="zh-CN" sz="2400" dirty="0">
                <a:cs typeface="+mn-ea"/>
                <a:sym typeface="Wingdings" panose="05000000000000000000" pitchFamily="2" charset="2"/>
              </a:rPr>
              <a:t></a:t>
            </a:r>
            <a:r>
              <a:rPr lang="zh-CN" altLang="zh-CN" sz="2400" dirty="0">
                <a:cs typeface="+mn-ea"/>
              </a:rPr>
              <a:t>（</a:t>
            </a:r>
            <a:r>
              <a:rPr lang="en-US" altLang="zh-CN" sz="2400" dirty="0">
                <a:cs typeface="+mn-ea"/>
              </a:rPr>
              <a:t>         </a:t>
            </a:r>
            <a:r>
              <a:rPr lang="zh-CN" altLang="zh-CN" sz="2400" dirty="0">
                <a:cs typeface="+mn-ea"/>
              </a:rPr>
              <a:t>）</a:t>
            </a:r>
            <a:r>
              <a:rPr lang="en-US" altLang="zh-CN" sz="2400" dirty="0">
                <a:cs typeface="+mn-ea"/>
              </a:rPr>
              <a:t>D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cs typeface="+mn-ea"/>
              </a:rPr>
              <a:t>(101.1)H		--</a:t>
            </a:r>
            <a:r>
              <a:rPr lang="en-US" altLang="zh-CN" sz="2400" dirty="0">
                <a:cs typeface="+mn-ea"/>
                <a:sym typeface="Wingdings" panose="05000000000000000000" pitchFamily="2" charset="2"/>
              </a:rPr>
              <a:t></a:t>
            </a:r>
            <a:r>
              <a:rPr lang="zh-CN" altLang="zh-CN" sz="2400" dirty="0">
                <a:cs typeface="+mn-ea"/>
              </a:rPr>
              <a:t>（</a:t>
            </a:r>
            <a:r>
              <a:rPr lang="en-US" altLang="zh-CN" sz="2400" dirty="0">
                <a:cs typeface="+mn-ea"/>
              </a:rPr>
              <a:t>         </a:t>
            </a:r>
            <a:r>
              <a:rPr lang="zh-CN" altLang="zh-CN" sz="2400" dirty="0">
                <a:cs typeface="+mn-ea"/>
              </a:rPr>
              <a:t>）</a:t>
            </a:r>
            <a:r>
              <a:rPr lang="en-US" altLang="zh-CN" sz="2400" dirty="0">
                <a:cs typeface="+mn-ea"/>
              </a:rPr>
              <a:t>D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cs typeface="+mn-ea"/>
              </a:rPr>
              <a:t>(36.75)H		--</a:t>
            </a:r>
            <a:r>
              <a:rPr lang="en-US" altLang="zh-CN" sz="2400" dirty="0">
                <a:cs typeface="+mn-ea"/>
                <a:sym typeface="Wingdings" panose="05000000000000000000" pitchFamily="2" charset="2"/>
              </a:rPr>
              <a:t></a:t>
            </a:r>
            <a:r>
              <a:rPr lang="zh-CN" altLang="zh-CN" sz="2400" dirty="0">
                <a:cs typeface="+mn-ea"/>
              </a:rPr>
              <a:t>（</a:t>
            </a:r>
            <a:r>
              <a:rPr lang="en-US" altLang="zh-CN" sz="2400" dirty="0">
                <a:cs typeface="+mn-ea"/>
              </a:rPr>
              <a:t>         </a:t>
            </a:r>
            <a:r>
              <a:rPr lang="zh-CN" altLang="zh-CN" sz="2400" dirty="0">
                <a:cs typeface="+mn-ea"/>
              </a:rPr>
              <a:t>）</a:t>
            </a:r>
            <a:r>
              <a:rPr lang="en-US" altLang="zh-CN" sz="2400" dirty="0">
                <a:cs typeface="+mn-ea"/>
              </a:rPr>
              <a:t>B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cs typeface="+mn-ea"/>
              </a:rPr>
              <a:t>(36.75)D		--</a:t>
            </a:r>
            <a:r>
              <a:rPr lang="en-US" altLang="zh-CN" sz="2400" dirty="0">
                <a:cs typeface="+mn-ea"/>
                <a:sym typeface="Wingdings" panose="05000000000000000000" pitchFamily="2" charset="2"/>
              </a:rPr>
              <a:t></a:t>
            </a:r>
            <a:r>
              <a:rPr lang="zh-CN" altLang="zh-CN" sz="2400" dirty="0">
                <a:cs typeface="+mn-ea"/>
              </a:rPr>
              <a:t>（</a:t>
            </a:r>
            <a:r>
              <a:rPr lang="en-US" altLang="zh-CN" sz="2400" dirty="0">
                <a:cs typeface="+mn-ea"/>
              </a:rPr>
              <a:t>         </a:t>
            </a:r>
            <a:r>
              <a:rPr lang="zh-CN" altLang="zh-CN" sz="2400" dirty="0">
                <a:cs typeface="+mn-ea"/>
              </a:rPr>
              <a:t>）</a:t>
            </a:r>
            <a:r>
              <a:rPr lang="en-US" altLang="zh-CN" sz="2400" dirty="0">
                <a:cs typeface="+mn-ea"/>
              </a:rPr>
              <a:t>B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cs typeface="+mn-ea"/>
              </a:rPr>
              <a:t>  </a:t>
            </a:r>
            <a:endParaRPr lang="zh-CN" altLang="zh-CN" sz="2400" dirty="0"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65933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E170FC1-F3B8-443D-873F-26756CEEDA34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cs typeface="+mn-ea"/>
                <a:sym typeface="+mn-lt"/>
              </a:rPr>
              <a:t>	</a:t>
            </a:r>
            <a:r>
              <a:rPr lang="zh-CN" altLang="en-US" sz="2800" b="1" dirty="0">
                <a:cs typeface="+mn-ea"/>
                <a:sym typeface="+mn-lt"/>
              </a:rPr>
              <a:t>无符号数的表示 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1198333" y="1805826"/>
            <a:ext cx="5550934" cy="5355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defTabSz="914354">
              <a:lnSpc>
                <a:spcPct val="90000"/>
              </a:lnSpc>
              <a:spcBef>
                <a:spcPct val="0"/>
              </a:spcBef>
            </a:pPr>
            <a:r>
              <a:rPr lang="zh-CN" altLang="en-US" sz="3200" b="1" dirty="0">
                <a:solidFill>
                  <a:srgbClr val="CC3300"/>
                </a:solidFill>
                <a:cs typeface="+mn-ea"/>
                <a:sym typeface="+mn-lt"/>
              </a:rPr>
              <a:t>问题与思考</a:t>
            </a:r>
            <a:endParaRPr lang="en-US" altLang="zh-CN" sz="3200" b="1" dirty="0">
              <a:solidFill>
                <a:srgbClr val="CC3300"/>
              </a:solidFill>
              <a:cs typeface="+mn-ea"/>
              <a:sym typeface="+mn-lt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174E2AD0-4074-4470-9FEC-7E7FACDC7882}"/>
              </a:ext>
            </a:extLst>
          </p:cNvPr>
          <p:cNvSpPr txBox="1"/>
          <p:nvPr/>
        </p:nvSpPr>
        <p:spPr>
          <a:xfrm>
            <a:off x="1198333" y="2587393"/>
            <a:ext cx="10066329" cy="3535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cs typeface="+mn-ea"/>
              </a:rPr>
              <a:t>(101.01)B		--</a:t>
            </a:r>
            <a:r>
              <a:rPr lang="en-US" altLang="zh-CN" sz="2400" dirty="0">
                <a:cs typeface="+mn-ea"/>
                <a:sym typeface="Wingdings" panose="05000000000000000000" pitchFamily="2" charset="2"/>
              </a:rPr>
              <a:t></a:t>
            </a:r>
            <a:r>
              <a:rPr lang="zh-CN" altLang="zh-CN" sz="2400" dirty="0">
                <a:cs typeface="+mn-ea"/>
              </a:rPr>
              <a:t>（</a:t>
            </a:r>
            <a:r>
              <a:rPr lang="en-US" altLang="zh-CN" sz="2400" dirty="0">
                <a:cs typeface="+mn-ea"/>
              </a:rPr>
              <a:t> 5.25        </a:t>
            </a:r>
            <a:r>
              <a:rPr lang="zh-CN" altLang="zh-CN" sz="2400" dirty="0">
                <a:cs typeface="+mn-ea"/>
              </a:rPr>
              <a:t>）</a:t>
            </a:r>
            <a:r>
              <a:rPr lang="en-US" altLang="zh-CN" sz="2400" dirty="0">
                <a:cs typeface="+mn-ea"/>
              </a:rPr>
              <a:t>D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cs typeface="+mn-ea"/>
              </a:rPr>
              <a:t>(101.1)H		--</a:t>
            </a:r>
            <a:r>
              <a:rPr lang="en-US" altLang="zh-CN" sz="2400" dirty="0">
                <a:cs typeface="+mn-ea"/>
                <a:sym typeface="Wingdings" panose="05000000000000000000" pitchFamily="2" charset="2"/>
              </a:rPr>
              <a:t></a:t>
            </a:r>
            <a:r>
              <a:rPr lang="zh-CN" altLang="zh-CN" sz="2400" dirty="0">
                <a:cs typeface="+mn-ea"/>
              </a:rPr>
              <a:t>（</a:t>
            </a:r>
            <a:r>
              <a:rPr lang="en-US" altLang="zh-CN" sz="2400" dirty="0">
                <a:cs typeface="+mn-ea"/>
              </a:rPr>
              <a:t> 257.0625        </a:t>
            </a:r>
            <a:r>
              <a:rPr lang="zh-CN" altLang="zh-CN" sz="2400" dirty="0">
                <a:cs typeface="+mn-ea"/>
              </a:rPr>
              <a:t>）</a:t>
            </a:r>
            <a:r>
              <a:rPr lang="en-US" altLang="zh-CN" sz="2400" dirty="0">
                <a:cs typeface="+mn-ea"/>
              </a:rPr>
              <a:t>D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cs typeface="+mn-ea"/>
              </a:rPr>
              <a:t>(36.75)H		--</a:t>
            </a:r>
            <a:r>
              <a:rPr lang="en-US" altLang="zh-CN" sz="2400" dirty="0">
                <a:cs typeface="+mn-ea"/>
                <a:sym typeface="Wingdings" panose="05000000000000000000" pitchFamily="2" charset="2"/>
              </a:rPr>
              <a:t></a:t>
            </a:r>
            <a:r>
              <a:rPr lang="zh-CN" altLang="zh-CN" sz="2400" dirty="0">
                <a:cs typeface="+mn-ea"/>
              </a:rPr>
              <a:t>（</a:t>
            </a:r>
            <a:r>
              <a:rPr lang="en-US" altLang="zh-CN" sz="2400" dirty="0">
                <a:cs typeface="+mn-ea"/>
              </a:rPr>
              <a:t>  </a:t>
            </a:r>
            <a:r>
              <a:rPr lang="en-US" altLang="zh-CN" sz="2400">
                <a:cs typeface="+mn-ea"/>
              </a:rPr>
              <a:t>110110.01110101   </a:t>
            </a:r>
            <a:r>
              <a:rPr lang="zh-CN" altLang="zh-CN" sz="2400" dirty="0">
                <a:cs typeface="+mn-ea"/>
              </a:rPr>
              <a:t>）</a:t>
            </a:r>
            <a:r>
              <a:rPr lang="en-US" altLang="zh-CN" sz="2400" dirty="0">
                <a:cs typeface="+mn-ea"/>
              </a:rPr>
              <a:t>B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cs typeface="+mn-ea"/>
              </a:rPr>
              <a:t>(36.75)D		--</a:t>
            </a:r>
            <a:r>
              <a:rPr lang="en-US" altLang="zh-CN" sz="2400" dirty="0">
                <a:cs typeface="+mn-ea"/>
                <a:sym typeface="Wingdings" panose="05000000000000000000" pitchFamily="2" charset="2"/>
              </a:rPr>
              <a:t></a:t>
            </a:r>
            <a:r>
              <a:rPr lang="zh-CN" altLang="zh-CN" sz="2400" dirty="0">
                <a:cs typeface="+mn-ea"/>
              </a:rPr>
              <a:t>（</a:t>
            </a:r>
            <a:r>
              <a:rPr lang="en-US" altLang="zh-CN" sz="2400" dirty="0">
                <a:cs typeface="+mn-ea"/>
              </a:rPr>
              <a:t>  100100.11       </a:t>
            </a:r>
            <a:r>
              <a:rPr lang="zh-CN" altLang="zh-CN" sz="2400" dirty="0">
                <a:cs typeface="+mn-ea"/>
              </a:rPr>
              <a:t>）</a:t>
            </a:r>
            <a:r>
              <a:rPr lang="en-US" altLang="zh-CN" sz="2400" dirty="0">
                <a:cs typeface="+mn-ea"/>
              </a:rPr>
              <a:t>B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cs typeface="+mn-ea"/>
              </a:rPr>
              <a:t>  </a:t>
            </a:r>
            <a:endParaRPr lang="zh-CN" altLang="zh-CN" sz="2400" dirty="0"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94286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3C326D0B-7DAB-41B6-8030-2E4A18CC949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5" name="think-cell Slide" r:id="rId5" imgW="360" imgH="360" progId="">
                  <p:embed/>
                </p:oleObj>
              </mc:Choice>
              <mc:Fallback>
                <p:oleObj name="think-cell Slide" r:id="rId5" imgW="360" imgH="360" progId="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id="{3C326D0B-7DAB-41B6-8030-2E4A18CC94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id="{EC933494-1B63-4A32-964F-D05236799BA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cs typeface="+mn-ea"/>
              <a:sym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978949" y="2023969"/>
            <a:ext cx="6041284" cy="1058852"/>
          </a:xfrm>
        </p:spPr>
        <p:txBody>
          <a:bodyPr>
            <a:normAutofit/>
          </a:bodyPr>
          <a:lstStyle/>
          <a:p>
            <a:r>
              <a:rPr lang="zh-CN" altLang="en-US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lt"/>
                <a:ea typeface="+mn-ea"/>
                <a:cs typeface="+mn-ea"/>
                <a:sym typeface="+mn-lt"/>
              </a:rPr>
              <a:t>单片机原理及其应用</a:t>
            </a: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3AE36C13-51F4-4440-8DB2-2A4E128FFD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6065" y="3993091"/>
            <a:ext cx="3262884" cy="548173"/>
          </a:xfr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r>
              <a:rPr lang="zh-CN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重庆大学   电气工程学院</a:t>
            </a:r>
          </a:p>
        </p:txBody>
      </p:sp>
      <p:sp>
        <p:nvSpPr>
          <p:cNvPr id="5" name="矩形 4"/>
          <p:cNvSpPr/>
          <p:nvPr/>
        </p:nvSpPr>
        <p:spPr>
          <a:xfrm>
            <a:off x="622577" y="1378227"/>
            <a:ext cx="69500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800" dirty="0">
                <a:solidFill>
                  <a:schemeClr val="bg1"/>
                </a:solidFill>
                <a:cs typeface="+mn-ea"/>
                <a:sym typeface="+mn-lt"/>
              </a:rPr>
              <a:t>ARM Cortex-M3 </a:t>
            </a:r>
            <a:r>
              <a:rPr lang="zh-CN" altLang="zh-CN" sz="2800" b="1" kern="1800" dirty="0">
                <a:solidFill>
                  <a:schemeClr val="bg1"/>
                </a:solidFill>
                <a:cs typeface="+mn-ea"/>
                <a:sym typeface="+mn-lt"/>
              </a:rPr>
              <a:t>的</a:t>
            </a:r>
            <a:r>
              <a:rPr lang="en-US" altLang="zh-CN" sz="2800" b="1" kern="1800" dirty="0">
                <a:solidFill>
                  <a:schemeClr val="bg1"/>
                </a:solidFill>
                <a:cs typeface="+mn-ea"/>
                <a:sym typeface="+mn-lt"/>
              </a:rPr>
              <a:t>STM32</a:t>
            </a:r>
            <a:r>
              <a:rPr lang="zh-CN" altLang="zh-CN" sz="2800" b="1" kern="1800" dirty="0">
                <a:solidFill>
                  <a:schemeClr val="bg1"/>
                </a:solidFill>
                <a:cs typeface="+mn-ea"/>
                <a:sym typeface="+mn-lt"/>
              </a:rPr>
              <a:t>系列</a:t>
            </a:r>
            <a:r>
              <a:rPr lang="zh-CN" altLang="zh-CN" sz="4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cs typeface="+mn-ea"/>
                <a:sym typeface="+mn-lt"/>
              </a:rPr>
              <a:t>——</a:t>
            </a:r>
            <a:endParaRPr lang="zh-CN" altLang="en-US" sz="4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02723" y="3167390"/>
            <a:ext cx="6236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2E6E0"/>
                </a:solidFill>
                <a:cs typeface="+mn-ea"/>
                <a:sym typeface="+mn-lt"/>
              </a:rPr>
              <a:t>有符号数的表示</a:t>
            </a:r>
            <a:endParaRPr lang="en-US" altLang="zh-CN" sz="2800" b="1" dirty="0">
              <a:solidFill>
                <a:srgbClr val="42E6E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15862713"/>
      </p:ext>
    </p:extLst>
  </p:cSld>
  <p:clrMapOvr>
    <a:masterClrMapping/>
  </p:clrMapOvr>
  <p:transition>
    <p:pull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1404756" y="1366900"/>
            <a:ext cx="8229600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机器数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1821999" y="1863485"/>
            <a:ext cx="8461375" cy="1411978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zh-CN" altLang="en-US" sz="2800" dirty="0">
                <a:cs typeface="+mn-ea"/>
                <a:sym typeface="+mn-lt"/>
              </a:rPr>
              <a:t>在计算机中，无论数值还是符号，都是用</a:t>
            </a:r>
            <a:r>
              <a:rPr lang="en-US" altLang="zh-CN" sz="2800" dirty="0">
                <a:cs typeface="+mn-ea"/>
                <a:sym typeface="+mn-lt"/>
              </a:rPr>
              <a:t>0</a:t>
            </a:r>
            <a:r>
              <a:rPr lang="zh-CN" altLang="en-US" sz="2800" dirty="0">
                <a:cs typeface="+mn-ea"/>
                <a:sym typeface="+mn-lt"/>
              </a:rPr>
              <a:t>或</a:t>
            </a:r>
            <a:r>
              <a:rPr lang="en-US" altLang="zh-CN" sz="2800" dirty="0">
                <a:cs typeface="+mn-ea"/>
                <a:sym typeface="+mn-lt"/>
              </a:rPr>
              <a:t>1</a:t>
            </a:r>
            <a:r>
              <a:rPr lang="zh-CN" altLang="en-US" sz="2800" dirty="0">
                <a:cs typeface="+mn-ea"/>
                <a:sym typeface="+mn-lt"/>
              </a:rPr>
              <a:t>来表示。机器数表示的真实值称为</a:t>
            </a:r>
            <a:r>
              <a:rPr lang="zh-CN" altLang="en-US" sz="2800" b="1" dirty="0">
                <a:cs typeface="+mn-ea"/>
                <a:sym typeface="+mn-lt"/>
              </a:rPr>
              <a:t>真值</a:t>
            </a:r>
            <a:r>
              <a:rPr lang="zh-CN" altLang="en-US" sz="2800" dirty="0">
                <a:cs typeface="+mn-ea"/>
                <a:sym typeface="+mn-lt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cs typeface="+mn-ea"/>
                <a:sym typeface="+mn-lt"/>
              </a:rPr>
              <a:t>	</a:t>
            </a:r>
            <a:r>
              <a:rPr lang="zh-CN" altLang="en-US" sz="2800" b="1" dirty="0">
                <a:cs typeface="+mn-ea"/>
                <a:sym typeface="+mn-lt"/>
              </a:rPr>
              <a:t>带符号整数的表示 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1404756" y="3630346"/>
            <a:ext cx="8229600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带符号整数的机器数</a:t>
            </a: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821999" y="4113283"/>
            <a:ext cx="8461375" cy="2201781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zh-CN" altLang="en-US" sz="2800" dirty="0">
                <a:cs typeface="+mn-ea"/>
                <a:sym typeface="+mn-lt"/>
              </a:rPr>
              <a:t>通常用最高位做符号位，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0</a:t>
            </a:r>
            <a:r>
              <a:rPr lang="zh-CN" altLang="en-US" sz="2800" b="1" dirty="0">
                <a:cs typeface="+mn-ea"/>
                <a:sym typeface="+mn-lt"/>
              </a:rPr>
              <a:t>表示正数，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1</a:t>
            </a:r>
            <a:r>
              <a:rPr lang="zh-CN" altLang="en-US" sz="2800" b="1" dirty="0">
                <a:cs typeface="+mn-ea"/>
                <a:sym typeface="+mn-lt"/>
              </a:rPr>
              <a:t>表示负数</a:t>
            </a:r>
            <a:r>
              <a:rPr lang="zh-CN" altLang="en-US" sz="2800" dirty="0">
                <a:cs typeface="+mn-ea"/>
                <a:sym typeface="+mn-lt"/>
              </a:rPr>
              <a:t>。</a:t>
            </a:r>
            <a:endParaRPr lang="en-US" altLang="zh-CN" sz="2800" dirty="0">
              <a:cs typeface="+mn-ea"/>
              <a:sym typeface="+mn-lt"/>
            </a:endParaRPr>
          </a:p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zh-CN" altLang="en-US" sz="2800" dirty="0">
                <a:cs typeface="+mn-ea"/>
                <a:sym typeface="+mn-lt"/>
              </a:rPr>
              <a:t>常用的表示方法有：</a:t>
            </a:r>
          </a:p>
          <a:p>
            <a:pPr marL="0" indent="0" algn="ctr">
              <a:lnSpc>
                <a:spcPct val="150000"/>
              </a:lnSpc>
              <a:buFontTx/>
              <a:buNone/>
              <a:defRPr/>
            </a:pPr>
            <a:r>
              <a:rPr lang="zh-CN" altLang="en-US" sz="2800" b="1" dirty="0">
                <a:cs typeface="+mn-ea"/>
                <a:sym typeface="+mn-lt"/>
              </a:rPr>
              <a:t>原码、 反码、 补码</a:t>
            </a:r>
          </a:p>
        </p:txBody>
      </p:sp>
    </p:spTree>
    <p:extLst>
      <p:ext uri="{BB962C8B-B14F-4D97-AF65-F5344CB8AC3E}">
        <p14:creationId xmlns:p14="http://schemas.microsoft.com/office/powerpoint/2010/main" val="4131044861"/>
      </p:ext>
    </p:extLst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1404756" y="1366900"/>
            <a:ext cx="8229600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原码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1821999" y="1863485"/>
            <a:ext cx="8461375" cy="1136940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zh-CN" altLang="en-US" sz="2800" dirty="0">
                <a:cs typeface="+mn-ea"/>
                <a:sym typeface="+mn-lt"/>
              </a:rPr>
              <a:t>最高位表示符号（</a:t>
            </a:r>
            <a:r>
              <a:rPr lang="en-US" altLang="zh-CN" sz="2800" dirty="0">
                <a:cs typeface="+mn-ea"/>
                <a:sym typeface="+mn-lt"/>
              </a:rPr>
              <a:t>0</a:t>
            </a:r>
            <a:r>
              <a:rPr lang="zh-CN" altLang="en-US" sz="2800" dirty="0">
                <a:cs typeface="+mn-ea"/>
                <a:sym typeface="+mn-lt"/>
              </a:rPr>
              <a:t>正</a:t>
            </a:r>
            <a:r>
              <a:rPr lang="en-US" altLang="zh-CN" sz="2800" dirty="0">
                <a:cs typeface="+mn-ea"/>
                <a:sym typeface="+mn-lt"/>
              </a:rPr>
              <a:t>1</a:t>
            </a:r>
            <a:r>
              <a:rPr lang="zh-CN" altLang="en-US" sz="2800" dirty="0">
                <a:cs typeface="+mn-ea"/>
                <a:sym typeface="+mn-lt"/>
              </a:rPr>
              <a:t>负），其余位用真值绝对值的二进制表示数值。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cs typeface="+mn-ea"/>
                <a:sym typeface="+mn-lt"/>
              </a:rPr>
              <a:t>	</a:t>
            </a:r>
            <a:r>
              <a:rPr lang="zh-CN" altLang="en-US" sz="2800" b="1" dirty="0">
                <a:cs typeface="+mn-ea"/>
                <a:sym typeface="+mn-lt"/>
              </a:rPr>
              <a:t>带符号整数的表示</a:t>
            </a:r>
            <a:r>
              <a:rPr lang="en-US" altLang="zh-CN" sz="2800" b="1" dirty="0">
                <a:cs typeface="+mn-ea"/>
                <a:sym typeface="+mn-lt"/>
              </a:rPr>
              <a:t>——</a:t>
            </a:r>
            <a:r>
              <a:rPr lang="zh-CN" altLang="en-US" sz="2800" b="1" dirty="0">
                <a:cs typeface="+mn-ea"/>
                <a:sym typeface="+mn-lt"/>
              </a:rPr>
              <a:t>原码 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标题 1"/>
          <p:cNvSpPr txBox="1">
            <a:spLocks/>
          </p:cNvSpPr>
          <p:nvPr/>
        </p:nvSpPr>
        <p:spPr>
          <a:xfrm>
            <a:off x="1404756" y="4954245"/>
            <a:ext cx="8229600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优点：</a:t>
            </a:r>
          </a:p>
        </p:txBody>
      </p:sp>
      <p:sp>
        <p:nvSpPr>
          <p:cNvPr id="12" name="内容占位符 2"/>
          <p:cNvSpPr txBox="1">
            <a:spLocks/>
          </p:cNvSpPr>
          <p:nvPr/>
        </p:nvSpPr>
        <p:spPr>
          <a:xfrm>
            <a:off x="1821999" y="5450830"/>
            <a:ext cx="8461375" cy="868083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zh-CN" altLang="en-US" sz="2800" dirty="0">
                <a:cs typeface="+mn-ea"/>
                <a:sym typeface="+mn-lt"/>
              </a:rPr>
              <a:t>简单直观，与真值的对应直观，转换方便。</a:t>
            </a: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2140802" y="3327172"/>
            <a:ext cx="7632700" cy="1569660"/>
          </a:xfrm>
          <a:prstGeom prst="rect">
            <a:avLst/>
          </a:prstGeom>
          <a:solidFill>
            <a:srgbClr val="FFCC99">
              <a:alpha val="30196"/>
            </a:srgbClr>
          </a:solidFill>
          <a:ln w="38100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lvl="1" algn="just">
              <a:spcBef>
                <a:spcPct val="50000"/>
              </a:spcBef>
              <a:buClr>
                <a:srgbClr val="0000FF"/>
              </a:buClr>
              <a:buNone/>
            </a:pPr>
            <a:r>
              <a:rPr kumimoji="1" lang="en-US" altLang="zh-CN" sz="2400" dirty="0">
                <a:latin typeface="+mn-lt"/>
                <a:ea typeface="+mn-ea"/>
                <a:cs typeface="+mn-ea"/>
                <a:sym typeface="+mn-lt"/>
              </a:rPr>
              <a:t>	</a:t>
            </a:r>
            <a:r>
              <a:rPr kumimoji="1" lang="zh-CN" altLang="en-US" sz="2400" dirty="0">
                <a:latin typeface="+mn-lt"/>
                <a:ea typeface="+mn-ea"/>
                <a:cs typeface="+mn-ea"/>
                <a:sym typeface="+mn-lt"/>
              </a:rPr>
              <a:t>以</a:t>
            </a:r>
            <a:r>
              <a:rPr kumimoji="1" lang="en-US" altLang="zh-CN" sz="2400" dirty="0">
                <a:latin typeface="+mn-lt"/>
                <a:ea typeface="+mn-ea"/>
                <a:cs typeface="+mn-ea"/>
                <a:sym typeface="+mn-lt"/>
              </a:rPr>
              <a:t>8</a:t>
            </a:r>
            <a:r>
              <a:rPr kumimoji="1" lang="zh-CN" altLang="en-US" sz="2400" dirty="0">
                <a:latin typeface="+mn-lt"/>
                <a:ea typeface="+mn-ea"/>
                <a:cs typeface="+mn-ea"/>
                <a:sym typeface="+mn-lt"/>
              </a:rPr>
              <a:t>位原码为例，</a:t>
            </a:r>
            <a:endParaRPr kumimoji="1" lang="en-US" altLang="zh-CN" sz="2400" dirty="0">
              <a:latin typeface="+mn-lt"/>
              <a:ea typeface="+mn-ea"/>
              <a:cs typeface="+mn-ea"/>
              <a:sym typeface="+mn-lt"/>
            </a:endParaRPr>
          </a:p>
          <a:p>
            <a:pPr lvl="1" algn="just">
              <a:spcBef>
                <a:spcPct val="50000"/>
              </a:spcBef>
              <a:buClr>
                <a:srgbClr val="0000FF"/>
              </a:buClr>
              <a:buNone/>
            </a:pPr>
            <a:r>
              <a:rPr kumimoji="1" lang="en-US" altLang="zh-CN" sz="2400" dirty="0">
                <a:latin typeface="+mn-lt"/>
                <a:ea typeface="+mn-ea"/>
                <a:cs typeface="+mn-ea"/>
                <a:sym typeface="+mn-lt"/>
              </a:rPr>
              <a:t>	</a:t>
            </a:r>
            <a:r>
              <a:rPr kumimoji="1" lang="zh-CN" altLang="en-US" sz="2400" dirty="0">
                <a:latin typeface="+mn-lt"/>
                <a:ea typeface="+mn-ea"/>
                <a:cs typeface="+mn-ea"/>
                <a:sym typeface="+mn-lt"/>
              </a:rPr>
              <a:t>表示范围：</a:t>
            </a:r>
            <a:r>
              <a:rPr kumimoji="1" lang="en-US" altLang="zh-CN" sz="2400" dirty="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kumimoji="1" lang="en-US" altLang="zh-CN" sz="2400" dirty="0">
                <a:latin typeface="+mn-lt"/>
                <a:ea typeface="+mn-ea"/>
                <a:cs typeface="+mn-ea"/>
                <a:sym typeface="+mn-lt"/>
              </a:rPr>
              <a:t>111 1111B  ~  </a:t>
            </a:r>
            <a:r>
              <a:rPr kumimoji="1" lang="en-US" altLang="zh-CN" sz="2400" dirty="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0</a:t>
            </a:r>
            <a:r>
              <a:rPr kumimoji="1" lang="en-US" altLang="zh-CN" sz="2400" dirty="0">
                <a:latin typeface="+mn-lt"/>
                <a:ea typeface="+mn-ea"/>
                <a:cs typeface="+mn-ea"/>
                <a:sym typeface="+mn-lt"/>
              </a:rPr>
              <a:t>111 1111B</a:t>
            </a:r>
          </a:p>
          <a:p>
            <a:pPr lvl="1" algn="just">
              <a:spcBef>
                <a:spcPct val="50000"/>
              </a:spcBef>
              <a:buClr>
                <a:srgbClr val="0000FF"/>
              </a:buClr>
              <a:buNone/>
            </a:pPr>
            <a:r>
              <a:rPr kumimoji="1" lang="en-US" altLang="zh-CN" sz="2400" dirty="0">
                <a:latin typeface="+mn-lt"/>
                <a:ea typeface="+mn-ea"/>
                <a:cs typeface="+mn-ea"/>
                <a:sym typeface="+mn-lt"/>
              </a:rPr>
              <a:t>			   </a:t>
            </a:r>
            <a:r>
              <a:rPr kumimoji="1" lang="en-US" altLang="zh-CN" sz="2400" dirty="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- </a:t>
            </a:r>
            <a:r>
              <a:rPr kumimoji="1" lang="en-US" altLang="zh-CN" sz="2400" dirty="0">
                <a:latin typeface="+mn-lt"/>
                <a:ea typeface="+mn-ea"/>
                <a:cs typeface="+mn-ea"/>
                <a:sym typeface="+mn-lt"/>
              </a:rPr>
              <a:t>127      ~     </a:t>
            </a:r>
            <a:r>
              <a:rPr kumimoji="1" lang="en-US" altLang="zh-CN" sz="2400" dirty="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+</a:t>
            </a:r>
            <a:r>
              <a:rPr kumimoji="1" lang="en-US" altLang="zh-CN" sz="2400" dirty="0">
                <a:latin typeface="+mn-lt"/>
                <a:ea typeface="+mn-ea"/>
                <a:cs typeface="+mn-ea"/>
                <a:sym typeface="+mn-lt"/>
              </a:rPr>
              <a:t>127</a:t>
            </a:r>
          </a:p>
        </p:txBody>
      </p:sp>
    </p:spTree>
    <p:extLst>
      <p:ext uri="{BB962C8B-B14F-4D97-AF65-F5344CB8AC3E}">
        <p14:creationId xmlns:p14="http://schemas.microsoft.com/office/powerpoint/2010/main" val="1596906747"/>
      </p:ext>
    </p:extLst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 animBg="1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1078583" y="1165346"/>
            <a:ext cx="1557519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缺点：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2336348" y="1028700"/>
            <a:ext cx="8461375" cy="616273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en-US" altLang="zh-CN" sz="2800" dirty="0">
                <a:cs typeface="+mn-ea"/>
                <a:sym typeface="+mn-lt"/>
              </a:rPr>
              <a:t>0</a:t>
            </a:r>
            <a:r>
              <a:rPr lang="zh-CN" altLang="en-US" sz="2800" dirty="0">
                <a:cs typeface="+mn-ea"/>
                <a:sym typeface="+mn-lt"/>
              </a:rPr>
              <a:t>的表示不唯一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cs typeface="+mn-ea"/>
                <a:sym typeface="+mn-lt"/>
              </a:rPr>
              <a:t>	</a:t>
            </a:r>
            <a:r>
              <a:rPr lang="zh-CN" altLang="en-US" sz="2800" b="1" dirty="0">
                <a:cs typeface="+mn-ea"/>
                <a:sym typeface="+mn-lt"/>
              </a:rPr>
              <a:t>带符号整数的表示</a:t>
            </a:r>
            <a:r>
              <a:rPr lang="en-US" altLang="zh-CN" sz="2800" b="1" dirty="0">
                <a:cs typeface="+mn-ea"/>
                <a:sym typeface="+mn-lt"/>
              </a:rPr>
              <a:t>——</a:t>
            </a:r>
            <a:r>
              <a:rPr lang="zh-CN" altLang="en-US" sz="2800" b="1" dirty="0">
                <a:cs typeface="+mn-ea"/>
                <a:sym typeface="+mn-lt"/>
              </a:rPr>
              <a:t>原码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2636102" y="1775618"/>
            <a:ext cx="7632700" cy="1264449"/>
          </a:xfrm>
          <a:prstGeom prst="rect">
            <a:avLst/>
          </a:prstGeom>
          <a:solidFill>
            <a:srgbClr val="FFCC99">
              <a:alpha val="30196"/>
            </a:srgbClr>
          </a:solidFill>
          <a:ln w="38100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lvl="1">
              <a:lnSpc>
                <a:spcPct val="150000"/>
              </a:lnSpc>
              <a:spcBef>
                <a:spcPts val="500"/>
              </a:spcBef>
              <a:buNone/>
              <a:defRPr/>
            </a:pPr>
            <a:r>
              <a:rPr kumimoji="1" lang="en-US" altLang="zh-CN" sz="2400" dirty="0">
                <a:latin typeface="+mn-lt"/>
                <a:ea typeface="+mn-ea"/>
                <a:cs typeface="+mn-ea"/>
                <a:sym typeface="+mn-lt"/>
              </a:rPr>
              <a:t>	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0</a:t>
            </a:r>
            <a:r>
              <a:rPr lang="en-US" altLang="zh-CN" sz="2400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000 0000B</a:t>
            </a:r>
            <a:r>
              <a:rPr kumimoji="1" lang="en-US" altLang="zh-CN" sz="2400" dirty="0">
                <a:latin typeface="+mn-lt"/>
                <a:ea typeface="+mn-ea"/>
                <a:cs typeface="+mn-ea"/>
                <a:sym typeface="+mn-lt"/>
              </a:rPr>
              <a:t>			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+</a:t>
            </a:r>
            <a:r>
              <a:rPr lang="en-US" altLang="zh-CN" sz="2400" dirty="0" smtClean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0</a:t>
            </a:r>
            <a:endParaRPr lang="en-US" altLang="zh-CN" sz="2400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  <a:p>
            <a:pPr lvl="1">
              <a:lnSpc>
                <a:spcPct val="150000"/>
              </a:lnSpc>
              <a:spcBef>
                <a:spcPts val="500"/>
              </a:spcBef>
              <a:buNone/>
              <a:defRPr/>
            </a:pPr>
            <a:r>
              <a:rPr kumimoji="1" lang="en-US" altLang="zh-CN" sz="2400" dirty="0">
                <a:latin typeface="+mn-lt"/>
                <a:ea typeface="+mn-ea"/>
                <a:cs typeface="+mn-ea"/>
                <a:sym typeface="+mn-lt"/>
              </a:rPr>
              <a:t>	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en-US" altLang="zh-CN" sz="2400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000 0000B</a:t>
            </a:r>
            <a:r>
              <a:rPr kumimoji="1" lang="en-US" altLang="zh-CN" sz="2400" dirty="0">
                <a:latin typeface="+mn-lt"/>
                <a:ea typeface="+mn-ea"/>
                <a:cs typeface="+mn-ea"/>
                <a:sym typeface="+mn-lt"/>
              </a:rPr>
              <a:t>			</a:t>
            </a:r>
            <a:r>
              <a:rPr lang="en-US" altLang="zh-CN" sz="2400" dirty="0" smtClean="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en-US" altLang="zh-CN" sz="2400" dirty="0" smtClean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0</a:t>
            </a:r>
            <a:endParaRPr lang="en-US" altLang="zh-CN" sz="2400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右箭头 3"/>
          <p:cNvSpPr/>
          <p:nvPr/>
        </p:nvSpPr>
        <p:spPr>
          <a:xfrm>
            <a:off x="5762625" y="2002480"/>
            <a:ext cx="1019175" cy="2628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5762625" y="2590481"/>
            <a:ext cx="1019175" cy="2628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内容占位符 2"/>
          <p:cNvSpPr txBox="1">
            <a:spLocks/>
          </p:cNvSpPr>
          <p:nvPr/>
        </p:nvSpPr>
        <p:spPr>
          <a:xfrm>
            <a:off x="2336347" y="2991559"/>
            <a:ext cx="8461375" cy="616273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Font typeface="+mj-ea"/>
              <a:buAutoNum type="circleNumDbPlain" startAt="2"/>
              <a:defRPr/>
            </a:pPr>
            <a:r>
              <a:rPr lang="zh-CN" altLang="en-US" sz="2800" dirty="0">
                <a:cs typeface="+mn-ea"/>
                <a:sym typeface="+mn-lt"/>
              </a:rPr>
              <a:t>计算结果出错</a:t>
            </a:r>
          </a:p>
        </p:txBody>
      </p:sp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2636102" y="3731909"/>
            <a:ext cx="7632700" cy="2405365"/>
          </a:xfrm>
          <a:prstGeom prst="rect">
            <a:avLst/>
          </a:prstGeom>
          <a:solidFill>
            <a:srgbClr val="FFCC99">
              <a:alpha val="30196"/>
            </a:srgbClr>
          </a:solidFill>
          <a:ln w="38100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lvl="1" algn="just">
              <a:spcBef>
                <a:spcPct val="50000"/>
              </a:spcBef>
              <a:buClr>
                <a:srgbClr val="0000FF"/>
              </a:buClr>
              <a:buNone/>
            </a:pPr>
            <a:endParaRPr kumimoji="1" lang="en-US" altLang="zh-CN" sz="2400" dirty="0">
              <a:latin typeface="+mn-lt"/>
              <a:ea typeface="+mn-ea"/>
              <a:cs typeface="+mn-ea"/>
              <a:sym typeface="+mn-lt"/>
            </a:endParaRPr>
          </a:p>
          <a:p>
            <a:pPr lvl="1" algn="just">
              <a:spcBef>
                <a:spcPct val="50000"/>
              </a:spcBef>
              <a:buClr>
                <a:srgbClr val="0000FF"/>
              </a:buClr>
              <a:buNone/>
            </a:pPr>
            <a:endParaRPr kumimoji="1" lang="en-US" altLang="zh-CN" sz="2400" dirty="0">
              <a:latin typeface="+mn-lt"/>
              <a:ea typeface="+mn-ea"/>
              <a:cs typeface="+mn-ea"/>
              <a:sym typeface="+mn-lt"/>
            </a:endParaRPr>
          </a:p>
          <a:p>
            <a:pPr lvl="1" algn="just">
              <a:spcBef>
                <a:spcPct val="50000"/>
              </a:spcBef>
              <a:buClr>
                <a:srgbClr val="0000FF"/>
              </a:buClr>
              <a:buNone/>
            </a:pPr>
            <a:endParaRPr kumimoji="1" lang="en-US" altLang="zh-CN" sz="2400" dirty="0">
              <a:latin typeface="+mn-lt"/>
              <a:ea typeface="+mn-ea"/>
              <a:cs typeface="+mn-ea"/>
              <a:sym typeface="+mn-lt"/>
            </a:endParaRPr>
          </a:p>
          <a:p>
            <a:pPr lvl="1" algn="just">
              <a:spcBef>
                <a:spcPct val="50000"/>
              </a:spcBef>
              <a:buClr>
                <a:srgbClr val="0000FF"/>
              </a:buClr>
              <a:buNone/>
            </a:pPr>
            <a:endParaRPr kumimoji="1" lang="en-US" altLang="zh-CN" sz="2400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/>
          </p:nvPr>
        </p:nvGraphicFramePr>
        <p:xfrm>
          <a:off x="3088375" y="3855988"/>
          <a:ext cx="6605516" cy="1875501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3699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3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5167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   </a:t>
                      </a:r>
                      <a:r>
                        <a:rPr kumimoji="0" lang="en-US" altLang="zh-C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1</a:t>
                      </a:r>
                      <a:r>
                        <a:rPr kumimoji="0" lang="en-US" altLang="zh-C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 0 0 0 0 0 1 1B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zh-CN" altLang="en-US" sz="2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- 3</a:t>
                      </a:r>
                      <a:endParaRPr kumimoji="0" lang="zh-CN" altLang="en-US" sz="2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167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+ </a:t>
                      </a:r>
                      <a:r>
                        <a:rPr kumimoji="0" lang="en-US" altLang="zh-C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0</a:t>
                      </a:r>
                      <a:r>
                        <a:rPr kumimoji="0" lang="en-US" altLang="zh-C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 0 0 0 0 0 1 1B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zh-CN" altLang="en-US" sz="2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+3</a:t>
                      </a:r>
                      <a:endParaRPr kumimoji="0" lang="zh-CN" altLang="en-US" sz="2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167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   1</a:t>
                      </a:r>
                      <a:r>
                        <a:rPr kumimoji="0" lang="en-US" altLang="zh-CN" sz="2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 0 0 0 0 1 1 0B</a:t>
                      </a:r>
                      <a:endParaRPr kumimoji="0" lang="zh-CN" altLang="en-US" sz="2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zh-CN" altLang="en-US" sz="2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- 6</a:t>
                      </a:r>
                      <a:endParaRPr kumimoji="0" lang="zh-CN" altLang="en-US" sz="2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7671729"/>
      </p:ext>
    </p:extLst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1404756" y="1100200"/>
            <a:ext cx="8229600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反码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1756199" y="1443962"/>
            <a:ext cx="8461375" cy="1317865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zh-CN" altLang="en-US" sz="2800" dirty="0">
                <a:cs typeface="+mn-ea"/>
                <a:sym typeface="+mn-lt"/>
              </a:rPr>
              <a:t>最高位表示符号（</a:t>
            </a:r>
            <a:r>
              <a:rPr lang="en-US" altLang="zh-CN" sz="2800" b="1" dirty="0">
                <a:cs typeface="+mn-ea"/>
                <a:sym typeface="+mn-lt"/>
              </a:rPr>
              <a:t>0</a:t>
            </a:r>
            <a:r>
              <a:rPr lang="zh-CN" altLang="en-US" sz="2800" b="1" dirty="0">
                <a:cs typeface="+mn-ea"/>
                <a:sym typeface="+mn-lt"/>
              </a:rPr>
              <a:t>正</a:t>
            </a:r>
            <a:r>
              <a:rPr lang="en-US" altLang="zh-CN" sz="2800" b="1" dirty="0">
                <a:cs typeface="+mn-ea"/>
                <a:sym typeface="+mn-lt"/>
              </a:rPr>
              <a:t>1</a:t>
            </a:r>
            <a:r>
              <a:rPr lang="zh-CN" altLang="en-US" sz="2800" b="1" dirty="0">
                <a:cs typeface="+mn-ea"/>
                <a:sym typeface="+mn-lt"/>
              </a:rPr>
              <a:t>负</a:t>
            </a:r>
            <a:r>
              <a:rPr lang="zh-CN" altLang="en-US" sz="2800" dirty="0">
                <a:cs typeface="+mn-ea"/>
                <a:sym typeface="+mn-lt"/>
              </a:rPr>
              <a:t>），</a:t>
            </a:r>
            <a:r>
              <a:rPr lang="zh-CN" altLang="en-US" sz="2800" b="1" dirty="0">
                <a:cs typeface="+mn-ea"/>
                <a:sym typeface="+mn-lt"/>
              </a:rPr>
              <a:t>正数</a:t>
            </a:r>
            <a:r>
              <a:rPr lang="zh-CN" altLang="en-US" sz="2800" dirty="0">
                <a:cs typeface="+mn-ea"/>
                <a:sym typeface="+mn-lt"/>
              </a:rPr>
              <a:t>的反码数值位</a:t>
            </a:r>
            <a:r>
              <a:rPr lang="zh-CN" altLang="en-US" sz="2800" b="1" dirty="0">
                <a:cs typeface="+mn-ea"/>
                <a:sym typeface="+mn-lt"/>
              </a:rPr>
              <a:t>同原码</a:t>
            </a:r>
            <a:r>
              <a:rPr lang="zh-CN" altLang="en-US" sz="2800" dirty="0">
                <a:cs typeface="+mn-ea"/>
                <a:sym typeface="+mn-lt"/>
              </a:rPr>
              <a:t>，</a:t>
            </a:r>
            <a:r>
              <a:rPr lang="zh-CN" altLang="en-US" sz="2800" b="1" dirty="0">
                <a:cs typeface="+mn-ea"/>
                <a:sym typeface="+mn-lt"/>
              </a:rPr>
              <a:t>负数</a:t>
            </a:r>
            <a:r>
              <a:rPr lang="zh-CN" altLang="en-US" sz="2800" dirty="0">
                <a:cs typeface="+mn-ea"/>
                <a:sym typeface="+mn-lt"/>
              </a:rPr>
              <a:t>的反码数值位是其原码的</a:t>
            </a:r>
            <a:r>
              <a:rPr lang="zh-CN" altLang="en-US" sz="2800" b="1" dirty="0">
                <a:cs typeface="+mn-ea"/>
                <a:sym typeface="+mn-lt"/>
              </a:rPr>
              <a:t>按位取反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cs typeface="+mn-ea"/>
                <a:sym typeface="+mn-lt"/>
              </a:rPr>
              <a:t>	</a:t>
            </a:r>
            <a:r>
              <a:rPr lang="zh-CN" altLang="en-US" sz="2800" b="1" dirty="0">
                <a:cs typeface="+mn-ea"/>
                <a:sym typeface="+mn-lt"/>
              </a:rPr>
              <a:t>带符号整数的表示</a:t>
            </a:r>
            <a:r>
              <a:rPr lang="en-US" altLang="zh-CN" sz="2800" b="1" dirty="0">
                <a:cs typeface="+mn-ea"/>
                <a:sym typeface="+mn-lt"/>
              </a:rPr>
              <a:t>——</a:t>
            </a:r>
            <a:r>
              <a:rPr lang="zh-CN" altLang="en-US" sz="2800" b="1" dirty="0">
                <a:cs typeface="+mn-ea"/>
                <a:sym typeface="+mn-lt"/>
              </a:rPr>
              <a:t>反码 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2209799" y="2823534"/>
            <a:ext cx="7554177" cy="2430968"/>
          </a:xfrm>
          <a:prstGeom prst="rect">
            <a:avLst/>
          </a:prstGeom>
          <a:solidFill>
            <a:srgbClr val="FFCC99">
              <a:alpha val="30196"/>
            </a:srgbClr>
          </a:solidFill>
          <a:ln w="38100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lvl="1" algn="just">
              <a:spcBef>
                <a:spcPct val="50000"/>
              </a:spcBef>
              <a:buClr>
                <a:srgbClr val="0000FF"/>
              </a:buClr>
              <a:buNone/>
            </a:pPr>
            <a:r>
              <a:rPr kumimoji="1" lang="en-US" altLang="zh-CN" sz="2400" dirty="0">
                <a:latin typeface="+mn-lt"/>
                <a:ea typeface="+mn-ea"/>
                <a:cs typeface="+mn-ea"/>
                <a:sym typeface="+mn-lt"/>
              </a:rPr>
              <a:t>	</a:t>
            </a:r>
            <a:r>
              <a:rPr kumimoji="1" lang="zh-CN" altLang="en-US" sz="2400" dirty="0">
                <a:latin typeface="+mn-lt"/>
                <a:ea typeface="+mn-ea"/>
                <a:cs typeface="+mn-ea"/>
                <a:sym typeface="+mn-lt"/>
              </a:rPr>
              <a:t>以</a:t>
            </a:r>
            <a:r>
              <a:rPr kumimoji="1" lang="en-US" altLang="zh-CN" sz="2400" dirty="0">
                <a:latin typeface="+mn-lt"/>
                <a:ea typeface="+mn-ea"/>
                <a:cs typeface="+mn-ea"/>
                <a:sym typeface="+mn-lt"/>
              </a:rPr>
              <a:t>8</a:t>
            </a:r>
            <a:r>
              <a:rPr kumimoji="1" lang="zh-CN" altLang="en-US" sz="2400" dirty="0">
                <a:latin typeface="+mn-lt"/>
                <a:ea typeface="+mn-ea"/>
                <a:cs typeface="+mn-ea"/>
                <a:sym typeface="+mn-lt"/>
              </a:rPr>
              <a:t>位二进制码为例，表示范围为：</a:t>
            </a:r>
            <a:endParaRPr kumimoji="1" lang="en-US" altLang="zh-CN" sz="2400" dirty="0">
              <a:latin typeface="+mn-lt"/>
              <a:ea typeface="+mn-ea"/>
              <a:cs typeface="+mn-ea"/>
              <a:sym typeface="+mn-lt"/>
            </a:endParaRPr>
          </a:p>
          <a:p>
            <a:pPr lvl="1" algn="just">
              <a:spcBef>
                <a:spcPct val="50000"/>
              </a:spcBef>
              <a:buClr>
                <a:srgbClr val="0000FF"/>
              </a:buClr>
              <a:buNone/>
            </a:pPr>
            <a:endParaRPr kumimoji="1" lang="en-US" altLang="zh-CN" sz="2400" dirty="0">
              <a:latin typeface="+mn-lt"/>
              <a:ea typeface="+mn-ea"/>
              <a:cs typeface="+mn-ea"/>
              <a:sym typeface="+mn-lt"/>
            </a:endParaRPr>
          </a:p>
          <a:p>
            <a:pPr lvl="1" algn="just">
              <a:spcBef>
                <a:spcPct val="50000"/>
              </a:spcBef>
              <a:buClr>
                <a:srgbClr val="0000FF"/>
              </a:buClr>
              <a:buNone/>
            </a:pPr>
            <a:endParaRPr kumimoji="1" lang="en-US" altLang="zh-CN" sz="2400" dirty="0">
              <a:latin typeface="+mn-lt"/>
              <a:ea typeface="+mn-ea"/>
              <a:cs typeface="+mn-ea"/>
              <a:sym typeface="+mn-lt"/>
            </a:endParaRPr>
          </a:p>
          <a:p>
            <a:pPr lvl="1" algn="just">
              <a:spcBef>
                <a:spcPct val="50000"/>
              </a:spcBef>
              <a:buClr>
                <a:srgbClr val="0000FF"/>
              </a:buClr>
              <a:buNone/>
            </a:pPr>
            <a:endParaRPr kumimoji="1" lang="en-US" altLang="zh-CN" sz="2400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86182" y="3193018"/>
          <a:ext cx="7048174" cy="169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0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86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77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4000"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反码：</a:t>
                      </a:r>
                      <a:endParaRPr lang="zh-CN" altLang="en-US" sz="22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CN" sz="2200" b="1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1</a:t>
                      </a:r>
                      <a:r>
                        <a:rPr kumimoji="1" lang="en-US" altLang="zh-CN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000 0000B</a:t>
                      </a:r>
                      <a:endParaRPr lang="zh-CN" altLang="en-US" sz="22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~</a:t>
                      </a:r>
                      <a:endParaRPr lang="zh-CN" altLang="en-US" sz="22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200" b="1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</a:t>
                      </a:r>
                      <a:r>
                        <a:rPr kumimoji="1" lang="en-US" altLang="zh-CN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111 1111B</a:t>
                      </a:r>
                      <a:endParaRPr lang="zh-CN" altLang="en-US" sz="22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000"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原码： </a:t>
                      </a:r>
                      <a:endParaRPr lang="zh-CN" altLang="en-US" sz="22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CN" sz="2200" b="1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1</a:t>
                      </a:r>
                      <a:r>
                        <a:rPr kumimoji="1" lang="en-US" altLang="zh-CN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111  1111B</a:t>
                      </a:r>
                      <a:endParaRPr lang="zh-CN" altLang="en-US" sz="22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~</a:t>
                      </a:r>
                      <a:endParaRPr lang="zh-CN" altLang="en-US" sz="22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200" b="1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</a:t>
                      </a:r>
                      <a:r>
                        <a:rPr kumimoji="1" lang="en-US" altLang="zh-CN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111 1111B</a:t>
                      </a:r>
                      <a:endParaRPr lang="zh-CN" altLang="en-US" sz="22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000"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真值：</a:t>
                      </a:r>
                      <a:endParaRPr lang="zh-CN" altLang="en-US" sz="22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CN" sz="2200" b="1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 </a:t>
                      </a:r>
                      <a:r>
                        <a:rPr kumimoji="1" lang="en-US" altLang="zh-CN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127</a:t>
                      </a:r>
                      <a:endParaRPr lang="zh-CN" altLang="en-US" sz="22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~</a:t>
                      </a:r>
                      <a:endParaRPr lang="zh-CN" altLang="en-US" sz="22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200" b="1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 </a:t>
                      </a:r>
                      <a:r>
                        <a:rPr kumimoji="1" lang="en-US" altLang="zh-CN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127</a:t>
                      </a:r>
                      <a:endParaRPr lang="zh-CN" altLang="en-US" sz="22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7763878"/>
      </p:ext>
    </p:extLst>
  </p:cSld>
  <p:clrMapOvr>
    <a:masterClrMapping/>
  </p:clrMapOvr>
  <p:transition>
    <p:pull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1338081" y="1077160"/>
            <a:ext cx="8229600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缺点：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1821998" y="1525288"/>
            <a:ext cx="8461375" cy="616273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en-US" altLang="zh-CN" sz="2800" dirty="0">
                <a:cs typeface="+mn-ea"/>
                <a:sym typeface="+mn-lt"/>
              </a:rPr>
              <a:t>0</a:t>
            </a:r>
            <a:r>
              <a:rPr lang="zh-CN" altLang="en-US" sz="2800" dirty="0">
                <a:cs typeface="+mn-ea"/>
                <a:sym typeface="+mn-lt"/>
              </a:rPr>
              <a:t>的表示不唯一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cs typeface="+mn-ea"/>
                <a:sym typeface="+mn-lt"/>
              </a:rPr>
              <a:t>	</a:t>
            </a:r>
            <a:r>
              <a:rPr lang="zh-CN" altLang="en-US" sz="2800" b="1" dirty="0">
                <a:cs typeface="+mn-ea"/>
                <a:sym typeface="+mn-lt"/>
              </a:rPr>
              <a:t>带符号整数的表示</a:t>
            </a:r>
            <a:r>
              <a:rPr lang="en-US" altLang="zh-CN" sz="2800" b="1" dirty="0">
                <a:cs typeface="+mn-ea"/>
                <a:sym typeface="+mn-lt"/>
              </a:rPr>
              <a:t>——</a:t>
            </a:r>
            <a:r>
              <a:rPr lang="zh-CN" altLang="en-US" sz="2800" b="1" dirty="0">
                <a:cs typeface="+mn-ea"/>
                <a:sym typeface="+mn-lt"/>
              </a:rPr>
              <a:t>反码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2121752" y="2491281"/>
            <a:ext cx="7632700" cy="2188200"/>
          </a:xfrm>
          <a:prstGeom prst="rect">
            <a:avLst/>
          </a:prstGeom>
          <a:solidFill>
            <a:srgbClr val="FFCC99">
              <a:alpha val="30196"/>
            </a:srgbClr>
          </a:solidFill>
          <a:ln w="38100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lvl="1">
              <a:lnSpc>
                <a:spcPct val="150000"/>
              </a:lnSpc>
              <a:spcBef>
                <a:spcPts val="500"/>
              </a:spcBef>
              <a:buNone/>
              <a:defRPr/>
            </a:pPr>
            <a:endParaRPr lang="en-US" altLang="zh-CN" sz="2400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  <a:p>
            <a:pPr lvl="1">
              <a:lnSpc>
                <a:spcPct val="150000"/>
              </a:lnSpc>
              <a:spcBef>
                <a:spcPts val="500"/>
              </a:spcBef>
              <a:buNone/>
              <a:defRPr/>
            </a:pPr>
            <a:endParaRPr lang="en-US" altLang="zh-CN" sz="2400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  <a:p>
            <a:pPr lvl="1">
              <a:lnSpc>
                <a:spcPct val="150000"/>
              </a:lnSpc>
              <a:spcBef>
                <a:spcPts val="500"/>
              </a:spcBef>
              <a:buNone/>
              <a:defRPr/>
            </a:pPr>
            <a:endParaRPr lang="en-US" altLang="zh-CN" sz="2400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" name="内容占位符 2"/>
          <p:cNvSpPr txBox="1">
            <a:spLocks/>
          </p:cNvSpPr>
          <p:nvPr/>
        </p:nvSpPr>
        <p:spPr>
          <a:xfrm>
            <a:off x="1821997" y="4746255"/>
            <a:ext cx="8461375" cy="616273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Font typeface="+mj-ea"/>
              <a:buAutoNum type="circleNumDbPlain" startAt="2"/>
              <a:defRPr/>
            </a:pPr>
            <a:r>
              <a:rPr lang="zh-CN" altLang="en-US" sz="2800" dirty="0">
                <a:cs typeface="+mn-ea"/>
                <a:sym typeface="+mn-lt"/>
              </a:rPr>
              <a:t>与真值转换不直观（反码→原码→真值）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2460624" y="2666336"/>
          <a:ext cx="6296197" cy="176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2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4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9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8000"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反码：</a:t>
                      </a:r>
                      <a:endParaRPr lang="zh-CN" altLang="en-US" sz="22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200" b="1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1</a:t>
                      </a:r>
                      <a:r>
                        <a:rPr kumimoji="1" lang="en-US" altLang="zh-CN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111</a:t>
                      </a:r>
                      <a:r>
                        <a:rPr kumimoji="1" lang="en-US" altLang="zh-CN" sz="2200" b="1" baseline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 </a:t>
                      </a:r>
                      <a:r>
                        <a:rPr kumimoji="1" lang="en-US" altLang="zh-CN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1111B</a:t>
                      </a:r>
                      <a:endParaRPr lang="zh-CN" altLang="en-US" sz="22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200" b="1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</a:t>
                      </a:r>
                      <a:r>
                        <a:rPr kumimoji="1" lang="en-US" altLang="zh-CN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000 0000B</a:t>
                      </a:r>
                      <a:endParaRPr lang="zh-CN" altLang="en-US" sz="22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000"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原码： </a:t>
                      </a:r>
                      <a:endParaRPr lang="zh-CN" altLang="en-US" sz="22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200" b="1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1</a:t>
                      </a:r>
                      <a:r>
                        <a:rPr kumimoji="1" lang="en-US" altLang="zh-CN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000 0000B</a:t>
                      </a:r>
                      <a:endParaRPr lang="zh-CN" altLang="en-US" sz="22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200" b="1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</a:t>
                      </a:r>
                      <a:r>
                        <a:rPr kumimoji="1" lang="en-US" altLang="zh-CN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000 0000B</a:t>
                      </a:r>
                      <a:endParaRPr lang="zh-CN" altLang="en-US" sz="22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000"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真值：</a:t>
                      </a:r>
                      <a:endParaRPr lang="zh-CN" altLang="en-US" sz="22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200" b="1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 </a:t>
                      </a:r>
                      <a:r>
                        <a:rPr kumimoji="1" lang="en-US" altLang="zh-CN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</a:t>
                      </a:r>
                      <a:endParaRPr lang="zh-CN" altLang="en-US" sz="22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200" b="1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</a:t>
                      </a:r>
                      <a:r>
                        <a:rPr kumimoji="1" lang="en-US" altLang="zh-CN" sz="2200" b="1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 </a:t>
                      </a:r>
                      <a:r>
                        <a:rPr kumimoji="1" lang="en-US" altLang="zh-CN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</a:t>
                      </a:r>
                      <a:endParaRPr lang="zh-CN" altLang="en-US" sz="22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右箭头 3"/>
          <p:cNvSpPr/>
          <p:nvPr/>
        </p:nvSpPr>
        <p:spPr>
          <a:xfrm rot="5400000">
            <a:off x="4976499" y="3159237"/>
            <a:ext cx="232409" cy="1556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右箭头 14"/>
          <p:cNvSpPr/>
          <p:nvPr/>
        </p:nvSpPr>
        <p:spPr>
          <a:xfrm rot="5400000">
            <a:off x="4976499" y="3741366"/>
            <a:ext cx="232409" cy="1556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右箭头 17"/>
          <p:cNvSpPr/>
          <p:nvPr/>
        </p:nvSpPr>
        <p:spPr>
          <a:xfrm rot="5400000">
            <a:off x="7357318" y="3150502"/>
            <a:ext cx="232409" cy="1556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右箭头 18"/>
          <p:cNvSpPr/>
          <p:nvPr/>
        </p:nvSpPr>
        <p:spPr>
          <a:xfrm rot="5400000">
            <a:off x="7357319" y="3751508"/>
            <a:ext cx="232409" cy="1556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14661480"/>
      </p:ext>
    </p:extLst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1404756" y="1100200"/>
            <a:ext cx="8229600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补码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1756199" y="1443962"/>
            <a:ext cx="8852807" cy="1317865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zh-CN" altLang="en-US" sz="2800" dirty="0">
                <a:cs typeface="+mn-ea"/>
                <a:sym typeface="+mn-lt"/>
              </a:rPr>
              <a:t>最高位表示符号（</a:t>
            </a:r>
            <a:r>
              <a:rPr lang="en-US" altLang="zh-CN" sz="2800" b="1" dirty="0">
                <a:cs typeface="+mn-ea"/>
                <a:sym typeface="+mn-lt"/>
              </a:rPr>
              <a:t>0</a:t>
            </a:r>
            <a:r>
              <a:rPr lang="zh-CN" altLang="en-US" sz="2800" b="1" dirty="0">
                <a:cs typeface="+mn-ea"/>
                <a:sym typeface="+mn-lt"/>
              </a:rPr>
              <a:t>正</a:t>
            </a:r>
            <a:r>
              <a:rPr lang="en-US" altLang="zh-CN" sz="2800" b="1" dirty="0">
                <a:cs typeface="+mn-ea"/>
                <a:sym typeface="+mn-lt"/>
              </a:rPr>
              <a:t>1</a:t>
            </a:r>
            <a:r>
              <a:rPr lang="zh-CN" altLang="en-US" sz="2800" b="1" dirty="0">
                <a:cs typeface="+mn-ea"/>
                <a:sym typeface="+mn-lt"/>
              </a:rPr>
              <a:t>负</a:t>
            </a:r>
            <a:r>
              <a:rPr lang="zh-CN" altLang="en-US" sz="2800" dirty="0">
                <a:cs typeface="+mn-ea"/>
                <a:sym typeface="+mn-lt"/>
              </a:rPr>
              <a:t>），</a:t>
            </a:r>
            <a:r>
              <a:rPr lang="zh-CN" altLang="en-US" sz="2800" b="1" dirty="0">
                <a:cs typeface="+mn-ea"/>
                <a:sym typeface="+mn-lt"/>
              </a:rPr>
              <a:t>正数</a:t>
            </a:r>
            <a:r>
              <a:rPr lang="zh-CN" altLang="en-US" sz="2800" dirty="0">
                <a:cs typeface="+mn-ea"/>
                <a:sym typeface="+mn-lt"/>
              </a:rPr>
              <a:t>的补码数值位</a:t>
            </a:r>
            <a:r>
              <a:rPr lang="zh-CN" altLang="en-US" sz="2800" b="1" dirty="0">
                <a:cs typeface="+mn-ea"/>
                <a:sym typeface="+mn-lt"/>
              </a:rPr>
              <a:t>同原码</a:t>
            </a:r>
            <a:r>
              <a:rPr lang="zh-CN" altLang="en-US" sz="2800" dirty="0">
                <a:cs typeface="+mn-ea"/>
                <a:sym typeface="+mn-lt"/>
              </a:rPr>
              <a:t>，</a:t>
            </a:r>
            <a:r>
              <a:rPr lang="zh-CN" altLang="en-US" sz="2800" b="1" dirty="0">
                <a:cs typeface="+mn-ea"/>
                <a:sym typeface="+mn-lt"/>
              </a:rPr>
              <a:t>负数</a:t>
            </a:r>
            <a:r>
              <a:rPr lang="zh-CN" altLang="en-US" sz="2800" dirty="0">
                <a:cs typeface="+mn-ea"/>
                <a:sym typeface="+mn-lt"/>
              </a:rPr>
              <a:t>的补码数值位是其原码</a:t>
            </a:r>
            <a:r>
              <a:rPr lang="zh-CN" altLang="en-US" sz="2800" b="1" dirty="0">
                <a:cs typeface="+mn-ea"/>
                <a:sym typeface="+mn-lt"/>
              </a:rPr>
              <a:t>按位取反再加</a:t>
            </a:r>
            <a:r>
              <a:rPr lang="en-US" altLang="zh-CN" sz="2800" b="1" dirty="0">
                <a:cs typeface="+mn-ea"/>
                <a:sym typeface="+mn-lt"/>
              </a:rPr>
              <a:t>1</a:t>
            </a:r>
            <a:endParaRPr lang="zh-CN" altLang="en-US" sz="2800" b="1" dirty="0"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cs typeface="+mn-ea"/>
                <a:sym typeface="+mn-lt"/>
              </a:rPr>
              <a:t>	</a:t>
            </a:r>
            <a:r>
              <a:rPr lang="zh-CN" altLang="en-US" sz="2800" b="1" dirty="0">
                <a:cs typeface="+mn-ea"/>
                <a:sym typeface="+mn-lt"/>
              </a:rPr>
              <a:t>带符号整数的表示</a:t>
            </a:r>
            <a:r>
              <a:rPr lang="en-US" altLang="zh-CN" sz="2800" b="1" dirty="0">
                <a:cs typeface="+mn-ea"/>
                <a:sym typeface="+mn-lt"/>
              </a:rPr>
              <a:t>——</a:t>
            </a:r>
            <a:r>
              <a:rPr lang="zh-CN" altLang="en-US" sz="2800" b="1" dirty="0">
                <a:cs typeface="+mn-ea"/>
                <a:sym typeface="+mn-lt"/>
              </a:rPr>
              <a:t>补码 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2209799" y="3042609"/>
            <a:ext cx="7554177" cy="3231654"/>
          </a:xfrm>
          <a:prstGeom prst="rect">
            <a:avLst/>
          </a:prstGeom>
          <a:solidFill>
            <a:srgbClr val="FFCC99">
              <a:alpha val="30196"/>
            </a:srgbClr>
          </a:solidFill>
          <a:ln w="38100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marL="265113" lvl="1" algn="just">
              <a:spcBef>
                <a:spcPct val="50000"/>
              </a:spcBef>
              <a:buClr>
                <a:srgbClr val="0000FF"/>
              </a:buClr>
              <a:buNone/>
            </a:pPr>
            <a:r>
              <a:rPr kumimoji="1" lang="en-US" altLang="zh-CN" sz="2400" dirty="0">
                <a:latin typeface="+mn-lt"/>
                <a:ea typeface="+mn-ea"/>
                <a:cs typeface="+mn-ea"/>
                <a:sym typeface="+mn-lt"/>
              </a:rPr>
              <a:t>	</a:t>
            </a:r>
            <a:r>
              <a:rPr kumimoji="1" lang="zh-CN" altLang="en-US" sz="2400" dirty="0">
                <a:latin typeface="+mn-lt"/>
                <a:ea typeface="+mn-ea"/>
                <a:cs typeface="+mn-ea"/>
                <a:sym typeface="+mn-lt"/>
              </a:rPr>
              <a:t>以</a:t>
            </a:r>
            <a:r>
              <a:rPr kumimoji="1" lang="en-US" altLang="zh-CN" sz="2400" dirty="0">
                <a:latin typeface="+mn-lt"/>
                <a:ea typeface="+mn-ea"/>
                <a:cs typeface="+mn-ea"/>
                <a:sym typeface="+mn-lt"/>
              </a:rPr>
              <a:t>8</a:t>
            </a:r>
            <a:r>
              <a:rPr kumimoji="1" lang="zh-CN" altLang="en-US" sz="2400" dirty="0">
                <a:latin typeface="+mn-lt"/>
                <a:ea typeface="+mn-ea"/>
                <a:cs typeface="+mn-ea"/>
                <a:sym typeface="+mn-lt"/>
              </a:rPr>
              <a:t>位二进制码为例，表示范围为：</a:t>
            </a:r>
            <a:endParaRPr kumimoji="1" lang="en-US" altLang="zh-CN" sz="2400" dirty="0">
              <a:latin typeface="+mn-lt"/>
              <a:ea typeface="+mn-ea"/>
              <a:cs typeface="+mn-ea"/>
              <a:sym typeface="+mn-lt"/>
            </a:endParaRPr>
          </a:p>
          <a:p>
            <a:pPr lvl="1" algn="just">
              <a:spcBef>
                <a:spcPct val="50000"/>
              </a:spcBef>
              <a:buClr>
                <a:srgbClr val="0000FF"/>
              </a:buClr>
              <a:buNone/>
            </a:pPr>
            <a:endParaRPr kumimoji="1" lang="en-US" altLang="zh-CN" sz="2400" dirty="0">
              <a:latin typeface="+mn-lt"/>
              <a:ea typeface="+mn-ea"/>
              <a:cs typeface="+mn-ea"/>
              <a:sym typeface="+mn-lt"/>
            </a:endParaRPr>
          </a:p>
          <a:p>
            <a:pPr lvl="1" algn="just">
              <a:spcBef>
                <a:spcPct val="50000"/>
              </a:spcBef>
              <a:buClr>
                <a:srgbClr val="0000FF"/>
              </a:buClr>
              <a:buNone/>
            </a:pPr>
            <a:endParaRPr kumimoji="1" lang="en-US" altLang="zh-CN" sz="2400" dirty="0">
              <a:latin typeface="+mn-lt"/>
              <a:ea typeface="+mn-ea"/>
              <a:cs typeface="+mn-ea"/>
              <a:sym typeface="+mn-lt"/>
            </a:endParaRPr>
          </a:p>
          <a:p>
            <a:pPr lvl="1" algn="just">
              <a:spcBef>
                <a:spcPct val="50000"/>
              </a:spcBef>
              <a:buClr>
                <a:srgbClr val="0000FF"/>
              </a:buClr>
              <a:buNone/>
            </a:pPr>
            <a:endParaRPr kumimoji="1" lang="en-US" altLang="zh-CN" sz="2400" dirty="0">
              <a:latin typeface="+mn-lt"/>
              <a:ea typeface="+mn-ea"/>
              <a:cs typeface="+mn-ea"/>
              <a:sym typeface="+mn-lt"/>
            </a:endParaRPr>
          </a:p>
          <a:p>
            <a:pPr lvl="1" algn="just">
              <a:spcBef>
                <a:spcPct val="50000"/>
              </a:spcBef>
              <a:buClr>
                <a:srgbClr val="0000FF"/>
              </a:buClr>
              <a:buNone/>
            </a:pPr>
            <a:endParaRPr kumimoji="1" lang="en-US" altLang="zh-CN" sz="2400" dirty="0">
              <a:latin typeface="+mn-lt"/>
              <a:ea typeface="+mn-ea"/>
              <a:cs typeface="+mn-ea"/>
              <a:sym typeface="+mn-lt"/>
            </a:endParaRPr>
          </a:p>
          <a:p>
            <a:pPr lvl="1" algn="just">
              <a:spcBef>
                <a:spcPct val="50000"/>
              </a:spcBef>
              <a:buClr>
                <a:srgbClr val="0000FF"/>
              </a:buClr>
              <a:buNone/>
            </a:pPr>
            <a:endParaRPr kumimoji="1" lang="en-US" altLang="zh-CN" sz="2400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70581" y="3740577"/>
          <a:ext cx="6832609" cy="225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3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8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47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5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4000"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24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补码：</a:t>
                      </a:r>
                      <a:endParaRPr lang="zh-CN" altLang="en-US" sz="2400" b="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400" b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1</a:t>
                      </a:r>
                      <a:r>
                        <a:rPr kumimoji="1" lang="en-US" altLang="zh-CN" sz="24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000 0000B</a:t>
                      </a:r>
                      <a:endParaRPr lang="zh-CN" altLang="en-US" sz="2400" b="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4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~</a:t>
                      </a:r>
                      <a:endParaRPr lang="zh-CN" altLang="en-US" sz="2400" b="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400" b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</a:t>
                      </a:r>
                      <a:r>
                        <a:rPr kumimoji="1" lang="en-US" altLang="zh-CN" sz="24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111 1111B</a:t>
                      </a:r>
                      <a:endParaRPr lang="zh-CN" altLang="en-US" sz="2400" b="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000"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24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反码：</a:t>
                      </a:r>
                      <a:endParaRPr lang="zh-CN" altLang="en-US" sz="2400" b="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altLang="en-US" sz="2400" b="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2400" b="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400" b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</a:t>
                      </a:r>
                      <a:r>
                        <a:rPr kumimoji="1" lang="en-US" altLang="zh-CN" sz="24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111 1111B</a:t>
                      </a:r>
                      <a:endParaRPr lang="zh-CN" altLang="en-US" sz="2400" b="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000"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24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原码： </a:t>
                      </a:r>
                      <a:endParaRPr lang="zh-CN" altLang="en-US" sz="2400" b="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altLang="en-US" sz="2400" b="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2400" b="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400" b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</a:t>
                      </a:r>
                      <a:r>
                        <a:rPr kumimoji="1" lang="en-US" altLang="zh-CN" sz="24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111 1111B</a:t>
                      </a:r>
                      <a:endParaRPr lang="zh-CN" altLang="en-US" sz="2400" b="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000"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24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真值：</a:t>
                      </a:r>
                      <a:endParaRPr lang="zh-CN" altLang="en-US" sz="2400" b="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CN" sz="2400" b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 </a:t>
                      </a:r>
                      <a:r>
                        <a:rPr kumimoji="1" lang="en-US" altLang="zh-CN" sz="24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128</a:t>
                      </a:r>
                      <a:endParaRPr lang="zh-CN" altLang="en-US" sz="2400" b="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4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~</a:t>
                      </a:r>
                      <a:endParaRPr lang="zh-CN" altLang="en-US" sz="2400" b="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400" b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 </a:t>
                      </a:r>
                      <a:r>
                        <a:rPr kumimoji="1" lang="en-US" altLang="zh-CN" sz="24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127</a:t>
                      </a:r>
                      <a:endParaRPr lang="zh-CN" altLang="en-US" sz="2400" b="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5666318"/>
      </p:ext>
    </p:extLst>
  </p:cSld>
  <p:clrMapOvr>
    <a:masterClrMapping/>
  </p:clrMapOvr>
  <p:transition>
    <p:pull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451660" y="1379901"/>
            <a:ext cx="1335302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优点：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1741487" y="1105468"/>
            <a:ext cx="8461375" cy="616273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en-US" altLang="zh-CN" sz="2400" dirty="0">
                <a:cs typeface="+mn-ea"/>
                <a:sym typeface="+mn-lt"/>
              </a:rPr>
              <a:t>0</a:t>
            </a:r>
            <a:r>
              <a:rPr lang="zh-CN" altLang="en-US" sz="2400" dirty="0">
                <a:cs typeface="+mn-ea"/>
                <a:sym typeface="+mn-lt"/>
              </a:rPr>
              <a:t>的表示是唯一的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cs typeface="+mn-ea"/>
                <a:sym typeface="+mn-lt"/>
              </a:rPr>
              <a:t>	</a:t>
            </a:r>
            <a:r>
              <a:rPr lang="zh-CN" altLang="en-US" sz="2800" b="1" dirty="0">
                <a:cs typeface="+mn-ea"/>
                <a:sym typeface="+mn-lt"/>
              </a:rPr>
              <a:t>带符号整数的表示</a:t>
            </a:r>
            <a:r>
              <a:rPr lang="en-US" altLang="zh-CN" sz="2800" b="1" dirty="0">
                <a:cs typeface="+mn-ea"/>
                <a:sym typeface="+mn-lt"/>
              </a:rPr>
              <a:t>——</a:t>
            </a:r>
            <a:r>
              <a:rPr lang="zh-CN" altLang="en-US" sz="2800" b="1" dirty="0">
                <a:cs typeface="+mn-ea"/>
                <a:sym typeface="+mn-lt"/>
              </a:rPr>
              <a:t>补码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773246" y="2459984"/>
            <a:ext cx="5267199" cy="2923579"/>
          </a:xfrm>
          <a:prstGeom prst="rect">
            <a:avLst/>
          </a:prstGeom>
          <a:solidFill>
            <a:srgbClr val="FFCC99">
              <a:alpha val="30196"/>
            </a:srgbClr>
          </a:solidFill>
          <a:ln w="38100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lvl="1">
              <a:lnSpc>
                <a:spcPct val="150000"/>
              </a:lnSpc>
              <a:spcBef>
                <a:spcPts val="500"/>
              </a:spcBef>
              <a:buNone/>
              <a:defRPr/>
            </a:pPr>
            <a:endParaRPr lang="en-US" altLang="zh-CN" sz="2400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  <a:p>
            <a:pPr lvl="1">
              <a:lnSpc>
                <a:spcPct val="150000"/>
              </a:lnSpc>
              <a:spcBef>
                <a:spcPts val="500"/>
              </a:spcBef>
              <a:buNone/>
              <a:defRPr/>
            </a:pPr>
            <a:endParaRPr lang="en-US" altLang="zh-CN" sz="2400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  <a:p>
            <a:pPr lvl="1">
              <a:lnSpc>
                <a:spcPct val="150000"/>
              </a:lnSpc>
              <a:spcBef>
                <a:spcPts val="500"/>
              </a:spcBef>
              <a:buNone/>
              <a:defRPr/>
            </a:pPr>
            <a:endParaRPr lang="en-US" altLang="zh-CN" sz="2400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  <a:p>
            <a:pPr lvl="1">
              <a:lnSpc>
                <a:spcPct val="150000"/>
              </a:lnSpc>
              <a:spcBef>
                <a:spcPts val="500"/>
              </a:spcBef>
              <a:buNone/>
              <a:defRPr/>
            </a:pPr>
            <a:endParaRPr lang="en-US" altLang="zh-CN" sz="2400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" name="内容占位符 2"/>
          <p:cNvSpPr txBox="1">
            <a:spLocks/>
          </p:cNvSpPr>
          <p:nvPr/>
        </p:nvSpPr>
        <p:spPr>
          <a:xfrm>
            <a:off x="1737820" y="1684544"/>
            <a:ext cx="9925994" cy="596674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buFont typeface="+mj-ea"/>
              <a:buAutoNum type="circleNumDbPlain" startAt="2"/>
              <a:defRPr/>
            </a:pPr>
            <a:r>
              <a:rPr lang="zh-CN" altLang="en-US" sz="2400" dirty="0">
                <a:cs typeface="+mn-ea"/>
                <a:sym typeface="+mn-lt"/>
              </a:rPr>
              <a:t>做加法时，符号位也参与运算，将减法运算变为加法运算，结果正确。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27797" y="2565013"/>
          <a:ext cx="5511608" cy="27529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0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3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7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9910"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补码：</a:t>
                      </a:r>
                      <a:endParaRPr lang="zh-CN" altLang="en-US" sz="22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kumimoji="1" lang="en-US" altLang="zh-CN" sz="2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1</a:t>
                      </a:r>
                      <a:r>
                        <a:rPr kumimoji="1" lang="en-US" altLang="zh-CN" sz="2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111 1101B</a:t>
                      </a:r>
                      <a:endParaRPr kumimoji="1" lang="zh-CN" altLang="en-US" sz="2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200" b="1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</a:t>
                      </a:r>
                      <a:r>
                        <a:rPr kumimoji="1" lang="en-US" altLang="zh-CN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000 0011B</a:t>
                      </a:r>
                      <a:endParaRPr kumimoji="1" lang="zh-CN" altLang="en-US" sz="22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9910"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反码：</a:t>
                      </a:r>
                      <a:endParaRPr lang="zh-CN" altLang="en-US" sz="22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200" b="1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1</a:t>
                      </a:r>
                      <a:r>
                        <a:rPr kumimoji="1" lang="en-US" altLang="zh-CN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111</a:t>
                      </a:r>
                      <a:r>
                        <a:rPr kumimoji="1" lang="en-US" altLang="zh-CN" sz="2200" b="1" baseline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 </a:t>
                      </a:r>
                      <a:r>
                        <a:rPr kumimoji="1" lang="en-US" altLang="zh-CN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1100B</a:t>
                      </a:r>
                      <a:endParaRPr lang="zh-CN" altLang="en-US" sz="22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200" b="1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</a:t>
                      </a:r>
                      <a:r>
                        <a:rPr kumimoji="1" lang="en-US" altLang="zh-CN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000 0011B</a:t>
                      </a:r>
                      <a:endParaRPr lang="zh-CN" altLang="en-US" sz="22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9910"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原码： </a:t>
                      </a:r>
                      <a:endParaRPr lang="zh-CN" altLang="en-US" sz="22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200" b="1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1</a:t>
                      </a:r>
                      <a:r>
                        <a:rPr kumimoji="1" lang="en-US" altLang="zh-CN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000 0011B</a:t>
                      </a:r>
                      <a:endParaRPr lang="zh-CN" altLang="en-US" sz="22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200" b="1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</a:t>
                      </a:r>
                      <a:r>
                        <a:rPr kumimoji="1" lang="en-US" altLang="zh-CN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000 0011B</a:t>
                      </a:r>
                      <a:endParaRPr lang="zh-CN" altLang="en-US" sz="22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237"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真值：</a:t>
                      </a:r>
                      <a:endParaRPr lang="zh-CN" altLang="en-US" sz="22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200" b="1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 </a:t>
                      </a:r>
                      <a:r>
                        <a:rPr kumimoji="1" lang="en-US" altLang="zh-CN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3</a:t>
                      </a:r>
                      <a:endParaRPr lang="zh-CN" altLang="en-US" sz="22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200" b="1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</a:t>
                      </a:r>
                      <a:r>
                        <a:rPr kumimoji="1" lang="en-US" altLang="zh-CN" sz="2200" b="1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 </a:t>
                      </a:r>
                      <a:r>
                        <a:rPr kumimoji="1" lang="en-US" altLang="zh-CN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3</a:t>
                      </a:r>
                      <a:endParaRPr lang="zh-CN" altLang="en-US" sz="22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右箭头 3"/>
          <p:cNvSpPr/>
          <p:nvPr/>
        </p:nvSpPr>
        <p:spPr>
          <a:xfrm rot="5400000">
            <a:off x="4751996" y="3236155"/>
            <a:ext cx="232409" cy="1556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右箭头 14"/>
          <p:cNvSpPr/>
          <p:nvPr/>
        </p:nvSpPr>
        <p:spPr>
          <a:xfrm rot="5400000">
            <a:off x="4766979" y="3939955"/>
            <a:ext cx="232409" cy="1556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右箭头 17"/>
          <p:cNvSpPr/>
          <p:nvPr/>
        </p:nvSpPr>
        <p:spPr>
          <a:xfrm rot="5400000">
            <a:off x="2773790" y="3203312"/>
            <a:ext cx="232409" cy="1556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右箭头 18"/>
          <p:cNvSpPr/>
          <p:nvPr/>
        </p:nvSpPr>
        <p:spPr>
          <a:xfrm rot="5400000">
            <a:off x="4915605" y="4648158"/>
            <a:ext cx="232409" cy="1556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内容占位符 2"/>
          <p:cNvSpPr txBox="1">
            <a:spLocks/>
          </p:cNvSpPr>
          <p:nvPr/>
        </p:nvSpPr>
        <p:spPr>
          <a:xfrm>
            <a:off x="1665287" y="5514901"/>
            <a:ext cx="8461375" cy="616273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2800" dirty="0">
                <a:cs typeface="+mn-ea"/>
                <a:sym typeface="+mn-lt"/>
              </a:rPr>
              <a:t>与真值转换不直观（补码→反码→原码→真值）</a:t>
            </a:r>
          </a:p>
        </p:txBody>
      </p:sp>
      <p:sp>
        <p:nvSpPr>
          <p:cNvPr id="24" name="右箭头 23"/>
          <p:cNvSpPr/>
          <p:nvPr/>
        </p:nvSpPr>
        <p:spPr>
          <a:xfrm rot="5400000">
            <a:off x="2777274" y="3904784"/>
            <a:ext cx="232409" cy="1556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右箭头 24"/>
          <p:cNvSpPr/>
          <p:nvPr/>
        </p:nvSpPr>
        <p:spPr>
          <a:xfrm rot="5400000">
            <a:off x="2882056" y="4606256"/>
            <a:ext cx="232409" cy="1556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Text Box 2"/>
          <p:cNvSpPr txBox="1">
            <a:spLocks noChangeArrowheads="1"/>
          </p:cNvSpPr>
          <p:nvPr/>
        </p:nvSpPr>
        <p:spPr bwMode="auto">
          <a:xfrm>
            <a:off x="6139405" y="2691069"/>
            <a:ext cx="4966435" cy="2500685"/>
          </a:xfrm>
          <a:prstGeom prst="rect">
            <a:avLst/>
          </a:prstGeom>
          <a:solidFill>
            <a:srgbClr val="FFCC99">
              <a:alpha val="30196"/>
            </a:srgbClr>
          </a:solidFill>
          <a:ln w="38100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lvl="1">
              <a:lnSpc>
                <a:spcPct val="150000"/>
              </a:lnSpc>
              <a:spcBef>
                <a:spcPts val="500"/>
              </a:spcBef>
              <a:buNone/>
              <a:defRPr/>
            </a:pPr>
            <a:endParaRPr lang="en-US" altLang="zh-CN" sz="2400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  <a:p>
            <a:pPr lvl="1">
              <a:lnSpc>
                <a:spcPct val="150000"/>
              </a:lnSpc>
              <a:spcBef>
                <a:spcPts val="500"/>
              </a:spcBef>
              <a:buNone/>
              <a:defRPr/>
            </a:pPr>
            <a:endParaRPr lang="en-US" altLang="zh-CN" sz="2400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  <a:p>
            <a:pPr lvl="1">
              <a:lnSpc>
                <a:spcPct val="150000"/>
              </a:lnSpc>
              <a:spcBef>
                <a:spcPts val="500"/>
              </a:spcBef>
              <a:buNone/>
              <a:defRPr/>
            </a:pPr>
            <a:endParaRPr lang="en-US" altLang="zh-CN" sz="2400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  <a:p>
            <a:pPr lvl="1">
              <a:lnSpc>
                <a:spcPct val="150000"/>
              </a:lnSpc>
              <a:spcBef>
                <a:spcPts val="500"/>
              </a:spcBef>
              <a:buNone/>
              <a:defRPr/>
            </a:pPr>
            <a:endParaRPr lang="en-US" altLang="zh-CN" sz="2400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27" name="表格 26"/>
          <p:cNvGraphicFramePr>
            <a:graphicFrameLocks noGrp="1"/>
          </p:cNvGraphicFramePr>
          <p:nvPr/>
        </p:nvGraphicFramePr>
        <p:xfrm>
          <a:off x="6283875" y="2901168"/>
          <a:ext cx="4655973" cy="176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3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7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8000">
                <a:tc>
                  <a:txBody>
                    <a:bodyPr/>
                    <a:lstStyle/>
                    <a:p>
                      <a:pPr marL="0" algn="r" defTabSz="914354" rtl="0" eaLnBrk="1" latinLnBrk="0" hangingPunct="1"/>
                      <a:r>
                        <a:rPr kumimoji="1" lang="en-US" altLang="zh-CN" sz="2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  1 </a:t>
                      </a:r>
                      <a:r>
                        <a:rPr kumimoji="1" lang="en-US" altLang="zh-CN" sz="2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1 1 1 1 1 0 1B</a:t>
                      </a:r>
                      <a:endParaRPr kumimoji="1" lang="zh-CN" altLang="en-US" sz="2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2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200" b="1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 </a:t>
                      </a:r>
                      <a:r>
                        <a:rPr kumimoji="1" lang="en-US" altLang="zh-CN" sz="2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3</a:t>
                      </a:r>
                      <a:endParaRPr kumimoji="1" lang="zh-CN" altLang="en-US" sz="2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CN" sz="2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 </a:t>
                      </a:r>
                      <a:r>
                        <a:rPr kumimoji="1" lang="en-US" altLang="zh-CN" sz="2200" b="1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 </a:t>
                      </a:r>
                      <a:r>
                        <a:rPr kumimoji="1" lang="en-US" altLang="zh-CN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0 0 0</a:t>
                      </a:r>
                      <a:r>
                        <a:rPr kumimoji="1" lang="en-US" altLang="zh-CN" sz="2200" b="1" baseline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 </a:t>
                      </a:r>
                      <a:r>
                        <a:rPr kumimoji="1" lang="en-US" altLang="zh-CN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 0 1 1B</a:t>
                      </a:r>
                      <a:endParaRPr lang="zh-CN" altLang="en-US" sz="22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2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200" b="1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 </a:t>
                      </a:r>
                      <a:r>
                        <a:rPr kumimoji="1" lang="en-US" altLang="zh-CN" sz="2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3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CN" sz="2200" b="1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  0 </a:t>
                      </a:r>
                      <a:r>
                        <a:rPr kumimoji="1" lang="en-US" altLang="zh-CN" sz="22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 0 0 0 0 0 0B</a:t>
                      </a:r>
                      <a:endParaRPr lang="zh-CN" altLang="en-US" sz="22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2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" name="标题 1"/>
          <p:cNvSpPr txBox="1">
            <a:spLocks/>
          </p:cNvSpPr>
          <p:nvPr/>
        </p:nvSpPr>
        <p:spPr>
          <a:xfrm>
            <a:off x="451660" y="5640690"/>
            <a:ext cx="1176519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缺点：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967817" y="307270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cs typeface="+mn-ea"/>
                <a:sym typeface="+mn-lt"/>
              </a:rPr>
              <a:t>减</a:t>
            </a:r>
            <a:r>
              <a:rPr lang="en-US" altLang="zh-CN" b="1" dirty="0">
                <a:solidFill>
                  <a:srgbClr val="FF0000"/>
                </a:solidFill>
                <a:cs typeface="+mn-ea"/>
                <a:sym typeface="+mn-lt"/>
              </a:rPr>
              <a:t>1</a:t>
            </a:r>
            <a:endParaRPr lang="zh-CN" altLang="en-US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953111" y="3808303"/>
            <a:ext cx="1352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cs typeface="+mn-ea"/>
                <a:sym typeface="+mn-lt"/>
              </a:rPr>
              <a:t>数值位取反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5051159" y="3103619"/>
            <a:ext cx="767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cs typeface="+mn-ea"/>
                <a:sym typeface="+mn-lt"/>
              </a:rPr>
              <a:t>不变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5028450" y="3817881"/>
            <a:ext cx="70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cs typeface="+mn-ea"/>
                <a:sym typeface="+mn-lt"/>
              </a:rPr>
              <a:t>不变</a:t>
            </a:r>
          </a:p>
        </p:txBody>
      </p:sp>
    </p:spTree>
    <p:extLst>
      <p:ext uri="{BB962C8B-B14F-4D97-AF65-F5344CB8AC3E}">
        <p14:creationId xmlns:p14="http://schemas.microsoft.com/office/powerpoint/2010/main" val="1697820647"/>
      </p:ext>
    </p:extLst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3" grpId="0"/>
      <p:bldP spid="4" grpId="0" animBg="1"/>
      <p:bldP spid="15" grpId="0" animBg="1"/>
      <p:bldP spid="18" grpId="0" animBg="1"/>
      <p:bldP spid="19" grpId="0" animBg="1"/>
      <p:bldP spid="17" grpId="0"/>
      <p:bldP spid="24" grpId="0" animBg="1"/>
      <p:bldP spid="25" grpId="0" animBg="1"/>
      <p:bldP spid="26" grpId="0" animBg="1"/>
      <p:bldP spid="28" grpId="0"/>
      <p:bldP spid="8" grpId="0"/>
      <p:bldP spid="29" grpId="0"/>
      <p:bldP spid="30" grpId="0"/>
      <p:bldP spid="3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1404756" y="1100200"/>
            <a:ext cx="8229600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问题与思考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1404756" y="1946358"/>
            <a:ext cx="9263243" cy="1317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indent="0" defTabSz="914354">
              <a:lnSpc>
                <a:spcPct val="150000"/>
              </a:lnSpc>
              <a:spcBef>
                <a:spcPts val="1000"/>
              </a:spcBef>
              <a:buFontTx/>
              <a:buNone/>
              <a:defRPr sz="2800">
                <a:cs typeface="+mn-ea"/>
              </a:defRPr>
            </a:lvl1pPr>
            <a:lvl2pPr marL="685766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2pPr>
            <a:lvl3pPr marL="1142942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/>
            </a:lvl3pPr>
            <a:lvl4pPr marL="1600120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/>
            </a:lvl4pPr>
            <a:lvl5pPr marL="2057298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/>
            </a:lvl5pPr>
            <a:lvl6pPr marL="2514474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652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8829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006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x-none" altLang="zh-CN" dirty="0"/>
              <a:t>[X]补码=01101101B    [X]原码= </a:t>
            </a:r>
            <a:r>
              <a:rPr lang="en-US" altLang="zh-CN" dirty="0"/>
              <a:t>     </a:t>
            </a:r>
            <a:r>
              <a:rPr lang="x-none" altLang="zh-CN" dirty="0"/>
              <a:t>  B</a:t>
            </a:r>
            <a:endParaRPr lang="zh-CN" altLang="zh-CN" dirty="0"/>
          </a:p>
          <a:p>
            <a:r>
              <a:rPr lang="en-US" altLang="zh-CN" dirty="0"/>
              <a:t>[X]</a:t>
            </a:r>
            <a:r>
              <a:rPr lang="zh-CN" altLang="zh-CN" dirty="0"/>
              <a:t>补码</a:t>
            </a:r>
            <a:r>
              <a:rPr lang="en-US" altLang="zh-CN" dirty="0"/>
              <a:t>=11010110B    [X]</a:t>
            </a:r>
            <a:r>
              <a:rPr lang="zh-CN" altLang="zh-CN" dirty="0"/>
              <a:t>原码</a:t>
            </a:r>
            <a:r>
              <a:rPr lang="en-US" altLang="zh-CN" dirty="0"/>
              <a:t>=        B</a:t>
            </a:r>
            <a:endParaRPr lang="zh-CN" altLang="zh-CN" dirty="0"/>
          </a:p>
          <a:p>
            <a:r>
              <a:rPr lang="zh-CN" altLang="zh-CN" dirty="0"/>
              <a:t>相同位数的有符号数比无符号数表示的范围大</a:t>
            </a:r>
            <a:r>
              <a:rPr lang="en-US" altLang="zh-CN" dirty="0"/>
              <a:t>;</a:t>
            </a:r>
            <a:r>
              <a:rPr lang="zh-CN" altLang="zh-CN" dirty="0"/>
              <a:t>（</a:t>
            </a:r>
            <a:r>
              <a:rPr lang="zh-CN" altLang="en-US" dirty="0"/>
              <a:t>对</a:t>
            </a:r>
            <a:r>
              <a:rPr lang="en-US" altLang="zh-CN" dirty="0"/>
              <a:t>or</a:t>
            </a:r>
            <a:r>
              <a:rPr lang="zh-CN" altLang="zh-CN" dirty="0"/>
              <a:t>错</a:t>
            </a:r>
            <a:r>
              <a:rPr lang="en-US" altLang="zh-CN" dirty="0"/>
              <a:t> </a:t>
            </a:r>
            <a:r>
              <a:rPr lang="zh-CN" altLang="zh-CN" dirty="0"/>
              <a:t>）</a:t>
            </a:r>
            <a:endParaRPr lang="zh-CN" altLang="en-US" dirty="0"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cs typeface="+mn-ea"/>
                <a:sym typeface="+mn-lt"/>
              </a:rPr>
              <a:t>	</a:t>
            </a:r>
            <a:r>
              <a:rPr lang="zh-CN" altLang="en-US" sz="2800" b="1" dirty="0">
                <a:cs typeface="+mn-ea"/>
                <a:sym typeface="+mn-lt"/>
              </a:rPr>
              <a:t>带符号整数的表示</a:t>
            </a:r>
            <a:r>
              <a:rPr lang="en-US" altLang="zh-CN" sz="2800" b="1" dirty="0">
                <a:cs typeface="+mn-ea"/>
                <a:sym typeface="+mn-lt"/>
              </a:rPr>
              <a:t>——</a:t>
            </a:r>
            <a:r>
              <a:rPr lang="zh-CN" altLang="en-US" sz="2800" b="1" dirty="0">
                <a:cs typeface="+mn-ea"/>
                <a:sym typeface="+mn-lt"/>
              </a:rPr>
              <a:t>补码 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43992543"/>
      </p:ext>
    </p:extLst>
  </p:cSld>
  <p:clrMapOvr>
    <a:masterClrMapping/>
  </p:clrMapOvr>
  <p:transition>
    <p:pull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x-none" altLang="zh-CN" sz="2800" dirty="0"/>
              <a:t>[X]补码=01101101B    [X]原码</a:t>
            </a:r>
            <a:r>
              <a:rPr lang="x-none" altLang="zh-CN" sz="2800" dirty="0" smtClean="0"/>
              <a:t>=</a:t>
            </a:r>
            <a:r>
              <a:rPr lang="zh-CN" altLang="en-US" sz="2800" dirty="0" smtClean="0">
                <a:solidFill>
                  <a:srgbClr val="639EF4"/>
                </a:solidFill>
              </a:rPr>
              <a:t> </a:t>
            </a:r>
            <a:r>
              <a:rPr lang="en-US" altLang="zh-CN" sz="2800" dirty="0" smtClean="0">
                <a:solidFill>
                  <a:srgbClr val="639EF4"/>
                </a:solidFill>
              </a:rPr>
              <a:t>[</a:t>
            </a:r>
            <a:r>
              <a:rPr lang="zh-CN" altLang="en-US" sz="2800" dirty="0" smtClean="0">
                <a:solidFill>
                  <a:srgbClr val="639EF4"/>
                </a:solidFill>
              </a:rPr>
              <a:t>填空</a:t>
            </a:r>
            <a:r>
              <a:rPr lang="en-US" altLang="zh-CN" sz="2800" dirty="0" smtClean="0">
                <a:solidFill>
                  <a:srgbClr val="639EF4"/>
                </a:solidFill>
              </a:rPr>
              <a:t>1]</a:t>
            </a:r>
            <a:r>
              <a:rPr lang="en-US" altLang="zh-CN" sz="2800" dirty="0" smtClean="0">
                <a:solidFill>
                  <a:srgbClr val="000000"/>
                </a:solidFill>
              </a:rPr>
              <a:t> </a:t>
            </a:r>
            <a:r>
              <a:rPr lang="x-none" altLang="zh-CN" sz="2800" dirty="0" smtClean="0"/>
              <a:t> </a:t>
            </a:r>
            <a:r>
              <a:rPr lang="en-US" altLang="zh-CN" sz="2800" dirty="0" smtClean="0"/>
              <a:t>     </a:t>
            </a:r>
            <a:r>
              <a:rPr lang="x-none" altLang="zh-CN" sz="2800" dirty="0" smtClean="0"/>
              <a:t>  </a:t>
            </a:r>
            <a:r>
              <a:rPr lang="x-none" altLang="zh-CN" sz="2800" dirty="0"/>
              <a:t>B</a:t>
            </a:r>
            <a:endParaRPr lang="zh-CN" altLang="zh-CN" sz="2800" dirty="0"/>
          </a:p>
          <a:p>
            <a:r>
              <a:rPr lang="en-US" altLang="zh-CN" sz="2800" dirty="0"/>
              <a:t>[X]</a:t>
            </a:r>
            <a:r>
              <a:rPr lang="zh-CN" altLang="zh-CN" sz="2800" dirty="0"/>
              <a:t>补码</a:t>
            </a:r>
            <a:r>
              <a:rPr lang="en-US" altLang="zh-CN" sz="2800" dirty="0"/>
              <a:t>=11010110B    [X]</a:t>
            </a:r>
            <a:r>
              <a:rPr lang="zh-CN" altLang="zh-CN" sz="2800" dirty="0"/>
              <a:t>原码</a:t>
            </a:r>
            <a:r>
              <a:rPr lang="en-US" altLang="zh-CN" sz="2800" dirty="0"/>
              <a:t>= </a:t>
            </a:r>
            <a:r>
              <a:rPr lang="zh-CN" altLang="en-US" sz="2800" dirty="0" smtClean="0">
                <a:solidFill>
                  <a:srgbClr val="639EF4"/>
                </a:solidFill>
              </a:rPr>
              <a:t> </a:t>
            </a:r>
            <a:r>
              <a:rPr lang="en-US" altLang="zh-CN" sz="2800" dirty="0" smtClean="0">
                <a:solidFill>
                  <a:srgbClr val="639EF4"/>
                </a:solidFill>
              </a:rPr>
              <a:t>[</a:t>
            </a:r>
            <a:r>
              <a:rPr lang="zh-CN" altLang="en-US" sz="2800" dirty="0" smtClean="0">
                <a:solidFill>
                  <a:srgbClr val="639EF4"/>
                </a:solidFill>
              </a:rPr>
              <a:t>填空</a:t>
            </a:r>
            <a:r>
              <a:rPr lang="en-US" altLang="zh-CN" sz="2800" dirty="0" smtClean="0">
                <a:solidFill>
                  <a:srgbClr val="639EF4"/>
                </a:solidFill>
              </a:rPr>
              <a:t>2]</a:t>
            </a:r>
            <a:r>
              <a:rPr lang="en-US" altLang="zh-CN" sz="2800" dirty="0" smtClean="0">
                <a:solidFill>
                  <a:srgbClr val="000000"/>
                </a:solidFill>
              </a:rPr>
              <a:t> </a:t>
            </a:r>
            <a:r>
              <a:rPr lang="en-US" altLang="zh-CN" sz="2800" dirty="0" smtClean="0"/>
              <a:t>       </a:t>
            </a:r>
            <a:r>
              <a:rPr lang="en-US" altLang="zh-CN" sz="2800" dirty="0"/>
              <a:t>B</a:t>
            </a:r>
            <a:endParaRPr lang="zh-CN" altLang="zh-CN" sz="2800" dirty="0"/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2000" b="1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97875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800" dirty="0"/>
              <a:t>相同位数的有符号数比无符号数表示的范围大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0" name="组合 19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9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67014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1404756" y="1100200"/>
            <a:ext cx="8229600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问题与思考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1404756" y="1946358"/>
            <a:ext cx="10601316" cy="1317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indent="0" defTabSz="914354">
              <a:lnSpc>
                <a:spcPct val="150000"/>
              </a:lnSpc>
              <a:spcBef>
                <a:spcPts val="1000"/>
              </a:spcBef>
              <a:buFontTx/>
              <a:buNone/>
              <a:defRPr sz="2800">
                <a:cs typeface="+mn-ea"/>
              </a:defRPr>
            </a:lvl1pPr>
            <a:lvl2pPr marL="685766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2pPr>
            <a:lvl3pPr marL="1142942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/>
            </a:lvl3pPr>
            <a:lvl4pPr marL="1600120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/>
            </a:lvl4pPr>
            <a:lvl5pPr marL="2057298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/>
            </a:lvl5pPr>
            <a:lvl6pPr marL="2514474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652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8829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006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x-none" altLang="zh-CN" dirty="0"/>
              <a:t>[X]补码=01101101B    [X]原码= 01101101  </a:t>
            </a:r>
            <a:r>
              <a:rPr lang="x-none" altLang="zh-CN" dirty="0" smtClean="0"/>
              <a:t>B</a:t>
            </a:r>
            <a:r>
              <a:rPr lang="zh-CN" altLang="en-US" dirty="0" smtClean="0"/>
              <a:t>（正数三种码相同）</a:t>
            </a:r>
            <a:endParaRPr lang="zh-CN" altLang="zh-CN" dirty="0"/>
          </a:p>
          <a:p>
            <a:r>
              <a:rPr lang="en-US" altLang="zh-CN" dirty="0"/>
              <a:t>[X]</a:t>
            </a:r>
            <a:r>
              <a:rPr lang="zh-CN" altLang="zh-CN" dirty="0"/>
              <a:t>补码</a:t>
            </a:r>
            <a:r>
              <a:rPr lang="en-US" altLang="zh-CN" dirty="0"/>
              <a:t>=11010110B    [X]</a:t>
            </a:r>
            <a:r>
              <a:rPr lang="zh-CN" altLang="zh-CN" dirty="0"/>
              <a:t>原码</a:t>
            </a:r>
            <a:r>
              <a:rPr lang="en-US" altLang="zh-CN" dirty="0"/>
              <a:t>= 10101010  B</a:t>
            </a:r>
            <a:endParaRPr lang="zh-CN" altLang="zh-CN" dirty="0"/>
          </a:p>
          <a:p>
            <a:r>
              <a:rPr lang="zh-CN" altLang="zh-CN" dirty="0"/>
              <a:t>相同位数的有符号数比无符号数表示的范围大</a:t>
            </a:r>
            <a:r>
              <a:rPr lang="en-US" altLang="zh-CN" dirty="0"/>
              <a:t>;</a:t>
            </a:r>
            <a:r>
              <a:rPr lang="zh-CN" altLang="zh-CN" dirty="0"/>
              <a:t>（错</a:t>
            </a:r>
            <a:r>
              <a:rPr lang="en-US" altLang="zh-CN" dirty="0"/>
              <a:t> </a:t>
            </a:r>
            <a:r>
              <a:rPr lang="zh-CN" altLang="zh-CN" dirty="0"/>
              <a:t>）</a:t>
            </a:r>
            <a:endParaRPr lang="zh-CN" altLang="en-US" dirty="0"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cs typeface="+mn-ea"/>
                <a:sym typeface="+mn-lt"/>
              </a:rPr>
              <a:t>	</a:t>
            </a:r>
            <a:r>
              <a:rPr lang="zh-CN" altLang="en-US" sz="2800" b="1" dirty="0">
                <a:cs typeface="+mn-ea"/>
                <a:sym typeface="+mn-lt"/>
              </a:rPr>
              <a:t>带符号整数的表示</a:t>
            </a:r>
            <a:r>
              <a:rPr lang="en-US" altLang="zh-CN" sz="2800" b="1" dirty="0">
                <a:cs typeface="+mn-ea"/>
                <a:sym typeface="+mn-lt"/>
              </a:rPr>
              <a:t>——</a:t>
            </a:r>
            <a:r>
              <a:rPr lang="zh-CN" altLang="en-US" sz="2800" b="1" dirty="0">
                <a:cs typeface="+mn-ea"/>
                <a:sym typeface="+mn-lt"/>
              </a:rPr>
              <a:t>补码 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60214510"/>
      </p:ext>
    </p:extLst>
  </p:cSld>
  <p:clrMapOvr>
    <a:masterClrMapping/>
  </p:clrMapOvr>
  <p:transition>
    <p:pull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3C326D0B-7DAB-41B6-8030-2E4A18CC949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9" name="think-cell Slide" r:id="rId5" imgW="360" imgH="360" progId="">
                  <p:embed/>
                </p:oleObj>
              </mc:Choice>
              <mc:Fallback>
                <p:oleObj name="think-cell Slide" r:id="rId5" imgW="360" imgH="360" progId="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id="{3C326D0B-7DAB-41B6-8030-2E4A18CC94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id="{EC933494-1B63-4A32-964F-D05236799BA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cs typeface="+mn-ea"/>
              <a:sym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978949" y="2023969"/>
            <a:ext cx="6041284" cy="1058852"/>
          </a:xfrm>
        </p:spPr>
        <p:txBody>
          <a:bodyPr>
            <a:normAutofit/>
          </a:bodyPr>
          <a:lstStyle/>
          <a:p>
            <a:r>
              <a:rPr lang="zh-CN" altLang="en-US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lt"/>
                <a:ea typeface="+mn-ea"/>
                <a:cs typeface="+mn-ea"/>
                <a:sym typeface="+mn-lt"/>
              </a:rPr>
              <a:t>单片机原理及其应用</a:t>
            </a: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3AE36C13-51F4-4440-8DB2-2A4E128FFD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6065" y="3993091"/>
            <a:ext cx="3384880" cy="548173"/>
          </a:xfr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r>
              <a:rPr lang="zh-CN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重庆大学   电气工程学院</a:t>
            </a:r>
          </a:p>
        </p:txBody>
      </p:sp>
      <p:sp>
        <p:nvSpPr>
          <p:cNvPr id="5" name="矩形 4"/>
          <p:cNvSpPr/>
          <p:nvPr/>
        </p:nvSpPr>
        <p:spPr>
          <a:xfrm>
            <a:off x="622577" y="1378227"/>
            <a:ext cx="69500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800" dirty="0">
                <a:solidFill>
                  <a:schemeClr val="bg1"/>
                </a:solidFill>
                <a:cs typeface="+mn-ea"/>
                <a:sym typeface="+mn-lt"/>
              </a:rPr>
              <a:t>ARM Cortex-M3 </a:t>
            </a:r>
            <a:r>
              <a:rPr lang="zh-CN" altLang="zh-CN" sz="2800" b="1" kern="1800" dirty="0">
                <a:solidFill>
                  <a:schemeClr val="bg1"/>
                </a:solidFill>
                <a:cs typeface="+mn-ea"/>
                <a:sym typeface="+mn-lt"/>
              </a:rPr>
              <a:t>的</a:t>
            </a:r>
            <a:r>
              <a:rPr lang="en-US" altLang="zh-CN" sz="2800" b="1" kern="1800" dirty="0">
                <a:solidFill>
                  <a:schemeClr val="bg1"/>
                </a:solidFill>
                <a:cs typeface="+mn-ea"/>
                <a:sym typeface="+mn-lt"/>
              </a:rPr>
              <a:t>STM32</a:t>
            </a:r>
            <a:r>
              <a:rPr lang="zh-CN" altLang="zh-CN" sz="2800" b="1" kern="1800" dirty="0">
                <a:solidFill>
                  <a:schemeClr val="bg1"/>
                </a:solidFill>
                <a:cs typeface="+mn-ea"/>
                <a:sym typeface="+mn-lt"/>
              </a:rPr>
              <a:t>系列</a:t>
            </a:r>
            <a:r>
              <a:rPr lang="zh-CN" altLang="zh-CN" sz="4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cs typeface="+mn-ea"/>
                <a:sym typeface="+mn-lt"/>
              </a:rPr>
              <a:t>——</a:t>
            </a:r>
            <a:endParaRPr lang="zh-CN" altLang="en-US" sz="4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2577" y="3167390"/>
            <a:ext cx="68169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2E6E0"/>
                </a:solidFill>
                <a:cs typeface="+mn-ea"/>
                <a:sym typeface="+mn-lt"/>
              </a:rPr>
              <a:t>浮点数的表示及转换</a:t>
            </a:r>
            <a:endParaRPr lang="en-US" altLang="zh-CN" sz="2800" b="1" dirty="0">
              <a:solidFill>
                <a:srgbClr val="42E6E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60829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1311780" y="1028700"/>
            <a:ext cx="1640426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定点数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cs typeface="+mn-ea"/>
                <a:sym typeface="+mn-lt"/>
              </a:rPr>
              <a:t>	</a:t>
            </a:r>
            <a:r>
              <a:rPr lang="zh-CN" altLang="en-US" sz="2800" b="1" dirty="0">
                <a:cs typeface="+mn-ea"/>
                <a:sym typeface="+mn-lt"/>
              </a:rPr>
              <a:t>浮点数表示及转换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0" name="内容占位符 2"/>
          <p:cNvSpPr txBox="1">
            <a:spLocks/>
          </p:cNvSpPr>
          <p:nvPr/>
        </p:nvSpPr>
        <p:spPr>
          <a:xfrm>
            <a:off x="1311780" y="1416458"/>
            <a:ext cx="9597686" cy="1122824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zh-CN" altLang="en-US" sz="2400" dirty="0">
                <a:cs typeface="+mn-ea"/>
                <a:sym typeface="+mn-lt"/>
              </a:rPr>
              <a:t>定点数表示数的范围受字长限制，表示数的范围有限，表示的精度有限。常用于表示纯整数、纯小数。</a:t>
            </a:r>
          </a:p>
        </p:txBody>
      </p:sp>
      <p:sp>
        <p:nvSpPr>
          <p:cNvPr id="8" name="标题 1"/>
          <p:cNvSpPr txBox="1">
            <a:spLocks/>
          </p:cNvSpPr>
          <p:nvPr/>
        </p:nvSpPr>
        <p:spPr>
          <a:xfrm>
            <a:off x="1311780" y="2658518"/>
            <a:ext cx="1640426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浮点数</a:t>
            </a:r>
          </a:p>
        </p:txBody>
      </p:sp>
      <p:sp>
        <p:nvSpPr>
          <p:cNvPr id="11" name="内容占位符 2"/>
          <p:cNvSpPr txBox="1">
            <a:spLocks/>
          </p:cNvSpPr>
          <p:nvPr/>
        </p:nvSpPr>
        <p:spPr>
          <a:xfrm>
            <a:off x="1297158" y="2966119"/>
            <a:ext cx="9597686" cy="3151965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zh-CN" sz="2800" dirty="0">
                <a:solidFill>
                  <a:srgbClr val="180D5B"/>
                </a:solidFill>
                <a:cs typeface="+mn-ea"/>
                <a:sym typeface="+mn-lt"/>
                <a:hlinkClick r:id="" action="ppaction://noaction"/>
              </a:rPr>
              <a:t>IEEE754</a:t>
            </a:r>
            <a:r>
              <a:rPr lang="zh-CN" altLang="en-US" sz="2800" dirty="0">
                <a:solidFill>
                  <a:srgbClr val="180D5B"/>
                </a:solidFill>
                <a:cs typeface="+mn-ea"/>
                <a:sym typeface="+mn-lt"/>
                <a:hlinkClick r:id="" action="ppaction://noaction"/>
              </a:rPr>
              <a:t>标准浮点数</a:t>
            </a:r>
            <a:r>
              <a:rPr lang="zh-CN" altLang="en-US" sz="2800" dirty="0">
                <a:cs typeface="+mn-ea"/>
                <a:sym typeface="+mn-lt"/>
              </a:rPr>
              <a:t>由阶码和尾数两个部分组成。</a:t>
            </a:r>
            <a:endParaRPr lang="en-US" altLang="zh-CN" sz="2800" dirty="0">
              <a:cs typeface="+mn-ea"/>
              <a:sym typeface="+mn-lt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2800" dirty="0">
                <a:cs typeface="+mn-ea"/>
                <a:sym typeface="+mn-lt"/>
              </a:rPr>
              <a:t>单精度格式</a:t>
            </a:r>
            <a:r>
              <a:rPr lang="en-US" altLang="zh-CN" sz="2800" dirty="0">
                <a:cs typeface="+mn-ea"/>
                <a:sym typeface="+mn-lt"/>
              </a:rPr>
              <a:t>: 32</a:t>
            </a:r>
            <a:r>
              <a:rPr lang="zh-CN" altLang="en-US" sz="2800" dirty="0">
                <a:cs typeface="+mn-ea"/>
                <a:sym typeface="+mn-lt"/>
              </a:rPr>
              <a:t>位</a:t>
            </a:r>
            <a:endParaRPr lang="en-US" altLang="zh-CN" sz="2800" dirty="0">
              <a:cs typeface="+mn-ea"/>
              <a:sym typeface="+mn-lt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zh-CN" sz="2800" dirty="0">
              <a:cs typeface="+mn-ea"/>
              <a:sym typeface="+mn-lt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2800" dirty="0">
                <a:cs typeface="+mn-ea"/>
                <a:sym typeface="+mn-lt"/>
              </a:rPr>
              <a:t>双精度格式</a:t>
            </a:r>
            <a:r>
              <a:rPr lang="en-US" altLang="zh-CN" sz="2800" dirty="0">
                <a:cs typeface="+mn-ea"/>
                <a:sym typeface="+mn-lt"/>
              </a:rPr>
              <a:t>: 64</a:t>
            </a:r>
            <a:r>
              <a:rPr lang="zh-CN" altLang="en-US" sz="2800" dirty="0">
                <a:cs typeface="+mn-ea"/>
                <a:sym typeface="+mn-lt"/>
              </a:rPr>
              <a:t>位</a:t>
            </a:r>
            <a:endParaRPr lang="en-US" altLang="zh-CN" sz="2800" dirty="0">
              <a:cs typeface="+mn-ea"/>
              <a:sym typeface="+mn-lt"/>
            </a:endParaRPr>
          </a:p>
        </p:txBody>
      </p:sp>
      <p:grpSp>
        <p:nvGrpSpPr>
          <p:cNvPr id="12" name="Group 4"/>
          <p:cNvGrpSpPr>
            <a:grpSpLocks/>
          </p:cNvGrpSpPr>
          <p:nvPr/>
        </p:nvGrpSpPr>
        <p:grpSpPr bwMode="auto">
          <a:xfrm>
            <a:off x="4509121" y="3436401"/>
            <a:ext cx="7070727" cy="1336676"/>
            <a:chOff x="970" y="1152"/>
            <a:chExt cx="4454" cy="842"/>
          </a:xfrm>
          <a:noFill/>
        </p:grpSpPr>
        <p:sp>
          <p:nvSpPr>
            <p:cNvPr id="13" name="Text Box 5"/>
            <p:cNvSpPr txBox="1">
              <a:spLocks noChangeAspect="1" noChangeArrowheads="1"/>
            </p:cNvSpPr>
            <p:nvPr/>
          </p:nvSpPr>
          <p:spPr bwMode="auto">
            <a:xfrm>
              <a:off x="1440" y="1152"/>
              <a:ext cx="212" cy="176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 algn="just"/>
              <a:r>
                <a:rPr kumimoji="1" lang="en-US" altLang="zh-CN" sz="2000" b="1">
                  <a:solidFill>
                    <a:srgbClr val="180D5B"/>
                  </a:solidFill>
                  <a:latin typeface="+mn-lt"/>
                  <a:ea typeface="+mn-ea"/>
                  <a:cs typeface="+mn-ea"/>
                  <a:sym typeface="+mn-lt"/>
                </a:rPr>
                <a:t>1</a:t>
              </a:r>
            </a:p>
          </p:txBody>
        </p:sp>
        <p:sp>
          <p:nvSpPr>
            <p:cNvPr id="14" name="Text Box 6"/>
            <p:cNvSpPr txBox="1">
              <a:spLocks noChangeAspect="1" noChangeArrowheads="1"/>
            </p:cNvSpPr>
            <p:nvPr/>
          </p:nvSpPr>
          <p:spPr bwMode="auto">
            <a:xfrm>
              <a:off x="2503" y="1152"/>
              <a:ext cx="233" cy="26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 algn="just"/>
              <a:r>
                <a:rPr kumimoji="1" lang="en-US" altLang="zh-CN" sz="2000" b="1" dirty="0">
                  <a:solidFill>
                    <a:srgbClr val="180D5B"/>
                  </a:solidFill>
                  <a:latin typeface="+mn-lt"/>
                  <a:ea typeface="+mn-ea"/>
                  <a:cs typeface="+mn-ea"/>
                  <a:sym typeface="+mn-lt"/>
                </a:rPr>
                <a:t>8</a:t>
              </a:r>
            </a:p>
          </p:txBody>
        </p:sp>
        <p:sp>
          <p:nvSpPr>
            <p:cNvPr id="15" name="Text Box 7"/>
            <p:cNvSpPr txBox="1">
              <a:spLocks noChangeAspect="1" noChangeArrowheads="1"/>
            </p:cNvSpPr>
            <p:nvPr/>
          </p:nvSpPr>
          <p:spPr bwMode="auto">
            <a:xfrm>
              <a:off x="4315" y="1152"/>
              <a:ext cx="389" cy="21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 algn="just"/>
              <a:r>
                <a:rPr kumimoji="1" lang="en-US" altLang="zh-CN" sz="2000" b="1">
                  <a:solidFill>
                    <a:srgbClr val="180D5B"/>
                  </a:solidFill>
                  <a:latin typeface="+mn-lt"/>
                  <a:ea typeface="+mn-ea"/>
                  <a:cs typeface="+mn-ea"/>
                  <a:sym typeface="+mn-lt"/>
                </a:rPr>
                <a:t>23</a:t>
              </a:r>
            </a:p>
          </p:txBody>
        </p:sp>
        <p:sp>
          <p:nvSpPr>
            <p:cNvPr id="16" name="Text Box 8"/>
            <p:cNvSpPr txBox="1">
              <a:spLocks noChangeAspect="1" noChangeArrowheads="1"/>
            </p:cNvSpPr>
            <p:nvPr/>
          </p:nvSpPr>
          <p:spPr bwMode="auto">
            <a:xfrm>
              <a:off x="970" y="1729"/>
              <a:ext cx="902" cy="26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 algn="just"/>
              <a:r>
                <a:rPr kumimoji="1" lang="en-US" altLang="zh-CN" sz="2000" b="1" dirty="0">
                  <a:solidFill>
                    <a:srgbClr val="180D5B"/>
                  </a:solidFill>
                  <a:latin typeface="+mn-lt"/>
                  <a:ea typeface="+mn-ea"/>
                  <a:cs typeface="+mn-ea"/>
                  <a:sym typeface="+mn-lt"/>
                </a:rPr>
                <a:t>S</a:t>
              </a:r>
              <a:r>
                <a:rPr kumimoji="1" lang="zh-CN" altLang="en-US" sz="2000" b="1" dirty="0">
                  <a:solidFill>
                    <a:srgbClr val="180D5B"/>
                  </a:solidFill>
                  <a:latin typeface="+mn-lt"/>
                  <a:ea typeface="+mn-ea"/>
                  <a:cs typeface="+mn-ea"/>
                  <a:sym typeface="+mn-lt"/>
                </a:rPr>
                <a:t>符号位</a:t>
              </a:r>
            </a:p>
            <a:p>
              <a:pPr algn="just"/>
              <a:endParaRPr kumimoji="1" lang="zh-CN" altLang="en-US" sz="2000" b="1" dirty="0">
                <a:solidFill>
                  <a:srgbClr val="180D5B"/>
                </a:solidFill>
                <a:latin typeface="+mn-lt"/>
                <a:ea typeface="+mn-ea"/>
                <a:cs typeface="+mn-ea"/>
                <a:sym typeface="+mn-lt"/>
              </a:endParaRPr>
            </a:p>
            <a:p>
              <a:pPr algn="just"/>
              <a:endParaRPr kumimoji="1" lang="zh-CN" altLang="en-US" sz="2000" b="1" dirty="0">
                <a:solidFill>
                  <a:srgbClr val="180D5B"/>
                </a:solidFill>
                <a:latin typeface="+mn-lt"/>
                <a:ea typeface="+mn-ea"/>
                <a:cs typeface="+mn-ea"/>
                <a:sym typeface="+mn-lt"/>
              </a:endParaRPr>
            </a:p>
            <a:p>
              <a:pPr algn="just"/>
              <a:endParaRPr kumimoji="1" lang="zh-CN" altLang="en-US" sz="2000" b="1" dirty="0">
                <a:solidFill>
                  <a:srgbClr val="180D5B"/>
                </a:solidFill>
                <a:latin typeface="+mn-lt"/>
                <a:ea typeface="+mn-ea"/>
                <a:cs typeface="+mn-ea"/>
                <a:sym typeface="+mn-lt"/>
              </a:endParaRPr>
            </a:p>
            <a:p>
              <a:pPr algn="just"/>
              <a:endParaRPr kumimoji="1" lang="zh-CN" altLang="en-US" sz="2000" b="1" dirty="0">
                <a:solidFill>
                  <a:srgbClr val="180D5B"/>
                </a:solidFill>
                <a:latin typeface="+mn-lt"/>
                <a:ea typeface="+mn-ea"/>
                <a:cs typeface="+mn-ea"/>
                <a:sym typeface="+mn-lt"/>
              </a:endParaRPr>
            </a:p>
            <a:p>
              <a:pPr algn="just"/>
              <a:endParaRPr kumimoji="1" lang="en-US" altLang="zh-CN" sz="2000" b="1" dirty="0">
                <a:solidFill>
                  <a:srgbClr val="180D5B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17" name="Group 9"/>
            <p:cNvGrpSpPr>
              <a:grpSpLocks noChangeAspect="1"/>
            </p:cNvGrpSpPr>
            <p:nvPr/>
          </p:nvGrpSpPr>
          <p:grpSpPr bwMode="auto">
            <a:xfrm>
              <a:off x="1288" y="1376"/>
              <a:ext cx="4136" cy="353"/>
              <a:chOff x="2520" y="11268"/>
              <a:chExt cx="7020" cy="624"/>
            </a:xfrm>
            <a:grpFill/>
          </p:grpSpPr>
          <p:grpSp>
            <p:nvGrpSpPr>
              <p:cNvPr id="23" name="Group 10"/>
              <p:cNvGrpSpPr>
                <a:grpSpLocks noChangeAspect="1"/>
              </p:cNvGrpSpPr>
              <p:nvPr/>
            </p:nvGrpSpPr>
            <p:grpSpPr bwMode="auto">
              <a:xfrm>
                <a:off x="2520" y="11424"/>
                <a:ext cx="7020" cy="468"/>
                <a:chOff x="2520" y="11424"/>
                <a:chExt cx="7020" cy="468"/>
              </a:xfrm>
              <a:grpFill/>
            </p:grpSpPr>
            <p:sp>
              <p:nvSpPr>
                <p:cNvPr id="27" name="Rectangle 11"/>
                <p:cNvSpPr>
                  <a:spLocks noChangeAspect="1" noChangeArrowheads="1"/>
                </p:cNvSpPr>
                <p:nvPr/>
              </p:nvSpPr>
              <p:spPr bwMode="auto">
                <a:xfrm>
                  <a:off x="2520" y="11424"/>
                  <a:ext cx="7020" cy="468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 sz="2000">
                    <a:solidFill>
                      <a:srgbClr val="180D5B"/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28" name="Line 12"/>
                <p:cNvSpPr>
                  <a:spLocks noChangeAspect="1" noChangeShapeType="1"/>
                </p:cNvSpPr>
                <p:nvPr/>
              </p:nvSpPr>
              <p:spPr bwMode="auto">
                <a:xfrm>
                  <a:off x="3240" y="11424"/>
                  <a:ext cx="0" cy="468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 sz="2000">
                    <a:solidFill>
                      <a:srgbClr val="180D5B"/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29" name="Line 13"/>
                <p:cNvSpPr>
                  <a:spLocks noChangeAspect="1" noChangeShapeType="1"/>
                </p:cNvSpPr>
                <p:nvPr/>
              </p:nvSpPr>
              <p:spPr bwMode="auto">
                <a:xfrm>
                  <a:off x="6480" y="11424"/>
                  <a:ext cx="0" cy="468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 sz="2000">
                    <a:solidFill>
                      <a:srgbClr val="180D5B"/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4" name="AutoShape 14"/>
              <p:cNvSpPr>
                <a:spLocks noChangeAspect="1"/>
              </p:cNvSpPr>
              <p:nvPr/>
            </p:nvSpPr>
            <p:spPr bwMode="auto">
              <a:xfrm rot="5400000">
                <a:off x="2802" y="10986"/>
                <a:ext cx="156" cy="720"/>
              </a:xfrm>
              <a:prstGeom prst="leftBrace">
                <a:avLst>
                  <a:gd name="adj1" fmla="val 38462"/>
                  <a:gd name="adj2" fmla="val 52500"/>
                </a:avLst>
              </a:prstGeom>
              <a:grpFill/>
              <a:ln w="9525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9pPr>
              </a:lstStyle>
              <a:p>
                <a:endParaRPr lang="zh-CN" altLang="en-US" sz="2000">
                  <a:solidFill>
                    <a:srgbClr val="180D5B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5" name="AutoShape 15"/>
              <p:cNvSpPr>
                <a:spLocks noChangeAspect="1"/>
              </p:cNvSpPr>
              <p:nvPr/>
            </p:nvSpPr>
            <p:spPr bwMode="auto">
              <a:xfrm rot="5400000">
                <a:off x="4782" y="9726"/>
                <a:ext cx="156" cy="3240"/>
              </a:xfrm>
              <a:prstGeom prst="leftBrace">
                <a:avLst>
                  <a:gd name="adj1" fmla="val 173077"/>
                  <a:gd name="adj2" fmla="val 52500"/>
                </a:avLst>
              </a:prstGeom>
              <a:grpFill/>
              <a:ln w="9525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9pPr>
              </a:lstStyle>
              <a:p>
                <a:endParaRPr lang="zh-CN" altLang="en-US" sz="2000">
                  <a:solidFill>
                    <a:srgbClr val="180D5B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6" name="AutoShape 16"/>
              <p:cNvSpPr>
                <a:spLocks noChangeAspect="1"/>
              </p:cNvSpPr>
              <p:nvPr/>
            </p:nvSpPr>
            <p:spPr bwMode="auto">
              <a:xfrm rot="5400000">
                <a:off x="7932" y="9816"/>
                <a:ext cx="156" cy="3060"/>
              </a:xfrm>
              <a:prstGeom prst="leftBrace">
                <a:avLst>
                  <a:gd name="adj1" fmla="val 163462"/>
                  <a:gd name="adj2" fmla="val 52500"/>
                </a:avLst>
              </a:prstGeom>
              <a:grpFill/>
              <a:ln w="9525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9pPr>
              </a:lstStyle>
              <a:p>
                <a:endParaRPr lang="zh-CN" altLang="en-US" sz="2000">
                  <a:solidFill>
                    <a:srgbClr val="180D5B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18" name="Line 17"/>
            <p:cNvSpPr>
              <a:spLocks noChangeAspect="1" noChangeShapeType="1"/>
            </p:cNvSpPr>
            <p:nvPr/>
          </p:nvSpPr>
          <p:spPr bwMode="auto">
            <a:xfrm flipV="1">
              <a:off x="1182" y="1553"/>
              <a:ext cx="318" cy="1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sz="2000">
                <a:solidFill>
                  <a:srgbClr val="180D5B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Text Box 18"/>
            <p:cNvSpPr txBox="1">
              <a:spLocks noChangeAspect="1" noChangeArrowheads="1"/>
            </p:cNvSpPr>
            <p:nvPr/>
          </p:nvSpPr>
          <p:spPr bwMode="auto">
            <a:xfrm>
              <a:off x="2243" y="1464"/>
              <a:ext cx="530" cy="26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 algn="just"/>
              <a:r>
                <a:rPr kumimoji="1" lang="en-US" altLang="zh-CN" sz="2000" b="1" dirty="0">
                  <a:solidFill>
                    <a:srgbClr val="180D5B"/>
                  </a:solidFill>
                  <a:latin typeface="+mn-lt"/>
                  <a:ea typeface="+mn-ea"/>
                  <a:cs typeface="+mn-ea"/>
                  <a:sym typeface="+mn-lt"/>
                </a:rPr>
                <a:t>E</a:t>
              </a:r>
            </a:p>
          </p:txBody>
        </p:sp>
        <p:sp>
          <p:nvSpPr>
            <p:cNvPr id="20" name="Text Box 19"/>
            <p:cNvSpPr txBox="1">
              <a:spLocks noChangeAspect="1" noChangeArrowheads="1"/>
            </p:cNvSpPr>
            <p:nvPr/>
          </p:nvSpPr>
          <p:spPr bwMode="auto">
            <a:xfrm>
              <a:off x="3939" y="1464"/>
              <a:ext cx="531" cy="26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 algn="just"/>
              <a:r>
                <a:rPr kumimoji="1" lang="en-US" altLang="zh-CN" sz="2000" b="1" dirty="0">
                  <a:solidFill>
                    <a:srgbClr val="180D5B"/>
                  </a:solidFill>
                  <a:latin typeface="+mn-lt"/>
                  <a:ea typeface="+mn-ea"/>
                  <a:cs typeface="+mn-ea"/>
                  <a:sym typeface="+mn-lt"/>
                </a:rPr>
                <a:t>M</a:t>
              </a:r>
            </a:p>
          </p:txBody>
        </p:sp>
        <p:sp>
          <p:nvSpPr>
            <p:cNvPr id="21" name="Text Box 20"/>
            <p:cNvSpPr txBox="1">
              <a:spLocks noChangeAspect="1" noChangeArrowheads="1"/>
            </p:cNvSpPr>
            <p:nvPr/>
          </p:nvSpPr>
          <p:spPr bwMode="auto">
            <a:xfrm>
              <a:off x="2339" y="1729"/>
              <a:ext cx="637" cy="26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 algn="just"/>
              <a:r>
                <a:rPr kumimoji="1" lang="zh-CN" altLang="en-US" sz="2000" b="1" dirty="0">
                  <a:solidFill>
                    <a:srgbClr val="180D5B"/>
                  </a:solidFill>
                  <a:latin typeface="+mn-lt"/>
                  <a:ea typeface="+mn-ea"/>
                  <a:cs typeface="+mn-ea"/>
                  <a:sym typeface="+mn-lt"/>
                </a:rPr>
                <a:t>阶码</a:t>
              </a:r>
            </a:p>
          </p:txBody>
        </p:sp>
        <p:sp>
          <p:nvSpPr>
            <p:cNvPr id="22" name="Text Box 21"/>
            <p:cNvSpPr txBox="1">
              <a:spLocks noChangeAspect="1" noChangeArrowheads="1"/>
            </p:cNvSpPr>
            <p:nvPr/>
          </p:nvSpPr>
          <p:spPr bwMode="auto">
            <a:xfrm>
              <a:off x="4045" y="1729"/>
              <a:ext cx="707" cy="26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 algn="just"/>
              <a:r>
                <a:rPr kumimoji="1" lang="zh-CN" altLang="en-US" sz="2000" b="1" dirty="0">
                  <a:solidFill>
                    <a:srgbClr val="180D5B"/>
                  </a:solidFill>
                  <a:latin typeface="+mn-lt"/>
                  <a:ea typeface="+mn-ea"/>
                  <a:cs typeface="+mn-ea"/>
                  <a:sym typeface="+mn-lt"/>
                </a:rPr>
                <a:t>尾数</a:t>
              </a:r>
            </a:p>
          </p:txBody>
        </p:sp>
      </p:grpSp>
      <p:grpSp>
        <p:nvGrpSpPr>
          <p:cNvPr id="30" name="Group 44"/>
          <p:cNvGrpSpPr>
            <a:grpSpLocks/>
          </p:cNvGrpSpPr>
          <p:nvPr/>
        </p:nvGrpSpPr>
        <p:grpSpPr bwMode="auto">
          <a:xfrm>
            <a:off x="4509123" y="5070320"/>
            <a:ext cx="7070725" cy="1336677"/>
            <a:chOff x="816" y="3120"/>
            <a:chExt cx="4454" cy="842"/>
          </a:xfrm>
        </p:grpSpPr>
        <p:sp>
          <p:nvSpPr>
            <p:cNvPr id="31" name="Text Box 24"/>
            <p:cNvSpPr txBox="1">
              <a:spLocks noChangeAspect="1" noChangeArrowheads="1"/>
            </p:cNvSpPr>
            <p:nvPr/>
          </p:nvSpPr>
          <p:spPr bwMode="auto">
            <a:xfrm>
              <a:off x="1286" y="3120"/>
              <a:ext cx="212" cy="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 algn="just"/>
              <a:r>
                <a:rPr kumimoji="1" lang="en-US" altLang="zh-CN" sz="2000" b="1">
                  <a:solidFill>
                    <a:srgbClr val="180D5B"/>
                  </a:solidFill>
                  <a:latin typeface="+mn-lt"/>
                  <a:ea typeface="+mn-ea"/>
                  <a:cs typeface="+mn-ea"/>
                  <a:sym typeface="+mn-lt"/>
                </a:rPr>
                <a:t>1</a:t>
              </a:r>
            </a:p>
          </p:txBody>
        </p:sp>
        <p:sp>
          <p:nvSpPr>
            <p:cNvPr id="32" name="Text Box 25"/>
            <p:cNvSpPr txBox="1">
              <a:spLocks noChangeAspect="1" noChangeArrowheads="1"/>
            </p:cNvSpPr>
            <p:nvPr/>
          </p:nvSpPr>
          <p:spPr bwMode="auto">
            <a:xfrm>
              <a:off x="2329" y="3120"/>
              <a:ext cx="389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 algn="just"/>
              <a:r>
                <a:rPr kumimoji="1" lang="en-US" altLang="zh-CN" sz="2000" b="1" dirty="0">
                  <a:solidFill>
                    <a:srgbClr val="180D5B"/>
                  </a:solidFill>
                  <a:latin typeface="+mn-lt"/>
                  <a:ea typeface="+mn-ea"/>
                  <a:cs typeface="+mn-ea"/>
                  <a:sym typeface="+mn-lt"/>
                </a:rPr>
                <a:t>11</a:t>
              </a:r>
            </a:p>
          </p:txBody>
        </p:sp>
        <p:sp>
          <p:nvSpPr>
            <p:cNvPr id="33" name="Text Box 26"/>
            <p:cNvSpPr txBox="1">
              <a:spLocks noChangeAspect="1" noChangeArrowheads="1"/>
            </p:cNvSpPr>
            <p:nvPr/>
          </p:nvSpPr>
          <p:spPr bwMode="auto">
            <a:xfrm>
              <a:off x="4161" y="3120"/>
              <a:ext cx="389" cy="2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 algn="just"/>
              <a:r>
                <a:rPr kumimoji="1" lang="en-US" altLang="zh-CN" sz="2000" b="1">
                  <a:solidFill>
                    <a:srgbClr val="180D5B"/>
                  </a:solidFill>
                  <a:latin typeface="+mn-lt"/>
                  <a:ea typeface="+mn-ea"/>
                  <a:cs typeface="+mn-ea"/>
                  <a:sym typeface="+mn-lt"/>
                </a:rPr>
                <a:t>52</a:t>
              </a:r>
            </a:p>
          </p:txBody>
        </p:sp>
        <p:sp>
          <p:nvSpPr>
            <p:cNvPr id="34" name="Text Box 27"/>
            <p:cNvSpPr txBox="1">
              <a:spLocks noChangeAspect="1" noChangeArrowheads="1"/>
            </p:cNvSpPr>
            <p:nvPr/>
          </p:nvSpPr>
          <p:spPr bwMode="auto">
            <a:xfrm>
              <a:off x="816" y="3697"/>
              <a:ext cx="902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 algn="just"/>
              <a:r>
                <a:rPr kumimoji="1" lang="en-US" altLang="zh-CN" sz="2000" b="1">
                  <a:solidFill>
                    <a:srgbClr val="180D5B"/>
                  </a:solidFill>
                  <a:latin typeface="+mn-lt"/>
                  <a:ea typeface="+mn-ea"/>
                  <a:cs typeface="+mn-ea"/>
                  <a:sym typeface="+mn-lt"/>
                </a:rPr>
                <a:t>S</a:t>
              </a:r>
              <a:r>
                <a:rPr kumimoji="1" lang="zh-CN" altLang="en-US" sz="2000" b="1">
                  <a:solidFill>
                    <a:srgbClr val="180D5B"/>
                  </a:solidFill>
                  <a:latin typeface="+mn-lt"/>
                  <a:ea typeface="+mn-ea"/>
                  <a:cs typeface="+mn-ea"/>
                  <a:sym typeface="+mn-lt"/>
                </a:rPr>
                <a:t>符号位</a:t>
              </a:r>
            </a:p>
            <a:p>
              <a:pPr algn="just"/>
              <a:endParaRPr kumimoji="1" lang="zh-CN" altLang="en-US" sz="2000" b="1">
                <a:solidFill>
                  <a:srgbClr val="180D5B"/>
                </a:solidFill>
                <a:latin typeface="+mn-lt"/>
                <a:ea typeface="+mn-ea"/>
                <a:cs typeface="+mn-ea"/>
                <a:sym typeface="+mn-lt"/>
              </a:endParaRPr>
            </a:p>
            <a:p>
              <a:pPr algn="just"/>
              <a:endParaRPr kumimoji="1" lang="zh-CN" altLang="en-US" sz="2000" b="1">
                <a:solidFill>
                  <a:srgbClr val="180D5B"/>
                </a:solidFill>
                <a:latin typeface="+mn-lt"/>
                <a:ea typeface="+mn-ea"/>
                <a:cs typeface="+mn-ea"/>
                <a:sym typeface="+mn-lt"/>
              </a:endParaRPr>
            </a:p>
            <a:p>
              <a:pPr algn="just"/>
              <a:endParaRPr kumimoji="1" lang="zh-CN" altLang="en-US" sz="2000" b="1">
                <a:solidFill>
                  <a:srgbClr val="180D5B"/>
                </a:solidFill>
                <a:latin typeface="+mn-lt"/>
                <a:ea typeface="+mn-ea"/>
                <a:cs typeface="+mn-ea"/>
                <a:sym typeface="+mn-lt"/>
              </a:endParaRPr>
            </a:p>
            <a:p>
              <a:pPr algn="just"/>
              <a:endParaRPr kumimoji="1" lang="zh-CN" altLang="en-US" sz="2000" b="1">
                <a:solidFill>
                  <a:srgbClr val="180D5B"/>
                </a:solidFill>
                <a:latin typeface="+mn-lt"/>
                <a:ea typeface="+mn-ea"/>
                <a:cs typeface="+mn-ea"/>
                <a:sym typeface="+mn-lt"/>
              </a:endParaRPr>
            </a:p>
            <a:p>
              <a:pPr algn="just"/>
              <a:endParaRPr kumimoji="1" lang="en-US" altLang="zh-CN" sz="2000" b="1">
                <a:solidFill>
                  <a:srgbClr val="180D5B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35" name="Group 28"/>
            <p:cNvGrpSpPr>
              <a:grpSpLocks noChangeAspect="1"/>
            </p:cNvGrpSpPr>
            <p:nvPr/>
          </p:nvGrpSpPr>
          <p:grpSpPr bwMode="auto">
            <a:xfrm>
              <a:off x="1134" y="3344"/>
              <a:ext cx="4136" cy="353"/>
              <a:chOff x="2520" y="11268"/>
              <a:chExt cx="7020" cy="624"/>
            </a:xfrm>
          </p:grpSpPr>
          <p:grpSp>
            <p:nvGrpSpPr>
              <p:cNvPr id="41" name="Group 29"/>
              <p:cNvGrpSpPr>
                <a:grpSpLocks noChangeAspect="1"/>
              </p:cNvGrpSpPr>
              <p:nvPr/>
            </p:nvGrpSpPr>
            <p:grpSpPr bwMode="auto">
              <a:xfrm>
                <a:off x="2520" y="11424"/>
                <a:ext cx="7020" cy="468"/>
                <a:chOff x="2520" y="11424"/>
                <a:chExt cx="7020" cy="468"/>
              </a:xfrm>
            </p:grpSpPr>
            <p:sp>
              <p:nvSpPr>
                <p:cNvPr id="45" name="Rectangle 30"/>
                <p:cNvSpPr>
                  <a:spLocks noChangeAspect="1" noChangeArrowheads="1"/>
                </p:cNvSpPr>
                <p:nvPr/>
              </p:nvSpPr>
              <p:spPr bwMode="auto">
                <a:xfrm>
                  <a:off x="2520" y="11424"/>
                  <a:ext cx="7020" cy="468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 sz="2000">
                    <a:solidFill>
                      <a:srgbClr val="180D5B"/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6" name="Line 31"/>
                <p:cNvSpPr>
                  <a:spLocks noChangeAspect="1" noChangeShapeType="1"/>
                </p:cNvSpPr>
                <p:nvPr/>
              </p:nvSpPr>
              <p:spPr bwMode="auto">
                <a:xfrm>
                  <a:off x="3240" y="11424"/>
                  <a:ext cx="0" cy="46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 sz="2000">
                    <a:solidFill>
                      <a:srgbClr val="180D5B"/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7" name="Line 32"/>
                <p:cNvSpPr>
                  <a:spLocks noChangeAspect="1" noChangeShapeType="1"/>
                </p:cNvSpPr>
                <p:nvPr/>
              </p:nvSpPr>
              <p:spPr bwMode="auto">
                <a:xfrm>
                  <a:off x="6480" y="11424"/>
                  <a:ext cx="0" cy="46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 sz="2000">
                    <a:solidFill>
                      <a:srgbClr val="180D5B"/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2" name="AutoShape 33"/>
              <p:cNvSpPr>
                <a:spLocks noChangeAspect="1"/>
              </p:cNvSpPr>
              <p:nvPr/>
            </p:nvSpPr>
            <p:spPr bwMode="auto">
              <a:xfrm rot="5400000">
                <a:off x="2802" y="10986"/>
                <a:ext cx="156" cy="720"/>
              </a:xfrm>
              <a:prstGeom prst="leftBrace">
                <a:avLst>
                  <a:gd name="adj1" fmla="val 38462"/>
                  <a:gd name="adj2" fmla="val 52500"/>
                </a:avLst>
              </a:prstGeom>
              <a:noFill/>
              <a:ln w="9525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9pPr>
              </a:lstStyle>
              <a:p>
                <a:endParaRPr lang="zh-CN" altLang="en-US" sz="2000">
                  <a:solidFill>
                    <a:srgbClr val="180D5B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3" name="AutoShape 34"/>
              <p:cNvSpPr>
                <a:spLocks noChangeAspect="1"/>
              </p:cNvSpPr>
              <p:nvPr/>
            </p:nvSpPr>
            <p:spPr bwMode="auto">
              <a:xfrm rot="5400000">
                <a:off x="4782" y="9726"/>
                <a:ext cx="156" cy="3240"/>
              </a:xfrm>
              <a:prstGeom prst="leftBrace">
                <a:avLst>
                  <a:gd name="adj1" fmla="val 173077"/>
                  <a:gd name="adj2" fmla="val 52500"/>
                </a:avLst>
              </a:prstGeom>
              <a:noFill/>
              <a:ln w="9525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9pPr>
              </a:lstStyle>
              <a:p>
                <a:endParaRPr lang="zh-CN" altLang="en-US" sz="2000">
                  <a:solidFill>
                    <a:srgbClr val="180D5B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4" name="AutoShape 35"/>
              <p:cNvSpPr>
                <a:spLocks noChangeAspect="1"/>
              </p:cNvSpPr>
              <p:nvPr/>
            </p:nvSpPr>
            <p:spPr bwMode="auto">
              <a:xfrm rot="5400000">
                <a:off x="7932" y="9816"/>
                <a:ext cx="156" cy="3060"/>
              </a:xfrm>
              <a:prstGeom prst="leftBrace">
                <a:avLst>
                  <a:gd name="adj1" fmla="val 163462"/>
                  <a:gd name="adj2" fmla="val 52500"/>
                </a:avLst>
              </a:prstGeom>
              <a:noFill/>
              <a:ln w="9525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9pPr>
              </a:lstStyle>
              <a:p>
                <a:endParaRPr lang="zh-CN" altLang="en-US" sz="2000">
                  <a:solidFill>
                    <a:srgbClr val="180D5B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36" name="Line 36"/>
            <p:cNvSpPr>
              <a:spLocks noChangeAspect="1" noChangeShapeType="1"/>
            </p:cNvSpPr>
            <p:nvPr/>
          </p:nvSpPr>
          <p:spPr bwMode="auto">
            <a:xfrm flipV="1">
              <a:off x="1028" y="3521"/>
              <a:ext cx="318" cy="1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 sz="2000">
                <a:solidFill>
                  <a:srgbClr val="180D5B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" name="Text Box 37"/>
            <p:cNvSpPr txBox="1">
              <a:spLocks noChangeAspect="1" noChangeArrowheads="1"/>
            </p:cNvSpPr>
            <p:nvPr/>
          </p:nvSpPr>
          <p:spPr bwMode="auto">
            <a:xfrm>
              <a:off x="2089" y="3432"/>
              <a:ext cx="53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 algn="just"/>
              <a:r>
                <a:rPr kumimoji="1" lang="en-US" altLang="zh-CN" sz="2000" b="1">
                  <a:solidFill>
                    <a:srgbClr val="180D5B"/>
                  </a:solidFill>
                  <a:latin typeface="+mn-lt"/>
                  <a:ea typeface="+mn-ea"/>
                  <a:cs typeface="+mn-ea"/>
                  <a:sym typeface="+mn-lt"/>
                </a:rPr>
                <a:t>E</a:t>
              </a:r>
            </a:p>
          </p:txBody>
        </p:sp>
        <p:sp>
          <p:nvSpPr>
            <p:cNvPr id="38" name="Text Box 38"/>
            <p:cNvSpPr txBox="1">
              <a:spLocks noChangeAspect="1" noChangeArrowheads="1"/>
            </p:cNvSpPr>
            <p:nvPr/>
          </p:nvSpPr>
          <p:spPr bwMode="auto">
            <a:xfrm>
              <a:off x="3785" y="3432"/>
              <a:ext cx="531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 algn="just"/>
              <a:r>
                <a:rPr kumimoji="1" lang="en-US" altLang="zh-CN" sz="2000" b="1">
                  <a:solidFill>
                    <a:srgbClr val="180D5B"/>
                  </a:solidFill>
                  <a:latin typeface="+mn-lt"/>
                  <a:ea typeface="+mn-ea"/>
                  <a:cs typeface="+mn-ea"/>
                  <a:sym typeface="+mn-lt"/>
                </a:rPr>
                <a:t>M</a:t>
              </a:r>
            </a:p>
          </p:txBody>
        </p:sp>
        <p:sp>
          <p:nvSpPr>
            <p:cNvPr id="39" name="Text Box 39"/>
            <p:cNvSpPr txBox="1">
              <a:spLocks noChangeAspect="1" noChangeArrowheads="1"/>
            </p:cNvSpPr>
            <p:nvPr/>
          </p:nvSpPr>
          <p:spPr bwMode="auto">
            <a:xfrm>
              <a:off x="2185" y="3697"/>
              <a:ext cx="637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 algn="just"/>
              <a:r>
                <a:rPr kumimoji="1" lang="zh-CN" altLang="en-US" sz="2000" b="1">
                  <a:solidFill>
                    <a:srgbClr val="180D5B"/>
                  </a:solidFill>
                  <a:latin typeface="+mn-lt"/>
                  <a:ea typeface="+mn-ea"/>
                  <a:cs typeface="+mn-ea"/>
                  <a:sym typeface="+mn-lt"/>
                </a:rPr>
                <a:t>阶码</a:t>
              </a:r>
            </a:p>
          </p:txBody>
        </p:sp>
        <p:sp>
          <p:nvSpPr>
            <p:cNvPr id="40" name="Text Box 40"/>
            <p:cNvSpPr txBox="1">
              <a:spLocks noChangeAspect="1" noChangeArrowheads="1"/>
            </p:cNvSpPr>
            <p:nvPr/>
          </p:nvSpPr>
          <p:spPr bwMode="auto">
            <a:xfrm>
              <a:off x="3891" y="3697"/>
              <a:ext cx="707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 algn="just"/>
              <a:r>
                <a:rPr kumimoji="1" lang="zh-CN" altLang="en-US" sz="2000" b="1">
                  <a:solidFill>
                    <a:srgbClr val="180D5B"/>
                  </a:solidFill>
                  <a:latin typeface="+mn-lt"/>
                  <a:ea typeface="+mn-ea"/>
                  <a:cs typeface="+mn-ea"/>
                  <a:sym typeface="+mn-lt"/>
                </a:rPr>
                <a:t>尾数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313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1185066" y="1286378"/>
            <a:ext cx="1640426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移码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cs typeface="+mn-ea"/>
                <a:sym typeface="+mn-lt"/>
              </a:rPr>
              <a:t>	</a:t>
            </a:r>
            <a:r>
              <a:rPr lang="zh-CN" altLang="en-US" sz="2800" b="1" dirty="0">
                <a:cs typeface="+mn-ea"/>
                <a:sym typeface="+mn-lt"/>
              </a:rPr>
              <a:t>浮点数表示及转换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0" name="内容占位符 2"/>
          <p:cNvSpPr txBox="1">
            <a:spLocks/>
          </p:cNvSpPr>
          <p:nvPr/>
        </p:nvSpPr>
        <p:spPr>
          <a:xfrm>
            <a:off x="1185066" y="1786286"/>
            <a:ext cx="8401386" cy="5071713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zh-CN" altLang="en-US" sz="2800" dirty="0">
                <a:cs typeface="+mn-ea"/>
                <a:sym typeface="+mn-lt"/>
              </a:rPr>
              <a:t>对</a:t>
            </a:r>
            <a:r>
              <a:rPr lang="zh-CN" altLang="en-US" sz="2800" dirty="0">
                <a:solidFill>
                  <a:srgbClr val="FF0000"/>
                </a:solidFill>
                <a:cs typeface="+mn-ea"/>
                <a:sym typeface="+mn-lt"/>
              </a:rPr>
              <a:t>真值补码的符号位取反</a:t>
            </a:r>
            <a:r>
              <a:rPr lang="en-US" altLang="zh-CN" sz="2800" dirty="0">
                <a:cs typeface="+mn-ea"/>
                <a:sym typeface="+mn-lt"/>
              </a:rPr>
              <a:t>, </a:t>
            </a:r>
            <a:r>
              <a:rPr lang="zh-CN" altLang="en-US" sz="2800" dirty="0">
                <a:cs typeface="+mn-ea"/>
                <a:sym typeface="+mn-lt"/>
              </a:rPr>
              <a:t>相当于真值增加</a:t>
            </a:r>
            <a:r>
              <a:rPr lang="en-US" altLang="zh-CN" sz="2800" dirty="0">
                <a:cs typeface="+mn-ea"/>
                <a:sym typeface="+mn-lt"/>
              </a:rPr>
              <a:t>128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zh-CN" sz="2800" dirty="0">
                <a:cs typeface="+mn-ea"/>
                <a:sym typeface="+mn-lt"/>
              </a:rPr>
              <a:t>10000000-&gt;00000000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zh-CN" sz="2800" dirty="0">
                <a:cs typeface="+mn-ea"/>
                <a:sym typeface="+mn-lt"/>
              </a:rPr>
              <a:t>00000000-&gt;10000000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zh-CN" altLang="en-US" sz="2800" dirty="0">
                <a:cs typeface="+mn-ea"/>
                <a:sym typeface="+mn-lt"/>
              </a:rPr>
              <a:t>一般用移码</a:t>
            </a:r>
            <a:r>
              <a:rPr lang="zh-CN" altLang="en-US" sz="2800" dirty="0" smtClean="0">
                <a:cs typeface="+mn-ea"/>
                <a:sym typeface="+mn-lt"/>
              </a:rPr>
              <a:t>减</a:t>
            </a:r>
            <a:r>
              <a:rPr lang="en-US" altLang="zh-CN" sz="2800" dirty="0" smtClean="0">
                <a:cs typeface="+mn-ea"/>
                <a:sym typeface="+mn-lt"/>
              </a:rPr>
              <a:t>1</a:t>
            </a:r>
            <a:r>
              <a:rPr lang="zh-CN" altLang="en-US" sz="2800" dirty="0" smtClean="0">
                <a:cs typeface="+mn-ea"/>
                <a:sym typeface="+mn-lt"/>
              </a:rPr>
              <a:t>作</a:t>
            </a:r>
            <a:r>
              <a:rPr lang="zh-CN" altLang="en-US" sz="2800" dirty="0">
                <a:solidFill>
                  <a:srgbClr val="FF0000"/>
                </a:solidFill>
                <a:cs typeface="+mn-ea"/>
                <a:sym typeface="+mn-lt"/>
              </a:rPr>
              <a:t>浮点数的阶码</a:t>
            </a:r>
            <a:r>
              <a:rPr lang="zh-CN" altLang="en-US" sz="2800" dirty="0" smtClean="0">
                <a:cs typeface="+mn-ea"/>
                <a:sym typeface="+mn-lt"/>
              </a:rPr>
              <a:t>。</a:t>
            </a:r>
            <a:endParaRPr lang="en-US" altLang="zh-CN" sz="2800" dirty="0" smtClean="0">
              <a:cs typeface="+mn-ea"/>
              <a:sym typeface="+mn-lt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zh-CN" altLang="en-US" sz="2800" b="1" dirty="0" smtClean="0">
                <a:cs typeface="+mn-ea"/>
                <a:sym typeface="+mn-lt"/>
              </a:rPr>
              <a:t>（</a:t>
            </a:r>
            <a:r>
              <a:rPr lang="zh-CN" altLang="en-US" sz="2800" b="1" dirty="0">
                <a:cs typeface="+mn-ea"/>
                <a:sym typeface="+mn-lt"/>
              </a:rPr>
              <a:t>十进制数</a:t>
            </a:r>
            <a:r>
              <a:rPr lang="en-US" altLang="zh-CN" sz="2800" b="1" dirty="0">
                <a:cs typeface="+mn-ea"/>
                <a:sym typeface="+mn-lt"/>
              </a:rPr>
              <a:t>+127</a:t>
            </a:r>
            <a:r>
              <a:rPr lang="zh-CN" altLang="en-US" sz="2800" b="1" dirty="0">
                <a:cs typeface="+mn-ea"/>
                <a:sym typeface="+mn-lt"/>
              </a:rPr>
              <a:t>）</a:t>
            </a:r>
            <a:r>
              <a:rPr lang="en-US" altLang="zh-CN" sz="2800" b="1" dirty="0">
                <a:cs typeface="+mn-ea"/>
                <a:sym typeface="+mn-lt"/>
              </a:rPr>
              <a:t>B = </a:t>
            </a:r>
            <a:r>
              <a:rPr lang="zh-CN" altLang="en-US" sz="2800" b="1" dirty="0">
                <a:cs typeface="+mn-ea"/>
                <a:sym typeface="+mn-lt"/>
              </a:rPr>
              <a:t>对应的</a:t>
            </a:r>
            <a:r>
              <a:rPr lang="zh-CN" altLang="en-US" sz="2800" b="1" dirty="0" smtClean="0">
                <a:cs typeface="+mn-ea"/>
                <a:sym typeface="+mn-lt"/>
              </a:rPr>
              <a:t>移码</a:t>
            </a:r>
            <a:endParaRPr lang="en-US" altLang="zh-CN" sz="2800" b="1" dirty="0" smtClean="0">
              <a:cs typeface="+mn-ea"/>
              <a:sym typeface="+mn-lt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zh-CN" altLang="en-US" sz="2800" b="1" dirty="0" smtClean="0">
                <a:cs typeface="+mn-ea"/>
                <a:sym typeface="+mn-lt"/>
              </a:rPr>
              <a:t>比如  阶码为</a:t>
            </a:r>
            <a:r>
              <a:rPr lang="en-US" altLang="zh-CN" sz="2800" b="1" dirty="0" smtClean="0">
                <a:cs typeface="+mn-ea"/>
                <a:sym typeface="+mn-lt"/>
              </a:rPr>
              <a:t>-5      </a:t>
            </a:r>
            <a:r>
              <a:rPr lang="zh-CN" altLang="en-US" sz="2800" b="1" dirty="0" smtClean="0">
                <a:cs typeface="+mn-ea"/>
                <a:sym typeface="+mn-lt"/>
              </a:rPr>
              <a:t>将表示为</a:t>
            </a:r>
            <a:r>
              <a:rPr lang="en-US" altLang="zh-CN" sz="2800" b="1" dirty="0" smtClean="0">
                <a:cs typeface="+mn-ea"/>
                <a:sym typeface="+mn-lt"/>
              </a:rPr>
              <a:t>-5+127=122-&gt;7AH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2800" b="1" dirty="0" smtClean="0">
                <a:cs typeface="+mn-ea"/>
                <a:sym typeface="+mn-lt"/>
              </a:rPr>
              <a:t>         阶</a:t>
            </a:r>
            <a:r>
              <a:rPr lang="zh-CN" altLang="en-US" sz="2800" b="1" dirty="0">
                <a:cs typeface="+mn-ea"/>
                <a:sym typeface="+mn-lt"/>
              </a:rPr>
              <a:t>码</a:t>
            </a:r>
            <a:r>
              <a:rPr lang="zh-CN" altLang="en-US" sz="2800" b="1" dirty="0" smtClean="0">
                <a:cs typeface="+mn-ea"/>
                <a:sym typeface="+mn-lt"/>
              </a:rPr>
              <a:t>为</a:t>
            </a:r>
            <a:r>
              <a:rPr lang="en-US" altLang="zh-CN" sz="2800" b="1" dirty="0" smtClean="0">
                <a:cs typeface="+mn-ea"/>
                <a:sym typeface="+mn-lt"/>
              </a:rPr>
              <a:t>10     </a:t>
            </a:r>
            <a:r>
              <a:rPr lang="zh-CN" altLang="en-US" sz="2800" b="1" dirty="0" smtClean="0">
                <a:cs typeface="+mn-ea"/>
                <a:sym typeface="+mn-lt"/>
              </a:rPr>
              <a:t>将</a:t>
            </a:r>
            <a:r>
              <a:rPr lang="zh-CN" altLang="en-US" sz="2800" b="1" dirty="0">
                <a:cs typeface="+mn-ea"/>
                <a:sym typeface="+mn-lt"/>
              </a:rPr>
              <a:t>表示</a:t>
            </a:r>
            <a:r>
              <a:rPr lang="zh-CN" altLang="en-US" sz="2800" b="1" dirty="0" smtClean="0">
                <a:cs typeface="+mn-ea"/>
                <a:sym typeface="+mn-lt"/>
              </a:rPr>
              <a:t>为</a:t>
            </a:r>
            <a:r>
              <a:rPr lang="en-US" altLang="zh-CN" sz="2800" b="1" dirty="0" smtClean="0">
                <a:cs typeface="+mn-ea"/>
                <a:sym typeface="+mn-lt"/>
              </a:rPr>
              <a:t>10+127=137-&gt;89H</a:t>
            </a:r>
            <a:endParaRPr lang="en-US" altLang="zh-CN" sz="2800" b="1" dirty="0">
              <a:cs typeface="+mn-ea"/>
              <a:sym typeface="+mn-lt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endParaRPr lang="en-US" altLang="zh-CN" sz="2800" b="1" dirty="0" smtClean="0">
              <a:cs typeface="+mn-ea"/>
              <a:sym typeface="+mn-lt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zh-CN" sz="2800" b="1" dirty="0" smtClean="0">
                <a:cs typeface="+mn-ea"/>
                <a:sym typeface="+mn-lt"/>
              </a:rPr>
              <a:t>       </a:t>
            </a:r>
            <a:endParaRPr lang="zh-CN" altLang="en-US" sz="2800" b="1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03123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1311779" y="999284"/>
            <a:ext cx="4618757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浮点数的表示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1"/>
            <a:r>
              <a:rPr lang="en-US" altLang="zh-CN" sz="2800" b="1" dirty="0">
                <a:cs typeface="+mn-ea"/>
                <a:sym typeface="+mn-lt"/>
              </a:rPr>
              <a:t>	</a:t>
            </a:r>
            <a:r>
              <a:rPr lang="zh-CN" altLang="en-US" sz="2800" b="1" dirty="0">
                <a:cs typeface="+mn-ea"/>
                <a:sym typeface="+mn-lt"/>
              </a:rPr>
              <a:t>浮点数表示及转换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内容占位符 2"/>
              <p:cNvSpPr txBox="1">
                <a:spLocks/>
              </p:cNvSpPr>
              <p:nvPr/>
            </p:nvSpPr>
            <p:spPr>
              <a:xfrm>
                <a:off x="1297157" y="1666434"/>
                <a:ext cx="9597686" cy="2462177"/>
              </a:xfrm>
              <a:prstGeom prst="rect">
                <a:avLst/>
              </a:prstGeom>
            </p:spPr>
            <p:txBody>
              <a:bodyPr/>
              <a:lstStyle>
                <a:lvl1pPr marL="228589" indent="-228589" algn="l" defTabSz="914354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66" indent="-228589" algn="l" defTabSz="91435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42" indent="-228589" algn="l" defTabSz="91435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20" indent="-228589" algn="l" defTabSz="91435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98" indent="-228589" algn="l" defTabSz="91435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474" indent="-228589" algn="l" defTabSz="91435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652" indent="-228589" algn="l" defTabSz="91435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829" indent="-228589" algn="l" defTabSz="91435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006" indent="-228589" algn="l" defTabSz="91435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FontTx/>
                  <a:buNone/>
                  <a:defRPr/>
                </a:pPr>
                <a:r>
                  <a:rPr lang="zh-CN" altLang="en-US" sz="2800" dirty="0">
                    <a:cs typeface="+mn-ea"/>
                    <a:sym typeface="+mn-lt"/>
                  </a:rPr>
                  <a:t>阶码用移码、尾数用原码。</a:t>
                </a:r>
                <a:endParaRPr lang="en-US" altLang="zh-CN" sz="2800" dirty="0">
                  <a:cs typeface="+mn-ea"/>
                  <a:sym typeface="+mn-lt"/>
                </a:endParaRPr>
              </a:p>
              <a:p>
                <a:pPr marL="0" indent="0">
                  <a:lnSpc>
                    <a:spcPct val="150000"/>
                  </a:lnSpc>
                  <a:buNone/>
                  <a:defRPr/>
                </a:pPr>
                <a:r>
                  <a:rPr lang="zh-CN" altLang="en-US" sz="2800" dirty="0">
                    <a:cs typeface="+mn-ea"/>
                    <a:sym typeface="+mn-lt"/>
                  </a:rPr>
                  <a:t>对任意一个二进制数</a:t>
                </a:r>
                <a:r>
                  <a:rPr lang="en-US" altLang="zh-CN" sz="2800" dirty="0">
                    <a:cs typeface="+mn-ea"/>
                    <a:sym typeface="+mn-lt"/>
                  </a:rPr>
                  <a:t>N</a:t>
                </a:r>
                <a:r>
                  <a:rPr lang="zh-CN" altLang="en-US" sz="2800" dirty="0">
                    <a:cs typeface="+mn-ea"/>
                    <a:sym typeface="+mn-lt"/>
                  </a:rPr>
                  <a:t>，总可以写成：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𝑁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</m:t>
                    </m:r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(−1)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𝑠</m:t>
                        </m:r>
                      </m:sup>
                    </m:sSup>
                    <m:r>
                      <a:rPr lang="en-US" altLang="zh-CN" sz="2800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×1.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𝑀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×</m:t>
                    </m:r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𝐸</m:t>
                        </m:r>
                      </m:sup>
                    </m:sSup>
                  </m:oMath>
                </a14:m>
                <a:r>
                  <a:rPr lang="zh-CN" altLang="en-US" sz="2800" dirty="0">
                    <a:cs typeface="+mn-ea"/>
                    <a:sym typeface="+mn-lt"/>
                  </a:rPr>
                  <a:t>，式中：</a:t>
                </a:r>
                <a:r>
                  <a:rPr lang="en-US" altLang="zh-CN" sz="2800" dirty="0">
                    <a:cs typeface="+mn-ea"/>
                    <a:sym typeface="+mn-lt"/>
                  </a:rPr>
                  <a:t>E</a:t>
                </a:r>
                <a:r>
                  <a:rPr lang="zh-CN" altLang="en-US" sz="2800" dirty="0">
                    <a:cs typeface="+mn-ea"/>
                    <a:sym typeface="+mn-lt"/>
                  </a:rPr>
                  <a:t>为数</a:t>
                </a:r>
                <a:r>
                  <a:rPr lang="en-US" altLang="zh-CN" sz="2800" dirty="0">
                    <a:cs typeface="+mn-ea"/>
                    <a:sym typeface="+mn-lt"/>
                  </a:rPr>
                  <a:t>N</a:t>
                </a:r>
                <a:r>
                  <a:rPr lang="zh-CN" altLang="en-US" sz="2800" dirty="0">
                    <a:cs typeface="+mn-ea"/>
                    <a:sym typeface="+mn-lt"/>
                  </a:rPr>
                  <a:t>的阶码，</a:t>
                </a:r>
                <a:r>
                  <a:rPr lang="en-US" altLang="zh-CN" sz="2800" dirty="0">
                    <a:cs typeface="+mn-ea"/>
                    <a:sym typeface="+mn-lt"/>
                  </a:rPr>
                  <a:t>M</a:t>
                </a:r>
                <a:r>
                  <a:rPr lang="zh-CN" altLang="en-US" sz="2800" dirty="0">
                    <a:cs typeface="+mn-ea"/>
                    <a:sym typeface="+mn-lt"/>
                  </a:rPr>
                  <a:t>为数</a:t>
                </a:r>
                <a:r>
                  <a:rPr lang="en-US" altLang="zh-CN" sz="2800" dirty="0">
                    <a:cs typeface="+mn-ea"/>
                    <a:sym typeface="+mn-lt"/>
                  </a:rPr>
                  <a:t>N</a:t>
                </a:r>
                <a:r>
                  <a:rPr lang="zh-CN" altLang="en-US" sz="2800" dirty="0">
                    <a:cs typeface="+mn-ea"/>
                    <a:sym typeface="+mn-lt"/>
                  </a:rPr>
                  <a:t>的尾数，</a:t>
                </a:r>
                <a:r>
                  <a:rPr lang="en-US" altLang="zh-CN" sz="2800" dirty="0">
                    <a:cs typeface="+mn-ea"/>
                    <a:sym typeface="+mn-lt"/>
                  </a:rPr>
                  <a:t>s</a:t>
                </a:r>
                <a:r>
                  <a:rPr lang="zh-CN" altLang="en-US" sz="2800" dirty="0">
                    <a:cs typeface="+mn-ea"/>
                    <a:sym typeface="+mn-lt"/>
                  </a:rPr>
                  <a:t>是符号位；</a:t>
                </a:r>
              </a:p>
              <a:p>
                <a:pPr marL="0" indent="0">
                  <a:lnSpc>
                    <a:spcPct val="150000"/>
                  </a:lnSpc>
                  <a:buFontTx/>
                  <a:buNone/>
                  <a:defRPr/>
                </a:pPr>
                <a:endParaRPr lang="zh-CN" altLang="en-US" sz="28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0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7157" y="1666434"/>
                <a:ext cx="9597686" cy="2462177"/>
              </a:xfrm>
              <a:prstGeom prst="rect">
                <a:avLst/>
              </a:prstGeom>
              <a:blipFill>
                <a:blip r:embed="rId2"/>
                <a:stretch>
                  <a:fillRect l="-1334" r="-49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4"/>
          <p:cNvGrpSpPr>
            <a:grpSpLocks/>
          </p:cNvGrpSpPr>
          <p:nvPr/>
        </p:nvGrpSpPr>
        <p:grpSpPr bwMode="auto">
          <a:xfrm>
            <a:off x="1797445" y="4527074"/>
            <a:ext cx="7464427" cy="860426"/>
            <a:chOff x="743" y="1462"/>
            <a:chExt cx="4702" cy="542"/>
          </a:xfrm>
          <a:noFill/>
        </p:grpSpPr>
        <p:sp>
          <p:nvSpPr>
            <p:cNvPr id="15" name="Text Box 8"/>
            <p:cNvSpPr txBox="1">
              <a:spLocks noChangeAspect="1" noChangeArrowheads="1"/>
            </p:cNvSpPr>
            <p:nvPr/>
          </p:nvSpPr>
          <p:spPr bwMode="auto">
            <a:xfrm>
              <a:off x="873" y="1739"/>
              <a:ext cx="601" cy="26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 algn="just"/>
              <a:r>
                <a:rPr kumimoji="1" lang="zh-CN" altLang="en-US" sz="2000" b="1" dirty="0">
                  <a:solidFill>
                    <a:srgbClr val="180D5B"/>
                  </a:solidFill>
                  <a:latin typeface="+mn-lt"/>
                  <a:ea typeface="+mn-ea"/>
                  <a:cs typeface="+mn-ea"/>
                  <a:sym typeface="+mn-lt"/>
                </a:rPr>
                <a:t>符号位</a:t>
              </a:r>
            </a:p>
            <a:p>
              <a:pPr algn="just"/>
              <a:endParaRPr kumimoji="1" lang="zh-CN" altLang="en-US" sz="2000" b="1" dirty="0">
                <a:solidFill>
                  <a:srgbClr val="180D5B"/>
                </a:solidFill>
                <a:latin typeface="+mn-lt"/>
                <a:ea typeface="+mn-ea"/>
                <a:cs typeface="+mn-ea"/>
                <a:sym typeface="+mn-lt"/>
              </a:endParaRPr>
            </a:p>
            <a:p>
              <a:pPr algn="just"/>
              <a:endParaRPr kumimoji="1" lang="zh-CN" altLang="en-US" sz="2000" b="1" dirty="0">
                <a:solidFill>
                  <a:srgbClr val="180D5B"/>
                </a:solidFill>
                <a:latin typeface="+mn-lt"/>
                <a:ea typeface="+mn-ea"/>
                <a:cs typeface="+mn-ea"/>
                <a:sym typeface="+mn-lt"/>
              </a:endParaRPr>
            </a:p>
            <a:p>
              <a:pPr algn="just"/>
              <a:endParaRPr kumimoji="1" lang="zh-CN" altLang="en-US" sz="2000" b="1" dirty="0">
                <a:solidFill>
                  <a:srgbClr val="180D5B"/>
                </a:solidFill>
                <a:latin typeface="+mn-lt"/>
                <a:ea typeface="+mn-ea"/>
                <a:cs typeface="+mn-ea"/>
                <a:sym typeface="+mn-lt"/>
              </a:endParaRPr>
            </a:p>
            <a:p>
              <a:pPr algn="just"/>
              <a:endParaRPr kumimoji="1" lang="zh-CN" altLang="en-US" sz="2000" b="1" dirty="0">
                <a:solidFill>
                  <a:srgbClr val="180D5B"/>
                </a:solidFill>
                <a:latin typeface="+mn-lt"/>
                <a:ea typeface="+mn-ea"/>
                <a:cs typeface="+mn-ea"/>
                <a:sym typeface="+mn-lt"/>
              </a:endParaRPr>
            </a:p>
            <a:p>
              <a:pPr algn="just"/>
              <a:endParaRPr kumimoji="1" lang="en-US" altLang="zh-CN" sz="2000" b="1" dirty="0">
                <a:solidFill>
                  <a:srgbClr val="180D5B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22" name="Group 10"/>
            <p:cNvGrpSpPr>
              <a:grpSpLocks noChangeAspect="1"/>
            </p:cNvGrpSpPr>
            <p:nvPr/>
          </p:nvGrpSpPr>
          <p:grpSpPr bwMode="auto">
            <a:xfrm>
              <a:off x="743" y="1462"/>
              <a:ext cx="4702" cy="280"/>
              <a:chOff x="1595" y="11398"/>
              <a:chExt cx="7981" cy="494"/>
            </a:xfrm>
            <a:grpFill/>
          </p:grpSpPr>
          <p:sp>
            <p:nvSpPr>
              <p:cNvPr id="26" name="Rectangle 11"/>
              <p:cNvSpPr>
                <a:spLocks noChangeAspect="1" noChangeArrowheads="1"/>
              </p:cNvSpPr>
              <p:nvPr/>
            </p:nvSpPr>
            <p:spPr bwMode="auto">
              <a:xfrm>
                <a:off x="1595" y="11398"/>
                <a:ext cx="7981" cy="468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9pPr>
              </a:lstStyle>
              <a:p>
                <a:endParaRPr lang="zh-CN" altLang="en-US" sz="2000">
                  <a:solidFill>
                    <a:srgbClr val="180D5B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7" name="Line 12"/>
              <p:cNvSpPr>
                <a:spLocks noChangeAspect="1" noChangeShapeType="1"/>
              </p:cNvSpPr>
              <p:nvPr/>
            </p:nvSpPr>
            <p:spPr bwMode="auto">
              <a:xfrm>
                <a:off x="3240" y="11424"/>
                <a:ext cx="0" cy="468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9pPr>
              </a:lstStyle>
              <a:p>
                <a:endParaRPr lang="zh-CN" altLang="en-US" sz="2000">
                  <a:solidFill>
                    <a:srgbClr val="180D5B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" name="Line 13"/>
              <p:cNvSpPr>
                <a:spLocks noChangeAspect="1" noChangeShapeType="1"/>
              </p:cNvSpPr>
              <p:nvPr/>
            </p:nvSpPr>
            <p:spPr bwMode="auto">
              <a:xfrm>
                <a:off x="6480" y="11424"/>
                <a:ext cx="0" cy="468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9pPr>
              </a:lstStyle>
              <a:p>
                <a:endParaRPr lang="zh-CN" altLang="en-US" sz="2000">
                  <a:solidFill>
                    <a:srgbClr val="180D5B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18" name="Text Box 18"/>
            <p:cNvSpPr txBox="1">
              <a:spLocks noChangeAspect="1" noChangeArrowheads="1"/>
            </p:cNvSpPr>
            <p:nvPr/>
          </p:nvSpPr>
          <p:spPr bwMode="auto">
            <a:xfrm>
              <a:off x="2431" y="1464"/>
              <a:ext cx="530" cy="26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 algn="just"/>
              <a:r>
                <a:rPr kumimoji="1" lang="en-US" altLang="zh-CN" sz="2000" b="1" dirty="0">
                  <a:solidFill>
                    <a:srgbClr val="180D5B"/>
                  </a:solidFill>
                  <a:latin typeface="+mn-lt"/>
                  <a:ea typeface="+mn-ea"/>
                  <a:cs typeface="+mn-ea"/>
                  <a:sym typeface="+mn-lt"/>
                </a:rPr>
                <a:t>E</a:t>
              </a:r>
            </a:p>
          </p:txBody>
        </p:sp>
        <p:sp>
          <p:nvSpPr>
            <p:cNvPr id="19" name="Text Box 19"/>
            <p:cNvSpPr txBox="1">
              <a:spLocks noChangeAspect="1" noChangeArrowheads="1"/>
            </p:cNvSpPr>
            <p:nvPr/>
          </p:nvSpPr>
          <p:spPr bwMode="auto">
            <a:xfrm>
              <a:off x="4158" y="1464"/>
              <a:ext cx="355" cy="26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 algn="just"/>
              <a:r>
                <a:rPr kumimoji="1" lang="en-US" altLang="zh-CN" sz="2000" b="1" dirty="0">
                  <a:solidFill>
                    <a:srgbClr val="180D5B"/>
                  </a:solidFill>
                  <a:latin typeface="+mn-lt"/>
                  <a:ea typeface="+mn-ea"/>
                  <a:cs typeface="+mn-ea"/>
                  <a:sym typeface="+mn-lt"/>
                </a:rPr>
                <a:t>M</a:t>
              </a:r>
            </a:p>
          </p:txBody>
        </p:sp>
        <p:sp>
          <p:nvSpPr>
            <p:cNvPr id="20" name="Text Box 20"/>
            <p:cNvSpPr txBox="1">
              <a:spLocks noChangeAspect="1" noChangeArrowheads="1"/>
            </p:cNvSpPr>
            <p:nvPr/>
          </p:nvSpPr>
          <p:spPr bwMode="auto">
            <a:xfrm>
              <a:off x="2339" y="1729"/>
              <a:ext cx="637" cy="26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 algn="just"/>
              <a:r>
                <a:rPr kumimoji="1" lang="zh-CN" altLang="en-US" sz="2000" b="1">
                  <a:solidFill>
                    <a:srgbClr val="180D5B"/>
                  </a:solidFill>
                  <a:latin typeface="+mn-lt"/>
                  <a:ea typeface="+mn-ea"/>
                  <a:cs typeface="+mn-ea"/>
                  <a:sym typeface="+mn-lt"/>
                </a:rPr>
                <a:t>阶码</a:t>
              </a:r>
            </a:p>
          </p:txBody>
        </p:sp>
        <p:sp>
          <p:nvSpPr>
            <p:cNvPr id="21" name="Text Box 21"/>
            <p:cNvSpPr txBox="1">
              <a:spLocks noChangeAspect="1" noChangeArrowheads="1"/>
            </p:cNvSpPr>
            <p:nvPr/>
          </p:nvSpPr>
          <p:spPr bwMode="auto">
            <a:xfrm>
              <a:off x="4045" y="1729"/>
              <a:ext cx="707" cy="26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 algn="just"/>
              <a:r>
                <a:rPr kumimoji="1" lang="zh-CN" altLang="en-US" sz="2000" b="1" dirty="0">
                  <a:solidFill>
                    <a:srgbClr val="180D5B"/>
                  </a:solidFill>
                  <a:latin typeface="+mn-lt"/>
                  <a:ea typeface="+mn-ea"/>
                  <a:cs typeface="+mn-ea"/>
                  <a:sym typeface="+mn-lt"/>
                </a:rPr>
                <a:t>尾数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2317719" y="4569761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rgbClr val="180D5B"/>
                </a:solidFill>
                <a:cs typeface="+mn-ea"/>
                <a:sym typeface="+mn-lt"/>
              </a:rPr>
              <a:t>S</a:t>
            </a:r>
            <a:endParaRPr lang="zh-CN" altLang="en-US" dirty="0">
              <a:solidFill>
                <a:srgbClr val="180D5B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2989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1311779" y="933969"/>
            <a:ext cx="4618757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浮点数的表示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2"/>
            <a:r>
              <a:rPr lang="zh-CN" altLang="en-US" sz="2800" b="1" dirty="0">
                <a:cs typeface="+mn-ea"/>
                <a:sym typeface="+mn-lt"/>
              </a:rPr>
              <a:t>浮点数表示及转换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4" name="Rectangle 25"/>
          <p:cNvSpPr>
            <a:spLocks noChangeArrowheads="1"/>
          </p:cNvSpPr>
          <p:nvPr/>
        </p:nvSpPr>
        <p:spPr bwMode="auto">
          <a:xfrm>
            <a:off x="1385618" y="1496912"/>
            <a:ext cx="8622906" cy="27139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cs typeface="+mn-ea"/>
                <a:sym typeface="+mn-lt"/>
              </a:rPr>
              <a:t>例：用</a:t>
            </a:r>
            <a:r>
              <a:rPr lang="en-US" altLang="zh-CN" sz="2400" b="1" dirty="0">
                <a:cs typeface="+mn-ea"/>
                <a:sym typeface="+mn-lt"/>
              </a:rPr>
              <a:t>32</a:t>
            </a:r>
            <a:r>
              <a:rPr lang="zh-CN" altLang="en-US" sz="2400" b="1" dirty="0">
                <a:cs typeface="+mn-ea"/>
                <a:sym typeface="+mn-lt"/>
              </a:rPr>
              <a:t>位单精度表示</a:t>
            </a:r>
            <a:r>
              <a:rPr lang="en-US" altLang="zh-CN" sz="2400" b="1" dirty="0">
                <a:cs typeface="+mn-ea"/>
                <a:sym typeface="+mn-lt"/>
              </a:rPr>
              <a:t>-108.0125</a:t>
            </a: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rgbClr val="180D5B"/>
                </a:solidFill>
                <a:cs typeface="+mn-ea"/>
                <a:sym typeface="+mn-lt"/>
              </a:rPr>
              <a:t>-108.0125</a:t>
            </a:r>
            <a:r>
              <a:rPr lang="en-US" altLang="zh-CN" sz="2400" b="1" dirty="0">
                <a:solidFill>
                  <a:schemeClr val="accent6"/>
                </a:solidFill>
                <a:cs typeface="+mn-ea"/>
                <a:sym typeface="+mn-lt"/>
              </a:rPr>
              <a:t>D</a:t>
            </a:r>
            <a:r>
              <a:rPr lang="en-US" altLang="zh-CN" sz="2400" b="1" dirty="0">
                <a:solidFill>
                  <a:srgbClr val="180D5B"/>
                </a:solidFill>
                <a:cs typeface="+mn-ea"/>
                <a:sym typeface="+mn-lt"/>
              </a:rPr>
              <a:t>=(-1)*</a:t>
            </a:r>
            <a:r>
              <a:rPr lang="en-US" altLang="zh-CN" sz="2400" b="1" dirty="0">
                <a:solidFill>
                  <a:schemeClr val="accent6"/>
                </a:solidFill>
                <a:cs typeface="+mn-ea"/>
                <a:sym typeface="+mn-lt"/>
              </a:rPr>
              <a:t>1101100</a:t>
            </a:r>
            <a:r>
              <a:rPr lang="en-US" altLang="zh-CN" sz="2400" b="1" dirty="0">
                <a:solidFill>
                  <a:srgbClr val="180D5B"/>
                </a:solidFill>
                <a:cs typeface="+mn-ea"/>
                <a:sym typeface="+mn-lt"/>
              </a:rPr>
              <a:t>.000000</a:t>
            </a:r>
            <a:r>
              <a:rPr lang="en-US" altLang="zh-CN" sz="2400" b="1" dirty="0">
                <a:solidFill>
                  <a:schemeClr val="accent6"/>
                </a:solidFill>
                <a:cs typeface="+mn-ea"/>
                <a:sym typeface="+mn-lt"/>
              </a:rPr>
              <a:t>1100</a:t>
            </a:r>
            <a:r>
              <a:rPr lang="en-US" altLang="zh-CN" sz="2400" b="1" dirty="0">
                <a:solidFill>
                  <a:srgbClr val="FF0000"/>
                </a:solidFill>
                <a:cs typeface="+mn-ea"/>
                <a:sym typeface="+mn-lt"/>
              </a:rPr>
              <a:t>1100</a:t>
            </a:r>
            <a:r>
              <a:rPr lang="en-US" altLang="zh-CN" sz="2400" b="1" dirty="0">
                <a:solidFill>
                  <a:schemeClr val="accent6"/>
                </a:solidFill>
                <a:cs typeface="+mn-ea"/>
                <a:sym typeface="+mn-lt"/>
              </a:rPr>
              <a:t>1100</a:t>
            </a:r>
            <a:r>
              <a:rPr lang="en-US" altLang="zh-CN" sz="2400" b="1" dirty="0">
                <a:solidFill>
                  <a:srgbClr val="180D5B"/>
                </a:solidFill>
                <a:cs typeface="+mn-ea"/>
                <a:sym typeface="+mn-lt"/>
              </a:rPr>
              <a:t>…</a:t>
            </a:r>
            <a:r>
              <a:rPr lang="en-US" altLang="zh-CN" sz="2400" b="1" dirty="0">
                <a:solidFill>
                  <a:schemeClr val="accent6"/>
                </a:solidFill>
                <a:cs typeface="+mn-ea"/>
                <a:sym typeface="+mn-lt"/>
              </a:rPr>
              <a:t>B</a:t>
            </a: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rgbClr val="180D5B"/>
                </a:solidFill>
                <a:cs typeface="+mn-ea"/>
                <a:sym typeface="+mn-lt"/>
              </a:rPr>
              <a:t>=(-1)* 2</a:t>
            </a:r>
            <a:r>
              <a:rPr lang="en-US" altLang="zh-CN" sz="2400" b="1" baseline="30000" dirty="0">
                <a:solidFill>
                  <a:srgbClr val="180D5B"/>
                </a:solidFill>
                <a:cs typeface="+mn-ea"/>
                <a:sym typeface="+mn-lt"/>
              </a:rPr>
              <a:t>6</a:t>
            </a:r>
            <a:r>
              <a:rPr lang="en-US" altLang="zh-CN" sz="2400" b="1" dirty="0">
                <a:solidFill>
                  <a:srgbClr val="180D5B"/>
                </a:solidFill>
                <a:cs typeface="+mn-ea"/>
                <a:sym typeface="+mn-lt"/>
              </a:rPr>
              <a:t>*</a:t>
            </a:r>
            <a:r>
              <a:rPr lang="en-US" altLang="zh-CN" sz="2400" b="1" dirty="0">
                <a:solidFill>
                  <a:schemeClr val="accent6"/>
                </a:solidFill>
                <a:cs typeface="+mn-ea"/>
                <a:sym typeface="+mn-lt"/>
              </a:rPr>
              <a:t>1.101100</a:t>
            </a:r>
            <a:r>
              <a:rPr lang="en-US" altLang="zh-CN" sz="2400" b="1" dirty="0">
                <a:solidFill>
                  <a:schemeClr val="accent2"/>
                </a:solidFill>
                <a:cs typeface="+mn-ea"/>
                <a:sym typeface="+mn-lt"/>
              </a:rPr>
              <a:t> </a:t>
            </a:r>
            <a:r>
              <a:rPr lang="en-US" altLang="zh-CN" sz="2400" b="1" dirty="0">
                <a:solidFill>
                  <a:srgbClr val="180D5B"/>
                </a:solidFill>
                <a:cs typeface="+mn-ea"/>
                <a:sym typeface="+mn-lt"/>
              </a:rPr>
              <a:t>000000</a:t>
            </a:r>
            <a:r>
              <a:rPr lang="en-US" altLang="zh-CN" sz="2400" b="1" dirty="0">
                <a:solidFill>
                  <a:schemeClr val="accent6"/>
                </a:solidFill>
                <a:cs typeface="+mn-ea"/>
                <a:sym typeface="+mn-lt"/>
              </a:rPr>
              <a:t>1100</a:t>
            </a:r>
            <a:r>
              <a:rPr lang="en-US" altLang="zh-CN" sz="2400" b="1" dirty="0">
                <a:solidFill>
                  <a:srgbClr val="FF0000"/>
                </a:solidFill>
                <a:cs typeface="+mn-ea"/>
                <a:sym typeface="+mn-lt"/>
              </a:rPr>
              <a:t>1100</a:t>
            </a:r>
            <a:r>
              <a:rPr lang="en-US" altLang="zh-CN" sz="2400" b="1" dirty="0">
                <a:solidFill>
                  <a:schemeClr val="accent6"/>
                </a:solidFill>
                <a:cs typeface="+mn-ea"/>
                <a:sym typeface="+mn-lt"/>
              </a:rPr>
              <a:t>1100</a:t>
            </a:r>
            <a:r>
              <a:rPr lang="en-US" altLang="zh-CN" sz="2400" b="1" dirty="0">
                <a:solidFill>
                  <a:srgbClr val="180D5B"/>
                </a:solidFill>
                <a:cs typeface="+mn-ea"/>
                <a:sym typeface="+mn-lt"/>
              </a:rPr>
              <a:t>…</a:t>
            </a:r>
            <a:r>
              <a:rPr lang="en-US" altLang="zh-CN" sz="2400" b="1" dirty="0">
                <a:solidFill>
                  <a:schemeClr val="accent6"/>
                </a:solidFill>
                <a:cs typeface="+mn-ea"/>
                <a:sym typeface="+mn-lt"/>
              </a:rPr>
              <a:t>B</a:t>
            </a: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chemeClr val="accent6"/>
                </a:solidFill>
                <a:cs typeface="+mn-ea"/>
                <a:sym typeface="+mn-lt"/>
              </a:rPr>
              <a:t>S=1B   E=6</a:t>
            </a:r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+127</a:t>
            </a:r>
            <a:r>
              <a:rPr lang="en-US" altLang="zh-CN" sz="2400" b="1" dirty="0">
                <a:solidFill>
                  <a:schemeClr val="accent6"/>
                </a:solidFill>
                <a:cs typeface="+mn-ea"/>
                <a:sym typeface="+mn-lt"/>
              </a:rPr>
              <a:t>=133=10000101B</a:t>
            </a:r>
            <a:r>
              <a:rPr lang="en-US" altLang="zh-CN" sz="2400" b="1" dirty="0">
                <a:solidFill>
                  <a:srgbClr val="FF00FF"/>
                </a:solidFill>
                <a:cs typeface="+mn-ea"/>
                <a:sym typeface="+mn-lt"/>
              </a:rPr>
              <a:t>   </a:t>
            </a:r>
            <a:r>
              <a:rPr lang="zh-CN" altLang="en-US" sz="2400" b="1" dirty="0">
                <a:solidFill>
                  <a:schemeClr val="accent6"/>
                </a:solidFill>
                <a:cs typeface="+mn-ea"/>
                <a:sym typeface="+mn-lt"/>
              </a:rPr>
              <a:t>阶数范围</a:t>
            </a:r>
            <a:r>
              <a:rPr lang="en-US" altLang="zh-CN" sz="2400" b="1" dirty="0">
                <a:solidFill>
                  <a:srgbClr val="0070C0"/>
                </a:solidFill>
                <a:cs typeface="+mn-ea"/>
                <a:sym typeface="+mn-lt"/>
              </a:rPr>
              <a:t>-</a:t>
            </a:r>
            <a:r>
              <a:rPr lang="en-US" altLang="zh-CN" sz="2400" b="1" dirty="0">
                <a:solidFill>
                  <a:srgbClr val="180D5B"/>
                </a:solidFill>
                <a:cs typeface="+mn-ea"/>
                <a:sym typeface="+mn-lt"/>
              </a:rPr>
              <a:t>127~128</a:t>
            </a: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chemeClr val="accent6"/>
                </a:solidFill>
                <a:cs typeface="+mn-ea"/>
                <a:sym typeface="+mn-lt"/>
              </a:rPr>
              <a:t>M=101100</a:t>
            </a:r>
            <a:r>
              <a:rPr lang="en-US" altLang="zh-CN" sz="2400" b="1" dirty="0">
                <a:solidFill>
                  <a:schemeClr val="accent2"/>
                </a:solidFill>
                <a:cs typeface="+mn-ea"/>
                <a:sym typeface="+mn-lt"/>
              </a:rPr>
              <a:t> </a:t>
            </a:r>
            <a:r>
              <a:rPr lang="en-US" altLang="zh-CN" sz="2400" b="1" dirty="0">
                <a:solidFill>
                  <a:srgbClr val="180D5B"/>
                </a:solidFill>
                <a:cs typeface="+mn-ea"/>
                <a:sym typeface="+mn-lt"/>
              </a:rPr>
              <a:t>000000</a:t>
            </a:r>
            <a:r>
              <a:rPr lang="en-US" altLang="zh-CN" sz="2400" b="1" dirty="0">
                <a:solidFill>
                  <a:schemeClr val="accent6"/>
                </a:solidFill>
                <a:cs typeface="+mn-ea"/>
                <a:sym typeface="+mn-lt"/>
              </a:rPr>
              <a:t>1100</a:t>
            </a:r>
            <a:r>
              <a:rPr lang="en-US" altLang="zh-CN" sz="2400" b="1" dirty="0">
                <a:solidFill>
                  <a:srgbClr val="FF0000"/>
                </a:solidFill>
                <a:cs typeface="+mn-ea"/>
                <a:sym typeface="+mn-lt"/>
              </a:rPr>
              <a:t>1100</a:t>
            </a:r>
            <a:r>
              <a:rPr lang="en-US" altLang="zh-CN" sz="2400" b="1" dirty="0">
                <a:solidFill>
                  <a:schemeClr val="accent6"/>
                </a:solidFill>
                <a:cs typeface="+mn-ea"/>
                <a:sym typeface="+mn-lt"/>
              </a:rPr>
              <a:t>110B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180D5B"/>
                </a:solidFill>
                <a:cs typeface="+mn-ea"/>
                <a:sym typeface="+mn-lt"/>
              </a:rPr>
              <a:t>表示结果： </a:t>
            </a:r>
            <a:r>
              <a:rPr lang="en-US" altLang="zh-CN" sz="2400" b="1" dirty="0">
                <a:cs typeface="+mn-ea"/>
                <a:sym typeface="+mn-lt"/>
              </a:rPr>
              <a:t>1 10000101 </a:t>
            </a:r>
            <a:r>
              <a:rPr lang="en-US" altLang="zh-CN" sz="2400" b="1" dirty="0">
                <a:solidFill>
                  <a:schemeClr val="accent6"/>
                </a:solidFill>
                <a:cs typeface="+mn-ea"/>
                <a:sym typeface="+mn-lt"/>
              </a:rPr>
              <a:t>101100</a:t>
            </a:r>
            <a:r>
              <a:rPr lang="en-US" altLang="zh-CN" sz="2400" b="1" dirty="0">
                <a:solidFill>
                  <a:schemeClr val="accent2"/>
                </a:solidFill>
                <a:cs typeface="+mn-ea"/>
                <a:sym typeface="+mn-lt"/>
              </a:rPr>
              <a:t> </a:t>
            </a:r>
            <a:r>
              <a:rPr lang="en-US" altLang="zh-CN" sz="2400" b="1" dirty="0">
                <a:solidFill>
                  <a:srgbClr val="180D5B"/>
                </a:solidFill>
                <a:cs typeface="+mn-ea"/>
                <a:sym typeface="+mn-lt"/>
              </a:rPr>
              <a:t>000000</a:t>
            </a:r>
            <a:r>
              <a:rPr lang="en-US" altLang="zh-CN" sz="2400" b="1" dirty="0">
                <a:solidFill>
                  <a:schemeClr val="accent6"/>
                </a:solidFill>
                <a:cs typeface="+mn-ea"/>
                <a:sym typeface="+mn-lt"/>
              </a:rPr>
              <a:t>1100</a:t>
            </a:r>
            <a:r>
              <a:rPr lang="en-US" altLang="zh-CN" sz="2400" b="1" dirty="0">
                <a:solidFill>
                  <a:srgbClr val="FF0000"/>
                </a:solidFill>
                <a:cs typeface="+mn-ea"/>
                <a:sym typeface="+mn-lt"/>
              </a:rPr>
              <a:t>1100</a:t>
            </a:r>
            <a:r>
              <a:rPr lang="en-US" altLang="zh-CN" sz="2400" b="1" dirty="0">
                <a:solidFill>
                  <a:schemeClr val="accent6"/>
                </a:solidFill>
                <a:cs typeface="+mn-ea"/>
                <a:sym typeface="+mn-lt"/>
              </a:rPr>
              <a:t>110</a:t>
            </a:r>
          </a:p>
        </p:txBody>
      </p:sp>
      <p:grpSp>
        <p:nvGrpSpPr>
          <p:cNvPr id="25" name="Group 4"/>
          <p:cNvGrpSpPr>
            <a:grpSpLocks/>
          </p:cNvGrpSpPr>
          <p:nvPr/>
        </p:nvGrpSpPr>
        <p:grpSpPr bwMode="auto">
          <a:xfrm>
            <a:off x="2161707" y="4648354"/>
            <a:ext cx="7070727" cy="1336676"/>
            <a:chOff x="970" y="1152"/>
            <a:chExt cx="4454" cy="842"/>
          </a:xfrm>
          <a:noFill/>
        </p:grpSpPr>
        <p:sp>
          <p:nvSpPr>
            <p:cNvPr id="29" name="Text Box 5"/>
            <p:cNvSpPr txBox="1">
              <a:spLocks noChangeAspect="1" noChangeArrowheads="1"/>
            </p:cNvSpPr>
            <p:nvPr/>
          </p:nvSpPr>
          <p:spPr bwMode="auto">
            <a:xfrm>
              <a:off x="1381" y="1152"/>
              <a:ext cx="212" cy="176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 algn="just"/>
              <a:r>
                <a:rPr kumimoji="1" lang="en-US" altLang="zh-CN" sz="2000" b="1" dirty="0">
                  <a:latin typeface="+mn-lt"/>
                  <a:ea typeface="+mn-ea"/>
                  <a:cs typeface="+mn-ea"/>
                  <a:sym typeface="+mn-lt"/>
                </a:rPr>
                <a:t>1</a:t>
              </a:r>
            </a:p>
          </p:txBody>
        </p:sp>
        <p:sp>
          <p:nvSpPr>
            <p:cNvPr id="30" name="Text Box 6"/>
            <p:cNvSpPr txBox="1">
              <a:spLocks noChangeAspect="1" noChangeArrowheads="1"/>
            </p:cNvSpPr>
            <p:nvPr/>
          </p:nvSpPr>
          <p:spPr bwMode="auto">
            <a:xfrm>
              <a:off x="2503" y="1152"/>
              <a:ext cx="233" cy="26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 algn="just"/>
              <a:r>
                <a:rPr kumimoji="1" lang="en-US" altLang="zh-CN" sz="2000" b="1" dirty="0">
                  <a:latin typeface="+mn-lt"/>
                  <a:ea typeface="+mn-ea"/>
                  <a:cs typeface="+mn-ea"/>
                  <a:sym typeface="+mn-lt"/>
                </a:rPr>
                <a:t>8</a:t>
              </a:r>
            </a:p>
          </p:txBody>
        </p:sp>
        <p:sp>
          <p:nvSpPr>
            <p:cNvPr id="31" name="Text Box 7"/>
            <p:cNvSpPr txBox="1">
              <a:spLocks noChangeAspect="1" noChangeArrowheads="1"/>
            </p:cNvSpPr>
            <p:nvPr/>
          </p:nvSpPr>
          <p:spPr bwMode="auto">
            <a:xfrm>
              <a:off x="4315" y="1152"/>
              <a:ext cx="389" cy="21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 algn="just"/>
              <a:r>
                <a:rPr kumimoji="1" lang="en-US" altLang="zh-CN" sz="2000" b="1" dirty="0">
                  <a:latin typeface="+mn-lt"/>
                  <a:ea typeface="+mn-ea"/>
                  <a:cs typeface="+mn-ea"/>
                  <a:sym typeface="+mn-lt"/>
                </a:rPr>
                <a:t>23</a:t>
              </a:r>
            </a:p>
          </p:txBody>
        </p:sp>
        <p:sp>
          <p:nvSpPr>
            <p:cNvPr id="32" name="Text Box 8"/>
            <p:cNvSpPr txBox="1">
              <a:spLocks noChangeAspect="1" noChangeArrowheads="1"/>
            </p:cNvSpPr>
            <p:nvPr/>
          </p:nvSpPr>
          <p:spPr bwMode="auto">
            <a:xfrm>
              <a:off x="970" y="1729"/>
              <a:ext cx="902" cy="26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 algn="just"/>
              <a:r>
                <a:rPr kumimoji="1" lang="zh-CN" altLang="en-US" sz="2000" b="1" dirty="0">
                  <a:latin typeface="+mn-lt"/>
                  <a:ea typeface="+mn-ea"/>
                  <a:cs typeface="+mn-ea"/>
                  <a:sym typeface="+mn-lt"/>
                </a:rPr>
                <a:t>符号位</a:t>
              </a:r>
            </a:p>
            <a:p>
              <a:pPr algn="just"/>
              <a:endParaRPr kumimoji="1" lang="zh-CN" altLang="en-US" sz="2000" b="1" dirty="0">
                <a:latin typeface="+mn-lt"/>
                <a:ea typeface="+mn-ea"/>
                <a:cs typeface="+mn-ea"/>
                <a:sym typeface="+mn-lt"/>
              </a:endParaRPr>
            </a:p>
            <a:p>
              <a:pPr algn="just"/>
              <a:endParaRPr kumimoji="1" lang="zh-CN" altLang="en-US" sz="2000" b="1" dirty="0">
                <a:latin typeface="+mn-lt"/>
                <a:ea typeface="+mn-ea"/>
                <a:cs typeface="+mn-ea"/>
                <a:sym typeface="+mn-lt"/>
              </a:endParaRPr>
            </a:p>
            <a:p>
              <a:pPr algn="just"/>
              <a:endParaRPr kumimoji="1" lang="zh-CN" altLang="en-US" sz="2000" b="1" dirty="0">
                <a:latin typeface="+mn-lt"/>
                <a:ea typeface="+mn-ea"/>
                <a:cs typeface="+mn-ea"/>
                <a:sym typeface="+mn-lt"/>
              </a:endParaRPr>
            </a:p>
            <a:p>
              <a:pPr algn="just"/>
              <a:endParaRPr kumimoji="1" lang="zh-CN" altLang="en-US" sz="2000" b="1" dirty="0">
                <a:latin typeface="+mn-lt"/>
                <a:ea typeface="+mn-ea"/>
                <a:cs typeface="+mn-ea"/>
                <a:sym typeface="+mn-lt"/>
              </a:endParaRPr>
            </a:p>
            <a:p>
              <a:pPr algn="just"/>
              <a:endParaRPr kumimoji="1" lang="en-US" altLang="zh-CN" sz="2000" b="1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33" name="Group 9"/>
            <p:cNvGrpSpPr>
              <a:grpSpLocks noChangeAspect="1"/>
            </p:cNvGrpSpPr>
            <p:nvPr/>
          </p:nvGrpSpPr>
          <p:grpSpPr bwMode="auto">
            <a:xfrm>
              <a:off x="1288" y="1376"/>
              <a:ext cx="4136" cy="353"/>
              <a:chOff x="2520" y="11268"/>
              <a:chExt cx="7020" cy="624"/>
            </a:xfrm>
            <a:grpFill/>
          </p:grpSpPr>
          <p:grpSp>
            <p:nvGrpSpPr>
              <p:cNvPr id="39" name="Group 10"/>
              <p:cNvGrpSpPr>
                <a:grpSpLocks noChangeAspect="1"/>
              </p:cNvGrpSpPr>
              <p:nvPr/>
            </p:nvGrpSpPr>
            <p:grpSpPr bwMode="auto">
              <a:xfrm>
                <a:off x="2520" y="11424"/>
                <a:ext cx="7020" cy="468"/>
                <a:chOff x="2520" y="11424"/>
                <a:chExt cx="7020" cy="468"/>
              </a:xfrm>
              <a:grpFill/>
            </p:grpSpPr>
            <p:sp>
              <p:nvSpPr>
                <p:cNvPr id="58" name="Rectangle 11"/>
                <p:cNvSpPr>
                  <a:spLocks noChangeAspect="1" noChangeArrowheads="1"/>
                </p:cNvSpPr>
                <p:nvPr/>
              </p:nvSpPr>
              <p:spPr bwMode="auto">
                <a:xfrm>
                  <a:off x="2520" y="11424"/>
                  <a:ext cx="7020" cy="468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 sz="2000"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9" name="Line 12"/>
                <p:cNvSpPr>
                  <a:spLocks noChangeAspect="1" noChangeShapeType="1"/>
                </p:cNvSpPr>
                <p:nvPr/>
              </p:nvSpPr>
              <p:spPr bwMode="auto">
                <a:xfrm>
                  <a:off x="3240" y="11424"/>
                  <a:ext cx="0" cy="468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 sz="2000"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0" name="Line 13"/>
                <p:cNvSpPr>
                  <a:spLocks noChangeAspect="1" noChangeShapeType="1"/>
                </p:cNvSpPr>
                <p:nvPr/>
              </p:nvSpPr>
              <p:spPr bwMode="auto">
                <a:xfrm>
                  <a:off x="6480" y="11424"/>
                  <a:ext cx="0" cy="468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 sz="2000"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0" name="AutoShape 14"/>
              <p:cNvSpPr>
                <a:spLocks noChangeAspect="1"/>
              </p:cNvSpPr>
              <p:nvPr/>
            </p:nvSpPr>
            <p:spPr bwMode="auto">
              <a:xfrm rot="5400000">
                <a:off x="2802" y="10986"/>
                <a:ext cx="156" cy="720"/>
              </a:xfrm>
              <a:prstGeom prst="leftBrace">
                <a:avLst>
                  <a:gd name="adj1" fmla="val 38462"/>
                  <a:gd name="adj2" fmla="val 52500"/>
                </a:avLst>
              </a:prstGeom>
              <a:grpFill/>
              <a:ln w="9525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9pPr>
              </a:lstStyle>
              <a:p>
                <a:endParaRPr lang="zh-CN" altLang="en-US" sz="2000"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1" name="AutoShape 15"/>
              <p:cNvSpPr>
                <a:spLocks noChangeAspect="1"/>
              </p:cNvSpPr>
              <p:nvPr/>
            </p:nvSpPr>
            <p:spPr bwMode="auto">
              <a:xfrm rot="5400000">
                <a:off x="4782" y="9726"/>
                <a:ext cx="156" cy="3240"/>
              </a:xfrm>
              <a:prstGeom prst="leftBrace">
                <a:avLst>
                  <a:gd name="adj1" fmla="val 173077"/>
                  <a:gd name="adj2" fmla="val 52500"/>
                </a:avLst>
              </a:prstGeom>
              <a:grpFill/>
              <a:ln w="9525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9pPr>
              </a:lstStyle>
              <a:p>
                <a:endParaRPr lang="zh-CN" altLang="en-US" sz="2000"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2" name="AutoShape 16"/>
              <p:cNvSpPr>
                <a:spLocks noChangeAspect="1"/>
              </p:cNvSpPr>
              <p:nvPr/>
            </p:nvSpPr>
            <p:spPr bwMode="auto">
              <a:xfrm rot="5400000">
                <a:off x="7932" y="9816"/>
                <a:ext cx="156" cy="3060"/>
              </a:xfrm>
              <a:prstGeom prst="leftBrace">
                <a:avLst>
                  <a:gd name="adj1" fmla="val 163462"/>
                  <a:gd name="adj2" fmla="val 52500"/>
                </a:avLst>
              </a:prstGeom>
              <a:grpFill/>
              <a:ln w="9525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9pPr>
              </a:lstStyle>
              <a:p>
                <a:endParaRPr lang="zh-CN" altLang="en-US" sz="2000"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35" name="Text Box 18"/>
            <p:cNvSpPr txBox="1">
              <a:spLocks noChangeAspect="1" noChangeArrowheads="1"/>
            </p:cNvSpPr>
            <p:nvPr/>
          </p:nvSpPr>
          <p:spPr bwMode="auto">
            <a:xfrm>
              <a:off x="2243" y="1464"/>
              <a:ext cx="530" cy="26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 algn="just"/>
              <a:r>
                <a:rPr kumimoji="1" lang="en-US" altLang="zh-CN" sz="2000" b="1" dirty="0">
                  <a:latin typeface="+mn-lt"/>
                  <a:ea typeface="+mn-ea"/>
                  <a:cs typeface="+mn-ea"/>
                  <a:sym typeface="+mn-lt"/>
                </a:rPr>
                <a:t>E</a:t>
              </a:r>
            </a:p>
          </p:txBody>
        </p:sp>
        <p:sp>
          <p:nvSpPr>
            <p:cNvPr id="36" name="Text Box 19"/>
            <p:cNvSpPr txBox="1">
              <a:spLocks noChangeAspect="1" noChangeArrowheads="1"/>
            </p:cNvSpPr>
            <p:nvPr/>
          </p:nvSpPr>
          <p:spPr bwMode="auto">
            <a:xfrm>
              <a:off x="4294" y="1471"/>
              <a:ext cx="289" cy="26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 algn="just"/>
              <a:r>
                <a:rPr kumimoji="1" lang="en-US" altLang="zh-CN" sz="2000" b="1" dirty="0">
                  <a:latin typeface="+mn-lt"/>
                  <a:ea typeface="+mn-ea"/>
                  <a:cs typeface="+mn-ea"/>
                  <a:sym typeface="+mn-lt"/>
                </a:rPr>
                <a:t>M</a:t>
              </a:r>
            </a:p>
          </p:txBody>
        </p:sp>
        <p:sp>
          <p:nvSpPr>
            <p:cNvPr id="37" name="Text Box 20"/>
            <p:cNvSpPr txBox="1">
              <a:spLocks noChangeAspect="1" noChangeArrowheads="1"/>
            </p:cNvSpPr>
            <p:nvPr/>
          </p:nvSpPr>
          <p:spPr bwMode="auto">
            <a:xfrm>
              <a:off x="2339" y="1729"/>
              <a:ext cx="637" cy="26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 algn="just"/>
              <a:r>
                <a:rPr kumimoji="1" lang="zh-CN" altLang="en-US" sz="2000" b="1">
                  <a:latin typeface="+mn-lt"/>
                  <a:ea typeface="+mn-ea"/>
                  <a:cs typeface="+mn-ea"/>
                  <a:sym typeface="+mn-lt"/>
                </a:rPr>
                <a:t>阶码</a:t>
              </a:r>
            </a:p>
          </p:txBody>
        </p:sp>
        <p:sp>
          <p:nvSpPr>
            <p:cNvPr id="38" name="Text Box 21"/>
            <p:cNvSpPr txBox="1">
              <a:spLocks noChangeAspect="1" noChangeArrowheads="1"/>
            </p:cNvSpPr>
            <p:nvPr/>
          </p:nvSpPr>
          <p:spPr bwMode="auto">
            <a:xfrm>
              <a:off x="4045" y="1729"/>
              <a:ext cx="707" cy="26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 algn="just"/>
              <a:r>
                <a:rPr kumimoji="1" lang="zh-CN" altLang="en-US" sz="2000" b="1" dirty="0">
                  <a:latin typeface="+mn-lt"/>
                  <a:ea typeface="+mn-ea"/>
                  <a:cs typeface="+mn-ea"/>
                  <a:sym typeface="+mn-lt"/>
                </a:rPr>
                <a:t>尾数</a:t>
              </a:r>
            </a:p>
          </p:txBody>
        </p:sp>
      </p:grpSp>
      <p:cxnSp>
        <p:nvCxnSpPr>
          <p:cNvPr id="62" name="直接箭头连接符 61"/>
          <p:cNvCxnSpPr>
            <a:endCxn id="29" idx="0"/>
          </p:cNvCxnSpPr>
          <p:nvPr/>
        </p:nvCxnSpPr>
        <p:spPr>
          <a:xfrm flipH="1">
            <a:off x="2982445" y="4239473"/>
            <a:ext cx="207102" cy="40888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 flipV="1">
            <a:off x="3398736" y="4192194"/>
            <a:ext cx="1381553" cy="20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>
            <a:off x="4093506" y="4239473"/>
            <a:ext cx="462374" cy="5251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>
            <a:off x="4947457" y="4192194"/>
            <a:ext cx="4428605" cy="214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/>
        </p:nvCxnSpPr>
        <p:spPr>
          <a:xfrm>
            <a:off x="7161759" y="4221575"/>
            <a:ext cx="270672" cy="6698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1385618" y="5932246"/>
            <a:ext cx="26388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cs typeface="+mn-ea"/>
                <a:sym typeface="+mn-lt"/>
              </a:rPr>
              <a:t>即：</a:t>
            </a:r>
            <a:r>
              <a:rPr lang="en-US" altLang="zh-CN" sz="2400" b="1" dirty="0">
                <a:cs typeface="+mn-ea"/>
                <a:sym typeface="+mn-lt"/>
              </a:rPr>
              <a:t>C2D80666H</a:t>
            </a:r>
          </a:p>
        </p:txBody>
      </p:sp>
      <p:cxnSp>
        <p:nvCxnSpPr>
          <p:cNvPr id="43" name="直接连接符 42"/>
          <p:cNvCxnSpPr/>
          <p:nvPr/>
        </p:nvCxnSpPr>
        <p:spPr>
          <a:xfrm>
            <a:off x="3048962" y="4210655"/>
            <a:ext cx="2351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2818187" y="5163378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cs typeface="+mn-ea"/>
                <a:sym typeface="+mn-lt"/>
              </a:rPr>
              <a:t>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1630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2"/>
            <a:r>
              <a:rPr lang="zh-CN" altLang="en-US" sz="2800" b="1" dirty="0">
                <a:cs typeface="+mn-ea"/>
                <a:sym typeface="+mn-lt"/>
              </a:rPr>
              <a:t>浮点数表示及转换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 bwMode="auto">
          <a:xfrm>
            <a:off x="1036932" y="1095768"/>
            <a:ext cx="10177131" cy="4740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34988" marR="0" lvl="0" indent="-534988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zh-CN" altLang="en-US" sz="2800" b="1" dirty="0">
                <a:solidFill>
                  <a:srgbClr val="C00000"/>
                </a:solidFill>
                <a:cs typeface="+mn-ea"/>
                <a:sym typeface="+mn-lt"/>
              </a:rPr>
              <a:t>几个特殊数值：</a:t>
            </a:r>
            <a:endParaRPr lang="en-US" altLang="zh-CN" sz="2800" b="1" dirty="0">
              <a:solidFill>
                <a:srgbClr val="C00000"/>
              </a:solidFill>
              <a:cs typeface="+mn-ea"/>
              <a:sym typeface="+mn-lt"/>
            </a:endParaRPr>
          </a:p>
          <a:p>
            <a:pPr marL="534988" lvl="0" indent="-534988">
              <a:lnSpc>
                <a:spcPct val="125000"/>
              </a:lnSpc>
              <a:spcBef>
                <a:spcPct val="20000"/>
              </a:spcBef>
            </a:pPr>
            <a:r>
              <a:rPr lang="en-US" altLang="zh-CN" sz="2000" b="1" dirty="0">
                <a:solidFill>
                  <a:srgbClr val="B5138B"/>
                </a:solidFill>
                <a:cs typeface="+mn-ea"/>
                <a:sym typeface="+mn-lt"/>
              </a:rPr>
              <a:t>E</a:t>
            </a:r>
            <a:r>
              <a:rPr lang="zh-CN" altLang="en-US" sz="2000" b="1" dirty="0">
                <a:solidFill>
                  <a:srgbClr val="B5138B"/>
                </a:solidFill>
                <a:cs typeface="+mn-ea"/>
                <a:sym typeface="+mn-lt"/>
              </a:rPr>
              <a:t>为</a:t>
            </a:r>
            <a:r>
              <a:rPr lang="en-US" altLang="zh-CN" sz="2000" b="1" dirty="0">
                <a:solidFill>
                  <a:srgbClr val="B5138B"/>
                </a:solidFill>
                <a:cs typeface="+mn-ea"/>
                <a:sym typeface="+mn-lt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cs typeface="+mn-ea"/>
                <a:sym typeface="+mn-lt"/>
              </a:rPr>
              <a:t>00000000~11111111</a:t>
            </a:r>
            <a:r>
              <a:rPr lang="zh-CN" altLang="en-US" sz="2000" b="1" dirty="0">
                <a:solidFill>
                  <a:srgbClr val="C00000"/>
                </a:solidFill>
                <a:cs typeface="+mn-ea"/>
                <a:sym typeface="+mn-lt"/>
              </a:rPr>
              <a:t>对应</a:t>
            </a:r>
            <a:r>
              <a:rPr lang="en-US" altLang="zh-CN" sz="2000" b="1" dirty="0">
                <a:solidFill>
                  <a:srgbClr val="C00000"/>
                </a:solidFill>
                <a:cs typeface="+mn-ea"/>
                <a:sym typeface="+mn-lt"/>
              </a:rPr>
              <a:t>-127~128</a:t>
            </a:r>
            <a:endParaRPr lang="zh-CN" altLang="en-US" sz="2000" b="1" dirty="0">
              <a:solidFill>
                <a:srgbClr val="C00000"/>
              </a:solidFill>
              <a:cs typeface="+mn-ea"/>
              <a:sym typeface="+mn-lt"/>
            </a:endParaRPr>
          </a:p>
          <a:p>
            <a:pPr marL="534988" marR="0" lvl="1" indent="-534988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当</a:t>
            </a:r>
            <a:r>
              <a:rPr lang="en-US" altLang="zh-CN" sz="2000" b="1" dirty="0">
                <a:solidFill>
                  <a:srgbClr val="180D5B"/>
                </a:solidFill>
                <a:cs typeface="+mn-ea"/>
                <a:sym typeface="+mn-lt"/>
              </a:rPr>
              <a:t>E</a:t>
            </a: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的二进制位全为</a:t>
            </a:r>
            <a:r>
              <a:rPr lang="en-US" altLang="zh-CN" sz="2000" b="1" dirty="0">
                <a:solidFill>
                  <a:srgbClr val="180D5B"/>
                </a:solidFill>
                <a:cs typeface="+mn-ea"/>
                <a:sym typeface="+mn-lt"/>
              </a:rPr>
              <a:t>1</a:t>
            </a:r>
            <a:r>
              <a:rPr lang="zh-CN" altLang="en-US" sz="2000" b="1" dirty="0">
                <a:solidFill>
                  <a:srgbClr val="B5138B"/>
                </a:solidFill>
                <a:cs typeface="+mn-ea"/>
                <a:sym typeface="+mn-lt"/>
              </a:rPr>
              <a:t>（</a:t>
            </a:r>
            <a:r>
              <a:rPr lang="en-US" altLang="zh-CN" sz="2000" b="1" dirty="0">
                <a:solidFill>
                  <a:srgbClr val="B5138B"/>
                </a:solidFill>
                <a:cs typeface="+mn-ea"/>
                <a:sym typeface="+mn-lt"/>
              </a:rPr>
              <a:t>128</a:t>
            </a:r>
            <a:r>
              <a:rPr lang="zh-CN" altLang="en-US" sz="2000" b="1" dirty="0">
                <a:solidFill>
                  <a:srgbClr val="B5138B"/>
                </a:solidFill>
                <a:cs typeface="+mn-ea"/>
                <a:sym typeface="+mn-lt"/>
              </a:rPr>
              <a:t>）</a:t>
            </a: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时为特殊数值：此时，</a:t>
            </a:r>
          </a:p>
          <a:p>
            <a:pPr marL="534988" marR="0" lvl="2" indent="-87313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若</a:t>
            </a:r>
            <a:r>
              <a:rPr lang="en-US" altLang="zh-CN" sz="2000" b="1" dirty="0">
                <a:solidFill>
                  <a:srgbClr val="180D5B"/>
                </a:solidFill>
                <a:cs typeface="+mn-ea"/>
                <a:sym typeface="+mn-lt"/>
              </a:rPr>
              <a:t>M</a:t>
            </a: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的二进制位全为</a:t>
            </a:r>
            <a:r>
              <a:rPr lang="en-US" altLang="zh-CN" sz="2000" b="1" dirty="0">
                <a:solidFill>
                  <a:srgbClr val="180D5B"/>
                </a:solidFill>
                <a:cs typeface="+mn-ea"/>
                <a:sym typeface="+mn-lt"/>
              </a:rPr>
              <a:t>0</a:t>
            </a: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，则</a:t>
            </a:r>
            <a:r>
              <a:rPr lang="en-US" altLang="zh-CN" sz="2000" b="1" dirty="0">
                <a:solidFill>
                  <a:srgbClr val="180D5B"/>
                </a:solidFill>
                <a:cs typeface="+mn-ea"/>
                <a:sym typeface="+mn-lt"/>
              </a:rPr>
              <a:t>n</a:t>
            </a: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表示无穷大。</a:t>
            </a:r>
            <a:endParaRPr lang="en-US" altLang="zh-CN" sz="2000" b="1" dirty="0">
              <a:solidFill>
                <a:srgbClr val="180D5B"/>
              </a:solidFill>
              <a:cs typeface="+mn-ea"/>
              <a:sym typeface="+mn-lt"/>
            </a:endParaRPr>
          </a:p>
          <a:p>
            <a:pPr marL="534988" marR="0" lvl="2" indent="-87313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若</a:t>
            </a:r>
            <a:r>
              <a:rPr lang="en-US" altLang="zh-CN" sz="2000" b="1" dirty="0">
                <a:solidFill>
                  <a:srgbClr val="180D5B"/>
                </a:solidFill>
                <a:cs typeface="+mn-ea"/>
                <a:sym typeface="+mn-lt"/>
              </a:rPr>
              <a:t>S</a:t>
            </a: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为</a:t>
            </a:r>
            <a:r>
              <a:rPr lang="en-US" altLang="zh-CN" sz="2000" b="1" dirty="0">
                <a:solidFill>
                  <a:srgbClr val="180D5B"/>
                </a:solidFill>
                <a:cs typeface="+mn-ea"/>
                <a:sym typeface="+mn-lt"/>
              </a:rPr>
              <a:t>1</a:t>
            </a: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则为负无穷大，若</a:t>
            </a:r>
            <a:r>
              <a:rPr lang="en-US" altLang="zh-CN" sz="2000" b="1" dirty="0">
                <a:solidFill>
                  <a:srgbClr val="180D5B"/>
                </a:solidFill>
                <a:cs typeface="+mn-ea"/>
                <a:sym typeface="+mn-lt"/>
              </a:rPr>
              <a:t>S</a:t>
            </a: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为</a:t>
            </a:r>
            <a:r>
              <a:rPr lang="en-US" altLang="zh-CN" sz="2000" b="1" dirty="0">
                <a:solidFill>
                  <a:srgbClr val="180D5B"/>
                </a:solidFill>
                <a:cs typeface="+mn-ea"/>
                <a:sym typeface="+mn-lt"/>
              </a:rPr>
              <a:t>0</a:t>
            </a: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则为正无穷大</a:t>
            </a:r>
            <a:r>
              <a:rPr lang="en-US" altLang="zh-CN" sz="2000" b="1" dirty="0">
                <a:solidFill>
                  <a:srgbClr val="180D5B"/>
                </a:solidFill>
                <a:cs typeface="+mn-ea"/>
                <a:sym typeface="+mn-lt"/>
              </a:rPr>
              <a:t>; </a:t>
            </a:r>
          </a:p>
          <a:p>
            <a:pPr marL="534988" lvl="2" indent="-87313">
              <a:lnSpc>
                <a:spcPct val="125000"/>
              </a:lnSpc>
              <a:spcBef>
                <a:spcPct val="20000"/>
              </a:spcBef>
            </a:pP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若</a:t>
            </a:r>
            <a:r>
              <a:rPr lang="en-US" altLang="zh-CN" sz="2000" b="1" dirty="0">
                <a:solidFill>
                  <a:srgbClr val="180D5B"/>
                </a:solidFill>
                <a:cs typeface="+mn-ea"/>
                <a:sym typeface="+mn-lt"/>
              </a:rPr>
              <a:t>M</a:t>
            </a: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的二进制位不全为</a:t>
            </a:r>
            <a:r>
              <a:rPr lang="en-US" altLang="zh-CN" sz="2000" b="1" dirty="0">
                <a:solidFill>
                  <a:srgbClr val="180D5B"/>
                </a:solidFill>
                <a:cs typeface="+mn-ea"/>
                <a:sym typeface="+mn-lt"/>
              </a:rPr>
              <a:t>0</a:t>
            </a: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时，表示</a:t>
            </a:r>
            <a:r>
              <a:rPr lang="en-US" altLang="zh-CN" sz="2000" b="1" dirty="0" err="1">
                <a:solidFill>
                  <a:srgbClr val="180D5B"/>
                </a:solidFill>
                <a:cs typeface="+mn-ea"/>
                <a:sym typeface="+mn-lt"/>
              </a:rPr>
              <a:t>NaN</a:t>
            </a:r>
            <a:r>
              <a:rPr lang="en-US" altLang="zh-CN" sz="2000" b="1" dirty="0">
                <a:solidFill>
                  <a:srgbClr val="180D5B"/>
                </a:solidFill>
                <a:cs typeface="+mn-ea"/>
                <a:sym typeface="+mn-lt"/>
              </a:rPr>
              <a:t>(Not a Number),</a:t>
            </a: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表示这不是一个合法实数。</a:t>
            </a:r>
          </a:p>
          <a:p>
            <a:pPr marL="534988" lvl="1" indent="-534988">
              <a:lnSpc>
                <a:spcPct val="125000"/>
              </a:lnSpc>
              <a:spcBef>
                <a:spcPct val="20000"/>
              </a:spcBef>
            </a:pPr>
            <a:r>
              <a:rPr lang="en-US" altLang="zh-CN" sz="2000" b="1" dirty="0">
                <a:solidFill>
                  <a:srgbClr val="180D5B"/>
                </a:solidFill>
                <a:cs typeface="+mn-ea"/>
                <a:sym typeface="+mn-lt"/>
              </a:rPr>
              <a:t>E</a:t>
            </a: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为全</a:t>
            </a:r>
            <a:r>
              <a:rPr lang="en-US" altLang="zh-CN" sz="2000" b="1" dirty="0">
                <a:solidFill>
                  <a:srgbClr val="180D5B"/>
                </a:solidFill>
                <a:cs typeface="+mn-ea"/>
                <a:sym typeface="+mn-lt"/>
              </a:rPr>
              <a:t>0</a:t>
            </a: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 </a:t>
            </a:r>
            <a:r>
              <a:rPr lang="zh-CN" altLang="en-US" sz="2000" b="1" dirty="0">
                <a:solidFill>
                  <a:srgbClr val="B5138B"/>
                </a:solidFill>
                <a:cs typeface="+mn-ea"/>
                <a:sym typeface="+mn-lt"/>
              </a:rPr>
              <a:t>（</a:t>
            </a:r>
            <a:r>
              <a:rPr lang="en-US" altLang="zh-CN" sz="2000" b="1" dirty="0">
                <a:solidFill>
                  <a:srgbClr val="B5138B"/>
                </a:solidFill>
                <a:cs typeface="+mn-ea"/>
                <a:sym typeface="+mn-lt"/>
              </a:rPr>
              <a:t>-127</a:t>
            </a:r>
            <a:r>
              <a:rPr lang="zh-CN" altLang="en-US" sz="2000" b="1" dirty="0">
                <a:solidFill>
                  <a:srgbClr val="B5138B"/>
                </a:solidFill>
                <a:cs typeface="+mn-ea"/>
                <a:sym typeface="+mn-lt"/>
              </a:rPr>
              <a:t>）</a:t>
            </a: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时：</a:t>
            </a:r>
            <a:r>
              <a:rPr lang="en-US" altLang="zh-CN" sz="2000" b="1" dirty="0">
                <a:solidFill>
                  <a:srgbClr val="180D5B"/>
                </a:solidFill>
                <a:cs typeface="+mn-ea"/>
                <a:sym typeface="+mn-lt"/>
              </a:rPr>
              <a:t>M</a:t>
            </a: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全为</a:t>
            </a:r>
            <a:r>
              <a:rPr lang="en-US" altLang="zh-CN" sz="2000" b="1" dirty="0">
                <a:solidFill>
                  <a:srgbClr val="180D5B"/>
                </a:solidFill>
                <a:cs typeface="+mn-ea"/>
                <a:sym typeface="+mn-lt"/>
              </a:rPr>
              <a:t>0</a:t>
            </a: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时，表示机器</a:t>
            </a:r>
            <a:r>
              <a:rPr lang="en-US" altLang="zh-CN" sz="2000" b="1" dirty="0">
                <a:solidFill>
                  <a:srgbClr val="180D5B"/>
                </a:solidFill>
                <a:cs typeface="+mn-ea"/>
                <a:sym typeface="+mn-lt"/>
              </a:rPr>
              <a:t>0</a:t>
            </a: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；</a:t>
            </a:r>
            <a:endParaRPr lang="en-US" altLang="zh-CN" sz="2000" b="1" dirty="0">
              <a:solidFill>
                <a:srgbClr val="180D5B"/>
              </a:solidFill>
              <a:cs typeface="+mn-ea"/>
              <a:sym typeface="+mn-lt"/>
            </a:endParaRPr>
          </a:p>
          <a:p>
            <a:pPr marL="534988" lvl="1" indent="-534988">
              <a:lnSpc>
                <a:spcPct val="125000"/>
              </a:lnSpc>
              <a:spcBef>
                <a:spcPct val="20000"/>
              </a:spcBef>
            </a:pPr>
            <a:r>
              <a:rPr lang="en-US" altLang="zh-CN" sz="2000" b="1" dirty="0">
                <a:solidFill>
                  <a:srgbClr val="180D5B"/>
                </a:solidFill>
                <a:cs typeface="+mn-ea"/>
                <a:sym typeface="+mn-lt"/>
              </a:rPr>
              <a:t>			     M</a:t>
            </a: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不全为</a:t>
            </a:r>
            <a:r>
              <a:rPr lang="en-US" altLang="zh-CN" sz="2000" b="1" dirty="0">
                <a:solidFill>
                  <a:srgbClr val="180D5B"/>
                </a:solidFill>
                <a:cs typeface="+mn-ea"/>
                <a:sym typeface="+mn-lt"/>
              </a:rPr>
              <a:t>0</a:t>
            </a: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时，表示非规格化的数。</a:t>
            </a:r>
          </a:p>
          <a:p>
            <a:pPr marL="534988" lvl="1" indent="-534988">
              <a:lnSpc>
                <a:spcPct val="125000"/>
              </a:lnSpc>
              <a:spcBef>
                <a:spcPct val="20000"/>
              </a:spcBef>
            </a:pP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单精度数</a:t>
            </a:r>
            <a:r>
              <a:rPr lang="en-US" altLang="zh-CN" sz="2000" b="1" dirty="0">
                <a:solidFill>
                  <a:srgbClr val="180D5B"/>
                </a:solidFill>
                <a:cs typeface="+mn-ea"/>
                <a:sym typeface="+mn-lt"/>
              </a:rPr>
              <a:t>E</a:t>
            </a: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的取值为</a:t>
            </a:r>
            <a:r>
              <a:rPr lang="en-US" altLang="zh-CN" sz="2000" b="1" dirty="0">
                <a:solidFill>
                  <a:srgbClr val="180D5B"/>
                </a:solidFill>
                <a:cs typeface="+mn-ea"/>
                <a:sym typeface="+mn-lt"/>
              </a:rPr>
              <a:t>1</a:t>
            </a: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～</a:t>
            </a:r>
            <a:r>
              <a:rPr lang="en-US" altLang="zh-CN" sz="2000" b="1" dirty="0">
                <a:solidFill>
                  <a:srgbClr val="180D5B"/>
                </a:solidFill>
                <a:cs typeface="+mn-ea"/>
                <a:sym typeface="+mn-lt"/>
              </a:rPr>
              <a:t>254 </a:t>
            </a:r>
            <a:r>
              <a:rPr lang="zh-CN" altLang="en-US" sz="2000" b="1" dirty="0">
                <a:solidFill>
                  <a:srgbClr val="C00000"/>
                </a:solidFill>
                <a:cs typeface="+mn-ea"/>
                <a:sym typeface="+mn-lt"/>
              </a:rPr>
              <a:t>（</a:t>
            </a:r>
            <a:r>
              <a:rPr lang="en-US" altLang="zh-CN" sz="2000" b="1" dirty="0">
                <a:solidFill>
                  <a:srgbClr val="C00000"/>
                </a:solidFill>
                <a:cs typeface="+mn-ea"/>
                <a:sym typeface="+mn-lt"/>
              </a:rPr>
              <a:t>-126~127</a:t>
            </a:r>
            <a:r>
              <a:rPr lang="zh-CN" altLang="en-US" sz="2000" b="1" dirty="0">
                <a:solidFill>
                  <a:srgbClr val="C00000"/>
                </a:solidFill>
                <a:cs typeface="+mn-ea"/>
                <a:sym typeface="+mn-lt"/>
              </a:rPr>
              <a:t>）</a:t>
            </a:r>
            <a:r>
              <a:rPr lang="en-US" altLang="zh-CN" sz="2000" b="1" dirty="0">
                <a:solidFill>
                  <a:srgbClr val="C00000"/>
                </a:solidFill>
                <a:cs typeface="+mn-ea"/>
                <a:sym typeface="+mn-lt"/>
              </a:rPr>
              <a:t> </a:t>
            </a: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（</a:t>
            </a:r>
            <a:r>
              <a:rPr lang="en-US" altLang="zh-CN" sz="2000" b="1" dirty="0">
                <a:solidFill>
                  <a:srgbClr val="180D5B"/>
                </a:solidFill>
                <a:cs typeface="+mn-ea"/>
                <a:sym typeface="+mn-lt"/>
              </a:rPr>
              <a:t>8</a:t>
            </a: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位表示），</a:t>
            </a:r>
            <a:r>
              <a:rPr lang="en-US" altLang="zh-CN" sz="2000" b="1" dirty="0">
                <a:solidFill>
                  <a:srgbClr val="180D5B"/>
                </a:solidFill>
                <a:cs typeface="+mn-ea"/>
                <a:sym typeface="+mn-lt"/>
              </a:rPr>
              <a:t>M</a:t>
            </a: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为</a:t>
            </a:r>
            <a:r>
              <a:rPr lang="en-US" altLang="zh-CN" sz="2000" b="1" dirty="0">
                <a:solidFill>
                  <a:srgbClr val="180D5B"/>
                </a:solidFill>
                <a:cs typeface="+mn-ea"/>
                <a:sym typeface="+mn-lt"/>
              </a:rPr>
              <a:t>23</a:t>
            </a: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位，共</a:t>
            </a:r>
            <a:r>
              <a:rPr lang="en-US" altLang="zh-CN" sz="2000" b="1" dirty="0">
                <a:solidFill>
                  <a:srgbClr val="180D5B"/>
                </a:solidFill>
                <a:cs typeface="+mn-ea"/>
                <a:sym typeface="+mn-lt"/>
              </a:rPr>
              <a:t>32</a:t>
            </a: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位；</a:t>
            </a:r>
            <a:endParaRPr lang="en-US" altLang="zh-CN" sz="2000" b="1" dirty="0">
              <a:solidFill>
                <a:srgbClr val="180D5B"/>
              </a:solidFill>
              <a:cs typeface="+mn-ea"/>
              <a:sym typeface="+mn-lt"/>
            </a:endParaRPr>
          </a:p>
          <a:p>
            <a:pPr marL="534988" lvl="1" indent="-534988">
              <a:lnSpc>
                <a:spcPct val="125000"/>
              </a:lnSpc>
              <a:spcBef>
                <a:spcPct val="20000"/>
              </a:spcBef>
            </a:pP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双精度数</a:t>
            </a:r>
            <a:r>
              <a:rPr lang="en-US" altLang="zh-CN" sz="2000" b="1" dirty="0">
                <a:solidFill>
                  <a:srgbClr val="180D5B"/>
                </a:solidFill>
                <a:cs typeface="+mn-ea"/>
                <a:sym typeface="+mn-lt"/>
              </a:rPr>
              <a:t>E</a:t>
            </a: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的取值为</a:t>
            </a:r>
            <a:r>
              <a:rPr lang="en-US" altLang="zh-CN" sz="2000" b="1" dirty="0">
                <a:solidFill>
                  <a:srgbClr val="180D5B"/>
                </a:solidFill>
                <a:cs typeface="+mn-ea"/>
                <a:sym typeface="+mn-lt"/>
              </a:rPr>
              <a:t>1</a:t>
            </a: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～</a:t>
            </a:r>
            <a:r>
              <a:rPr lang="en-US" altLang="zh-CN" sz="2000" b="1" dirty="0">
                <a:solidFill>
                  <a:srgbClr val="180D5B"/>
                </a:solidFill>
                <a:cs typeface="+mn-ea"/>
                <a:sym typeface="+mn-lt"/>
              </a:rPr>
              <a:t>2046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2000" b="1" dirty="0">
                <a:solidFill>
                  <a:srgbClr val="C00000"/>
                </a:solidFill>
                <a:cs typeface="+mn-ea"/>
                <a:sym typeface="+mn-lt"/>
              </a:rPr>
              <a:t>（</a:t>
            </a:r>
            <a:r>
              <a:rPr lang="en-US" altLang="zh-CN" sz="2000" b="1" dirty="0">
                <a:solidFill>
                  <a:srgbClr val="C00000"/>
                </a:solidFill>
                <a:cs typeface="+mn-ea"/>
                <a:sym typeface="+mn-lt"/>
              </a:rPr>
              <a:t>-1022~1023</a:t>
            </a:r>
            <a:r>
              <a:rPr lang="zh-CN" altLang="en-US" sz="2000" b="1" dirty="0">
                <a:solidFill>
                  <a:srgbClr val="C00000"/>
                </a:solidFill>
                <a:cs typeface="+mn-ea"/>
                <a:sym typeface="+mn-lt"/>
              </a:rPr>
              <a:t>）</a:t>
            </a:r>
            <a:r>
              <a:rPr lang="en-US" altLang="zh-CN" sz="2000" b="1" dirty="0">
                <a:solidFill>
                  <a:srgbClr val="C00000"/>
                </a:solidFill>
                <a:cs typeface="+mn-ea"/>
                <a:sym typeface="+mn-lt"/>
              </a:rPr>
              <a:t> </a:t>
            </a: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（</a:t>
            </a:r>
            <a:r>
              <a:rPr lang="en-US" altLang="zh-CN" sz="2000" b="1" dirty="0">
                <a:solidFill>
                  <a:srgbClr val="180D5B"/>
                </a:solidFill>
                <a:cs typeface="+mn-ea"/>
                <a:sym typeface="+mn-lt"/>
              </a:rPr>
              <a:t>11</a:t>
            </a: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位表示），</a:t>
            </a:r>
            <a:r>
              <a:rPr lang="en-US" altLang="zh-CN" sz="2000" b="1" dirty="0">
                <a:solidFill>
                  <a:srgbClr val="180D5B"/>
                </a:solidFill>
                <a:cs typeface="+mn-ea"/>
                <a:sym typeface="+mn-lt"/>
              </a:rPr>
              <a:t>M</a:t>
            </a: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为</a:t>
            </a:r>
            <a:r>
              <a:rPr lang="en-US" altLang="zh-CN" sz="2000" b="1" dirty="0">
                <a:solidFill>
                  <a:srgbClr val="180D5B"/>
                </a:solidFill>
                <a:cs typeface="+mn-ea"/>
                <a:sym typeface="+mn-lt"/>
              </a:rPr>
              <a:t>52</a:t>
            </a: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位，共</a:t>
            </a:r>
            <a:r>
              <a:rPr lang="en-US" altLang="zh-CN" sz="2000" b="1" dirty="0">
                <a:solidFill>
                  <a:srgbClr val="180D5B"/>
                </a:solidFill>
                <a:cs typeface="+mn-ea"/>
                <a:sym typeface="+mn-lt"/>
              </a:rPr>
              <a:t>64</a:t>
            </a:r>
            <a:r>
              <a:rPr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位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80D5B"/>
                </a:solidFill>
                <a:effectLst/>
                <a:uLnTx/>
                <a:uFillTx/>
                <a:cs typeface="+mn-ea"/>
                <a:sym typeface="+mn-lt"/>
              </a:rPr>
              <a:t>。 </a:t>
            </a:r>
          </a:p>
        </p:txBody>
      </p:sp>
    </p:spTree>
    <p:extLst>
      <p:ext uri="{BB962C8B-B14F-4D97-AF65-F5344CB8AC3E}">
        <p14:creationId xmlns:p14="http://schemas.microsoft.com/office/powerpoint/2010/main" val="2818415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1102453" y="1246314"/>
            <a:ext cx="6584447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latin typeface="+mn-lt"/>
                <a:ea typeface="+mn-ea"/>
                <a:cs typeface="+mn-ea"/>
                <a:sym typeface="+mn-lt"/>
              </a:rPr>
              <a:t>思考：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2"/>
            <a:r>
              <a:rPr lang="zh-CN" altLang="en-US" sz="2800" b="1" dirty="0">
                <a:cs typeface="+mn-ea"/>
                <a:sym typeface="+mn-lt"/>
              </a:rPr>
              <a:t>浮点数表示及转换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311696" y="1286952"/>
            <a:ext cx="911735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180D5B"/>
                </a:solidFill>
                <a:cs typeface="+mn-ea"/>
                <a:sym typeface="+mn-lt"/>
              </a:rPr>
              <a:t>将十进制数</a:t>
            </a:r>
            <a:r>
              <a:rPr lang="en-US" altLang="zh-CN" sz="2400" b="1" dirty="0">
                <a:solidFill>
                  <a:srgbClr val="180D5B"/>
                </a:solidFill>
                <a:cs typeface="+mn-ea"/>
                <a:sym typeface="+mn-lt"/>
              </a:rPr>
              <a:t>9</a:t>
            </a:r>
            <a:r>
              <a:rPr lang="zh-CN" altLang="en-US" sz="2400" b="1" dirty="0">
                <a:solidFill>
                  <a:srgbClr val="180D5B"/>
                </a:solidFill>
                <a:cs typeface="+mn-ea"/>
                <a:sym typeface="+mn-lt"/>
              </a:rPr>
              <a:t>转换为</a:t>
            </a:r>
            <a:r>
              <a:rPr lang="en-US" altLang="zh-CN" sz="2400" b="1" dirty="0">
                <a:solidFill>
                  <a:srgbClr val="180D5B"/>
                </a:solidFill>
                <a:cs typeface="+mn-ea"/>
                <a:sym typeface="+mn-lt"/>
              </a:rPr>
              <a:t>IEEE754</a:t>
            </a:r>
            <a:r>
              <a:rPr lang="zh-CN" altLang="en-US" sz="2400" b="1" dirty="0">
                <a:solidFill>
                  <a:srgbClr val="180D5B"/>
                </a:solidFill>
                <a:cs typeface="+mn-ea"/>
                <a:sym typeface="+mn-lt"/>
              </a:rPr>
              <a:t>标准的单精度数是多少</a:t>
            </a:r>
            <a:r>
              <a:rPr lang="zh-CN" altLang="en-US" sz="2400" b="1" dirty="0" smtClean="0">
                <a:solidFill>
                  <a:srgbClr val="180D5B"/>
                </a:solidFill>
                <a:cs typeface="+mn-ea"/>
                <a:sym typeface="+mn-lt"/>
              </a:rPr>
              <a:t>？如果</a:t>
            </a:r>
            <a:r>
              <a:rPr lang="zh-CN" altLang="en-US" sz="2400" b="1" dirty="0">
                <a:solidFill>
                  <a:srgbClr val="180D5B"/>
                </a:solidFill>
                <a:cs typeface="+mn-ea"/>
                <a:sym typeface="+mn-lt"/>
              </a:rPr>
              <a:t>用补码来表示是多少？</a:t>
            </a:r>
            <a:endParaRPr lang="zh-CN" altLang="en-US" sz="2400" dirty="0">
              <a:solidFill>
                <a:srgbClr val="180D5B"/>
              </a:solidFill>
              <a:cs typeface="+mn-ea"/>
              <a:sym typeface="+mn-lt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102453" y="2382980"/>
            <a:ext cx="9208477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解答：（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）转换成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IEEE754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标准的单精度数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 marL="342900" lvl="0" indent="-342900" fontAlgn="base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     9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= (-1)</a:t>
            </a:r>
            <a:r>
              <a:rPr lang="en-US" altLang="zh-CN" sz="2000" baseline="30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0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×1001=(-1)</a:t>
            </a:r>
            <a:r>
              <a:rPr lang="en-US" altLang="zh-CN" sz="2000" baseline="30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0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×2</a:t>
            </a:r>
            <a:r>
              <a:rPr lang="en-US" altLang="zh-CN" sz="2000" baseline="30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3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×1.001 =(-1)</a:t>
            </a:r>
            <a:r>
              <a:rPr lang="en-US" altLang="zh-CN" sz="2000" baseline="30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0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×2</a:t>
            </a:r>
            <a:r>
              <a:rPr lang="en-US" altLang="zh-CN" sz="2000" baseline="30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130-127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×1.001 </a:t>
            </a:r>
          </a:p>
          <a:p>
            <a:pPr marL="742950" lvl="1" indent="-285750" fontAlgn="base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二进制代码为：</a:t>
            </a:r>
          </a:p>
          <a:p>
            <a:pPr marL="742950" lvl="1" indent="-285750" fontAlgn="base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0 10000010  00100000000000000000000    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即：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41100000H</a:t>
            </a:r>
          </a:p>
          <a:p>
            <a:pPr marL="742950" lvl="1" indent="-285750" fontAlgn="base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（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）如果表示成补码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 marL="742950" lvl="1" indent="-285750" fontAlgn="base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9 = 1001   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即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00000009H     </a:t>
            </a:r>
          </a:p>
        </p:txBody>
      </p:sp>
    </p:spTree>
    <p:extLst>
      <p:ext uri="{BB962C8B-B14F-4D97-AF65-F5344CB8AC3E}">
        <p14:creationId xmlns:p14="http://schemas.microsoft.com/office/powerpoint/2010/main" val="3383624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2"/>
            <a:r>
              <a:rPr lang="zh-CN" altLang="en-US" sz="2800" b="1" dirty="0">
                <a:cs typeface="+mn-ea"/>
                <a:sym typeface="+mn-lt"/>
              </a:rPr>
              <a:t>浮点数表示及转换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1563DC9A-CF26-4EDE-BA36-41DCBF67DF9F}"/>
              </a:ext>
            </a:extLst>
          </p:cNvPr>
          <p:cNvSpPr txBox="1">
            <a:spLocks/>
          </p:cNvSpPr>
          <p:nvPr/>
        </p:nvSpPr>
        <p:spPr>
          <a:xfrm>
            <a:off x="840722" y="961677"/>
            <a:ext cx="4618757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问题与思考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53FEAD35-24E4-41F4-B024-109FC02286DD}"/>
              </a:ext>
            </a:extLst>
          </p:cNvPr>
          <p:cNvSpPr txBox="1">
            <a:spLocks/>
          </p:cNvSpPr>
          <p:nvPr/>
        </p:nvSpPr>
        <p:spPr>
          <a:xfrm>
            <a:off x="905380" y="1458262"/>
            <a:ext cx="9597686" cy="1122824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zh-CN" altLang="en-US" sz="2400" dirty="0">
                <a:cs typeface="+mn-ea"/>
                <a:sym typeface="+mn-lt"/>
              </a:rPr>
              <a:t>将下列浮点数的内存映像用</a:t>
            </a:r>
            <a:r>
              <a:rPr lang="en-US" altLang="zh-CN" sz="2400" dirty="0">
                <a:cs typeface="+mn-ea"/>
                <a:sym typeface="+mn-lt"/>
              </a:rPr>
              <a:t>16</a:t>
            </a:r>
            <a:r>
              <a:rPr lang="zh-CN" altLang="en-US" sz="2400" dirty="0">
                <a:cs typeface="+mn-ea"/>
                <a:sym typeface="+mn-lt"/>
              </a:rPr>
              <a:t>进制表示</a:t>
            </a:r>
            <a:endParaRPr lang="en-US" altLang="zh-CN" sz="2400" dirty="0">
              <a:cs typeface="+mn-ea"/>
              <a:sym typeface="+mn-lt"/>
            </a:endParaRPr>
          </a:p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en-US" altLang="zh-CN" sz="2400" dirty="0">
                <a:cs typeface="+mn-ea"/>
                <a:sym typeface="+mn-lt"/>
              </a:rPr>
              <a:t>0.15625</a:t>
            </a:r>
            <a:r>
              <a:rPr lang="zh-CN" altLang="en-US" sz="2400" dirty="0">
                <a:cs typeface="+mn-ea"/>
                <a:sym typeface="+mn-lt"/>
              </a:rPr>
              <a:t>，       </a:t>
            </a:r>
            <a:r>
              <a:rPr lang="en-US" altLang="zh-CN" sz="2400" dirty="0">
                <a:cs typeface="+mn-ea"/>
                <a:sym typeface="+mn-lt"/>
              </a:rPr>
              <a:t>-5</a:t>
            </a:r>
            <a:r>
              <a:rPr lang="zh-CN" altLang="en-US" sz="2400" dirty="0">
                <a:cs typeface="+mn-ea"/>
                <a:sym typeface="+mn-lt"/>
              </a:rPr>
              <a:t>，       </a:t>
            </a:r>
            <a:r>
              <a:rPr lang="en-US" altLang="zh-CN" sz="2400" dirty="0">
                <a:cs typeface="+mn-ea"/>
                <a:sym typeface="+mn-lt"/>
              </a:rPr>
              <a:t>    13/32</a:t>
            </a:r>
            <a:endParaRPr lang="zh-CN" altLang="en-US" sz="24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53520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2"/>
            <a:r>
              <a:rPr lang="zh-CN" altLang="en-US" sz="2800" b="1" dirty="0">
                <a:cs typeface="+mn-ea"/>
                <a:sym typeface="+mn-lt"/>
              </a:rPr>
              <a:t>浮点数表示及转换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1563DC9A-CF26-4EDE-BA36-41DCBF67DF9F}"/>
              </a:ext>
            </a:extLst>
          </p:cNvPr>
          <p:cNvSpPr txBox="1">
            <a:spLocks/>
          </p:cNvSpPr>
          <p:nvPr/>
        </p:nvSpPr>
        <p:spPr>
          <a:xfrm>
            <a:off x="840722" y="961677"/>
            <a:ext cx="4618757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问题与思考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3CE1E79-7A04-4777-9CA2-784E090B942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535925" y="1458262"/>
            <a:ext cx="11064947" cy="470058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indent="0" defTabSz="914354">
              <a:lnSpc>
                <a:spcPct val="125000"/>
              </a:lnSpc>
              <a:spcBef>
                <a:spcPts val="1000"/>
              </a:spcBef>
              <a:buNone/>
            </a:pPr>
            <a:r>
              <a:rPr lang="zh-CN" altLang="en-US" sz="2000" b="1" dirty="0">
                <a:cs typeface="+mn-ea"/>
              </a:rPr>
              <a:t>解</a:t>
            </a:r>
            <a:r>
              <a:rPr lang="zh-CN" altLang="en-US" sz="2000" b="1" dirty="0">
                <a:cs typeface="+mn-ea"/>
                <a:sym typeface="Wingdings" panose="05000000000000000000" pitchFamily="2" charset="2"/>
              </a:rPr>
              <a:t> （</a:t>
            </a:r>
            <a:r>
              <a:rPr lang="en-US" altLang="zh-CN" sz="2000" b="1" dirty="0">
                <a:cs typeface="+mn-ea"/>
                <a:sym typeface="Wingdings" panose="05000000000000000000" pitchFamily="2" charset="2"/>
              </a:rPr>
              <a:t>1</a:t>
            </a:r>
            <a:r>
              <a:rPr lang="zh-CN" altLang="en-US" sz="2000" b="1" dirty="0">
                <a:cs typeface="+mn-ea"/>
                <a:sym typeface="Wingdings" panose="05000000000000000000" pitchFamily="2" charset="2"/>
              </a:rPr>
              <a:t>）</a:t>
            </a:r>
            <a:r>
              <a:rPr lang="zh-CN" altLang="en-US" sz="2000" b="1" dirty="0">
                <a:cs typeface="+mn-ea"/>
              </a:rPr>
              <a:t> </a:t>
            </a:r>
            <a:r>
              <a:rPr lang="en-US" altLang="zh-CN" sz="2000" b="1" dirty="0">
                <a:cs typeface="+mn-ea"/>
              </a:rPr>
              <a:t>0.15625</a:t>
            </a:r>
            <a:r>
              <a:rPr lang="zh-CN" altLang="en-US" sz="2000" b="1" dirty="0">
                <a:cs typeface="+mn-ea"/>
              </a:rPr>
              <a:t>转换成二进制值为</a:t>
            </a:r>
            <a:r>
              <a:rPr lang="en-US" altLang="zh-CN" sz="2000" b="1" dirty="0">
                <a:cs typeface="+mn-ea"/>
              </a:rPr>
              <a:t>0.00101B</a:t>
            </a:r>
            <a:r>
              <a:rPr lang="zh-CN" altLang="en-US" sz="2000" b="1" dirty="0">
                <a:cs typeface="+mn-ea"/>
              </a:rPr>
              <a:t>，</a:t>
            </a:r>
          </a:p>
          <a:p>
            <a:pPr indent="0" defTabSz="914354">
              <a:lnSpc>
                <a:spcPct val="125000"/>
              </a:lnSpc>
              <a:spcBef>
                <a:spcPts val="1000"/>
              </a:spcBef>
              <a:buNone/>
            </a:pPr>
            <a:r>
              <a:rPr lang="zh-CN" altLang="en-US" sz="2000" b="1" dirty="0">
                <a:cs typeface="+mn-ea"/>
              </a:rPr>
              <a:t>在</a:t>
            </a:r>
            <a:r>
              <a:rPr lang="en-US" altLang="zh-CN" sz="2000" b="1" dirty="0">
                <a:cs typeface="+mn-ea"/>
              </a:rPr>
              <a:t>IEEE754</a:t>
            </a:r>
            <a:r>
              <a:rPr lang="zh-CN" altLang="en-US" sz="2000" b="1" dirty="0">
                <a:cs typeface="+mn-ea"/>
              </a:rPr>
              <a:t>中规格化表示为</a:t>
            </a:r>
            <a:r>
              <a:rPr lang="en-US" altLang="zh-CN" sz="2000" b="1" dirty="0">
                <a:cs typeface="+mn-ea"/>
              </a:rPr>
              <a:t>1.01×2</a:t>
            </a:r>
            <a:r>
              <a:rPr lang="zh-CN" altLang="en-US" sz="2000" b="1" baseline="30000" dirty="0">
                <a:cs typeface="+mn-ea"/>
              </a:rPr>
              <a:t>－</a:t>
            </a:r>
            <a:r>
              <a:rPr lang="en-US" altLang="zh-CN" sz="2000" b="1" baseline="30000" dirty="0">
                <a:cs typeface="+mn-ea"/>
              </a:rPr>
              <a:t>3</a:t>
            </a:r>
            <a:r>
              <a:rPr lang="zh-CN" altLang="en-US" sz="2000" b="1" dirty="0">
                <a:cs typeface="+mn-ea"/>
              </a:rPr>
              <a:t>，</a:t>
            </a:r>
            <a:r>
              <a:rPr lang="en-US" altLang="zh-CN" sz="2000" b="1" dirty="0">
                <a:cs typeface="+mn-ea"/>
              </a:rPr>
              <a:t>e</a:t>
            </a:r>
            <a:r>
              <a:rPr lang="zh-CN" altLang="en-US" sz="2000" b="1" dirty="0">
                <a:cs typeface="+mn-ea"/>
              </a:rPr>
              <a:t>＝</a:t>
            </a:r>
            <a:r>
              <a:rPr lang="en-US" altLang="zh-CN" sz="2000" b="1" dirty="0">
                <a:cs typeface="+mn-ea"/>
              </a:rPr>
              <a:t>127</a:t>
            </a:r>
            <a:r>
              <a:rPr lang="zh-CN" altLang="en-US" sz="2000" b="1" dirty="0">
                <a:cs typeface="+mn-ea"/>
              </a:rPr>
              <a:t>－</a:t>
            </a:r>
            <a:r>
              <a:rPr lang="en-US" altLang="zh-CN" sz="2000" b="1" dirty="0">
                <a:cs typeface="+mn-ea"/>
              </a:rPr>
              <a:t>3</a:t>
            </a:r>
            <a:r>
              <a:rPr lang="zh-CN" altLang="en-US" sz="2000" b="1" dirty="0">
                <a:cs typeface="+mn-ea"/>
              </a:rPr>
              <a:t>＝</a:t>
            </a:r>
            <a:r>
              <a:rPr lang="en-US" altLang="zh-CN" sz="2000" b="1" dirty="0">
                <a:cs typeface="+mn-ea"/>
              </a:rPr>
              <a:t>124</a:t>
            </a:r>
            <a:r>
              <a:rPr lang="zh-CN" altLang="en-US" sz="2000" b="1" dirty="0">
                <a:cs typeface="+mn-ea"/>
              </a:rPr>
              <a:t>，</a:t>
            </a:r>
          </a:p>
          <a:p>
            <a:pPr indent="0" defTabSz="914354">
              <a:lnSpc>
                <a:spcPct val="125000"/>
              </a:lnSpc>
              <a:spcBef>
                <a:spcPts val="1000"/>
              </a:spcBef>
              <a:buNone/>
            </a:pPr>
            <a:r>
              <a:rPr lang="en-US" altLang="zh-CN" sz="2000" b="1" dirty="0">
                <a:cs typeface="+mn-ea"/>
              </a:rPr>
              <a:t>IEEE754</a:t>
            </a:r>
            <a:r>
              <a:rPr lang="zh-CN" altLang="en-US" sz="2000" b="1" dirty="0">
                <a:cs typeface="+mn-ea"/>
              </a:rPr>
              <a:t>编码为：</a:t>
            </a:r>
            <a:r>
              <a:rPr lang="en-US" altLang="zh-CN" sz="2000" b="1" dirty="0">
                <a:cs typeface="+mn-ea"/>
              </a:rPr>
              <a:t>0 01111100 01000000000000000000000   </a:t>
            </a:r>
            <a:r>
              <a:rPr lang="zh-CN" altLang="en-US" sz="2000" b="1" dirty="0">
                <a:cs typeface="+mn-ea"/>
              </a:rPr>
              <a:t>即：</a:t>
            </a:r>
            <a:r>
              <a:rPr lang="en-US" altLang="zh-CN" sz="2000" b="1" dirty="0">
                <a:cs typeface="+mn-ea"/>
              </a:rPr>
              <a:t>3E200000H </a:t>
            </a:r>
          </a:p>
          <a:p>
            <a:pPr indent="0" defTabSz="914354">
              <a:lnSpc>
                <a:spcPct val="125000"/>
              </a:lnSpc>
              <a:spcBef>
                <a:spcPts val="1000"/>
              </a:spcBef>
              <a:buNone/>
            </a:pPr>
            <a:r>
              <a:rPr lang="zh-CN" altLang="en-US" sz="2000" b="1" dirty="0">
                <a:cs typeface="+mn-ea"/>
              </a:rPr>
              <a:t>    （</a:t>
            </a:r>
            <a:r>
              <a:rPr lang="en-US" altLang="zh-CN" sz="2000" b="1" dirty="0">
                <a:cs typeface="+mn-ea"/>
              </a:rPr>
              <a:t>2</a:t>
            </a:r>
            <a:r>
              <a:rPr lang="zh-CN" altLang="en-US" sz="2000" b="1" dirty="0">
                <a:cs typeface="+mn-ea"/>
              </a:rPr>
              <a:t>）－</a:t>
            </a:r>
            <a:r>
              <a:rPr lang="en-US" altLang="zh-CN" sz="2000" b="1" dirty="0">
                <a:cs typeface="+mn-ea"/>
              </a:rPr>
              <a:t>5</a:t>
            </a:r>
            <a:r>
              <a:rPr lang="zh-CN" altLang="en-US" sz="2000" b="1" dirty="0">
                <a:cs typeface="+mn-ea"/>
              </a:rPr>
              <a:t>转换成二进制值为：－</a:t>
            </a:r>
            <a:r>
              <a:rPr lang="en-US" altLang="zh-CN" sz="2000" b="1" dirty="0">
                <a:cs typeface="+mn-ea"/>
              </a:rPr>
              <a:t>101B</a:t>
            </a:r>
          </a:p>
          <a:p>
            <a:pPr indent="0" defTabSz="914354">
              <a:lnSpc>
                <a:spcPct val="125000"/>
              </a:lnSpc>
              <a:spcBef>
                <a:spcPts val="1000"/>
              </a:spcBef>
              <a:buNone/>
            </a:pPr>
            <a:r>
              <a:rPr lang="zh-CN" altLang="en-US" sz="2000" b="1" dirty="0">
                <a:cs typeface="+mn-ea"/>
              </a:rPr>
              <a:t>在</a:t>
            </a:r>
            <a:r>
              <a:rPr lang="en-US" altLang="zh-CN" sz="2000" b="1" dirty="0">
                <a:cs typeface="+mn-ea"/>
              </a:rPr>
              <a:t>IEEE754</a:t>
            </a:r>
            <a:r>
              <a:rPr lang="zh-CN" altLang="en-US" sz="2000" b="1" dirty="0">
                <a:cs typeface="+mn-ea"/>
              </a:rPr>
              <a:t>中规格化表示为</a:t>
            </a:r>
            <a:r>
              <a:rPr lang="en-US" altLang="zh-CN" sz="2000" b="1" dirty="0" smtClean="0">
                <a:cs typeface="+mn-ea"/>
              </a:rPr>
              <a:t>1.01×2</a:t>
            </a:r>
            <a:r>
              <a:rPr lang="zh-CN" altLang="en-US" sz="2000" b="1" baseline="30000" dirty="0" smtClean="0">
                <a:cs typeface="+mn-ea"/>
              </a:rPr>
              <a:t> </a:t>
            </a:r>
            <a:r>
              <a:rPr lang="en-US" altLang="zh-CN" sz="2000" b="1" baseline="30000" dirty="0">
                <a:cs typeface="+mn-ea"/>
              </a:rPr>
              <a:t>2</a:t>
            </a:r>
            <a:r>
              <a:rPr lang="zh-CN" altLang="en-US" sz="2000" b="1" dirty="0" smtClean="0">
                <a:cs typeface="+mn-ea"/>
              </a:rPr>
              <a:t>， </a:t>
            </a:r>
            <a:r>
              <a:rPr lang="en-US" altLang="zh-CN" sz="2000" b="1" dirty="0">
                <a:cs typeface="+mn-ea"/>
              </a:rPr>
              <a:t>e</a:t>
            </a:r>
            <a:r>
              <a:rPr lang="zh-CN" altLang="en-US" sz="2000" b="1" dirty="0">
                <a:cs typeface="+mn-ea"/>
              </a:rPr>
              <a:t>＝</a:t>
            </a:r>
            <a:r>
              <a:rPr lang="en-US" altLang="zh-CN" sz="2000" b="1" dirty="0">
                <a:cs typeface="+mn-ea"/>
              </a:rPr>
              <a:t>127</a:t>
            </a:r>
            <a:r>
              <a:rPr lang="zh-CN" altLang="en-US" sz="2000" b="1" dirty="0">
                <a:cs typeface="+mn-ea"/>
              </a:rPr>
              <a:t>＋</a:t>
            </a:r>
            <a:r>
              <a:rPr lang="en-US" altLang="zh-CN" sz="2000" b="1" dirty="0">
                <a:cs typeface="+mn-ea"/>
              </a:rPr>
              <a:t>2</a:t>
            </a:r>
            <a:r>
              <a:rPr lang="zh-CN" altLang="en-US" sz="2000" b="1" dirty="0">
                <a:cs typeface="+mn-ea"/>
              </a:rPr>
              <a:t>＝</a:t>
            </a:r>
            <a:r>
              <a:rPr lang="en-US" altLang="zh-CN" sz="2000" b="1" dirty="0">
                <a:cs typeface="+mn-ea"/>
              </a:rPr>
              <a:t>129</a:t>
            </a:r>
            <a:r>
              <a:rPr lang="zh-CN" altLang="en-US" sz="2000" b="1" dirty="0">
                <a:cs typeface="+mn-ea"/>
              </a:rPr>
              <a:t>，</a:t>
            </a:r>
          </a:p>
          <a:p>
            <a:pPr indent="0" defTabSz="914354">
              <a:lnSpc>
                <a:spcPct val="125000"/>
              </a:lnSpc>
              <a:spcBef>
                <a:spcPts val="1000"/>
              </a:spcBef>
              <a:buNone/>
            </a:pPr>
            <a:r>
              <a:rPr lang="en-US" altLang="zh-CN" sz="2000" b="1" dirty="0">
                <a:cs typeface="+mn-ea"/>
              </a:rPr>
              <a:t>IEEE754</a:t>
            </a:r>
            <a:r>
              <a:rPr lang="zh-CN" altLang="en-US" sz="2000" b="1" dirty="0">
                <a:cs typeface="+mn-ea"/>
              </a:rPr>
              <a:t>编码为：</a:t>
            </a:r>
            <a:r>
              <a:rPr lang="en-US" altLang="zh-CN" sz="2000" b="1" dirty="0">
                <a:cs typeface="+mn-ea"/>
              </a:rPr>
              <a:t>1 10000001 01000000000000000000000   </a:t>
            </a:r>
            <a:r>
              <a:rPr lang="zh-CN" altLang="en-US" sz="2000" b="1" dirty="0">
                <a:cs typeface="+mn-ea"/>
              </a:rPr>
              <a:t>即：</a:t>
            </a:r>
            <a:r>
              <a:rPr lang="en-US" altLang="zh-CN" sz="2000" b="1" dirty="0">
                <a:cs typeface="+mn-ea"/>
              </a:rPr>
              <a:t>C0A00000H </a:t>
            </a:r>
          </a:p>
          <a:p>
            <a:pPr indent="0" defTabSz="914354">
              <a:lnSpc>
                <a:spcPct val="125000"/>
              </a:lnSpc>
              <a:spcBef>
                <a:spcPts val="1000"/>
              </a:spcBef>
              <a:buNone/>
              <a:defRPr/>
            </a:pPr>
            <a:r>
              <a:rPr lang="zh-CN" altLang="en-US" sz="2000" b="1" dirty="0">
                <a:cs typeface="+mn-ea"/>
              </a:rPr>
              <a:t>      </a:t>
            </a:r>
            <a:r>
              <a:rPr lang="en-US" altLang="zh-CN" sz="2000" b="1" dirty="0">
                <a:cs typeface="+mn-ea"/>
              </a:rPr>
              <a:t>(3)  13/32= (-1)</a:t>
            </a:r>
            <a:r>
              <a:rPr lang="en-US" altLang="zh-CN" sz="2000" b="1" baseline="30000" dirty="0">
                <a:cs typeface="+mn-ea"/>
              </a:rPr>
              <a:t>0</a:t>
            </a:r>
            <a:r>
              <a:rPr lang="en-US" altLang="zh-CN" sz="2000" b="1" dirty="0">
                <a:cs typeface="+mn-ea"/>
              </a:rPr>
              <a:t>×1101×2</a:t>
            </a:r>
            <a:r>
              <a:rPr lang="en-US" altLang="zh-CN" sz="2000" b="1" baseline="30000" dirty="0">
                <a:cs typeface="+mn-ea"/>
              </a:rPr>
              <a:t>-5</a:t>
            </a:r>
            <a:r>
              <a:rPr lang="en-US" altLang="zh-CN" sz="2000" b="1" dirty="0">
                <a:cs typeface="+mn-ea"/>
              </a:rPr>
              <a:t>   =(-1)</a:t>
            </a:r>
            <a:r>
              <a:rPr lang="en-US" altLang="zh-CN" sz="2000" b="1" baseline="30000" dirty="0">
                <a:cs typeface="+mn-ea"/>
              </a:rPr>
              <a:t>0</a:t>
            </a:r>
            <a:r>
              <a:rPr lang="en-US" altLang="zh-CN" sz="2000" b="1" dirty="0">
                <a:cs typeface="+mn-ea"/>
              </a:rPr>
              <a:t>×2</a:t>
            </a:r>
            <a:r>
              <a:rPr lang="en-US" altLang="zh-CN" sz="2000" b="1" baseline="30000" dirty="0">
                <a:cs typeface="+mn-ea"/>
              </a:rPr>
              <a:t>-5</a:t>
            </a:r>
            <a:r>
              <a:rPr lang="en-US" altLang="zh-CN" sz="2000" b="1" dirty="0">
                <a:cs typeface="+mn-ea"/>
              </a:rPr>
              <a:t>×2</a:t>
            </a:r>
            <a:r>
              <a:rPr lang="en-US" altLang="zh-CN" sz="2000" b="1" baseline="30000" dirty="0">
                <a:cs typeface="+mn-ea"/>
              </a:rPr>
              <a:t>3</a:t>
            </a:r>
            <a:r>
              <a:rPr lang="en-US" altLang="zh-CN" sz="2000" b="1" dirty="0">
                <a:cs typeface="+mn-ea"/>
              </a:rPr>
              <a:t>×1.101 =(-1)</a:t>
            </a:r>
            <a:r>
              <a:rPr lang="en-US" altLang="zh-CN" sz="2000" b="1" baseline="30000" dirty="0">
                <a:cs typeface="+mn-ea"/>
              </a:rPr>
              <a:t>0</a:t>
            </a:r>
            <a:r>
              <a:rPr lang="en-US" altLang="zh-CN" sz="2000" b="1" dirty="0">
                <a:cs typeface="+mn-ea"/>
              </a:rPr>
              <a:t>×2</a:t>
            </a:r>
            <a:r>
              <a:rPr lang="en-US" altLang="zh-CN" sz="2000" b="1" baseline="30000" dirty="0">
                <a:cs typeface="+mn-ea"/>
              </a:rPr>
              <a:t>125-127</a:t>
            </a:r>
            <a:r>
              <a:rPr lang="en-US" altLang="zh-CN" sz="2000" b="1" dirty="0">
                <a:cs typeface="+mn-ea"/>
              </a:rPr>
              <a:t> ×1.101 </a:t>
            </a:r>
          </a:p>
          <a:p>
            <a:pPr marL="342900" lvl="1" indent="0" defTabSz="914354">
              <a:lnSpc>
                <a:spcPct val="125000"/>
              </a:lnSpc>
              <a:spcBef>
                <a:spcPts val="1000"/>
              </a:spcBef>
              <a:buNone/>
              <a:defRPr/>
            </a:pPr>
            <a:r>
              <a:rPr lang="en-US" altLang="zh-CN" sz="2000" b="1" dirty="0">
                <a:cs typeface="+mn-ea"/>
              </a:rPr>
              <a:t>IEEE754</a:t>
            </a:r>
            <a:r>
              <a:rPr lang="zh-CN" altLang="en-US" sz="2000" b="1" dirty="0">
                <a:cs typeface="+mn-ea"/>
              </a:rPr>
              <a:t>编码为：</a:t>
            </a:r>
            <a:r>
              <a:rPr lang="en-US" altLang="zh-CN" sz="2000" b="1" dirty="0">
                <a:cs typeface="+mn-ea"/>
              </a:rPr>
              <a:t>0 01111101  10100000000000000000000     </a:t>
            </a:r>
            <a:r>
              <a:rPr lang="zh-CN" altLang="en-US" sz="2000" b="1" dirty="0">
                <a:cs typeface="+mn-ea"/>
              </a:rPr>
              <a:t>即：</a:t>
            </a:r>
            <a:r>
              <a:rPr lang="en-US" altLang="zh-CN" sz="2000" b="1" dirty="0">
                <a:cs typeface="+mn-ea"/>
              </a:rPr>
              <a:t>3ED00000H </a:t>
            </a:r>
          </a:p>
        </p:txBody>
      </p:sp>
    </p:spTree>
    <p:extLst>
      <p:ext uri="{BB962C8B-B14F-4D97-AF65-F5344CB8AC3E}">
        <p14:creationId xmlns:p14="http://schemas.microsoft.com/office/powerpoint/2010/main" val="2422796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2"/>
            <a:r>
              <a:rPr lang="zh-CN" altLang="en-US" sz="2800" b="1" dirty="0">
                <a:cs typeface="+mn-ea"/>
                <a:sym typeface="+mn-lt"/>
              </a:rPr>
              <a:t>浮点数表示及转换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1563DC9A-CF26-4EDE-BA36-41DCBF67DF9F}"/>
              </a:ext>
            </a:extLst>
          </p:cNvPr>
          <p:cNvSpPr txBox="1">
            <a:spLocks/>
          </p:cNvSpPr>
          <p:nvPr/>
        </p:nvSpPr>
        <p:spPr>
          <a:xfrm>
            <a:off x="840722" y="961677"/>
            <a:ext cx="4618757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讨论与交流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3CE1E79-7A04-4777-9CA2-784E090B942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563526" y="1801488"/>
            <a:ext cx="11064947" cy="59996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indent="0" defTabSz="914354">
              <a:lnSpc>
                <a:spcPct val="125000"/>
              </a:lnSpc>
              <a:spcBef>
                <a:spcPts val="1000"/>
              </a:spcBef>
              <a:buNone/>
            </a:pPr>
            <a:r>
              <a:rPr lang="zh-CN" altLang="en-US" sz="2400" dirty="0">
                <a:cs typeface="+mn-ea"/>
              </a:rPr>
              <a:t>在计算机内，浮点数的存储误差是如何产生的，如何减小存储误差？</a:t>
            </a:r>
            <a:endParaRPr lang="en-US" altLang="zh-CN" sz="2400" dirty="0"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35197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3C326D0B-7DAB-41B6-8030-2E4A18CC949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3" name="think-cell Slide" r:id="rId5" imgW="360" imgH="360" progId="">
                  <p:embed/>
                </p:oleObj>
              </mc:Choice>
              <mc:Fallback>
                <p:oleObj name="think-cell Slide" r:id="rId5" imgW="360" imgH="360" progId="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id="{3C326D0B-7DAB-41B6-8030-2E4A18CC94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id="{EC933494-1B63-4A32-964F-D05236799BA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cs typeface="+mn-ea"/>
              <a:sym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978949" y="2023969"/>
            <a:ext cx="6041284" cy="1058852"/>
          </a:xfrm>
        </p:spPr>
        <p:txBody>
          <a:bodyPr>
            <a:normAutofit/>
          </a:bodyPr>
          <a:lstStyle/>
          <a:p>
            <a:r>
              <a:rPr lang="zh-CN" altLang="en-US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lt"/>
                <a:ea typeface="+mn-ea"/>
                <a:cs typeface="+mn-ea"/>
                <a:sym typeface="+mn-lt"/>
              </a:rPr>
              <a:t>单片机原理及其应用</a:t>
            </a: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3AE36C13-51F4-4440-8DB2-2A4E128FFD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6065" y="3993091"/>
            <a:ext cx="3196908" cy="548173"/>
          </a:xfr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r>
              <a:rPr lang="zh-CN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重庆大学   电气工程学院</a:t>
            </a:r>
          </a:p>
        </p:txBody>
      </p:sp>
      <p:sp>
        <p:nvSpPr>
          <p:cNvPr id="5" name="矩形 4"/>
          <p:cNvSpPr/>
          <p:nvPr/>
        </p:nvSpPr>
        <p:spPr>
          <a:xfrm>
            <a:off x="622577" y="1378227"/>
            <a:ext cx="69500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800" dirty="0">
                <a:solidFill>
                  <a:schemeClr val="bg1"/>
                </a:solidFill>
                <a:cs typeface="+mn-ea"/>
                <a:sym typeface="+mn-lt"/>
              </a:rPr>
              <a:t>ARM Cortex-M3 </a:t>
            </a:r>
            <a:r>
              <a:rPr lang="zh-CN" altLang="zh-CN" sz="2800" b="1" kern="1800" dirty="0">
                <a:solidFill>
                  <a:schemeClr val="bg1"/>
                </a:solidFill>
                <a:cs typeface="+mn-ea"/>
                <a:sym typeface="+mn-lt"/>
              </a:rPr>
              <a:t>的</a:t>
            </a:r>
            <a:r>
              <a:rPr lang="en-US" altLang="zh-CN" sz="2800" b="1" kern="1800" dirty="0">
                <a:solidFill>
                  <a:schemeClr val="bg1"/>
                </a:solidFill>
                <a:cs typeface="+mn-ea"/>
                <a:sym typeface="+mn-lt"/>
              </a:rPr>
              <a:t>STM32</a:t>
            </a:r>
            <a:r>
              <a:rPr lang="zh-CN" altLang="zh-CN" sz="2800" b="1" kern="1800" dirty="0">
                <a:solidFill>
                  <a:schemeClr val="bg1"/>
                </a:solidFill>
                <a:cs typeface="+mn-ea"/>
                <a:sym typeface="+mn-lt"/>
              </a:rPr>
              <a:t>系列</a:t>
            </a:r>
            <a:r>
              <a:rPr lang="zh-CN" altLang="zh-CN" sz="4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cs typeface="+mn-ea"/>
                <a:sym typeface="+mn-lt"/>
              </a:rPr>
              <a:t>——</a:t>
            </a:r>
            <a:endParaRPr lang="zh-CN" altLang="en-US" sz="4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2577" y="3167390"/>
            <a:ext cx="68169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42E6E0"/>
                </a:solidFill>
                <a:cs typeface="+mn-ea"/>
                <a:sym typeface="+mn-lt"/>
              </a:rPr>
              <a:t>ASCII</a:t>
            </a:r>
            <a:r>
              <a:rPr lang="zh-CN" altLang="en-US" sz="2800" b="1" dirty="0">
                <a:solidFill>
                  <a:srgbClr val="42E6E0"/>
                </a:solidFill>
                <a:cs typeface="+mn-ea"/>
                <a:sym typeface="+mn-lt"/>
              </a:rPr>
              <a:t>码和</a:t>
            </a:r>
            <a:r>
              <a:rPr lang="en-US" altLang="zh-CN" sz="2800" b="1" dirty="0">
                <a:solidFill>
                  <a:srgbClr val="42E6E0"/>
                </a:solidFill>
                <a:cs typeface="+mn-ea"/>
                <a:sym typeface="+mn-lt"/>
              </a:rPr>
              <a:t>BCD</a:t>
            </a:r>
            <a:r>
              <a:rPr lang="zh-CN" altLang="en-US" sz="2800" b="1" dirty="0">
                <a:solidFill>
                  <a:srgbClr val="42E6E0"/>
                </a:solidFill>
                <a:cs typeface="+mn-ea"/>
                <a:sym typeface="+mn-lt"/>
              </a:rPr>
              <a:t>码表示方法</a:t>
            </a:r>
            <a:endParaRPr lang="en-US" altLang="zh-CN" sz="2800" b="1" dirty="0">
              <a:solidFill>
                <a:srgbClr val="42E6E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5218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>
            <a:spLocks/>
          </p:cNvSpPr>
          <p:nvPr/>
        </p:nvSpPr>
        <p:spPr>
          <a:xfrm>
            <a:off x="665002" y="1247212"/>
            <a:ext cx="10831785" cy="1267270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zh-CN" altLang="en-US" sz="2200" dirty="0">
                <a:cs typeface="+mn-ea"/>
                <a:sym typeface="+mn-lt"/>
              </a:rPr>
              <a:t>计算机中常用的两种编码</a:t>
            </a:r>
            <a:r>
              <a:rPr lang="en-US" altLang="zh-CN" sz="2200" dirty="0">
                <a:cs typeface="+mn-ea"/>
                <a:sym typeface="+mn-lt"/>
              </a:rPr>
              <a:t>——BCD</a:t>
            </a:r>
            <a:r>
              <a:rPr lang="zh-CN" altLang="en-US" sz="2200" dirty="0">
                <a:cs typeface="+mn-ea"/>
                <a:sym typeface="+mn-lt"/>
              </a:rPr>
              <a:t>码和</a:t>
            </a:r>
            <a:r>
              <a:rPr lang="en-US" altLang="zh-CN" sz="2200" dirty="0">
                <a:cs typeface="+mn-ea"/>
                <a:sym typeface="+mn-lt"/>
              </a:rPr>
              <a:t>ASCII</a:t>
            </a:r>
            <a:r>
              <a:rPr lang="zh-CN" altLang="en-US" sz="2200" dirty="0">
                <a:cs typeface="+mn-ea"/>
                <a:sym typeface="+mn-lt"/>
              </a:rPr>
              <a:t>码，是为方便在特定场合下进行特定计算而制定的编码规则。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2"/>
            <a:r>
              <a:rPr lang="en-US" altLang="zh-CN" sz="2800" b="1" dirty="0">
                <a:cs typeface="+mn-ea"/>
                <a:sym typeface="+mn-lt"/>
              </a:rPr>
              <a:t>ASCII</a:t>
            </a:r>
            <a:r>
              <a:rPr lang="zh-CN" altLang="en-US" sz="2800" b="1" dirty="0">
                <a:cs typeface="+mn-ea"/>
                <a:sym typeface="+mn-lt"/>
              </a:rPr>
              <a:t>码和</a:t>
            </a:r>
            <a:r>
              <a:rPr lang="en-US" altLang="zh-CN" sz="2800" b="1" dirty="0">
                <a:cs typeface="+mn-ea"/>
                <a:sym typeface="+mn-lt"/>
              </a:rPr>
              <a:t>BCD</a:t>
            </a:r>
            <a:r>
              <a:rPr lang="zh-CN" altLang="en-US" sz="2800" b="1" dirty="0">
                <a:cs typeface="+mn-ea"/>
                <a:sym typeface="+mn-lt"/>
              </a:rPr>
              <a:t>码表示方法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627797" y="2506343"/>
            <a:ext cx="8811939" cy="1248596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ASCII</a:t>
            </a:r>
            <a:r>
              <a:rPr lang="zh-CN" altLang="en-US" sz="24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码</a:t>
            </a:r>
            <a:r>
              <a:rPr lang="en-US" altLang="zh-CN" sz="24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—</a:t>
            </a:r>
          </a:p>
          <a:p>
            <a:r>
              <a:rPr lang="en-US" altLang="zh-CN" sz="24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American Standard Code for Information Interchange</a:t>
            </a:r>
          </a:p>
          <a:p>
            <a:r>
              <a:rPr lang="zh-CN" altLang="en-US" sz="24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美国标准信息交换码</a:t>
            </a:r>
            <a:endParaRPr lang="en-US" altLang="zh-CN" sz="2400" dirty="0">
              <a:solidFill>
                <a:srgbClr val="CC3300"/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zh-CN" altLang="en-US" sz="2400" dirty="0">
              <a:solidFill>
                <a:srgbClr val="CC33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665002" y="5496506"/>
            <a:ext cx="11009858" cy="640769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2000" dirty="0">
                <a:cs typeface="+mn-ea"/>
                <a:sym typeface="+mn-lt"/>
              </a:rPr>
              <a:t>用</a:t>
            </a:r>
            <a:r>
              <a:rPr lang="en-US" altLang="zh-CN" sz="2000" b="1" dirty="0">
                <a:cs typeface="+mn-ea"/>
                <a:sym typeface="+mn-lt"/>
              </a:rPr>
              <a:t>4</a:t>
            </a:r>
            <a:r>
              <a:rPr lang="zh-CN" altLang="en-US" sz="2000" dirty="0">
                <a:cs typeface="+mn-ea"/>
                <a:sym typeface="+mn-lt"/>
              </a:rPr>
              <a:t>位二进制数表示</a:t>
            </a:r>
            <a:r>
              <a:rPr lang="en-US" altLang="zh-CN" sz="2000" b="1" dirty="0">
                <a:cs typeface="+mn-ea"/>
                <a:sym typeface="+mn-lt"/>
              </a:rPr>
              <a:t>1</a:t>
            </a:r>
            <a:r>
              <a:rPr lang="zh-CN" altLang="en-US" sz="2000" dirty="0">
                <a:cs typeface="+mn-ea"/>
                <a:sym typeface="+mn-lt"/>
              </a:rPr>
              <a:t>位十进制数的编码方法。在计算机里，又可分为：分离</a:t>
            </a:r>
            <a:r>
              <a:rPr lang="en-US" altLang="zh-CN" sz="2000" dirty="0">
                <a:cs typeface="+mn-ea"/>
                <a:sym typeface="+mn-lt"/>
              </a:rPr>
              <a:t>BCD</a:t>
            </a:r>
            <a:r>
              <a:rPr lang="zh-CN" altLang="en-US" sz="2000" dirty="0">
                <a:cs typeface="+mn-ea"/>
                <a:sym typeface="+mn-lt"/>
              </a:rPr>
              <a:t>码、组合</a:t>
            </a:r>
            <a:r>
              <a:rPr lang="en-US" altLang="zh-CN" sz="2000" dirty="0">
                <a:cs typeface="+mn-ea"/>
                <a:sym typeface="+mn-lt"/>
              </a:rPr>
              <a:t>BCD</a:t>
            </a:r>
            <a:r>
              <a:rPr lang="zh-CN" altLang="en-US" sz="2000" dirty="0">
                <a:cs typeface="+mn-ea"/>
                <a:sym typeface="+mn-lt"/>
              </a:rPr>
              <a:t>码。</a:t>
            </a:r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627797" y="4999921"/>
            <a:ext cx="8137610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BCD</a:t>
            </a:r>
            <a:r>
              <a:rPr lang="zh-CN" altLang="en-US" sz="24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码</a:t>
            </a:r>
            <a:r>
              <a:rPr lang="en-US" altLang="zh-CN" sz="24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- Binary-Coded Decimal  </a:t>
            </a:r>
            <a:r>
              <a:rPr lang="zh-CN" altLang="en-US" sz="24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二进制编码的十进制数</a:t>
            </a:r>
          </a:p>
        </p:txBody>
      </p:sp>
      <p:sp>
        <p:nvSpPr>
          <p:cNvPr id="10" name="内容占位符 2"/>
          <p:cNvSpPr txBox="1">
            <a:spLocks/>
          </p:cNvSpPr>
          <p:nvPr/>
        </p:nvSpPr>
        <p:spPr>
          <a:xfrm>
            <a:off x="610573" y="3564563"/>
            <a:ext cx="10573884" cy="1029355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2000" dirty="0">
                <a:cs typeface="+mn-ea"/>
                <a:sym typeface="+mn-lt"/>
              </a:rPr>
              <a:t>使用指定的</a:t>
            </a:r>
            <a:r>
              <a:rPr lang="en-US" altLang="zh-CN" sz="2000" dirty="0">
                <a:cs typeface="+mn-ea"/>
                <a:sym typeface="+mn-lt"/>
              </a:rPr>
              <a:t>7</a:t>
            </a:r>
            <a:r>
              <a:rPr lang="zh-CN" altLang="en-US" sz="2000" dirty="0">
                <a:cs typeface="+mn-ea"/>
                <a:sym typeface="+mn-lt"/>
              </a:rPr>
              <a:t>位或</a:t>
            </a:r>
            <a:r>
              <a:rPr lang="en-US" altLang="zh-CN" sz="2000" dirty="0">
                <a:cs typeface="+mn-ea"/>
                <a:sym typeface="+mn-lt"/>
              </a:rPr>
              <a:t>8</a:t>
            </a:r>
            <a:r>
              <a:rPr lang="zh-CN" altLang="en-US" sz="2000" dirty="0">
                <a:cs typeface="+mn-ea"/>
                <a:sym typeface="+mn-lt"/>
              </a:rPr>
              <a:t>位二进制数组合来表示</a:t>
            </a:r>
            <a:r>
              <a:rPr lang="en-US" altLang="zh-CN" sz="2000" dirty="0">
                <a:cs typeface="+mn-ea"/>
                <a:sym typeface="+mn-lt"/>
              </a:rPr>
              <a:t>128</a:t>
            </a:r>
            <a:r>
              <a:rPr lang="zh-CN" altLang="en-US" sz="2000" dirty="0">
                <a:cs typeface="+mn-ea"/>
                <a:sym typeface="+mn-lt"/>
              </a:rPr>
              <a:t>或</a:t>
            </a:r>
            <a:r>
              <a:rPr lang="en-US" altLang="zh-CN" sz="2000" dirty="0">
                <a:cs typeface="+mn-ea"/>
                <a:sym typeface="+mn-lt"/>
              </a:rPr>
              <a:t>256</a:t>
            </a:r>
            <a:r>
              <a:rPr lang="zh-CN" altLang="en-US" sz="2000" dirty="0">
                <a:cs typeface="+mn-ea"/>
                <a:sym typeface="+mn-lt"/>
              </a:rPr>
              <a:t>种可能的字符，包括大小写字母、数字、标点符号，和一些特殊控制字符。</a:t>
            </a:r>
          </a:p>
        </p:txBody>
      </p:sp>
    </p:spTree>
    <p:extLst>
      <p:ext uri="{BB962C8B-B14F-4D97-AF65-F5344CB8AC3E}">
        <p14:creationId xmlns:p14="http://schemas.microsoft.com/office/powerpoint/2010/main" val="1197367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2"/>
            <a:r>
              <a:rPr lang="en-US" altLang="zh-CN" sz="2800" b="1" dirty="0">
                <a:cs typeface="+mn-ea"/>
                <a:sym typeface="+mn-lt"/>
              </a:rPr>
              <a:t>ASCII</a:t>
            </a:r>
            <a:r>
              <a:rPr lang="zh-CN" altLang="en-US" sz="2800" b="1" dirty="0">
                <a:cs typeface="+mn-ea"/>
                <a:sym typeface="+mn-lt"/>
              </a:rPr>
              <a:t>码和</a:t>
            </a:r>
            <a:r>
              <a:rPr lang="en-US" altLang="zh-CN" sz="2800" b="1" dirty="0">
                <a:cs typeface="+mn-ea"/>
                <a:sym typeface="+mn-lt"/>
              </a:rPr>
              <a:t>BCD</a:t>
            </a:r>
            <a:r>
              <a:rPr lang="zh-CN" altLang="en-US" sz="2800" b="1" dirty="0">
                <a:cs typeface="+mn-ea"/>
                <a:sym typeface="+mn-lt"/>
              </a:rPr>
              <a:t>码表示方法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313897" y="925195"/>
            <a:ext cx="1718103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BCD</a:t>
            </a:r>
            <a:r>
              <a:rPr lang="zh-CN" altLang="en-US" sz="32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码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/>
          </p:nvPr>
        </p:nvGraphicFramePr>
        <p:xfrm>
          <a:off x="2136504" y="925195"/>
          <a:ext cx="8128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17035341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127399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69120690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677123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十进制数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组合</a:t>
                      </a:r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BCD</a:t>
                      </a:r>
                      <a:r>
                        <a:rPr lang="zh-CN" altLang="en-US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分离</a:t>
                      </a:r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BCD</a:t>
                      </a:r>
                      <a:r>
                        <a:rPr lang="zh-CN" altLang="en-US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十六进制数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220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0000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0000 0000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0H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418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0001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0000 0001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1H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568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2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0010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0000 0010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2H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858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3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0011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0000 0011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3H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806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4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0100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0000 0100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4H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450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5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0101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0000 0101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5H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5435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6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0110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0000 0110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6H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055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7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0111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0000 0111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7H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195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8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1000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0000</a:t>
                      </a:r>
                      <a:r>
                        <a:rPr lang="en-US" altLang="zh-CN" sz="2400" baseline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 1000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8H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137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9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1001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0000 1001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9H</a:t>
                      </a:r>
                      <a:endParaRPr lang="zh-CN" altLang="en-US" sz="2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273936"/>
                  </a:ext>
                </a:extLst>
              </a:tr>
            </a:tbl>
          </a:graphicData>
        </a:graphic>
      </p:graphicFrame>
      <p:sp>
        <p:nvSpPr>
          <p:cNvPr id="11" name="内容占位符 2"/>
          <p:cNvSpPr txBox="1">
            <a:spLocks/>
          </p:cNvSpPr>
          <p:nvPr/>
        </p:nvSpPr>
        <p:spPr>
          <a:xfrm>
            <a:off x="985408" y="5954396"/>
            <a:ext cx="4484516" cy="642348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2800" dirty="0">
                <a:cs typeface="+mn-ea"/>
                <a:sym typeface="+mn-lt"/>
              </a:rPr>
              <a:t>二进制编码的十进制数</a:t>
            </a:r>
          </a:p>
        </p:txBody>
      </p:sp>
    </p:spTree>
    <p:extLst>
      <p:ext uri="{BB962C8B-B14F-4D97-AF65-F5344CB8AC3E}">
        <p14:creationId xmlns:p14="http://schemas.microsoft.com/office/powerpoint/2010/main" val="494333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114296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2"/>
            <a:r>
              <a:rPr lang="en-US" altLang="zh-CN" sz="2800" b="1" dirty="0">
                <a:cs typeface="+mn-ea"/>
                <a:sym typeface="+mn-lt"/>
              </a:rPr>
              <a:t>ASCII</a:t>
            </a:r>
            <a:r>
              <a:rPr lang="zh-CN" altLang="en-US" sz="2800" b="1" dirty="0">
                <a:cs typeface="+mn-ea"/>
                <a:sym typeface="+mn-lt"/>
              </a:rPr>
              <a:t>码和</a:t>
            </a:r>
            <a:r>
              <a:rPr lang="en-US" altLang="zh-CN" sz="2800" b="1" dirty="0">
                <a:cs typeface="+mn-ea"/>
                <a:sym typeface="+mn-lt"/>
              </a:rPr>
              <a:t>BCD</a:t>
            </a:r>
            <a:r>
              <a:rPr lang="zh-CN" altLang="en-US" sz="2800" b="1" dirty="0">
                <a:cs typeface="+mn-ea"/>
                <a:sym typeface="+mn-lt"/>
              </a:rPr>
              <a:t>码表示方法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469137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8" name="Group 3"/>
          <p:cNvGrpSpPr>
            <a:grpSpLocks/>
          </p:cNvGrpSpPr>
          <p:nvPr/>
        </p:nvGrpSpPr>
        <p:grpSpPr bwMode="auto">
          <a:xfrm>
            <a:off x="2948952" y="1225895"/>
            <a:ext cx="5727701" cy="3211513"/>
            <a:chOff x="904" y="527"/>
            <a:chExt cx="3608" cy="2023"/>
          </a:xfrm>
        </p:grpSpPr>
        <p:sp>
          <p:nvSpPr>
            <p:cNvPr id="10" name="Rectangle 4"/>
            <p:cNvSpPr>
              <a:spLocks noChangeArrowheads="1"/>
            </p:cNvSpPr>
            <p:nvPr/>
          </p:nvSpPr>
          <p:spPr bwMode="auto">
            <a:xfrm>
              <a:off x="904" y="527"/>
              <a:ext cx="3539" cy="213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457200" algn="ctr" eaLnBrk="1" hangingPunct="1"/>
              <a:r>
                <a:rPr kumimoji="0" lang="zh-CN" altLang="en-US" sz="1600" b="1" dirty="0">
                  <a:solidFill>
                    <a:srgbClr val="C00000"/>
                  </a:solidFill>
                  <a:cs typeface="+mn-ea"/>
                  <a:sym typeface="+mn-lt"/>
                </a:rPr>
                <a:t>四位二进制数的组合           十进制数          十六进制数</a:t>
              </a:r>
            </a:p>
          </p:txBody>
        </p:sp>
        <p:sp>
          <p:nvSpPr>
            <p:cNvPr id="12" name="Text Box 5"/>
            <p:cNvSpPr txBox="1">
              <a:spLocks noChangeArrowheads="1"/>
            </p:cNvSpPr>
            <p:nvPr/>
          </p:nvSpPr>
          <p:spPr bwMode="auto">
            <a:xfrm>
              <a:off x="1156" y="799"/>
              <a:ext cx="1088" cy="1745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457200" algn="ctr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kumimoji="0" lang="en-US" altLang="zh-CN" sz="1500" b="1" dirty="0">
                  <a:solidFill>
                    <a:srgbClr val="180D5B"/>
                  </a:solidFill>
                  <a:cs typeface="+mn-ea"/>
                  <a:sym typeface="+mn-lt"/>
                </a:rPr>
                <a:t>0000</a:t>
              </a:r>
            </a:p>
            <a:p>
              <a:pPr marL="457200" algn="ctr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kumimoji="0" lang="en-US" altLang="zh-CN" sz="1500" b="1" dirty="0">
                  <a:solidFill>
                    <a:srgbClr val="180D5B"/>
                  </a:solidFill>
                  <a:cs typeface="+mn-ea"/>
                  <a:sym typeface="+mn-lt"/>
                </a:rPr>
                <a:t>0001</a:t>
              </a:r>
            </a:p>
            <a:p>
              <a:pPr marL="457200" algn="ctr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kumimoji="0" lang="en-US" altLang="zh-CN" sz="1500" b="1" dirty="0">
                  <a:solidFill>
                    <a:srgbClr val="180D5B"/>
                  </a:solidFill>
                  <a:cs typeface="+mn-ea"/>
                  <a:sym typeface="+mn-lt"/>
                </a:rPr>
                <a:t>0010</a:t>
              </a:r>
            </a:p>
            <a:p>
              <a:pPr marL="457200" algn="ctr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kumimoji="0" lang="en-US" altLang="zh-CN" sz="1500" b="1" dirty="0">
                  <a:solidFill>
                    <a:srgbClr val="180D5B"/>
                  </a:solidFill>
                  <a:cs typeface="+mn-ea"/>
                  <a:sym typeface="+mn-lt"/>
                </a:rPr>
                <a:t>..</a:t>
              </a:r>
            </a:p>
            <a:p>
              <a:pPr marL="457200" algn="ctr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kumimoji="0" lang="en-US" altLang="zh-CN" sz="1500" b="1" dirty="0">
                  <a:solidFill>
                    <a:srgbClr val="180D5B"/>
                  </a:solidFill>
                  <a:cs typeface="+mn-ea"/>
                  <a:sym typeface="+mn-lt"/>
                </a:rPr>
                <a:t>1001</a:t>
              </a:r>
            </a:p>
            <a:p>
              <a:pPr marL="457200" algn="ctr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kumimoji="0" lang="en-US" altLang="zh-CN" sz="1500" b="1" dirty="0">
                  <a:cs typeface="+mn-ea"/>
                  <a:sym typeface="+mn-lt"/>
                </a:rPr>
                <a:t>1010</a:t>
              </a:r>
            </a:p>
            <a:p>
              <a:pPr marL="457200" algn="ctr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kumimoji="0" lang="en-US" altLang="zh-CN" sz="1500" b="1" dirty="0">
                  <a:cs typeface="+mn-ea"/>
                  <a:sym typeface="+mn-lt"/>
                </a:rPr>
                <a:t>1011</a:t>
              </a:r>
            </a:p>
            <a:p>
              <a:pPr marL="457200" algn="ctr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kumimoji="0" lang="en-US" altLang="zh-CN" sz="1500" b="1" dirty="0">
                  <a:cs typeface="+mn-ea"/>
                  <a:sym typeface="+mn-lt"/>
                </a:rPr>
                <a:t>1100</a:t>
              </a:r>
            </a:p>
            <a:p>
              <a:pPr marL="457200" algn="ctr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kumimoji="0" lang="en-US" altLang="zh-CN" sz="1500" b="1" dirty="0">
                  <a:cs typeface="+mn-ea"/>
                  <a:sym typeface="+mn-lt"/>
                </a:rPr>
                <a:t>1101</a:t>
              </a:r>
            </a:p>
            <a:p>
              <a:pPr marL="457200" algn="ctr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kumimoji="0" lang="en-US" altLang="zh-CN" sz="1500" b="1" dirty="0">
                  <a:cs typeface="+mn-ea"/>
                  <a:sym typeface="+mn-lt"/>
                </a:rPr>
                <a:t>1110</a:t>
              </a:r>
            </a:p>
            <a:p>
              <a:pPr marL="457200" algn="ctr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kumimoji="0" lang="en-US" altLang="zh-CN" sz="1500" b="1" dirty="0">
                  <a:cs typeface="+mn-ea"/>
                  <a:sym typeface="+mn-lt"/>
                </a:rPr>
                <a:t>1111</a:t>
              </a:r>
            </a:p>
          </p:txBody>
        </p:sp>
        <p:sp>
          <p:nvSpPr>
            <p:cNvPr id="13" name="Text Box 6"/>
            <p:cNvSpPr txBox="1">
              <a:spLocks noChangeArrowheads="1"/>
            </p:cNvSpPr>
            <p:nvPr/>
          </p:nvSpPr>
          <p:spPr bwMode="auto">
            <a:xfrm>
              <a:off x="2381" y="799"/>
              <a:ext cx="1088" cy="1751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457200" algn="ctr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kumimoji="0" lang="en-US" altLang="zh-CN" sz="1500" b="1" dirty="0">
                  <a:solidFill>
                    <a:srgbClr val="180D5B"/>
                  </a:solidFill>
                  <a:cs typeface="+mn-ea"/>
                  <a:sym typeface="+mn-lt"/>
                </a:rPr>
                <a:t>0</a:t>
              </a:r>
            </a:p>
            <a:p>
              <a:pPr marL="457200" algn="ctr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kumimoji="0" lang="en-US" altLang="zh-CN" sz="1500" b="1" dirty="0">
                  <a:solidFill>
                    <a:srgbClr val="180D5B"/>
                  </a:solidFill>
                  <a:cs typeface="+mn-ea"/>
                  <a:sym typeface="+mn-lt"/>
                </a:rPr>
                <a:t>1</a:t>
              </a:r>
            </a:p>
            <a:p>
              <a:pPr marL="457200" algn="ctr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kumimoji="0" lang="en-US" altLang="zh-CN" sz="1500" b="1" dirty="0">
                  <a:solidFill>
                    <a:srgbClr val="180D5B"/>
                  </a:solidFill>
                  <a:cs typeface="+mn-ea"/>
                  <a:sym typeface="+mn-lt"/>
                </a:rPr>
                <a:t>2</a:t>
              </a:r>
            </a:p>
            <a:p>
              <a:pPr marL="457200" algn="ctr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kumimoji="0" lang="en-US" altLang="zh-CN" sz="1500" b="1" dirty="0">
                  <a:solidFill>
                    <a:srgbClr val="180D5B"/>
                  </a:solidFill>
                  <a:cs typeface="+mn-ea"/>
                  <a:sym typeface="+mn-lt"/>
                </a:rPr>
                <a:t>..</a:t>
              </a:r>
            </a:p>
            <a:p>
              <a:pPr marL="457200" algn="ctr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kumimoji="0" lang="en-US" altLang="zh-CN" sz="1500" b="1" dirty="0">
                  <a:solidFill>
                    <a:srgbClr val="180D5B"/>
                  </a:solidFill>
                  <a:cs typeface="+mn-ea"/>
                  <a:sym typeface="+mn-lt"/>
                </a:rPr>
                <a:t>9</a:t>
              </a:r>
            </a:p>
            <a:p>
              <a:pPr marL="457200" algn="ctr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kumimoji="0" lang="en-US" altLang="zh-CN" sz="1500" b="1" dirty="0">
                  <a:cs typeface="+mn-ea"/>
                  <a:sym typeface="+mn-lt"/>
                </a:rPr>
                <a:t>10</a:t>
              </a:r>
            </a:p>
            <a:p>
              <a:pPr marL="457200" algn="ctr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kumimoji="0" lang="en-US" altLang="zh-CN" sz="1500" b="1" dirty="0">
                  <a:cs typeface="+mn-ea"/>
                  <a:sym typeface="+mn-lt"/>
                </a:rPr>
                <a:t>11</a:t>
              </a:r>
            </a:p>
            <a:p>
              <a:pPr marL="457200" algn="ctr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kumimoji="0" lang="en-US" altLang="zh-CN" sz="1500" b="1" dirty="0">
                  <a:cs typeface="+mn-ea"/>
                  <a:sym typeface="+mn-lt"/>
                </a:rPr>
                <a:t>12</a:t>
              </a:r>
            </a:p>
            <a:p>
              <a:pPr marL="457200" algn="ctr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kumimoji="0" lang="en-US" altLang="zh-CN" sz="1500" b="1" dirty="0">
                  <a:cs typeface="+mn-ea"/>
                  <a:sym typeface="+mn-lt"/>
                </a:rPr>
                <a:t>13</a:t>
              </a:r>
            </a:p>
            <a:p>
              <a:pPr marL="457200" algn="ctr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kumimoji="0" lang="en-US" altLang="zh-CN" sz="1500" b="1" dirty="0">
                  <a:cs typeface="+mn-ea"/>
                  <a:sym typeface="+mn-lt"/>
                </a:rPr>
                <a:t>14</a:t>
              </a:r>
            </a:p>
            <a:p>
              <a:pPr marL="457200" algn="ctr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kumimoji="0" lang="en-US" altLang="zh-CN" sz="1500" b="1" dirty="0">
                  <a:cs typeface="+mn-ea"/>
                  <a:sym typeface="+mn-lt"/>
                </a:rPr>
                <a:t>15</a:t>
              </a:r>
            </a:p>
          </p:txBody>
        </p:sp>
        <p:sp>
          <p:nvSpPr>
            <p:cNvPr id="14" name="Text Box 7"/>
            <p:cNvSpPr txBox="1">
              <a:spLocks noChangeArrowheads="1"/>
            </p:cNvSpPr>
            <p:nvPr/>
          </p:nvSpPr>
          <p:spPr bwMode="auto">
            <a:xfrm>
              <a:off x="3424" y="799"/>
              <a:ext cx="1088" cy="1751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457200" algn="ctr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kumimoji="0" lang="en-US" altLang="zh-CN" sz="1500" b="1" dirty="0">
                  <a:solidFill>
                    <a:srgbClr val="180D5B"/>
                  </a:solidFill>
                  <a:cs typeface="+mn-ea"/>
                  <a:sym typeface="+mn-lt"/>
                </a:rPr>
                <a:t>0</a:t>
              </a:r>
            </a:p>
            <a:p>
              <a:pPr marL="457200" algn="ctr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kumimoji="0" lang="en-US" altLang="zh-CN" sz="1500" b="1" dirty="0">
                  <a:solidFill>
                    <a:srgbClr val="180D5B"/>
                  </a:solidFill>
                  <a:cs typeface="+mn-ea"/>
                  <a:sym typeface="+mn-lt"/>
                </a:rPr>
                <a:t>1</a:t>
              </a:r>
            </a:p>
            <a:p>
              <a:pPr marL="457200" algn="ctr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kumimoji="0" lang="en-US" altLang="zh-CN" sz="1500" b="1" dirty="0">
                  <a:solidFill>
                    <a:srgbClr val="180D5B"/>
                  </a:solidFill>
                  <a:cs typeface="+mn-ea"/>
                  <a:sym typeface="+mn-lt"/>
                </a:rPr>
                <a:t>2</a:t>
              </a:r>
            </a:p>
            <a:p>
              <a:pPr marL="457200" algn="ctr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kumimoji="0" lang="en-US" altLang="zh-CN" sz="1500" b="1" dirty="0">
                  <a:solidFill>
                    <a:srgbClr val="180D5B"/>
                  </a:solidFill>
                  <a:cs typeface="+mn-ea"/>
                  <a:sym typeface="+mn-lt"/>
                </a:rPr>
                <a:t>..</a:t>
              </a:r>
            </a:p>
            <a:p>
              <a:pPr marL="457200" algn="ctr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kumimoji="0" lang="en-US" altLang="zh-CN" sz="1500" b="1" dirty="0">
                  <a:solidFill>
                    <a:srgbClr val="180D5B"/>
                  </a:solidFill>
                  <a:cs typeface="+mn-ea"/>
                  <a:sym typeface="+mn-lt"/>
                </a:rPr>
                <a:t>9</a:t>
              </a:r>
            </a:p>
            <a:p>
              <a:pPr marL="457200" algn="ctr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kumimoji="0" lang="en-US" altLang="zh-CN" sz="1500" b="1" dirty="0">
                  <a:cs typeface="+mn-ea"/>
                  <a:sym typeface="+mn-lt"/>
                </a:rPr>
                <a:t>A</a:t>
              </a:r>
            </a:p>
            <a:p>
              <a:pPr marL="457200" algn="ctr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kumimoji="0" lang="en-US" altLang="zh-CN" sz="1500" b="1" dirty="0">
                  <a:cs typeface="+mn-ea"/>
                  <a:sym typeface="+mn-lt"/>
                </a:rPr>
                <a:t>B</a:t>
              </a:r>
            </a:p>
            <a:p>
              <a:pPr marL="457200" algn="ctr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kumimoji="0" lang="en-US" altLang="zh-CN" sz="1500" b="1" dirty="0">
                  <a:cs typeface="+mn-ea"/>
                  <a:sym typeface="+mn-lt"/>
                </a:rPr>
                <a:t>C</a:t>
              </a:r>
            </a:p>
            <a:p>
              <a:pPr marL="457200" algn="ctr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kumimoji="0" lang="en-US" altLang="zh-CN" sz="1500" b="1" dirty="0">
                  <a:cs typeface="+mn-ea"/>
                  <a:sym typeface="+mn-lt"/>
                </a:rPr>
                <a:t>D</a:t>
              </a:r>
            </a:p>
            <a:p>
              <a:pPr marL="457200" algn="ctr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kumimoji="0" lang="en-US" altLang="zh-CN" sz="1500" b="1" dirty="0">
                  <a:cs typeface="+mn-ea"/>
                  <a:sym typeface="+mn-lt"/>
                </a:rPr>
                <a:t>E</a:t>
              </a:r>
            </a:p>
            <a:p>
              <a:pPr marL="457200" algn="ctr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kumimoji="0" lang="en-US" altLang="zh-CN" sz="1500" b="1" dirty="0">
                  <a:cs typeface="+mn-ea"/>
                  <a:sym typeface="+mn-lt"/>
                </a:rPr>
                <a:t>F</a:t>
              </a:r>
            </a:p>
          </p:txBody>
        </p:sp>
        <p:sp>
          <p:nvSpPr>
            <p:cNvPr id="15" name="AutoShape 8"/>
            <p:cNvSpPr>
              <a:spLocks/>
            </p:cNvSpPr>
            <p:nvPr/>
          </p:nvSpPr>
          <p:spPr bwMode="auto">
            <a:xfrm>
              <a:off x="1519" y="845"/>
              <a:ext cx="90" cy="635"/>
            </a:xfrm>
            <a:prstGeom prst="leftBrace">
              <a:avLst>
                <a:gd name="adj1" fmla="val 58796"/>
                <a:gd name="adj2" fmla="val 50000"/>
              </a:avLst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C00000"/>
                </a:solidFill>
                <a:cs typeface="+mn-ea"/>
                <a:sym typeface="+mn-lt"/>
              </a:endParaRPr>
            </a:p>
          </p:txBody>
        </p:sp>
        <p:sp>
          <p:nvSpPr>
            <p:cNvPr id="16" name="AutoShape 9"/>
            <p:cNvSpPr>
              <a:spLocks/>
            </p:cNvSpPr>
            <p:nvPr/>
          </p:nvSpPr>
          <p:spPr bwMode="auto">
            <a:xfrm>
              <a:off x="2018" y="845"/>
              <a:ext cx="126" cy="1587"/>
            </a:xfrm>
            <a:prstGeom prst="rightBrace">
              <a:avLst>
                <a:gd name="adj1" fmla="val 104960"/>
                <a:gd name="adj2" fmla="val 50000"/>
              </a:avLst>
            </a:prstGeom>
            <a:ln>
              <a:headEnd/>
              <a:tailEnd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solidFill>
                  <a:srgbClr val="180D5B"/>
                </a:solidFill>
                <a:cs typeface="+mn-ea"/>
                <a:sym typeface="+mn-lt"/>
              </a:endParaRPr>
            </a:p>
          </p:txBody>
        </p:sp>
        <p:sp>
          <p:nvSpPr>
            <p:cNvPr id="17" name="AutoShape 10"/>
            <p:cNvSpPr>
              <a:spLocks/>
            </p:cNvSpPr>
            <p:nvPr/>
          </p:nvSpPr>
          <p:spPr bwMode="auto">
            <a:xfrm flipH="1">
              <a:off x="1519" y="1616"/>
              <a:ext cx="89" cy="860"/>
            </a:xfrm>
            <a:prstGeom prst="rightBrace">
              <a:avLst>
                <a:gd name="adj1" fmla="val 80524"/>
                <a:gd name="adj2" fmla="val 52403"/>
              </a:avLst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Rectangle 11"/>
            <p:cNvSpPr>
              <a:spLocks noChangeArrowheads="1"/>
            </p:cNvSpPr>
            <p:nvPr/>
          </p:nvSpPr>
          <p:spPr bwMode="auto">
            <a:xfrm>
              <a:off x="1165" y="1050"/>
              <a:ext cx="413" cy="204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kumimoji="0" lang="en-US" altLang="zh-CN" sz="1500" b="1" dirty="0">
                  <a:solidFill>
                    <a:srgbClr val="C00000"/>
                  </a:solidFill>
                  <a:cs typeface="+mn-ea"/>
                  <a:sym typeface="+mn-lt"/>
                </a:rPr>
                <a:t>BCD </a:t>
              </a:r>
            </a:p>
          </p:txBody>
        </p:sp>
        <p:sp>
          <p:nvSpPr>
            <p:cNvPr id="19" name="Rectangle 12"/>
            <p:cNvSpPr>
              <a:spLocks noChangeArrowheads="1"/>
            </p:cNvSpPr>
            <p:nvPr/>
          </p:nvSpPr>
          <p:spPr bwMode="auto">
            <a:xfrm>
              <a:off x="1111" y="1907"/>
              <a:ext cx="400" cy="346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eaLnBrk="1" hangingPunct="1"/>
              <a:r>
                <a:rPr kumimoji="0" lang="zh-CN" altLang="en-US" sz="1500" b="1">
                  <a:solidFill>
                    <a:srgbClr val="000000"/>
                  </a:solidFill>
                  <a:cs typeface="+mn-ea"/>
                  <a:sym typeface="+mn-lt"/>
                </a:rPr>
                <a:t>非法</a:t>
              </a:r>
              <a:r>
                <a:rPr kumimoji="0" lang="en-US" altLang="zh-CN" sz="1500" b="1">
                  <a:solidFill>
                    <a:srgbClr val="000000"/>
                  </a:solidFill>
                  <a:cs typeface="+mn-ea"/>
                  <a:sym typeface="+mn-lt"/>
                </a:rPr>
                <a:t>BCD</a:t>
              </a:r>
              <a:r>
                <a:rPr kumimoji="0" lang="en-US" altLang="zh-CN" sz="1500" b="1">
                  <a:cs typeface="+mn-ea"/>
                  <a:sym typeface="+mn-lt"/>
                </a:rPr>
                <a:t> </a:t>
              </a:r>
            </a:p>
          </p:txBody>
        </p:sp>
        <p:sp>
          <p:nvSpPr>
            <p:cNvPr id="20" name="Rectangle 13"/>
            <p:cNvSpPr>
              <a:spLocks noChangeArrowheads="1"/>
            </p:cNvSpPr>
            <p:nvPr/>
          </p:nvSpPr>
          <p:spPr bwMode="auto">
            <a:xfrm>
              <a:off x="1837" y="1480"/>
              <a:ext cx="791" cy="366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457200" algn="ctr" eaLnBrk="1" hangingPunct="1"/>
              <a:r>
                <a:rPr kumimoji="0" lang="zh-CN" altLang="en-US" sz="1600" b="1" dirty="0">
                  <a:solidFill>
                    <a:srgbClr val="180D5B"/>
                  </a:solidFill>
                  <a:cs typeface="+mn-ea"/>
                  <a:sym typeface="+mn-lt"/>
                </a:rPr>
                <a:t>二进制</a:t>
              </a:r>
            </a:p>
            <a:p>
              <a:pPr marL="457200" algn="ctr" eaLnBrk="1" hangingPunct="1"/>
              <a:r>
                <a:rPr kumimoji="0" lang="zh-CN" altLang="en-US" sz="1600" b="1" dirty="0">
                  <a:solidFill>
                    <a:srgbClr val="180D5B"/>
                  </a:solidFill>
                  <a:cs typeface="+mn-ea"/>
                  <a:sym typeface="+mn-lt"/>
                </a:rPr>
                <a:t>数  码</a:t>
              </a:r>
            </a:p>
          </p:txBody>
        </p:sp>
      </p:grpSp>
      <p:sp>
        <p:nvSpPr>
          <p:cNvPr id="23" name="Rectangle 17"/>
          <p:cNvSpPr>
            <a:spLocks noChangeArrowheads="1"/>
          </p:cNvSpPr>
          <p:nvPr/>
        </p:nvSpPr>
        <p:spPr bwMode="auto">
          <a:xfrm>
            <a:off x="340100" y="4618485"/>
            <a:ext cx="11413749" cy="1323439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indent="695325" eaLnBrk="1" hangingPunct="1"/>
            <a:r>
              <a:rPr kumimoji="0" lang="en-US" altLang="zh-CN" sz="2000" b="1" dirty="0">
                <a:solidFill>
                  <a:srgbClr val="000000"/>
                </a:solidFill>
                <a:cs typeface="+mn-ea"/>
                <a:sym typeface="+mn-lt"/>
              </a:rPr>
              <a:t>1</a:t>
            </a:r>
            <a:r>
              <a:rPr kumimoji="0"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  <a:r>
              <a:rPr kumimoji="0" lang="en-US" altLang="zh-CN" sz="2000" b="1" dirty="0">
                <a:solidFill>
                  <a:srgbClr val="000000"/>
                </a:solidFill>
                <a:cs typeface="+mn-ea"/>
                <a:sym typeface="+mn-lt"/>
              </a:rPr>
              <a:t>BCD</a:t>
            </a:r>
            <a:r>
              <a:rPr kumimoji="0"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码是用来</a:t>
            </a:r>
            <a:r>
              <a:rPr kumimoji="0" lang="zh-CN" altLang="en-US" sz="2000" b="1" dirty="0">
                <a:solidFill>
                  <a:srgbClr val="C00000"/>
                </a:solidFill>
                <a:cs typeface="+mn-ea"/>
                <a:sym typeface="+mn-lt"/>
              </a:rPr>
              <a:t>表示</a:t>
            </a:r>
            <a:r>
              <a:rPr kumimoji="0"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十进制数的。它不是用</a:t>
            </a:r>
            <a:r>
              <a:rPr kumimoji="0" lang="en-US" altLang="zh-CN" sz="2000" b="1" dirty="0">
                <a:solidFill>
                  <a:srgbClr val="000000"/>
                </a:solidFill>
                <a:cs typeface="+mn-ea"/>
                <a:sym typeface="+mn-lt"/>
              </a:rPr>
              <a:t>0~9</a:t>
            </a:r>
            <a:r>
              <a:rPr kumimoji="0"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这</a:t>
            </a:r>
            <a:r>
              <a:rPr kumimoji="0" lang="en-US" altLang="zh-CN" sz="2000" b="1" dirty="0">
                <a:solidFill>
                  <a:srgbClr val="000000"/>
                </a:solidFill>
                <a:cs typeface="+mn-ea"/>
                <a:sym typeface="+mn-lt"/>
              </a:rPr>
              <a:t>10</a:t>
            </a:r>
            <a:r>
              <a:rPr kumimoji="0"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个符号，而是</a:t>
            </a:r>
            <a:r>
              <a:rPr kumimoji="0"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用四位“</a:t>
            </a:r>
            <a:r>
              <a:rPr kumimoji="0" lang="en-US" altLang="zh-CN" sz="2000" b="1" dirty="0">
                <a:solidFill>
                  <a:srgbClr val="180D5B"/>
                </a:solidFill>
                <a:cs typeface="+mn-ea"/>
                <a:sym typeface="+mn-lt"/>
              </a:rPr>
              <a:t>0”</a:t>
            </a:r>
            <a:r>
              <a:rPr kumimoji="0"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和“</a:t>
            </a:r>
            <a:r>
              <a:rPr kumimoji="0" lang="en-US" altLang="zh-CN" sz="2000" b="1" dirty="0">
                <a:solidFill>
                  <a:srgbClr val="180D5B"/>
                </a:solidFill>
                <a:cs typeface="+mn-ea"/>
                <a:sym typeface="+mn-lt"/>
              </a:rPr>
              <a:t>1”</a:t>
            </a:r>
            <a:r>
              <a:rPr kumimoji="0"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来</a:t>
            </a:r>
          </a:p>
          <a:p>
            <a:pPr indent="695325" eaLnBrk="1" hangingPunct="1"/>
            <a:r>
              <a:rPr kumimoji="0"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      表示一位十进制数    </a:t>
            </a:r>
            <a:endParaRPr kumimoji="0" lang="zh-CN" altLang="en-US" sz="1600" b="1" dirty="0">
              <a:solidFill>
                <a:srgbClr val="180D5B"/>
              </a:solidFill>
              <a:cs typeface="+mn-ea"/>
              <a:sym typeface="+mn-lt"/>
            </a:endParaRPr>
          </a:p>
          <a:p>
            <a:pPr indent="695325" eaLnBrk="1" hangingPunct="1"/>
            <a:r>
              <a:rPr kumimoji="0" lang="en-US" altLang="zh-CN" sz="2000" b="1" dirty="0">
                <a:solidFill>
                  <a:srgbClr val="000000"/>
                </a:solidFill>
                <a:cs typeface="+mn-ea"/>
                <a:sym typeface="+mn-lt"/>
              </a:rPr>
              <a:t>2</a:t>
            </a:r>
            <a:r>
              <a:rPr kumimoji="0"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  <a:r>
              <a:rPr kumimoji="0" lang="en-US" altLang="zh-CN" sz="2000" b="1" dirty="0">
                <a:solidFill>
                  <a:srgbClr val="000000"/>
                </a:solidFill>
                <a:cs typeface="+mn-ea"/>
                <a:sym typeface="+mn-lt"/>
              </a:rPr>
              <a:t>BCD</a:t>
            </a:r>
            <a:r>
              <a:rPr kumimoji="0"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表达的是十进制数，</a:t>
            </a:r>
            <a:r>
              <a:rPr kumimoji="0" lang="zh-CN" altLang="en-US" sz="2000" b="1" dirty="0">
                <a:solidFill>
                  <a:srgbClr val="C00000"/>
                </a:solidFill>
                <a:cs typeface="+mn-ea"/>
                <a:sym typeface="+mn-lt"/>
              </a:rPr>
              <a:t>应当</a:t>
            </a:r>
            <a:r>
              <a:rPr kumimoji="0" lang="zh-CN" altLang="en-US" sz="2000" b="1" dirty="0">
                <a:solidFill>
                  <a:srgbClr val="180D5B"/>
                </a:solidFill>
                <a:cs typeface="+mn-ea"/>
                <a:sym typeface="+mn-lt"/>
              </a:rPr>
              <a:t>保持十进制数的特点：</a:t>
            </a:r>
            <a:r>
              <a:rPr kumimoji="0"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“逢十进位”，“借一作十”。</a:t>
            </a:r>
            <a:endParaRPr kumimoji="0" lang="zh-CN" altLang="en-US" sz="1600" b="1" dirty="0">
              <a:cs typeface="+mn-ea"/>
              <a:sym typeface="+mn-lt"/>
            </a:endParaRPr>
          </a:p>
          <a:p>
            <a:pPr indent="695325" eaLnBrk="1" hangingPunct="1"/>
            <a:r>
              <a:rPr kumimoji="0" lang="en-US" altLang="zh-CN" sz="2000" b="1" dirty="0">
                <a:solidFill>
                  <a:srgbClr val="000000"/>
                </a:solidFill>
                <a:cs typeface="+mn-ea"/>
                <a:sym typeface="+mn-lt"/>
              </a:rPr>
              <a:t>3</a:t>
            </a:r>
            <a:r>
              <a:rPr kumimoji="0"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  <a:r>
              <a:rPr kumimoji="0" lang="en-US" altLang="zh-CN" sz="2000" b="1" dirty="0">
                <a:solidFill>
                  <a:srgbClr val="000000"/>
                </a:solidFill>
                <a:cs typeface="+mn-ea"/>
                <a:sym typeface="+mn-lt"/>
              </a:rPr>
              <a:t>BCD</a:t>
            </a:r>
            <a:r>
              <a:rPr kumimoji="0" lang="zh-CN" altLang="en-US" sz="2000" b="1" dirty="0">
                <a:solidFill>
                  <a:srgbClr val="C00000"/>
                </a:solidFill>
                <a:cs typeface="+mn-ea"/>
                <a:sym typeface="+mn-lt"/>
              </a:rPr>
              <a:t>不是</a:t>
            </a:r>
            <a:r>
              <a:rPr kumimoji="0"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纯二进制数</a:t>
            </a:r>
          </a:p>
        </p:txBody>
      </p:sp>
    </p:spTree>
    <p:extLst>
      <p:ext uri="{BB962C8B-B14F-4D97-AF65-F5344CB8AC3E}">
        <p14:creationId xmlns:p14="http://schemas.microsoft.com/office/powerpoint/2010/main" val="1261646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2"/>
            <a:r>
              <a:rPr lang="en-US" altLang="zh-CN" sz="2800" b="1" dirty="0">
                <a:cs typeface="+mn-ea"/>
                <a:sym typeface="+mn-lt"/>
              </a:rPr>
              <a:t>ASCII</a:t>
            </a:r>
            <a:r>
              <a:rPr lang="zh-CN" altLang="en-US" sz="2800" b="1" dirty="0">
                <a:cs typeface="+mn-ea"/>
                <a:sym typeface="+mn-lt"/>
              </a:rPr>
              <a:t>码和</a:t>
            </a:r>
            <a:r>
              <a:rPr lang="en-US" altLang="zh-CN" sz="2800" b="1" dirty="0">
                <a:cs typeface="+mn-ea"/>
                <a:sym typeface="+mn-lt"/>
              </a:rPr>
              <a:t>BCD</a:t>
            </a:r>
            <a:r>
              <a:rPr lang="zh-CN" altLang="en-US" sz="2800" b="1" dirty="0">
                <a:cs typeface="+mn-ea"/>
                <a:sym typeface="+mn-lt"/>
              </a:rPr>
              <a:t>码表示方法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985408" y="1575984"/>
            <a:ext cx="1718103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BCD</a:t>
            </a:r>
            <a:r>
              <a:rPr lang="zh-CN" altLang="en-US" sz="32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码</a:t>
            </a:r>
          </a:p>
        </p:txBody>
      </p:sp>
      <p:sp>
        <p:nvSpPr>
          <p:cNvPr id="11" name="内容占位符 2"/>
          <p:cNvSpPr txBox="1">
            <a:spLocks/>
          </p:cNvSpPr>
          <p:nvPr/>
        </p:nvSpPr>
        <p:spPr>
          <a:xfrm>
            <a:off x="1413775" y="2072569"/>
            <a:ext cx="9287176" cy="642348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2800" dirty="0">
                <a:cs typeface="+mn-ea"/>
                <a:sym typeface="+mn-lt"/>
              </a:rPr>
              <a:t>既不是二进制，也不是十进制。是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二进制编码的十进制数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/>
              <p:cNvSpPr txBox="1">
                <a:spLocks/>
              </p:cNvSpPr>
              <p:nvPr/>
            </p:nvSpPr>
            <p:spPr>
              <a:xfrm>
                <a:off x="1356110" y="2962254"/>
                <a:ext cx="10349858" cy="2721853"/>
              </a:xfrm>
              <a:prstGeom prst="rect">
                <a:avLst/>
              </a:prstGeom>
            </p:spPr>
            <p:txBody>
              <a:bodyPr/>
              <a:lstStyle>
                <a:lvl1pPr marL="228589" indent="-228589" algn="l" defTabSz="914354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66" indent="-228589" algn="l" defTabSz="91435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42" indent="-228589" algn="l" defTabSz="91435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20" indent="-228589" algn="l" defTabSz="91435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98" indent="-228589" algn="l" defTabSz="91435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474" indent="-228589" algn="l" defTabSz="91435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652" indent="-228589" algn="l" defTabSz="91435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829" indent="-228589" algn="l" defTabSz="91435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006" indent="-228589" algn="l" defTabSz="91435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defRPr/>
                </a:pPr>
                <a:r>
                  <a:rPr lang="zh-CN" altLang="en-US" sz="2800" dirty="0">
                    <a:cs typeface="+mn-ea"/>
                    <a:sym typeface="+mn-lt"/>
                  </a:rPr>
                  <a:t>例：</a:t>
                </a:r>
                <a:endParaRPr lang="en-US" altLang="zh-CN" sz="2800" dirty="0">
                  <a:cs typeface="+mn-ea"/>
                  <a:sym typeface="+mn-lt"/>
                </a:endParaRPr>
              </a:p>
              <a:p>
                <a:pPr marL="0" indent="0">
                  <a:lnSpc>
                    <a:spcPct val="150000"/>
                  </a:lnSpc>
                  <a:buNone/>
                  <a:defRPr/>
                </a:pPr>
                <a:r>
                  <a:rPr lang="en-US" altLang="zh-CN" sz="2800" b="0" dirty="0">
                    <a:cs typeface="+mn-ea"/>
                    <a:sym typeface="+mn-lt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(37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𝐻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)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𝐵𝐶𝐷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</m:t>
                    </m:r>
                  </m:oMath>
                </a14:m>
                <a:r>
                  <a:rPr lang="en-US" altLang="zh-CN" sz="2800" b="0" i="1" dirty="0">
                    <a:latin typeface="Cambria Math" panose="02040503050406030204" pitchFamily="18" charset="0"/>
                    <a:cs typeface="+mn-ea"/>
                    <a:sym typeface="+mn-lt"/>
                  </a:rPr>
                  <a:t>		    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37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𝐷</m:t>
                    </m:r>
                  </m:oMath>
                </a14:m>
                <a:endParaRPr lang="en-US" altLang="zh-CN" sz="2800" b="0" i="1" dirty="0">
                  <a:latin typeface="Cambria Math" panose="02040503050406030204" pitchFamily="18" charset="0"/>
                  <a:cs typeface="+mn-ea"/>
                  <a:sym typeface="+mn-lt"/>
                </a:endParaRPr>
              </a:p>
              <a:p>
                <a:pPr marL="0" indent="0">
                  <a:lnSpc>
                    <a:spcPct val="150000"/>
                  </a:lnSpc>
                  <a:buNone/>
                  <a:defRPr/>
                </a:pPr>
                <a:r>
                  <a:rPr lang="en-US" altLang="zh-CN" sz="2800" dirty="0">
                    <a:cs typeface="+mn-ea"/>
                    <a:sym typeface="+mn-lt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(37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𝐻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)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zh-CN" sz="2800" dirty="0">
                    <a:cs typeface="+mn-ea"/>
                    <a:sym typeface="+mn-lt"/>
                  </a:rPr>
                  <a:t>		    </a:t>
                </a:r>
                <a14:m>
                  <m:oMath xmlns:m="http://schemas.openxmlformats.org/officeDocument/2006/math">
                    <m:r>
                      <a:rPr lang="en-US" altLang="zh-CN" sz="280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</m:t>
                    </m:r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3×16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</m:t>
                        </m:r>
                      </m:sup>
                    </m:sSup>
                    <m:r>
                      <a:rPr lang="en-US" altLang="zh-CN" sz="2800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+</m:t>
                    </m:r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7×16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0</m:t>
                        </m:r>
                      </m:sup>
                    </m:sSup>
                    <m:r>
                      <a:rPr lang="en-US" altLang="zh-CN" sz="2800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=55</m:t>
                    </m:r>
                  </m:oMath>
                </a14:m>
                <a:endParaRPr lang="en-US" altLang="zh-CN" sz="28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7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6110" y="2962254"/>
                <a:ext cx="10349858" cy="2721853"/>
              </a:xfrm>
              <a:prstGeom prst="rect">
                <a:avLst/>
              </a:prstGeom>
              <a:blipFill>
                <a:blip r:embed="rId2"/>
                <a:stretch>
                  <a:fillRect l="-11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接箭头连接符 9"/>
          <p:cNvCxnSpPr/>
          <p:nvPr/>
        </p:nvCxnSpPr>
        <p:spPr>
          <a:xfrm>
            <a:off x="4043208" y="4152361"/>
            <a:ext cx="116977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4133824" y="3720358"/>
            <a:ext cx="1243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cs typeface="+mn-ea"/>
                <a:sym typeface="+mn-lt"/>
              </a:rPr>
              <a:t>十进制</a:t>
            </a: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4043208" y="5003087"/>
            <a:ext cx="116977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4133824" y="4571084"/>
            <a:ext cx="1243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cs typeface="+mn-ea"/>
                <a:sym typeface="+mn-lt"/>
              </a:rPr>
              <a:t>十进制</a:t>
            </a:r>
          </a:p>
        </p:txBody>
      </p:sp>
      <p:sp>
        <p:nvSpPr>
          <p:cNvPr id="16" name="内容占位符 2"/>
          <p:cNvSpPr txBox="1">
            <a:spLocks/>
          </p:cNvSpPr>
          <p:nvPr/>
        </p:nvSpPr>
        <p:spPr>
          <a:xfrm>
            <a:off x="6598044" y="2973585"/>
            <a:ext cx="3534033" cy="1262033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  <a:defRPr/>
            </a:pPr>
            <a:r>
              <a:rPr lang="zh-CN" altLang="en-US" sz="2400" dirty="0">
                <a:cs typeface="+mn-ea"/>
                <a:sym typeface="+mn-lt"/>
              </a:rPr>
              <a:t>“二进制</a:t>
            </a:r>
            <a:r>
              <a:rPr lang="en-US" altLang="zh-CN" sz="2400" dirty="0">
                <a:cs typeface="+mn-ea"/>
                <a:sym typeface="+mn-lt"/>
              </a:rPr>
              <a:t>BCD</a:t>
            </a:r>
            <a:r>
              <a:rPr lang="zh-CN" altLang="en-US" sz="2400" dirty="0">
                <a:cs typeface="+mn-ea"/>
                <a:sym typeface="+mn-lt"/>
              </a:rPr>
              <a:t>看起来和十进制一样”</a:t>
            </a:r>
            <a:endParaRPr lang="zh-CN" altLang="en-US" sz="24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sp>
        <p:nvSpPr>
          <p:cNvPr id="20" name="下箭头 19"/>
          <p:cNvSpPr/>
          <p:nvPr/>
        </p:nvSpPr>
        <p:spPr>
          <a:xfrm rot="13966701">
            <a:off x="6439808" y="3466980"/>
            <a:ext cx="316473" cy="697088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72045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/>
      <p:bldP spid="15" grpId="0"/>
      <p:bldP spid="16" grpId="0"/>
      <p:bldP spid="20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2"/>
            <a:r>
              <a:rPr lang="en-US" altLang="zh-CN" sz="2800" b="1" dirty="0">
                <a:cs typeface="+mn-ea"/>
                <a:sym typeface="+mn-lt"/>
              </a:rPr>
              <a:t>ASCII</a:t>
            </a:r>
            <a:r>
              <a:rPr lang="zh-CN" altLang="en-US" sz="2800" b="1" dirty="0">
                <a:cs typeface="+mn-ea"/>
                <a:sym typeface="+mn-lt"/>
              </a:rPr>
              <a:t>码和</a:t>
            </a:r>
            <a:r>
              <a:rPr lang="en-US" altLang="zh-CN" sz="2800" b="1" dirty="0">
                <a:cs typeface="+mn-ea"/>
                <a:sym typeface="+mn-lt"/>
              </a:rPr>
              <a:t>BCD</a:t>
            </a:r>
            <a:r>
              <a:rPr lang="zh-CN" altLang="en-US" sz="2800" b="1" dirty="0">
                <a:cs typeface="+mn-ea"/>
                <a:sym typeface="+mn-lt"/>
              </a:rPr>
              <a:t>码表示方法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319218" y="1194730"/>
            <a:ext cx="4455811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BCD</a:t>
            </a:r>
            <a:r>
              <a:rPr lang="zh-CN" altLang="en-US" sz="32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码的十进制调整</a:t>
            </a:r>
          </a:p>
        </p:txBody>
      </p:sp>
      <p:sp>
        <p:nvSpPr>
          <p:cNvPr id="11" name="内容占位符 2"/>
          <p:cNvSpPr txBox="1">
            <a:spLocks/>
          </p:cNvSpPr>
          <p:nvPr/>
        </p:nvSpPr>
        <p:spPr>
          <a:xfrm>
            <a:off x="1922446" y="4276901"/>
            <a:ext cx="6816449" cy="642348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zh-CN" sz="2400" dirty="0">
                <a:cs typeface="+mn-ea"/>
                <a:sym typeface="+mn-lt"/>
              </a:rPr>
              <a:t>BCD</a:t>
            </a:r>
            <a:r>
              <a:rPr lang="zh-CN" altLang="en-US" sz="2400" dirty="0">
                <a:cs typeface="+mn-ea"/>
                <a:sym typeface="+mn-lt"/>
              </a:rPr>
              <a:t>码加法的十进制调整方法： </a:t>
            </a:r>
            <a:endParaRPr lang="en-US" altLang="zh-CN" sz="2400" dirty="0">
              <a:cs typeface="+mn-ea"/>
              <a:sym typeface="+mn-lt"/>
            </a:endParaRPr>
          </a:p>
          <a:p>
            <a:pPr marL="457200" indent="-457200">
              <a:lnSpc>
                <a:spcPct val="150000"/>
              </a:lnSpc>
              <a:buAutoNum type="arabicPeriod"/>
              <a:defRPr/>
            </a:pPr>
            <a:r>
              <a:rPr lang="zh-CN" altLang="en-US" sz="2400" dirty="0">
                <a:cs typeface="+mn-ea"/>
                <a:sym typeface="+mn-lt"/>
              </a:rPr>
              <a:t>对非法</a:t>
            </a:r>
            <a:r>
              <a:rPr lang="en-US" altLang="zh-CN" sz="2400" dirty="0">
                <a:cs typeface="+mn-ea"/>
                <a:sym typeface="+mn-lt"/>
              </a:rPr>
              <a:t>BCD</a:t>
            </a:r>
            <a:r>
              <a:rPr lang="zh-CN" altLang="en-US" sz="2400" dirty="0">
                <a:cs typeface="+mn-ea"/>
                <a:sym typeface="+mn-lt"/>
              </a:rPr>
              <a:t>码加</a:t>
            </a:r>
            <a:r>
              <a:rPr lang="en-US" altLang="zh-CN" sz="2400" dirty="0">
                <a:cs typeface="+mn-ea"/>
                <a:sym typeface="+mn-lt"/>
              </a:rPr>
              <a:t>6</a:t>
            </a:r>
            <a:r>
              <a:rPr lang="zh-CN" altLang="en-US" sz="2400" dirty="0">
                <a:cs typeface="+mn-ea"/>
                <a:sym typeface="+mn-lt"/>
              </a:rPr>
              <a:t>修正</a:t>
            </a:r>
            <a:endParaRPr lang="en-US" altLang="zh-CN" sz="2400" dirty="0">
              <a:cs typeface="+mn-ea"/>
              <a:sym typeface="+mn-lt"/>
            </a:endParaRPr>
          </a:p>
          <a:p>
            <a:pPr marL="457200" indent="-457200">
              <a:lnSpc>
                <a:spcPct val="150000"/>
              </a:lnSpc>
              <a:buAutoNum type="arabicPeriod"/>
              <a:defRPr/>
            </a:pPr>
            <a:r>
              <a:rPr lang="zh-CN" altLang="en-US" sz="2400" dirty="0">
                <a:cs typeface="+mn-ea"/>
                <a:sym typeface="+mn-lt"/>
              </a:rPr>
              <a:t>低位向高位有进位，低位加</a:t>
            </a:r>
            <a:r>
              <a:rPr lang="en-US" altLang="zh-CN" sz="2400" dirty="0">
                <a:cs typeface="+mn-ea"/>
                <a:sym typeface="+mn-lt"/>
              </a:rPr>
              <a:t>6</a:t>
            </a:r>
            <a:r>
              <a:rPr lang="zh-CN" altLang="en-US" sz="2400" dirty="0">
                <a:cs typeface="+mn-ea"/>
                <a:sym typeface="+mn-lt"/>
              </a:rPr>
              <a:t>修正</a:t>
            </a:r>
          </a:p>
        </p:txBody>
      </p:sp>
      <p:sp>
        <p:nvSpPr>
          <p:cNvPr id="7" name="Rectangle 67"/>
          <p:cNvSpPr>
            <a:spLocks noChangeArrowheads="1"/>
          </p:cNvSpPr>
          <p:nvPr/>
        </p:nvSpPr>
        <p:spPr bwMode="auto">
          <a:xfrm>
            <a:off x="2668514" y="1833238"/>
            <a:ext cx="739657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zh-CN" altLang="en-US" b="1" dirty="0">
                <a:solidFill>
                  <a:srgbClr val="000000"/>
                </a:solidFill>
                <a:cs typeface="+mn-ea"/>
                <a:sym typeface="+mn-lt"/>
              </a:rPr>
              <a:t>例：计算（</a:t>
            </a:r>
            <a:r>
              <a:rPr kumimoji="0" lang="en-US" altLang="zh-CN" b="1" dirty="0">
                <a:solidFill>
                  <a:srgbClr val="000000"/>
                </a:solidFill>
                <a:cs typeface="+mn-ea"/>
                <a:sym typeface="+mn-lt"/>
              </a:rPr>
              <a:t>0100 0010</a:t>
            </a:r>
            <a:r>
              <a:rPr kumimoji="0" lang="zh-CN" altLang="en-US" b="1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  <a:r>
              <a:rPr kumimoji="0" lang="en-US" altLang="zh-CN" b="1" baseline="-30000" dirty="0">
                <a:solidFill>
                  <a:srgbClr val="000000"/>
                </a:solidFill>
                <a:cs typeface="+mn-ea"/>
                <a:sym typeface="+mn-lt"/>
              </a:rPr>
              <a:t>BCD</a:t>
            </a:r>
            <a:r>
              <a:rPr kumimoji="0" lang="en-US" altLang="zh-CN" b="1" dirty="0">
                <a:solidFill>
                  <a:srgbClr val="000000"/>
                </a:solidFill>
                <a:cs typeface="+mn-ea"/>
                <a:sym typeface="+mn-lt"/>
              </a:rPr>
              <a:t>+</a:t>
            </a:r>
            <a:r>
              <a:rPr kumimoji="0" lang="zh-CN" altLang="en-US" b="1" dirty="0">
                <a:solidFill>
                  <a:srgbClr val="000000"/>
                </a:solidFill>
                <a:cs typeface="+mn-ea"/>
                <a:sym typeface="+mn-lt"/>
              </a:rPr>
              <a:t>（</a:t>
            </a:r>
            <a:r>
              <a:rPr kumimoji="0" lang="en-US" altLang="zh-CN" b="1" dirty="0">
                <a:solidFill>
                  <a:srgbClr val="000000"/>
                </a:solidFill>
                <a:cs typeface="+mn-ea"/>
                <a:sym typeface="+mn-lt"/>
              </a:rPr>
              <a:t>0001 1001</a:t>
            </a:r>
            <a:r>
              <a:rPr kumimoji="0" lang="zh-CN" altLang="en-US" b="1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  <a:r>
              <a:rPr kumimoji="0" lang="en-US" altLang="zh-CN" b="1" baseline="-30000" dirty="0">
                <a:solidFill>
                  <a:srgbClr val="000000"/>
                </a:solidFill>
                <a:cs typeface="+mn-ea"/>
                <a:sym typeface="+mn-lt"/>
              </a:rPr>
              <a:t>BCD</a:t>
            </a:r>
            <a:r>
              <a:rPr kumimoji="0" lang="en-US" altLang="zh-CN" b="1" dirty="0">
                <a:solidFill>
                  <a:srgbClr val="000000"/>
                </a:solidFill>
                <a:cs typeface="+mn-ea"/>
                <a:sym typeface="+mn-lt"/>
              </a:rPr>
              <a:t>             42+19=</a:t>
            </a:r>
            <a:r>
              <a:rPr kumimoji="0" lang="en-US" altLang="zh-CN" b="1" dirty="0">
                <a:solidFill>
                  <a:srgbClr val="0000FF"/>
                </a:solidFill>
                <a:cs typeface="+mn-ea"/>
                <a:sym typeface="+mn-lt"/>
              </a:rPr>
              <a:t>61</a:t>
            </a:r>
          </a:p>
        </p:txBody>
      </p:sp>
      <p:sp>
        <p:nvSpPr>
          <p:cNvPr id="8" name="Rectangle 68"/>
          <p:cNvSpPr>
            <a:spLocks noChangeArrowheads="1"/>
          </p:cNvSpPr>
          <p:nvPr/>
        </p:nvSpPr>
        <p:spPr bwMode="auto">
          <a:xfrm>
            <a:off x="4249007" y="2615847"/>
            <a:ext cx="162968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1" hangingPunct="1"/>
            <a:r>
              <a:rPr kumimoji="0" lang="en-US" altLang="zh-CN" sz="1600" b="1" dirty="0">
                <a:solidFill>
                  <a:srgbClr val="000000"/>
                </a:solidFill>
                <a:cs typeface="+mn-ea"/>
                <a:sym typeface="+mn-lt"/>
              </a:rPr>
              <a:t>0100 0010</a:t>
            </a:r>
            <a:r>
              <a:rPr kumimoji="0" lang="en-US" altLang="zh-CN" sz="1600" b="1" dirty="0">
                <a:cs typeface="+mn-ea"/>
                <a:sym typeface="+mn-lt"/>
              </a:rPr>
              <a:t> </a:t>
            </a:r>
          </a:p>
        </p:txBody>
      </p:sp>
      <p:sp>
        <p:nvSpPr>
          <p:cNvPr id="10" name="Rectangle 69"/>
          <p:cNvSpPr>
            <a:spLocks noChangeArrowheads="1"/>
          </p:cNvSpPr>
          <p:nvPr/>
        </p:nvSpPr>
        <p:spPr bwMode="auto">
          <a:xfrm>
            <a:off x="3971580" y="2876197"/>
            <a:ext cx="199983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1" hangingPunct="1"/>
            <a:r>
              <a:rPr kumimoji="0"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+</a:t>
            </a:r>
            <a:r>
              <a:rPr kumimoji="0" lang="en-US" altLang="zh-CN" sz="1600" b="1" dirty="0">
                <a:solidFill>
                  <a:srgbClr val="000000"/>
                </a:solidFill>
                <a:cs typeface="+mn-ea"/>
                <a:sym typeface="+mn-lt"/>
              </a:rPr>
              <a:t>   0001 1001</a:t>
            </a:r>
            <a:r>
              <a:rPr kumimoji="0" lang="en-US" altLang="zh-CN" sz="1600" b="1" dirty="0">
                <a:cs typeface="+mn-ea"/>
                <a:sym typeface="+mn-lt"/>
              </a:rPr>
              <a:t> </a:t>
            </a:r>
          </a:p>
        </p:txBody>
      </p:sp>
      <p:sp>
        <p:nvSpPr>
          <p:cNvPr id="12" name="Rectangle 70"/>
          <p:cNvSpPr>
            <a:spLocks noChangeArrowheads="1"/>
          </p:cNvSpPr>
          <p:nvPr/>
        </p:nvSpPr>
        <p:spPr bwMode="auto">
          <a:xfrm>
            <a:off x="4240769" y="3160043"/>
            <a:ext cx="162968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1" hangingPunct="1"/>
            <a:r>
              <a:rPr kumimoji="0" lang="en-US" altLang="zh-CN" sz="1600" b="1" dirty="0">
                <a:solidFill>
                  <a:srgbClr val="000000"/>
                </a:solidFill>
                <a:cs typeface="+mn-ea"/>
                <a:sym typeface="+mn-lt"/>
              </a:rPr>
              <a:t>0101 1011</a:t>
            </a:r>
            <a:r>
              <a:rPr kumimoji="0" lang="en-US" altLang="zh-CN" sz="1600" b="1" dirty="0">
                <a:cs typeface="+mn-ea"/>
                <a:sym typeface="+mn-lt"/>
              </a:rPr>
              <a:t> </a:t>
            </a:r>
          </a:p>
        </p:txBody>
      </p:sp>
      <p:sp>
        <p:nvSpPr>
          <p:cNvPr id="13" name="Line 71"/>
          <p:cNvSpPr>
            <a:spLocks noChangeShapeType="1"/>
          </p:cNvSpPr>
          <p:nvPr/>
        </p:nvSpPr>
        <p:spPr bwMode="auto">
          <a:xfrm>
            <a:off x="3548620" y="3179231"/>
            <a:ext cx="259109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cs typeface="+mn-ea"/>
              <a:sym typeface="+mn-lt"/>
            </a:endParaRPr>
          </a:p>
        </p:txBody>
      </p:sp>
      <p:sp>
        <p:nvSpPr>
          <p:cNvPr id="14" name="Rectangle 72"/>
          <p:cNvSpPr>
            <a:spLocks noChangeArrowheads="1"/>
          </p:cNvSpPr>
          <p:nvPr/>
        </p:nvSpPr>
        <p:spPr bwMode="auto">
          <a:xfrm>
            <a:off x="6165385" y="3168933"/>
            <a:ext cx="158993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1" hangingPunct="1"/>
            <a:r>
              <a:rPr kumimoji="0" lang="zh-CN" altLang="en-US" sz="1600" b="1" dirty="0">
                <a:solidFill>
                  <a:srgbClr val="000000"/>
                </a:solidFill>
                <a:cs typeface="+mn-ea"/>
                <a:sym typeface="+mn-lt"/>
              </a:rPr>
              <a:t>非法</a:t>
            </a:r>
            <a:r>
              <a:rPr kumimoji="0" lang="en-US" altLang="zh-CN" sz="1600" b="1" dirty="0">
                <a:solidFill>
                  <a:srgbClr val="000000"/>
                </a:solidFill>
                <a:cs typeface="+mn-ea"/>
                <a:sym typeface="+mn-lt"/>
              </a:rPr>
              <a:t>BCD</a:t>
            </a:r>
            <a:r>
              <a:rPr kumimoji="0" lang="en-US" altLang="zh-CN" sz="1600" b="1" dirty="0">
                <a:cs typeface="+mn-ea"/>
                <a:sym typeface="+mn-lt"/>
              </a:rPr>
              <a:t> </a:t>
            </a:r>
          </a:p>
        </p:txBody>
      </p:sp>
      <p:sp>
        <p:nvSpPr>
          <p:cNvPr id="15" name="Line 73"/>
          <p:cNvSpPr>
            <a:spLocks noChangeShapeType="1"/>
          </p:cNvSpPr>
          <p:nvPr/>
        </p:nvSpPr>
        <p:spPr bwMode="auto">
          <a:xfrm flipH="1">
            <a:off x="5330671" y="3338976"/>
            <a:ext cx="789998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cs typeface="+mn-ea"/>
              <a:sym typeface="+mn-lt"/>
            </a:endParaRPr>
          </a:p>
        </p:txBody>
      </p:sp>
      <p:sp>
        <p:nvSpPr>
          <p:cNvPr id="16" name="Rectangle 74"/>
          <p:cNvSpPr>
            <a:spLocks noChangeArrowheads="1"/>
          </p:cNvSpPr>
          <p:nvPr/>
        </p:nvSpPr>
        <p:spPr bwMode="auto">
          <a:xfrm>
            <a:off x="3474478" y="3461668"/>
            <a:ext cx="440709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1" hangingPunct="1"/>
            <a:r>
              <a:rPr kumimoji="0" lang="zh-CN" altLang="en-US" sz="1600" b="1" dirty="0">
                <a:solidFill>
                  <a:srgbClr val="C00000"/>
                </a:solidFill>
                <a:cs typeface="+mn-ea"/>
                <a:sym typeface="+mn-lt"/>
              </a:rPr>
              <a:t>调整 </a:t>
            </a:r>
            <a:r>
              <a:rPr kumimoji="0" lang="en-US" altLang="zh-CN" sz="1600" b="1" dirty="0">
                <a:solidFill>
                  <a:srgbClr val="C00000"/>
                </a:solidFill>
                <a:cs typeface="+mn-ea"/>
                <a:sym typeface="+mn-lt"/>
              </a:rPr>
              <a:t>+   0000 0110   </a:t>
            </a:r>
            <a:r>
              <a:rPr kumimoji="0" lang="zh-CN" altLang="en-US" sz="1600" b="1" dirty="0">
                <a:solidFill>
                  <a:srgbClr val="C00000"/>
                </a:solidFill>
                <a:cs typeface="+mn-ea"/>
                <a:sym typeface="+mn-lt"/>
              </a:rPr>
              <a:t>（</a:t>
            </a:r>
            <a:r>
              <a:rPr kumimoji="0" lang="en-US" altLang="zh-CN" sz="1600" b="1" dirty="0">
                <a:solidFill>
                  <a:srgbClr val="C00000"/>
                </a:solidFill>
                <a:cs typeface="+mn-ea"/>
                <a:sym typeface="+mn-lt"/>
              </a:rPr>
              <a:t>06</a:t>
            </a:r>
            <a:r>
              <a:rPr kumimoji="0" lang="zh-CN" altLang="en-US" sz="1600" b="1" dirty="0">
                <a:solidFill>
                  <a:srgbClr val="C00000"/>
                </a:solidFill>
                <a:cs typeface="+mn-ea"/>
                <a:sym typeface="+mn-lt"/>
              </a:rPr>
              <a:t>调整） </a:t>
            </a:r>
          </a:p>
        </p:txBody>
      </p:sp>
      <p:sp>
        <p:nvSpPr>
          <p:cNvPr id="17" name="Rectangle 75"/>
          <p:cNvSpPr>
            <a:spLocks noChangeArrowheads="1"/>
          </p:cNvSpPr>
          <p:nvPr/>
        </p:nvSpPr>
        <p:spPr bwMode="auto">
          <a:xfrm>
            <a:off x="4235707" y="3730256"/>
            <a:ext cx="303826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1" hangingPunct="1"/>
            <a:r>
              <a:rPr kumimoji="0" lang="en-US" altLang="zh-CN" sz="1600" b="1" dirty="0">
                <a:solidFill>
                  <a:srgbClr val="180D5B"/>
                </a:solidFill>
                <a:cs typeface="+mn-ea"/>
                <a:sym typeface="+mn-lt"/>
              </a:rPr>
              <a:t>0110 0001………61D </a:t>
            </a:r>
          </a:p>
        </p:txBody>
      </p:sp>
      <p:sp>
        <p:nvSpPr>
          <p:cNvPr id="18" name="Rectangle 76"/>
          <p:cNvSpPr>
            <a:spLocks noChangeArrowheads="1"/>
          </p:cNvSpPr>
          <p:nvPr/>
        </p:nvSpPr>
        <p:spPr bwMode="auto">
          <a:xfrm>
            <a:off x="7566200" y="3742619"/>
            <a:ext cx="218615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1" hangingPunct="1"/>
            <a:r>
              <a:rPr kumimoji="0" lang="zh-CN" altLang="en-US" sz="1600" b="1" dirty="0">
                <a:solidFill>
                  <a:srgbClr val="180D5B"/>
                </a:solidFill>
                <a:cs typeface="+mn-ea"/>
                <a:sym typeface="+mn-lt"/>
              </a:rPr>
              <a:t>调整后的</a:t>
            </a:r>
            <a:r>
              <a:rPr kumimoji="0" lang="en-US" altLang="zh-CN" sz="1600" b="1" dirty="0">
                <a:solidFill>
                  <a:srgbClr val="180D5B"/>
                </a:solidFill>
                <a:cs typeface="+mn-ea"/>
                <a:sym typeface="+mn-lt"/>
              </a:rPr>
              <a:t>BCD </a:t>
            </a:r>
          </a:p>
        </p:txBody>
      </p:sp>
      <p:sp>
        <p:nvSpPr>
          <p:cNvPr id="19" name="Line 77"/>
          <p:cNvSpPr>
            <a:spLocks noChangeShapeType="1"/>
          </p:cNvSpPr>
          <p:nvPr/>
        </p:nvSpPr>
        <p:spPr bwMode="auto">
          <a:xfrm flipH="1" flipV="1">
            <a:off x="6396421" y="3930975"/>
            <a:ext cx="1127859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64206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2"/>
            <a:r>
              <a:rPr lang="en-US" altLang="zh-CN" sz="2800" b="1" dirty="0">
                <a:cs typeface="+mn-ea"/>
                <a:sym typeface="+mn-lt"/>
              </a:rPr>
              <a:t>ASCII</a:t>
            </a:r>
            <a:r>
              <a:rPr lang="zh-CN" altLang="en-US" sz="2800" b="1" dirty="0">
                <a:cs typeface="+mn-ea"/>
                <a:sym typeface="+mn-lt"/>
              </a:rPr>
              <a:t>码和</a:t>
            </a:r>
            <a:r>
              <a:rPr lang="en-US" altLang="zh-CN" sz="2800" b="1" dirty="0">
                <a:cs typeface="+mn-ea"/>
                <a:sym typeface="+mn-lt"/>
              </a:rPr>
              <a:t>BCD</a:t>
            </a:r>
            <a:r>
              <a:rPr lang="zh-CN" altLang="en-US" sz="2800" b="1" dirty="0">
                <a:cs typeface="+mn-ea"/>
                <a:sym typeface="+mn-lt"/>
              </a:rPr>
              <a:t>码表示方法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580896" y="1048736"/>
            <a:ext cx="4455811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BCD</a:t>
            </a:r>
            <a:r>
              <a:rPr lang="zh-CN" altLang="en-US" sz="32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码的十进制调整</a:t>
            </a:r>
          </a:p>
        </p:txBody>
      </p:sp>
      <p:sp>
        <p:nvSpPr>
          <p:cNvPr id="49" name="Rectangle 4"/>
          <p:cNvSpPr>
            <a:spLocks noChangeArrowheads="1"/>
          </p:cNvSpPr>
          <p:nvPr/>
        </p:nvSpPr>
        <p:spPr bwMode="auto">
          <a:xfrm>
            <a:off x="3091377" y="1833476"/>
            <a:ext cx="3525324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zh-CN" altLang="en-US" sz="1900" b="1">
                <a:cs typeface="+mn-ea"/>
                <a:sym typeface="+mn-lt"/>
              </a:rPr>
              <a:t>例</a:t>
            </a:r>
            <a:r>
              <a:rPr kumimoji="0" lang="en-US" altLang="zh-CN" sz="1900" b="1">
                <a:cs typeface="+mn-ea"/>
                <a:sym typeface="+mn-lt"/>
              </a:rPr>
              <a:t>1  </a:t>
            </a:r>
            <a:r>
              <a:rPr kumimoji="0" lang="zh-CN" altLang="en-US" sz="2100" b="1">
                <a:cs typeface="+mn-ea"/>
                <a:sym typeface="+mn-lt"/>
              </a:rPr>
              <a:t>（</a:t>
            </a:r>
            <a:r>
              <a:rPr kumimoji="0" lang="en-US" altLang="zh-CN" sz="2100" b="1">
                <a:cs typeface="+mn-ea"/>
                <a:sym typeface="+mn-lt"/>
              </a:rPr>
              <a:t>30</a:t>
            </a:r>
            <a:r>
              <a:rPr kumimoji="0" lang="zh-CN" altLang="en-US" sz="2100" b="1">
                <a:cs typeface="+mn-ea"/>
                <a:sym typeface="+mn-lt"/>
              </a:rPr>
              <a:t>）</a:t>
            </a:r>
            <a:r>
              <a:rPr kumimoji="0" lang="en-US" altLang="zh-CN" sz="2100" b="1" baseline="-30000">
                <a:cs typeface="+mn-ea"/>
                <a:sym typeface="+mn-lt"/>
              </a:rPr>
              <a:t>BCD</a:t>
            </a:r>
            <a:r>
              <a:rPr kumimoji="0" lang="en-US" altLang="zh-CN" sz="2100" b="1">
                <a:cs typeface="+mn-ea"/>
                <a:sym typeface="+mn-lt"/>
              </a:rPr>
              <a:t> +</a:t>
            </a:r>
            <a:r>
              <a:rPr kumimoji="0" lang="zh-CN" altLang="en-US" sz="2100" b="1">
                <a:cs typeface="+mn-ea"/>
                <a:sym typeface="+mn-lt"/>
              </a:rPr>
              <a:t>（</a:t>
            </a:r>
            <a:r>
              <a:rPr kumimoji="0" lang="en-US" altLang="zh-CN" sz="2100" b="1">
                <a:cs typeface="+mn-ea"/>
                <a:sym typeface="+mn-lt"/>
              </a:rPr>
              <a:t>99</a:t>
            </a:r>
            <a:r>
              <a:rPr kumimoji="0" lang="zh-CN" altLang="en-US" sz="2100" b="1">
                <a:cs typeface="+mn-ea"/>
                <a:sym typeface="+mn-lt"/>
              </a:rPr>
              <a:t>）</a:t>
            </a:r>
            <a:r>
              <a:rPr kumimoji="0" lang="en-US" altLang="zh-CN" sz="2100" b="1" baseline="-30000">
                <a:cs typeface="+mn-ea"/>
                <a:sym typeface="+mn-lt"/>
              </a:rPr>
              <a:t>BCD</a:t>
            </a:r>
          </a:p>
        </p:txBody>
      </p:sp>
      <p:sp>
        <p:nvSpPr>
          <p:cNvPr id="50" name="Rectangle 5"/>
          <p:cNvSpPr>
            <a:spLocks noChangeArrowheads="1"/>
          </p:cNvSpPr>
          <p:nvPr/>
        </p:nvSpPr>
        <p:spPr bwMode="auto">
          <a:xfrm>
            <a:off x="4412177" y="2403517"/>
            <a:ext cx="124906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en-US" altLang="zh-CN" sz="1500" b="1">
                <a:cs typeface="+mn-ea"/>
                <a:sym typeface="+mn-lt"/>
              </a:rPr>
              <a:t>0011 0000 </a:t>
            </a:r>
          </a:p>
        </p:txBody>
      </p:sp>
      <p:sp>
        <p:nvSpPr>
          <p:cNvPr id="51" name="Rectangle 6"/>
          <p:cNvSpPr>
            <a:spLocks noChangeArrowheads="1"/>
          </p:cNvSpPr>
          <p:nvPr/>
        </p:nvSpPr>
        <p:spPr bwMode="auto">
          <a:xfrm>
            <a:off x="4201039" y="2652755"/>
            <a:ext cx="151035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en-US" altLang="zh-CN" sz="1500" b="1">
                <a:cs typeface="+mn-ea"/>
                <a:sym typeface="+mn-lt"/>
              </a:rPr>
              <a:t>+  1001 1001 </a:t>
            </a:r>
          </a:p>
        </p:txBody>
      </p:sp>
      <p:sp>
        <p:nvSpPr>
          <p:cNvPr id="52" name="Rectangle 7"/>
          <p:cNvSpPr>
            <a:spLocks noChangeArrowheads="1"/>
          </p:cNvSpPr>
          <p:nvPr/>
        </p:nvSpPr>
        <p:spPr bwMode="auto">
          <a:xfrm>
            <a:off x="4401064" y="2954380"/>
            <a:ext cx="124906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en-US" altLang="zh-CN" sz="1500" b="1">
                <a:solidFill>
                  <a:srgbClr val="FF0000"/>
                </a:solidFill>
                <a:cs typeface="+mn-ea"/>
                <a:sym typeface="+mn-lt"/>
              </a:rPr>
              <a:t>1100</a:t>
            </a:r>
            <a:r>
              <a:rPr kumimoji="0" lang="en-US" altLang="zh-CN" sz="1500" b="1">
                <a:solidFill>
                  <a:srgbClr val="000000"/>
                </a:solidFill>
                <a:cs typeface="+mn-ea"/>
                <a:sym typeface="+mn-lt"/>
              </a:rPr>
              <a:t> 1001</a:t>
            </a:r>
            <a:r>
              <a:rPr kumimoji="0" lang="en-US" altLang="zh-CN" sz="1500" b="1">
                <a:cs typeface="+mn-ea"/>
                <a:sym typeface="+mn-lt"/>
              </a:rPr>
              <a:t> </a:t>
            </a:r>
          </a:p>
        </p:txBody>
      </p:sp>
      <p:sp>
        <p:nvSpPr>
          <p:cNvPr id="53" name="Line 8"/>
          <p:cNvSpPr>
            <a:spLocks noChangeShapeType="1"/>
          </p:cNvSpPr>
          <p:nvPr/>
        </p:nvSpPr>
        <p:spPr bwMode="auto">
          <a:xfrm>
            <a:off x="4170877" y="2955625"/>
            <a:ext cx="13684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4" name="Rectangle 9"/>
          <p:cNvSpPr>
            <a:spLocks noChangeArrowheads="1"/>
          </p:cNvSpPr>
          <p:nvPr/>
        </p:nvSpPr>
        <p:spPr bwMode="auto">
          <a:xfrm>
            <a:off x="2802452" y="2987717"/>
            <a:ext cx="104067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en-US" altLang="zh-CN" sz="1500" b="1">
                <a:solidFill>
                  <a:srgbClr val="FF0000"/>
                </a:solidFill>
                <a:cs typeface="+mn-ea"/>
                <a:sym typeface="+mn-lt"/>
              </a:rPr>
              <a:t>BCD</a:t>
            </a:r>
            <a:r>
              <a:rPr kumimoji="0" lang="zh-CN" altLang="en-US" sz="1500" b="1">
                <a:solidFill>
                  <a:srgbClr val="FF0000"/>
                </a:solidFill>
                <a:cs typeface="+mn-ea"/>
                <a:sym typeface="+mn-lt"/>
              </a:rPr>
              <a:t>非法</a:t>
            </a:r>
            <a:r>
              <a:rPr kumimoji="0" lang="zh-CN" altLang="en-US" sz="1500" b="1">
                <a:cs typeface="+mn-ea"/>
                <a:sym typeface="+mn-lt"/>
              </a:rPr>
              <a:t> </a:t>
            </a:r>
          </a:p>
        </p:txBody>
      </p:sp>
      <p:sp>
        <p:nvSpPr>
          <p:cNvPr id="55" name="Line 10"/>
          <p:cNvSpPr>
            <a:spLocks noChangeShapeType="1"/>
          </p:cNvSpPr>
          <p:nvPr/>
        </p:nvSpPr>
        <p:spPr bwMode="auto">
          <a:xfrm>
            <a:off x="3739077" y="3133425"/>
            <a:ext cx="7207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6" name="Rectangle 11"/>
          <p:cNvSpPr>
            <a:spLocks noChangeArrowheads="1"/>
          </p:cNvSpPr>
          <p:nvPr/>
        </p:nvSpPr>
        <p:spPr bwMode="auto">
          <a:xfrm>
            <a:off x="7377627" y="2340017"/>
            <a:ext cx="124906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en-US" altLang="zh-CN" sz="1500" b="1">
                <a:cs typeface="+mn-ea"/>
                <a:sym typeface="+mn-lt"/>
              </a:rPr>
              <a:t>1100 1001 </a:t>
            </a:r>
          </a:p>
        </p:txBody>
      </p:sp>
      <p:sp>
        <p:nvSpPr>
          <p:cNvPr id="57" name="Rectangle 12"/>
          <p:cNvSpPr>
            <a:spLocks noChangeArrowheads="1"/>
          </p:cNvSpPr>
          <p:nvPr/>
        </p:nvSpPr>
        <p:spPr bwMode="auto">
          <a:xfrm>
            <a:off x="7107752" y="2565442"/>
            <a:ext cx="249780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en-US" altLang="zh-CN" sz="1500" b="1" dirty="0">
                <a:solidFill>
                  <a:srgbClr val="FF0000"/>
                </a:solidFill>
                <a:cs typeface="+mn-ea"/>
                <a:sym typeface="+mn-lt"/>
              </a:rPr>
              <a:t>+   0110 0000 </a:t>
            </a:r>
            <a:r>
              <a:rPr kumimoji="0" lang="zh-CN" altLang="en-US" sz="1300" b="1" dirty="0">
                <a:solidFill>
                  <a:srgbClr val="FF0000"/>
                </a:solidFill>
                <a:cs typeface="+mn-ea"/>
                <a:sym typeface="+mn-lt"/>
              </a:rPr>
              <a:t>（</a:t>
            </a:r>
            <a:r>
              <a:rPr kumimoji="0" lang="en-US" altLang="zh-CN" sz="1300" b="1" dirty="0">
                <a:solidFill>
                  <a:srgbClr val="FF0000"/>
                </a:solidFill>
                <a:cs typeface="+mn-ea"/>
                <a:sym typeface="+mn-lt"/>
              </a:rPr>
              <a:t>60</a:t>
            </a:r>
            <a:r>
              <a:rPr kumimoji="0" lang="zh-CN" altLang="en-US" sz="1300" b="1" dirty="0">
                <a:solidFill>
                  <a:srgbClr val="FF0000"/>
                </a:solidFill>
                <a:cs typeface="+mn-ea"/>
                <a:sym typeface="+mn-lt"/>
              </a:rPr>
              <a:t>调整）</a:t>
            </a:r>
            <a:r>
              <a:rPr kumimoji="0" lang="zh-CN" altLang="en-US" sz="1500" b="1" dirty="0">
                <a:cs typeface="+mn-ea"/>
                <a:sym typeface="+mn-lt"/>
              </a:rPr>
              <a:t> </a:t>
            </a:r>
          </a:p>
        </p:txBody>
      </p:sp>
      <p:sp>
        <p:nvSpPr>
          <p:cNvPr id="58" name="Line 13"/>
          <p:cNvSpPr>
            <a:spLocks noChangeShapeType="1"/>
          </p:cNvSpPr>
          <p:nvPr/>
        </p:nvSpPr>
        <p:spPr bwMode="auto">
          <a:xfrm>
            <a:off x="7050602" y="2915937"/>
            <a:ext cx="2160587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Rectangle 14"/>
          <p:cNvSpPr>
            <a:spLocks noChangeArrowheads="1"/>
          </p:cNvSpPr>
          <p:nvPr/>
        </p:nvSpPr>
        <p:spPr bwMode="auto">
          <a:xfrm>
            <a:off x="7123627" y="2914692"/>
            <a:ext cx="154080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en-US" altLang="zh-CN" sz="1500" b="1" dirty="0">
                <a:solidFill>
                  <a:srgbClr val="180D5B"/>
                </a:solidFill>
                <a:cs typeface="+mn-ea"/>
                <a:sym typeface="+mn-lt"/>
              </a:rPr>
              <a:t>1</a:t>
            </a:r>
            <a:r>
              <a:rPr kumimoji="0" lang="en-US" altLang="zh-CN" sz="1500" b="1" dirty="0">
                <a:solidFill>
                  <a:srgbClr val="000000"/>
                </a:solidFill>
                <a:cs typeface="+mn-ea"/>
                <a:sym typeface="+mn-lt"/>
              </a:rPr>
              <a:t>   0010 1001</a:t>
            </a:r>
            <a:r>
              <a:rPr kumimoji="0" lang="en-US" altLang="zh-CN" sz="1500" b="1" dirty="0">
                <a:cs typeface="+mn-ea"/>
                <a:sym typeface="+mn-lt"/>
              </a:rPr>
              <a:t> </a:t>
            </a:r>
          </a:p>
        </p:txBody>
      </p:sp>
      <p:sp>
        <p:nvSpPr>
          <p:cNvPr id="60" name="Rectangle 15"/>
          <p:cNvSpPr>
            <a:spLocks noChangeArrowheads="1"/>
          </p:cNvSpPr>
          <p:nvPr/>
        </p:nvSpPr>
        <p:spPr bwMode="auto">
          <a:xfrm>
            <a:off x="7410964" y="3490955"/>
            <a:ext cx="1443024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zh-CN" altLang="en-US" sz="1500" b="1" dirty="0">
                <a:solidFill>
                  <a:srgbClr val="C00000"/>
                </a:solidFill>
                <a:cs typeface="+mn-ea"/>
                <a:sym typeface="+mn-lt"/>
              </a:rPr>
              <a:t>总和：  </a:t>
            </a:r>
            <a:r>
              <a:rPr kumimoji="0" lang="en-US" altLang="zh-CN" sz="1500" b="1" dirty="0">
                <a:solidFill>
                  <a:srgbClr val="C00000"/>
                </a:solidFill>
                <a:cs typeface="+mn-ea"/>
                <a:sym typeface="+mn-lt"/>
              </a:rPr>
              <a:t>129D </a:t>
            </a:r>
          </a:p>
        </p:txBody>
      </p:sp>
      <p:sp>
        <p:nvSpPr>
          <p:cNvPr id="61" name="Text Box 16"/>
          <p:cNvSpPr txBox="1">
            <a:spLocks noChangeArrowheads="1"/>
          </p:cNvSpPr>
          <p:nvPr/>
        </p:nvSpPr>
        <p:spPr bwMode="auto">
          <a:xfrm>
            <a:off x="3667639" y="3781125"/>
            <a:ext cx="935038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kumimoji="0" lang="zh-CN" altLang="zh-CN" sz="1500" b="1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62" name="Group 17"/>
          <p:cNvGrpSpPr>
            <a:grpSpLocks/>
          </p:cNvGrpSpPr>
          <p:nvPr/>
        </p:nvGrpSpPr>
        <p:grpSpPr bwMode="auto">
          <a:xfrm>
            <a:off x="5080144" y="3404884"/>
            <a:ext cx="1192234" cy="358775"/>
            <a:chOff x="1420" y="2478"/>
            <a:chExt cx="626" cy="226"/>
          </a:xfrm>
        </p:grpSpPr>
        <p:sp>
          <p:nvSpPr>
            <p:cNvPr id="63" name="Rectangle 18"/>
            <p:cNvSpPr>
              <a:spLocks noChangeArrowheads="1"/>
            </p:cNvSpPr>
            <p:nvPr/>
          </p:nvSpPr>
          <p:spPr bwMode="auto">
            <a:xfrm>
              <a:off x="1701" y="2478"/>
              <a:ext cx="317" cy="226"/>
            </a:xfrm>
            <a:prstGeom prst="rect">
              <a:avLst/>
            </a:prstGeom>
            <a:noFill/>
            <a:ln w="31750" algn="ctr">
              <a:solidFill>
                <a:srgbClr val="180D5B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4" name="Text Box 19"/>
            <p:cNvSpPr txBox="1">
              <a:spLocks noChangeArrowheads="1"/>
            </p:cNvSpPr>
            <p:nvPr/>
          </p:nvSpPr>
          <p:spPr bwMode="auto">
            <a:xfrm>
              <a:off x="1420" y="2483"/>
              <a:ext cx="626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0" lang="zh-CN" altLang="en-US" sz="1500" b="1" dirty="0">
                  <a:solidFill>
                    <a:srgbClr val="180D5B"/>
                  </a:solidFill>
                  <a:latin typeface="+mn-lt"/>
                  <a:ea typeface="+mn-ea"/>
                  <a:cs typeface="+mn-ea"/>
                  <a:sym typeface="+mn-lt"/>
                </a:rPr>
                <a:t>进位</a:t>
              </a:r>
              <a:r>
                <a:rPr kumimoji="0" lang="en-US" altLang="zh-CN" sz="1500" b="1" dirty="0">
                  <a:solidFill>
                    <a:srgbClr val="180D5B"/>
                  </a:solidFill>
                  <a:latin typeface="+mn-lt"/>
                  <a:ea typeface="+mn-ea"/>
                  <a:cs typeface="+mn-ea"/>
                  <a:sym typeface="+mn-lt"/>
                </a:rPr>
                <a:t>C</a:t>
              </a:r>
            </a:p>
          </p:txBody>
        </p:sp>
      </p:grpSp>
      <p:sp>
        <p:nvSpPr>
          <p:cNvPr id="65" name="Line 20"/>
          <p:cNvSpPr>
            <a:spLocks noChangeShapeType="1"/>
          </p:cNvSpPr>
          <p:nvPr/>
        </p:nvSpPr>
        <p:spPr bwMode="auto">
          <a:xfrm flipV="1">
            <a:off x="6280315" y="3085324"/>
            <a:ext cx="792163" cy="5048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6" name="Rectangle 21"/>
          <p:cNvSpPr>
            <a:spLocks noChangeArrowheads="1"/>
          </p:cNvSpPr>
          <p:nvPr/>
        </p:nvSpPr>
        <p:spPr bwMode="auto">
          <a:xfrm>
            <a:off x="4459802" y="3851317"/>
            <a:ext cx="2956259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en-US" altLang="zh-CN" sz="1500" b="1" dirty="0">
                <a:solidFill>
                  <a:srgbClr val="000000"/>
                </a:solidFill>
                <a:cs typeface="+mn-ea"/>
                <a:sym typeface="+mn-lt"/>
              </a:rPr>
              <a:t>CPU</a:t>
            </a:r>
            <a:r>
              <a:rPr kumimoji="0" lang="zh-CN" altLang="en-US" sz="1500" b="1" dirty="0">
                <a:solidFill>
                  <a:srgbClr val="000000"/>
                </a:solidFill>
                <a:cs typeface="+mn-ea"/>
                <a:sym typeface="+mn-lt"/>
              </a:rPr>
              <a:t>中标志寄存器的</a:t>
            </a:r>
            <a:r>
              <a:rPr kumimoji="0" lang="zh-CN" altLang="en-US" sz="1500" b="1" dirty="0">
                <a:solidFill>
                  <a:srgbClr val="180D5B"/>
                </a:solidFill>
                <a:cs typeface="+mn-ea"/>
                <a:sym typeface="+mn-lt"/>
              </a:rPr>
              <a:t>进位标志位</a:t>
            </a:r>
            <a:r>
              <a:rPr kumimoji="0" lang="zh-CN" altLang="en-US" sz="1500" b="1" dirty="0">
                <a:cs typeface="+mn-ea"/>
                <a:sym typeface="+mn-lt"/>
              </a:rPr>
              <a:t> </a:t>
            </a:r>
          </a:p>
        </p:txBody>
      </p:sp>
      <p:sp>
        <p:nvSpPr>
          <p:cNvPr id="67" name="Rectangle 22"/>
          <p:cNvSpPr>
            <a:spLocks noChangeArrowheads="1"/>
          </p:cNvSpPr>
          <p:nvPr/>
        </p:nvSpPr>
        <p:spPr bwMode="auto">
          <a:xfrm>
            <a:off x="3091377" y="4238538"/>
            <a:ext cx="359746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zh-CN" altLang="en-US" sz="1900" b="1" dirty="0">
                <a:solidFill>
                  <a:srgbClr val="000000"/>
                </a:solidFill>
                <a:cs typeface="+mn-ea"/>
                <a:sym typeface="+mn-lt"/>
              </a:rPr>
              <a:t>例</a:t>
            </a:r>
            <a:r>
              <a:rPr kumimoji="0" lang="en-US" altLang="zh-CN" sz="1900" b="1" dirty="0">
                <a:solidFill>
                  <a:srgbClr val="000000"/>
                </a:solidFill>
                <a:cs typeface="+mn-ea"/>
                <a:sym typeface="+mn-lt"/>
              </a:rPr>
              <a:t>2   </a:t>
            </a:r>
            <a:r>
              <a:rPr kumimoji="0" lang="zh-CN" altLang="en-US" sz="2100" b="1" dirty="0">
                <a:cs typeface="+mn-ea"/>
                <a:sym typeface="+mn-lt"/>
              </a:rPr>
              <a:t>（</a:t>
            </a:r>
            <a:r>
              <a:rPr kumimoji="0" lang="en-US" altLang="zh-CN" sz="2100" b="1" dirty="0">
                <a:cs typeface="+mn-ea"/>
                <a:sym typeface="+mn-lt"/>
              </a:rPr>
              <a:t>08</a:t>
            </a:r>
            <a:r>
              <a:rPr kumimoji="0" lang="zh-CN" altLang="en-US" sz="2100" b="1" dirty="0">
                <a:cs typeface="+mn-ea"/>
                <a:sym typeface="+mn-lt"/>
              </a:rPr>
              <a:t>）</a:t>
            </a:r>
            <a:r>
              <a:rPr kumimoji="0" lang="en-US" altLang="zh-CN" sz="2100" b="1" baseline="-30000" dirty="0">
                <a:cs typeface="+mn-ea"/>
                <a:sym typeface="+mn-lt"/>
              </a:rPr>
              <a:t>BCD</a:t>
            </a:r>
            <a:r>
              <a:rPr kumimoji="0" lang="en-US" altLang="zh-CN" sz="2100" b="1" dirty="0">
                <a:cs typeface="+mn-ea"/>
                <a:sym typeface="+mn-lt"/>
              </a:rPr>
              <a:t> +</a:t>
            </a:r>
            <a:r>
              <a:rPr kumimoji="0" lang="zh-CN" altLang="en-US" sz="2100" b="1" dirty="0">
                <a:cs typeface="+mn-ea"/>
                <a:sym typeface="+mn-lt"/>
              </a:rPr>
              <a:t>（</a:t>
            </a:r>
            <a:r>
              <a:rPr kumimoji="0" lang="en-US" altLang="zh-CN" sz="2100" b="1" dirty="0">
                <a:cs typeface="+mn-ea"/>
                <a:sym typeface="+mn-lt"/>
              </a:rPr>
              <a:t>09</a:t>
            </a:r>
            <a:r>
              <a:rPr kumimoji="0" lang="zh-CN" altLang="en-US" sz="2100" b="1" dirty="0">
                <a:cs typeface="+mn-ea"/>
                <a:sym typeface="+mn-lt"/>
              </a:rPr>
              <a:t>）</a:t>
            </a:r>
            <a:r>
              <a:rPr kumimoji="0" lang="en-US" altLang="zh-CN" sz="2100" b="1" baseline="-30000" dirty="0">
                <a:cs typeface="+mn-ea"/>
                <a:sym typeface="+mn-lt"/>
              </a:rPr>
              <a:t>BCD</a:t>
            </a:r>
          </a:p>
        </p:txBody>
      </p:sp>
      <p:sp>
        <p:nvSpPr>
          <p:cNvPr id="68" name="Rectangle 23"/>
          <p:cNvSpPr>
            <a:spLocks noChangeArrowheads="1"/>
          </p:cNvSpPr>
          <p:nvPr/>
        </p:nvSpPr>
        <p:spPr bwMode="auto">
          <a:xfrm>
            <a:off x="4483614" y="4780005"/>
            <a:ext cx="1306768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en-US" altLang="zh-CN" sz="1500" b="1" dirty="0" smtClean="0">
                <a:cs typeface="+mn-ea"/>
                <a:sym typeface="+mn-lt"/>
              </a:rPr>
              <a:t> 0000 </a:t>
            </a:r>
            <a:r>
              <a:rPr kumimoji="0" lang="en-US" altLang="zh-CN" sz="1500" b="1" dirty="0">
                <a:cs typeface="+mn-ea"/>
                <a:sym typeface="+mn-lt"/>
              </a:rPr>
              <a:t>1000 </a:t>
            </a:r>
          </a:p>
        </p:txBody>
      </p:sp>
      <p:sp>
        <p:nvSpPr>
          <p:cNvPr id="69" name="Rectangle 24"/>
          <p:cNvSpPr>
            <a:spLocks noChangeArrowheads="1"/>
          </p:cNvSpPr>
          <p:nvPr/>
        </p:nvSpPr>
        <p:spPr bwMode="auto">
          <a:xfrm>
            <a:off x="4272477" y="5029242"/>
            <a:ext cx="151035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en-US" altLang="zh-CN" sz="1500" b="1">
                <a:cs typeface="+mn-ea"/>
                <a:sym typeface="+mn-lt"/>
              </a:rPr>
              <a:t>+  0000 1001 </a:t>
            </a:r>
          </a:p>
        </p:txBody>
      </p:sp>
      <p:sp>
        <p:nvSpPr>
          <p:cNvPr id="70" name="Rectangle 25"/>
          <p:cNvSpPr>
            <a:spLocks noChangeArrowheads="1"/>
          </p:cNvSpPr>
          <p:nvPr/>
        </p:nvSpPr>
        <p:spPr bwMode="auto">
          <a:xfrm>
            <a:off x="4501077" y="5330867"/>
            <a:ext cx="124906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en-US" altLang="zh-CN" sz="1500" b="1">
                <a:solidFill>
                  <a:srgbClr val="FF0000"/>
                </a:solidFill>
                <a:cs typeface="+mn-ea"/>
                <a:sym typeface="+mn-lt"/>
              </a:rPr>
              <a:t>0001</a:t>
            </a:r>
            <a:r>
              <a:rPr kumimoji="0" lang="en-US" altLang="zh-CN" sz="1500" b="1">
                <a:solidFill>
                  <a:srgbClr val="000000"/>
                </a:solidFill>
                <a:cs typeface="+mn-ea"/>
                <a:sym typeface="+mn-lt"/>
              </a:rPr>
              <a:t> 0001</a:t>
            </a:r>
            <a:r>
              <a:rPr kumimoji="0" lang="en-US" altLang="zh-CN" sz="1500" b="1">
                <a:cs typeface="+mn-ea"/>
                <a:sym typeface="+mn-lt"/>
              </a:rPr>
              <a:t> </a:t>
            </a:r>
          </a:p>
        </p:txBody>
      </p:sp>
      <p:sp>
        <p:nvSpPr>
          <p:cNvPr id="71" name="Line 26"/>
          <p:cNvSpPr>
            <a:spLocks noChangeShapeType="1"/>
          </p:cNvSpPr>
          <p:nvPr/>
        </p:nvSpPr>
        <p:spPr bwMode="auto">
          <a:xfrm>
            <a:off x="4242314" y="5332112"/>
            <a:ext cx="13684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72" name="Rectangle 27"/>
          <p:cNvSpPr>
            <a:spLocks noChangeArrowheads="1"/>
          </p:cNvSpPr>
          <p:nvPr/>
        </p:nvSpPr>
        <p:spPr bwMode="auto">
          <a:xfrm>
            <a:off x="2873889" y="5364205"/>
            <a:ext cx="819455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zh-CN" altLang="en-US" sz="1500" b="1">
                <a:solidFill>
                  <a:srgbClr val="FF0000"/>
                </a:solidFill>
                <a:cs typeface="+mn-ea"/>
                <a:sym typeface="+mn-lt"/>
              </a:rPr>
              <a:t>有进位</a:t>
            </a:r>
            <a:r>
              <a:rPr kumimoji="0" lang="zh-CN" altLang="en-US" sz="1500" b="1">
                <a:cs typeface="+mn-ea"/>
                <a:sym typeface="+mn-lt"/>
              </a:rPr>
              <a:t> </a:t>
            </a:r>
          </a:p>
        </p:txBody>
      </p:sp>
      <p:sp>
        <p:nvSpPr>
          <p:cNvPr id="73" name="Line 28"/>
          <p:cNvSpPr>
            <a:spLocks noChangeShapeType="1"/>
          </p:cNvSpPr>
          <p:nvPr/>
        </p:nvSpPr>
        <p:spPr bwMode="auto">
          <a:xfrm>
            <a:off x="3810514" y="5509912"/>
            <a:ext cx="7207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74" name="Rectangle 29"/>
          <p:cNvSpPr>
            <a:spLocks noChangeArrowheads="1"/>
          </p:cNvSpPr>
          <p:nvPr/>
        </p:nvSpPr>
        <p:spPr bwMode="auto">
          <a:xfrm>
            <a:off x="7410964" y="4716505"/>
            <a:ext cx="124906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en-US" altLang="zh-CN" sz="1500" b="1" dirty="0">
                <a:cs typeface="+mn-ea"/>
                <a:sym typeface="+mn-lt"/>
              </a:rPr>
              <a:t>0001 0001 </a:t>
            </a:r>
          </a:p>
        </p:txBody>
      </p:sp>
      <p:sp>
        <p:nvSpPr>
          <p:cNvPr id="75" name="Rectangle 30"/>
          <p:cNvSpPr>
            <a:spLocks noChangeArrowheads="1"/>
          </p:cNvSpPr>
          <p:nvPr/>
        </p:nvSpPr>
        <p:spPr bwMode="auto">
          <a:xfrm>
            <a:off x="7136327" y="4941930"/>
            <a:ext cx="249780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en-US" altLang="zh-CN" sz="1500" b="1" dirty="0">
                <a:solidFill>
                  <a:srgbClr val="FF0000"/>
                </a:solidFill>
                <a:cs typeface="+mn-ea"/>
                <a:sym typeface="+mn-lt"/>
              </a:rPr>
              <a:t>+   0000 0110 </a:t>
            </a:r>
            <a:r>
              <a:rPr kumimoji="0" lang="zh-CN" altLang="en-US" sz="1300" b="1" dirty="0">
                <a:solidFill>
                  <a:srgbClr val="FF0000"/>
                </a:solidFill>
                <a:cs typeface="+mn-ea"/>
                <a:sym typeface="+mn-lt"/>
              </a:rPr>
              <a:t>（</a:t>
            </a:r>
            <a:r>
              <a:rPr kumimoji="0" lang="en-US" altLang="zh-CN" sz="1300" b="1" dirty="0">
                <a:solidFill>
                  <a:srgbClr val="FF0000"/>
                </a:solidFill>
                <a:cs typeface="+mn-ea"/>
                <a:sym typeface="+mn-lt"/>
              </a:rPr>
              <a:t>06</a:t>
            </a:r>
            <a:r>
              <a:rPr kumimoji="0" lang="zh-CN" altLang="en-US" sz="1300" b="1" dirty="0">
                <a:solidFill>
                  <a:srgbClr val="FF0000"/>
                </a:solidFill>
                <a:cs typeface="+mn-ea"/>
                <a:sym typeface="+mn-lt"/>
              </a:rPr>
              <a:t>调整）</a:t>
            </a:r>
            <a:r>
              <a:rPr kumimoji="0" lang="zh-CN" altLang="en-US" sz="1500" b="1" dirty="0">
                <a:cs typeface="+mn-ea"/>
                <a:sym typeface="+mn-lt"/>
              </a:rPr>
              <a:t> </a:t>
            </a:r>
          </a:p>
        </p:txBody>
      </p:sp>
      <p:sp>
        <p:nvSpPr>
          <p:cNvPr id="76" name="Line 31"/>
          <p:cNvSpPr>
            <a:spLocks noChangeShapeType="1"/>
          </p:cNvSpPr>
          <p:nvPr/>
        </p:nvSpPr>
        <p:spPr bwMode="auto">
          <a:xfrm>
            <a:off x="7122039" y="5292425"/>
            <a:ext cx="2160588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77" name="Rectangle 32"/>
          <p:cNvSpPr>
            <a:spLocks noChangeArrowheads="1"/>
          </p:cNvSpPr>
          <p:nvPr/>
        </p:nvSpPr>
        <p:spPr bwMode="auto">
          <a:xfrm>
            <a:off x="7412552" y="5278480"/>
            <a:ext cx="124906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en-US" altLang="zh-CN" sz="1500" b="1">
                <a:solidFill>
                  <a:srgbClr val="000000"/>
                </a:solidFill>
                <a:cs typeface="+mn-ea"/>
                <a:sym typeface="+mn-lt"/>
              </a:rPr>
              <a:t>0001 0111</a:t>
            </a:r>
            <a:r>
              <a:rPr kumimoji="0" lang="en-US" altLang="zh-CN" sz="1500" b="1">
                <a:cs typeface="+mn-ea"/>
                <a:sym typeface="+mn-lt"/>
              </a:rPr>
              <a:t> </a:t>
            </a:r>
          </a:p>
        </p:txBody>
      </p:sp>
      <p:sp>
        <p:nvSpPr>
          <p:cNvPr id="79" name="Rectangle 18"/>
          <p:cNvSpPr>
            <a:spLocks noChangeArrowheads="1"/>
          </p:cNvSpPr>
          <p:nvPr/>
        </p:nvSpPr>
        <p:spPr bwMode="auto">
          <a:xfrm>
            <a:off x="7107752" y="2903236"/>
            <a:ext cx="340640" cy="358775"/>
          </a:xfrm>
          <a:prstGeom prst="rect">
            <a:avLst/>
          </a:prstGeom>
          <a:noFill/>
          <a:ln w="31750" algn="ctr">
            <a:solidFill>
              <a:srgbClr val="180D5B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10584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/>
      <p:bldP spid="58" grpId="0" animBg="1"/>
      <p:bldP spid="59" grpId="0"/>
      <p:bldP spid="60" grpId="0"/>
      <p:bldP spid="65" grpId="0" animBg="1"/>
      <p:bldP spid="66" grpId="0"/>
      <p:bldP spid="67" grpId="0"/>
      <p:bldP spid="68" grpId="0"/>
      <p:bldP spid="69" grpId="0"/>
      <p:bldP spid="70" grpId="0"/>
      <p:bldP spid="71" grpId="0" animBg="1"/>
      <p:bldP spid="72" grpId="0"/>
      <p:bldP spid="73" grpId="0" animBg="1"/>
      <p:bldP spid="74" grpId="0"/>
      <p:bldP spid="75" grpId="0"/>
      <p:bldP spid="76" grpId="0" animBg="1"/>
      <p:bldP spid="77" grpId="0"/>
      <p:bldP spid="79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2"/>
            <a:r>
              <a:rPr lang="en-US" altLang="zh-CN" sz="2800" b="1" dirty="0">
                <a:cs typeface="+mn-ea"/>
                <a:sym typeface="+mn-lt"/>
              </a:rPr>
              <a:t>ASCII</a:t>
            </a:r>
            <a:r>
              <a:rPr lang="zh-CN" altLang="en-US" sz="2800" b="1" dirty="0">
                <a:cs typeface="+mn-ea"/>
                <a:sym typeface="+mn-lt"/>
              </a:rPr>
              <a:t>码和</a:t>
            </a:r>
            <a:r>
              <a:rPr lang="en-US" altLang="zh-CN" sz="2800" b="1" dirty="0">
                <a:cs typeface="+mn-ea"/>
                <a:sym typeface="+mn-lt"/>
              </a:rPr>
              <a:t>BCD</a:t>
            </a:r>
            <a:r>
              <a:rPr lang="zh-CN" altLang="en-US" sz="2800" b="1" dirty="0">
                <a:cs typeface="+mn-ea"/>
                <a:sym typeface="+mn-lt"/>
              </a:rPr>
              <a:t>码表示方法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7" name="Rectangle 4"/>
          <p:cNvSpPr>
            <a:spLocks noChangeArrowheads="1"/>
          </p:cNvSpPr>
          <p:nvPr/>
        </p:nvSpPr>
        <p:spPr bwMode="auto">
          <a:xfrm>
            <a:off x="3482055" y="1028700"/>
            <a:ext cx="4979697" cy="164660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indent="361950"/>
            <a:r>
              <a:rPr lang="zh-CN" altLang="en-US" sz="2100" b="1" dirty="0">
                <a:solidFill>
                  <a:srgbClr val="000000"/>
                </a:solidFill>
                <a:cs typeface="+mn-ea"/>
                <a:sym typeface="+mn-lt"/>
              </a:rPr>
              <a:t>关于</a:t>
            </a:r>
            <a:r>
              <a:rPr lang="en-US" altLang="zh-CN" sz="2100" b="1" dirty="0">
                <a:solidFill>
                  <a:srgbClr val="000000"/>
                </a:solidFill>
                <a:cs typeface="+mn-ea"/>
                <a:sym typeface="+mn-lt"/>
              </a:rPr>
              <a:t>ASCII</a:t>
            </a:r>
            <a:r>
              <a:rPr lang="zh-CN" altLang="en-US" sz="2100" b="1" dirty="0">
                <a:solidFill>
                  <a:srgbClr val="000000"/>
                </a:solidFill>
                <a:cs typeface="+mn-ea"/>
                <a:sym typeface="+mn-lt"/>
              </a:rPr>
              <a:t>码。</a:t>
            </a:r>
            <a:r>
              <a:rPr kumimoji="0" lang="zh-CN" altLang="en-US" sz="2100" b="1" dirty="0">
                <a:solidFill>
                  <a:srgbClr val="000000"/>
                </a:solidFill>
                <a:cs typeface="+mn-ea"/>
                <a:sym typeface="+mn-lt"/>
              </a:rPr>
              <a:t>必须了解：</a:t>
            </a:r>
          </a:p>
          <a:p>
            <a:pPr indent="361950" eaLnBrk="1" hangingPunct="1"/>
            <a:endParaRPr kumimoji="0" lang="zh-CN" altLang="en-US" sz="1700" b="1" dirty="0">
              <a:cs typeface="+mn-ea"/>
              <a:sym typeface="+mn-lt"/>
            </a:endParaRPr>
          </a:p>
          <a:p>
            <a:pPr indent="361950"/>
            <a:r>
              <a:rPr kumimoji="0" lang="zh-CN" altLang="en-US" sz="2100" b="1" dirty="0">
                <a:solidFill>
                  <a:srgbClr val="000000"/>
                </a:solidFill>
                <a:cs typeface="+mn-ea"/>
                <a:sym typeface="+mn-lt"/>
              </a:rPr>
              <a:t> “</a:t>
            </a:r>
            <a:r>
              <a:rPr kumimoji="0" lang="en-US" altLang="zh-CN" sz="2100" b="1" dirty="0">
                <a:solidFill>
                  <a:srgbClr val="000000"/>
                </a:solidFill>
                <a:cs typeface="+mn-ea"/>
                <a:sym typeface="+mn-lt"/>
              </a:rPr>
              <a:t>A”~“Z”</a:t>
            </a:r>
            <a:r>
              <a:rPr kumimoji="0" lang="zh-CN" altLang="en-US" sz="2100" b="1" dirty="0">
                <a:solidFill>
                  <a:srgbClr val="000000"/>
                </a:solidFill>
                <a:cs typeface="+mn-ea"/>
                <a:sym typeface="+mn-lt"/>
              </a:rPr>
              <a:t>的</a:t>
            </a:r>
            <a:r>
              <a:rPr kumimoji="0" lang="en-US" altLang="zh-CN" sz="2100" b="1" dirty="0">
                <a:solidFill>
                  <a:srgbClr val="000000"/>
                </a:solidFill>
                <a:cs typeface="+mn-ea"/>
                <a:sym typeface="+mn-lt"/>
              </a:rPr>
              <a:t>ASCII</a:t>
            </a:r>
            <a:r>
              <a:rPr kumimoji="0" lang="zh-CN" altLang="en-US" sz="2100" b="1" dirty="0">
                <a:solidFill>
                  <a:srgbClr val="000000"/>
                </a:solidFill>
                <a:cs typeface="+mn-ea"/>
                <a:sym typeface="+mn-lt"/>
              </a:rPr>
              <a:t>码</a:t>
            </a:r>
            <a:r>
              <a:rPr kumimoji="0" lang="en-US" altLang="zh-CN" sz="2100" b="1" dirty="0">
                <a:solidFill>
                  <a:srgbClr val="000000"/>
                </a:solidFill>
                <a:cs typeface="+mn-ea"/>
                <a:sym typeface="+mn-lt"/>
              </a:rPr>
              <a:t>41H~5AH</a:t>
            </a:r>
            <a:endParaRPr kumimoji="0" lang="en-US" altLang="zh-CN" sz="1700" b="1" dirty="0">
              <a:cs typeface="+mn-ea"/>
              <a:sym typeface="+mn-lt"/>
            </a:endParaRPr>
          </a:p>
          <a:p>
            <a:pPr indent="361950"/>
            <a:r>
              <a:rPr kumimoji="0" lang="en-US" altLang="zh-CN" sz="2100" b="1" dirty="0">
                <a:solidFill>
                  <a:srgbClr val="000000"/>
                </a:solidFill>
                <a:cs typeface="+mn-ea"/>
                <a:sym typeface="+mn-lt"/>
              </a:rPr>
              <a:t> “</a:t>
            </a:r>
            <a:r>
              <a:rPr kumimoji="0" lang="en-US" altLang="zh-CN" sz="2100" b="1" dirty="0" err="1">
                <a:solidFill>
                  <a:srgbClr val="000000"/>
                </a:solidFill>
                <a:cs typeface="+mn-ea"/>
                <a:sym typeface="+mn-lt"/>
              </a:rPr>
              <a:t>a”~“z</a:t>
            </a:r>
            <a:r>
              <a:rPr kumimoji="0" lang="en-US" altLang="zh-CN" sz="2100" b="1" dirty="0">
                <a:solidFill>
                  <a:srgbClr val="000000"/>
                </a:solidFill>
                <a:cs typeface="+mn-ea"/>
                <a:sym typeface="+mn-lt"/>
              </a:rPr>
              <a:t>”</a:t>
            </a:r>
            <a:r>
              <a:rPr kumimoji="0" lang="zh-CN" altLang="en-US" sz="2100" b="1" dirty="0">
                <a:solidFill>
                  <a:srgbClr val="000000"/>
                </a:solidFill>
                <a:cs typeface="+mn-ea"/>
                <a:sym typeface="+mn-lt"/>
              </a:rPr>
              <a:t>的</a:t>
            </a:r>
            <a:r>
              <a:rPr lang="en-US" altLang="zh-CN" sz="2100" b="1" dirty="0">
                <a:solidFill>
                  <a:srgbClr val="000000"/>
                </a:solidFill>
                <a:cs typeface="+mn-ea"/>
                <a:sym typeface="+mn-lt"/>
              </a:rPr>
              <a:t>ASCII</a:t>
            </a:r>
            <a:r>
              <a:rPr kumimoji="0" lang="zh-CN" altLang="en-US" sz="2100" b="1" dirty="0">
                <a:solidFill>
                  <a:srgbClr val="000000"/>
                </a:solidFill>
                <a:cs typeface="+mn-ea"/>
                <a:sym typeface="+mn-lt"/>
              </a:rPr>
              <a:t>码</a:t>
            </a:r>
            <a:r>
              <a:rPr kumimoji="0" lang="en-US" altLang="zh-CN" sz="2100" b="1" dirty="0">
                <a:solidFill>
                  <a:srgbClr val="000000"/>
                </a:solidFill>
                <a:cs typeface="+mn-ea"/>
                <a:sym typeface="+mn-lt"/>
              </a:rPr>
              <a:t>61H~7AH</a:t>
            </a:r>
            <a:endParaRPr kumimoji="0" lang="en-US" altLang="zh-CN" sz="1700" b="1" dirty="0">
              <a:cs typeface="+mn-ea"/>
              <a:sym typeface="+mn-lt"/>
            </a:endParaRPr>
          </a:p>
          <a:p>
            <a:pPr indent="361950"/>
            <a:r>
              <a:rPr kumimoji="0" lang="en-US" altLang="zh-CN" sz="2100" b="1" dirty="0">
                <a:solidFill>
                  <a:srgbClr val="000000"/>
                </a:solidFill>
                <a:cs typeface="+mn-ea"/>
                <a:sym typeface="+mn-lt"/>
              </a:rPr>
              <a:t> “0”~“9”</a:t>
            </a:r>
            <a:r>
              <a:rPr kumimoji="0" lang="zh-CN" altLang="en-US" sz="2100" b="1" dirty="0">
                <a:solidFill>
                  <a:srgbClr val="000000"/>
                </a:solidFill>
                <a:cs typeface="+mn-ea"/>
                <a:sym typeface="+mn-lt"/>
              </a:rPr>
              <a:t>的</a:t>
            </a:r>
            <a:r>
              <a:rPr lang="en-US" altLang="zh-CN" sz="2100" b="1" dirty="0">
                <a:solidFill>
                  <a:srgbClr val="000000"/>
                </a:solidFill>
                <a:cs typeface="+mn-ea"/>
                <a:sym typeface="+mn-lt"/>
              </a:rPr>
              <a:t>ASCII</a:t>
            </a:r>
            <a:r>
              <a:rPr kumimoji="0" lang="zh-CN" altLang="en-US" sz="2100" b="1" dirty="0">
                <a:solidFill>
                  <a:srgbClr val="000000"/>
                </a:solidFill>
                <a:cs typeface="+mn-ea"/>
                <a:sym typeface="+mn-lt"/>
              </a:rPr>
              <a:t>码</a:t>
            </a:r>
            <a:r>
              <a:rPr kumimoji="0" lang="en-US" altLang="zh-CN" sz="2100" b="1" dirty="0">
                <a:solidFill>
                  <a:srgbClr val="000000"/>
                </a:solidFill>
                <a:cs typeface="+mn-ea"/>
                <a:sym typeface="+mn-lt"/>
              </a:rPr>
              <a:t>30H~39H</a:t>
            </a:r>
          </a:p>
        </p:txBody>
      </p:sp>
      <p:sp>
        <p:nvSpPr>
          <p:cNvPr id="38" name="Rectangle 5"/>
          <p:cNvSpPr>
            <a:spLocks noChangeArrowheads="1"/>
          </p:cNvSpPr>
          <p:nvPr/>
        </p:nvSpPr>
        <p:spPr bwMode="auto">
          <a:xfrm>
            <a:off x="2264596" y="2834789"/>
            <a:ext cx="6740525" cy="10541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1" hangingPunct="1"/>
            <a:r>
              <a:rPr kumimoji="0" lang="zh-CN" altLang="en-US" sz="2100" b="1" dirty="0">
                <a:solidFill>
                  <a:srgbClr val="000000"/>
                </a:solidFill>
                <a:cs typeface="+mn-ea"/>
                <a:sym typeface="+mn-lt"/>
              </a:rPr>
              <a:t>问题：</a:t>
            </a:r>
          </a:p>
          <a:p>
            <a:pPr eaLnBrk="1" hangingPunct="1"/>
            <a:r>
              <a:rPr kumimoji="0" lang="zh-CN" altLang="en-US" sz="2100" b="1" dirty="0">
                <a:cs typeface="+mn-ea"/>
                <a:sym typeface="+mn-lt"/>
              </a:rPr>
              <a:t>            </a:t>
            </a:r>
            <a:r>
              <a:rPr kumimoji="0" lang="en-US" altLang="zh-CN" sz="2100" b="1" dirty="0">
                <a:cs typeface="+mn-ea"/>
                <a:sym typeface="+mn-lt"/>
              </a:rPr>
              <a:t>9</a:t>
            </a:r>
            <a:r>
              <a:rPr kumimoji="0" lang="zh-CN" altLang="en-US" sz="2100" b="1" dirty="0">
                <a:cs typeface="+mn-ea"/>
                <a:sym typeface="+mn-lt"/>
              </a:rPr>
              <a:t>用</a:t>
            </a:r>
            <a:r>
              <a:rPr kumimoji="0" lang="en-US" altLang="zh-CN" sz="2100" b="1" dirty="0">
                <a:solidFill>
                  <a:srgbClr val="C00000"/>
                </a:solidFill>
                <a:cs typeface="+mn-ea"/>
                <a:sym typeface="+mn-lt"/>
              </a:rPr>
              <a:t>BCD</a:t>
            </a:r>
            <a:r>
              <a:rPr kumimoji="0" lang="zh-CN" altLang="en-US" sz="2100" b="1" dirty="0">
                <a:cs typeface="+mn-ea"/>
                <a:sym typeface="+mn-lt"/>
              </a:rPr>
              <a:t>码表示：	</a:t>
            </a:r>
            <a:r>
              <a:rPr kumimoji="0" lang="en-US" altLang="zh-CN" sz="2100" b="1" dirty="0">
                <a:cs typeface="+mn-ea"/>
                <a:sym typeface="+mn-lt"/>
              </a:rPr>
              <a:t>00001001 </a:t>
            </a:r>
            <a:r>
              <a:rPr kumimoji="0" lang="zh-CN" altLang="en-US" sz="2100" b="1" dirty="0">
                <a:cs typeface="+mn-ea"/>
                <a:sym typeface="+mn-lt"/>
              </a:rPr>
              <a:t>（</a:t>
            </a:r>
            <a:r>
              <a:rPr kumimoji="0" lang="en-US" altLang="zh-CN" sz="2100" b="1" dirty="0">
                <a:cs typeface="+mn-ea"/>
                <a:sym typeface="+mn-lt"/>
              </a:rPr>
              <a:t>09H</a:t>
            </a:r>
            <a:r>
              <a:rPr kumimoji="0" lang="zh-CN" altLang="en-US" sz="2100" b="1" dirty="0">
                <a:cs typeface="+mn-ea"/>
                <a:sym typeface="+mn-lt"/>
              </a:rPr>
              <a:t>）</a:t>
            </a:r>
            <a:r>
              <a:rPr kumimoji="0" lang="zh-CN" altLang="en-US" sz="1600" b="1" dirty="0">
                <a:solidFill>
                  <a:srgbClr val="180D5B"/>
                </a:solidFill>
                <a:cs typeface="+mn-ea"/>
                <a:sym typeface="+mn-lt"/>
              </a:rPr>
              <a:t>数值</a:t>
            </a:r>
          </a:p>
          <a:p>
            <a:pPr eaLnBrk="1" hangingPunct="1"/>
            <a:r>
              <a:rPr kumimoji="0" lang="zh-CN" altLang="en-US" sz="2100" b="1" dirty="0">
                <a:solidFill>
                  <a:srgbClr val="000000"/>
                </a:solidFill>
                <a:cs typeface="+mn-ea"/>
                <a:sym typeface="+mn-lt"/>
              </a:rPr>
              <a:t>            </a:t>
            </a:r>
            <a:r>
              <a:rPr kumimoji="0" lang="en-US" altLang="zh-CN" sz="2100" b="1" dirty="0">
                <a:solidFill>
                  <a:srgbClr val="000000"/>
                </a:solidFill>
                <a:cs typeface="+mn-ea"/>
                <a:sym typeface="+mn-lt"/>
              </a:rPr>
              <a:t>9</a:t>
            </a:r>
            <a:r>
              <a:rPr kumimoji="0" lang="zh-CN" altLang="en-US" sz="2100" b="1" dirty="0">
                <a:solidFill>
                  <a:srgbClr val="000000"/>
                </a:solidFill>
                <a:cs typeface="+mn-ea"/>
                <a:sym typeface="+mn-lt"/>
              </a:rPr>
              <a:t>用</a:t>
            </a:r>
            <a:r>
              <a:rPr kumimoji="0" lang="en-US" altLang="zh-CN" sz="2100" b="1" dirty="0">
                <a:solidFill>
                  <a:srgbClr val="C00000"/>
                </a:solidFill>
                <a:cs typeface="+mn-ea"/>
                <a:sym typeface="+mn-lt"/>
              </a:rPr>
              <a:t>ASCII</a:t>
            </a:r>
            <a:r>
              <a:rPr kumimoji="0" lang="zh-CN" altLang="en-US" sz="2100" b="1" dirty="0">
                <a:solidFill>
                  <a:srgbClr val="000000"/>
                </a:solidFill>
                <a:cs typeface="+mn-ea"/>
                <a:sym typeface="+mn-lt"/>
              </a:rPr>
              <a:t>码表示：	</a:t>
            </a:r>
            <a:r>
              <a:rPr kumimoji="0" lang="en-US" altLang="zh-CN" sz="2100" b="1" dirty="0">
                <a:solidFill>
                  <a:srgbClr val="000000"/>
                </a:solidFill>
                <a:cs typeface="+mn-ea"/>
                <a:sym typeface="+mn-lt"/>
              </a:rPr>
              <a:t>00111001</a:t>
            </a:r>
            <a:r>
              <a:rPr kumimoji="0" lang="en-US" altLang="zh-CN" sz="2100" b="1" dirty="0">
                <a:cs typeface="+mn-ea"/>
                <a:sym typeface="+mn-lt"/>
              </a:rPr>
              <a:t> </a:t>
            </a:r>
            <a:r>
              <a:rPr kumimoji="0" lang="zh-CN" altLang="en-US" sz="2100" b="1" dirty="0">
                <a:cs typeface="+mn-ea"/>
                <a:sym typeface="+mn-lt"/>
              </a:rPr>
              <a:t>（</a:t>
            </a:r>
            <a:r>
              <a:rPr kumimoji="0" lang="en-US" altLang="zh-CN" sz="2100" b="1" dirty="0">
                <a:cs typeface="+mn-ea"/>
                <a:sym typeface="+mn-lt"/>
              </a:rPr>
              <a:t>39H</a:t>
            </a:r>
            <a:r>
              <a:rPr kumimoji="0" lang="zh-CN" altLang="en-US" sz="2100" b="1" dirty="0">
                <a:cs typeface="+mn-ea"/>
                <a:sym typeface="+mn-lt"/>
              </a:rPr>
              <a:t>）</a:t>
            </a:r>
            <a:r>
              <a:rPr kumimoji="0" lang="zh-CN" altLang="en-US" sz="1600" b="1" dirty="0">
                <a:solidFill>
                  <a:srgbClr val="180D5B"/>
                </a:solidFill>
                <a:cs typeface="+mn-ea"/>
                <a:sym typeface="+mn-lt"/>
              </a:rPr>
              <a:t>符号</a:t>
            </a:r>
            <a:endParaRPr kumimoji="0" lang="zh-CN" altLang="en-US" sz="2100" b="1" dirty="0">
              <a:solidFill>
                <a:srgbClr val="180D5B"/>
              </a:solidFill>
              <a:cs typeface="+mn-ea"/>
              <a:sym typeface="+mn-lt"/>
            </a:endParaRPr>
          </a:p>
        </p:txBody>
      </p:sp>
      <p:sp>
        <p:nvSpPr>
          <p:cNvPr id="39" name="Rectangle 6"/>
          <p:cNvSpPr>
            <a:spLocks noChangeArrowheads="1"/>
          </p:cNvSpPr>
          <p:nvPr/>
        </p:nvSpPr>
        <p:spPr bwMode="auto">
          <a:xfrm>
            <a:off x="2264596" y="4227998"/>
            <a:ext cx="912812" cy="3810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zh-CN" altLang="en-US" sz="1900" b="1" dirty="0">
                <a:solidFill>
                  <a:srgbClr val="C00000"/>
                </a:solidFill>
                <a:cs typeface="+mn-ea"/>
                <a:sym typeface="+mn-lt"/>
              </a:rPr>
              <a:t>注意：</a:t>
            </a:r>
          </a:p>
        </p:txBody>
      </p:sp>
      <p:sp>
        <p:nvSpPr>
          <p:cNvPr id="40" name="Rectangle 7"/>
          <p:cNvSpPr>
            <a:spLocks noChangeArrowheads="1"/>
          </p:cNvSpPr>
          <p:nvPr/>
        </p:nvSpPr>
        <p:spPr bwMode="auto">
          <a:xfrm>
            <a:off x="2968155" y="4227998"/>
            <a:ext cx="7003840" cy="687881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>
              <a:lnSpc>
                <a:spcPct val="115000"/>
              </a:lnSpc>
            </a:pPr>
            <a:r>
              <a:rPr kumimoji="0" lang="en-US" altLang="zh-CN" b="1" dirty="0">
                <a:cs typeface="+mn-ea"/>
                <a:sym typeface="+mn-lt"/>
              </a:rPr>
              <a:t> *1 </a:t>
            </a:r>
            <a:r>
              <a:rPr kumimoji="0" lang="zh-CN" altLang="en-US" b="1" dirty="0">
                <a:cs typeface="+mn-ea"/>
                <a:sym typeface="+mn-lt"/>
              </a:rPr>
              <a:t>输入设备一般用</a:t>
            </a:r>
            <a:r>
              <a:rPr kumimoji="0" lang="en-US" altLang="zh-CN" b="1" dirty="0">
                <a:cs typeface="+mn-ea"/>
                <a:sym typeface="+mn-lt"/>
              </a:rPr>
              <a:t>ASCII</a:t>
            </a:r>
            <a:r>
              <a:rPr kumimoji="0" lang="zh-CN" altLang="en-US" b="1" dirty="0">
                <a:cs typeface="+mn-ea"/>
                <a:sym typeface="+mn-lt"/>
              </a:rPr>
              <a:t>、</a:t>
            </a:r>
            <a:r>
              <a:rPr kumimoji="0" lang="en-US" altLang="zh-CN" b="1" dirty="0">
                <a:cs typeface="+mn-ea"/>
                <a:sym typeface="+mn-lt"/>
              </a:rPr>
              <a:t>BCD</a:t>
            </a:r>
            <a:r>
              <a:rPr kumimoji="0" lang="zh-CN" altLang="en-US" b="1" dirty="0">
                <a:cs typeface="+mn-ea"/>
                <a:sym typeface="+mn-lt"/>
              </a:rPr>
              <a:t>向计算机输入数值、字母和字符；</a:t>
            </a:r>
            <a:endParaRPr kumimoji="0" lang="zh-CN" altLang="en-US" sz="1400" b="1" dirty="0">
              <a:cs typeface="+mn-ea"/>
              <a:sym typeface="+mn-lt"/>
            </a:endParaRPr>
          </a:p>
          <a:p>
            <a:r>
              <a:rPr kumimoji="0" lang="zh-CN" altLang="en-US" b="1" dirty="0">
                <a:cs typeface="+mn-ea"/>
                <a:sym typeface="+mn-lt"/>
              </a:rPr>
              <a:t> *</a:t>
            </a:r>
            <a:r>
              <a:rPr kumimoji="0" lang="en-US" altLang="zh-CN" b="1" dirty="0">
                <a:cs typeface="+mn-ea"/>
                <a:sym typeface="+mn-lt"/>
              </a:rPr>
              <a:t>2 </a:t>
            </a:r>
            <a:r>
              <a:rPr kumimoji="0" lang="zh-CN" altLang="en-US" b="1" dirty="0">
                <a:cs typeface="+mn-ea"/>
                <a:sym typeface="+mn-lt"/>
              </a:rPr>
              <a:t>输出设备所能接收的通常也是</a:t>
            </a:r>
            <a:r>
              <a:rPr kumimoji="0" lang="en-US" altLang="zh-CN" b="1" dirty="0">
                <a:cs typeface="+mn-ea"/>
                <a:sym typeface="+mn-lt"/>
              </a:rPr>
              <a:t>ASCII</a:t>
            </a:r>
            <a:r>
              <a:rPr kumimoji="0" lang="zh-CN" altLang="en-US" b="1" dirty="0">
                <a:cs typeface="+mn-ea"/>
                <a:sym typeface="+mn-lt"/>
              </a:rPr>
              <a:t>、</a:t>
            </a:r>
            <a:r>
              <a:rPr kumimoji="0" lang="en-US" altLang="zh-CN" b="1" dirty="0">
                <a:cs typeface="+mn-ea"/>
                <a:sym typeface="+mn-lt"/>
              </a:rPr>
              <a:t>BCD</a:t>
            </a:r>
            <a:r>
              <a:rPr kumimoji="0" lang="zh-CN" altLang="en-US" b="1" dirty="0">
                <a:cs typeface="+mn-ea"/>
                <a:sym typeface="+mn-lt"/>
              </a:rPr>
              <a:t>以及八段码</a:t>
            </a:r>
          </a:p>
        </p:txBody>
      </p:sp>
      <p:sp>
        <p:nvSpPr>
          <p:cNvPr id="41" name="Rectangle 9"/>
          <p:cNvSpPr>
            <a:spLocks noChangeArrowheads="1"/>
          </p:cNvSpPr>
          <p:nvPr/>
        </p:nvSpPr>
        <p:spPr bwMode="auto">
          <a:xfrm>
            <a:off x="2318273" y="4927966"/>
            <a:ext cx="6248400" cy="969496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1" hangingPunct="1"/>
            <a:r>
              <a:rPr kumimoji="0" lang="zh-CN" altLang="en-US" sz="1900" b="1" dirty="0">
                <a:solidFill>
                  <a:srgbClr val="C00000"/>
                </a:solidFill>
                <a:cs typeface="+mn-ea"/>
                <a:sym typeface="+mn-lt"/>
              </a:rPr>
              <a:t>思考：十进制数</a:t>
            </a:r>
            <a:r>
              <a:rPr kumimoji="0" lang="en-US" altLang="zh-CN" sz="1900" b="1" dirty="0">
                <a:solidFill>
                  <a:srgbClr val="C00000"/>
                </a:solidFill>
                <a:cs typeface="+mn-ea"/>
                <a:sym typeface="+mn-lt"/>
              </a:rPr>
              <a:t>23</a:t>
            </a:r>
            <a:r>
              <a:rPr kumimoji="0" lang="zh-CN" altLang="en-US" sz="1900" b="1" dirty="0">
                <a:solidFill>
                  <a:srgbClr val="C00000"/>
                </a:solidFill>
                <a:cs typeface="+mn-ea"/>
                <a:sym typeface="+mn-lt"/>
              </a:rPr>
              <a:t>用</a:t>
            </a:r>
            <a:r>
              <a:rPr kumimoji="0" lang="en-US" altLang="zh-CN" sz="1900" b="1" dirty="0">
                <a:solidFill>
                  <a:srgbClr val="C00000"/>
                </a:solidFill>
                <a:cs typeface="+mn-ea"/>
                <a:sym typeface="+mn-lt"/>
              </a:rPr>
              <a:t>BCD</a:t>
            </a:r>
            <a:r>
              <a:rPr kumimoji="0" lang="zh-CN" altLang="en-US" sz="1900" b="1" dirty="0">
                <a:solidFill>
                  <a:srgbClr val="C00000"/>
                </a:solidFill>
                <a:cs typeface="+mn-ea"/>
                <a:sym typeface="+mn-lt"/>
              </a:rPr>
              <a:t>码和</a:t>
            </a:r>
            <a:r>
              <a:rPr kumimoji="0" lang="en-US" altLang="zh-CN" sz="1900" b="1" dirty="0">
                <a:solidFill>
                  <a:srgbClr val="C00000"/>
                </a:solidFill>
                <a:cs typeface="+mn-ea"/>
                <a:sym typeface="+mn-lt"/>
              </a:rPr>
              <a:t>ASCII</a:t>
            </a:r>
            <a:r>
              <a:rPr kumimoji="0" lang="zh-CN" altLang="en-US" sz="1900" b="1" dirty="0">
                <a:solidFill>
                  <a:srgbClr val="C00000"/>
                </a:solidFill>
                <a:cs typeface="+mn-ea"/>
                <a:sym typeface="+mn-lt"/>
              </a:rPr>
              <a:t>码分别怎样表示？</a:t>
            </a:r>
            <a:endParaRPr kumimoji="0" lang="en-US" altLang="zh-CN" sz="1900" b="1" dirty="0">
              <a:solidFill>
                <a:srgbClr val="C00000"/>
              </a:solidFill>
              <a:cs typeface="+mn-ea"/>
              <a:sym typeface="+mn-lt"/>
            </a:endParaRPr>
          </a:p>
          <a:p>
            <a:pPr eaLnBrk="1" hangingPunct="1"/>
            <a:r>
              <a:rPr lang="en-US" altLang="zh-CN" sz="1900" b="1" dirty="0">
                <a:solidFill>
                  <a:srgbClr val="FF0000"/>
                </a:solidFill>
                <a:cs typeface="+mn-ea"/>
                <a:sym typeface="+mn-lt"/>
              </a:rPr>
              <a:t>            </a:t>
            </a:r>
            <a:r>
              <a:rPr lang="en-US" altLang="zh-CN" sz="1900" b="1" dirty="0">
                <a:solidFill>
                  <a:srgbClr val="180D5B"/>
                </a:solidFill>
                <a:cs typeface="+mn-ea"/>
                <a:sym typeface="+mn-lt"/>
              </a:rPr>
              <a:t>23 </a:t>
            </a:r>
            <a:r>
              <a:rPr lang="zh-CN" altLang="en-US" sz="1900" b="1" dirty="0">
                <a:solidFill>
                  <a:srgbClr val="180D5B"/>
                </a:solidFill>
                <a:cs typeface="+mn-ea"/>
                <a:sym typeface="+mn-lt"/>
              </a:rPr>
              <a:t>表示成</a:t>
            </a:r>
            <a:r>
              <a:rPr lang="en-US" altLang="zh-CN" sz="1900" b="1" dirty="0">
                <a:solidFill>
                  <a:srgbClr val="180D5B"/>
                </a:solidFill>
                <a:cs typeface="+mn-ea"/>
                <a:sym typeface="+mn-lt"/>
              </a:rPr>
              <a:t>BCD</a:t>
            </a:r>
            <a:r>
              <a:rPr lang="zh-CN" altLang="en-US" sz="1900" b="1" dirty="0">
                <a:solidFill>
                  <a:srgbClr val="180D5B"/>
                </a:solidFill>
                <a:cs typeface="+mn-ea"/>
                <a:sym typeface="+mn-lt"/>
              </a:rPr>
              <a:t>码为：</a:t>
            </a:r>
            <a:r>
              <a:rPr lang="en-US" altLang="zh-CN" sz="1900" b="1" dirty="0">
                <a:solidFill>
                  <a:srgbClr val="180D5B"/>
                </a:solidFill>
                <a:cs typeface="+mn-ea"/>
                <a:sym typeface="+mn-lt"/>
              </a:rPr>
              <a:t>23H</a:t>
            </a:r>
          </a:p>
          <a:p>
            <a:pPr eaLnBrk="1" hangingPunct="1"/>
            <a:r>
              <a:rPr kumimoji="0" lang="en-US" altLang="zh-CN" sz="1900" b="1" dirty="0">
                <a:solidFill>
                  <a:srgbClr val="180D5B"/>
                </a:solidFill>
                <a:cs typeface="+mn-ea"/>
                <a:sym typeface="+mn-lt"/>
              </a:rPr>
              <a:t>            23</a:t>
            </a:r>
            <a:r>
              <a:rPr kumimoji="0" lang="zh-CN" altLang="en-US" sz="1900" b="1" dirty="0">
                <a:solidFill>
                  <a:srgbClr val="180D5B"/>
                </a:solidFill>
                <a:cs typeface="+mn-ea"/>
                <a:sym typeface="+mn-lt"/>
              </a:rPr>
              <a:t>表示成</a:t>
            </a:r>
            <a:r>
              <a:rPr kumimoji="0" lang="en-US" altLang="zh-CN" sz="1900" b="1" dirty="0">
                <a:solidFill>
                  <a:srgbClr val="180D5B"/>
                </a:solidFill>
                <a:cs typeface="+mn-ea"/>
                <a:sym typeface="+mn-lt"/>
              </a:rPr>
              <a:t>ASCII</a:t>
            </a:r>
            <a:r>
              <a:rPr kumimoji="0" lang="zh-CN" altLang="en-US" sz="1900" b="1" dirty="0">
                <a:solidFill>
                  <a:srgbClr val="180D5B"/>
                </a:solidFill>
                <a:cs typeface="+mn-ea"/>
                <a:sym typeface="+mn-lt"/>
              </a:rPr>
              <a:t>码为：“</a:t>
            </a:r>
            <a:r>
              <a:rPr kumimoji="0" lang="en-US" altLang="zh-CN" sz="1900" b="1" dirty="0">
                <a:solidFill>
                  <a:srgbClr val="180D5B"/>
                </a:solidFill>
                <a:cs typeface="+mn-ea"/>
                <a:sym typeface="+mn-lt"/>
              </a:rPr>
              <a:t>23</a:t>
            </a:r>
            <a:r>
              <a:rPr kumimoji="0" lang="zh-CN" altLang="en-US" sz="1900" b="1" dirty="0">
                <a:solidFill>
                  <a:srgbClr val="180D5B"/>
                </a:solidFill>
                <a:cs typeface="+mn-ea"/>
                <a:sym typeface="+mn-lt"/>
              </a:rPr>
              <a:t>”</a:t>
            </a:r>
            <a:r>
              <a:rPr lang="zh-CN" altLang="en-US" sz="1900" b="1" dirty="0">
                <a:solidFill>
                  <a:srgbClr val="180D5B"/>
                </a:solidFill>
                <a:cs typeface="+mn-ea"/>
                <a:sym typeface="+mn-lt"/>
              </a:rPr>
              <a:t>即 </a:t>
            </a:r>
            <a:r>
              <a:rPr lang="en-US" altLang="zh-CN" sz="1900" b="1" dirty="0">
                <a:solidFill>
                  <a:srgbClr val="180D5B"/>
                </a:solidFill>
                <a:cs typeface="+mn-ea"/>
                <a:sym typeface="+mn-lt"/>
              </a:rPr>
              <a:t>32H33H</a:t>
            </a:r>
            <a:endParaRPr kumimoji="0" lang="zh-CN" altLang="en-US" sz="1900" b="1" dirty="0">
              <a:solidFill>
                <a:srgbClr val="180D5B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57562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4" dur="8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5" dur="8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8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1" dur="8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2" dur="8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8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  <p:bldP spid="41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2"/>
            <a:r>
              <a:rPr lang="en-US" altLang="zh-CN" sz="2800" b="1" dirty="0">
                <a:cs typeface="+mn-ea"/>
                <a:sym typeface="+mn-lt"/>
              </a:rPr>
              <a:t>ASCII</a:t>
            </a:r>
            <a:r>
              <a:rPr lang="zh-CN" altLang="en-US" sz="2800" b="1" dirty="0">
                <a:cs typeface="+mn-ea"/>
                <a:sym typeface="+mn-lt"/>
              </a:rPr>
              <a:t>码和</a:t>
            </a:r>
            <a:r>
              <a:rPr lang="en-US" altLang="zh-CN" sz="2800" b="1" dirty="0">
                <a:cs typeface="+mn-ea"/>
                <a:sym typeface="+mn-lt"/>
              </a:rPr>
              <a:t>BCD</a:t>
            </a:r>
            <a:r>
              <a:rPr lang="zh-CN" altLang="en-US" sz="2800" b="1" dirty="0">
                <a:cs typeface="+mn-ea"/>
                <a:sym typeface="+mn-lt"/>
              </a:rPr>
              <a:t>码表示方法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31157EF5-105A-4032-82AD-CAA57315458B}"/>
              </a:ext>
            </a:extLst>
          </p:cNvPr>
          <p:cNvSpPr txBox="1">
            <a:spLocks/>
          </p:cNvSpPr>
          <p:nvPr/>
        </p:nvSpPr>
        <p:spPr>
          <a:xfrm>
            <a:off x="914125" y="955852"/>
            <a:ext cx="8811939" cy="1248596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问题与思考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A0BC58B-F030-41A7-85FC-50795DBADEAB}"/>
              </a:ext>
            </a:extLst>
          </p:cNvPr>
          <p:cNvSpPr/>
          <p:nvPr/>
        </p:nvSpPr>
        <p:spPr>
          <a:xfrm>
            <a:off x="1265380" y="1439236"/>
            <a:ext cx="84606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400" b="1" kern="0" dirty="0"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将下列</a:t>
            </a:r>
            <a:r>
              <a:rPr lang="en-US" altLang="zh-CN" sz="2400" b="1" kern="0" dirty="0"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BCD</a:t>
            </a:r>
            <a:r>
              <a:rPr lang="zh-CN" altLang="zh-CN" sz="2400" b="1" kern="0" dirty="0"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码转换为十进制数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CN" altLang="zh-CN" sz="2400" b="1" kern="0" dirty="0"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 b="1" kern="0" dirty="0"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00111000.01010110</a:t>
            </a:r>
            <a:r>
              <a:rPr lang="zh-CN" altLang="zh-CN" sz="2400" b="1" kern="0" dirty="0"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400" b="1" kern="0" dirty="0"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BCD    </a:t>
            </a:r>
            <a:r>
              <a:rPr lang="zh-CN" altLang="zh-CN" sz="2400" b="1" kern="0" dirty="0"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 b="1" kern="0" dirty="0"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         </a:t>
            </a:r>
            <a:r>
              <a:rPr lang="zh-CN" altLang="zh-CN" sz="2400" b="1" kern="0" dirty="0"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400" b="1" kern="0" dirty="0"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D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031BD458-4C73-4853-90ED-3566B34459FD}"/>
              </a:ext>
            </a:extLst>
          </p:cNvPr>
          <p:cNvSpPr txBox="1">
            <a:spLocks/>
          </p:cNvSpPr>
          <p:nvPr/>
        </p:nvSpPr>
        <p:spPr>
          <a:xfrm>
            <a:off x="914125" y="2687832"/>
            <a:ext cx="8811939" cy="1248596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讨论与交流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1240471-B780-40EF-9FAF-51B8B5A7F999}"/>
              </a:ext>
            </a:extLst>
          </p:cNvPr>
          <p:cNvSpPr/>
          <p:nvPr/>
        </p:nvSpPr>
        <p:spPr>
          <a:xfrm>
            <a:off x="1265380" y="3308930"/>
            <a:ext cx="90424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en-US" sz="2400" b="1" kern="0" dirty="0"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为什么会出现</a:t>
            </a:r>
            <a:r>
              <a:rPr lang="en-US" altLang="zh-CN" sz="2400" b="1" kern="0" dirty="0"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BCD</a:t>
            </a:r>
            <a:r>
              <a:rPr lang="zh-CN" altLang="en-US" sz="2400" b="1" kern="0" dirty="0"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码，</a:t>
            </a:r>
            <a:r>
              <a:rPr lang="en-US" altLang="zh-CN" sz="2400" b="1" kern="0" dirty="0"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BCD</a:t>
            </a:r>
            <a:r>
              <a:rPr lang="zh-CN" altLang="en-US" sz="2400" b="1" kern="0" dirty="0"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码调整的原理是什么，是如何实现的？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889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800" b="1" kern="0" dirty="0"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将下列</a:t>
            </a:r>
            <a:r>
              <a:rPr lang="en-US" altLang="zh-CN" sz="2800" b="1" kern="0" dirty="0"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BCD</a:t>
            </a:r>
            <a:r>
              <a:rPr lang="zh-CN" altLang="zh-CN" sz="2800" b="1" kern="0" dirty="0"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码转换为十进制数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CN" altLang="zh-CN" sz="2800" b="1" kern="0" dirty="0"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800" b="1" kern="0" dirty="0"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00111000.01010110</a:t>
            </a:r>
            <a:r>
              <a:rPr lang="zh-CN" altLang="zh-CN" sz="2800" b="1" kern="0" dirty="0"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800" b="1" kern="0" dirty="0"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BCD    </a:t>
            </a:r>
            <a:r>
              <a:rPr lang="zh-CN" altLang="zh-CN" sz="2800" b="1" kern="0" dirty="0"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800" b="1" kern="0" dirty="0"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 kern="0" dirty="0" smtClean="0">
                <a:solidFill>
                  <a:srgbClr val="639EF4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800" b="1" kern="0" dirty="0" smtClean="0">
                <a:solidFill>
                  <a:srgbClr val="639EF4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[</a:t>
            </a:r>
            <a:r>
              <a:rPr lang="zh-CN" altLang="en-US" sz="2800" b="1" kern="0" dirty="0" smtClean="0">
                <a:solidFill>
                  <a:srgbClr val="639EF4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填空</a:t>
            </a:r>
            <a:r>
              <a:rPr lang="en-US" altLang="zh-CN" sz="2800" b="1" kern="0" dirty="0" smtClean="0">
                <a:solidFill>
                  <a:srgbClr val="639EF4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1]</a:t>
            </a:r>
            <a:r>
              <a:rPr lang="en-US" altLang="zh-CN" sz="2800" b="1" kern="0" dirty="0" smtClean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800" b="1" kern="0" dirty="0" smtClean="0"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zh-CN" sz="2800" b="1" kern="0" dirty="0"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800" b="1" kern="0" dirty="0"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D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59319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3C326D0B-7DAB-41B6-8030-2E4A18CC949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7" name="think-cell Slide" r:id="rId5" imgW="360" imgH="360" progId="">
                  <p:embed/>
                </p:oleObj>
              </mc:Choice>
              <mc:Fallback>
                <p:oleObj name="think-cell Slide" r:id="rId5" imgW="360" imgH="360" progId="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id="{3C326D0B-7DAB-41B6-8030-2E4A18CC94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id="{EC933494-1B63-4A32-964F-D05236799BA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cs typeface="+mn-ea"/>
              <a:sym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978949" y="2023969"/>
            <a:ext cx="6041284" cy="1058852"/>
          </a:xfrm>
        </p:spPr>
        <p:txBody>
          <a:bodyPr>
            <a:normAutofit/>
          </a:bodyPr>
          <a:lstStyle/>
          <a:p>
            <a:r>
              <a:rPr lang="zh-CN" altLang="en-US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lt"/>
                <a:ea typeface="+mn-ea"/>
                <a:cs typeface="+mn-ea"/>
                <a:sym typeface="+mn-lt"/>
              </a:rPr>
              <a:t>单片机原理及其应用</a:t>
            </a: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3AE36C13-51F4-4440-8DB2-2A4E128FFD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6065" y="3993091"/>
            <a:ext cx="3163957" cy="548173"/>
          </a:xfr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r>
              <a:rPr lang="zh-CN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重庆大学   电气工程学院</a:t>
            </a:r>
          </a:p>
        </p:txBody>
      </p:sp>
      <p:sp>
        <p:nvSpPr>
          <p:cNvPr id="5" name="矩形 4"/>
          <p:cNvSpPr/>
          <p:nvPr/>
        </p:nvSpPr>
        <p:spPr>
          <a:xfrm>
            <a:off x="622577" y="1378227"/>
            <a:ext cx="69500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800" dirty="0">
                <a:solidFill>
                  <a:schemeClr val="bg1"/>
                </a:solidFill>
                <a:cs typeface="+mn-ea"/>
                <a:sym typeface="+mn-lt"/>
              </a:rPr>
              <a:t>ARM Cortex-M3 </a:t>
            </a:r>
            <a:r>
              <a:rPr lang="zh-CN" altLang="zh-CN" sz="2800" b="1" kern="1800" dirty="0">
                <a:solidFill>
                  <a:schemeClr val="bg1"/>
                </a:solidFill>
                <a:cs typeface="+mn-ea"/>
                <a:sym typeface="+mn-lt"/>
              </a:rPr>
              <a:t>的</a:t>
            </a:r>
            <a:r>
              <a:rPr lang="en-US" altLang="zh-CN" sz="2800" b="1" kern="1800" dirty="0">
                <a:solidFill>
                  <a:schemeClr val="bg1"/>
                </a:solidFill>
                <a:cs typeface="+mn-ea"/>
                <a:sym typeface="+mn-lt"/>
              </a:rPr>
              <a:t>STM32</a:t>
            </a:r>
            <a:r>
              <a:rPr lang="zh-CN" altLang="zh-CN" sz="2800" b="1" kern="1800" dirty="0">
                <a:solidFill>
                  <a:schemeClr val="bg1"/>
                </a:solidFill>
                <a:cs typeface="+mn-ea"/>
                <a:sym typeface="+mn-lt"/>
              </a:rPr>
              <a:t>系列</a:t>
            </a:r>
            <a:r>
              <a:rPr lang="zh-CN" altLang="zh-CN" sz="4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cs typeface="+mn-ea"/>
                <a:sym typeface="+mn-lt"/>
              </a:rPr>
              <a:t>——</a:t>
            </a:r>
            <a:endParaRPr lang="zh-CN" altLang="en-US" sz="4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2577" y="3167390"/>
            <a:ext cx="68169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2E6E0"/>
                </a:solidFill>
                <a:cs typeface="+mn-ea"/>
                <a:sym typeface="+mn-lt"/>
              </a:rPr>
              <a:t>二进制算术运算和逻辑运算</a:t>
            </a:r>
            <a:endParaRPr lang="en-US" altLang="zh-CN" sz="2800" b="1" dirty="0">
              <a:solidFill>
                <a:srgbClr val="42E6E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97631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>
            <a:spLocks/>
          </p:cNvSpPr>
          <p:nvPr/>
        </p:nvSpPr>
        <p:spPr>
          <a:xfrm>
            <a:off x="1252812" y="836646"/>
            <a:ext cx="9686378" cy="801338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zh-CN" altLang="en-US" sz="2800" dirty="0">
                <a:cs typeface="+mn-ea"/>
                <a:sym typeface="+mn-lt"/>
              </a:rPr>
              <a:t>计算机中</a:t>
            </a:r>
            <a:r>
              <a:rPr lang="en-US" altLang="zh-CN" sz="2800" dirty="0">
                <a:cs typeface="+mn-ea"/>
                <a:sym typeface="+mn-lt"/>
              </a:rPr>
              <a:t>CPU</a:t>
            </a:r>
            <a:r>
              <a:rPr lang="zh-CN" altLang="en-US" sz="2800" dirty="0">
                <a:cs typeface="+mn-ea"/>
                <a:sym typeface="+mn-lt"/>
              </a:rPr>
              <a:t>能直接提供的运算有算术运算和逻辑运算。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cs typeface="+mn-ea"/>
                <a:sym typeface="+mn-lt"/>
              </a:rPr>
              <a:t>	</a:t>
            </a:r>
            <a:r>
              <a:rPr lang="zh-CN" altLang="en-US" sz="2800" b="1" dirty="0">
                <a:cs typeface="+mn-ea"/>
                <a:sym typeface="+mn-lt"/>
              </a:rPr>
              <a:t>二进制算数和逻辑运算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1252812" y="1475710"/>
            <a:ext cx="8229600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补码算术运算及溢出判别</a:t>
            </a: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579383" y="2492031"/>
            <a:ext cx="9620296" cy="1359744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zh-CN" altLang="en-US" sz="2400" dirty="0">
                <a:cs typeface="+mn-ea"/>
                <a:sym typeface="+mn-lt"/>
              </a:rPr>
              <a:t>进行 </a:t>
            </a:r>
            <a:r>
              <a:rPr lang="en-US" altLang="zh-CN" sz="2400" dirty="0">
                <a:cs typeface="+mn-ea"/>
                <a:sym typeface="+mn-lt"/>
              </a:rPr>
              <a:t>X + Y</a:t>
            </a:r>
            <a:r>
              <a:rPr lang="zh-CN" altLang="en-US" sz="2400" dirty="0">
                <a:cs typeface="+mn-ea"/>
                <a:sym typeface="+mn-lt"/>
              </a:rPr>
              <a:t>运算，利用</a:t>
            </a:r>
            <a:r>
              <a:rPr lang="en-US" altLang="zh-CN" sz="2400" dirty="0">
                <a:cs typeface="+mn-ea"/>
                <a:sym typeface="+mn-lt"/>
              </a:rPr>
              <a:t>CPU</a:t>
            </a:r>
            <a:r>
              <a:rPr lang="zh-CN" altLang="en-US" sz="2400" dirty="0">
                <a:cs typeface="+mn-ea"/>
                <a:sym typeface="+mn-lt"/>
              </a:rPr>
              <a:t>内部的加法器可直接计算得到。</a:t>
            </a:r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1695271" y="2028755"/>
            <a:ext cx="8229600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buFont typeface="+mj-ea"/>
              <a:buAutoNum type="circleNumDbPlain"/>
            </a:pPr>
            <a:r>
              <a:rPr lang="zh-CN" altLang="en-US" sz="3200" b="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加法运算</a:t>
            </a:r>
          </a:p>
        </p:txBody>
      </p:sp>
      <p:sp>
        <p:nvSpPr>
          <p:cNvPr id="10" name="内容占位符 2"/>
          <p:cNvSpPr txBox="1">
            <a:spLocks/>
          </p:cNvSpPr>
          <p:nvPr/>
        </p:nvSpPr>
        <p:spPr>
          <a:xfrm>
            <a:off x="1579383" y="4188224"/>
            <a:ext cx="9516561" cy="1359744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en-US" altLang="zh-CN" sz="2400" dirty="0">
                <a:cs typeface="+mn-ea"/>
                <a:sym typeface="+mn-lt"/>
              </a:rPr>
              <a:t>X-Y</a:t>
            </a:r>
            <a:r>
              <a:rPr lang="zh-CN" altLang="en-US" sz="2400" dirty="0">
                <a:cs typeface="+mn-ea"/>
                <a:sym typeface="+mn-lt"/>
              </a:rPr>
              <a:t>运算，会被转换为</a:t>
            </a:r>
            <a:r>
              <a:rPr lang="en-US" altLang="zh-CN" sz="2400" dirty="0">
                <a:cs typeface="+mn-ea"/>
                <a:sym typeface="+mn-lt"/>
              </a:rPr>
              <a:t>X + (-Y)</a:t>
            </a:r>
            <a:r>
              <a:rPr lang="zh-CN" altLang="en-US" sz="2400" dirty="0">
                <a:cs typeface="+mn-ea"/>
                <a:sym typeface="+mn-lt"/>
              </a:rPr>
              <a:t>，此时只需</a:t>
            </a:r>
            <a:r>
              <a:rPr lang="zh-CN" altLang="en-US" sz="2400" b="1" dirty="0">
                <a:cs typeface="+mn-ea"/>
                <a:sym typeface="+mn-lt"/>
              </a:rPr>
              <a:t>将</a:t>
            </a:r>
            <a:r>
              <a:rPr lang="en-US" altLang="zh-CN" sz="2400" b="1" dirty="0">
                <a:cs typeface="+mn-ea"/>
                <a:sym typeface="+mn-lt"/>
              </a:rPr>
              <a:t>-Y</a:t>
            </a:r>
            <a:r>
              <a:rPr lang="zh-CN" altLang="en-US" sz="2400" b="1" dirty="0">
                <a:cs typeface="+mn-ea"/>
                <a:sym typeface="+mn-lt"/>
              </a:rPr>
              <a:t>转换为补码</a:t>
            </a:r>
            <a:r>
              <a:rPr lang="en-US" altLang="zh-CN" sz="2400" dirty="0">
                <a:cs typeface="+mn-ea"/>
                <a:sym typeface="+mn-lt"/>
              </a:rPr>
              <a:t>,</a:t>
            </a:r>
            <a:r>
              <a:rPr lang="zh-CN" altLang="en-US" sz="2400" dirty="0">
                <a:cs typeface="+mn-ea"/>
                <a:sym typeface="+mn-lt"/>
              </a:rPr>
              <a:t>仍可通过加法器来实现。</a:t>
            </a:r>
            <a:endParaRPr lang="en-US" altLang="zh-CN" sz="2400" dirty="0">
              <a:cs typeface="+mn-ea"/>
              <a:sym typeface="+mn-lt"/>
            </a:endParaRPr>
          </a:p>
        </p:txBody>
      </p:sp>
      <p:sp>
        <p:nvSpPr>
          <p:cNvPr id="11" name="标题 1"/>
          <p:cNvSpPr txBox="1">
            <a:spLocks/>
          </p:cNvSpPr>
          <p:nvPr/>
        </p:nvSpPr>
        <p:spPr>
          <a:xfrm>
            <a:off x="1695271" y="3817310"/>
            <a:ext cx="8229600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buFont typeface="+mj-ea"/>
              <a:buAutoNum type="circleNumDbPlain" startAt="2"/>
            </a:pPr>
            <a:r>
              <a:rPr lang="zh-CN" altLang="en-US" sz="3200" b="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减法运算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2"/>
              <p:cNvSpPr txBox="1">
                <a:spLocks noChangeArrowheads="1"/>
              </p:cNvSpPr>
              <p:nvPr/>
            </p:nvSpPr>
            <p:spPr bwMode="auto">
              <a:xfrm>
                <a:off x="2997202" y="3151695"/>
                <a:ext cx="6485209" cy="564835"/>
              </a:xfrm>
              <a:prstGeom prst="rect">
                <a:avLst/>
              </a:prstGeom>
              <a:solidFill>
                <a:srgbClr val="FFCC99">
                  <a:alpha val="30196"/>
                </a:srgbClr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9pPr>
              </a:lstStyle>
              <a:p>
                <a:pPr lvl="1" algn="just">
                  <a:spcBef>
                    <a:spcPct val="50000"/>
                  </a:spcBef>
                  <a:buClr>
                    <a:srgbClr val="0000FF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X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]</m:t>
                          </m:r>
                        </m:e>
                        <m:sub>
                          <m:r>
                            <a:rPr kumimoji="1" lang="zh-CN" altLang="en-US" sz="2400" b="0" i="1" smtClean="0"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补</m:t>
                          </m:r>
                        </m:sub>
                      </m:sSub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+mn-ea"/>
                          <a:cs typeface="+mn-ea"/>
                          <a:sym typeface="+mn-lt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Y</m:t>
                          </m:r>
                          <m:r>
                            <a:rPr kumimoji="1"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]</m:t>
                          </m:r>
                        </m:e>
                        <m:sub>
                          <m:r>
                            <a:rPr kumimoji="1"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补</m:t>
                          </m:r>
                        </m:sub>
                      </m:sSub>
                      <m:r>
                        <a:rPr kumimoji="1"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+mn-ea"/>
                          <a:sym typeface="+mn-lt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X</m:t>
                          </m:r>
                          <m:r>
                            <a:rPr kumimoji="1" lang="en-US" altLang="zh-CN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Y</m:t>
                          </m:r>
                          <m:r>
                            <a:rPr kumimoji="1"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]</m:t>
                          </m:r>
                        </m:e>
                        <m:sub>
                          <m:r>
                            <a:rPr kumimoji="1"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补</m:t>
                          </m:r>
                        </m:sub>
                      </m:sSub>
                    </m:oMath>
                  </m:oMathPara>
                </a14:m>
                <a:endParaRPr kumimoji="1" lang="en-US" altLang="zh-CN" sz="3200" dirty="0"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2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97202" y="3151695"/>
                <a:ext cx="6485209" cy="564835"/>
              </a:xfrm>
              <a:prstGeom prst="rect">
                <a:avLst/>
              </a:prstGeom>
              <a:blipFill>
                <a:blip r:embed="rId2"/>
                <a:stretch>
                  <a:fillRect b="-12121"/>
                </a:stretch>
              </a:blipFill>
              <a:ln w="38100">
                <a:solidFill>
                  <a:srgbClr val="FF66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2"/>
              <p:cNvSpPr txBox="1">
                <a:spLocks noChangeArrowheads="1"/>
              </p:cNvSpPr>
              <p:nvPr/>
            </p:nvSpPr>
            <p:spPr bwMode="auto">
              <a:xfrm>
                <a:off x="3010150" y="5272604"/>
                <a:ext cx="6485209" cy="564835"/>
              </a:xfrm>
              <a:prstGeom prst="rect">
                <a:avLst/>
              </a:prstGeom>
              <a:solidFill>
                <a:srgbClr val="FFCC99">
                  <a:alpha val="30196"/>
                </a:srgbClr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9pPr>
              </a:lstStyle>
              <a:p>
                <a:pPr lvl="1" algn="just">
                  <a:spcBef>
                    <a:spcPct val="50000"/>
                  </a:spcBef>
                  <a:buClr>
                    <a:srgbClr val="0000FF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X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]</m:t>
                          </m:r>
                        </m:e>
                        <m:sub>
                          <m:r>
                            <a:rPr kumimoji="1" lang="zh-CN" altLang="en-US" sz="2400" b="0" i="1" smtClean="0"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补</m:t>
                          </m:r>
                        </m:sub>
                      </m:sSub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+mn-ea"/>
                          <a:cs typeface="+mn-ea"/>
                          <a:sym typeface="+mn-lt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ea"/>
                                  <a:sym typeface="+mn-lt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ea"/>
                                  <a:sym typeface="+mn-lt"/>
                                </a:rPr>
                                <m:t>Y</m:t>
                              </m:r>
                            </m:e>
                          </m:d>
                        </m:e>
                        <m:sub>
                          <m:r>
                            <a:rPr kumimoji="1"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补</m:t>
                          </m:r>
                        </m:sub>
                      </m:sSub>
                      <m:r>
                        <a:rPr kumimoji="1"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+mn-ea"/>
                          <a:sym typeface="+mn-lt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ea"/>
                                  <a:sym typeface="+mn-lt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ea"/>
                                  <a:sym typeface="+mn-lt"/>
                                </a:rPr>
                                <m:t>X</m:t>
                              </m:r>
                              <m:r>
                                <a:rPr kumimoji="1" lang="en-US" altLang="zh-CN" sz="24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ea"/>
                                  <a:sym typeface="+mn-lt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ea"/>
                                  <a:sym typeface="+mn-lt"/>
                                </a:rPr>
                                <m:t>Y</m:t>
                              </m:r>
                            </m:e>
                          </m:d>
                        </m:e>
                        <m:sub>
                          <m:r>
                            <a:rPr kumimoji="1"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补</m:t>
                          </m:r>
                        </m:sub>
                      </m:sSub>
                      <m:r>
                        <a:rPr kumimoji="1"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+mn-ea"/>
                          <a:sym typeface="+mn-lt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ea"/>
                                  <a:sym typeface="+mn-lt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ea"/>
                                  <a:sym typeface="+mn-lt"/>
                                </a:rPr>
                                <m:t>X</m:t>
                              </m:r>
                            </m:e>
                          </m:d>
                        </m:e>
                        <m:sub>
                          <m:r>
                            <a:rPr kumimoji="1"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补</m:t>
                          </m:r>
                        </m:sub>
                      </m:sSub>
                      <m:r>
                        <a:rPr kumimoji="1" lang="en-US" altLang="zh-CN" sz="24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+mn-ea"/>
                          <a:sym typeface="+mn-lt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[</m:t>
                          </m:r>
                          <m:r>
                            <a:rPr kumimoji="1" lang="en-US" altLang="zh-CN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Y</m:t>
                          </m:r>
                          <m:r>
                            <a:rPr kumimoji="1"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]</m:t>
                          </m:r>
                        </m:e>
                        <m:sub>
                          <m:r>
                            <a:rPr kumimoji="1"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  <m:t>补</m:t>
                          </m:r>
                        </m:sub>
                      </m:sSub>
                    </m:oMath>
                  </m:oMathPara>
                </a14:m>
                <a:endParaRPr kumimoji="1" lang="en-US" altLang="zh-CN" sz="2400" dirty="0"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10150" y="5272604"/>
                <a:ext cx="6485209" cy="564835"/>
              </a:xfrm>
              <a:prstGeom prst="rect">
                <a:avLst/>
              </a:prstGeom>
              <a:blipFill>
                <a:blip r:embed="rId3"/>
                <a:stretch>
                  <a:fillRect b="-11111"/>
                </a:stretch>
              </a:blipFill>
              <a:ln w="38100">
                <a:solidFill>
                  <a:srgbClr val="FF66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9224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1826624" y="1710975"/>
                <a:ext cx="8538754" cy="45120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  <a:defRPr/>
                </a:pPr>
                <a:r>
                  <a:rPr lang="zh-CN" altLang="en-US" sz="2800" dirty="0">
                    <a:solidFill>
                      <a:srgbClr val="000000"/>
                    </a:solidFill>
                    <a:cs typeface="+mn-ea"/>
                    <a:sym typeface="+mn-lt"/>
                  </a:rPr>
                  <a:t>解：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11−7=11+(−7)</m:t>
                    </m:r>
                  </m:oMath>
                </a14:m>
                <a:endParaRPr lang="en-US" altLang="zh-CN" sz="2800" dirty="0">
                  <a:solidFill>
                    <a:srgbClr val="000000"/>
                  </a:solidFill>
                  <a:cs typeface="+mn-ea"/>
                  <a:sym typeface="+mn-lt"/>
                </a:endParaRPr>
              </a:p>
              <a:p>
                <a:pPr lvl="0"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(11)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补</m:t>
                          </m:r>
                        </m:sub>
                      </m:sSub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r>
                        <a:rPr lang="en-US" altLang="zh-C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0</m:t>
                      </m:r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000 1011</m:t>
                      </m:r>
                    </m:oMath>
                  </m:oMathPara>
                </a14:m>
                <a:endParaRPr lang="en-US" altLang="zh-CN" sz="2800" dirty="0">
                  <a:solidFill>
                    <a:srgbClr val="000000"/>
                  </a:solidFill>
                  <a:cs typeface="+mn-ea"/>
                  <a:sym typeface="+mn-lt"/>
                </a:endParaRPr>
              </a:p>
              <a:p>
                <a:pPr lvl="0"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(−7)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补</m:t>
                          </m:r>
                        </m:sub>
                      </m:sSub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r>
                        <a:rPr lang="en-US" altLang="zh-C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1</m:t>
                      </m:r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111 1001</m:t>
                      </m:r>
                    </m:oMath>
                  </m:oMathPara>
                </a14:m>
                <a:endParaRPr lang="en-US" altLang="zh-CN" sz="2800" dirty="0">
                  <a:solidFill>
                    <a:srgbClr val="000000"/>
                  </a:solidFill>
                  <a:cs typeface="+mn-ea"/>
                  <a:sym typeface="+mn-lt"/>
                </a:endParaRPr>
              </a:p>
              <a:p>
                <a:pPr lvl="0"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(11)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补</m:t>
                          </m:r>
                        </m:sub>
                      </m:sSub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−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7</m:t>
                              </m:r>
                            </m:e>
                          </m:d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补</m:t>
                          </m:r>
                        </m:sub>
                      </m:sSub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11</m:t>
                              </m:r>
                            </m:e>
                          </m:d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补</m:t>
                          </m:r>
                        </m:sub>
                      </m:sSub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−7</m:t>
                              </m:r>
                            </m:e>
                          </m:d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补</m:t>
                          </m:r>
                        </m:sub>
                      </m:sSub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r>
                        <a:rPr lang="en-US" altLang="zh-CN" sz="2800" b="1" i="1">
                          <a:solidFill>
                            <a:srgbClr val="FF0066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𝟏</m:t>
                      </m:r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 </m:t>
                      </m:r>
                      <m:r>
                        <a:rPr lang="en-US" altLang="zh-C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0</m:t>
                      </m:r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000 0100</m:t>
                      </m:r>
                    </m:oMath>
                  </m:oMathPara>
                </a14:m>
                <a:endParaRPr lang="en-US" altLang="zh-CN" sz="2800" i="1" dirty="0">
                  <a:solidFill>
                    <a:srgbClr val="000000"/>
                  </a:solidFill>
                  <a:cs typeface="+mn-ea"/>
                  <a:sym typeface="+mn-lt"/>
                </a:endParaRPr>
              </a:p>
              <a:p>
                <a:pPr lvl="0"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r>
                        <a:rPr lang="en-US" altLang="zh-C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0</m:t>
                      </m:r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000 0100</m:t>
                      </m:r>
                    </m:oMath>
                  </m:oMathPara>
                </a14:m>
                <a:endParaRPr lang="en-US" altLang="zh-CN" sz="2800" dirty="0">
                  <a:solidFill>
                    <a:srgbClr val="000000"/>
                  </a:solidFill>
                  <a:cs typeface="+mn-ea"/>
                  <a:sym typeface="+mn-lt"/>
                </a:endParaRPr>
              </a:p>
              <a:p>
                <a:pPr lvl="0" algn="ctr">
                  <a:lnSpc>
                    <a:spcPct val="150000"/>
                  </a:lnSpc>
                  <a:defRPr/>
                </a:pPr>
                <a:r>
                  <a:rPr lang="zh-CN" altLang="en-US" sz="2800" dirty="0">
                    <a:solidFill>
                      <a:srgbClr val="000000"/>
                    </a:solidFill>
                    <a:cs typeface="+mn-ea"/>
                    <a:sym typeface="+mn-lt"/>
                  </a:rPr>
                  <a:t>真值</a:t>
                </a:r>
                <a:r>
                  <a:rPr lang="en-US" altLang="zh-CN" sz="2800" dirty="0">
                    <a:solidFill>
                      <a:srgbClr val="000000"/>
                    </a:solidFill>
                    <a:cs typeface="+mn-ea"/>
                    <a:sym typeface="+mn-lt"/>
                  </a:rPr>
                  <a:t>= 4        </a:t>
                </a: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6624" y="1710975"/>
                <a:ext cx="8538754" cy="4512004"/>
              </a:xfrm>
              <a:prstGeom prst="rect">
                <a:avLst/>
              </a:prstGeom>
              <a:blipFill>
                <a:blip r:embed="rId2"/>
                <a:stretch>
                  <a:fillRect l="-1500" b="-12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cs typeface="+mn-ea"/>
                <a:sym typeface="+mn-lt"/>
              </a:rPr>
              <a:t>	</a:t>
            </a:r>
            <a:r>
              <a:rPr lang="zh-CN" altLang="en-US" sz="2800" b="1" dirty="0">
                <a:cs typeface="+mn-ea"/>
                <a:sym typeface="+mn-lt"/>
              </a:rPr>
              <a:t>二进制算数和逻辑运算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536357" y="933247"/>
            <a:ext cx="11390032" cy="595108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2800" dirty="0">
                <a:cs typeface="+mn-ea"/>
                <a:sym typeface="+mn-lt"/>
              </a:rPr>
              <a:t>例：用补码运算计算</a:t>
            </a:r>
            <a:r>
              <a:rPr lang="en-US" altLang="zh-CN" sz="2800" dirty="0">
                <a:cs typeface="+mn-ea"/>
                <a:sym typeface="+mn-lt"/>
              </a:rPr>
              <a:t>11-7=</a:t>
            </a:r>
            <a:r>
              <a:rPr lang="zh-CN" altLang="en-US" sz="2800" dirty="0">
                <a:cs typeface="+mn-ea"/>
                <a:sym typeface="+mn-lt"/>
              </a:rPr>
              <a:t>？</a:t>
            </a:r>
          </a:p>
        </p:txBody>
      </p:sp>
      <p:sp>
        <p:nvSpPr>
          <p:cNvPr id="4" name="矩形 3"/>
          <p:cNvSpPr/>
          <p:nvPr/>
        </p:nvSpPr>
        <p:spPr>
          <a:xfrm>
            <a:off x="3293592" y="4839436"/>
            <a:ext cx="1620957" cy="662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54">
              <a:lnSpc>
                <a:spcPct val="150000"/>
              </a:lnSpc>
              <a:spcBef>
                <a:spcPts val="1000"/>
              </a:spcBef>
              <a:defRPr/>
            </a:pPr>
            <a:r>
              <a:rPr lang="zh-CN" altLang="en-US" sz="2800" dirty="0">
                <a:solidFill>
                  <a:srgbClr val="FF0000"/>
                </a:solidFill>
                <a:cs typeface="+mn-ea"/>
                <a:sym typeface="+mn-lt"/>
              </a:rPr>
              <a:t>取低八位</a:t>
            </a:r>
          </a:p>
        </p:txBody>
      </p:sp>
    </p:spTree>
    <p:extLst>
      <p:ext uri="{BB962C8B-B14F-4D97-AF65-F5344CB8AC3E}">
        <p14:creationId xmlns:p14="http://schemas.microsoft.com/office/powerpoint/2010/main" val="810133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4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cs typeface="+mn-ea"/>
                <a:sym typeface="+mn-lt"/>
              </a:rPr>
              <a:t>	</a:t>
            </a:r>
            <a:r>
              <a:rPr lang="zh-CN" altLang="en-US" sz="2800" b="1" dirty="0">
                <a:cs typeface="+mn-ea"/>
                <a:sym typeface="+mn-lt"/>
              </a:rPr>
              <a:t>二进制算数和逻辑运算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0" name="Rectangle 23"/>
          <p:cNvSpPr>
            <a:spLocks noChangeArrowheads="1"/>
          </p:cNvSpPr>
          <p:nvPr/>
        </p:nvSpPr>
        <p:spPr bwMode="auto">
          <a:xfrm>
            <a:off x="493552" y="1160623"/>
            <a:ext cx="11131086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cs typeface="+mn-ea"/>
                <a:sym typeface="+mn-lt"/>
              </a:rPr>
              <a:t>例：</a:t>
            </a:r>
            <a:r>
              <a:rPr lang="en-US" altLang="zh-CN" sz="2400" b="1" dirty="0">
                <a:cs typeface="+mn-ea"/>
                <a:sym typeface="+mn-lt"/>
              </a:rPr>
              <a:t>A=17H, B=09H, </a:t>
            </a:r>
            <a:r>
              <a:rPr lang="zh-CN" altLang="en-US" sz="2400" b="1" dirty="0">
                <a:cs typeface="+mn-ea"/>
                <a:sym typeface="+mn-lt"/>
              </a:rPr>
              <a:t>计算</a:t>
            </a:r>
            <a:r>
              <a:rPr lang="en-US" altLang="zh-CN" sz="2400" b="1" dirty="0">
                <a:cs typeface="+mn-ea"/>
                <a:sym typeface="+mn-lt"/>
              </a:rPr>
              <a:t>A+B  </a:t>
            </a:r>
            <a:r>
              <a:rPr lang="zh-CN" altLang="en-US" sz="2400" b="1" dirty="0">
                <a:cs typeface="+mn-ea"/>
                <a:sym typeface="+mn-lt"/>
              </a:rPr>
              <a:t>（</a:t>
            </a:r>
            <a:r>
              <a:rPr lang="zh-CN" altLang="en-US" sz="2400" b="1" dirty="0">
                <a:solidFill>
                  <a:srgbClr val="C00000"/>
                </a:solidFill>
                <a:cs typeface="+mn-ea"/>
                <a:sym typeface="+mn-lt"/>
              </a:rPr>
              <a:t>重点关注对</a:t>
            </a:r>
            <a:r>
              <a:rPr lang="en-US" altLang="zh-CN" sz="2400" b="1" dirty="0">
                <a:solidFill>
                  <a:srgbClr val="C00000"/>
                </a:solidFill>
                <a:cs typeface="+mn-ea"/>
                <a:sym typeface="+mn-lt"/>
              </a:rPr>
              <a:t>FLAG</a:t>
            </a:r>
            <a:r>
              <a:rPr lang="zh-CN" altLang="en-US" sz="2400" b="1" dirty="0">
                <a:solidFill>
                  <a:srgbClr val="C00000"/>
                </a:solidFill>
                <a:cs typeface="+mn-ea"/>
                <a:sym typeface="+mn-lt"/>
              </a:rPr>
              <a:t>寄存器各位的影响</a:t>
            </a:r>
            <a:r>
              <a:rPr lang="zh-CN" altLang="en-US" sz="2400" b="1" dirty="0">
                <a:cs typeface="+mn-ea"/>
                <a:sym typeface="+mn-lt"/>
              </a:rPr>
              <a:t>）</a:t>
            </a:r>
            <a:endParaRPr lang="en-US" altLang="zh-CN" sz="1600" dirty="0">
              <a:cs typeface="+mn-ea"/>
              <a:sym typeface="+mn-lt"/>
            </a:endParaRPr>
          </a:p>
        </p:txBody>
      </p:sp>
      <p:sp>
        <p:nvSpPr>
          <p:cNvPr id="11" name="Rectangle 25"/>
          <p:cNvSpPr>
            <a:spLocks noChangeArrowheads="1"/>
          </p:cNvSpPr>
          <p:nvPr/>
        </p:nvSpPr>
        <p:spPr bwMode="auto">
          <a:xfrm>
            <a:off x="1758216" y="5283588"/>
            <a:ext cx="49440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1" hangingPunct="1"/>
            <a:r>
              <a:rPr lang="zh-CN" altLang="en-US" sz="2400" b="1" dirty="0">
                <a:cs typeface="+mn-ea"/>
                <a:sym typeface="+mn-lt"/>
              </a:rPr>
              <a:t>执行后： </a:t>
            </a:r>
            <a:r>
              <a:rPr lang="zh-CN" altLang="en-US" sz="2800" b="1" dirty="0">
                <a:cs typeface="+mn-ea"/>
                <a:sym typeface="+mn-lt"/>
              </a:rPr>
              <a:t>结果为</a:t>
            </a:r>
            <a:r>
              <a:rPr lang="en-US" altLang="zh-CN" sz="2800" b="1" dirty="0">
                <a:cs typeface="+mn-ea"/>
                <a:sym typeface="+mn-lt"/>
              </a:rPr>
              <a:t>20H</a:t>
            </a:r>
            <a:r>
              <a:rPr lang="en-US" altLang="zh-CN" sz="2400" b="1" dirty="0">
                <a:cs typeface="+mn-ea"/>
                <a:sym typeface="+mn-lt"/>
              </a:rPr>
              <a:t> </a:t>
            </a:r>
            <a:endParaRPr lang="en-US" altLang="zh-CN" sz="2800" dirty="0">
              <a:cs typeface="+mn-ea"/>
              <a:sym typeface="+mn-lt"/>
            </a:endParaRPr>
          </a:p>
        </p:txBody>
      </p:sp>
      <p:sp>
        <p:nvSpPr>
          <p:cNvPr id="13" name="Rectangle 26"/>
          <p:cNvSpPr>
            <a:spLocks noChangeArrowheads="1"/>
          </p:cNvSpPr>
          <p:nvPr/>
        </p:nvSpPr>
        <p:spPr bwMode="auto">
          <a:xfrm>
            <a:off x="354380" y="3035133"/>
            <a:ext cx="431031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1" hangingPunct="1"/>
            <a:r>
              <a:rPr lang="en-US" altLang="zh-CN" sz="2400" b="1" dirty="0">
                <a:cs typeface="+mn-ea"/>
                <a:sym typeface="+mn-lt"/>
              </a:rPr>
              <a:t>     </a:t>
            </a:r>
            <a:r>
              <a:rPr lang="zh-CN" altLang="en-US" sz="2400" b="1" dirty="0">
                <a:cs typeface="+mn-ea"/>
                <a:sym typeface="+mn-lt"/>
              </a:rPr>
              <a:t>标志寄存器中的</a:t>
            </a:r>
            <a:r>
              <a:rPr lang="zh-CN" altLang="en-US" sz="2400" b="1" dirty="0">
                <a:solidFill>
                  <a:srgbClr val="FF0000"/>
                </a:solidFill>
                <a:cs typeface="+mn-ea"/>
                <a:sym typeface="+mn-lt"/>
              </a:rPr>
              <a:t>标志位</a:t>
            </a:r>
            <a:r>
              <a:rPr lang="zh-CN" altLang="en-US" sz="2400" b="1" dirty="0">
                <a:cs typeface="+mn-ea"/>
                <a:sym typeface="+mn-lt"/>
              </a:rPr>
              <a:t>：</a:t>
            </a:r>
            <a:r>
              <a:rPr lang="zh-CN" altLang="en-US" sz="1600" dirty="0">
                <a:cs typeface="+mn-ea"/>
                <a:sym typeface="+mn-lt"/>
              </a:rPr>
              <a:t> </a:t>
            </a:r>
            <a:endParaRPr lang="zh-CN" altLang="en-US" sz="2800" dirty="0">
              <a:cs typeface="+mn-ea"/>
              <a:sym typeface="+mn-lt"/>
            </a:endParaRPr>
          </a:p>
        </p:txBody>
      </p:sp>
      <p:grpSp>
        <p:nvGrpSpPr>
          <p:cNvPr id="2" name="Group 57"/>
          <p:cNvGrpSpPr>
            <a:grpSpLocks/>
          </p:cNvGrpSpPr>
          <p:nvPr/>
        </p:nvGrpSpPr>
        <p:grpSpPr bwMode="auto">
          <a:xfrm>
            <a:off x="1758216" y="1696154"/>
            <a:ext cx="9610847" cy="3328598"/>
            <a:chOff x="673" y="2680"/>
            <a:chExt cx="5681" cy="1657"/>
          </a:xfrm>
        </p:grpSpPr>
        <p:sp>
          <p:nvSpPr>
            <p:cNvPr id="15" name="Line 33"/>
            <p:cNvSpPr>
              <a:spLocks noChangeShapeType="1"/>
            </p:cNvSpPr>
            <p:nvPr/>
          </p:nvSpPr>
          <p:spPr bwMode="auto">
            <a:xfrm rot="10800000" flipV="1">
              <a:off x="4068" y="3873"/>
              <a:ext cx="0" cy="254"/>
            </a:xfrm>
            <a:prstGeom prst="line">
              <a:avLst/>
            </a:prstGeom>
            <a:noFill/>
            <a:ln w="19050">
              <a:solidFill>
                <a:srgbClr val="808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cs typeface="+mn-ea"/>
                <a:sym typeface="+mn-lt"/>
              </a:endParaRPr>
            </a:p>
          </p:txBody>
        </p:sp>
        <p:sp>
          <p:nvSpPr>
            <p:cNvPr id="16" name="Rectangle 35"/>
            <p:cNvSpPr>
              <a:spLocks noChangeArrowheads="1"/>
            </p:cNvSpPr>
            <p:nvPr/>
          </p:nvSpPr>
          <p:spPr bwMode="auto">
            <a:xfrm>
              <a:off x="720" y="4107"/>
              <a:ext cx="5634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eaLnBrk="1" hangingPunct="1"/>
              <a:r>
                <a:rPr lang="en-US" altLang="zh-CN" sz="2400" b="1" dirty="0">
                  <a:solidFill>
                    <a:srgbClr val="180D5B"/>
                  </a:solidFill>
                  <a:cs typeface="+mn-ea"/>
                  <a:sym typeface="+mn-lt"/>
                </a:rPr>
                <a:t>CF=0           SF=0           ZF=0         OF=0           PF=0</a:t>
              </a:r>
            </a:p>
          </p:txBody>
        </p:sp>
        <p:grpSp>
          <p:nvGrpSpPr>
            <p:cNvPr id="3" name="Group 37"/>
            <p:cNvGrpSpPr>
              <a:grpSpLocks/>
            </p:cNvGrpSpPr>
            <p:nvPr/>
          </p:nvGrpSpPr>
          <p:grpSpPr bwMode="auto">
            <a:xfrm>
              <a:off x="2335" y="2680"/>
              <a:ext cx="1462" cy="587"/>
              <a:chOff x="2607" y="2637"/>
              <a:chExt cx="1462" cy="587"/>
            </a:xfrm>
          </p:grpSpPr>
          <p:sp>
            <p:nvSpPr>
              <p:cNvPr id="30" name="Rectangle 27"/>
              <p:cNvSpPr>
                <a:spLocks noChangeArrowheads="1"/>
              </p:cNvSpPr>
              <p:nvPr/>
            </p:nvSpPr>
            <p:spPr bwMode="auto">
              <a:xfrm>
                <a:off x="3003" y="2637"/>
                <a:ext cx="1066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sz="2400" b="1" dirty="0">
                    <a:cs typeface="+mn-ea"/>
                    <a:sym typeface="+mn-lt"/>
                  </a:rPr>
                  <a:t>00010111</a:t>
                </a:r>
                <a:r>
                  <a:rPr lang="en-US" altLang="zh-CN" sz="2800" dirty="0">
                    <a:cs typeface="+mn-ea"/>
                    <a:sym typeface="+mn-lt"/>
                  </a:rPr>
                  <a:t> </a:t>
                </a:r>
              </a:p>
            </p:txBody>
          </p:sp>
          <p:sp>
            <p:nvSpPr>
              <p:cNvPr id="31" name="Rectangle 28"/>
              <p:cNvSpPr>
                <a:spLocks noChangeArrowheads="1"/>
              </p:cNvSpPr>
              <p:nvPr/>
            </p:nvSpPr>
            <p:spPr bwMode="auto">
              <a:xfrm>
                <a:off x="2998" y="2785"/>
                <a:ext cx="1066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sz="2400" b="1" dirty="0">
                    <a:cs typeface="+mn-ea"/>
                    <a:sym typeface="+mn-lt"/>
                  </a:rPr>
                  <a:t>00001001</a:t>
                </a:r>
                <a:r>
                  <a:rPr lang="en-US" altLang="zh-CN" sz="2800" dirty="0">
                    <a:cs typeface="+mn-ea"/>
                    <a:sym typeface="+mn-lt"/>
                  </a:rPr>
                  <a:t> </a:t>
                </a:r>
              </a:p>
            </p:txBody>
          </p:sp>
          <p:sp>
            <p:nvSpPr>
              <p:cNvPr id="32" name="Line 29"/>
              <p:cNvSpPr>
                <a:spLocks noChangeShapeType="1"/>
              </p:cNvSpPr>
              <p:nvPr/>
            </p:nvSpPr>
            <p:spPr bwMode="auto">
              <a:xfrm flipH="1" flipV="1">
                <a:off x="2607" y="3015"/>
                <a:ext cx="143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800">
                  <a:cs typeface="+mn-ea"/>
                  <a:sym typeface="+mn-lt"/>
                </a:endParaRPr>
              </a:p>
            </p:txBody>
          </p:sp>
          <p:sp>
            <p:nvSpPr>
              <p:cNvPr id="33" name="Rectangle 31"/>
              <p:cNvSpPr>
                <a:spLocks noChangeArrowheads="1"/>
              </p:cNvSpPr>
              <p:nvPr/>
            </p:nvSpPr>
            <p:spPr bwMode="auto">
              <a:xfrm>
                <a:off x="2784" y="2828"/>
                <a:ext cx="261" cy="1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solidFill>
                      <a:srgbClr val="000000"/>
                    </a:solidFill>
                    <a:cs typeface="+mn-ea"/>
                    <a:sym typeface="+mn-lt"/>
                  </a:rPr>
                  <a:t>＋</a:t>
                </a:r>
              </a:p>
            </p:txBody>
          </p:sp>
          <p:sp>
            <p:nvSpPr>
              <p:cNvPr id="34" name="Rectangle 36"/>
              <p:cNvSpPr>
                <a:spLocks noChangeArrowheads="1"/>
              </p:cNvSpPr>
              <p:nvPr/>
            </p:nvSpPr>
            <p:spPr bwMode="auto">
              <a:xfrm>
                <a:off x="3003" y="2964"/>
                <a:ext cx="1066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sz="2400" b="1" dirty="0">
                    <a:cs typeface="+mn-ea"/>
                    <a:sym typeface="+mn-lt"/>
                  </a:rPr>
                  <a:t>00100000</a:t>
                </a:r>
                <a:r>
                  <a:rPr lang="en-US" altLang="zh-CN" sz="2800" dirty="0">
                    <a:cs typeface="+mn-ea"/>
                    <a:sym typeface="+mn-lt"/>
                  </a:rPr>
                  <a:t> </a:t>
                </a:r>
              </a:p>
            </p:txBody>
          </p:sp>
        </p:grpSp>
        <p:sp>
          <p:nvSpPr>
            <p:cNvPr id="18" name="Rectangle 40"/>
            <p:cNvSpPr>
              <a:spLocks noChangeArrowheads="1"/>
            </p:cNvSpPr>
            <p:nvPr/>
          </p:nvSpPr>
          <p:spPr bwMode="auto">
            <a:xfrm>
              <a:off x="673" y="3633"/>
              <a:ext cx="655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 sz="2400" b="1" dirty="0">
                  <a:solidFill>
                    <a:srgbClr val="180D5B"/>
                  </a:solidFill>
                  <a:cs typeface="+mn-ea"/>
                  <a:sym typeface="+mn-lt"/>
                </a:rPr>
                <a:t>无进位</a:t>
              </a:r>
              <a:endParaRPr lang="zh-CN" altLang="en-US" sz="3600" dirty="0">
                <a:solidFill>
                  <a:srgbClr val="180D5B"/>
                </a:solidFill>
                <a:cs typeface="+mn-ea"/>
                <a:sym typeface="+mn-lt"/>
              </a:endParaRPr>
            </a:p>
          </p:txBody>
        </p:sp>
        <p:sp>
          <p:nvSpPr>
            <p:cNvPr id="19" name="Line 41"/>
            <p:cNvSpPr>
              <a:spLocks noChangeShapeType="1"/>
            </p:cNvSpPr>
            <p:nvPr/>
          </p:nvSpPr>
          <p:spPr bwMode="auto">
            <a:xfrm flipV="1">
              <a:off x="983" y="3863"/>
              <a:ext cx="0" cy="258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cs typeface="+mn-ea"/>
                <a:sym typeface="+mn-lt"/>
              </a:endParaRPr>
            </a:p>
          </p:txBody>
        </p:sp>
        <p:sp>
          <p:nvSpPr>
            <p:cNvPr id="20" name="Rectangle 43"/>
            <p:cNvSpPr>
              <a:spLocks noChangeArrowheads="1"/>
            </p:cNvSpPr>
            <p:nvPr/>
          </p:nvSpPr>
          <p:spPr bwMode="auto">
            <a:xfrm>
              <a:off x="1547" y="3597"/>
              <a:ext cx="1011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 sz="2400" b="1" dirty="0">
                  <a:solidFill>
                    <a:srgbClr val="180D5B"/>
                  </a:solidFill>
                  <a:cs typeface="+mn-ea"/>
                  <a:sym typeface="+mn-lt"/>
                </a:rPr>
                <a:t>最高位是</a:t>
              </a:r>
              <a:r>
                <a:rPr lang="en-US" altLang="zh-CN" sz="2400" b="1" dirty="0">
                  <a:solidFill>
                    <a:srgbClr val="180D5B"/>
                  </a:solidFill>
                  <a:cs typeface="+mn-ea"/>
                  <a:sym typeface="+mn-lt"/>
                </a:rPr>
                <a:t>0</a:t>
              </a:r>
              <a:r>
                <a:rPr lang="en-US" altLang="zh-CN" sz="2800" dirty="0">
                  <a:solidFill>
                    <a:srgbClr val="180D5B"/>
                  </a:solidFill>
                  <a:cs typeface="+mn-ea"/>
                  <a:sym typeface="+mn-lt"/>
                </a:rPr>
                <a:t> </a:t>
              </a:r>
            </a:p>
          </p:txBody>
        </p:sp>
        <p:sp>
          <p:nvSpPr>
            <p:cNvPr id="21" name="Line 44"/>
            <p:cNvSpPr>
              <a:spLocks noChangeShapeType="1"/>
            </p:cNvSpPr>
            <p:nvPr/>
          </p:nvSpPr>
          <p:spPr bwMode="auto">
            <a:xfrm flipV="1">
              <a:off x="1998" y="3867"/>
              <a:ext cx="0" cy="24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cs typeface="+mn-ea"/>
                <a:sym typeface="+mn-lt"/>
              </a:endParaRPr>
            </a:p>
          </p:txBody>
        </p:sp>
        <p:sp>
          <p:nvSpPr>
            <p:cNvPr id="22" name="Rectangle 46"/>
            <p:cNvSpPr>
              <a:spLocks noChangeArrowheads="1"/>
            </p:cNvSpPr>
            <p:nvPr/>
          </p:nvSpPr>
          <p:spPr bwMode="auto">
            <a:xfrm>
              <a:off x="4793" y="3589"/>
              <a:ext cx="1193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400" b="1" dirty="0">
                  <a:solidFill>
                    <a:srgbClr val="000080"/>
                  </a:solidFill>
                  <a:cs typeface="+mn-ea"/>
                  <a:sym typeface="+mn-lt"/>
                </a:rPr>
                <a:t>1</a:t>
              </a:r>
              <a:r>
                <a:rPr lang="zh-CN" altLang="en-US" sz="2400" b="1" dirty="0">
                  <a:solidFill>
                    <a:srgbClr val="000080"/>
                  </a:solidFill>
                  <a:cs typeface="+mn-ea"/>
                  <a:sym typeface="+mn-lt"/>
                </a:rPr>
                <a:t>的个数为奇</a:t>
              </a:r>
              <a:r>
                <a:rPr lang="zh-CN" altLang="en-US" sz="2800" dirty="0">
                  <a:cs typeface="+mn-ea"/>
                  <a:sym typeface="+mn-lt"/>
                </a:rPr>
                <a:t> </a:t>
              </a:r>
            </a:p>
          </p:txBody>
        </p:sp>
        <p:sp>
          <p:nvSpPr>
            <p:cNvPr id="26" name="Line 51"/>
            <p:cNvSpPr>
              <a:spLocks noChangeShapeType="1"/>
            </p:cNvSpPr>
            <p:nvPr/>
          </p:nvSpPr>
          <p:spPr bwMode="auto">
            <a:xfrm>
              <a:off x="5339" y="3868"/>
              <a:ext cx="0" cy="239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prstDash val="dash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>
                <a:cs typeface="+mn-ea"/>
                <a:sym typeface="+mn-lt"/>
              </a:endParaRPr>
            </a:p>
          </p:txBody>
        </p:sp>
        <p:sp>
          <p:nvSpPr>
            <p:cNvPr id="27" name="Rectangle 53"/>
            <p:cNvSpPr>
              <a:spLocks noChangeArrowheads="1"/>
            </p:cNvSpPr>
            <p:nvPr/>
          </p:nvSpPr>
          <p:spPr bwMode="auto">
            <a:xfrm>
              <a:off x="3769" y="3615"/>
              <a:ext cx="717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 sz="2400" b="1" dirty="0">
                  <a:solidFill>
                    <a:srgbClr val="180D5B"/>
                  </a:solidFill>
                  <a:cs typeface="+mn-ea"/>
                  <a:sym typeface="+mn-lt"/>
                </a:rPr>
                <a:t>无溢出</a:t>
              </a:r>
              <a:r>
                <a:rPr lang="zh-CN" altLang="en-US" sz="2800" dirty="0">
                  <a:solidFill>
                    <a:srgbClr val="180D5B"/>
                  </a:solidFill>
                  <a:cs typeface="+mn-ea"/>
                  <a:sym typeface="+mn-lt"/>
                </a:rPr>
                <a:t> </a:t>
              </a:r>
            </a:p>
          </p:txBody>
        </p:sp>
        <p:sp>
          <p:nvSpPr>
            <p:cNvPr id="28" name="Rectangle 55"/>
            <p:cNvSpPr>
              <a:spLocks noChangeArrowheads="1"/>
            </p:cNvSpPr>
            <p:nvPr/>
          </p:nvSpPr>
          <p:spPr bwMode="auto">
            <a:xfrm>
              <a:off x="2472" y="3595"/>
              <a:ext cx="1011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 sz="2400" b="1" dirty="0">
                  <a:solidFill>
                    <a:srgbClr val="180D5B"/>
                  </a:solidFill>
                  <a:cs typeface="+mn-ea"/>
                  <a:sym typeface="+mn-lt"/>
                </a:rPr>
                <a:t>结果不为</a:t>
              </a:r>
              <a:r>
                <a:rPr lang="en-US" altLang="zh-CN" sz="2400" b="1" dirty="0">
                  <a:solidFill>
                    <a:srgbClr val="180D5B"/>
                  </a:solidFill>
                  <a:cs typeface="+mn-ea"/>
                  <a:sym typeface="+mn-lt"/>
                </a:rPr>
                <a:t>0</a:t>
              </a:r>
              <a:r>
                <a:rPr lang="en-US" altLang="zh-CN" sz="2800" dirty="0">
                  <a:solidFill>
                    <a:srgbClr val="180D5B"/>
                  </a:solidFill>
                  <a:cs typeface="+mn-ea"/>
                  <a:sym typeface="+mn-lt"/>
                </a:rPr>
                <a:t> </a:t>
              </a:r>
            </a:p>
          </p:txBody>
        </p:sp>
        <p:sp>
          <p:nvSpPr>
            <p:cNvPr id="29" name="Line 56"/>
            <p:cNvSpPr>
              <a:spLocks noChangeShapeType="1"/>
            </p:cNvSpPr>
            <p:nvPr/>
          </p:nvSpPr>
          <p:spPr bwMode="auto">
            <a:xfrm flipH="1">
              <a:off x="2969" y="3899"/>
              <a:ext cx="0" cy="228"/>
            </a:xfrm>
            <a:prstGeom prst="line">
              <a:avLst/>
            </a:prstGeom>
            <a:noFill/>
            <a:ln w="9525">
              <a:solidFill>
                <a:srgbClr val="FF00FF"/>
              </a:solidFill>
              <a:prstDash val="dash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7986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cs typeface="+mn-ea"/>
                <a:sym typeface="+mn-lt"/>
              </a:rPr>
              <a:t>	</a:t>
            </a:r>
            <a:r>
              <a:rPr lang="zh-CN" altLang="en-US" sz="2800" b="1" dirty="0">
                <a:cs typeface="+mn-ea"/>
                <a:sym typeface="+mn-lt"/>
              </a:rPr>
              <a:t>二进制算数和逻辑运算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1130436" y="1046404"/>
            <a:ext cx="8229600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补码算术运算及溢出判别</a:t>
            </a: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457007" y="1994992"/>
            <a:ext cx="9620296" cy="2232868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zh-CN" altLang="en-US" sz="2400" dirty="0">
                <a:cs typeface="+mn-ea"/>
                <a:sym typeface="+mn-lt"/>
              </a:rPr>
              <a:t>进行带符号数计算时，如果计算的结果超出了二进制带符号数的表达范围，就被称为</a:t>
            </a:r>
            <a:r>
              <a:rPr lang="zh-CN" altLang="en-US" sz="2400" b="1" dirty="0">
                <a:cs typeface="+mn-ea"/>
                <a:sym typeface="+mn-lt"/>
              </a:rPr>
              <a:t>溢出</a:t>
            </a:r>
            <a:r>
              <a:rPr lang="zh-CN" altLang="en-US" sz="2400" dirty="0">
                <a:cs typeface="+mn-ea"/>
                <a:sym typeface="+mn-lt"/>
              </a:rPr>
              <a:t>。</a:t>
            </a:r>
          </a:p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zh-CN" altLang="en-US" sz="2400" dirty="0">
                <a:cs typeface="+mn-ea"/>
                <a:sym typeface="+mn-lt"/>
              </a:rPr>
              <a:t>对运算结果是否有溢出的判断，可通过“双进位”法来进行。</a:t>
            </a:r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1572895" y="1599449"/>
            <a:ext cx="8229600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buFont typeface="+mj-ea"/>
              <a:buAutoNum type="circleNumDbPlain" startAt="3"/>
            </a:pPr>
            <a:r>
              <a:rPr lang="zh-CN" altLang="en-US" sz="3200" b="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溢出判别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2"/>
              <p:cNvSpPr txBox="1">
                <a:spLocks noChangeArrowheads="1"/>
              </p:cNvSpPr>
              <p:nvPr/>
            </p:nvSpPr>
            <p:spPr bwMode="auto">
              <a:xfrm>
                <a:off x="1457007" y="4006564"/>
                <a:ext cx="9407728" cy="2130711"/>
              </a:xfrm>
              <a:prstGeom prst="rect">
                <a:avLst/>
              </a:prstGeom>
              <a:solidFill>
                <a:srgbClr val="FFCC99">
                  <a:alpha val="30196"/>
                </a:srgbClr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9pPr>
              </a:lstStyle>
              <a:p>
                <a:pPr lvl="1" algn="just">
                  <a:spcBef>
                    <a:spcPct val="50000"/>
                  </a:spcBef>
                  <a:buClr>
                    <a:srgbClr val="0000FF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+mn-ea"/>
                          <a:cs typeface="+mn-ea"/>
                          <a:sym typeface="+mn-lt"/>
                        </a:rPr>
                        <m:t>0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+mn-ea"/>
                          <a:cs typeface="+mn-ea"/>
                          <a:sym typeface="+mn-lt"/>
                        </a:rPr>
                        <m:t>𝐹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+mn-ea"/>
                          <a:cs typeface="+mn-ea"/>
                          <a:sym typeface="+mn-lt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+mn-ea"/>
                          <a:cs typeface="+mn-ea"/>
                          <a:sym typeface="+mn-lt"/>
                        </a:rPr>
                        <m:t>𝐶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+mn-ea"/>
                          <a:cs typeface="+mn-ea"/>
                          <a:sym typeface="+mn-lt"/>
                        </a:rPr>
                        <m:t>1+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+mn-ea"/>
                          <a:cs typeface="+mn-ea"/>
                          <a:sym typeface="+mn-lt"/>
                        </a:rPr>
                        <m:t>𝐶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+mn-ea"/>
                          <a:cs typeface="+mn-ea"/>
                          <a:sym typeface="+mn-lt"/>
                        </a:rPr>
                        <m:t>2=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  <a:ea typeface="+mn-ea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+mn-ea"/>
                                  <a:cs typeface="+mn-ea"/>
                                  <a:sym typeface="+mn-lt"/>
                                </a:rPr>
                              </m:ctrlPr>
                            </m:eqArr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+mn-ea"/>
                                  <a:cs typeface="+mn-ea"/>
                                  <a:sym typeface="+mn-lt"/>
                                </a:rPr>
                                <m:t>1     </m:t>
                              </m:r>
                              <m:r>
                                <a:rPr kumimoji="1" lang="zh-CN" altLang="en-US" b="0" i="1" smtClean="0">
                                  <a:latin typeface="Cambria Math" panose="02040503050406030204" pitchFamily="18" charset="0"/>
                                  <a:ea typeface="+mn-ea"/>
                                  <a:cs typeface="+mn-ea"/>
                                  <a:sym typeface="+mn-lt"/>
                                </a:rPr>
                                <m:t>有</m:t>
                              </m:r>
                              <m:r>
                                <a:rPr kumimoji="1" lang="zh-CN" altLang="en-US" i="1">
                                  <a:latin typeface="Cambria Math" panose="02040503050406030204" pitchFamily="18" charset="0"/>
                                  <a:ea typeface="+mn-ea"/>
                                  <a:cs typeface="+mn-ea"/>
                                  <a:sym typeface="+mn-lt"/>
                                </a:rPr>
                                <m:t>溢出</m:t>
                              </m:r>
                            </m:e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+mn-ea"/>
                                  <a:cs typeface="+mn-ea"/>
                                  <a:sym typeface="+mn-lt"/>
                                </a:rPr>
                                <m:t>0     </m:t>
                              </m:r>
                              <m:r>
                                <a:rPr kumimoji="1" lang="zh-CN" altLang="en-US" b="0" i="1" smtClean="0">
                                  <a:latin typeface="Cambria Math" panose="02040503050406030204" pitchFamily="18" charset="0"/>
                                  <a:ea typeface="+mn-ea"/>
                                  <a:cs typeface="+mn-ea"/>
                                  <a:sym typeface="+mn-lt"/>
                                </a:rPr>
                                <m:t>无</m:t>
                              </m:r>
                              <m:r>
                                <a:rPr kumimoji="1" lang="zh-CN" altLang="en-US" i="1">
                                  <a:latin typeface="Cambria Math" panose="02040503050406030204" pitchFamily="18" charset="0"/>
                                  <a:ea typeface="+mn-ea"/>
                                  <a:cs typeface="+mn-ea"/>
                                  <a:sym typeface="+mn-lt"/>
                                </a:rPr>
                                <m:t>溢出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en-US" altLang="zh-CN" sz="3200" dirty="0">
                  <a:latin typeface="+mn-lt"/>
                  <a:ea typeface="+mn-ea"/>
                  <a:cs typeface="+mn-ea"/>
                  <a:sym typeface="+mn-lt"/>
                </a:endParaRPr>
              </a:p>
              <a:p>
                <a:pPr lvl="1" algn="just">
                  <a:spcBef>
                    <a:spcPct val="50000"/>
                  </a:spcBef>
                  <a:buClr>
                    <a:srgbClr val="0000FF"/>
                  </a:buClr>
                  <a:buNone/>
                </a:pPr>
                <a:r>
                  <a:rPr kumimoji="1" lang="zh-CN" altLang="en-US" dirty="0">
                    <a:latin typeface="+mn-lt"/>
                    <a:ea typeface="+mn-ea"/>
                    <a:cs typeface="+mn-ea"/>
                    <a:sym typeface="+mn-lt"/>
                  </a:rPr>
                  <a:t>其中：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+mn-ea"/>
                        <a:cs typeface="+mn-ea"/>
                        <a:sym typeface="+mn-lt"/>
                      </a:rPr>
                      <m:t>𝐶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+mn-ea"/>
                        <a:cs typeface="+mn-ea"/>
                        <a:sym typeface="+mn-lt"/>
                      </a:rPr>
                      <m:t>1</m:t>
                    </m:r>
                  </m:oMath>
                </a14:m>
                <a:r>
                  <a:rPr kumimoji="1" lang="zh-CN" altLang="en-US" dirty="0">
                    <a:latin typeface="+mn-lt"/>
                    <a:ea typeface="+mn-ea"/>
                    <a:cs typeface="+mn-ea"/>
                    <a:sym typeface="+mn-lt"/>
                  </a:rPr>
                  <a:t>是符号位，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+mn-ea"/>
                        <a:cs typeface="+mn-ea"/>
                        <a:sym typeface="+mn-lt"/>
                      </a:rPr>
                      <m:t>𝐶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+mn-ea"/>
                        <a:cs typeface="+mn-ea"/>
                        <a:sym typeface="+mn-lt"/>
                      </a:rPr>
                      <m:t>2</m:t>
                    </m:r>
                  </m:oMath>
                </a14:m>
                <a:r>
                  <a:rPr kumimoji="1" lang="zh-CN" altLang="en-US" dirty="0">
                    <a:latin typeface="+mn-lt"/>
                    <a:ea typeface="+mn-ea"/>
                    <a:cs typeface="+mn-ea"/>
                    <a:sym typeface="+mn-lt"/>
                  </a:rPr>
                  <a:t>是数据最高位向符号位的进位，如有有进位则为</a:t>
                </a:r>
                <a:r>
                  <a:rPr kumimoji="1" lang="en-US" altLang="zh-CN" dirty="0">
                    <a:latin typeface="+mn-lt"/>
                    <a:ea typeface="+mn-ea"/>
                    <a:cs typeface="+mn-ea"/>
                    <a:sym typeface="+mn-lt"/>
                  </a:rPr>
                  <a:t>1</a:t>
                </a:r>
                <a:r>
                  <a:rPr kumimoji="1" lang="zh-CN" altLang="en-US" dirty="0">
                    <a:latin typeface="+mn-lt"/>
                    <a:ea typeface="+mn-ea"/>
                    <a:cs typeface="+mn-ea"/>
                    <a:sym typeface="+mn-lt"/>
                  </a:rPr>
                  <a:t>。</a:t>
                </a:r>
                <a:endParaRPr kumimoji="1" lang="en-US" altLang="zh-CN" sz="3200" dirty="0"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2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57007" y="4006564"/>
                <a:ext cx="9407728" cy="2130711"/>
              </a:xfrm>
              <a:prstGeom prst="rect">
                <a:avLst/>
              </a:prstGeom>
              <a:blipFill>
                <a:blip r:embed="rId2"/>
                <a:stretch>
                  <a:fillRect r="-1162" b="-5899"/>
                </a:stretch>
              </a:blipFill>
              <a:ln w="38100">
                <a:solidFill>
                  <a:srgbClr val="FF66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462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>
            <a:spLocks/>
          </p:cNvSpPr>
          <p:nvPr/>
        </p:nvSpPr>
        <p:spPr>
          <a:xfrm>
            <a:off x="1404756" y="1322163"/>
            <a:ext cx="9686378" cy="801338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zh-CN" altLang="en-US" sz="2400" dirty="0">
                <a:cs typeface="+mn-ea"/>
                <a:sym typeface="+mn-lt"/>
              </a:rPr>
              <a:t>逻辑运算是按照二进制的最小单位</a:t>
            </a:r>
            <a:r>
              <a:rPr lang="en-US" altLang="zh-CN" sz="2400" dirty="0">
                <a:cs typeface="+mn-ea"/>
                <a:sym typeface="+mn-lt"/>
              </a:rPr>
              <a:t>Bit(</a:t>
            </a:r>
            <a:r>
              <a:rPr lang="zh-CN" altLang="en-US" sz="2400" dirty="0">
                <a:cs typeface="+mn-ea"/>
                <a:sym typeface="+mn-lt"/>
              </a:rPr>
              <a:t>位</a:t>
            </a:r>
            <a:r>
              <a:rPr lang="en-US" altLang="zh-CN" sz="2400" dirty="0">
                <a:cs typeface="+mn-ea"/>
                <a:sym typeface="+mn-lt"/>
              </a:rPr>
              <a:t>)</a:t>
            </a:r>
            <a:r>
              <a:rPr lang="zh-CN" altLang="en-US" sz="2400" dirty="0">
                <a:cs typeface="+mn-ea"/>
                <a:sym typeface="+mn-lt"/>
              </a:rPr>
              <a:t>来进行的，常用的逻辑运算有，与、或、异或、非等。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cs typeface="+mn-ea"/>
                <a:sym typeface="+mn-lt"/>
              </a:rPr>
              <a:t>	</a:t>
            </a:r>
            <a:r>
              <a:rPr lang="zh-CN" altLang="en-US" sz="2800" b="1" dirty="0">
                <a:cs typeface="+mn-ea"/>
                <a:sym typeface="+mn-lt"/>
              </a:rPr>
              <a:t>二进制算数和逻辑运算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690459" y="3105956"/>
            <a:ext cx="5690053" cy="1359744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zh-CN" altLang="en-US" sz="2400" dirty="0">
                <a:cs typeface="+mn-ea"/>
                <a:sym typeface="+mn-lt"/>
              </a:rPr>
              <a:t>与</a:t>
            </a:r>
            <a:r>
              <a:rPr lang="en-US" altLang="zh-CN" sz="2400" dirty="0">
                <a:cs typeface="+mn-ea"/>
                <a:sym typeface="+mn-lt"/>
              </a:rPr>
              <a:t>0</a:t>
            </a:r>
            <a:r>
              <a:rPr lang="zh-CN" altLang="en-US" sz="2400" dirty="0">
                <a:cs typeface="+mn-ea"/>
                <a:sym typeface="+mn-lt"/>
              </a:rPr>
              <a:t>相与得</a:t>
            </a:r>
            <a:r>
              <a:rPr lang="en-US" altLang="zh-CN" sz="2400" dirty="0">
                <a:cs typeface="+mn-ea"/>
                <a:sym typeface="+mn-lt"/>
              </a:rPr>
              <a:t>0</a:t>
            </a:r>
            <a:r>
              <a:rPr lang="zh-CN" altLang="en-US" sz="2400" dirty="0">
                <a:cs typeface="+mn-ea"/>
                <a:sym typeface="+mn-lt"/>
              </a:rPr>
              <a:t>，与</a:t>
            </a:r>
            <a:r>
              <a:rPr lang="en-US" altLang="zh-CN" sz="2400" dirty="0">
                <a:cs typeface="+mn-ea"/>
                <a:sym typeface="+mn-lt"/>
              </a:rPr>
              <a:t>1</a:t>
            </a:r>
            <a:r>
              <a:rPr lang="zh-CN" altLang="en-US" sz="2400" dirty="0">
                <a:cs typeface="+mn-ea"/>
                <a:sym typeface="+mn-lt"/>
              </a:rPr>
              <a:t>相与保持不变。</a:t>
            </a:r>
            <a:r>
              <a:rPr lang="zh-CN" altLang="en-US" sz="2400" dirty="0">
                <a:solidFill>
                  <a:srgbClr val="FF0000"/>
                </a:solidFill>
                <a:cs typeface="+mn-ea"/>
                <a:sym typeface="+mn-lt"/>
              </a:rPr>
              <a:t>“与</a:t>
            </a:r>
            <a:r>
              <a:rPr lang="en-US" altLang="zh-CN" sz="2400" dirty="0">
                <a:solidFill>
                  <a:srgbClr val="FF0000"/>
                </a:solidFill>
                <a:cs typeface="+mn-ea"/>
                <a:sym typeface="+mn-lt"/>
              </a:rPr>
              <a:t>0</a:t>
            </a:r>
            <a:r>
              <a:rPr lang="zh-CN" altLang="en-US" sz="2400" dirty="0">
                <a:solidFill>
                  <a:srgbClr val="FF0000"/>
                </a:solidFill>
                <a:cs typeface="+mn-ea"/>
                <a:sym typeface="+mn-lt"/>
              </a:rPr>
              <a:t>”运算可以将指定位清</a:t>
            </a:r>
            <a:r>
              <a:rPr lang="en-US" altLang="zh-CN" sz="2400" dirty="0">
                <a:solidFill>
                  <a:srgbClr val="FF0000"/>
                </a:solidFill>
                <a:cs typeface="+mn-ea"/>
                <a:sym typeface="+mn-lt"/>
              </a:rPr>
              <a:t>0</a:t>
            </a:r>
            <a:r>
              <a:rPr lang="zh-CN" altLang="en-US" sz="2400" dirty="0">
                <a:solidFill>
                  <a:srgbClr val="FF0000"/>
                </a:solidFill>
                <a:cs typeface="+mn-ea"/>
                <a:sym typeface="+mn-lt"/>
              </a:rPr>
              <a:t>。 </a:t>
            </a:r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1404756" y="2695037"/>
            <a:ext cx="8229600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buFont typeface="+mj-ea"/>
              <a:buAutoNum type="circleNumDbPlain"/>
            </a:pPr>
            <a:r>
              <a:rPr lang="zh-CN" altLang="en-US" sz="3200" b="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与运算</a:t>
            </a:r>
          </a:p>
        </p:txBody>
      </p:sp>
      <p:sp>
        <p:nvSpPr>
          <p:cNvPr id="10" name="内容占位符 2"/>
          <p:cNvSpPr txBox="1">
            <a:spLocks/>
          </p:cNvSpPr>
          <p:nvPr/>
        </p:nvSpPr>
        <p:spPr>
          <a:xfrm>
            <a:off x="1599021" y="4479809"/>
            <a:ext cx="5666698" cy="1359744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2400" dirty="0">
                <a:cs typeface="+mn-ea"/>
                <a:sym typeface="+mn-lt"/>
              </a:rPr>
              <a:t>与</a:t>
            </a:r>
            <a:r>
              <a:rPr lang="en-US" altLang="zh-CN" sz="2400" dirty="0">
                <a:cs typeface="+mn-ea"/>
                <a:sym typeface="+mn-lt"/>
              </a:rPr>
              <a:t>1</a:t>
            </a:r>
            <a:r>
              <a:rPr lang="zh-CN" altLang="en-US" sz="2400" dirty="0">
                <a:cs typeface="+mn-ea"/>
                <a:sym typeface="+mn-lt"/>
              </a:rPr>
              <a:t>相或得</a:t>
            </a:r>
            <a:r>
              <a:rPr lang="en-US" altLang="zh-CN" sz="2400" dirty="0">
                <a:cs typeface="+mn-ea"/>
                <a:sym typeface="+mn-lt"/>
              </a:rPr>
              <a:t>1</a:t>
            </a:r>
            <a:r>
              <a:rPr lang="zh-CN" altLang="en-US" sz="2400" dirty="0">
                <a:cs typeface="+mn-ea"/>
                <a:sym typeface="+mn-lt"/>
              </a:rPr>
              <a:t>，与</a:t>
            </a:r>
            <a:r>
              <a:rPr lang="en-US" altLang="zh-CN" sz="2400" dirty="0">
                <a:cs typeface="+mn-ea"/>
                <a:sym typeface="+mn-lt"/>
              </a:rPr>
              <a:t>0</a:t>
            </a:r>
            <a:r>
              <a:rPr lang="zh-CN" altLang="en-US" sz="2400" dirty="0">
                <a:cs typeface="+mn-ea"/>
                <a:sym typeface="+mn-lt"/>
              </a:rPr>
              <a:t>相或保持不变。</a:t>
            </a:r>
            <a:r>
              <a:rPr lang="zh-CN" altLang="en-US" sz="2400" dirty="0">
                <a:solidFill>
                  <a:srgbClr val="FF0000"/>
                </a:solidFill>
                <a:cs typeface="+mn-ea"/>
                <a:sym typeface="+mn-lt"/>
              </a:rPr>
              <a:t>“或</a:t>
            </a:r>
            <a:r>
              <a:rPr lang="en-US" altLang="zh-CN" sz="2400" dirty="0">
                <a:solidFill>
                  <a:srgbClr val="FF0000"/>
                </a:solidFill>
                <a:cs typeface="+mn-ea"/>
                <a:sym typeface="+mn-lt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cs typeface="+mn-ea"/>
                <a:sym typeface="+mn-lt"/>
              </a:rPr>
              <a:t>”运算可以将指定位置</a:t>
            </a:r>
            <a:r>
              <a:rPr lang="en-US" altLang="zh-CN" sz="2400" dirty="0">
                <a:solidFill>
                  <a:srgbClr val="FF0000"/>
                </a:solidFill>
                <a:cs typeface="+mn-ea"/>
                <a:sym typeface="+mn-lt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cs typeface="+mn-ea"/>
                <a:sym typeface="+mn-lt"/>
              </a:rPr>
              <a:t>。</a:t>
            </a:r>
            <a:endParaRPr lang="en-US" altLang="zh-CN" sz="2400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sp>
        <p:nvSpPr>
          <p:cNvPr id="11" name="标题 1"/>
          <p:cNvSpPr txBox="1">
            <a:spLocks/>
          </p:cNvSpPr>
          <p:nvPr/>
        </p:nvSpPr>
        <p:spPr>
          <a:xfrm>
            <a:off x="1404756" y="4154557"/>
            <a:ext cx="8229600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buFont typeface="+mj-ea"/>
              <a:buAutoNum type="circleNumDbPlain" startAt="2"/>
            </a:pPr>
            <a:r>
              <a:rPr lang="zh-CN" altLang="en-US" sz="3200" b="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或运算</a:t>
            </a:r>
          </a:p>
        </p:txBody>
      </p:sp>
      <p:sp>
        <p:nvSpPr>
          <p:cNvPr id="14" name="标题 1"/>
          <p:cNvSpPr txBox="1">
            <a:spLocks/>
          </p:cNvSpPr>
          <p:nvPr/>
        </p:nvSpPr>
        <p:spPr>
          <a:xfrm>
            <a:off x="1404756" y="932301"/>
            <a:ext cx="8229600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逻辑运算</a:t>
            </a:r>
          </a:p>
        </p:txBody>
      </p:sp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7459984" y="2164672"/>
            <a:ext cx="3710073" cy="1882567"/>
          </a:xfrm>
          <a:prstGeom prst="rect">
            <a:avLst/>
          </a:prstGeom>
          <a:solidFill>
            <a:srgbClr val="FFCC99">
              <a:alpha val="30196"/>
            </a:srgbClr>
          </a:solidFill>
          <a:ln w="38100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lvl="1">
              <a:lnSpc>
                <a:spcPct val="150000"/>
              </a:lnSpc>
              <a:spcBef>
                <a:spcPts val="500"/>
              </a:spcBef>
              <a:buNone/>
              <a:defRPr/>
            </a:pPr>
            <a:endParaRPr lang="en-US" altLang="zh-CN" sz="2400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  <a:p>
            <a:pPr lvl="1">
              <a:lnSpc>
                <a:spcPct val="150000"/>
              </a:lnSpc>
              <a:spcBef>
                <a:spcPts val="500"/>
              </a:spcBef>
              <a:buNone/>
              <a:defRPr/>
            </a:pPr>
            <a:endParaRPr lang="en-US" altLang="zh-CN" sz="2400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  <a:p>
            <a:pPr lvl="1">
              <a:lnSpc>
                <a:spcPct val="150000"/>
              </a:lnSpc>
              <a:spcBef>
                <a:spcPts val="500"/>
              </a:spcBef>
              <a:buNone/>
              <a:defRPr/>
            </a:pPr>
            <a:endParaRPr lang="en-US" altLang="zh-CN" sz="2400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8" name="Text Box 2"/>
          <p:cNvSpPr txBox="1">
            <a:spLocks noChangeArrowheads="1"/>
          </p:cNvSpPr>
          <p:nvPr/>
        </p:nvSpPr>
        <p:spPr bwMode="auto">
          <a:xfrm>
            <a:off x="7459984" y="4402850"/>
            <a:ext cx="3710073" cy="1882567"/>
          </a:xfrm>
          <a:prstGeom prst="rect">
            <a:avLst/>
          </a:prstGeom>
          <a:solidFill>
            <a:srgbClr val="FFCC99">
              <a:alpha val="30196"/>
            </a:srgbClr>
          </a:solidFill>
          <a:ln w="38100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lvl="1">
              <a:lnSpc>
                <a:spcPct val="150000"/>
              </a:lnSpc>
              <a:spcBef>
                <a:spcPts val="500"/>
              </a:spcBef>
              <a:buNone/>
              <a:defRPr/>
            </a:pPr>
            <a:endParaRPr lang="en-US" altLang="zh-CN" sz="2400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  <a:p>
            <a:pPr lvl="1">
              <a:lnSpc>
                <a:spcPct val="150000"/>
              </a:lnSpc>
              <a:spcBef>
                <a:spcPts val="500"/>
              </a:spcBef>
              <a:buNone/>
              <a:defRPr/>
            </a:pPr>
            <a:endParaRPr lang="en-US" altLang="zh-CN" sz="2400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  <a:p>
            <a:pPr lvl="1">
              <a:lnSpc>
                <a:spcPct val="150000"/>
              </a:lnSpc>
              <a:spcBef>
                <a:spcPts val="500"/>
              </a:spcBef>
              <a:buNone/>
              <a:defRPr/>
            </a:pPr>
            <a:endParaRPr lang="en-US" altLang="zh-CN" sz="2400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表格 18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8130701" y="4443247"/>
              <a:ext cx="2368638" cy="1764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921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7652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88000">
                    <a:tc>
                      <a:txBody>
                        <a:bodyPr/>
                        <a:lstStyle/>
                        <a:p>
                          <a:pPr marL="0" algn="r" defTabSz="914354" rtl="0" eaLnBrk="1" latinLnBrk="0" hangingPunct="1"/>
                          <a:r>
                            <a:rPr kumimoji="1" lang="en-US" altLang="zh-CN" sz="22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ea"/>
                              <a:sym typeface="+mn-lt"/>
                            </a:rPr>
                            <a:t>0 0 1 1 B</a:t>
                          </a:r>
                          <a:endParaRPr kumimoji="1" lang="zh-CN" altLang="en-US" sz="2200" b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5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zh-CN" altLang="en-US" sz="2200" b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8800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kumimoji="1" lang="en-US" altLang="zh-CN" sz="2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ea"/>
                                  <a:sym typeface="+mn-lt"/>
                                </a:rPr>
                                <m:t>|</m:t>
                              </m:r>
                            </m:oMath>
                          </a14:m>
                          <a:r>
                            <a:rPr kumimoji="1" lang="en-US" altLang="zh-CN" sz="2200" b="1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ea"/>
                              <a:sym typeface="+mn-lt"/>
                            </a:rPr>
                            <a:t>  0 1 0</a:t>
                          </a:r>
                          <a:r>
                            <a:rPr kumimoji="1" lang="en-US" altLang="zh-CN" sz="2200" b="1" baseline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ea"/>
                              <a:sym typeface="+mn-lt"/>
                            </a:rPr>
                            <a:t> 1 </a:t>
                          </a:r>
                          <a:r>
                            <a:rPr kumimoji="1" lang="en-US" altLang="zh-CN" sz="2200" b="1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ea"/>
                              <a:sym typeface="+mn-lt"/>
                            </a:rPr>
                            <a:t>B</a:t>
                          </a:r>
                          <a:endParaRPr lang="zh-CN" altLang="en-US" sz="2200" b="1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5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200" b="1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880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kumimoji="1" lang="en-US" altLang="zh-CN" sz="2200" b="1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ea"/>
                              <a:sym typeface="+mn-lt"/>
                            </a:rPr>
                            <a:t>0 1 1 1 B</a:t>
                          </a:r>
                          <a:endParaRPr lang="zh-CN" altLang="en-US" sz="2200" b="1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5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200" b="1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表格 1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53160342"/>
                  </p:ext>
                </p:extLst>
              </p:nvPr>
            </p:nvGraphicFramePr>
            <p:xfrm>
              <a:off x="8130701" y="4443247"/>
              <a:ext cx="2368638" cy="1764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921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7652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88000">
                    <a:tc>
                      <a:txBody>
                        <a:bodyPr/>
                        <a:lstStyle/>
                        <a:p>
                          <a:pPr marL="0" algn="r" defTabSz="914354" rtl="0" eaLnBrk="1" latinLnBrk="0" hangingPunct="1"/>
                          <a:r>
                            <a:rPr kumimoji="1" lang="en-US" altLang="zh-CN" sz="22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ea"/>
                              <a:sym typeface="+mn-lt"/>
                            </a:rPr>
                            <a:t>0 0 1 1 B</a:t>
                          </a:r>
                          <a:endParaRPr kumimoji="1" lang="zh-CN" altLang="en-US" sz="2200" b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5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zh-CN" altLang="en-US" sz="2200" b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88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00000" r="-25321" b="-1072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5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200" b="1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880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kumimoji="1" lang="en-US" altLang="zh-CN" sz="2200" b="1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ea"/>
                              <a:sym typeface="+mn-lt"/>
                            </a:rPr>
                            <a:t>0 1 1 1 B</a:t>
                          </a:r>
                          <a:endParaRPr lang="zh-CN" altLang="en-US" sz="2200" b="1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5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200" b="1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表格 19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8130701" y="2211614"/>
              <a:ext cx="2368638" cy="1764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921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7652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88000">
                    <a:tc>
                      <a:txBody>
                        <a:bodyPr/>
                        <a:lstStyle/>
                        <a:p>
                          <a:pPr marL="0" algn="r" defTabSz="914354" rtl="0" eaLnBrk="1" latinLnBrk="0" hangingPunct="1"/>
                          <a:r>
                            <a:rPr kumimoji="1" lang="en-US" altLang="zh-CN" sz="22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ea"/>
                              <a:sym typeface="+mn-lt"/>
                            </a:rPr>
                            <a:t>0 0 1 1 B</a:t>
                          </a:r>
                          <a:endParaRPr kumimoji="1" lang="zh-CN" altLang="en-US" sz="2200" b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5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zh-CN" altLang="en-US" sz="2200" b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8800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kumimoji="1" lang="en-US" altLang="zh-CN" sz="2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ea"/>
                                  <a:sym typeface="+mn-lt"/>
                                </a:rPr>
                                <m:t>&amp;</m:t>
                              </m:r>
                            </m:oMath>
                          </a14:m>
                          <a:r>
                            <a:rPr kumimoji="1" lang="en-US" altLang="zh-CN" sz="2200" b="1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ea"/>
                              <a:sym typeface="+mn-lt"/>
                            </a:rPr>
                            <a:t>  0 1 0</a:t>
                          </a:r>
                          <a:r>
                            <a:rPr kumimoji="1" lang="en-US" altLang="zh-CN" sz="2200" b="1" baseline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ea"/>
                              <a:sym typeface="+mn-lt"/>
                            </a:rPr>
                            <a:t> 1 </a:t>
                          </a:r>
                          <a:r>
                            <a:rPr kumimoji="1" lang="en-US" altLang="zh-CN" sz="2200" b="1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ea"/>
                              <a:sym typeface="+mn-lt"/>
                            </a:rPr>
                            <a:t>B</a:t>
                          </a:r>
                          <a:endParaRPr lang="zh-CN" altLang="en-US" sz="2200" b="1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5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200" b="1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880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kumimoji="1" lang="en-US" altLang="zh-CN" sz="2200" b="1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ea"/>
                              <a:sym typeface="+mn-lt"/>
                            </a:rPr>
                            <a:t>0 0 0 1 B</a:t>
                          </a:r>
                          <a:endParaRPr lang="zh-CN" altLang="en-US" sz="2200" b="1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5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200" b="1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表格 1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6636763"/>
                  </p:ext>
                </p:extLst>
              </p:nvPr>
            </p:nvGraphicFramePr>
            <p:xfrm>
              <a:off x="8130701" y="2211614"/>
              <a:ext cx="2368638" cy="1764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921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7652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88000">
                    <a:tc>
                      <a:txBody>
                        <a:bodyPr/>
                        <a:lstStyle/>
                        <a:p>
                          <a:pPr marL="0" algn="r" defTabSz="914354" rtl="0" eaLnBrk="1" latinLnBrk="0" hangingPunct="1"/>
                          <a:r>
                            <a:rPr kumimoji="1" lang="en-US" altLang="zh-CN" sz="22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ea"/>
                              <a:sym typeface="+mn-lt"/>
                            </a:rPr>
                            <a:t>0 0 1 1 B</a:t>
                          </a:r>
                          <a:endParaRPr kumimoji="1" lang="zh-CN" altLang="en-US" sz="2200" b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5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zh-CN" altLang="en-US" sz="2200" b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88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00000" r="-25321" b="-1061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5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200" b="1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880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kumimoji="1" lang="en-US" altLang="zh-CN" sz="2200" b="1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ea"/>
                              <a:sym typeface="+mn-lt"/>
                            </a:rPr>
                            <a:t>0 0 0 1 B</a:t>
                          </a:r>
                          <a:endParaRPr lang="zh-CN" altLang="en-US" sz="2200" b="1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5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200" b="1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54457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6" grpId="0" animBg="1"/>
      <p:bldP spid="18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cs typeface="+mn-ea"/>
                <a:sym typeface="+mn-lt"/>
              </a:rPr>
              <a:t>	</a:t>
            </a:r>
            <a:r>
              <a:rPr lang="zh-CN" altLang="en-US" sz="2800" b="1" dirty="0">
                <a:cs typeface="+mn-ea"/>
                <a:sym typeface="+mn-lt"/>
              </a:rPr>
              <a:t>二进制算数和逻辑运算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821093" y="1564538"/>
            <a:ext cx="6722707" cy="1359744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2800" dirty="0">
                <a:cs typeface="+mn-ea"/>
                <a:sym typeface="+mn-lt"/>
              </a:rPr>
              <a:t>与</a:t>
            </a:r>
            <a:r>
              <a:rPr lang="en-US" altLang="zh-CN" sz="2800" dirty="0">
                <a:cs typeface="+mn-ea"/>
                <a:sym typeface="+mn-lt"/>
              </a:rPr>
              <a:t>1</a:t>
            </a:r>
            <a:r>
              <a:rPr lang="zh-CN" altLang="en-US" sz="2800" dirty="0">
                <a:cs typeface="+mn-ea"/>
                <a:sym typeface="+mn-lt"/>
              </a:rPr>
              <a:t>相异或等于取反，与</a:t>
            </a:r>
            <a:r>
              <a:rPr lang="en-US" altLang="zh-CN" sz="2800" dirty="0">
                <a:cs typeface="+mn-ea"/>
                <a:sym typeface="+mn-lt"/>
              </a:rPr>
              <a:t>0</a:t>
            </a:r>
            <a:r>
              <a:rPr lang="zh-CN" altLang="en-US" sz="2800" dirty="0">
                <a:cs typeface="+mn-ea"/>
                <a:sym typeface="+mn-lt"/>
              </a:rPr>
              <a:t>相异或保持不变。</a:t>
            </a:r>
            <a:endParaRPr lang="en-US" altLang="zh-CN" sz="2800" dirty="0">
              <a:cs typeface="+mn-ea"/>
              <a:sym typeface="+mn-lt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2800" dirty="0">
                <a:cs typeface="+mn-ea"/>
                <a:sym typeface="+mn-lt"/>
              </a:rPr>
              <a:t>异或运算可以对指定位求反。</a:t>
            </a:r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1261063" y="1153619"/>
            <a:ext cx="8229600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buFont typeface="+mj-ea"/>
              <a:buAutoNum type="circleNumDbPlain" startAt="3"/>
            </a:pPr>
            <a:r>
              <a:rPr lang="zh-CN" altLang="en-US" sz="3200" b="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异或运算</a:t>
            </a:r>
          </a:p>
        </p:txBody>
      </p:sp>
      <p:sp>
        <p:nvSpPr>
          <p:cNvPr id="10" name="内容占位符 2"/>
          <p:cNvSpPr txBox="1">
            <a:spLocks/>
          </p:cNvSpPr>
          <p:nvPr/>
        </p:nvSpPr>
        <p:spPr>
          <a:xfrm>
            <a:off x="932814" y="3737108"/>
            <a:ext cx="5666698" cy="1359744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2800" dirty="0">
                <a:cs typeface="+mn-ea"/>
                <a:sym typeface="+mn-lt"/>
              </a:rPr>
              <a:t>按位取反，利用非运算可以对所有位求反。</a:t>
            </a:r>
          </a:p>
        </p:txBody>
      </p:sp>
      <p:sp>
        <p:nvSpPr>
          <p:cNvPr id="11" name="标题 1"/>
          <p:cNvSpPr txBox="1">
            <a:spLocks/>
          </p:cNvSpPr>
          <p:nvPr/>
        </p:nvSpPr>
        <p:spPr>
          <a:xfrm>
            <a:off x="1261061" y="3306778"/>
            <a:ext cx="8229600" cy="496585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buFont typeface="+mj-ea"/>
              <a:buAutoNum type="circleNumDbPlain" startAt="4"/>
            </a:pPr>
            <a:r>
              <a:rPr lang="zh-CN" altLang="en-US" sz="3200" b="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非运算</a:t>
            </a:r>
          </a:p>
        </p:txBody>
      </p:sp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7635624" y="1424211"/>
            <a:ext cx="3710073" cy="1882567"/>
          </a:xfrm>
          <a:prstGeom prst="rect">
            <a:avLst/>
          </a:prstGeom>
          <a:solidFill>
            <a:srgbClr val="FFCC99">
              <a:alpha val="30196"/>
            </a:srgbClr>
          </a:solidFill>
          <a:ln w="38100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lvl="1">
              <a:lnSpc>
                <a:spcPct val="150000"/>
              </a:lnSpc>
              <a:spcBef>
                <a:spcPts val="500"/>
              </a:spcBef>
              <a:buNone/>
              <a:defRPr/>
            </a:pPr>
            <a:endParaRPr lang="en-US" altLang="zh-CN" sz="2400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  <a:p>
            <a:pPr lvl="1">
              <a:lnSpc>
                <a:spcPct val="150000"/>
              </a:lnSpc>
              <a:spcBef>
                <a:spcPts val="500"/>
              </a:spcBef>
              <a:buNone/>
              <a:defRPr/>
            </a:pPr>
            <a:endParaRPr lang="en-US" altLang="zh-CN" sz="2400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  <a:p>
            <a:pPr lvl="1">
              <a:lnSpc>
                <a:spcPct val="150000"/>
              </a:lnSpc>
              <a:spcBef>
                <a:spcPts val="500"/>
              </a:spcBef>
              <a:buNone/>
              <a:defRPr/>
            </a:pPr>
            <a:endParaRPr lang="en-US" altLang="zh-CN" sz="2400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8" name="Text Box 2"/>
          <p:cNvSpPr txBox="1">
            <a:spLocks noChangeArrowheads="1"/>
          </p:cNvSpPr>
          <p:nvPr/>
        </p:nvSpPr>
        <p:spPr bwMode="auto">
          <a:xfrm>
            <a:off x="7635624" y="3662389"/>
            <a:ext cx="3710073" cy="1882567"/>
          </a:xfrm>
          <a:prstGeom prst="rect">
            <a:avLst/>
          </a:prstGeom>
          <a:solidFill>
            <a:srgbClr val="FFCC99">
              <a:alpha val="30196"/>
            </a:srgbClr>
          </a:solidFill>
          <a:ln w="38100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lvl="1">
              <a:lnSpc>
                <a:spcPct val="150000"/>
              </a:lnSpc>
              <a:spcBef>
                <a:spcPts val="500"/>
              </a:spcBef>
              <a:buNone/>
              <a:defRPr/>
            </a:pPr>
            <a:endParaRPr lang="en-US" altLang="zh-CN" sz="2400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  <a:p>
            <a:pPr lvl="1">
              <a:lnSpc>
                <a:spcPct val="150000"/>
              </a:lnSpc>
              <a:spcBef>
                <a:spcPts val="500"/>
              </a:spcBef>
              <a:buNone/>
              <a:defRPr/>
            </a:pPr>
            <a:endParaRPr lang="en-US" altLang="zh-CN" sz="2400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  <a:p>
            <a:pPr lvl="1">
              <a:lnSpc>
                <a:spcPct val="150000"/>
              </a:lnSpc>
              <a:spcBef>
                <a:spcPts val="500"/>
              </a:spcBef>
              <a:buNone/>
              <a:defRPr/>
            </a:pPr>
            <a:endParaRPr lang="en-US" altLang="zh-CN" sz="2400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表格 18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8634665" y="3709770"/>
              <a:ext cx="1892110" cy="157641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921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98841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1"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ea"/>
                                        <a:sym typeface="+mn-lt"/>
                                      </a:rPr>
                                    </m:ctrlPr>
                                  </m:fPr>
                                  <m:num/>
                                  <m:den>
                                    <m:r>
                                      <a:rPr kumimoji="1"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ea"/>
                                        <a:sym typeface="+mn-lt"/>
                                      </a:rPr>
                                      <m:t>𝟎</m:t>
                                    </m:r>
                                    <m:r>
                                      <a:rPr kumimoji="1"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ea"/>
                                        <a:sym typeface="+mn-lt"/>
                                      </a:rPr>
                                      <m:t> </m:t>
                                    </m:r>
                                    <m:r>
                                      <a:rPr kumimoji="1"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ea"/>
                                        <a:sym typeface="+mn-lt"/>
                                      </a:rPr>
                                      <m:t>𝟏</m:t>
                                    </m:r>
                                    <m:r>
                                      <a:rPr kumimoji="1"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ea"/>
                                        <a:sym typeface="+mn-lt"/>
                                      </a:rPr>
                                      <m:t> </m:t>
                                    </m:r>
                                    <m:r>
                                      <a:rPr kumimoji="1"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ea"/>
                                        <a:sym typeface="+mn-lt"/>
                                      </a:rPr>
                                      <m:t>𝟏</m:t>
                                    </m:r>
                                    <m:r>
                                      <a:rPr kumimoji="1"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ea"/>
                                        <a:sym typeface="+mn-lt"/>
                                      </a:rPr>
                                      <m:t> </m:t>
                                    </m:r>
                                    <m:r>
                                      <a:rPr kumimoji="1"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ea"/>
                                        <a:sym typeface="+mn-lt"/>
                                      </a:rPr>
                                      <m:t>𝟎</m:t>
                                    </m:r>
                                    <m:r>
                                      <a:rPr kumimoji="1"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ea"/>
                                        <a:sym typeface="+mn-lt"/>
                                      </a:rPr>
                                      <m:t> </m:t>
                                    </m:r>
                                    <m:r>
                                      <a:rPr kumimoji="1"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ea"/>
                                        <a:sym typeface="+mn-lt"/>
                                      </a:rPr>
                                      <m:t>𝑩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 sz="2400" b="1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88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CN" sz="2200" b="1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ea"/>
                              <a:sym typeface="+mn-lt"/>
                            </a:rPr>
                            <a:t>1 0 0 1 B</a:t>
                          </a:r>
                          <a:endParaRPr lang="zh-CN" altLang="en-US" sz="2200" b="1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表格 1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7062131"/>
                  </p:ext>
                </p:extLst>
              </p:nvPr>
            </p:nvGraphicFramePr>
            <p:xfrm>
              <a:off x="8634665" y="3709770"/>
              <a:ext cx="1892110" cy="157641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921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98841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322" b="-631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88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CN" sz="2200" b="1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ea"/>
                              <a:sym typeface="+mn-lt"/>
                            </a:rPr>
                            <a:t>1 0 0 1 B</a:t>
                          </a:r>
                          <a:endParaRPr lang="zh-CN" altLang="en-US" sz="2200" b="1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表格 19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8306341" y="1471153"/>
              <a:ext cx="2368638" cy="1764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921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7652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88000">
                    <a:tc>
                      <a:txBody>
                        <a:bodyPr/>
                        <a:lstStyle/>
                        <a:p>
                          <a:pPr marL="0" algn="r" defTabSz="914354" rtl="0" eaLnBrk="1" latinLnBrk="0" hangingPunct="1"/>
                          <a:r>
                            <a:rPr kumimoji="1" lang="en-US" altLang="zh-CN" sz="22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ea"/>
                              <a:sym typeface="+mn-lt"/>
                            </a:rPr>
                            <a:t>0 0 1 1 B</a:t>
                          </a:r>
                          <a:endParaRPr kumimoji="1" lang="zh-CN" altLang="en-US" sz="2200" b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5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zh-CN" altLang="en-US" sz="2200" b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8800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kumimoji="1" lang="en-US" altLang="zh-CN" sz="2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ea"/>
                                  <a:sym typeface="+mn-lt"/>
                                </a:rPr>
                                <m:t>⨁</m:t>
                              </m:r>
                            </m:oMath>
                          </a14:m>
                          <a:r>
                            <a:rPr kumimoji="1" lang="en-US" altLang="zh-CN" sz="2200" b="1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ea"/>
                              <a:sym typeface="+mn-lt"/>
                            </a:rPr>
                            <a:t>  0 1 0</a:t>
                          </a:r>
                          <a:r>
                            <a:rPr kumimoji="1" lang="en-US" altLang="zh-CN" sz="2200" b="1" baseline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ea"/>
                              <a:sym typeface="+mn-lt"/>
                            </a:rPr>
                            <a:t> 1 </a:t>
                          </a:r>
                          <a:r>
                            <a:rPr kumimoji="1" lang="en-US" altLang="zh-CN" sz="2200" b="1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ea"/>
                              <a:sym typeface="+mn-lt"/>
                            </a:rPr>
                            <a:t>B</a:t>
                          </a:r>
                          <a:endParaRPr lang="zh-CN" altLang="en-US" sz="2200" b="1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5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200" b="1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880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kumimoji="1" lang="en-US" altLang="zh-CN" sz="2200" b="1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ea"/>
                              <a:sym typeface="+mn-lt"/>
                            </a:rPr>
                            <a:t>0 1 1 0 B</a:t>
                          </a:r>
                          <a:endParaRPr lang="zh-CN" altLang="en-US" sz="2200" b="1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5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200" b="1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表格 1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3027727"/>
                  </p:ext>
                </p:extLst>
              </p:nvPr>
            </p:nvGraphicFramePr>
            <p:xfrm>
              <a:off x="8306341" y="1471153"/>
              <a:ext cx="2368638" cy="1764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921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7652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88000">
                    <a:tc>
                      <a:txBody>
                        <a:bodyPr/>
                        <a:lstStyle/>
                        <a:p>
                          <a:pPr marL="0" algn="r" defTabSz="914354" rtl="0" eaLnBrk="1" latinLnBrk="0" hangingPunct="1"/>
                          <a:r>
                            <a:rPr kumimoji="1" lang="en-US" altLang="zh-CN" sz="2200" b="1" kern="120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ea"/>
                              <a:sym typeface="+mn-lt"/>
                            </a:rPr>
                            <a:t>0 0 1 1 B</a:t>
                          </a:r>
                          <a:endParaRPr kumimoji="1" lang="zh-CN" altLang="en-US" sz="2200" b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5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zh-CN" altLang="en-US" sz="2200" b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88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01042" r="-25321" b="-1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5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200" b="1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880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kumimoji="1" lang="en-US" altLang="zh-CN" sz="2200" b="1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ea"/>
                              <a:sym typeface="+mn-lt"/>
                            </a:rPr>
                            <a:t>0 1 1 0 B</a:t>
                          </a:r>
                          <a:endParaRPr lang="zh-CN" altLang="en-US" sz="2200" b="1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5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200" b="1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ea"/>
                            <a:sym typeface="+mn-lt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8710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6" grpId="0" animBg="1"/>
      <p:bldP spid="18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cs typeface="+mn-ea"/>
                <a:sym typeface="+mn-lt"/>
              </a:rPr>
              <a:t>	</a:t>
            </a:r>
            <a:r>
              <a:rPr lang="zh-CN" altLang="en-US" sz="2800" b="1" dirty="0">
                <a:cs typeface="+mn-ea"/>
                <a:sym typeface="+mn-lt"/>
              </a:rPr>
              <a:t>二进制算数和逻辑运算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398912" y="1201788"/>
            <a:ext cx="11618870" cy="700868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2800" dirty="0">
                <a:cs typeface="+mn-ea"/>
                <a:sym typeface="+mn-lt"/>
              </a:rPr>
              <a:t>例</a:t>
            </a:r>
            <a:r>
              <a:rPr lang="en-US" altLang="zh-CN" sz="2800" dirty="0">
                <a:cs typeface="+mn-ea"/>
                <a:sym typeface="+mn-lt"/>
              </a:rPr>
              <a:t>1</a:t>
            </a:r>
            <a:r>
              <a:rPr lang="zh-CN" altLang="en-US" sz="2800" dirty="0">
                <a:cs typeface="+mn-ea"/>
                <a:sym typeface="+mn-lt"/>
              </a:rPr>
              <a:t>：用逻辑运算将</a:t>
            </a:r>
            <a:r>
              <a:rPr lang="en-US" altLang="zh-CN" sz="2800" dirty="0">
                <a:cs typeface="+mn-ea"/>
                <a:sym typeface="+mn-lt"/>
              </a:rPr>
              <a:t>ASCII</a:t>
            </a:r>
            <a:r>
              <a:rPr lang="zh-CN" altLang="en-US" sz="2800" dirty="0">
                <a:cs typeface="+mn-ea"/>
                <a:sym typeface="+mn-lt"/>
              </a:rPr>
              <a:t>码实现</a:t>
            </a:r>
            <a:r>
              <a:rPr lang="en-US" altLang="zh-CN" sz="2800" dirty="0" err="1">
                <a:cs typeface="+mn-ea"/>
                <a:sym typeface="+mn-lt"/>
              </a:rPr>
              <a:t>a~z</a:t>
            </a:r>
            <a:r>
              <a:rPr lang="zh-CN" altLang="en-US" sz="2800" dirty="0">
                <a:cs typeface="+mn-ea"/>
                <a:sym typeface="+mn-lt"/>
              </a:rPr>
              <a:t>和</a:t>
            </a:r>
            <a:r>
              <a:rPr lang="en-US" altLang="zh-CN" sz="2800" dirty="0">
                <a:cs typeface="+mn-ea"/>
                <a:sym typeface="+mn-lt"/>
              </a:rPr>
              <a:t>A~Z</a:t>
            </a:r>
            <a:r>
              <a:rPr lang="zh-CN" altLang="en-US" sz="2800" dirty="0">
                <a:cs typeface="+mn-ea"/>
                <a:sym typeface="+mn-lt"/>
              </a:rPr>
              <a:t>之间的转换</a:t>
            </a:r>
            <a:endParaRPr lang="en-US" altLang="zh-CN" sz="2800" dirty="0">
              <a:cs typeface="+mn-ea"/>
              <a:sym typeface="+mn-lt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2800" dirty="0">
                <a:cs typeface="+mn-ea"/>
                <a:sym typeface="+mn-lt"/>
              </a:rPr>
              <a:t>解答：首先要清楚大写字母和小写字母的区别</a:t>
            </a:r>
            <a:endParaRPr lang="en-US" altLang="zh-CN" sz="2800" dirty="0">
              <a:cs typeface="+mn-ea"/>
              <a:sym typeface="+mn-lt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zh-CN" sz="2400" dirty="0">
                <a:cs typeface="+mn-ea"/>
                <a:sym typeface="+mn-lt"/>
              </a:rPr>
              <a:t>           </a:t>
            </a:r>
            <a:r>
              <a:rPr lang="zh-CN" altLang="en-US" sz="2400" dirty="0">
                <a:cs typeface="+mn-ea"/>
                <a:sym typeface="+mn-lt"/>
              </a:rPr>
              <a:t>小写 </a:t>
            </a:r>
            <a:r>
              <a:rPr lang="en-US" altLang="zh-CN" sz="2400" dirty="0">
                <a:cs typeface="+mn-ea"/>
                <a:sym typeface="+mn-lt"/>
              </a:rPr>
              <a:t>'a'~ 'z‘  </a:t>
            </a:r>
            <a:r>
              <a:rPr lang="zh-CN" altLang="en-US" sz="2400" dirty="0">
                <a:cs typeface="+mn-ea"/>
                <a:sym typeface="+mn-lt"/>
              </a:rPr>
              <a:t>对应的</a:t>
            </a:r>
            <a:r>
              <a:rPr lang="en-US" altLang="zh-CN" sz="2400" dirty="0">
                <a:cs typeface="+mn-ea"/>
                <a:sym typeface="+mn-lt"/>
              </a:rPr>
              <a:t>ASCII</a:t>
            </a:r>
            <a:r>
              <a:rPr lang="zh-CN" altLang="en-US" sz="2400" dirty="0">
                <a:cs typeface="+mn-ea"/>
                <a:sym typeface="+mn-lt"/>
              </a:rPr>
              <a:t>为：</a:t>
            </a:r>
            <a:r>
              <a:rPr lang="en-US" altLang="zh-CN" sz="2400" dirty="0">
                <a:cs typeface="+mn-ea"/>
                <a:sym typeface="+mn-lt"/>
              </a:rPr>
              <a:t>61H</a:t>
            </a:r>
            <a:r>
              <a:rPr lang="zh-CN" altLang="en-US" sz="2400" dirty="0">
                <a:cs typeface="+mn-ea"/>
                <a:sym typeface="+mn-lt"/>
              </a:rPr>
              <a:t>（</a:t>
            </a:r>
            <a:r>
              <a:rPr lang="en-US" altLang="zh-CN" sz="2400" dirty="0">
                <a:cs typeface="+mn-ea"/>
                <a:sym typeface="+mn-lt"/>
              </a:rPr>
              <a:t>01</a:t>
            </a:r>
            <a:r>
              <a:rPr lang="en-US" altLang="zh-CN" sz="2400" dirty="0">
                <a:solidFill>
                  <a:srgbClr val="FF0000"/>
                </a:solidFill>
                <a:cs typeface="+mn-ea"/>
                <a:sym typeface="+mn-lt"/>
              </a:rPr>
              <a:t>1</a:t>
            </a:r>
            <a:r>
              <a:rPr lang="en-US" altLang="zh-CN" sz="2400" dirty="0">
                <a:cs typeface="+mn-ea"/>
                <a:sym typeface="+mn-lt"/>
              </a:rPr>
              <a:t>00001B</a:t>
            </a:r>
            <a:r>
              <a:rPr lang="zh-CN" altLang="en-US" sz="2400" dirty="0">
                <a:cs typeface="+mn-ea"/>
                <a:sym typeface="+mn-lt"/>
              </a:rPr>
              <a:t>）</a:t>
            </a:r>
            <a:r>
              <a:rPr lang="en-US" altLang="zh-CN" sz="2400" dirty="0">
                <a:cs typeface="+mn-ea"/>
                <a:sym typeface="+mn-lt"/>
              </a:rPr>
              <a:t>~7AH</a:t>
            </a:r>
            <a:r>
              <a:rPr lang="zh-CN" altLang="en-US" sz="2400" dirty="0">
                <a:cs typeface="+mn-ea"/>
                <a:sym typeface="+mn-lt"/>
              </a:rPr>
              <a:t> （</a:t>
            </a:r>
            <a:r>
              <a:rPr lang="en-US" altLang="zh-CN" sz="2400" dirty="0">
                <a:cs typeface="+mn-ea"/>
                <a:sym typeface="+mn-lt"/>
              </a:rPr>
              <a:t>01</a:t>
            </a:r>
            <a:r>
              <a:rPr lang="en-US" altLang="zh-CN" sz="2400" dirty="0">
                <a:solidFill>
                  <a:srgbClr val="FF0000"/>
                </a:solidFill>
                <a:cs typeface="+mn-ea"/>
                <a:sym typeface="+mn-lt"/>
              </a:rPr>
              <a:t>1</a:t>
            </a:r>
            <a:r>
              <a:rPr lang="en-US" altLang="zh-CN" sz="2400" dirty="0">
                <a:cs typeface="+mn-ea"/>
                <a:sym typeface="+mn-lt"/>
              </a:rPr>
              <a:t>01010B</a:t>
            </a:r>
            <a:r>
              <a:rPr lang="zh-CN" altLang="en-US" sz="2400" dirty="0">
                <a:cs typeface="+mn-ea"/>
                <a:sym typeface="+mn-lt"/>
              </a:rPr>
              <a:t>）</a:t>
            </a:r>
            <a:endParaRPr lang="en-US" altLang="zh-CN" sz="2400" dirty="0">
              <a:cs typeface="+mn-ea"/>
              <a:sym typeface="+mn-lt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2400" dirty="0">
                <a:cs typeface="+mn-ea"/>
                <a:sym typeface="+mn-lt"/>
              </a:rPr>
              <a:t>           大写 </a:t>
            </a:r>
            <a:r>
              <a:rPr lang="en-US" altLang="zh-CN" sz="2400" dirty="0">
                <a:cs typeface="+mn-ea"/>
                <a:sym typeface="+mn-lt"/>
              </a:rPr>
              <a:t>'A' ~ 'Z'</a:t>
            </a:r>
            <a:r>
              <a:rPr lang="zh-CN" altLang="en-US" sz="2400" dirty="0">
                <a:cs typeface="+mn-ea"/>
                <a:sym typeface="+mn-lt"/>
              </a:rPr>
              <a:t>对应的</a:t>
            </a:r>
            <a:r>
              <a:rPr lang="en-US" altLang="zh-CN" sz="2400" dirty="0">
                <a:cs typeface="+mn-ea"/>
                <a:sym typeface="+mn-lt"/>
              </a:rPr>
              <a:t>ASCII</a:t>
            </a:r>
            <a:r>
              <a:rPr lang="zh-CN" altLang="en-US" sz="2400" dirty="0">
                <a:cs typeface="+mn-ea"/>
                <a:sym typeface="+mn-lt"/>
              </a:rPr>
              <a:t>为：</a:t>
            </a:r>
            <a:r>
              <a:rPr lang="en-US" altLang="zh-CN" sz="2400" dirty="0">
                <a:cs typeface="+mn-ea"/>
                <a:sym typeface="+mn-lt"/>
              </a:rPr>
              <a:t>41H</a:t>
            </a:r>
            <a:r>
              <a:rPr lang="zh-CN" altLang="en-US" sz="2400" dirty="0">
                <a:cs typeface="+mn-ea"/>
                <a:sym typeface="+mn-lt"/>
              </a:rPr>
              <a:t> （</a:t>
            </a:r>
            <a:r>
              <a:rPr lang="en-US" altLang="zh-CN" sz="2400" dirty="0">
                <a:cs typeface="+mn-ea"/>
                <a:sym typeface="+mn-lt"/>
              </a:rPr>
              <a:t>01</a:t>
            </a:r>
            <a:r>
              <a:rPr lang="en-US" altLang="zh-CN" sz="2400" dirty="0">
                <a:solidFill>
                  <a:srgbClr val="5666D7"/>
                </a:solidFill>
                <a:cs typeface="+mn-ea"/>
                <a:sym typeface="+mn-lt"/>
              </a:rPr>
              <a:t>0</a:t>
            </a:r>
            <a:r>
              <a:rPr lang="en-US" altLang="zh-CN" sz="2400" dirty="0">
                <a:cs typeface="+mn-ea"/>
                <a:sym typeface="+mn-lt"/>
              </a:rPr>
              <a:t>00001B</a:t>
            </a:r>
            <a:r>
              <a:rPr lang="zh-CN" altLang="en-US" sz="2400" dirty="0">
                <a:cs typeface="+mn-ea"/>
                <a:sym typeface="+mn-lt"/>
              </a:rPr>
              <a:t>）</a:t>
            </a:r>
            <a:r>
              <a:rPr lang="en-US" altLang="zh-CN" sz="2400" dirty="0">
                <a:cs typeface="+mn-ea"/>
                <a:sym typeface="+mn-lt"/>
              </a:rPr>
              <a:t>~5AH</a:t>
            </a:r>
            <a:r>
              <a:rPr lang="zh-CN" altLang="en-US" sz="2400" dirty="0">
                <a:cs typeface="+mn-ea"/>
                <a:sym typeface="+mn-lt"/>
              </a:rPr>
              <a:t> （</a:t>
            </a:r>
            <a:r>
              <a:rPr lang="en-US" altLang="zh-CN" sz="2400" dirty="0">
                <a:cs typeface="+mn-ea"/>
                <a:sym typeface="+mn-lt"/>
              </a:rPr>
              <a:t>01</a:t>
            </a:r>
            <a:r>
              <a:rPr lang="en-US" altLang="zh-CN" sz="2400" dirty="0">
                <a:solidFill>
                  <a:srgbClr val="5666D7"/>
                </a:solidFill>
                <a:cs typeface="+mn-ea"/>
                <a:sym typeface="+mn-lt"/>
              </a:rPr>
              <a:t>0</a:t>
            </a:r>
            <a:r>
              <a:rPr lang="en-US" altLang="zh-CN" sz="2400" dirty="0">
                <a:cs typeface="+mn-ea"/>
                <a:sym typeface="+mn-lt"/>
              </a:rPr>
              <a:t>00001B</a:t>
            </a:r>
            <a:r>
              <a:rPr lang="zh-CN" altLang="en-US" sz="2400" dirty="0">
                <a:cs typeface="+mn-ea"/>
                <a:sym typeface="+mn-lt"/>
              </a:rPr>
              <a:t>）</a:t>
            </a:r>
            <a:endParaRPr lang="en-US" altLang="zh-CN" sz="2400" dirty="0">
              <a:cs typeface="+mn-ea"/>
              <a:sym typeface="+mn-lt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zh-CN" sz="2400" dirty="0">
                <a:cs typeface="+mn-ea"/>
                <a:sym typeface="+mn-lt"/>
              </a:rPr>
              <a:t>            </a:t>
            </a:r>
            <a:r>
              <a:rPr lang="zh-CN" altLang="en-US" sz="2400" dirty="0">
                <a:cs typeface="+mn-ea"/>
                <a:sym typeface="+mn-lt"/>
              </a:rPr>
              <a:t>小写→大写：小写字母</a:t>
            </a:r>
            <a:r>
              <a:rPr lang="en-US" altLang="zh-CN" sz="2400" dirty="0">
                <a:cs typeface="+mn-ea"/>
                <a:sym typeface="+mn-lt"/>
              </a:rPr>
              <a:t>   &amp;11</a:t>
            </a:r>
            <a:r>
              <a:rPr lang="en-US" altLang="zh-CN" sz="2400" dirty="0">
                <a:solidFill>
                  <a:srgbClr val="5666D7"/>
                </a:solidFill>
                <a:cs typeface="+mn-ea"/>
                <a:sym typeface="+mn-lt"/>
              </a:rPr>
              <a:t>0</a:t>
            </a:r>
            <a:r>
              <a:rPr lang="en-US" altLang="zh-CN" sz="2400" dirty="0">
                <a:cs typeface="+mn-ea"/>
                <a:sym typeface="+mn-lt"/>
              </a:rPr>
              <a:t>11111B</a:t>
            </a:r>
            <a:r>
              <a:rPr lang="zh-CN" altLang="en-US" sz="2400" dirty="0">
                <a:cs typeface="+mn-ea"/>
                <a:sym typeface="+mn-lt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cs typeface="+mn-ea"/>
                <a:sym typeface="+mn-lt"/>
              </a:rPr>
              <a:t>DFH</a:t>
            </a:r>
            <a:r>
              <a:rPr lang="zh-CN" altLang="en-US" sz="2400" dirty="0">
                <a:cs typeface="+mn-ea"/>
                <a:sym typeface="+mn-lt"/>
              </a:rPr>
              <a:t>）</a:t>
            </a:r>
            <a:r>
              <a:rPr lang="en-US" altLang="zh-CN" sz="2400" dirty="0">
                <a:cs typeface="+mn-ea"/>
                <a:sym typeface="+mn-lt"/>
              </a:rPr>
              <a:t> </a:t>
            </a:r>
            <a:r>
              <a:rPr lang="zh-CN" altLang="en-US" sz="2400" dirty="0">
                <a:cs typeface="+mn-ea"/>
                <a:sym typeface="+mn-lt"/>
              </a:rPr>
              <a:t>→大写字母</a:t>
            </a:r>
            <a:endParaRPr lang="en-US" altLang="zh-CN" sz="2400" dirty="0">
              <a:cs typeface="+mn-ea"/>
              <a:sym typeface="+mn-lt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2400" dirty="0">
                <a:cs typeface="+mn-ea"/>
                <a:sym typeface="+mn-lt"/>
              </a:rPr>
              <a:t>            大写→小写：大写字母    </a:t>
            </a:r>
            <a:r>
              <a:rPr lang="en-US" altLang="zh-CN" sz="2400" dirty="0">
                <a:cs typeface="+mn-ea"/>
                <a:sym typeface="+mn-lt"/>
              </a:rPr>
              <a:t>| 00</a:t>
            </a:r>
            <a:r>
              <a:rPr lang="en-US" altLang="zh-CN" sz="2400" dirty="0">
                <a:solidFill>
                  <a:srgbClr val="FF0000"/>
                </a:solidFill>
                <a:cs typeface="+mn-ea"/>
                <a:sym typeface="+mn-lt"/>
              </a:rPr>
              <a:t>1</a:t>
            </a:r>
            <a:r>
              <a:rPr lang="en-US" altLang="zh-CN" sz="2400" dirty="0">
                <a:cs typeface="+mn-ea"/>
                <a:sym typeface="+mn-lt"/>
              </a:rPr>
              <a:t>00000B</a:t>
            </a:r>
            <a:r>
              <a:rPr lang="zh-CN" altLang="en-US" sz="2400" dirty="0">
                <a:cs typeface="+mn-ea"/>
                <a:sym typeface="+mn-lt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cs typeface="+mn-ea"/>
                <a:sym typeface="+mn-lt"/>
              </a:rPr>
              <a:t>20H</a:t>
            </a:r>
            <a:r>
              <a:rPr lang="zh-CN" altLang="en-US" sz="2400" dirty="0">
                <a:cs typeface="+mn-ea"/>
                <a:sym typeface="+mn-lt"/>
              </a:rPr>
              <a:t>） →小写字母</a:t>
            </a:r>
          </a:p>
        </p:txBody>
      </p:sp>
    </p:spTree>
    <p:extLst>
      <p:ext uri="{BB962C8B-B14F-4D97-AF65-F5344CB8AC3E}">
        <p14:creationId xmlns:p14="http://schemas.microsoft.com/office/powerpoint/2010/main" val="3857483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cs typeface="+mn-ea"/>
                <a:sym typeface="+mn-lt"/>
              </a:rPr>
              <a:t>	</a:t>
            </a:r>
            <a:r>
              <a:rPr lang="zh-CN" altLang="en-US" sz="2800" b="1" dirty="0">
                <a:cs typeface="+mn-ea"/>
                <a:sym typeface="+mn-lt"/>
              </a:rPr>
              <a:t>二进制算数和逻辑运算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507730" y="878517"/>
            <a:ext cx="2143112" cy="750627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问题与思考</a:t>
            </a:r>
            <a:endParaRPr lang="en-US" altLang="zh-CN" sz="2800" b="1" dirty="0">
              <a:solidFill>
                <a:srgbClr val="FF0000"/>
              </a:solidFill>
              <a:cs typeface="+mn-ea"/>
              <a:sym typeface="+mn-lt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zh-CN" altLang="en-US" sz="2400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88EF57D-08C7-4E8B-B9EF-5CC0569E163E}"/>
              </a:ext>
            </a:extLst>
          </p:cNvPr>
          <p:cNvSpPr/>
          <p:nvPr/>
        </p:nvSpPr>
        <p:spPr>
          <a:xfrm>
            <a:off x="507730" y="1757034"/>
            <a:ext cx="11407185" cy="3281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sz="2400" kern="0" dirty="0">
                <a:latin typeface="+mn-ea"/>
                <a:cs typeface="宋体" panose="02010600030101010101" pitchFamily="2" charset="-122"/>
              </a:rPr>
              <a:t>1. </a:t>
            </a:r>
            <a:r>
              <a:rPr lang="zh-CN" altLang="zh-CN" sz="2400" kern="0" dirty="0">
                <a:latin typeface="+mn-ea"/>
                <a:cs typeface="宋体" panose="02010600030101010101" pitchFamily="2" charset="-122"/>
              </a:rPr>
              <a:t>计算机硬件包含哪些组成部件？</a:t>
            </a:r>
            <a:endParaRPr lang="zh-CN" altLang="zh-CN" sz="2400" kern="100" dirty="0"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sz="2400" kern="0" dirty="0">
                <a:latin typeface="+mn-ea"/>
                <a:cs typeface="宋体" panose="02010600030101010101" pitchFamily="2" charset="-122"/>
              </a:rPr>
              <a:t>2. </a:t>
            </a:r>
            <a:r>
              <a:rPr lang="zh-CN" altLang="zh-CN" sz="2400" kern="0" dirty="0">
                <a:latin typeface="+mn-ea"/>
                <a:cs typeface="宋体" panose="02010600030101010101" pitchFamily="2" charset="-122"/>
              </a:rPr>
              <a:t>微型计算机的</a:t>
            </a:r>
            <a:r>
              <a:rPr lang="en-US" altLang="zh-CN" sz="2400" kern="0" dirty="0">
                <a:latin typeface="+mn-ea"/>
                <a:cs typeface="宋体" panose="02010600030101010101" pitchFamily="2" charset="-122"/>
              </a:rPr>
              <a:t>CPU</a:t>
            </a:r>
            <a:r>
              <a:rPr lang="zh-CN" altLang="zh-CN" sz="2400" kern="0" dirty="0">
                <a:latin typeface="+mn-ea"/>
                <a:cs typeface="宋体" panose="02010600030101010101" pitchFamily="2" charset="-122"/>
              </a:rPr>
              <a:t>是如何执行指令的</a:t>
            </a:r>
            <a:r>
              <a:rPr lang="en-US" altLang="zh-CN" sz="2400" kern="0" dirty="0">
                <a:latin typeface="+mn-ea"/>
                <a:cs typeface="宋体" panose="02010600030101010101" pitchFamily="2" charset="-122"/>
              </a:rPr>
              <a:t>?</a:t>
            </a:r>
            <a:r>
              <a:rPr lang="zh-CN" altLang="zh-CN" sz="2400" kern="0" dirty="0">
                <a:latin typeface="+mn-ea"/>
                <a:cs typeface="宋体" panose="02010600030101010101" pitchFamily="2" charset="-122"/>
              </a:rPr>
              <a:t>什么是指令流水线</a:t>
            </a:r>
            <a:r>
              <a:rPr lang="en-US" altLang="zh-CN" sz="2400" kern="0" dirty="0">
                <a:latin typeface="+mn-ea"/>
                <a:cs typeface="宋体" panose="02010600030101010101" pitchFamily="2" charset="-122"/>
              </a:rPr>
              <a:t>?</a:t>
            </a:r>
            <a:endParaRPr lang="zh-CN" altLang="zh-CN" sz="2400" kern="100" dirty="0"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sz="2400" kern="0" dirty="0">
                <a:latin typeface="+mn-ea"/>
                <a:cs typeface="宋体" panose="02010600030101010101" pitchFamily="2" charset="-122"/>
              </a:rPr>
              <a:t>3. </a:t>
            </a:r>
            <a:r>
              <a:rPr lang="zh-CN" altLang="zh-CN" sz="2400" kern="0" dirty="0">
                <a:latin typeface="+mn-ea"/>
                <a:cs typeface="宋体" panose="02010600030101010101" pitchFamily="2" charset="-122"/>
              </a:rPr>
              <a:t>什么是内存</a:t>
            </a:r>
            <a:r>
              <a:rPr lang="en-US" altLang="zh-CN" sz="2400" kern="0" dirty="0">
                <a:latin typeface="+mn-ea"/>
                <a:cs typeface="宋体" panose="02010600030101010101" pitchFamily="2" charset="-122"/>
              </a:rPr>
              <a:t>,</a:t>
            </a:r>
            <a:r>
              <a:rPr lang="zh-CN" altLang="zh-CN" sz="2400" kern="0" dirty="0">
                <a:latin typeface="+mn-ea"/>
                <a:cs typeface="宋体" panose="02010600030101010101" pitchFamily="2" charset="-122"/>
              </a:rPr>
              <a:t>内存容量由什么决定</a:t>
            </a:r>
            <a:r>
              <a:rPr lang="en-US" altLang="zh-CN" sz="2400" kern="0" dirty="0">
                <a:latin typeface="+mn-ea"/>
                <a:cs typeface="宋体" panose="02010600030101010101" pitchFamily="2" charset="-122"/>
              </a:rPr>
              <a:t>,</a:t>
            </a:r>
            <a:r>
              <a:rPr lang="zh-CN" altLang="zh-CN" sz="2400" kern="0" dirty="0">
                <a:latin typeface="+mn-ea"/>
                <a:cs typeface="宋体" panose="02010600030101010101" pitchFamily="2" charset="-122"/>
              </a:rPr>
              <a:t>什么是存储单元和内存地址</a:t>
            </a:r>
            <a:r>
              <a:rPr lang="en-US" altLang="zh-CN" sz="2400" kern="0" dirty="0">
                <a:latin typeface="+mn-ea"/>
                <a:cs typeface="宋体" panose="02010600030101010101" pitchFamily="2" charset="-122"/>
              </a:rPr>
              <a:t>?</a:t>
            </a:r>
            <a:endParaRPr lang="zh-CN" altLang="zh-CN" sz="2400" kern="100" dirty="0"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sz="2400" kern="0" dirty="0">
                <a:latin typeface="+mn-ea"/>
                <a:cs typeface="宋体" panose="02010600030101010101" pitchFamily="2" charset="-122"/>
              </a:rPr>
              <a:t>4. CPU</a:t>
            </a:r>
            <a:r>
              <a:rPr lang="zh-CN" altLang="zh-CN" sz="2400" kern="0" dirty="0">
                <a:latin typeface="+mn-ea"/>
                <a:cs typeface="宋体" panose="02010600030101010101" pitchFamily="2" charset="-122"/>
              </a:rPr>
              <a:t>是如何访问内存的</a:t>
            </a:r>
            <a:r>
              <a:rPr lang="en-US" altLang="zh-CN" sz="2400" kern="0" dirty="0">
                <a:latin typeface="+mn-ea"/>
                <a:cs typeface="宋体" panose="02010600030101010101" pitchFamily="2" charset="-122"/>
              </a:rPr>
              <a:t>?</a:t>
            </a:r>
            <a:r>
              <a:rPr lang="zh-CN" altLang="zh-CN" sz="2400" kern="0" dirty="0">
                <a:latin typeface="+mn-ea"/>
                <a:cs typeface="宋体" panose="02010600030101010101" pitchFamily="2" charset="-122"/>
              </a:rPr>
              <a:t>需要哪些信号线</a:t>
            </a:r>
            <a:r>
              <a:rPr lang="en-US" altLang="zh-CN" sz="2400" kern="0" dirty="0">
                <a:latin typeface="+mn-ea"/>
                <a:cs typeface="宋体" panose="02010600030101010101" pitchFamily="2" charset="-122"/>
              </a:rPr>
              <a:t>,</a:t>
            </a:r>
            <a:r>
              <a:rPr lang="zh-CN" altLang="zh-CN" sz="2400" kern="0" dirty="0">
                <a:latin typeface="+mn-ea"/>
                <a:cs typeface="宋体" panose="02010600030101010101" pitchFamily="2" charset="-122"/>
              </a:rPr>
              <a:t>各信号的作用是什么</a:t>
            </a:r>
            <a:r>
              <a:rPr lang="en-US" altLang="zh-CN" sz="2400" kern="0" dirty="0">
                <a:latin typeface="+mn-ea"/>
                <a:cs typeface="宋体" panose="02010600030101010101" pitchFamily="2" charset="-122"/>
              </a:rPr>
              <a:t>?</a:t>
            </a:r>
            <a:endParaRPr lang="zh-CN" altLang="zh-CN" sz="2400" kern="100" dirty="0"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sz="2400" kern="0" dirty="0">
                <a:latin typeface="+mn-ea"/>
                <a:cs typeface="宋体" panose="02010600030101010101" pitchFamily="2" charset="-122"/>
              </a:rPr>
              <a:t>5. </a:t>
            </a:r>
            <a:r>
              <a:rPr lang="zh-CN" altLang="zh-CN" sz="2400" kern="0" dirty="0">
                <a:latin typeface="+mn-ea"/>
                <a:cs typeface="宋体" panose="02010600030101010101" pitchFamily="2" charset="-122"/>
              </a:rPr>
              <a:t>什么是寄存器</a:t>
            </a:r>
            <a:r>
              <a:rPr lang="en-US" altLang="zh-CN" sz="2400" kern="0" dirty="0">
                <a:latin typeface="+mn-ea"/>
                <a:cs typeface="宋体" panose="02010600030101010101" pitchFamily="2" charset="-122"/>
              </a:rPr>
              <a:t>?</a:t>
            </a:r>
            <a:r>
              <a:rPr lang="zh-CN" altLang="zh-CN" sz="2400" kern="0" dirty="0">
                <a:latin typeface="+mn-ea"/>
                <a:cs typeface="宋体" panose="02010600030101010101" pitchFamily="2" charset="-122"/>
              </a:rPr>
              <a:t>寄存器的物理位置在哪里</a:t>
            </a:r>
            <a:r>
              <a:rPr lang="en-US" altLang="zh-CN" sz="2400" kern="0" dirty="0">
                <a:latin typeface="+mn-ea"/>
                <a:cs typeface="宋体" panose="02010600030101010101" pitchFamily="2" charset="-122"/>
              </a:rPr>
              <a:t>,</a:t>
            </a:r>
            <a:r>
              <a:rPr lang="zh-CN" altLang="zh-CN" sz="2400" kern="0" dirty="0">
                <a:latin typeface="+mn-ea"/>
                <a:cs typeface="宋体" panose="02010600030101010101" pitchFamily="2" charset="-122"/>
              </a:rPr>
              <a:t>作用是什么</a:t>
            </a:r>
            <a:r>
              <a:rPr lang="en-US" altLang="zh-CN" sz="2400" kern="0" dirty="0">
                <a:latin typeface="+mn-ea"/>
                <a:cs typeface="宋体" panose="02010600030101010101" pitchFamily="2" charset="-122"/>
              </a:rPr>
              <a:t>?CPU</a:t>
            </a:r>
            <a:r>
              <a:rPr lang="zh-CN" altLang="zh-CN" sz="2400" kern="0" dirty="0">
                <a:latin typeface="+mn-ea"/>
                <a:cs typeface="宋体" panose="02010600030101010101" pitchFamily="2" charset="-122"/>
              </a:rPr>
              <a:t>如何访问寄存器</a:t>
            </a:r>
            <a:r>
              <a:rPr lang="en-US" altLang="zh-CN" sz="2400" kern="0" dirty="0">
                <a:latin typeface="+mn-ea"/>
                <a:cs typeface="宋体" panose="02010600030101010101" pitchFamily="2" charset="-122"/>
              </a:rPr>
              <a:t>?</a:t>
            </a:r>
            <a:endParaRPr lang="zh-CN" altLang="zh-CN" sz="2400" kern="100" dirty="0"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sz="2400" kern="0" dirty="0">
                <a:latin typeface="+mn-ea"/>
                <a:cs typeface="宋体" panose="02010600030101010101" pitchFamily="2" charset="-122"/>
              </a:rPr>
              <a:t>6. </a:t>
            </a:r>
            <a:r>
              <a:rPr lang="zh-CN" altLang="zh-CN" sz="2400" kern="0" dirty="0">
                <a:latin typeface="+mn-ea"/>
                <a:cs typeface="宋体" panose="02010600030101010101" pitchFamily="2" charset="-122"/>
              </a:rPr>
              <a:t>几个关键的寄存器</a:t>
            </a:r>
            <a:r>
              <a:rPr lang="en-US" altLang="zh-CN" sz="2400" kern="0" dirty="0">
                <a:latin typeface="+mn-ea"/>
                <a:cs typeface="宋体" panose="02010600030101010101" pitchFamily="2" charset="-122"/>
              </a:rPr>
              <a:t>PC</a:t>
            </a:r>
            <a:r>
              <a:rPr lang="zh-CN" altLang="zh-CN" sz="2400" kern="0" dirty="0">
                <a:latin typeface="+mn-ea"/>
                <a:cs typeface="宋体" panose="02010600030101010101" pitchFamily="2" charset="-122"/>
              </a:rPr>
              <a:t>、</a:t>
            </a:r>
            <a:r>
              <a:rPr lang="en-US" altLang="zh-CN" sz="2400" kern="0" dirty="0">
                <a:latin typeface="+mn-ea"/>
                <a:cs typeface="宋体" panose="02010600030101010101" pitchFamily="2" charset="-122"/>
              </a:rPr>
              <a:t>SP</a:t>
            </a:r>
            <a:r>
              <a:rPr lang="zh-CN" altLang="zh-CN" sz="2400" kern="0" dirty="0">
                <a:latin typeface="+mn-ea"/>
                <a:cs typeface="宋体" panose="02010600030101010101" pitchFamily="2" charset="-122"/>
              </a:rPr>
              <a:t>、</a:t>
            </a:r>
            <a:r>
              <a:rPr lang="en-US" altLang="zh-CN" sz="2400" kern="0" dirty="0">
                <a:latin typeface="+mn-ea"/>
                <a:cs typeface="宋体" panose="02010600030101010101" pitchFamily="2" charset="-122"/>
              </a:rPr>
              <a:t>FLAG</a:t>
            </a:r>
            <a:r>
              <a:rPr lang="zh-CN" altLang="zh-CN" sz="2400" kern="0" dirty="0">
                <a:latin typeface="+mn-ea"/>
                <a:cs typeface="宋体" panose="02010600030101010101" pitchFamily="2" charset="-122"/>
              </a:rPr>
              <a:t>的作用是什么，它们在什么情况下会发生改变？</a:t>
            </a:r>
            <a:endParaRPr lang="zh-CN" altLang="zh-CN" sz="2400" kern="100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400" kern="0" dirty="0">
                <a:latin typeface="+mn-ea"/>
                <a:cs typeface="宋体" panose="02010600030101010101" pitchFamily="2" charset="-122"/>
              </a:rPr>
              <a:t>7. </a:t>
            </a:r>
            <a:r>
              <a:rPr lang="zh-CN" altLang="zh-CN" sz="2400" kern="0" dirty="0">
                <a:latin typeface="+mn-ea"/>
                <a:cs typeface="宋体" panose="02010600030101010101" pitchFamily="2" charset="-122"/>
              </a:rPr>
              <a:t>堆栈区的功能是什么，通常在什么情况下使用，它是如何访问的？</a:t>
            </a:r>
            <a:endParaRPr lang="zh-CN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48888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A6A819F1-33AF-45D7-8BF6-2B0A9769CAD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1" name="think-cell Slide" r:id="rId5" imgW="360" imgH="360" progId="">
                  <p:embed/>
                </p:oleObj>
              </mc:Choice>
              <mc:Fallback>
                <p:oleObj name="think-cell Slide" r:id="rId5" imgW="360" imgH="360" progId="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id="{A6A819F1-33AF-45D7-8BF6-2B0A9769CA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id="{FF51F16D-1BAD-46EE-A6F4-B8B94C9DF62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cs typeface="+mn-ea"/>
              <a:sym typeface="+mn-lt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6558083" y="2341767"/>
            <a:ext cx="5079462" cy="1621509"/>
          </a:xfrm>
        </p:spPr>
        <p:txBody>
          <a:bodyPr/>
          <a:lstStyle/>
          <a:p>
            <a:r>
              <a:rPr lang="en-US" altLang="zh-CN" sz="4000" dirty="0">
                <a:latin typeface="+mn-lt"/>
                <a:ea typeface="+mn-ea"/>
                <a:cs typeface="+mn-ea"/>
                <a:sym typeface="+mn-lt"/>
              </a:rPr>
              <a:t>Thanks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/>
            </a:r>
            <a:br>
              <a:rPr lang="en-US" altLang="zh-CN" dirty="0">
                <a:latin typeface="+mn-lt"/>
                <a:ea typeface="+mn-ea"/>
                <a:cs typeface="+mn-ea"/>
                <a:sym typeface="+mn-lt"/>
              </a:rPr>
            </a:b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60984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THINKCELLUNDODONOTDELETE" val="0"/>
  <p:tag name="ISLIDE.THEME" val="3d09a1d7-7c63-43a4-b3ee-df21fa2c8d6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  <p:tag name="PROBLEMHASREMARK" val="True"/>
  <p:tag name="PROBLEMREMARK" val="2^30=1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false,&quot;fuzzyMatch&quot;:false,&quot;Score&quot;:1.0,&quot;answers&quot;:[&quot;3.5&quot;]},{&quot;num&quot;:2,&quot;caseSensitive&quot;:false,&quot;fuzzyMatch&quot;:false,&quot;Score&quot;:1.0,&quot;answers&quot;:[&quot;17.0625&quot;]}]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false,&quot;fuzzyMatch&quot;:false,&quot;Score&quot;:1.0,&quot;answers&quot;:[&quot;01101101&quot;]},{&quot;num&quot;:2,&quot;caseSensitive&quot;:false,&quot;fuzzyMatch&quot;:false,&quot;Score&quot;:1.0,&quot;answers&quot;:[&quot;10101010&quot;]}]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false,&quot;fuzzyMatch&quot;:false,&quot;Score&quot;:1.0,&quot;answers&quot;:[&quot;38.56&quot;]}]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Smkff3fSzGMOuItfjj3Fw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170C5A"/>
      </a:accent1>
      <a:accent2>
        <a:srgbClr val="4F5DCB"/>
      </a:accent2>
      <a:accent3>
        <a:srgbClr val="265989"/>
      </a:accent3>
      <a:accent4>
        <a:srgbClr val="41E7DF"/>
      </a:accent4>
      <a:accent5>
        <a:srgbClr val="757579"/>
      </a:accent5>
      <a:accent6>
        <a:srgbClr val="5C5E60"/>
      </a:accent6>
      <a:hlink>
        <a:srgbClr val="4276AA"/>
      </a:hlink>
      <a:folHlink>
        <a:srgbClr val="BFBFBF"/>
      </a:folHlink>
    </a:clrScheme>
    <a:fontScheme name="1lxsh3ei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648</TotalTime>
  <Words>5814</Words>
  <Application>Microsoft Office PowerPoint</Application>
  <PresentationFormat>宽屏</PresentationFormat>
  <Paragraphs>908</Paragraphs>
  <Slides>91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91</vt:i4>
      </vt:variant>
    </vt:vector>
  </HeadingPairs>
  <TitlesOfParts>
    <vt:vector size="104" baseType="lpstr">
      <vt:lpstr>Microsoft Yahei</vt:lpstr>
      <vt:lpstr>等线</vt:lpstr>
      <vt:lpstr>楷体_GB2312</vt:lpstr>
      <vt:lpstr>宋体</vt:lpstr>
      <vt:lpstr>Microsoft YaHei</vt:lpstr>
      <vt:lpstr>Microsoft YaHei</vt:lpstr>
      <vt:lpstr>Arial</vt:lpstr>
      <vt:lpstr>Calibri</vt:lpstr>
      <vt:lpstr>Cambria Math</vt:lpstr>
      <vt:lpstr>Times New Roman</vt:lpstr>
      <vt:lpstr>Wingdings</vt:lpstr>
      <vt:lpstr>主题5</vt:lpstr>
      <vt:lpstr>think-cell Slide</vt:lpstr>
      <vt:lpstr>单片机原理及其应用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单片机原理及其应用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单片机原理及其应用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单片机原理及其应用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单片机原理及其应用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单片机原理及其应用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单片机原理及其应用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单片机原理及其应用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单片机原理及其应用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单片机原理及其应用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Thanks 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MaoYX</cp:lastModifiedBy>
  <cp:revision>118</cp:revision>
  <cp:lastPrinted>2018-09-20T16:00:00Z</cp:lastPrinted>
  <dcterms:created xsi:type="dcterms:W3CDTF">2018-09-20T16:00:00Z</dcterms:created>
  <dcterms:modified xsi:type="dcterms:W3CDTF">2026-03-02T08:42:34Z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</Properties>
</file>