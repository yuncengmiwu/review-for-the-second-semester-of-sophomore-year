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446" r:id="rId2"/>
    <p:sldId id="524" r:id="rId3"/>
    <p:sldId id="539" r:id="rId4"/>
    <p:sldId id="540" r:id="rId5"/>
    <p:sldId id="541" r:id="rId6"/>
    <p:sldId id="542" r:id="rId7"/>
    <p:sldId id="543" r:id="rId8"/>
    <p:sldId id="544" r:id="rId9"/>
    <p:sldId id="546" r:id="rId10"/>
    <p:sldId id="568" r:id="rId11"/>
    <p:sldId id="547" r:id="rId12"/>
    <p:sldId id="548" r:id="rId13"/>
    <p:sldId id="569" r:id="rId14"/>
    <p:sldId id="549" r:id="rId15"/>
    <p:sldId id="563" r:id="rId16"/>
    <p:sldId id="550" r:id="rId17"/>
    <p:sldId id="551" r:id="rId18"/>
    <p:sldId id="564" r:id="rId19"/>
    <p:sldId id="552" r:id="rId20"/>
    <p:sldId id="553" r:id="rId21"/>
    <p:sldId id="565" r:id="rId22"/>
    <p:sldId id="554" r:id="rId23"/>
    <p:sldId id="555" r:id="rId24"/>
    <p:sldId id="556" r:id="rId25"/>
    <p:sldId id="566" r:id="rId26"/>
    <p:sldId id="557" r:id="rId27"/>
    <p:sldId id="558" r:id="rId28"/>
    <p:sldId id="559" r:id="rId29"/>
    <p:sldId id="560" r:id="rId30"/>
    <p:sldId id="561" r:id="rId31"/>
    <p:sldId id="567" r:id="rId32"/>
    <p:sldId id="562" r:id="rId33"/>
    <p:sldId id="522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6BD8"/>
    <a:srgbClr val="5666D7"/>
    <a:srgbClr val="180D5B"/>
    <a:srgbClr val="36A6B8"/>
    <a:srgbClr val="42E6E0"/>
    <a:srgbClr val="42E8E0"/>
    <a:srgbClr val="255184"/>
    <a:srgbClr val="2B6C95"/>
    <a:srgbClr val="40DCD9"/>
    <a:srgbClr val="265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6182" autoAdjust="0"/>
  </p:normalViewPr>
  <p:slideViewPr>
    <p:cSldViewPr snapToGrid="0">
      <p:cViewPr varScale="1">
        <p:scale>
          <a:sx n="65" d="100"/>
          <a:sy n="65" d="100"/>
        </p:scale>
        <p:origin x="840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pPr/>
              <a:t>2025/12/17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7" name="矩形 9926">
            <a:extLst>
              <a:ext uri="{FF2B5EF4-FFF2-40B4-BE49-F238E27FC236}">
                <a16:creationId xmlns:a16="http://schemas.microsoft.com/office/drawing/2014/main" id="{F722FE8D-4A19-4A18-B1FB-8492B199FD0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3402" y="2737940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rgbClr val="5666D7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3402" y="1525496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839CE1DB-111B-4A2C-A29E-C50E634E2318}"/>
              </a:ext>
            </a:extLst>
          </p:cNvPr>
          <p:cNvGrpSpPr/>
          <p:nvPr userDrawn="1"/>
        </p:nvGrpSpPr>
        <p:grpSpPr>
          <a:xfrm>
            <a:off x="2134335" y="607950"/>
            <a:ext cx="9680127" cy="5377577"/>
            <a:chOff x="4656138" y="2437995"/>
            <a:chExt cx="6846887" cy="3803634"/>
          </a:xfrm>
        </p:grpSpPr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31287A23-FE6B-487B-8BED-0C677DFB4992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C044A711-CB2C-4F92-A19F-1C38F5CC3EA3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97AC0DD2-E837-4B6C-A8B4-9459081251B9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9" name="椭圆 4098">
              <a:extLst>
                <a:ext uri="{FF2B5EF4-FFF2-40B4-BE49-F238E27FC236}">
                  <a16:creationId xmlns:a16="http://schemas.microsoft.com/office/drawing/2014/main" id="{CCFB4B6B-1FA7-46C9-B4AC-9CA47E3B66ED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7B420F-1711-4A49-A959-C81CD1AFFC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1C9163C-CB87-4DDA-A749-1A8F5B9D2A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C5F6088-3348-4370-A1D6-28FAA3A584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CD134D4A-FF64-418D-BF61-AE24A995E0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C0074FF-5BCC-45FA-8E44-F66DF0B78B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55">
              <a:extLst>
                <a:ext uri="{FF2B5EF4-FFF2-40B4-BE49-F238E27FC236}">
                  <a16:creationId xmlns:a16="http://schemas.microsoft.com/office/drawing/2014/main" id="{B5EFAE15-02B0-4FEA-B304-654B59B7E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56">
              <a:extLst>
                <a:ext uri="{FF2B5EF4-FFF2-40B4-BE49-F238E27FC236}">
                  <a16:creationId xmlns:a16="http://schemas.microsoft.com/office/drawing/2014/main" id="{AACA5D4B-622F-452A-9E2E-FB3D8E5B4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57">
              <a:extLst>
                <a:ext uri="{FF2B5EF4-FFF2-40B4-BE49-F238E27FC236}">
                  <a16:creationId xmlns:a16="http://schemas.microsoft.com/office/drawing/2014/main" id="{E9112628-8D4E-4BCC-BC3E-D239FECFF1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58">
              <a:extLst>
                <a:ext uri="{FF2B5EF4-FFF2-40B4-BE49-F238E27FC236}">
                  <a16:creationId xmlns:a16="http://schemas.microsoft.com/office/drawing/2014/main" id="{4C1692C0-671E-4112-8870-EA379167AC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59">
              <a:extLst>
                <a:ext uri="{FF2B5EF4-FFF2-40B4-BE49-F238E27FC236}">
                  <a16:creationId xmlns:a16="http://schemas.microsoft.com/office/drawing/2014/main" id="{CE40BE4D-1325-413C-9BF6-92993CBBA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0">
              <a:extLst>
                <a:ext uri="{FF2B5EF4-FFF2-40B4-BE49-F238E27FC236}">
                  <a16:creationId xmlns:a16="http://schemas.microsoft.com/office/drawing/2014/main" id="{F6CF83C1-7FD5-4B8D-B257-A98CD78B78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1">
              <a:extLst>
                <a:ext uri="{FF2B5EF4-FFF2-40B4-BE49-F238E27FC236}">
                  <a16:creationId xmlns:a16="http://schemas.microsoft.com/office/drawing/2014/main" id="{B15DA810-0AC5-40C4-A5A1-B1285D0BA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2">
              <a:extLst>
                <a:ext uri="{FF2B5EF4-FFF2-40B4-BE49-F238E27FC236}">
                  <a16:creationId xmlns:a16="http://schemas.microsoft.com/office/drawing/2014/main" id="{FD1476BC-AC33-4968-8BE4-E89562505D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3">
              <a:extLst>
                <a:ext uri="{FF2B5EF4-FFF2-40B4-BE49-F238E27FC236}">
                  <a16:creationId xmlns:a16="http://schemas.microsoft.com/office/drawing/2014/main" id="{0B4524DE-4782-43B9-83DA-A10F81CC0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4">
              <a:extLst>
                <a:ext uri="{FF2B5EF4-FFF2-40B4-BE49-F238E27FC236}">
                  <a16:creationId xmlns:a16="http://schemas.microsoft.com/office/drawing/2014/main" id="{DB720F95-412E-4E6C-802D-473669FBF1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5">
              <a:extLst>
                <a:ext uri="{FF2B5EF4-FFF2-40B4-BE49-F238E27FC236}">
                  <a16:creationId xmlns:a16="http://schemas.microsoft.com/office/drawing/2014/main" id="{6F409CC0-6CE5-411A-A631-05BC30DE3F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66">
              <a:extLst>
                <a:ext uri="{FF2B5EF4-FFF2-40B4-BE49-F238E27FC236}">
                  <a16:creationId xmlns:a16="http://schemas.microsoft.com/office/drawing/2014/main" id="{FBBEC337-3D96-4552-94E6-D5A400715A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28" name="Freeform 67">
              <a:extLst>
                <a:ext uri="{FF2B5EF4-FFF2-40B4-BE49-F238E27FC236}">
                  <a16:creationId xmlns:a16="http://schemas.microsoft.com/office/drawing/2014/main" id="{0B480263-2724-4D8D-890E-23B98114D4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29" name="Freeform 68">
              <a:extLst>
                <a:ext uri="{FF2B5EF4-FFF2-40B4-BE49-F238E27FC236}">
                  <a16:creationId xmlns:a16="http://schemas.microsoft.com/office/drawing/2014/main" id="{7FC2FF67-8A42-4CD0-B5E5-272103BC23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2" name="Freeform 71">
              <a:extLst>
                <a:ext uri="{FF2B5EF4-FFF2-40B4-BE49-F238E27FC236}">
                  <a16:creationId xmlns:a16="http://schemas.microsoft.com/office/drawing/2014/main" id="{FD80A767-1C22-4670-99FF-B8B248D1B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3" name="Freeform 72">
              <a:extLst>
                <a:ext uri="{FF2B5EF4-FFF2-40B4-BE49-F238E27FC236}">
                  <a16:creationId xmlns:a16="http://schemas.microsoft.com/office/drawing/2014/main" id="{63B25B06-018E-4207-8D4D-28A3CAB37F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4" name="Freeform 73">
              <a:extLst>
                <a:ext uri="{FF2B5EF4-FFF2-40B4-BE49-F238E27FC236}">
                  <a16:creationId xmlns:a16="http://schemas.microsoft.com/office/drawing/2014/main" id="{5D585783-FD34-4BEE-B88F-4B5FB48E4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5" name="Freeform 74">
              <a:extLst>
                <a:ext uri="{FF2B5EF4-FFF2-40B4-BE49-F238E27FC236}">
                  <a16:creationId xmlns:a16="http://schemas.microsoft.com/office/drawing/2014/main" id="{4C4350A5-33CD-4F3C-9E46-A7BA7A3F80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6" name="Freeform 75">
              <a:extLst>
                <a:ext uri="{FF2B5EF4-FFF2-40B4-BE49-F238E27FC236}">
                  <a16:creationId xmlns:a16="http://schemas.microsoft.com/office/drawing/2014/main" id="{2C1A229B-0034-4B96-BD9F-4C994F24CD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38" name="Freeform 77">
              <a:extLst>
                <a:ext uri="{FF2B5EF4-FFF2-40B4-BE49-F238E27FC236}">
                  <a16:creationId xmlns:a16="http://schemas.microsoft.com/office/drawing/2014/main" id="{CF3B3962-B84A-4F1D-8B93-0BED7414ED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0" name="Freeform 79">
              <a:extLst>
                <a:ext uri="{FF2B5EF4-FFF2-40B4-BE49-F238E27FC236}">
                  <a16:creationId xmlns:a16="http://schemas.microsoft.com/office/drawing/2014/main" id="{961F8AA8-F20D-422E-8437-87E243BB6F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1" name="Freeform 80">
              <a:extLst>
                <a:ext uri="{FF2B5EF4-FFF2-40B4-BE49-F238E27FC236}">
                  <a16:creationId xmlns:a16="http://schemas.microsoft.com/office/drawing/2014/main" id="{4E51C430-C56F-4FCE-A8D2-F80B69939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2" name="Freeform 81">
              <a:extLst>
                <a:ext uri="{FF2B5EF4-FFF2-40B4-BE49-F238E27FC236}">
                  <a16:creationId xmlns:a16="http://schemas.microsoft.com/office/drawing/2014/main" id="{D13B5027-1B7C-4ADA-B936-D7BF2A08C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3" name="Freeform 82">
              <a:extLst>
                <a:ext uri="{FF2B5EF4-FFF2-40B4-BE49-F238E27FC236}">
                  <a16:creationId xmlns:a16="http://schemas.microsoft.com/office/drawing/2014/main" id="{9A093AB1-2883-4487-BA43-17D9702BC3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4" name="Freeform 83">
              <a:extLst>
                <a:ext uri="{FF2B5EF4-FFF2-40B4-BE49-F238E27FC236}">
                  <a16:creationId xmlns:a16="http://schemas.microsoft.com/office/drawing/2014/main" id="{AA71B833-BA1E-4616-AB0B-5881C5F3EE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5" name="Freeform 84">
              <a:extLst>
                <a:ext uri="{FF2B5EF4-FFF2-40B4-BE49-F238E27FC236}">
                  <a16:creationId xmlns:a16="http://schemas.microsoft.com/office/drawing/2014/main" id="{E764C7B4-7F50-466F-8499-DA36A2B899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6" name="Freeform 85">
              <a:extLst>
                <a:ext uri="{FF2B5EF4-FFF2-40B4-BE49-F238E27FC236}">
                  <a16:creationId xmlns:a16="http://schemas.microsoft.com/office/drawing/2014/main" id="{092929F9-5B9E-4756-9ABB-428BAC74A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47" name="Freeform 86">
              <a:extLst>
                <a:ext uri="{FF2B5EF4-FFF2-40B4-BE49-F238E27FC236}">
                  <a16:creationId xmlns:a16="http://schemas.microsoft.com/office/drawing/2014/main" id="{8C90C5E6-79A2-4060-8EB1-737E351C3E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096" name="直接连接符 4095">
              <a:extLst>
                <a:ext uri="{FF2B5EF4-FFF2-40B4-BE49-F238E27FC236}">
                  <a16:creationId xmlns:a16="http://schemas.microsoft.com/office/drawing/2014/main" id="{B1EA0FC5-29CD-4F28-A45D-D157FD7E5B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867A0B53-8EDF-48B5-9A4E-8F1B2EE88CC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459F3CA0-87B8-43D8-B691-12FB120D8EC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E3DD8066-40F4-4A02-9DF1-05A162F2CA2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001A6F1F-C585-4281-828C-058AB5EDE524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493F7646-9DF0-4328-BA59-726818EBD66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557EAC11-F2A0-4C08-8F11-44BF87802B10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5D1273CE-BE25-441B-953B-C1B5966CAE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8F096A9B-1AA8-431A-BB04-8C15CF5627F3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2919DAC9-4D15-444E-AD29-DB55069F5E6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E0D349D6-48B6-4D60-8DDF-1C1342CDA205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7089C232-3C85-423F-947B-0BFA9401DFA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C560641A-F420-4727-A7F7-179E3FE63748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545304FD-1796-4169-B922-A5937A78C4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73E6A0CA-67C2-42EF-8383-B14B770ED349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AF574737-39F9-4472-AE17-3BFF53B46DE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9D684D3A-8C4E-4158-8772-8D8471CDA919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1E239B15-E30E-46F9-A6D0-F08CDCC35D74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4" name="Freeform 90">
              <a:extLst>
                <a:ext uri="{FF2B5EF4-FFF2-40B4-BE49-F238E27FC236}">
                  <a16:creationId xmlns:a16="http://schemas.microsoft.com/office/drawing/2014/main" id="{AF6DEBA4-934D-42E9-8FD3-EA26D0DCE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55" name="Freeform 91">
              <a:extLst>
                <a:ext uri="{FF2B5EF4-FFF2-40B4-BE49-F238E27FC236}">
                  <a16:creationId xmlns:a16="http://schemas.microsoft.com/office/drawing/2014/main" id="{D3086A1B-50B2-4CAF-9735-932CF494AE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Freeform 90">
              <a:extLst>
                <a:ext uri="{FF2B5EF4-FFF2-40B4-BE49-F238E27FC236}">
                  <a16:creationId xmlns:a16="http://schemas.microsoft.com/office/drawing/2014/main" id="{C63D826E-5E90-4F6D-88F7-EA5A08B904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247" name="任意多边形: 形状 246">
              <a:extLst>
                <a:ext uri="{FF2B5EF4-FFF2-40B4-BE49-F238E27FC236}">
                  <a16:creationId xmlns:a16="http://schemas.microsoft.com/office/drawing/2014/main" id="{A1430432-40EA-4925-AA20-F60AF99BA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5" name="任意多边形: 形状 244">
              <a:extLst>
                <a:ext uri="{FF2B5EF4-FFF2-40B4-BE49-F238E27FC236}">
                  <a16:creationId xmlns:a16="http://schemas.microsoft.com/office/drawing/2014/main" id="{20D60DA0-3304-4EAA-A6B3-B1D71DBAC6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1" name="任意多边形: 形状 240">
              <a:extLst>
                <a:ext uri="{FF2B5EF4-FFF2-40B4-BE49-F238E27FC236}">
                  <a16:creationId xmlns:a16="http://schemas.microsoft.com/office/drawing/2014/main" id="{5F215D2E-5F33-46B1-BF06-9545891E75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39" name="任意多边形: 形状 238">
              <a:extLst>
                <a:ext uri="{FF2B5EF4-FFF2-40B4-BE49-F238E27FC236}">
                  <a16:creationId xmlns:a16="http://schemas.microsoft.com/office/drawing/2014/main" id="{3999E84D-AA32-4328-8EB1-E150383BC4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8" name="任意多边形: 形状 247">
              <a:extLst>
                <a:ext uri="{FF2B5EF4-FFF2-40B4-BE49-F238E27FC236}">
                  <a16:creationId xmlns:a16="http://schemas.microsoft.com/office/drawing/2014/main" id="{E2DF0AA1-2C0A-4E2E-99B1-A1EB47B77077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9" name="任意多边形: 形状 248">
              <a:extLst>
                <a:ext uri="{FF2B5EF4-FFF2-40B4-BE49-F238E27FC236}">
                  <a16:creationId xmlns:a16="http://schemas.microsoft.com/office/drawing/2014/main" id="{93F95DFF-692A-4154-AB5C-0BEB1715CA9F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0" name="任意多边形: 形状 249">
              <a:extLst>
                <a:ext uri="{FF2B5EF4-FFF2-40B4-BE49-F238E27FC236}">
                  <a16:creationId xmlns:a16="http://schemas.microsoft.com/office/drawing/2014/main" id="{12DE8761-93A2-4BA5-96ED-CBDB609E5AA2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1" name="任意多边形: 形状 250">
              <a:extLst>
                <a:ext uri="{FF2B5EF4-FFF2-40B4-BE49-F238E27FC236}">
                  <a16:creationId xmlns:a16="http://schemas.microsoft.com/office/drawing/2014/main" id="{31E777D3-0C18-4121-89DC-F8148821A7C1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46" name="Freeform 106">
              <a:extLst>
                <a:ext uri="{FF2B5EF4-FFF2-40B4-BE49-F238E27FC236}">
                  <a16:creationId xmlns:a16="http://schemas.microsoft.com/office/drawing/2014/main" id="{4E1033CC-A13D-4768-92B6-DDBAE3D7D4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3403" y="4071055"/>
            <a:ext cx="2340818" cy="296271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3402" y="4533176"/>
            <a:ext cx="508759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F43A69A-C441-46B2-A04C-833C041584CC}"/>
              </a:ext>
            </a:extLst>
          </p:cNvPr>
          <p:cNvSpPr/>
          <p:nvPr userDrawn="1"/>
        </p:nvSpPr>
        <p:spPr>
          <a:xfrm>
            <a:off x="-111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5457956" y="2573757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5459072" y="3469107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DFAD072-98A3-4A9A-A57D-A2BBD0C400AF}"/>
              </a:ext>
            </a:extLst>
          </p:cNvPr>
          <p:cNvGrpSpPr/>
          <p:nvPr userDrawn="1"/>
        </p:nvGrpSpPr>
        <p:grpSpPr>
          <a:xfrm flipH="1">
            <a:off x="347887" y="1993644"/>
            <a:ext cx="7140148" cy="3966548"/>
            <a:chOff x="4656138" y="2437995"/>
            <a:chExt cx="6846887" cy="3803634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1FEC273-3D18-48A3-8E14-F2C2E0EA1388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5B24915-2C92-4794-B49D-726193F73647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23F1A1F-8473-4CAC-8B68-2ECBFEBF8864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E18F4E0-9855-455A-9AB4-8E45971C61FF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30A201A1-80D9-4DA8-A881-55B80110B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F3FC629-F814-44C8-848B-3A13EF052D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C71528E-8757-4884-83C1-214745F9F2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ED5565D2-665C-4D02-AF53-29AFF656BF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8470F6EC-9358-4962-9498-35900AC547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55">
              <a:extLst>
                <a:ext uri="{FF2B5EF4-FFF2-40B4-BE49-F238E27FC236}">
                  <a16:creationId xmlns:a16="http://schemas.microsoft.com/office/drawing/2014/main" id="{1B8B1E90-E8E6-474C-A9F4-D613AE0CAB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56">
              <a:extLst>
                <a:ext uri="{FF2B5EF4-FFF2-40B4-BE49-F238E27FC236}">
                  <a16:creationId xmlns:a16="http://schemas.microsoft.com/office/drawing/2014/main" id="{069847D9-8534-4608-A15D-B6E42ACE98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57">
              <a:extLst>
                <a:ext uri="{FF2B5EF4-FFF2-40B4-BE49-F238E27FC236}">
                  <a16:creationId xmlns:a16="http://schemas.microsoft.com/office/drawing/2014/main" id="{48EC9D43-F746-48CA-9F08-8E6CB81079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58">
              <a:extLst>
                <a:ext uri="{FF2B5EF4-FFF2-40B4-BE49-F238E27FC236}">
                  <a16:creationId xmlns:a16="http://schemas.microsoft.com/office/drawing/2014/main" id="{54203647-D14B-459B-A874-D5CE3FF3B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59">
              <a:extLst>
                <a:ext uri="{FF2B5EF4-FFF2-40B4-BE49-F238E27FC236}">
                  <a16:creationId xmlns:a16="http://schemas.microsoft.com/office/drawing/2014/main" id="{08820E61-22DB-4B15-9C62-34AE5ADA75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60">
              <a:extLst>
                <a:ext uri="{FF2B5EF4-FFF2-40B4-BE49-F238E27FC236}">
                  <a16:creationId xmlns:a16="http://schemas.microsoft.com/office/drawing/2014/main" id="{AEDA835B-253D-49A4-AD92-D38F3FD8A5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61">
              <a:extLst>
                <a:ext uri="{FF2B5EF4-FFF2-40B4-BE49-F238E27FC236}">
                  <a16:creationId xmlns:a16="http://schemas.microsoft.com/office/drawing/2014/main" id="{EAAF6E4C-9F9A-49F1-8348-DF77685638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62">
              <a:extLst>
                <a:ext uri="{FF2B5EF4-FFF2-40B4-BE49-F238E27FC236}">
                  <a16:creationId xmlns:a16="http://schemas.microsoft.com/office/drawing/2014/main" id="{0347101B-1CD1-4977-A202-28F12251DD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3">
              <a:extLst>
                <a:ext uri="{FF2B5EF4-FFF2-40B4-BE49-F238E27FC236}">
                  <a16:creationId xmlns:a16="http://schemas.microsoft.com/office/drawing/2014/main" id="{A65CBAA9-9DF4-4F79-A533-CE5F4A3231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4">
              <a:extLst>
                <a:ext uri="{FF2B5EF4-FFF2-40B4-BE49-F238E27FC236}">
                  <a16:creationId xmlns:a16="http://schemas.microsoft.com/office/drawing/2014/main" id="{306AC6B0-8C0B-470D-9853-86D766DEA4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5">
              <a:extLst>
                <a:ext uri="{FF2B5EF4-FFF2-40B4-BE49-F238E27FC236}">
                  <a16:creationId xmlns:a16="http://schemas.microsoft.com/office/drawing/2014/main" id="{D8CA5445-3AAF-46BA-84D0-F11755E0E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6">
              <a:extLst>
                <a:ext uri="{FF2B5EF4-FFF2-40B4-BE49-F238E27FC236}">
                  <a16:creationId xmlns:a16="http://schemas.microsoft.com/office/drawing/2014/main" id="{6E0F6EDD-9620-4A0A-9E52-85896B6B3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7">
              <a:extLst>
                <a:ext uri="{FF2B5EF4-FFF2-40B4-BE49-F238E27FC236}">
                  <a16:creationId xmlns:a16="http://schemas.microsoft.com/office/drawing/2014/main" id="{2B23DE40-FEA9-419A-A012-944D8879A7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8">
              <a:extLst>
                <a:ext uri="{FF2B5EF4-FFF2-40B4-BE49-F238E27FC236}">
                  <a16:creationId xmlns:a16="http://schemas.microsoft.com/office/drawing/2014/main" id="{467CDEB9-2068-43B0-9F98-13F176B669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71">
              <a:extLst>
                <a:ext uri="{FF2B5EF4-FFF2-40B4-BE49-F238E27FC236}">
                  <a16:creationId xmlns:a16="http://schemas.microsoft.com/office/drawing/2014/main" id="{2BA56708-F51B-4820-B39A-C5A8772A9E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72">
              <a:extLst>
                <a:ext uri="{FF2B5EF4-FFF2-40B4-BE49-F238E27FC236}">
                  <a16:creationId xmlns:a16="http://schemas.microsoft.com/office/drawing/2014/main" id="{3A242F8D-27D2-48B9-B89B-292D52ED31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73">
              <a:extLst>
                <a:ext uri="{FF2B5EF4-FFF2-40B4-BE49-F238E27FC236}">
                  <a16:creationId xmlns:a16="http://schemas.microsoft.com/office/drawing/2014/main" id="{2B847F8F-E746-4ABE-9736-9BBD73E82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74">
              <a:extLst>
                <a:ext uri="{FF2B5EF4-FFF2-40B4-BE49-F238E27FC236}">
                  <a16:creationId xmlns:a16="http://schemas.microsoft.com/office/drawing/2014/main" id="{F9BFC2B0-E8DC-476C-8440-1E265F6C5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75">
              <a:extLst>
                <a:ext uri="{FF2B5EF4-FFF2-40B4-BE49-F238E27FC236}">
                  <a16:creationId xmlns:a16="http://schemas.microsoft.com/office/drawing/2014/main" id="{F68124A6-7643-4752-A093-522E178E22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77">
              <a:extLst>
                <a:ext uri="{FF2B5EF4-FFF2-40B4-BE49-F238E27FC236}">
                  <a16:creationId xmlns:a16="http://schemas.microsoft.com/office/drawing/2014/main" id="{7479CF2F-F825-4ED9-8980-9CDC581AD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79">
              <a:extLst>
                <a:ext uri="{FF2B5EF4-FFF2-40B4-BE49-F238E27FC236}">
                  <a16:creationId xmlns:a16="http://schemas.microsoft.com/office/drawing/2014/main" id="{E2AC8F3E-E460-4D8E-A14F-DE4BCDA07A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80">
              <a:extLst>
                <a:ext uri="{FF2B5EF4-FFF2-40B4-BE49-F238E27FC236}">
                  <a16:creationId xmlns:a16="http://schemas.microsoft.com/office/drawing/2014/main" id="{877DA411-2751-44F2-A7EE-AA70CF8BCC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81">
              <a:extLst>
                <a:ext uri="{FF2B5EF4-FFF2-40B4-BE49-F238E27FC236}">
                  <a16:creationId xmlns:a16="http://schemas.microsoft.com/office/drawing/2014/main" id="{08C14B30-69E1-436F-9656-9A670ED0A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2">
              <a:extLst>
                <a:ext uri="{FF2B5EF4-FFF2-40B4-BE49-F238E27FC236}">
                  <a16:creationId xmlns:a16="http://schemas.microsoft.com/office/drawing/2014/main" id="{81AB594C-8CCA-4332-AD1F-2ABC1E9301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83">
              <a:extLst>
                <a:ext uri="{FF2B5EF4-FFF2-40B4-BE49-F238E27FC236}">
                  <a16:creationId xmlns:a16="http://schemas.microsoft.com/office/drawing/2014/main" id="{F5473C86-4E85-479B-A4DF-0AE3B70A98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84">
              <a:extLst>
                <a:ext uri="{FF2B5EF4-FFF2-40B4-BE49-F238E27FC236}">
                  <a16:creationId xmlns:a16="http://schemas.microsoft.com/office/drawing/2014/main" id="{939CD653-6F1F-4C21-B0AD-212B0C319E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85">
              <a:extLst>
                <a:ext uri="{FF2B5EF4-FFF2-40B4-BE49-F238E27FC236}">
                  <a16:creationId xmlns:a16="http://schemas.microsoft.com/office/drawing/2014/main" id="{F3EE7AF8-F12B-4F2A-ADA4-D056575153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86">
              <a:extLst>
                <a:ext uri="{FF2B5EF4-FFF2-40B4-BE49-F238E27FC236}">
                  <a16:creationId xmlns:a16="http://schemas.microsoft.com/office/drawing/2014/main" id="{40F9DFFF-4CD4-43CD-AB17-5E0589E60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A3D1317-FBA6-4CE2-896A-4E1EEC200D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0039AA1-8B60-43A6-A6DB-294AF4C0BEC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C686BC3-7823-4311-971E-CED47FEC233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83AA01B2-BBA9-482C-AF61-FE5CC7143586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1B26D1D-08BE-425A-97B5-DD08D3807562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34BC058-D62E-4510-8D65-416300B44AC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03276EA7-5327-40E5-8F85-64AF830B6CA1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9789196-78EC-4E5A-A04D-62DD88105C0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E4B2A535-B781-4AF0-ADDC-76897951D9BB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8CECE6A-AC08-4EF9-B3FE-1D230C534BB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737CB0B0-345F-4485-8D6F-9F7A19E99ABD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066FF86-60CC-413B-A38C-5877DF3423B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418658E-3C78-4374-B2D3-E9F25A672F8D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8A1BA54-6C50-42DD-9E37-F4BE9AAC50C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DC5D5A44-A1EF-4532-8AD3-E8823B57F81E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55015E5-0B2E-46E6-A7AB-11C57440AE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C463780-6B50-492E-8198-C64C39D93999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EB51A2E-F9D5-43AA-8F4D-C0E2739FFE05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reeform 90">
              <a:extLst>
                <a:ext uri="{FF2B5EF4-FFF2-40B4-BE49-F238E27FC236}">
                  <a16:creationId xmlns:a16="http://schemas.microsoft.com/office/drawing/2014/main" id="{AF8EE743-B501-40A3-87A8-EE389C934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91">
              <a:extLst>
                <a:ext uri="{FF2B5EF4-FFF2-40B4-BE49-F238E27FC236}">
                  <a16:creationId xmlns:a16="http://schemas.microsoft.com/office/drawing/2014/main" id="{434E1605-FC1A-45F6-A9B3-8B234DCB5A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90">
              <a:extLst>
                <a:ext uri="{FF2B5EF4-FFF2-40B4-BE49-F238E27FC236}">
                  <a16:creationId xmlns:a16="http://schemas.microsoft.com/office/drawing/2014/main" id="{8CC5DB59-0C2F-44B5-9B7F-1F2AD177C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66" name="任意多边形: 形状 65" hidden="1">
              <a:extLst>
                <a:ext uri="{FF2B5EF4-FFF2-40B4-BE49-F238E27FC236}">
                  <a16:creationId xmlns:a16="http://schemas.microsoft.com/office/drawing/2014/main" id="{CA81584A-65BF-4DB2-BCDC-906ECBF8F7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7" name="任意多边形: 形状 66" hidden="1">
              <a:extLst>
                <a:ext uri="{FF2B5EF4-FFF2-40B4-BE49-F238E27FC236}">
                  <a16:creationId xmlns:a16="http://schemas.microsoft.com/office/drawing/2014/main" id="{79F8DF02-08D3-40AF-8A42-A376AB444B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 hidden="1">
              <a:extLst>
                <a:ext uri="{FF2B5EF4-FFF2-40B4-BE49-F238E27FC236}">
                  <a16:creationId xmlns:a16="http://schemas.microsoft.com/office/drawing/2014/main" id="{2E910DF9-4B42-45E0-8930-43DB730251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 hidden="1">
              <a:extLst>
                <a:ext uri="{FF2B5EF4-FFF2-40B4-BE49-F238E27FC236}">
                  <a16:creationId xmlns:a16="http://schemas.microsoft.com/office/drawing/2014/main" id="{5EC3441C-AA60-434F-89C7-FAE737B82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 hidden="1">
              <a:extLst>
                <a:ext uri="{FF2B5EF4-FFF2-40B4-BE49-F238E27FC236}">
                  <a16:creationId xmlns:a16="http://schemas.microsoft.com/office/drawing/2014/main" id="{E5982589-29D3-4142-AE6E-E82171962760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 hidden="1">
              <a:extLst>
                <a:ext uri="{FF2B5EF4-FFF2-40B4-BE49-F238E27FC236}">
                  <a16:creationId xmlns:a16="http://schemas.microsoft.com/office/drawing/2014/main" id="{06FDC9FE-130B-4BB1-B7E7-2875335138B5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 hidden="1">
              <a:extLst>
                <a:ext uri="{FF2B5EF4-FFF2-40B4-BE49-F238E27FC236}">
                  <a16:creationId xmlns:a16="http://schemas.microsoft.com/office/drawing/2014/main" id="{D0408D99-7102-4AE9-903E-0A3463396D8E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 hidden="1">
              <a:extLst>
                <a:ext uri="{FF2B5EF4-FFF2-40B4-BE49-F238E27FC236}">
                  <a16:creationId xmlns:a16="http://schemas.microsoft.com/office/drawing/2014/main" id="{AEB11552-24CE-450D-BC4B-BD0B224E7CD7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Freeform 106">
              <a:extLst>
                <a:ext uri="{FF2B5EF4-FFF2-40B4-BE49-F238E27FC236}">
                  <a16:creationId xmlns:a16="http://schemas.microsoft.com/office/drawing/2014/main" id="{802652E2-13D5-4D4D-A1C1-D4A24DA696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2025/12/17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2025/12/17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>
            <a:extLst>
              <a:ext uri="{FF2B5EF4-FFF2-40B4-BE49-F238E27FC236}">
                <a16:creationId xmlns:a16="http://schemas.microsoft.com/office/drawing/2014/main" id="{818B7027-5C92-45CB-BBAA-AB7DCDF6E2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405683" y="1846467"/>
            <a:ext cx="5079462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405683" y="4152703"/>
            <a:ext cx="507946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5685" y="3856432"/>
            <a:ext cx="5079462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3383A2F-1BBF-442C-B637-EC75AFBB314F}"/>
              </a:ext>
            </a:extLst>
          </p:cNvPr>
          <p:cNvGrpSpPr/>
          <p:nvPr userDrawn="1"/>
        </p:nvGrpSpPr>
        <p:grpSpPr>
          <a:xfrm flipH="1">
            <a:off x="140435" y="835838"/>
            <a:ext cx="9680127" cy="5377577"/>
            <a:chOff x="4656138" y="2437995"/>
            <a:chExt cx="6846887" cy="3803634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C554A3D-024E-478A-AA3F-7C9AC070E6DE}"/>
                </a:ext>
              </a:extLst>
            </p:cNvPr>
            <p:cNvSpPr/>
            <p:nvPr userDrawn="1"/>
          </p:nvSpPr>
          <p:spPr>
            <a:xfrm>
              <a:off x="9791994" y="5509651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CC78CBC-9FE1-4BEC-900F-4C15400789B4}"/>
                </a:ext>
              </a:extLst>
            </p:cNvPr>
            <p:cNvSpPr/>
            <p:nvPr userDrawn="1"/>
          </p:nvSpPr>
          <p:spPr>
            <a:xfrm>
              <a:off x="8951536" y="5923755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2C2BE32-0DCF-4892-BE44-3D28A9D09EA9}"/>
                </a:ext>
              </a:extLst>
            </p:cNvPr>
            <p:cNvSpPr/>
            <p:nvPr userDrawn="1"/>
          </p:nvSpPr>
          <p:spPr>
            <a:xfrm>
              <a:off x="7681196" y="5266157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EE4A866-47D1-4299-A8BC-68ECE5F053D6}"/>
                </a:ext>
              </a:extLst>
            </p:cNvPr>
            <p:cNvSpPr/>
            <p:nvPr userDrawn="1"/>
          </p:nvSpPr>
          <p:spPr>
            <a:xfrm>
              <a:off x="6269331" y="5704329"/>
              <a:ext cx="564315" cy="317874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20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68F80A6-5641-486A-AF6D-506CE3D7EC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56138" y="4818063"/>
              <a:ext cx="6846887" cy="1335087"/>
            </a:xfrm>
            <a:custGeom>
              <a:avLst/>
              <a:gdLst>
                <a:gd name="T0" fmla="*/ 2059 w 2076"/>
                <a:gd name="T1" fmla="*/ 0 h 404"/>
                <a:gd name="T2" fmla="*/ 2053 w 2076"/>
                <a:gd name="T3" fmla="*/ 2 h 404"/>
                <a:gd name="T4" fmla="*/ 1420 w 2076"/>
                <a:gd name="T5" fmla="*/ 368 h 404"/>
                <a:gd name="T6" fmla="*/ 1388 w 2076"/>
                <a:gd name="T7" fmla="*/ 376 h 404"/>
                <a:gd name="T8" fmla="*/ 1357 w 2076"/>
                <a:gd name="T9" fmla="*/ 368 h 404"/>
                <a:gd name="T10" fmla="*/ 949 w 2076"/>
                <a:gd name="T11" fmla="*/ 132 h 404"/>
                <a:gd name="T12" fmla="*/ 903 w 2076"/>
                <a:gd name="T13" fmla="*/ 120 h 404"/>
                <a:gd name="T14" fmla="*/ 858 w 2076"/>
                <a:gd name="T15" fmla="*/ 132 h 404"/>
                <a:gd name="T16" fmla="*/ 521 w 2076"/>
                <a:gd name="T17" fmla="*/ 326 h 404"/>
                <a:gd name="T18" fmla="*/ 490 w 2076"/>
                <a:gd name="T19" fmla="*/ 335 h 404"/>
                <a:gd name="T20" fmla="*/ 459 w 2076"/>
                <a:gd name="T21" fmla="*/ 326 h 404"/>
                <a:gd name="T22" fmla="*/ 23 w 2076"/>
                <a:gd name="T23" fmla="*/ 75 h 404"/>
                <a:gd name="T24" fmla="*/ 16 w 2076"/>
                <a:gd name="T25" fmla="*/ 73 h 404"/>
                <a:gd name="T26" fmla="*/ 4 w 2076"/>
                <a:gd name="T27" fmla="*/ 80 h 404"/>
                <a:gd name="T28" fmla="*/ 9 w 2076"/>
                <a:gd name="T29" fmla="*/ 99 h 404"/>
                <a:gd name="T30" fmla="*/ 445 w 2076"/>
                <a:gd name="T31" fmla="*/ 351 h 404"/>
                <a:gd name="T32" fmla="*/ 490 w 2076"/>
                <a:gd name="T33" fmla="*/ 363 h 404"/>
                <a:gd name="T34" fmla="*/ 535 w 2076"/>
                <a:gd name="T35" fmla="*/ 351 h 404"/>
                <a:gd name="T36" fmla="*/ 872 w 2076"/>
                <a:gd name="T37" fmla="*/ 156 h 404"/>
                <a:gd name="T38" fmla="*/ 903 w 2076"/>
                <a:gd name="T39" fmla="*/ 148 h 404"/>
                <a:gd name="T40" fmla="*/ 935 w 2076"/>
                <a:gd name="T41" fmla="*/ 156 h 404"/>
                <a:gd name="T42" fmla="*/ 1343 w 2076"/>
                <a:gd name="T43" fmla="*/ 392 h 404"/>
                <a:gd name="T44" fmla="*/ 1388 w 2076"/>
                <a:gd name="T45" fmla="*/ 404 h 404"/>
                <a:gd name="T46" fmla="*/ 1434 w 2076"/>
                <a:gd name="T47" fmla="*/ 392 h 404"/>
                <a:gd name="T48" fmla="*/ 2067 w 2076"/>
                <a:gd name="T49" fmla="*/ 26 h 404"/>
                <a:gd name="T50" fmla="*/ 2072 w 2076"/>
                <a:gd name="T51" fmla="*/ 7 h 404"/>
                <a:gd name="T52" fmla="*/ 2059 w 2076"/>
                <a:gd name="T5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76" h="404">
                  <a:moveTo>
                    <a:pt x="2059" y="0"/>
                  </a:moveTo>
                  <a:cubicBezTo>
                    <a:pt x="2057" y="0"/>
                    <a:pt x="2055" y="1"/>
                    <a:pt x="2053" y="2"/>
                  </a:cubicBezTo>
                  <a:cubicBezTo>
                    <a:pt x="1420" y="368"/>
                    <a:pt x="1420" y="368"/>
                    <a:pt x="1420" y="368"/>
                  </a:cubicBezTo>
                  <a:cubicBezTo>
                    <a:pt x="1410" y="373"/>
                    <a:pt x="1399" y="376"/>
                    <a:pt x="1388" y="376"/>
                  </a:cubicBezTo>
                  <a:cubicBezTo>
                    <a:pt x="1378" y="376"/>
                    <a:pt x="1367" y="373"/>
                    <a:pt x="1357" y="368"/>
                  </a:cubicBezTo>
                  <a:cubicBezTo>
                    <a:pt x="949" y="132"/>
                    <a:pt x="949" y="132"/>
                    <a:pt x="949" y="132"/>
                  </a:cubicBezTo>
                  <a:cubicBezTo>
                    <a:pt x="935" y="124"/>
                    <a:pt x="919" y="120"/>
                    <a:pt x="903" y="120"/>
                  </a:cubicBezTo>
                  <a:cubicBezTo>
                    <a:pt x="888" y="120"/>
                    <a:pt x="872" y="124"/>
                    <a:pt x="858" y="132"/>
                  </a:cubicBezTo>
                  <a:cubicBezTo>
                    <a:pt x="521" y="326"/>
                    <a:pt x="521" y="326"/>
                    <a:pt x="521" y="326"/>
                  </a:cubicBezTo>
                  <a:cubicBezTo>
                    <a:pt x="511" y="332"/>
                    <a:pt x="501" y="335"/>
                    <a:pt x="490" y="335"/>
                  </a:cubicBezTo>
                  <a:cubicBezTo>
                    <a:pt x="479" y="335"/>
                    <a:pt x="468" y="332"/>
                    <a:pt x="459" y="32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1" y="74"/>
                    <a:pt x="19" y="73"/>
                    <a:pt x="16" y="73"/>
                  </a:cubicBezTo>
                  <a:cubicBezTo>
                    <a:pt x="11" y="73"/>
                    <a:pt x="7" y="76"/>
                    <a:pt x="4" y="80"/>
                  </a:cubicBezTo>
                  <a:cubicBezTo>
                    <a:pt x="0" y="87"/>
                    <a:pt x="3" y="95"/>
                    <a:pt x="9" y="99"/>
                  </a:cubicBezTo>
                  <a:cubicBezTo>
                    <a:pt x="445" y="351"/>
                    <a:pt x="445" y="351"/>
                    <a:pt x="445" y="351"/>
                  </a:cubicBezTo>
                  <a:cubicBezTo>
                    <a:pt x="459" y="359"/>
                    <a:pt x="474" y="363"/>
                    <a:pt x="490" y="363"/>
                  </a:cubicBezTo>
                  <a:cubicBezTo>
                    <a:pt x="506" y="363"/>
                    <a:pt x="521" y="359"/>
                    <a:pt x="535" y="351"/>
                  </a:cubicBezTo>
                  <a:cubicBezTo>
                    <a:pt x="872" y="156"/>
                    <a:pt x="872" y="156"/>
                    <a:pt x="872" y="156"/>
                  </a:cubicBezTo>
                  <a:cubicBezTo>
                    <a:pt x="882" y="150"/>
                    <a:pt x="893" y="148"/>
                    <a:pt x="903" y="148"/>
                  </a:cubicBezTo>
                  <a:cubicBezTo>
                    <a:pt x="914" y="148"/>
                    <a:pt x="925" y="150"/>
                    <a:pt x="935" y="156"/>
                  </a:cubicBezTo>
                  <a:cubicBezTo>
                    <a:pt x="1343" y="392"/>
                    <a:pt x="1343" y="392"/>
                    <a:pt x="1343" y="392"/>
                  </a:cubicBezTo>
                  <a:cubicBezTo>
                    <a:pt x="1357" y="400"/>
                    <a:pt x="1373" y="404"/>
                    <a:pt x="1388" y="404"/>
                  </a:cubicBezTo>
                  <a:cubicBezTo>
                    <a:pt x="1404" y="404"/>
                    <a:pt x="1420" y="400"/>
                    <a:pt x="1434" y="392"/>
                  </a:cubicBezTo>
                  <a:cubicBezTo>
                    <a:pt x="2067" y="26"/>
                    <a:pt x="2067" y="26"/>
                    <a:pt x="2067" y="26"/>
                  </a:cubicBezTo>
                  <a:cubicBezTo>
                    <a:pt x="2073" y="23"/>
                    <a:pt x="2076" y="14"/>
                    <a:pt x="2072" y="7"/>
                  </a:cubicBezTo>
                  <a:cubicBezTo>
                    <a:pt x="2069" y="3"/>
                    <a:pt x="2064" y="0"/>
                    <a:pt x="2059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50000"/>
                  </a:srgbClr>
                </a:gs>
                <a:gs pos="37000">
                  <a:srgbClr val="41E4DE">
                    <a:alpha val="50000"/>
                  </a:srgbClr>
                </a:gs>
                <a:gs pos="0">
                  <a:srgbClr val="19145F">
                    <a:alpha val="50000"/>
                  </a:srgbClr>
                </a:gs>
                <a:gs pos="100000">
                  <a:srgbClr val="19125E">
                    <a:alpha val="50000"/>
                  </a:srgbClr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C823025-CC4D-448B-B923-ED6EE7BAFF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40638" y="3989388"/>
              <a:ext cx="3186112" cy="1830387"/>
            </a:xfrm>
            <a:custGeom>
              <a:avLst/>
              <a:gdLst>
                <a:gd name="T0" fmla="*/ 483 w 966"/>
                <a:gd name="T1" fmla="*/ 466 h 554"/>
                <a:gd name="T2" fmla="*/ 157 w 966"/>
                <a:gd name="T3" fmla="*/ 277 h 554"/>
                <a:gd name="T4" fmla="*/ 483 w 966"/>
                <a:gd name="T5" fmla="*/ 89 h 554"/>
                <a:gd name="T6" fmla="*/ 810 w 966"/>
                <a:gd name="T7" fmla="*/ 277 h 554"/>
                <a:gd name="T8" fmla="*/ 483 w 966"/>
                <a:gd name="T9" fmla="*/ 466 h 554"/>
                <a:gd name="T10" fmla="*/ 483 w 966"/>
                <a:gd name="T11" fmla="*/ 48 h 554"/>
                <a:gd name="T12" fmla="*/ 472 w 966"/>
                <a:gd name="T13" fmla="*/ 51 h 554"/>
                <a:gd name="T14" fmla="*/ 82 w 966"/>
                <a:gd name="T15" fmla="*/ 276 h 554"/>
                <a:gd name="T16" fmla="*/ 81 w 966"/>
                <a:gd name="T17" fmla="*/ 277 h 554"/>
                <a:gd name="T18" fmla="*/ 82 w 966"/>
                <a:gd name="T19" fmla="*/ 278 h 554"/>
                <a:gd name="T20" fmla="*/ 472 w 966"/>
                <a:gd name="T21" fmla="*/ 503 h 554"/>
                <a:gd name="T22" fmla="*/ 472 w 966"/>
                <a:gd name="T23" fmla="*/ 503 h 554"/>
                <a:gd name="T24" fmla="*/ 483 w 966"/>
                <a:gd name="T25" fmla="*/ 506 h 554"/>
                <a:gd name="T26" fmla="*/ 494 w 966"/>
                <a:gd name="T27" fmla="*/ 503 h 554"/>
                <a:gd name="T28" fmla="*/ 884 w 966"/>
                <a:gd name="T29" fmla="*/ 278 h 554"/>
                <a:gd name="T30" fmla="*/ 885 w 966"/>
                <a:gd name="T31" fmla="*/ 277 h 554"/>
                <a:gd name="T32" fmla="*/ 884 w 966"/>
                <a:gd name="T33" fmla="*/ 276 h 554"/>
                <a:gd name="T34" fmla="*/ 494 w 966"/>
                <a:gd name="T35" fmla="*/ 51 h 554"/>
                <a:gd name="T36" fmla="*/ 483 w 966"/>
                <a:gd name="T37" fmla="*/ 48 h 554"/>
                <a:gd name="T38" fmla="*/ 483 w 966"/>
                <a:gd name="T39" fmla="*/ 518 h 554"/>
                <a:gd name="T40" fmla="*/ 466 w 966"/>
                <a:gd name="T41" fmla="*/ 514 h 554"/>
                <a:gd name="T42" fmla="*/ 466 w 966"/>
                <a:gd name="T43" fmla="*/ 514 h 554"/>
                <a:gd name="T44" fmla="*/ 76 w 966"/>
                <a:gd name="T45" fmla="*/ 289 h 554"/>
                <a:gd name="T46" fmla="*/ 69 w 966"/>
                <a:gd name="T47" fmla="*/ 277 h 554"/>
                <a:gd name="T48" fmla="*/ 76 w 966"/>
                <a:gd name="T49" fmla="*/ 266 h 554"/>
                <a:gd name="T50" fmla="*/ 466 w 966"/>
                <a:gd name="T51" fmla="*/ 41 h 554"/>
                <a:gd name="T52" fmla="*/ 483 w 966"/>
                <a:gd name="T53" fmla="*/ 36 h 554"/>
                <a:gd name="T54" fmla="*/ 500 w 966"/>
                <a:gd name="T55" fmla="*/ 41 h 554"/>
                <a:gd name="T56" fmla="*/ 890 w 966"/>
                <a:gd name="T57" fmla="*/ 266 h 554"/>
                <a:gd name="T58" fmla="*/ 897 w 966"/>
                <a:gd name="T59" fmla="*/ 277 h 554"/>
                <a:gd name="T60" fmla="*/ 890 w 966"/>
                <a:gd name="T61" fmla="*/ 289 h 554"/>
                <a:gd name="T62" fmla="*/ 500 w 966"/>
                <a:gd name="T63" fmla="*/ 514 h 554"/>
                <a:gd name="T64" fmla="*/ 483 w 966"/>
                <a:gd name="T65" fmla="*/ 518 h 554"/>
                <a:gd name="T66" fmla="*/ 483 w 966"/>
                <a:gd name="T67" fmla="*/ 0 h 554"/>
                <a:gd name="T68" fmla="*/ 462 w 966"/>
                <a:gd name="T69" fmla="*/ 6 h 554"/>
                <a:gd name="T70" fmla="*/ 7 w 966"/>
                <a:gd name="T71" fmla="*/ 269 h 554"/>
                <a:gd name="T72" fmla="*/ 7 w 966"/>
                <a:gd name="T73" fmla="*/ 286 h 554"/>
                <a:gd name="T74" fmla="*/ 462 w 966"/>
                <a:gd name="T75" fmla="*/ 548 h 554"/>
                <a:gd name="T76" fmla="*/ 483 w 966"/>
                <a:gd name="T77" fmla="*/ 554 h 554"/>
                <a:gd name="T78" fmla="*/ 505 w 966"/>
                <a:gd name="T79" fmla="*/ 548 h 554"/>
                <a:gd name="T80" fmla="*/ 960 w 966"/>
                <a:gd name="T81" fmla="*/ 286 h 554"/>
                <a:gd name="T82" fmla="*/ 960 w 966"/>
                <a:gd name="T83" fmla="*/ 269 h 554"/>
                <a:gd name="T84" fmla="*/ 505 w 966"/>
                <a:gd name="T85" fmla="*/ 6 h 554"/>
                <a:gd name="T86" fmla="*/ 483 w 966"/>
                <a:gd name="T87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6" h="554">
                  <a:moveTo>
                    <a:pt x="483" y="466"/>
                  </a:moveTo>
                  <a:cubicBezTo>
                    <a:pt x="157" y="277"/>
                    <a:pt x="157" y="277"/>
                    <a:pt x="157" y="277"/>
                  </a:cubicBezTo>
                  <a:cubicBezTo>
                    <a:pt x="483" y="89"/>
                    <a:pt x="483" y="89"/>
                    <a:pt x="483" y="89"/>
                  </a:cubicBezTo>
                  <a:cubicBezTo>
                    <a:pt x="810" y="277"/>
                    <a:pt x="810" y="277"/>
                    <a:pt x="810" y="277"/>
                  </a:cubicBezTo>
                  <a:cubicBezTo>
                    <a:pt x="483" y="466"/>
                    <a:pt x="483" y="466"/>
                    <a:pt x="483" y="466"/>
                  </a:cubicBezTo>
                  <a:moveTo>
                    <a:pt x="483" y="48"/>
                  </a:moveTo>
                  <a:cubicBezTo>
                    <a:pt x="479" y="48"/>
                    <a:pt x="475" y="49"/>
                    <a:pt x="472" y="51"/>
                  </a:cubicBezTo>
                  <a:cubicBezTo>
                    <a:pt x="82" y="276"/>
                    <a:pt x="82" y="276"/>
                    <a:pt x="82" y="276"/>
                  </a:cubicBezTo>
                  <a:cubicBezTo>
                    <a:pt x="82" y="277"/>
                    <a:pt x="81" y="277"/>
                    <a:pt x="81" y="277"/>
                  </a:cubicBezTo>
                  <a:cubicBezTo>
                    <a:pt x="81" y="278"/>
                    <a:pt x="82" y="278"/>
                    <a:pt x="82" y="278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2" y="503"/>
                    <a:pt x="472" y="503"/>
                    <a:pt x="472" y="503"/>
                  </a:cubicBezTo>
                  <a:cubicBezTo>
                    <a:pt x="475" y="505"/>
                    <a:pt x="479" y="506"/>
                    <a:pt x="483" y="506"/>
                  </a:cubicBezTo>
                  <a:cubicBezTo>
                    <a:pt x="487" y="506"/>
                    <a:pt x="491" y="505"/>
                    <a:pt x="494" y="503"/>
                  </a:cubicBezTo>
                  <a:cubicBezTo>
                    <a:pt x="884" y="278"/>
                    <a:pt x="884" y="278"/>
                    <a:pt x="884" y="278"/>
                  </a:cubicBezTo>
                  <a:cubicBezTo>
                    <a:pt x="885" y="278"/>
                    <a:pt x="885" y="278"/>
                    <a:pt x="885" y="277"/>
                  </a:cubicBezTo>
                  <a:cubicBezTo>
                    <a:pt x="885" y="277"/>
                    <a:pt x="885" y="277"/>
                    <a:pt x="884" y="27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1" y="49"/>
                    <a:pt x="487" y="48"/>
                    <a:pt x="483" y="48"/>
                  </a:cubicBezTo>
                  <a:moveTo>
                    <a:pt x="483" y="518"/>
                  </a:moveTo>
                  <a:cubicBezTo>
                    <a:pt x="477" y="518"/>
                    <a:pt x="471" y="517"/>
                    <a:pt x="466" y="514"/>
                  </a:cubicBezTo>
                  <a:cubicBezTo>
                    <a:pt x="466" y="514"/>
                    <a:pt x="466" y="514"/>
                    <a:pt x="466" y="514"/>
                  </a:cubicBezTo>
                  <a:cubicBezTo>
                    <a:pt x="76" y="289"/>
                    <a:pt x="76" y="289"/>
                    <a:pt x="76" y="289"/>
                  </a:cubicBezTo>
                  <a:cubicBezTo>
                    <a:pt x="72" y="286"/>
                    <a:pt x="69" y="282"/>
                    <a:pt x="69" y="277"/>
                  </a:cubicBezTo>
                  <a:cubicBezTo>
                    <a:pt x="69" y="273"/>
                    <a:pt x="72" y="268"/>
                    <a:pt x="76" y="266"/>
                  </a:cubicBezTo>
                  <a:cubicBezTo>
                    <a:pt x="466" y="41"/>
                    <a:pt x="466" y="41"/>
                    <a:pt x="466" y="41"/>
                  </a:cubicBezTo>
                  <a:cubicBezTo>
                    <a:pt x="471" y="38"/>
                    <a:pt x="477" y="36"/>
                    <a:pt x="483" y="36"/>
                  </a:cubicBezTo>
                  <a:cubicBezTo>
                    <a:pt x="489" y="36"/>
                    <a:pt x="495" y="38"/>
                    <a:pt x="500" y="41"/>
                  </a:cubicBezTo>
                  <a:cubicBezTo>
                    <a:pt x="890" y="266"/>
                    <a:pt x="890" y="266"/>
                    <a:pt x="890" y="266"/>
                  </a:cubicBezTo>
                  <a:cubicBezTo>
                    <a:pt x="894" y="268"/>
                    <a:pt x="897" y="273"/>
                    <a:pt x="897" y="277"/>
                  </a:cubicBezTo>
                  <a:cubicBezTo>
                    <a:pt x="897" y="282"/>
                    <a:pt x="894" y="286"/>
                    <a:pt x="890" y="289"/>
                  </a:cubicBezTo>
                  <a:cubicBezTo>
                    <a:pt x="500" y="514"/>
                    <a:pt x="500" y="514"/>
                    <a:pt x="500" y="514"/>
                  </a:cubicBezTo>
                  <a:cubicBezTo>
                    <a:pt x="495" y="517"/>
                    <a:pt x="489" y="518"/>
                    <a:pt x="483" y="518"/>
                  </a:cubicBezTo>
                  <a:moveTo>
                    <a:pt x="483" y="0"/>
                  </a:moveTo>
                  <a:cubicBezTo>
                    <a:pt x="476" y="0"/>
                    <a:pt x="468" y="2"/>
                    <a:pt x="462" y="6"/>
                  </a:cubicBezTo>
                  <a:cubicBezTo>
                    <a:pt x="7" y="269"/>
                    <a:pt x="7" y="269"/>
                    <a:pt x="7" y="269"/>
                  </a:cubicBezTo>
                  <a:cubicBezTo>
                    <a:pt x="0" y="273"/>
                    <a:pt x="0" y="282"/>
                    <a:pt x="7" y="286"/>
                  </a:cubicBezTo>
                  <a:cubicBezTo>
                    <a:pt x="462" y="548"/>
                    <a:pt x="462" y="548"/>
                    <a:pt x="462" y="548"/>
                  </a:cubicBezTo>
                  <a:cubicBezTo>
                    <a:pt x="468" y="552"/>
                    <a:pt x="476" y="554"/>
                    <a:pt x="483" y="554"/>
                  </a:cubicBezTo>
                  <a:cubicBezTo>
                    <a:pt x="491" y="554"/>
                    <a:pt x="498" y="552"/>
                    <a:pt x="505" y="548"/>
                  </a:cubicBezTo>
                  <a:cubicBezTo>
                    <a:pt x="960" y="286"/>
                    <a:pt x="960" y="286"/>
                    <a:pt x="960" y="286"/>
                  </a:cubicBezTo>
                  <a:cubicBezTo>
                    <a:pt x="966" y="282"/>
                    <a:pt x="966" y="273"/>
                    <a:pt x="960" y="269"/>
                  </a:cubicBezTo>
                  <a:cubicBezTo>
                    <a:pt x="505" y="6"/>
                    <a:pt x="505" y="6"/>
                    <a:pt x="505" y="6"/>
                  </a:cubicBezTo>
                  <a:cubicBezTo>
                    <a:pt x="498" y="2"/>
                    <a:pt x="491" y="0"/>
                    <a:pt x="483" y="0"/>
                  </a:cubicBezTo>
                </a:path>
              </a:pathLst>
            </a:custGeom>
            <a:solidFill>
              <a:srgbClr val="5E5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DA1449B-9DF5-422D-8D4F-8ECFC57F0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69238" y="4108450"/>
              <a:ext cx="2730500" cy="1592262"/>
            </a:xfrm>
            <a:custGeom>
              <a:avLst/>
              <a:gdLst>
                <a:gd name="T0" fmla="*/ 403 w 828"/>
                <a:gd name="T1" fmla="*/ 467 h 482"/>
                <a:gd name="T2" fmla="*/ 13 w 828"/>
                <a:gd name="T3" fmla="*/ 242 h 482"/>
                <a:gd name="T4" fmla="*/ 12 w 828"/>
                <a:gd name="T5" fmla="*/ 241 h 482"/>
                <a:gd name="T6" fmla="*/ 13 w 828"/>
                <a:gd name="T7" fmla="*/ 240 h 482"/>
                <a:gd name="T8" fmla="*/ 403 w 828"/>
                <a:gd name="T9" fmla="*/ 15 h 482"/>
                <a:gd name="T10" fmla="*/ 414 w 828"/>
                <a:gd name="T11" fmla="*/ 12 h 482"/>
                <a:gd name="T12" fmla="*/ 425 w 828"/>
                <a:gd name="T13" fmla="*/ 15 h 482"/>
                <a:gd name="T14" fmla="*/ 815 w 828"/>
                <a:gd name="T15" fmla="*/ 240 h 482"/>
                <a:gd name="T16" fmla="*/ 816 w 828"/>
                <a:gd name="T17" fmla="*/ 241 h 482"/>
                <a:gd name="T18" fmla="*/ 815 w 828"/>
                <a:gd name="T19" fmla="*/ 242 h 482"/>
                <a:gd name="T20" fmla="*/ 425 w 828"/>
                <a:gd name="T21" fmla="*/ 467 h 482"/>
                <a:gd name="T22" fmla="*/ 414 w 828"/>
                <a:gd name="T23" fmla="*/ 470 h 482"/>
                <a:gd name="T24" fmla="*/ 403 w 828"/>
                <a:gd name="T25" fmla="*/ 467 h 482"/>
                <a:gd name="T26" fmla="*/ 403 w 828"/>
                <a:gd name="T27" fmla="*/ 467 h 482"/>
                <a:gd name="T28" fmla="*/ 414 w 828"/>
                <a:gd name="T29" fmla="*/ 0 h 482"/>
                <a:gd name="T30" fmla="*/ 397 w 828"/>
                <a:gd name="T31" fmla="*/ 5 h 482"/>
                <a:gd name="T32" fmla="*/ 7 w 828"/>
                <a:gd name="T33" fmla="*/ 230 h 482"/>
                <a:gd name="T34" fmla="*/ 0 w 828"/>
                <a:gd name="T35" fmla="*/ 241 h 482"/>
                <a:gd name="T36" fmla="*/ 7 w 828"/>
                <a:gd name="T37" fmla="*/ 253 h 482"/>
                <a:gd name="T38" fmla="*/ 397 w 828"/>
                <a:gd name="T39" fmla="*/ 478 h 482"/>
                <a:gd name="T40" fmla="*/ 397 w 828"/>
                <a:gd name="T41" fmla="*/ 478 h 482"/>
                <a:gd name="T42" fmla="*/ 414 w 828"/>
                <a:gd name="T43" fmla="*/ 482 h 482"/>
                <a:gd name="T44" fmla="*/ 431 w 828"/>
                <a:gd name="T45" fmla="*/ 478 h 482"/>
                <a:gd name="T46" fmla="*/ 821 w 828"/>
                <a:gd name="T47" fmla="*/ 253 h 482"/>
                <a:gd name="T48" fmla="*/ 828 w 828"/>
                <a:gd name="T49" fmla="*/ 241 h 482"/>
                <a:gd name="T50" fmla="*/ 821 w 828"/>
                <a:gd name="T51" fmla="*/ 230 h 482"/>
                <a:gd name="T52" fmla="*/ 431 w 828"/>
                <a:gd name="T53" fmla="*/ 5 h 482"/>
                <a:gd name="T54" fmla="*/ 414 w 828"/>
                <a:gd name="T5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482">
                  <a:moveTo>
                    <a:pt x="403" y="467"/>
                  </a:moveTo>
                  <a:cubicBezTo>
                    <a:pt x="13" y="242"/>
                    <a:pt x="13" y="242"/>
                    <a:pt x="13" y="242"/>
                  </a:cubicBezTo>
                  <a:cubicBezTo>
                    <a:pt x="13" y="242"/>
                    <a:pt x="12" y="242"/>
                    <a:pt x="12" y="241"/>
                  </a:cubicBezTo>
                  <a:cubicBezTo>
                    <a:pt x="12" y="241"/>
                    <a:pt x="13" y="241"/>
                    <a:pt x="13" y="240"/>
                  </a:cubicBezTo>
                  <a:cubicBezTo>
                    <a:pt x="403" y="15"/>
                    <a:pt x="403" y="15"/>
                    <a:pt x="403" y="15"/>
                  </a:cubicBezTo>
                  <a:cubicBezTo>
                    <a:pt x="406" y="13"/>
                    <a:pt x="410" y="12"/>
                    <a:pt x="414" y="12"/>
                  </a:cubicBezTo>
                  <a:cubicBezTo>
                    <a:pt x="418" y="12"/>
                    <a:pt x="422" y="13"/>
                    <a:pt x="425" y="15"/>
                  </a:cubicBezTo>
                  <a:cubicBezTo>
                    <a:pt x="815" y="240"/>
                    <a:pt x="815" y="240"/>
                    <a:pt x="815" y="240"/>
                  </a:cubicBezTo>
                  <a:cubicBezTo>
                    <a:pt x="816" y="241"/>
                    <a:pt x="816" y="241"/>
                    <a:pt x="816" y="241"/>
                  </a:cubicBezTo>
                  <a:cubicBezTo>
                    <a:pt x="816" y="242"/>
                    <a:pt x="816" y="242"/>
                    <a:pt x="815" y="242"/>
                  </a:cubicBezTo>
                  <a:cubicBezTo>
                    <a:pt x="425" y="467"/>
                    <a:pt x="425" y="467"/>
                    <a:pt x="425" y="467"/>
                  </a:cubicBezTo>
                  <a:cubicBezTo>
                    <a:pt x="422" y="469"/>
                    <a:pt x="418" y="470"/>
                    <a:pt x="414" y="470"/>
                  </a:cubicBezTo>
                  <a:cubicBezTo>
                    <a:pt x="410" y="470"/>
                    <a:pt x="406" y="469"/>
                    <a:pt x="403" y="467"/>
                  </a:cubicBezTo>
                  <a:cubicBezTo>
                    <a:pt x="403" y="467"/>
                    <a:pt x="403" y="467"/>
                    <a:pt x="403" y="467"/>
                  </a:cubicBezTo>
                  <a:moveTo>
                    <a:pt x="414" y="0"/>
                  </a:moveTo>
                  <a:cubicBezTo>
                    <a:pt x="408" y="0"/>
                    <a:pt x="402" y="2"/>
                    <a:pt x="397" y="5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3" y="232"/>
                    <a:pt x="0" y="237"/>
                    <a:pt x="0" y="241"/>
                  </a:cubicBezTo>
                  <a:cubicBezTo>
                    <a:pt x="0" y="246"/>
                    <a:pt x="3" y="250"/>
                    <a:pt x="7" y="253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397" y="478"/>
                    <a:pt x="397" y="478"/>
                    <a:pt x="397" y="478"/>
                  </a:cubicBezTo>
                  <a:cubicBezTo>
                    <a:pt x="402" y="481"/>
                    <a:pt x="408" y="482"/>
                    <a:pt x="414" y="482"/>
                  </a:cubicBezTo>
                  <a:cubicBezTo>
                    <a:pt x="420" y="482"/>
                    <a:pt x="426" y="481"/>
                    <a:pt x="431" y="478"/>
                  </a:cubicBezTo>
                  <a:cubicBezTo>
                    <a:pt x="821" y="253"/>
                    <a:pt x="821" y="253"/>
                    <a:pt x="821" y="253"/>
                  </a:cubicBezTo>
                  <a:cubicBezTo>
                    <a:pt x="825" y="250"/>
                    <a:pt x="828" y="246"/>
                    <a:pt x="828" y="241"/>
                  </a:cubicBezTo>
                  <a:cubicBezTo>
                    <a:pt x="828" y="237"/>
                    <a:pt x="825" y="232"/>
                    <a:pt x="821" y="230"/>
                  </a:cubicBezTo>
                  <a:cubicBezTo>
                    <a:pt x="431" y="5"/>
                    <a:pt x="431" y="5"/>
                    <a:pt x="431" y="5"/>
                  </a:cubicBezTo>
                  <a:cubicBezTo>
                    <a:pt x="426" y="2"/>
                    <a:pt x="420" y="0"/>
                    <a:pt x="414" y="0"/>
                  </a:cubicBezTo>
                </a:path>
              </a:pathLst>
            </a:custGeom>
            <a:gradFill>
              <a:gsLst>
                <a:gs pos="74000">
                  <a:srgbClr val="2D7C9E">
                    <a:alpha val="74000"/>
                  </a:srgbClr>
                </a:gs>
                <a:gs pos="37000">
                  <a:srgbClr val="41E4DE">
                    <a:alpha val="71000"/>
                  </a:srgbClr>
                </a:gs>
                <a:gs pos="0">
                  <a:srgbClr val="19145F"/>
                </a:gs>
                <a:gs pos="100000">
                  <a:srgbClr val="19125E">
                    <a:alpha val="82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0B2BFE2-CBF3-401C-AE0A-ABD3A26EA6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100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27BD26F7-83BE-43A6-ADDF-5050C8D1A5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58163" y="4283075"/>
              <a:ext cx="2154237" cy="1246187"/>
            </a:xfrm>
            <a:custGeom>
              <a:avLst/>
              <a:gdLst>
                <a:gd name="T0" fmla="*/ 678 w 1357"/>
                <a:gd name="T1" fmla="*/ 0 h 785"/>
                <a:gd name="T2" fmla="*/ 0 w 1357"/>
                <a:gd name="T3" fmla="*/ 391 h 785"/>
                <a:gd name="T4" fmla="*/ 678 w 1357"/>
                <a:gd name="T5" fmla="*/ 785 h 785"/>
                <a:gd name="T6" fmla="*/ 1357 w 1357"/>
                <a:gd name="T7" fmla="*/ 391 h 785"/>
                <a:gd name="T8" fmla="*/ 678 w 1357"/>
                <a:gd name="T9" fmla="*/ 0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7" h="785">
                  <a:moveTo>
                    <a:pt x="678" y="0"/>
                  </a:moveTo>
                  <a:lnTo>
                    <a:pt x="0" y="391"/>
                  </a:lnTo>
                  <a:lnTo>
                    <a:pt x="678" y="785"/>
                  </a:lnTo>
                  <a:lnTo>
                    <a:pt x="1357" y="391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55">
              <a:extLst>
                <a:ext uri="{FF2B5EF4-FFF2-40B4-BE49-F238E27FC236}">
                  <a16:creationId xmlns:a16="http://schemas.microsoft.com/office/drawing/2014/main" id="{6E07EA3C-1B70-4FDE-B7A1-5C2C57B1F9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3861" y="58102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3"/>
                    <a:pt x="17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56">
              <a:extLst>
                <a:ext uri="{FF2B5EF4-FFF2-40B4-BE49-F238E27FC236}">
                  <a16:creationId xmlns:a16="http://schemas.microsoft.com/office/drawing/2014/main" id="{36A0F9D0-6FD0-4967-B8F9-B088C32BD0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05936" y="5756275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4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4" y="24"/>
                  </a:cubicBezTo>
                  <a:cubicBezTo>
                    <a:pt x="16" y="24"/>
                    <a:pt x="18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57">
              <a:extLst>
                <a:ext uri="{FF2B5EF4-FFF2-40B4-BE49-F238E27FC236}">
                  <a16:creationId xmlns:a16="http://schemas.microsoft.com/office/drawing/2014/main" id="{9CE429ED-D423-4FF2-8997-F925A4EE3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01186" y="5702300"/>
              <a:ext cx="85725" cy="77787"/>
            </a:xfrm>
            <a:custGeom>
              <a:avLst/>
              <a:gdLst>
                <a:gd name="T0" fmla="*/ 13 w 26"/>
                <a:gd name="T1" fmla="*/ 0 h 23"/>
                <a:gd name="T2" fmla="*/ 7 w 26"/>
                <a:gd name="T3" fmla="*/ 1 h 23"/>
                <a:gd name="T4" fmla="*/ 3 w 26"/>
                <a:gd name="T5" fmla="*/ 18 h 23"/>
                <a:gd name="T6" fmla="*/ 13 w 26"/>
                <a:gd name="T7" fmla="*/ 23 h 23"/>
                <a:gd name="T8" fmla="*/ 19 w 26"/>
                <a:gd name="T9" fmla="*/ 22 h 23"/>
                <a:gd name="T10" fmla="*/ 23 w 26"/>
                <a:gd name="T11" fmla="*/ 6 h 23"/>
                <a:gd name="T12" fmla="*/ 13 w 26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3">
                  <a:moveTo>
                    <a:pt x="13" y="0"/>
                  </a:moveTo>
                  <a:cubicBezTo>
                    <a:pt x="11" y="0"/>
                    <a:pt x="9" y="0"/>
                    <a:pt x="7" y="1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58">
              <a:extLst>
                <a:ext uri="{FF2B5EF4-FFF2-40B4-BE49-F238E27FC236}">
                  <a16:creationId xmlns:a16="http://schemas.microsoft.com/office/drawing/2014/main" id="{3AD1FA30-1A5F-45B7-8F47-0495666ED6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3261" y="5649912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4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3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59">
              <a:extLst>
                <a:ext uri="{FF2B5EF4-FFF2-40B4-BE49-F238E27FC236}">
                  <a16:creationId xmlns:a16="http://schemas.microsoft.com/office/drawing/2014/main" id="{5AF43635-36A7-45F9-A4B6-9FC4A78501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6924" y="559593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1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60">
              <a:extLst>
                <a:ext uri="{FF2B5EF4-FFF2-40B4-BE49-F238E27FC236}">
                  <a16:creationId xmlns:a16="http://schemas.microsoft.com/office/drawing/2014/main" id="{2C941137-2484-49B8-AF1F-1BDF791815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2174" y="5538787"/>
              <a:ext cx="88900" cy="80962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266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61">
              <a:extLst>
                <a:ext uri="{FF2B5EF4-FFF2-40B4-BE49-F238E27FC236}">
                  <a16:creationId xmlns:a16="http://schemas.microsoft.com/office/drawing/2014/main" id="{4035D36C-9987-492B-8D32-29DACD2F0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3161" y="5372100"/>
              <a:ext cx="88900" cy="77787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62">
              <a:extLst>
                <a:ext uri="{FF2B5EF4-FFF2-40B4-BE49-F238E27FC236}">
                  <a16:creationId xmlns:a16="http://schemas.microsoft.com/office/drawing/2014/main" id="{3B4E7CED-FE5C-49BE-9362-C2587E4A9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1086" y="5426075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8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4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8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63">
              <a:extLst>
                <a:ext uri="{FF2B5EF4-FFF2-40B4-BE49-F238E27FC236}">
                  <a16:creationId xmlns:a16="http://schemas.microsoft.com/office/drawing/2014/main" id="{531F4641-AD0A-4223-9658-0A902DDBCE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74249" y="5480050"/>
              <a:ext cx="88900" cy="79375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457EA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64">
              <a:extLst>
                <a:ext uri="{FF2B5EF4-FFF2-40B4-BE49-F238E27FC236}">
                  <a16:creationId xmlns:a16="http://schemas.microsoft.com/office/drawing/2014/main" id="{05E0E6C8-D006-42F6-8C42-980DEB3AC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23561" y="5372100"/>
              <a:ext cx="88900" cy="77787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8 w 27"/>
                <a:gd name="T5" fmla="*/ 22 h 23"/>
                <a:gd name="T6" fmla="*/ 13 w 27"/>
                <a:gd name="T7" fmla="*/ 23 h 23"/>
                <a:gd name="T8" fmla="*/ 24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8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8" y="23"/>
                    <a:pt x="21" y="21"/>
                    <a:pt x="24" y="17"/>
                  </a:cubicBezTo>
                  <a:cubicBezTo>
                    <a:pt x="27" y="11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65">
              <a:extLst>
                <a:ext uri="{FF2B5EF4-FFF2-40B4-BE49-F238E27FC236}">
                  <a16:creationId xmlns:a16="http://schemas.microsoft.com/office/drawing/2014/main" id="{E0F525E9-9A56-4973-AFFE-546EA91421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15636" y="5426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4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7 h 23"/>
                <a:gd name="T10" fmla="*/ 20 w 27"/>
                <a:gd name="T11" fmla="*/ 1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7"/>
                  </a:cubicBezTo>
                  <a:cubicBezTo>
                    <a:pt x="27" y="12"/>
                    <a:pt x="25" y="5"/>
                    <a:pt x="20" y="1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66">
              <a:extLst>
                <a:ext uri="{FF2B5EF4-FFF2-40B4-BE49-F238E27FC236}">
                  <a16:creationId xmlns:a16="http://schemas.microsoft.com/office/drawing/2014/main" id="{BEAE6FF4-C501-4C1E-BE5C-FD002C7403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10886" y="5480050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67">
              <a:extLst>
                <a:ext uri="{FF2B5EF4-FFF2-40B4-BE49-F238E27FC236}">
                  <a16:creationId xmlns:a16="http://schemas.microsoft.com/office/drawing/2014/main" id="{220CDB65-2265-4F3C-900F-82CA48E66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4549" y="55324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68">
              <a:extLst>
                <a:ext uri="{FF2B5EF4-FFF2-40B4-BE49-F238E27FC236}">
                  <a16:creationId xmlns:a16="http://schemas.microsoft.com/office/drawing/2014/main" id="{ECAD736F-A86C-4A0E-9501-9B69D6915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99799" y="558641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3 w 27"/>
                <a:gd name="T3" fmla="*/ 6 h 24"/>
                <a:gd name="T4" fmla="*/ 7 w 27"/>
                <a:gd name="T5" fmla="*/ 22 h 24"/>
                <a:gd name="T6" fmla="*/ 13 w 27"/>
                <a:gd name="T7" fmla="*/ 24 h 24"/>
                <a:gd name="T8" fmla="*/ 24 w 27"/>
                <a:gd name="T9" fmla="*/ 18 h 24"/>
                <a:gd name="T10" fmla="*/ 19 w 27"/>
                <a:gd name="T11" fmla="*/ 2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9" y="0"/>
                    <a:pt x="5" y="3"/>
                    <a:pt x="3" y="6"/>
                  </a:cubicBezTo>
                  <a:cubicBezTo>
                    <a:pt x="0" y="12"/>
                    <a:pt x="2" y="19"/>
                    <a:pt x="7" y="22"/>
                  </a:cubicBezTo>
                  <a:cubicBezTo>
                    <a:pt x="9" y="23"/>
                    <a:pt x="11" y="24"/>
                    <a:pt x="13" y="24"/>
                  </a:cubicBezTo>
                  <a:cubicBezTo>
                    <a:pt x="17" y="24"/>
                    <a:pt x="21" y="22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7" y="1"/>
                    <a:pt x="15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71">
              <a:extLst>
                <a:ext uri="{FF2B5EF4-FFF2-40B4-BE49-F238E27FC236}">
                  <a16:creationId xmlns:a16="http://schemas.microsoft.com/office/drawing/2014/main" id="{98532914-5A4F-4DDE-A3CD-6827FFEBCA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911" y="5972175"/>
              <a:ext cx="90488" cy="80962"/>
            </a:xfrm>
            <a:custGeom>
              <a:avLst/>
              <a:gdLst>
                <a:gd name="T0" fmla="*/ 14 w 27"/>
                <a:gd name="T1" fmla="*/ 0 h 24"/>
                <a:gd name="T2" fmla="*/ 3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1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72">
              <a:extLst>
                <a:ext uri="{FF2B5EF4-FFF2-40B4-BE49-F238E27FC236}">
                  <a16:creationId xmlns:a16="http://schemas.microsoft.com/office/drawing/2014/main" id="{A7BDCC71-1F86-4B47-B459-2477B26D26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3836" y="5919787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6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6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5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73">
              <a:extLst>
                <a:ext uri="{FF2B5EF4-FFF2-40B4-BE49-F238E27FC236}">
                  <a16:creationId xmlns:a16="http://schemas.microsoft.com/office/drawing/2014/main" id="{8EDB264D-3D4F-4F98-A42E-3355C4154F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586" y="5862637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4 w 27"/>
                <a:gd name="T3" fmla="*/ 6 h 24"/>
                <a:gd name="T4" fmla="*/ 8 w 27"/>
                <a:gd name="T5" fmla="*/ 22 h 24"/>
                <a:gd name="T6" fmla="*/ 14 w 27"/>
                <a:gd name="T7" fmla="*/ 24 h 24"/>
                <a:gd name="T8" fmla="*/ 24 w 27"/>
                <a:gd name="T9" fmla="*/ 18 h 24"/>
                <a:gd name="T10" fmla="*/ 20 w 27"/>
                <a:gd name="T11" fmla="*/ 2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0" y="0"/>
                    <a:pt x="6" y="2"/>
                    <a:pt x="4" y="6"/>
                  </a:cubicBezTo>
                  <a:cubicBezTo>
                    <a:pt x="0" y="12"/>
                    <a:pt x="2" y="19"/>
                    <a:pt x="8" y="22"/>
                  </a:cubicBezTo>
                  <a:cubicBezTo>
                    <a:pt x="10" y="23"/>
                    <a:pt x="12" y="24"/>
                    <a:pt x="14" y="24"/>
                  </a:cubicBezTo>
                  <a:cubicBezTo>
                    <a:pt x="18" y="24"/>
                    <a:pt x="22" y="22"/>
                    <a:pt x="24" y="18"/>
                  </a:cubicBezTo>
                  <a:cubicBezTo>
                    <a:pt x="27" y="12"/>
                    <a:pt x="25" y="5"/>
                    <a:pt x="20" y="2"/>
                  </a:cubicBezTo>
                  <a:cubicBezTo>
                    <a:pt x="18" y="1"/>
                    <a:pt x="16" y="0"/>
                    <a:pt x="14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74">
              <a:extLst>
                <a:ext uri="{FF2B5EF4-FFF2-40B4-BE49-F238E27FC236}">
                  <a16:creationId xmlns:a16="http://schemas.microsoft.com/office/drawing/2014/main" id="{33638A6C-CE95-4C7E-B7B4-8FC32CD0D2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6511" y="5810250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3 w 27"/>
                <a:gd name="T3" fmla="*/ 6 h 23"/>
                <a:gd name="T4" fmla="*/ 8 w 27"/>
                <a:gd name="T5" fmla="*/ 22 h 23"/>
                <a:gd name="T6" fmla="*/ 14 w 27"/>
                <a:gd name="T7" fmla="*/ 23 h 23"/>
                <a:gd name="T8" fmla="*/ 24 w 27"/>
                <a:gd name="T9" fmla="*/ 18 h 23"/>
                <a:gd name="T10" fmla="*/ 19 w 27"/>
                <a:gd name="T11" fmla="*/ 2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0" y="0"/>
                    <a:pt x="6" y="2"/>
                    <a:pt x="3" y="6"/>
                  </a:cubicBezTo>
                  <a:cubicBezTo>
                    <a:pt x="0" y="11"/>
                    <a:pt x="2" y="19"/>
                    <a:pt x="8" y="22"/>
                  </a:cubicBezTo>
                  <a:cubicBezTo>
                    <a:pt x="10" y="23"/>
                    <a:pt x="12" y="23"/>
                    <a:pt x="14" y="23"/>
                  </a:cubicBezTo>
                  <a:cubicBezTo>
                    <a:pt x="18" y="23"/>
                    <a:pt x="22" y="21"/>
                    <a:pt x="24" y="18"/>
                  </a:cubicBezTo>
                  <a:cubicBezTo>
                    <a:pt x="27" y="12"/>
                    <a:pt x="25" y="5"/>
                    <a:pt x="19" y="2"/>
                  </a:cubicBezTo>
                  <a:cubicBezTo>
                    <a:pt x="18" y="0"/>
                    <a:pt x="16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75">
              <a:extLst>
                <a:ext uri="{FF2B5EF4-FFF2-40B4-BE49-F238E27FC236}">
                  <a16:creationId xmlns:a16="http://schemas.microsoft.com/office/drawing/2014/main" id="{C23CA099-DAC1-432C-8C4E-11E19A22FD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2849" y="5756275"/>
              <a:ext cx="90488" cy="76200"/>
            </a:xfrm>
            <a:custGeom>
              <a:avLst/>
              <a:gdLst>
                <a:gd name="T0" fmla="*/ 13 w 27"/>
                <a:gd name="T1" fmla="*/ 0 h 23"/>
                <a:gd name="T2" fmla="*/ 3 w 27"/>
                <a:gd name="T3" fmla="*/ 5 h 23"/>
                <a:gd name="T4" fmla="*/ 7 w 27"/>
                <a:gd name="T5" fmla="*/ 22 h 23"/>
                <a:gd name="T6" fmla="*/ 13 w 27"/>
                <a:gd name="T7" fmla="*/ 23 h 23"/>
                <a:gd name="T8" fmla="*/ 23 w 27"/>
                <a:gd name="T9" fmla="*/ 17 h 23"/>
                <a:gd name="T10" fmla="*/ 19 w 27"/>
                <a:gd name="T11" fmla="*/ 1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9" y="0"/>
                    <a:pt x="5" y="2"/>
                    <a:pt x="3" y="5"/>
                  </a:cubicBezTo>
                  <a:cubicBezTo>
                    <a:pt x="0" y="11"/>
                    <a:pt x="2" y="18"/>
                    <a:pt x="7" y="22"/>
                  </a:cubicBezTo>
                  <a:cubicBezTo>
                    <a:pt x="9" y="23"/>
                    <a:pt x="11" y="23"/>
                    <a:pt x="13" y="23"/>
                  </a:cubicBezTo>
                  <a:cubicBezTo>
                    <a:pt x="17" y="23"/>
                    <a:pt x="21" y="21"/>
                    <a:pt x="23" y="17"/>
                  </a:cubicBezTo>
                  <a:cubicBezTo>
                    <a:pt x="27" y="12"/>
                    <a:pt x="25" y="4"/>
                    <a:pt x="19" y="1"/>
                  </a:cubicBezTo>
                  <a:cubicBezTo>
                    <a:pt x="17" y="0"/>
                    <a:pt x="15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77">
              <a:extLst>
                <a:ext uri="{FF2B5EF4-FFF2-40B4-BE49-F238E27FC236}">
                  <a16:creationId xmlns:a16="http://schemas.microsoft.com/office/drawing/2014/main" id="{07FA81A5-EEEB-44AB-9090-766B35EE42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7124" y="5699125"/>
              <a:ext cx="79375" cy="73025"/>
            </a:xfrm>
            <a:custGeom>
              <a:avLst/>
              <a:gdLst>
                <a:gd name="T0" fmla="*/ 11 w 24"/>
                <a:gd name="T1" fmla="*/ 0 h 22"/>
                <a:gd name="T2" fmla="*/ 6 w 24"/>
                <a:gd name="T3" fmla="*/ 1 h 22"/>
                <a:gd name="T4" fmla="*/ 3 w 24"/>
                <a:gd name="T5" fmla="*/ 5 h 22"/>
                <a:gd name="T6" fmla="*/ 7 w 24"/>
                <a:gd name="T7" fmla="*/ 21 h 22"/>
                <a:gd name="T8" fmla="*/ 13 w 24"/>
                <a:gd name="T9" fmla="*/ 22 h 22"/>
                <a:gd name="T10" fmla="*/ 18 w 24"/>
                <a:gd name="T11" fmla="*/ 21 h 22"/>
                <a:gd name="T12" fmla="*/ 21 w 24"/>
                <a:gd name="T13" fmla="*/ 18 h 22"/>
                <a:gd name="T14" fmla="*/ 17 w 24"/>
                <a:gd name="T15" fmla="*/ 2 h 22"/>
                <a:gd name="T16" fmla="*/ 11 w 24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2">
                  <a:moveTo>
                    <a:pt x="11" y="0"/>
                  </a:moveTo>
                  <a:cubicBezTo>
                    <a:pt x="9" y="0"/>
                    <a:pt x="8" y="0"/>
                    <a:pt x="6" y="1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0" y="10"/>
                    <a:pt x="2" y="18"/>
                    <a:pt x="7" y="21"/>
                  </a:cubicBezTo>
                  <a:cubicBezTo>
                    <a:pt x="9" y="22"/>
                    <a:pt x="11" y="22"/>
                    <a:pt x="13" y="22"/>
                  </a:cubicBezTo>
                  <a:cubicBezTo>
                    <a:pt x="15" y="22"/>
                    <a:pt x="16" y="22"/>
                    <a:pt x="18" y="21"/>
                  </a:cubicBezTo>
                  <a:cubicBezTo>
                    <a:pt x="19" y="21"/>
                    <a:pt x="20" y="19"/>
                    <a:pt x="21" y="18"/>
                  </a:cubicBezTo>
                  <a:cubicBezTo>
                    <a:pt x="24" y="12"/>
                    <a:pt x="22" y="5"/>
                    <a:pt x="17" y="2"/>
                  </a:cubicBezTo>
                  <a:cubicBezTo>
                    <a:pt x="15" y="1"/>
                    <a:pt x="13" y="0"/>
                    <a:pt x="11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79">
              <a:extLst>
                <a:ext uri="{FF2B5EF4-FFF2-40B4-BE49-F238E27FC236}">
                  <a16:creationId xmlns:a16="http://schemas.microsoft.com/office/drawing/2014/main" id="{40C15D7D-C48E-4DE3-B760-B9144BDAA1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1874" y="5646737"/>
              <a:ext cx="82550" cy="73025"/>
            </a:xfrm>
            <a:custGeom>
              <a:avLst/>
              <a:gdLst>
                <a:gd name="T0" fmla="*/ 11 w 25"/>
                <a:gd name="T1" fmla="*/ 0 h 22"/>
                <a:gd name="T2" fmla="*/ 7 w 25"/>
                <a:gd name="T3" fmla="*/ 1 h 22"/>
                <a:gd name="T4" fmla="*/ 4 w 25"/>
                <a:gd name="T5" fmla="*/ 5 h 22"/>
                <a:gd name="T6" fmla="*/ 8 w 25"/>
                <a:gd name="T7" fmla="*/ 21 h 22"/>
                <a:gd name="T8" fmla="*/ 14 w 25"/>
                <a:gd name="T9" fmla="*/ 22 h 22"/>
                <a:gd name="T10" fmla="*/ 18 w 25"/>
                <a:gd name="T11" fmla="*/ 21 h 22"/>
                <a:gd name="T12" fmla="*/ 22 w 25"/>
                <a:gd name="T13" fmla="*/ 17 h 22"/>
                <a:gd name="T14" fmla="*/ 17 w 25"/>
                <a:gd name="T15" fmla="*/ 1 h 22"/>
                <a:gd name="T16" fmla="*/ 11 w 25"/>
                <a:gd name="T1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2">
                  <a:moveTo>
                    <a:pt x="11" y="0"/>
                  </a:moveTo>
                  <a:cubicBezTo>
                    <a:pt x="10" y="0"/>
                    <a:pt x="9" y="0"/>
                    <a:pt x="7" y="1"/>
                  </a:cubicBezTo>
                  <a:cubicBezTo>
                    <a:pt x="6" y="2"/>
                    <a:pt x="4" y="3"/>
                    <a:pt x="4" y="5"/>
                  </a:cubicBezTo>
                  <a:cubicBezTo>
                    <a:pt x="0" y="10"/>
                    <a:pt x="2" y="17"/>
                    <a:pt x="8" y="21"/>
                  </a:cubicBezTo>
                  <a:cubicBezTo>
                    <a:pt x="10" y="22"/>
                    <a:pt x="12" y="22"/>
                    <a:pt x="14" y="22"/>
                  </a:cubicBezTo>
                  <a:cubicBezTo>
                    <a:pt x="15" y="22"/>
                    <a:pt x="17" y="22"/>
                    <a:pt x="18" y="21"/>
                  </a:cubicBezTo>
                  <a:cubicBezTo>
                    <a:pt x="19" y="20"/>
                    <a:pt x="21" y="19"/>
                    <a:pt x="22" y="17"/>
                  </a:cubicBezTo>
                  <a:cubicBezTo>
                    <a:pt x="25" y="12"/>
                    <a:pt x="23" y="5"/>
                    <a:pt x="17" y="1"/>
                  </a:cubicBezTo>
                  <a:cubicBezTo>
                    <a:pt x="15" y="0"/>
                    <a:pt x="13" y="0"/>
                    <a:pt x="11" y="0"/>
                  </a:cubicBezTo>
                </a:path>
              </a:pathLst>
            </a:custGeom>
            <a:solidFill>
              <a:srgbClr val="51498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80">
              <a:extLst>
                <a:ext uri="{FF2B5EF4-FFF2-40B4-BE49-F238E27FC236}">
                  <a16:creationId xmlns:a16="http://schemas.microsoft.com/office/drawing/2014/main" id="{6779B2B1-D922-4492-BD11-EBA2348D0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0174" y="562610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8" y="0"/>
                    <a:pt x="13" y="0"/>
                  </a:cubicBezTo>
                </a:path>
              </a:pathLst>
            </a:custGeom>
            <a:solidFill>
              <a:srgbClr val="42E8E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81">
              <a:extLst>
                <a:ext uri="{FF2B5EF4-FFF2-40B4-BE49-F238E27FC236}">
                  <a16:creationId xmlns:a16="http://schemas.microsoft.com/office/drawing/2014/main" id="{8DC4648F-D8C5-4ED1-87D1-6178D01C9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22249" y="5568950"/>
              <a:ext cx="88900" cy="80962"/>
            </a:xfrm>
            <a:custGeom>
              <a:avLst/>
              <a:gdLst>
                <a:gd name="T0" fmla="*/ 14 w 27"/>
                <a:gd name="T1" fmla="*/ 0 h 24"/>
                <a:gd name="T2" fmla="*/ 8 w 27"/>
                <a:gd name="T3" fmla="*/ 2 h 24"/>
                <a:gd name="T4" fmla="*/ 4 w 27"/>
                <a:gd name="T5" fmla="*/ 18 h 24"/>
                <a:gd name="T6" fmla="*/ 14 w 27"/>
                <a:gd name="T7" fmla="*/ 24 h 24"/>
                <a:gd name="T8" fmla="*/ 20 w 27"/>
                <a:gd name="T9" fmla="*/ 22 h 24"/>
                <a:gd name="T10" fmla="*/ 24 w 27"/>
                <a:gd name="T11" fmla="*/ 6 h 24"/>
                <a:gd name="T12" fmla="*/ 14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4" y="0"/>
                  </a:moveTo>
                  <a:cubicBezTo>
                    <a:pt x="12" y="0"/>
                    <a:pt x="10" y="1"/>
                    <a:pt x="8" y="2"/>
                  </a:cubicBezTo>
                  <a:cubicBezTo>
                    <a:pt x="2" y="5"/>
                    <a:pt x="0" y="12"/>
                    <a:pt x="4" y="18"/>
                  </a:cubicBezTo>
                  <a:cubicBezTo>
                    <a:pt x="6" y="22"/>
                    <a:pt x="10" y="24"/>
                    <a:pt x="14" y="24"/>
                  </a:cubicBezTo>
                  <a:cubicBezTo>
                    <a:pt x="16" y="24"/>
                    <a:pt x="18" y="23"/>
                    <a:pt x="20" y="22"/>
                  </a:cubicBezTo>
                  <a:cubicBezTo>
                    <a:pt x="25" y="19"/>
                    <a:pt x="27" y="12"/>
                    <a:pt x="24" y="6"/>
                  </a:cubicBezTo>
                  <a:cubicBezTo>
                    <a:pt x="22" y="3"/>
                    <a:pt x="18" y="0"/>
                    <a:pt x="14" y="0"/>
                  </a:cubicBezTo>
                </a:path>
              </a:pathLst>
            </a:custGeom>
            <a:solidFill>
              <a:srgbClr val="4BC8C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82">
              <a:extLst>
                <a:ext uri="{FF2B5EF4-FFF2-40B4-BE49-F238E27FC236}">
                  <a16:creationId xmlns:a16="http://schemas.microsoft.com/office/drawing/2014/main" id="{DAAB9D96-B8A7-4454-9A5F-02E1F41C26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17499" y="5516562"/>
              <a:ext cx="88900" cy="79375"/>
            </a:xfrm>
            <a:custGeom>
              <a:avLst/>
              <a:gdLst>
                <a:gd name="T0" fmla="*/ 13 w 27"/>
                <a:gd name="T1" fmla="*/ 0 h 24"/>
                <a:gd name="T2" fmla="*/ 7 w 27"/>
                <a:gd name="T3" fmla="*/ 2 h 24"/>
                <a:gd name="T4" fmla="*/ 3 w 27"/>
                <a:gd name="T5" fmla="*/ 18 h 24"/>
                <a:gd name="T6" fmla="*/ 13 w 27"/>
                <a:gd name="T7" fmla="*/ 24 h 24"/>
                <a:gd name="T8" fmla="*/ 19 w 27"/>
                <a:gd name="T9" fmla="*/ 22 h 24"/>
                <a:gd name="T10" fmla="*/ 23 w 27"/>
                <a:gd name="T11" fmla="*/ 6 h 24"/>
                <a:gd name="T12" fmla="*/ 13 w 27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5" y="19"/>
                    <a:pt x="27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56AFC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83">
              <a:extLst>
                <a:ext uri="{FF2B5EF4-FFF2-40B4-BE49-F238E27FC236}">
                  <a16:creationId xmlns:a16="http://schemas.microsoft.com/office/drawing/2014/main" id="{1B036E91-4C69-4222-A490-26DAD84EB3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09574" y="5462587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3 w 27"/>
                <a:gd name="T5" fmla="*/ 17 h 23"/>
                <a:gd name="T6" fmla="*/ 14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5"/>
                    <a:pt x="0" y="12"/>
                    <a:pt x="3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19" y="22"/>
                  </a:cubicBezTo>
                  <a:cubicBezTo>
                    <a:pt x="25" y="18"/>
                    <a:pt x="27" y="11"/>
                    <a:pt x="24" y="6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629C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B1B66889-09F0-4432-A227-802D35A64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06411" y="5405437"/>
              <a:ext cx="85725" cy="80962"/>
            </a:xfrm>
            <a:custGeom>
              <a:avLst/>
              <a:gdLst>
                <a:gd name="T0" fmla="*/ 13 w 26"/>
                <a:gd name="T1" fmla="*/ 0 h 24"/>
                <a:gd name="T2" fmla="*/ 7 w 26"/>
                <a:gd name="T3" fmla="*/ 2 h 24"/>
                <a:gd name="T4" fmla="*/ 3 w 26"/>
                <a:gd name="T5" fmla="*/ 18 h 24"/>
                <a:gd name="T6" fmla="*/ 13 w 26"/>
                <a:gd name="T7" fmla="*/ 24 h 24"/>
                <a:gd name="T8" fmla="*/ 19 w 26"/>
                <a:gd name="T9" fmla="*/ 22 h 24"/>
                <a:gd name="T10" fmla="*/ 23 w 26"/>
                <a:gd name="T11" fmla="*/ 6 h 24"/>
                <a:gd name="T12" fmla="*/ 13 w 26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4">
                  <a:moveTo>
                    <a:pt x="13" y="0"/>
                  </a:moveTo>
                  <a:cubicBezTo>
                    <a:pt x="11" y="0"/>
                    <a:pt x="9" y="1"/>
                    <a:pt x="7" y="2"/>
                  </a:cubicBezTo>
                  <a:cubicBezTo>
                    <a:pt x="1" y="5"/>
                    <a:pt x="0" y="12"/>
                    <a:pt x="3" y="18"/>
                  </a:cubicBezTo>
                  <a:cubicBezTo>
                    <a:pt x="5" y="22"/>
                    <a:pt x="9" y="24"/>
                    <a:pt x="13" y="24"/>
                  </a:cubicBezTo>
                  <a:cubicBezTo>
                    <a:pt x="15" y="24"/>
                    <a:pt x="17" y="23"/>
                    <a:pt x="19" y="22"/>
                  </a:cubicBezTo>
                  <a:cubicBezTo>
                    <a:pt x="24" y="19"/>
                    <a:pt x="26" y="12"/>
                    <a:pt x="23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6E8EA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85">
              <a:extLst>
                <a:ext uri="{FF2B5EF4-FFF2-40B4-BE49-F238E27FC236}">
                  <a16:creationId xmlns:a16="http://schemas.microsoft.com/office/drawing/2014/main" id="{2F47A813-4EED-4E9B-B0F3-284D629F43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98486" y="5353050"/>
              <a:ext cx="88900" cy="76200"/>
            </a:xfrm>
            <a:custGeom>
              <a:avLst/>
              <a:gdLst>
                <a:gd name="T0" fmla="*/ 13 w 27"/>
                <a:gd name="T1" fmla="*/ 0 h 23"/>
                <a:gd name="T2" fmla="*/ 7 w 27"/>
                <a:gd name="T3" fmla="*/ 2 h 23"/>
                <a:gd name="T4" fmla="*/ 3 w 27"/>
                <a:gd name="T5" fmla="*/ 18 h 23"/>
                <a:gd name="T6" fmla="*/ 13 w 27"/>
                <a:gd name="T7" fmla="*/ 23 h 23"/>
                <a:gd name="T8" fmla="*/ 19 w 27"/>
                <a:gd name="T9" fmla="*/ 22 h 23"/>
                <a:gd name="T10" fmla="*/ 24 w 27"/>
                <a:gd name="T11" fmla="*/ 6 h 23"/>
                <a:gd name="T12" fmla="*/ 13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3" y="0"/>
                  </a:moveTo>
                  <a:cubicBezTo>
                    <a:pt x="11" y="0"/>
                    <a:pt x="9" y="0"/>
                    <a:pt x="7" y="2"/>
                  </a:cubicBezTo>
                  <a:cubicBezTo>
                    <a:pt x="2" y="5"/>
                    <a:pt x="0" y="12"/>
                    <a:pt x="3" y="18"/>
                  </a:cubicBezTo>
                  <a:cubicBezTo>
                    <a:pt x="5" y="21"/>
                    <a:pt x="9" y="23"/>
                    <a:pt x="13" y="23"/>
                  </a:cubicBezTo>
                  <a:cubicBezTo>
                    <a:pt x="15" y="23"/>
                    <a:pt x="17" y="23"/>
                    <a:pt x="19" y="22"/>
                  </a:cubicBezTo>
                  <a:cubicBezTo>
                    <a:pt x="25" y="19"/>
                    <a:pt x="27" y="11"/>
                    <a:pt x="24" y="6"/>
                  </a:cubicBezTo>
                  <a:cubicBezTo>
                    <a:pt x="21" y="2"/>
                    <a:pt x="17" y="0"/>
                    <a:pt x="13" y="0"/>
                  </a:cubicBezTo>
                </a:path>
              </a:pathLst>
            </a:custGeom>
            <a:solidFill>
              <a:srgbClr val="7C87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86">
              <a:extLst>
                <a:ext uri="{FF2B5EF4-FFF2-40B4-BE49-F238E27FC236}">
                  <a16:creationId xmlns:a16="http://schemas.microsoft.com/office/drawing/2014/main" id="{C6845FB4-EB66-4A79-B099-375E8788F0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90561" y="5299075"/>
              <a:ext cx="88900" cy="76200"/>
            </a:xfrm>
            <a:custGeom>
              <a:avLst/>
              <a:gdLst>
                <a:gd name="T0" fmla="*/ 14 w 27"/>
                <a:gd name="T1" fmla="*/ 0 h 23"/>
                <a:gd name="T2" fmla="*/ 8 w 27"/>
                <a:gd name="T3" fmla="*/ 1 h 23"/>
                <a:gd name="T4" fmla="*/ 4 w 27"/>
                <a:gd name="T5" fmla="*/ 17 h 23"/>
                <a:gd name="T6" fmla="*/ 14 w 27"/>
                <a:gd name="T7" fmla="*/ 23 h 23"/>
                <a:gd name="T8" fmla="*/ 20 w 27"/>
                <a:gd name="T9" fmla="*/ 22 h 23"/>
                <a:gd name="T10" fmla="*/ 24 w 27"/>
                <a:gd name="T11" fmla="*/ 5 h 23"/>
                <a:gd name="T12" fmla="*/ 14 w 27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3">
                  <a:moveTo>
                    <a:pt x="14" y="0"/>
                  </a:moveTo>
                  <a:cubicBezTo>
                    <a:pt x="12" y="0"/>
                    <a:pt x="10" y="0"/>
                    <a:pt x="8" y="1"/>
                  </a:cubicBezTo>
                  <a:cubicBezTo>
                    <a:pt x="2" y="4"/>
                    <a:pt x="0" y="12"/>
                    <a:pt x="4" y="17"/>
                  </a:cubicBezTo>
                  <a:cubicBezTo>
                    <a:pt x="6" y="21"/>
                    <a:pt x="10" y="23"/>
                    <a:pt x="14" y="23"/>
                  </a:cubicBezTo>
                  <a:cubicBezTo>
                    <a:pt x="16" y="23"/>
                    <a:pt x="18" y="23"/>
                    <a:pt x="20" y="22"/>
                  </a:cubicBezTo>
                  <a:cubicBezTo>
                    <a:pt x="25" y="18"/>
                    <a:pt x="27" y="11"/>
                    <a:pt x="24" y="5"/>
                  </a:cubicBezTo>
                  <a:cubicBezTo>
                    <a:pt x="22" y="2"/>
                    <a:pt x="18" y="0"/>
                    <a:pt x="14" y="0"/>
                  </a:cubicBezTo>
                </a:path>
              </a:pathLst>
            </a:custGeom>
            <a:solidFill>
              <a:srgbClr val="8B86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F1A2538-5051-469B-8640-A4CD17CE4F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41802" y="5287830"/>
              <a:ext cx="827436" cy="50191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BC8B80E-FE5E-4E19-85A2-95C8DD2CB0A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52276" y="5405437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2B74C08-DAB2-4B60-BE63-31B1EF58C77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31243" y="5471253"/>
              <a:ext cx="328843" cy="21199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E0CA069-C0B0-4E7A-B11B-4ACD2B3E055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065044" y="5664134"/>
              <a:ext cx="618290" cy="398594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C535D6E5-49D9-45E0-A8B6-B2D1231A1859}"/>
                </a:ext>
              </a:extLst>
            </p:cNvPr>
            <p:cNvSpPr/>
            <p:nvPr userDrawn="1"/>
          </p:nvSpPr>
          <p:spPr>
            <a:xfrm>
              <a:off x="10861128" y="4188135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316616A3-795D-402D-BC50-063C43F0436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552112" y="4285080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DBFB945A-9C54-49A8-93AD-3E9D6BB6536C}"/>
                </a:ext>
              </a:extLst>
            </p:cNvPr>
            <p:cNvSpPr/>
            <p:nvPr userDrawn="1"/>
          </p:nvSpPr>
          <p:spPr>
            <a:xfrm>
              <a:off x="9754989" y="371337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FCF84FC-3336-420C-9745-AFFA473676B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445973" y="381032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7993B824-2430-4010-8ADC-F1F4A4D36729}"/>
                </a:ext>
              </a:extLst>
            </p:cNvPr>
            <p:cNvSpPr/>
            <p:nvPr userDrawn="1"/>
          </p:nvSpPr>
          <p:spPr>
            <a:xfrm>
              <a:off x="10020604" y="4130676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2BC9A81-D7DF-4CAF-8B08-A6DE7D5ACCB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06261" y="4226956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8868605B-D722-4164-B21F-08BFE13E61E2}"/>
                </a:ext>
              </a:extLst>
            </p:cNvPr>
            <p:cNvSpPr/>
            <p:nvPr userDrawn="1"/>
          </p:nvSpPr>
          <p:spPr>
            <a:xfrm>
              <a:off x="7626655" y="417674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EA79255-9C71-432C-B4D0-195CB612AB0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12312" y="427302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130C72F6-B790-4963-829E-CC6199EAA068}"/>
                </a:ext>
              </a:extLst>
            </p:cNvPr>
            <p:cNvSpPr/>
            <p:nvPr userDrawn="1"/>
          </p:nvSpPr>
          <p:spPr>
            <a:xfrm>
              <a:off x="8387012" y="3360161"/>
              <a:ext cx="358974" cy="202206"/>
            </a:xfrm>
            <a:prstGeom prst="ellipse">
              <a:avLst/>
            </a:prstGeom>
            <a:gradFill flip="none" rotWithShape="1">
              <a:gsLst>
                <a:gs pos="100000">
                  <a:srgbClr val="1D296C">
                    <a:alpha val="20000"/>
                  </a:srgbClr>
                </a:gs>
                <a:gs pos="59000">
                  <a:srgbClr val="2B6C95">
                    <a:alpha val="50000"/>
                  </a:srgbClr>
                </a:gs>
                <a:gs pos="30000">
                  <a:srgbClr val="36A6B8">
                    <a:alpha val="50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3C4643EB-2B36-4F72-BC7D-553950FDE15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72669" y="3456441"/>
              <a:ext cx="287454" cy="171956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>
                      <a:alpha val="20000"/>
                    </a:srgbClr>
                  </a:gs>
                  <a:gs pos="53000">
                    <a:srgbClr val="255184">
                      <a:alpha val="20000"/>
                    </a:srgbClr>
                  </a:gs>
                  <a:gs pos="100000">
                    <a:srgbClr val="42E8E0">
                      <a:alpha val="20000"/>
                    </a:srgbClr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BA2B3455-F5C8-4779-912D-30053B105227}"/>
                </a:ext>
              </a:extLst>
            </p:cNvPr>
            <p:cNvSpPr/>
            <p:nvPr userDrawn="1"/>
          </p:nvSpPr>
          <p:spPr>
            <a:xfrm>
              <a:off x="8071311" y="3424099"/>
              <a:ext cx="361456" cy="203605"/>
            </a:xfrm>
            <a:prstGeom prst="ellipse">
              <a:avLst/>
            </a:prstGeom>
            <a:gradFill flip="none" rotWithShape="1">
              <a:gsLst>
                <a:gs pos="100000">
                  <a:srgbClr val="1D296C"/>
                </a:gs>
                <a:gs pos="52000">
                  <a:srgbClr val="2B6C95"/>
                </a:gs>
                <a:gs pos="68000">
                  <a:srgbClr val="265989"/>
                </a:gs>
                <a:gs pos="17000">
                  <a:srgbClr val="36A6B8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07D7C74C-5DD7-4AF7-99FD-900C366926D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762295" y="3521044"/>
              <a:ext cx="483328" cy="289130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6428A0B-65F9-46F4-9E1C-ABB7B30059FA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8216506" y="2821117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848627E4-D75D-4A0C-88BB-46A1C4837B9C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0208402" y="2813165"/>
              <a:ext cx="5025" cy="2074259"/>
            </a:xfrm>
            <a:prstGeom prst="line">
              <a:avLst/>
            </a:prstGeom>
            <a:ln w="25400" cap="rnd">
              <a:gradFill>
                <a:gsLst>
                  <a:gs pos="0">
                    <a:srgbClr val="180D5B"/>
                  </a:gs>
                  <a:gs pos="53000">
                    <a:srgbClr val="255184"/>
                  </a:gs>
                  <a:gs pos="100000">
                    <a:srgbClr val="42E8E0"/>
                  </a:gs>
                </a:gsLst>
                <a:lin ang="162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Freeform 90">
              <a:extLst>
                <a:ext uri="{FF2B5EF4-FFF2-40B4-BE49-F238E27FC236}">
                  <a16:creationId xmlns:a16="http://schemas.microsoft.com/office/drawing/2014/main" id="{40F9FBC8-FE03-45D5-BD33-637B1B60C5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solidFill>
              <a:srgbClr val="736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91">
              <a:extLst>
                <a:ext uri="{FF2B5EF4-FFF2-40B4-BE49-F238E27FC236}">
                  <a16:creationId xmlns:a16="http://schemas.microsoft.com/office/drawing/2014/main" id="{4AD0337E-0914-4CCE-BFFF-D0311277AC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8638" y="4264025"/>
              <a:ext cx="2168525" cy="714375"/>
            </a:xfrm>
            <a:custGeom>
              <a:avLst/>
              <a:gdLst>
                <a:gd name="T0" fmla="*/ 10 w 538"/>
                <a:gd name="T1" fmla="*/ 165 h 177"/>
                <a:gd name="T2" fmla="*/ 31 w 538"/>
                <a:gd name="T3" fmla="*/ 177 h 177"/>
                <a:gd name="T4" fmla="*/ 249 w 538"/>
                <a:gd name="T5" fmla="*/ 52 h 177"/>
                <a:gd name="T6" fmla="*/ 287 w 538"/>
                <a:gd name="T7" fmla="*/ 50 h 177"/>
                <a:gd name="T8" fmla="*/ 507 w 538"/>
                <a:gd name="T9" fmla="*/ 177 h 177"/>
                <a:gd name="T10" fmla="*/ 525 w 538"/>
                <a:gd name="T11" fmla="*/ 167 h 177"/>
                <a:gd name="T12" fmla="*/ 528 w 538"/>
                <a:gd name="T13" fmla="*/ 145 h 177"/>
                <a:gd name="T14" fmla="*/ 287 w 538"/>
                <a:gd name="T15" fmla="*/ 5 h 177"/>
                <a:gd name="T16" fmla="*/ 249 w 538"/>
                <a:gd name="T17" fmla="*/ 7 h 177"/>
                <a:gd name="T18" fmla="*/ 13 w 538"/>
                <a:gd name="T19" fmla="*/ 143 h 177"/>
                <a:gd name="T20" fmla="*/ 10 w 538"/>
                <a:gd name="T21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177">
                  <a:moveTo>
                    <a:pt x="10" y="165"/>
                  </a:moveTo>
                  <a:cubicBezTo>
                    <a:pt x="31" y="177"/>
                    <a:pt x="31" y="177"/>
                    <a:pt x="31" y="177"/>
                  </a:cubicBezTo>
                  <a:cubicBezTo>
                    <a:pt x="249" y="52"/>
                    <a:pt x="249" y="52"/>
                    <a:pt x="249" y="52"/>
                  </a:cubicBezTo>
                  <a:cubicBezTo>
                    <a:pt x="260" y="45"/>
                    <a:pt x="277" y="45"/>
                    <a:pt x="287" y="50"/>
                  </a:cubicBezTo>
                  <a:cubicBezTo>
                    <a:pt x="507" y="177"/>
                    <a:pt x="507" y="177"/>
                    <a:pt x="507" y="177"/>
                  </a:cubicBezTo>
                  <a:cubicBezTo>
                    <a:pt x="525" y="167"/>
                    <a:pt x="525" y="167"/>
                    <a:pt x="525" y="167"/>
                  </a:cubicBezTo>
                  <a:cubicBezTo>
                    <a:pt x="537" y="160"/>
                    <a:pt x="538" y="150"/>
                    <a:pt x="528" y="145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77" y="0"/>
                    <a:pt x="260" y="0"/>
                    <a:pt x="249" y="7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2" y="150"/>
                    <a:pt x="0" y="159"/>
                    <a:pt x="10" y="165"/>
                  </a:cubicBezTo>
                  <a:close/>
                </a:path>
              </a:pathLst>
            </a:custGeom>
            <a:solidFill>
              <a:srgbClr val="42E8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90">
              <a:extLst>
                <a:ext uri="{FF2B5EF4-FFF2-40B4-BE49-F238E27FC236}">
                  <a16:creationId xmlns:a16="http://schemas.microsoft.com/office/drawing/2014/main" id="{911FC156-5CDB-4E0E-92E9-AD223BC37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2017" y="4267200"/>
              <a:ext cx="2168525" cy="1239838"/>
            </a:xfrm>
            <a:custGeom>
              <a:avLst/>
              <a:gdLst>
                <a:gd name="T0" fmla="*/ 270 w 538"/>
                <a:gd name="T1" fmla="*/ 0 h 307"/>
                <a:gd name="T2" fmla="*/ 249 w 538"/>
                <a:gd name="T3" fmla="*/ 6 h 307"/>
                <a:gd name="T4" fmla="*/ 13 w 538"/>
                <a:gd name="T5" fmla="*/ 142 h 307"/>
                <a:gd name="T6" fmla="*/ 10 w 538"/>
                <a:gd name="T7" fmla="*/ 164 h 307"/>
                <a:gd name="T8" fmla="*/ 251 w 538"/>
                <a:gd name="T9" fmla="*/ 303 h 307"/>
                <a:gd name="T10" fmla="*/ 268 w 538"/>
                <a:gd name="T11" fmla="*/ 307 h 307"/>
                <a:gd name="T12" fmla="*/ 290 w 538"/>
                <a:gd name="T13" fmla="*/ 302 h 307"/>
                <a:gd name="T14" fmla="*/ 525 w 538"/>
                <a:gd name="T15" fmla="*/ 166 h 307"/>
                <a:gd name="T16" fmla="*/ 528 w 538"/>
                <a:gd name="T17" fmla="*/ 144 h 307"/>
                <a:gd name="T18" fmla="*/ 287 w 538"/>
                <a:gd name="T19" fmla="*/ 4 h 307"/>
                <a:gd name="T20" fmla="*/ 270 w 538"/>
                <a:gd name="T21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8" h="307">
                  <a:moveTo>
                    <a:pt x="270" y="0"/>
                  </a:moveTo>
                  <a:cubicBezTo>
                    <a:pt x="263" y="0"/>
                    <a:pt x="255" y="2"/>
                    <a:pt x="249" y="6"/>
                  </a:cubicBezTo>
                  <a:cubicBezTo>
                    <a:pt x="13" y="142"/>
                    <a:pt x="13" y="142"/>
                    <a:pt x="13" y="142"/>
                  </a:cubicBezTo>
                  <a:cubicBezTo>
                    <a:pt x="2" y="149"/>
                    <a:pt x="0" y="158"/>
                    <a:pt x="10" y="164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6" y="306"/>
                    <a:pt x="262" y="307"/>
                    <a:pt x="268" y="307"/>
                  </a:cubicBezTo>
                  <a:cubicBezTo>
                    <a:pt x="275" y="307"/>
                    <a:pt x="283" y="305"/>
                    <a:pt x="290" y="302"/>
                  </a:cubicBezTo>
                  <a:cubicBezTo>
                    <a:pt x="525" y="166"/>
                    <a:pt x="525" y="166"/>
                    <a:pt x="525" y="166"/>
                  </a:cubicBezTo>
                  <a:cubicBezTo>
                    <a:pt x="537" y="159"/>
                    <a:pt x="538" y="149"/>
                    <a:pt x="528" y="144"/>
                  </a:cubicBezTo>
                  <a:cubicBezTo>
                    <a:pt x="287" y="4"/>
                    <a:pt x="287" y="4"/>
                    <a:pt x="287" y="4"/>
                  </a:cubicBezTo>
                  <a:cubicBezTo>
                    <a:pt x="282" y="2"/>
                    <a:pt x="276" y="0"/>
                    <a:pt x="270" y="0"/>
                  </a:cubicBezTo>
                </a:path>
              </a:pathLst>
            </a:custGeom>
            <a:gradFill>
              <a:gsLst>
                <a:gs pos="22000">
                  <a:srgbClr val="180D5B">
                    <a:alpha val="34000"/>
                  </a:srgbClr>
                </a:gs>
                <a:gs pos="100000">
                  <a:srgbClr val="42E8E0">
                    <a:alpha val="74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5CB8E1C3-E366-4D22-9AF9-FBB35170BB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78938" y="3259138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20E11BDB-3C31-439E-9DDB-16AA665E4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01188" y="3767138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F7AE4EF4-FD61-4FC6-8585-EC7A430BAE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613" y="4365625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95F02460-F328-4C7B-811F-E3D7D6C35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45688" y="4695825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044DA748-443B-4276-8AB5-330D73460CE3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9056822" y="3261347"/>
              <a:ext cx="120650" cy="2243743"/>
            </a:xfrm>
            <a:custGeom>
              <a:avLst/>
              <a:gdLst>
                <a:gd name="connsiteX0" fmla="*/ 33514 w 120650"/>
                <a:gd name="connsiteY0" fmla="*/ 0 h 2243743"/>
                <a:gd name="connsiteX1" fmla="*/ 56974 w 120650"/>
                <a:gd name="connsiteY1" fmla="*/ 6605 h 2243743"/>
                <a:gd name="connsiteX2" fmla="*/ 63676 w 120650"/>
                <a:gd name="connsiteY2" fmla="*/ 9908 h 2243743"/>
                <a:gd name="connsiteX3" fmla="*/ 120650 w 120650"/>
                <a:gd name="connsiteY3" fmla="*/ 115587 h 2243743"/>
                <a:gd name="connsiteX4" fmla="*/ 120650 w 120650"/>
                <a:gd name="connsiteY4" fmla="*/ 2080273 h 2243743"/>
                <a:gd name="connsiteX5" fmla="*/ 120650 w 120650"/>
                <a:gd name="connsiteY5" fmla="*/ 2177592 h 2243743"/>
                <a:gd name="connsiteX6" fmla="*/ 0 w 120650"/>
                <a:gd name="connsiteY6" fmla="*/ 2243743 h 2243743"/>
                <a:gd name="connsiteX7" fmla="*/ 0 w 120650"/>
                <a:gd name="connsiteY7" fmla="*/ 2132585 h 2243743"/>
                <a:gd name="connsiteX8" fmla="*/ 0 w 120650"/>
                <a:gd name="connsiteY8" fmla="*/ 46235 h 2243743"/>
                <a:gd name="connsiteX9" fmla="*/ 33514 w 120650"/>
                <a:gd name="connsiteY9" fmla="*/ 0 h 22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650" h="2243743">
                  <a:moveTo>
                    <a:pt x="33514" y="0"/>
                  </a:moveTo>
                  <a:cubicBezTo>
                    <a:pt x="40217" y="0"/>
                    <a:pt x="46919" y="0"/>
                    <a:pt x="56974" y="6605"/>
                  </a:cubicBezTo>
                  <a:cubicBezTo>
                    <a:pt x="56974" y="6605"/>
                    <a:pt x="56974" y="6605"/>
                    <a:pt x="63676" y="9908"/>
                  </a:cubicBezTo>
                  <a:cubicBezTo>
                    <a:pt x="97190" y="26420"/>
                    <a:pt x="120650" y="75957"/>
                    <a:pt x="120650" y="115587"/>
                  </a:cubicBezTo>
                  <a:cubicBezTo>
                    <a:pt x="120650" y="115587"/>
                    <a:pt x="120650" y="115587"/>
                    <a:pt x="120650" y="2080273"/>
                  </a:cubicBezTo>
                  <a:lnTo>
                    <a:pt x="120650" y="2177592"/>
                  </a:lnTo>
                  <a:lnTo>
                    <a:pt x="0" y="2243743"/>
                  </a:lnTo>
                  <a:lnTo>
                    <a:pt x="0" y="2132585"/>
                  </a:lnTo>
                  <a:cubicBezTo>
                    <a:pt x="0" y="1834535"/>
                    <a:pt x="0" y="1238435"/>
                    <a:pt x="0" y="46235"/>
                  </a:cubicBezTo>
                  <a:cubicBezTo>
                    <a:pt x="0" y="16513"/>
                    <a:pt x="13406" y="0"/>
                    <a:pt x="33514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8E6C05D2-B2A6-4C87-B0F6-6FB68429918C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836159" y="3769347"/>
              <a:ext cx="119063" cy="1621772"/>
            </a:xfrm>
            <a:custGeom>
              <a:avLst/>
              <a:gdLst>
                <a:gd name="connsiteX0" fmla="*/ 33073 w 119063"/>
                <a:gd name="connsiteY0" fmla="*/ 0 h 1621772"/>
                <a:gd name="connsiteX1" fmla="*/ 56224 w 119063"/>
                <a:gd name="connsiteY1" fmla="*/ 6607 h 1621772"/>
                <a:gd name="connsiteX2" fmla="*/ 66146 w 119063"/>
                <a:gd name="connsiteY2" fmla="*/ 9910 h 1621772"/>
                <a:gd name="connsiteX3" fmla="*/ 119063 w 119063"/>
                <a:gd name="connsiteY3" fmla="*/ 115614 h 1621772"/>
                <a:gd name="connsiteX4" fmla="*/ 119063 w 119063"/>
                <a:gd name="connsiteY4" fmla="*/ 1458860 h 1621772"/>
                <a:gd name="connsiteX5" fmla="*/ 119063 w 119063"/>
                <a:gd name="connsiteY5" fmla="*/ 1553686 h 1621772"/>
                <a:gd name="connsiteX6" fmla="*/ 0 w 119063"/>
                <a:gd name="connsiteY6" fmla="*/ 1621772 h 1621772"/>
                <a:gd name="connsiteX7" fmla="*/ 0 w 119063"/>
                <a:gd name="connsiteY7" fmla="*/ 1561802 h 1621772"/>
                <a:gd name="connsiteX8" fmla="*/ 0 w 119063"/>
                <a:gd name="connsiteY8" fmla="*/ 46246 h 1621772"/>
                <a:gd name="connsiteX9" fmla="*/ 33073 w 119063"/>
                <a:gd name="connsiteY9" fmla="*/ 0 h 16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063" h="1621772">
                  <a:moveTo>
                    <a:pt x="33073" y="0"/>
                  </a:moveTo>
                  <a:cubicBezTo>
                    <a:pt x="39688" y="0"/>
                    <a:pt x="49610" y="0"/>
                    <a:pt x="56224" y="6607"/>
                  </a:cubicBezTo>
                  <a:cubicBezTo>
                    <a:pt x="56224" y="6607"/>
                    <a:pt x="56224" y="6607"/>
                    <a:pt x="66146" y="9910"/>
                  </a:cubicBezTo>
                  <a:cubicBezTo>
                    <a:pt x="95912" y="26426"/>
                    <a:pt x="119063" y="75975"/>
                    <a:pt x="119063" y="115614"/>
                  </a:cubicBezTo>
                  <a:cubicBezTo>
                    <a:pt x="119063" y="115614"/>
                    <a:pt x="119063" y="115614"/>
                    <a:pt x="119063" y="1458860"/>
                  </a:cubicBezTo>
                  <a:lnTo>
                    <a:pt x="119063" y="1553686"/>
                  </a:lnTo>
                  <a:lnTo>
                    <a:pt x="0" y="1621772"/>
                  </a:lnTo>
                  <a:lnTo>
                    <a:pt x="0" y="1561802"/>
                  </a:lnTo>
                  <a:cubicBezTo>
                    <a:pt x="0" y="1268090"/>
                    <a:pt x="0" y="798150"/>
                    <a:pt x="0" y="46246"/>
                  </a:cubicBezTo>
                  <a:cubicBezTo>
                    <a:pt x="0" y="16516"/>
                    <a:pt x="16537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69418B36-BBFD-4077-8C67-A8378FA40868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613909" y="4367834"/>
              <a:ext cx="115888" cy="874224"/>
            </a:xfrm>
            <a:custGeom>
              <a:avLst/>
              <a:gdLst>
                <a:gd name="connsiteX0" fmla="*/ 33111 w 115888"/>
                <a:gd name="connsiteY0" fmla="*/ 0 h 874224"/>
                <a:gd name="connsiteX1" fmla="*/ 52977 w 115888"/>
                <a:gd name="connsiteY1" fmla="*/ 6602 h 874224"/>
                <a:gd name="connsiteX2" fmla="*/ 62911 w 115888"/>
                <a:gd name="connsiteY2" fmla="*/ 13203 h 874224"/>
                <a:gd name="connsiteX3" fmla="*/ 115888 w 115888"/>
                <a:gd name="connsiteY3" fmla="*/ 118823 h 874224"/>
                <a:gd name="connsiteX4" fmla="*/ 115888 w 115888"/>
                <a:gd name="connsiteY4" fmla="*/ 620757 h 874224"/>
                <a:gd name="connsiteX5" fmla="*/ 115888 w 115888"/>
                <a:gd name="connsiteY5" fmla="*/ 825103 h 874224"/>
                <a:gd name="connsiteX6" fmla="*/ 26514 w 115888"/>
                <a:gd name="connsiteY6" fmla="*/ 874224 h 874224"/>
                <a:gd name="connsiteX7" fmla="*/ 15314 w 115888"/>
                <a:gd name="connsiteY7" fmla="*/ 861465 h 874224"/>
                <a:gd name="connsiteX8" fmla="*/ 0 w 115888"/>
                <a:gd name="connsiteY8" fmla="*/ 798753 h 874224"/>
                <a:gd name="connsiteX9" fmla="*/ 0 w 115888"/>
                <a:gd name="connsiteY9" fmla="*/ 49510 h 874224"/>
                <a:gd name="connsiteX10" fmla="*/ 33111 w 115888"/>
                <a:gd name="connsiteY10" fmla="*/ 0 h 87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888" h="874224">
                  <a:moveTo>
                    <a:pt x="33111" y="0"/>
                  </a:moveTo>
                  <a:cubicBezTo>
                    <a:pt x="39733" y="0"/>
                    <a:pt x="46355" y="3301"/>
                    <a:pt x="52977" y="6602"/>
                  </a:cubicBezTo>
                  <a:cubicBezTo>
                    <a:pt x="52977" y="6602"/>
                    <a:pt x="52977" y="6602"/>
                    <a:pt x="62911" y="13203"/>
                  </a:cubicBezTo>
                  <a:cubicBezTo>
                    <a:pt x="92710" y="29706"/>
                    <a:pt x="115888" y="75915"/>
                    <a:pt x="115888" y="118823"/>
                  </a:cubicBezTo>
                  <a:cubicBezTo>
                    <a:pt x="115888" y="118823"/>
                    <a:pt x="115888" y="118823"/>
                    <a:pt x="115888" y="620757"/>
                  </a:cubicBezTo>
                  <a:lnTo>
                    <a:pt x="115888" y="825103"/>
                  </a:lnTo>
                  <a:lnTo>
                    <a:pt x="26514" y="874224"/>
                  </a:lnTo>
                  <a:lnTo>
                    <a:pt x="15314" y="861465"/>
                  </a:lnTo>
                  <a:cubicBezTo>
                    <a:pt x="5795" y="842486"/>
                    <a:pt x="0" y="820207"/>
                    <a:pt x="0" y="798753"/>
                  </a:cubicBezTo>
                  <a:cubicBezTo>
                    <a:pt x="0" y="798753"/>
                    <a:pt x="0" y="798753"/>
                    <a:pt x="0" y="49510"/>
                  </a:cubicBezTo>
                  <a:cubicBezTo>
                    <a:pt x="0" y="19804"/>
                    <a:pt x="13244" y="0"/>
                    <a:pt x="33111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EF0C0E3C-2AFE-47E6-B968-7228E9662A2B}"/>
                </a:ext>
              </a:extLst>
            </p:cNvPr>
            <p:cNvSpPr>
              <a:spLocks/>
            </p:cNvSpPr>
            <p:nvPr userDrawn="1"/>
          </p:nvSpPr>
          <p:spPr bwMode="auto">
            <a:xfrm flipH="1">
              <a:off x="8391659" y="4698034"/>
              <a:ext cx="119063" cy="414899"/>
            </a:xfrm>
            <a:custGeom>
              <a:avLst/>
              <a:gdLst>
                <a:gd name="connsiteX0" fmla="*/ 33073 w 119063"/>
                <a:gd name="connsiteY0" fmla="*/ 0 h 414899"/>
                <a:gd name="connsiteX1" fmla="*/ 56224 w 119063"/>
                <a:gd name="connsiteY1" fmla="*/ 6605 h 414899"/>
                <a:gd name="connsiteX2" fmla="*/ 62839 w 119063"/>
                <a:gd name="connsiteY2" fmla="*/ 9908 h 414899"/>
                <a:gd name="connsiteX3" fmla="*/ 119063 w 119063"/>
                <a:gd name="connsiteY3" fmla="*/ 115586 h 414899"/>
                <a:gd name="connsiteX4" fmla="*/ 119063 w 119063"/>
                <a:gd name="connsiteY4" fmla="*/ 310277 h 414899"/>
                <a:gd name="connsiteX5" fmla="*/ 119063 w 119063"/>
                <a:gd name="connsiteY5" fmla="*/ 363731 h 414899"/>
                <a:gd name="connsiteX6" fmla="*/ 29159 w 119063"/>
                <a:gd name="connsiteY6" fmla="*/ 414899 h 414899"/>
                <a:gd name="connsiteX7" fmla="*/ 16950 w 119063"/>
                <a:gd name="connsiteY7" fmla="*/ 397121 h 414899"/>
                <a:gd name="connsiteX8" fmla="*/ 0 w 119063"/>
                <a:gd name="connsiteY8" fmla="*/ 336851 h 414899"/>
                <a:gd name="connsiteX9" fmla="*/ 0 w 119063"/>
                <a:gd name="connsiteY9" fmla="*/ 49537 h 414899"/>
                <a:gd name="connsiteX10" fmla="*/ 33073 w 119063"/>
                <a:gd name="connsiteY10" fmla="*/ 0 h 4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063" h="414899">
                  <a:moveTo>
                    <a:pt x="33073" y="0"/>
                  </a:moveTo>
                  <a:cubicBezTo>
                    <a:pt x="39688" y="0"/>
                    <a:pt x="49610" y="3303"/>
                    <a:pt x="56224" y="6605"/>
                  </a:cubicBezTo>
                  <a:cubicBezTo>
                    <a:pt x="56224" y="6605"/>
                    <a:pt x="56224" y="6605"/>
                    <a:pt x="62839" y="9908"/>
                  </a:cubicBezTo>
                  <a:cubicBezTo>
                    <a:pt x="95912" y="29722"/>
                    <a:pt x="119063" y="75957"/>
                    <a:pt x="119063" y="115586"/>
                  </a:cubicBezTo>
                  <a:cubicBezTo>
                    <a:pt x="119063" y="115586"/>
                    <a:pt x="119063" y="115586"/>
                    <a:pt x="119063" y="310277"/>
                  </a:cubicBezTo>
                  <a:lnTo>
                    <a:pt x="119063" y="363731"/>
                  </a:lnTo>
                  <a:lnTo>
                    <a:pt x="29159" y="414899"/>
                  </a:lnTo>
                  <a:lnTo>
                    <a:pt x="16950" y="397121"/>
                  </a:lnTo>
                  <a:cubicBezTo>
                    <a:pt x="6615" y="378132"/>
                    <a:pt x="0" y="356666"/>
                    <a:pt x="0" y="336851"/>
                  </a:cubicBezTo>
                  <a:cubicBezTo>
                    <a:pt x="0" y="336851"/>
                    <a:pt x="0" y="336851"/>
                    <a:pt x="0" y="49537"/>
                  </a:cubicBezTo>
                  <a:cubicBezTo>
                    <a:pt x="0" y="16513"/>
                    <a:pt x="13229" y="0"/>
                    <a:pt x="33073" y="0"/>
                  </a:cubicBezTo>
                  <a:close/>
                </a:path>
              </a:pathLst>
            </a:custGeom>
            <a:gradFill>
              <a:gsLst>
                <a:gs pos="51000">
                  <a:srgbClr val="42E6E0">
                    <a:alpha val="40000"/>
                  </a:srgbClr>
                </a:gs>
                <a:gs pos="0">
                  <a:srgbClr val="566BD8">
                    <a:alpha val="20000"/>
                  </a:srgbClr>
                </a:gs>
                <a:gs pos="98000">
                  <a:srgbClr val="5666D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5" name="Freeform 106">
              <a:extLst>
                <a:ext uri="{FF2B5EF4-FFF2-40B4-BE49-F238E27FC236}">
                  <a16:creationId xmlns:a16="http://schemas.microsoft.com/office/drawing/2014/main" id="{CCBE267B-8FF3-4D30-9A4A-1C1BC6BBD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55909" y="2437995"/>
              <a:ext cx="1951037" cy="3057525"/>
            </a:xfrm>
            <a:custGeom>
              <a:avLst/>
              <a:gdLst>
                <a:gd name="T0" fmla="*/ 531 w 531"/>
                <a:gd name="T1" fmla="*/ 0 h 835"/>
                <a:gd name="T2" fmla="*/ 0 w 531"/>
                <a:gd name="T3" fmla="*/ 0 h 835"/>
                <a:gd name="T4" fmla="*/ 0 w 531"/>
                <a:gd name="T5" fmla="*/ 682 h 835"/>
                <a:gd name="T6" fmla="*/ 0 w 531"/>
                <a:gd name="T7" fmla="*/ 682 h 835"/>
                <a:gd name="T8" fmla="*/ 6 w 531"/>
                <a:gd name="T9" fmla="*/ 692 h 835"/>
                <a:gd name="T10" fmla="*/ 248 w 531"/>
                <a:gd name="T11" fmla="*/ 831 h 835"/>
                <a:gd name="T12" fmla="*/ 264 w 531"/>
                <a:gd name="T13" fmla="*/ 835 h 835"/>
                <a:gd name="T14" fmla="*/ 286 w 531"/>
                <a:gd name="T15" fmla="*/ 830 h 835"/>
                <a:gd name="T16" fmla="*/ 522 w 531"/>
                <a:gd name="T17" fmla="*/ 693 h 835"/>
                <a:gd name="T18" fmla="*/ 531 w 531"/>
                <a:gd name="T19" fmla="*/ 682 h 835"/>
                <a:gd name="T20" fmla="*/ 531 w 531"/>
                <a:gd name="T21" fmla="*/ 682 h 835"/>
                <a:gd name="T22" fmla="*/ 531 w 531"/>
                <a:gd name="T2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1" h="835">
                  <a:moveTo>
                    <a:pt x="5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685"/>
                    <a:pt x="2" y="689"/>
                    <a:pt x="6" y="692"/>
                  </a:cubicBezTo>
                  <a:cubicBezTo>
                    <a:pt x="248" y="831"/>
                    <a:pt x="248" y="831"/>
                    <a:pt x="248" y="831"/>
                  </a:cubicBezTo>
                  <a:cubicBezTo>
                    <a:pt x="252" y="834"/>
                    <a:pt x="258" y="835"/>
                    <a:pt x="264" y="835"/>
                  </a:cubicBezTo>
                  <a:cubicBezTo>
                    <a:pt x="272" y="835"/>
                    <a:pt x="280" y="833"/>
                    <a:pt x="286" y="830"/>
                  </a:cubicBezTo>
                  <a:cubicBezTo>
                    <a:pt x="522" y="693"/>
                    <a:pt x="522" y="693"/>
                    <a:pt x="522" y="693"/>
                  </a:cubicBezTo>
                  <a:cubicBezTo>
                    <a:pt x="528" y="690"/>
                    <a:pt x="531" y="686"/>
                    <a:pt x="531" y="682"/>
                  </a:cubicBezTo>
                  <a:cubicBezTo>
                    <a:pt x="531" y="682"/>
                    <a:pt x="531" y="682"/>
                    <a:pt x="531" y="682"/>
                  </a:cubicBezTo>
                  <a:cubicBezTo>
                    <a:pt x="531" y="0"/>
                    <a:pt x="531" y="0"/>
                    <a:pt x="531" y="0"/>
                  </a:cubicBezTo>
                </a:path>
              </a:pathLst>
            </a:custGeom>
            <a:gradFill>
              <a:gsLst>
                <a:gs pos="100000">
                  <a:srgbClr val="42E6E0">
                    <a:alpha val="20000"/>
                  </a:srgbClr>
                </a:gs>
                <a:gs pos="0">
                  <a:srgbClr val="180D5B">
                    <a:alpha val="5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一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297" y="352343"/>
            <a:ext cx="5331223" cy="42932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43530"/>
            <a:ext cx="10972800" cy="5028036"/>
          </a:xfrm>
          <a:prstGeom prst="rect">
            <a:avLst/>
          </a:prstGeom>
        </p:spPr>
        <p:txBody>
          <a:bodyPr/>
          <a:lstStyle>
            <a:lvl1pPr marL="457131" indent="-457131">
              <a:lnSpc>
                <a:spcPct val="120000"/>
              </a:lnSpc>
              <a:buSzPct val="80000"/>
              <a:buFont typeface="Wingdings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0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alphaModFix amt="31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2025/12/17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  <p:sldLayoutId id="2147483670" r:id="rId7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6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978949" y="2023969"/>
            <a:ext cx="6041284" cy="1058852"/>
          </a:xfrm>
        </p:spPr>
        <p:txBody>
          <a:bodyPr>
            <a:normAutofit/>
          </a:bodyPr>
          <a:lstStyle/>
          <a:p>
            <a:r>
              <a:rPr lang="en-US" altLang="zh-CN" dirty="0" err="1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LiteOS</a:t>
            </a:r>
            <a:r>
              <a:rPr lang="zh-CN" altLang="en-US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+mn-lt"/>
                <a:ea typeface="+mn-ea"/>
                <a:cs typeface="+mn-ea"/>
                <a:sym typeface="+mn-lt"/>
              </a:rPr>
              <a:t>内核开发与实践</a:t>
            </a:r>
            <a:endParaRPr lang="zh-CN" altLang="en-US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3AE36C13-51F4-4440-8DB2-2A4E128FF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6322" y="3993091"/>
            <a:ext cx="3267310" cy="548173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r>
              <a:rPr lang="zh-CN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重庆大学   电气工程学院</a:t>
            </a:r>
          </a:p>
        </p:txBody>
      </p:sp>
      <p:sp>
        <p:nvSpPr>
          <p:cNvPr id="5" name="矩形 4"/>
          <p:cNvSpPr/>
          <p:nvPr/>
        </p:nvSpPr>
        <p:spPr>
          <a:xfrm>
            <a:off x="622577" y="1378227"/>
            <a:ext cx="69500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kern="1800" dirty="0" smtClean="0">
                <a:solidFill>
                  <a:schemeClr val="bg1"/>
                </a:solidFill>
                <a:cs typeface="+mn-ea"/>
                <a:sym typeface="+mn-lt"/>
              </a:rPr>
              <a:t>物联网操作系统</a:t>
            </a:r>
            <a:r>
              <a:rPr lang="zh-CN" altLang="zh-CN" sz="4000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cs typeface="+mn-ea"/>
                <a:sym typeface="+mn-lt"/>
              </a:rPr>
              <a:t>——</a:t>
            </a:r>
            <a:endParaRPr lang="zh-CN" altLang="en-US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577" y="3167390"/>
            <a:ext cx="6816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 smtClean="0">
                <a:solidFill>
                  <a:srgbClr val="42E6E0"/>
                </a:solidFill>
                <a:cs typeface="+mn-ea"/>
                <a:sym typeface="+mn-lt"/>
              </a:rPr>
              <a:t>LiteOS</a:t>
            </a:r>
            <a:r>
              <a:rPr lang="zh-CN" altLang="en-US" sz="2800" b="1" dirty="0" smtClean="0">
                <a:solidFill>
                  <a:srgbClr val="42E6E0"/>
                </a:solidFill>
                <a:cs typeface="+mn-ea"/>
                <a:sym typeface="+mn-lt"/>
              </a:rPr>
              <a:t>任务同步与进程间通信</a:t>
            </a:r>
            <a:endParaRPr lang="en-US" altLang="zh-CN" sz="2800" b="1" dirty="0">
              <a:solidFill>
                <a:srgbClr val="42E6E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88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目录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D02CDF3-99CB-47D4-9923-DEE71CF4F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97" y="1102970"/>
            <a:ext cx="78867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消息队列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zh-CN" altLang="en-US" sz="2400" b="1" dirty="0" smtClean="0">
                <a:solidFill>
                  <a:schemeClr val="tx1"/>
                </a:solidFill>
              </a:rPr>
              <a:t>信号量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400" b="1" dirty="0" smtClean="0">
                <a:solidFill>
                  <a:schemeClr val="tx1"/>
                </a:solidFill>
              </a:rPr>
              <a:t>互斥量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r>
              <a:rPr lang="zh-CN" altLang="en-US" sz="2400" b="1" dirty="0" smtClean="0">
                <a:solidFill>
                  <a:schemeClr val="tx1"/>
                </a:solidFill>
              </a:rPr>
              <a:t>事件</a:t>
            </a:r>
            <a:endParaRPr lang="en-US" altLang="zh-CN" sz="24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53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消息队列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7797" y="1243734"/>
            <a:ext cx="3596535" cy="1678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31" indent="-457131" defTabSz="914354">
              <a:lnSpc>
                <a:spcPct val="120000"/>
              </a:lnSpc>
              <a:spcBef>
                <a:spcPts val="1000"/>
              </a:spcBef>
              <a:buSzPct val="8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</a:rPr>
              <a:t>消息队列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457131" indent="-457131" defTabSz="914354">
              <a:lnSpc>
                <a:spcPct val="120000"/>
              </a:lnSpc>
              <a:spcBef>
                <a:spcPts val="1000"/>
              </a:spcBef>
              <a:buSzPct val="8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</a:rPr>
              <a:t>队列控制块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457131" indent="-457131" defTabSz="914354">
              <a:lnSpc>
                <a:spcPct val="120000"/>
              </a:lnSpc>
              <a:spcBef>
                <a:spcPts val="1000"/>
              </a:spcBef>
              <a:buSzPct val="8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C00000"/>
                </a:solidFill>
              </a:rPr>
              <a:t>队列读写原理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  <p:pic>
        <p:nvPicPr>
          <p:cNvPr id="10" name="对象 2">
            <a:extLst>
              <a:ext uri="{FF2B5EF4-FFF2-40B4-BE49-F238E27FC236}">
                <a16:creationId xmlns:a16="http://schemas.microsoft.com/office/drawing/2014/main" id="{E7EBD934-43A9-46BA-8A9C-E359CB246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899" y="1134006"/>
            <a:ext cx="6349754" cy="231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999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消息队列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" name="对象 2">
            <a:extLst>
              <a:ext uri="{FF2B5EF4-FFF2-40B4-BE49-F238E27FC236}">
                <a16:creationId xmlns:a16="http://schemas.microsoft.com/office/drawing/2014/main" id="{E7EBD934-43A9-46BA-8A9C-E359CB246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688" y="1237906"/>
            <a:ext cx="6349754" cy="231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BE6EB6A-F530-41A6-8CD6-17E5BFB33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314" y="1268942"/>
            <a:ext cx="5278374" cy="3379258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任务与任务间通过消息队列进行信息交互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任务可以在消息队列中写入或读取消息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1800" dirty="0"/>
              <a:t>队列为空时，读取任务</a:t>
            </a:r>
            <a:r>
              <a:rPr lang="zh-CN" altLang="en-US" sz="1800" dirty="0">
                <a:solidFill>
                  <a:srgbClr val="FF0000"/>
                </a:solidFill>
              </a:rPr>
              <a:t>被阻塞</a:t>
            </a:r>
            <a:r>
              <a:rPr lang="zh-CN" altLang="en-US" sz="1800" dirty="0"/>
              <a:t>挂起</a:t>
            </a:r>
            <a:endParaRPr lang="en-US" altLang="zh-CN" sz="1800" dirty="0"/>
          </a:p>
          <a:p>
            <a:pPr lvl="1">
              <a:lnSpc>
                <a:spcPct val="125000"/>
              </a:lnSpc>
            </a:pPr>
            <a:r>
              <a:rPr lang="zh-CN" altLang="en-US" sz="1800" dirty="0"/>
              <a:t>队列有新消息时，读取任务</a:t>
            </a:r>
            <a:r>
              <a:rPr lang="zh-CN" altLang="en-US" sz="1800" dirty="0">
                <a:solidFill>
                  <a:srgbClr val="FF0000"/>
                </a:solidFill>
              </a:rPr>
              <a:t>被唤醒</a:t>
            </a:r>
            <a:r>
              <a:rPr lang="zh-CN" altLang="en-US" sz="1800" dirty="0"/>
              <a:t>处理信息</a:t>
            </a:r>
            <a:endParaRPr lang="en-US" altLang="zh-CN" sz="1800" dirty="0"/>
          </a:p>
          <a:p>
            <a:pPr lvl="1">
              <a:lnSpc>
                <a:spcPct val="125000"/>
              </a:lnSpc>
            </a:pPr>
            <a:r>
              <a:rPr lang="zh-CN" altLang="en-US" sz="1800" dirty="0">
                <a:solidFill>
                  <a:srgbClr val="FF0000"/>
                </a:solidFill>
              </a:rPr>
              <a:t>多个任务</a:t>
            </a:r>
            <a:r>
              <a:rPr lang="zh-CN" altLang="en-US" sz="1800" dirty="0"/>
              <a:t>可以在</a:t>
            </a:r>
            <a:r>
              <a:rPr lang="zh-CN" altLang="en-US" sz="1800" dirty="0">
                <a:solidFill>
                  <a:srgbClr val="FF0000"/>
                </a:solidFill>
              </a:rPr>
              <a:t>多个队列</a:t>
            </a:r>
            <a:r>
              <a:rPr lang="zh-CN" altLang="en-US" sz="1800" dirty="0"/>
              <a:t>中进行消息读写</a:t>
            </a:r>
            <a:endParaRPr lang="en-US" altLang="zh-CN" sz="1800" dirty="0"/>
          </a:p>
          <a:p>
            <a:pPr lvl="1">
              <a:lnSpc>
                <a:spcPct val="125000"/>
              </a:lnSpc>
            </a:pPr>
            <a:endParaRPr lang="en-US" altLang="zh-CN" dirty="0"/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C00000"/>
                </a:solidFill>
              </a:rPr>
              <a:t>消息队列以先进先出的方式异步处理消息，可起到消息缓冲作用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48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队列控制块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" name="对象 2">
            <a:extLst>
              <a:ext uri="{FF2B5EF4-FFF2-40B4-BE49-F238E27FC236}">
                <a16:creationId xmlns:a16="http://schemas.microsoft.com/office/drawing/2014/main" id="{E7EBD934-43A9-46BA-8A9C-E359CB246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688" y="1237906"/>
            <a:ext cx="6349754" cy="231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BE6EB6A-F530-41A6-8CD6-17E5BFB33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98" y="974954"/>
            <a:ext cx="10521250" cy="5219369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消息队列通过一个</a:t>
            </a:r>
            <a:r>
              <a:rPr lang="zh-CN" altLang="en-US" sz="2000" b="1" dirty="0">
                <a:solidFill>
                  <a:srgbClr val="FF0000"/>
                </a:solidFill>
              </a:rPr>
              <a:t>队列控制块</a:t>
            </a:r>
            <a:r>
              <a:rPr lang="zh-CN" altLang="en-US" sz="2000" b="1" dirty="0">
                <a:solidFill>
                  <a:schemeClr val="tx1"/>
                </a:solidFill>
              </a:rPr>
              <a:t>对队列状态和消息读写进行控制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zh-CN" altLang="en-US" sz="2000" b="1" dirty="0" smtClean="0">
                <a:solidFill>
                  <a:srgbClr val="C00000"/>
                </a:solidFill>
              </a:rPr>
              <a:t>队列控制块：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457177" lvl="1" indent="0">
              <a:buNone/>
            </a:pPr>
            <a:r>
              <a:rPr lang="en-US" altLang="zh-CN" sz="1800" dirty="0" err="1" smtClean="0"/>
              <a:t>typedef</a:t>
            </a:r>
            <a:r>
              <a:rPr lang="en-US" altLang="zh-CN" sz="1800" dirty="0" smtClean="0"/>
              <a:t> 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tagQueueCB</a:t>
            </a:r>
            <a:r>
              <a:rPr lang="en-US" altLang="zh-CN" sz="1800" dirty="0"/>
              <a:t> {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UINT8 </a:t>
            </a:r>
            <a:r>
              <a:rPr lang="en-US" altLang="zh-CN" sz="1800" dirty="0"/>
              <a:t>*</a:t>
            </a:r>
            <a:r>
              <a:rPr lang="en-US" altLang="zh-CN" sz="1800" dirty="0" err="1"/>
              <a:t>pucQueue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/*&lt; </a:t>
            </a:r>
            <a:r>
              <a:rPr lang="zh-CN" altLang="en-US" sz="1800" dirty="0"/>
              <a:t>队列指针 *</a:t>
            </a:r>
            <a:r>
              <a:rPr lang="en-US" altLang="zh-CN" sz="1800" dirty="0"/>
              <a:t>/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UINT16 </a:t>
            </a:r>
            <a:r>
              <a:rPr lang="en-US" altLang="zh-CN" sz="1800" dirty="0" err="1"/>
              <a:t>usQueueState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/*&lt; </a:t>
            </a:r>
            <a:r>
              <a:rPr lang="zh-CN" altLang="en-US" sz="1800" dirty="0"/>
              <a:t>队列状态 *</a:t>
            </a:r>
            <a:r>
              <a:rPr lang="en-US" altLang="zh-CN" sz="1800" dirty="0"/>
              <a:t>/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UINT16 </a:t>
            </a:r>
            <a:r>
              <a:rPr lang="en-US" altLang="zh-CN" sz="1800" dirty="0" err="1"/>
              <a:t>usQueueLen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/*&lt; </a:t>
            </a:r>
            <a:r>
              <a:rPr lang="zh-CN" altLang="en-US" sz="1800" dirty="0" smtClean="0"/>
              <a:t>队列长度 </a:t>
            </a:r>
            <a:r>
              <a:rPr lang="zh-CN" altLang="en-US" sz="1800" dirty="0"/>
              <a:t>*</a:t>
            </a:r>
            <a:r>
              <a:rPr lang="en-US" altLang="zh-CN" sz="1800" dirty="0"/>
              <a:t>/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UINT16 </a:t>
            </a:r>
            <a:r>
              <a:rPr lang="en-US" altLang="zh-CN" sz="1800" dirty="0" err="1"/>
              <a:t>usQueueSize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/*&lt; </a:t>
            </a:r>
            <a:r>
              <a:rPr lang="zh-CN" altLang="en-US" sz="1800" dirty="0"/>
              <a:t>消息节点大小 *</a:t>
            </a:r>
            <a:r>
              <a:rPr lang="en-US" altLang="zh-CN" sz="1800" dirty="0"/>
              <a:t>/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UINT16 </a:t>
            </a:r>
            <a:r>
              <a:rPr lang="en-US" altLang="zh-CN" sz="1800" dirty="0" err="1"/>
              <a:t>usQueueID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/*&lt; </a:t>
            </a:r>
            <a:r>
              <a:rPr lang="zh-CN" altLang="en-US" sz="1800" dirty="0"/>
              <a:t>队列 </a:t>
            </a:r>
            <a:r>
              <a:rPr lang="en-US" altLang="zh-CN" sz="1800" dirty="0"/>
              <a:t>ID */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UINT16 </a:t>
            </a:r>
            <a:r>
              <a:rPr lang="en-US" altLang="zh-CN" sz="1800" dirty="0" err="1"/>
              <a:t>usQueueHead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/*&lt; </a:t>
            </a:r>
            <a:r>
              <a:rPr lang="zh-CN" altLang="en-US" sz="1800" dirty="0"/>
              <a:t>消息头节点位置（数组下标）*</a:t>
            </a:r>
            <a:r>
              <a:rPr lang="en-US" altLang="zh-CN" sz="1800" dirty="0"/>
              <a:t>/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UINT16 </a:t>
            </a:r>
            <a:r>
              <a:rPr lang="en-US" altLang="zh-CN" sz="1800" dirty="0" err="1"/>
              <a:t>usQueueTail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/*&lt; </a:t>
            </a:r>
            <a:r>
              <a:rPr lang="zh-CN" altLang="en-US" sz="1800" dirty="0"/>
              <a:t>消息尾节点位置（数组下标）*</a:t>
            </a:r>
            <a:r>
              <a:rPr lang="en-US" altLang="zh-CN" sz="1800" dirty="0"/>
              <a:t>/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UINT16 </a:t>
            </a:r>
            <a:r>
              <a:rPr lang="en-US" altLang="zh-CN" sz="1800" dirty="0" err="1"/>
              <a:t>usReadWriteableCnt</a:t>
            </a:r>
            <a:r>
              <a:rPr lang="en-US" altLang="zh-CN" sz="1800" dirty="0"/>
              <a:t>[2]; </a:t>
            </a:r>
            <a:r>
              <a:rPr lang="en-US" altLang="zh-CN" sz="1800" dirty="0" smtClean="0"/>
              <a:t>/*&lt; </a:t>
            </a:r>
            <a:r>
              <a:rPr lang="zh-CN" altLang="en-US" sz="1800" dirty="0"/>
              <a:t>可读或可</a:t>
            </a:r>
            <a:r>
              <a:rPr lang="zh-CN" altLang="en-US" sz="1800" dirty="0" smtClean="0"/>
              <a:t>写消息的</a:t>
            </a:r>
            <a:r>
              <a:rPr lang="zh-CN" altLang="en-US" sz="1800" dirty="0"/>
              <a:t>计数，</a:t>
            </a:r>
            <a:r>
              <a:rPr lang="en-US" altLang="zh-CN" sz="1800" dirty="0"/>
              <a:t>0</a:t>
            </a:r>
            <a:r>
              <a:rPr lang="zh-CN" altLang="en-US" sz="1800" dirty="0"/>
              <a:t>：可读，</a:t>
            </a:r>
            <a:r>
              <a:rPr lang="en-US" altLang="zh-CN" sz="1800" dirty="0"/>
              <a:t>1</a:t>
            </a:r>
            <a:r>
              <a:rPr lang="zh-CN" altLang="en-US" sz="1800" dirty="0"/>
              <a:t>：可写* </a:t>
            </a:r>
            <a:r>
              <a:rPr lang="en-US" altLang="zh-CN" sz="1800" dirty="0"/>
              <a:t>/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LOS_DL_LIST </a:t>
            </a:r>
            <a:r>
              <a:rPr lang="en-US" altLang="zh-CN" sz="1800" dirty="0" err="1"/>
              <a:t>stReadWriteList</a:t>
            </a:r>
            <a:r>
              <a:rPr lang="en-US" altLang="zh-CN" sz="1800" dirty="0"/>
              <a:t>[2]; </a:t>
            </a:r>
            <a:r>
              <a:rPr lang="en-US" altLang="zh-CN" sz="1800" dirty="0" smtClean="0"/>
              <a:t>/*&lt; </a:t>
            </a:r>
            <a:r>
              <a:rPr lang="zh-CN" altLang="en-US" sz="1800" dirty="0"/>
              <a:t>指向要读取或</a:t>
            </a:r>
            <a:r>
              <a:rPr lang="zh-CN" altLang="en-US" sz="1800" dirty="0" smtClean="0"/>
              <a:t>写入</a:t>
            </a:r>
            <a:r>
              <a:rPr lang="zh-CN" altLang="en-US" sz="1800" dirty="0" smtClean="0">
                <a:solidFill>
                  <a:srgbClr val="FF0000"/>
                </a:solidFill>
              </a:rPr>
              <a:t>任务的</a:t>
            </a:r>
            <a:r>
              <a:rPr lang="zh-CN" altLang="en-US" sz="1800" dirty="0">
                <a:solidFill>
                  <a:srgbClr val="FF0000"/>
                </a:solidFill>
              </a:rPr>
              <a:t>链表的指针</a:t>
            </a:r>
            <a:r>
              <a:rPr lang="zh-CN" altLang="en-US" sz="1800" dirty="0" smtClean="0"/>
              <a:t>，即读写阻塞的任务     </a:t>
            </a:r>
            <a:r>
              <a:rPr lang="en-US" altLang="zh-CN" sz="1800" dirty="0" smtClean="0"/>
              <a:t>0</a:t>
            </a:r>
            <a:r>
              <a:rPr lang="zh-CN" altLang="en-US" sz="1800" dirty="0"/>
              <a:t>：读列表，</a:t>
            </a:r>
            <a:r>
              <a:rPr lang="en-US" altLang="zh-CN" sz="1800" dirty="0"/>
              <a:t>1</a:t>
            </a:r>
            <a:r>
              <a:rPr lang="zh-CN" altLang="en-US" sz="1800" dirty="0"/>
              <a:t>：写</a:t>
            </a:r>
            <a:r>
              <a:rPr lang="zh-CN" altLang="en-US" sz="1800" dirty="0" smtClean="0"/>
              <a:t>列表</a:t>
            </a:r>
            <a:r>
              <a:rPr lang="en-US" altLang="zh-CN" sz="1800" dirty="0" smtClean="0"/>
              <a:t>*/</a:t>
            </a:r>
            <a:endParaRPr lang="en-US" altLang="zh-CN" sz="1800" dirty="0"/>
          </a:p>
          <a:p>
            <a:pPr marL="457177" lvl="1" indent="0">
              <a:buNone/>
            </a:pPr>
            <a:r>
              <a:rPr lang="en-US" altLang="zh-CN" sz="1800" dirty="0" smtClean="0"/>
              <a:t>LOS_DL_LIST </a:t>
            </a:r>
            <a:r>
              <a:rPr lang="en-US" altLang="zh-CN" sz="1800" dirty="0" err="1"/>
              <a:t>stMemList</a:t>
            </a:r>
            <a:r>
              <a:rPr lang="en-US" altLang="zh-CN" sz="1800" dirty="0" smtClean="0"/>
              <a:t>; / * </a:t>
            </a:r>
            <a:r>
              <a:rPr lang="en-US" altLang="zh-CN" sz="1800" dirty="0"/>
              <a:t>&lt;</a:t>
            </a:r>
            <a:r>
              <a:rPr lang="zh-CN" altLang="en-US" sz="1800" dirty="0"/>
              <a:t>指向</a:t>
            </a:r>
            <a:r>
              <a:rPr lang="zh-CN" altLang="en-US" sz="1800" dirty="0">
                <a:solidFill>
                  <a:srgbClr val="FF0000"/>
                </a:solidFill>
              </a:rPr>
              <a:t>内存链表的</a:t>
            </a:r>
            <a:r>
              <a:rPr lang="zh-CN" altLang="en-US" sz="1800" dirty="0" smtClean="0">
                <a:solidFill>
                  <a:srgbClr val="FF0000"/>
                </a:solidFill>
              </a:rPr>
              <a:t>指针</a:t>
            </a:r>
            <a:r>
              <a:rPr lang="zh-CN" altLang="en-US" sz="1800" dirty="0" smtClean="0"/>
              <a:t>，用于</a:t>
            </a:r>
            <a:r>
              <a:rPr lang="en-US" altLang="zh-CN" sz="1800" dirty="0" err="1" smtClean="0"/>
              <a:t>LiteOS</a:t>
            </a:r>
            <a:r>
              <a:rPr lang="zh-CN" altLang="en-US" sz="1800" dirty="0" smtClean="0"/>
              <a:t>内存管理* </a:t>
            </a:r>
            <a:r>
              <a:rPr lang="en-US" altLang="zh-CN" sz="1800" dirty="0"/>
              <a:t>/</a:t>
            </a:r>
          </a:p>
          <a:p>
            <a:pPr marL="457177" lvl="1" indent="0">
              <a:buNone/>
            </a:pPr>
            <a:r>
              <a:rPr lang="en-US" altLang="zh-CN" sz="1800" dirty="0" smtClean="0"/>
              <a:t>} </a:t>
            </a:r>
            <a:r>
              <a:rPr lang="en-US" altLang="zh-CN" sz="1800" dirty="0"/>
              <a:t>QUEUE_CB_S;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573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队列读写原理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" name="对象 2">
            <a:extLst>
              <a:ext uri="{FF2B5EF4-FFF2-40B4-BE49-F238E27FC236}">
                <a16:creationId xmlns:a16="http://schemas.microsoft.com/office/drawing/2014/main" id="{E7EBD934-43A9-46BA-8A9C-E359CB246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688" y="1237906"/>
            <a:ext cx="6349754" cy="231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BE6EB6A-F530-41A6-8CD6-17E5BFB33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338" y="902081"/>
            <a:ext cx="4958334" cy="4351338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消息队列为一个</a:t>
            </a:r>
            <a:r>
              <a:rPr lang="zh-CN" altLang="en-US" sz="2000" b="1" dirty="0">
                <a:solidFill>
                  <a:srgbClr val="FF0000"/>
                </a:solidFill>
              </a:rPr>
              <a:t>固定长度的数组</a:t>
            </a:r>
            <a:r>
              <a:rPr lang="zh-CN" altLang="en-US" sz="2000" b="1" dirty="0">
                <a:solidFill>
                  <a:schemeClr val="tx1"/>
                </a:solidFill>
              </a:rPr>
              <a:t>，元素大小为消息大小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两个指针</a:t>
            </a:r>
            <a:r>
              <a:rPr lang="zh-CN" altLang="en-US" sz="2000" b="1" dirty="0">
                <a:solidFill>
                  <a:schemeClr val="tx1"/>
                </a:solidFill>
              </a:rPr>
              <a:t>：读消息地址</a:t>
            </a:r>
            <a:r>
              <a:rPr lang="en-US" altLang="zh-CN" sz="2000" b="1" dirty="0">
                <a:solidFill>
                  <a:schemeClr val="tx1"/>
                </a:solidFill>
              </a:rPr>
              <a:t>Head</a:t>
            </a:r>
            <a:r>
              <a:rPr lang="zh-CN" altLang="en-US" sz="2000" b="1" dirty="0">
                <a:solidFill>
                  <a:schemeClr val="tx1"/>
                </a:solidFill>
              </a:rPr>
              <a:t>和写消息地址</a:t>
            </a:r>
            <a:r>
              <a:rPr lang="en-US" altLang="zh-CN" sz="2000" b="1" dirty="0">
                <a:solidFill>
                  <a:schemeClr val="tx1"/>
                </a:solidFill>
              </a:rPr>
              <a:t>Tail</a:t>
            </a:r>
          </a:p>
          <a:p>
            <a:r>
              <a:rPr lang="en-US" altLang="zh-CN" sz="2000" b="1" dirty="0">
                <a:solidFill>
                  <a:schemeClr val="tx1"/>
                </a:solidFill>
              </a:rPr>
              <a:t>Head</a:t>
            </a:r>
            <a:r>
              <a:rPr lang="zh-CN" altLang="en-US" sz="2000" b="1" dirty="0">
                <a:solidFill>
                  <a:schemeClr val="tx1"/>
                </a:solidFill>
              </a:rPr>
              <a:t>与</a:t>
            </a:r>
            <a:r>
              <a:rPr lang="en-US" altLang="zh-CN" sz="2000" b="1" dirty="0">
                <a:solidFill>
                  <a:schemeClr val="tx1"/>
                </a:solidFill>
              </a:rPr>
              <a:t>Tail</a:t>
            </a:r>
            <a:r>
              <a:rPr lang="zh-CN" altLang="en-US" sz="2000" b="1" dirty="0">
                <a:solidFill>
                  <a:schemeClr val="tx1"/>
                </a:solidFill>
              </a:rPr>
              <a:t>之间</a:t>
            </a:r>
            <a:r>
              <a:rPr lang="zh-CN" altLang="en-US" sz="2000" b="1" dirty="0">
                <a:solidFill>
                  <a:srgbClr val="FF0000"/>
                </a:solidFill>
              </a:rPr>
              <a:t>存放消息</a:t>
            </a:r>
            <a:r>
              <a:rPr lang="zh-CN" altLang="en-US" sz="2000" b="1" dirty="0">
                <a:solidFill>
                  <a:schemeClr val="tx1"/>
                </a:solidFill>
              </a:rPr>
              <a:t>，其他节点为空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13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队列读写原理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" name="对象 2">
            <a:extLst>
              <a:ext uri="{FF2B5EF4-FFF2-40B4-BE49-F238E27FC236}">
                <a16:creationId xmlns:a16="http://schemas.microsoft.com/office/drawing/2014/main" id="{E7EBD934-43A9-46BA-8A9C-E359CB246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20" y="1567090"/>
            <a:ext cx="6349754" cy="231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BE6EB6A-F530-41A6-8CD6-17E5BFB33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1" y="1134006"/>
            <a:ext cx="5288279" cy="3538198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初始创建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1800" dirty="0"/>
              <a:t>系统根据</a:t>
            </a:r>
            <a:r>
              <a:rPr lang="zh-CN" altLang="en-US" sz="2000" b="1" dirty="0">
                <a:solidFill>
                  <a:srgbClr val="FF0000"/>
                </a:solidFill>
              </a:rPr>
              <a:t>队列长度</a:t>
            </a:r>
            <a:r>
              <a:rPr lang="zh-CN" altLang="en-US" sz="1800" dirty="0"/>
              <a:t>和</a:t>
            </a:r>
            <a:r>
              <a:rPr lang="zh-CN" altLang="en-US" sz="2000" b="1" dirty="0">
                <a:solidFill>
                  <a:srgbClr val="FF0000"/>
                </a:solidFill>
              </a:rPr>
              <a:t>消息大小</a:t>
            </a:r>
            <a:r>
              <a:rPr lang="zh-CN" altLang="en-US" sz="1800" dirty="0"/>
              <a:t>申请内存空间</a:t>
            </a:r>
            <a:endParaRPr lang="en-US" altLang="zh-CN" sz="1800" dirty="0"/>
          </a:p>
          <a:p>
            <a:pPr lvl="1"/>
            <a:r>
              <a:rPr lang="en-US" altLang="zh-CN" sz="1800" dirty="0"/>
              <a:t>Head</a:t>
            </a:r>
            <a:r>
              <a:rPr lang="zh-CN" altLang="en-US" sz="1800" dirty="0"/>
              <a:t>和</a:t>
            </a:r>
            <a:r>
              <a:rPr lang="en-US" altLang="zh-CN" sz="1800" dirty="0"/>
              <a:t>Tail</a:t>
            </a:r>
            <a:r>
              <a:rPr lang="zh-CN" altLang="en-US" sz="1800" dirty="0"/>
              <a:t>指向</a:t>
            </a:r>
            <a:r>
              <a:rPr lang="zh-CN" altLang="en-US" sz="2000" b="1" dirty="0">
                <a:solidFill>
                  <a:srgbClr val="FF0000"/>
                </a:solidFill>
              </a:rPr>
              <a:t>队列起始地址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ABE6EB6A-F530-41A6-8CD6-17E5BFB335B4}"/>
              </a:ext>
            </a:extLst>
          </p:cNvPr>
          <p:cNvSpPr txBox="1">
            <a:spLocks/>
          </p:cNvSpPr>
          <p:nvPr/>
        </p:nvSpPr>
        <p:spPr>
          <a:xfrm>
            <a:off x="243841" y="2518489"/>
            <a:ext cx="5288279" cy="1977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31" indent="-457131" algn="l" defTabSz="914354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Wingdings" pitchFamily="2" charset="2"/>
              <a:buChar char="l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C00000"/>
                </a:solidFill>
              </a:rPr>
              <a:t>消息写入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1800" dirty="0" smtClean="0"/>
              <a:t>向</a:t>
            </a:r>
            <a:r>
              <a:rPr lang="en-US" altLang="zh-CN" sz="2000" b="1" dirty="0">
                <a:solidFill>
                  <a:srgbClr val="FF0000"/>
                </a:solidFill>
              </a:rPr>
              <a:t>Tail</a:t>
            </a:r>
            <a:r>
              <a:rPr lang="zh-CN" altLang="en-US" sz="2000" b="1" dirty="0">
                <a:solidFill>
                  <a:srgbClr val="FF0000"/>
                </a:solidFill>
              </a:rPr>
              <a:t>指针</a:t>
            </a:r>
            <a:r>
              <a:rPr lang="zh-CN" altLang="en-US" sz="1800" dirty="0" smtClean="0"/>
              <a:t>所指消息结点</a:t>
            </a:r>
            <a:r>
              <a:rPr lang="zh-CN" altLang="en-US" sz="2000" b="1" dirty="0">
                <a:solidFill>
                  <a:srgbClr val="FF0000"/>
                </a:solidFill>
              </a:rPr>
              <a:t>写入</a:t>
            </a:r>
            <a:r>
              <a:rPr lang="zh-CN" altLang="en-US" sz="1800" dirty="0" smtClean="0"/>
              <a:t>消息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Tail</a:t>
            </a:r>
            <a:r>
              <a:rPr lang="zh-CN" altLang="en-US" sz="1800" dirty="0" smtClean="0"/>
              <a:t>移动至下一个结点</a:t>
            </a:r>
            <a:endParaRPr lang="en-US" altLang="zh-CN" sz="1800" dirty="0" smtClean="0"/>
          </a:p>
          <a:p>
            <a:pPr lvl="2"/>
            <a:r>
              <a:rPr lang="zh-CN" altLang="en-US" sz="1600" dirty="0" smtClean="0"/>
              <a:t>若</a:t>
            </a:r>
            <a:r>
              <a:rPr lang="en-US" altLang="zh-CN" sz="1600" dirty="0" smtClean="0"/>
              <a:t>Tail</a:t>
            </a:r>
            <a:r>
              <a:rPr lang="zh-CN" altLang="en-US" sz="1600" dirty="0" smtClean="0"/>
              <a:t>到达队列尾，</a:t>
            </a:r>
            <a:r>
              <a:rPr lang="zh-CN" altLang="en-US" sz="2000" b="1" dirty="0">
                <a:solidFill>
                  <a:srgbClr val="FF0000"/>
                </a:solidFill>
              </a:rPr>
              <a:t>回卷</a:t>
            </a:r>
            <a:r>
              <a:rPr lang="zh-CN" altLang="en-US" sz="1600" dirty="0" smtClean="0"/>
              <a:t>至队列起始地址</a:t>
            </a:r>
            <a:endParaRPr lang="en-US" altLang="zh-CN" sz="1600" dirty="0" smtClean="0"/>
          </a:p>
          <a:p>
            <a:pPr lvl="2"/>
            <a:r>
              <a:rPr lang="zh-CN" altLang="en-US" sz="1600" dirty="0" smtClean="0"/>
              <a:t>若移动后消息结点</a:t>
            </a:r>
            <a:r>
              <a:rPr lang="zh-CN" altLang="en-US" sz="2000" b="1" dirty="0">
                <a:solidFill>
                  <a:srgbClr val="FF0000"/>
                </a:solidFill>
              </a:rPr>
              <a:t>被占用</a:t>
            </a:r>
            <a:r>
              <a:rPr lang="zh-CN" altLang="en-US" sz="1600" dirty="0" smtClean="0"/>
              <a:t>，则队列</a:t>
            </a:r>
            <a:r>
              <a:rPr lang="zh-CN" altLang="en-US" sz="2000" b="1" dirty="0">
                <a:solidFill>
                  <a:srgbClr val="FF0000"/>
                </a:solidFill>
              </a:rPr>
              <a:t>已满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1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队列读写原理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" name="对象 2">
            <a:extLst>
              <a:ext uri="{FF2B5EF4-FFF2-40B4-BE49-F238E27FC236}">
                <a16:creationId xmlns:a16="http://schemas.microsoft.com/office/drawing/2014/main" id="{E7EBD934-43A9-46BA-8A9C-E359CB246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687" y="1794584"/>
            <a:ext cx="6349754" cy="231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BE6EB6A-F530-41A6-8CD6-17E5BFB335B4}"/>
              </a:ext>
            </a:extLst>
          </p:cNvPr>
          <p:cNvSpPr txBox="1">
            <a:spLocks/>
          </p:cNvSpPr>
          <p:nvPr/>
        </p:nvSpPr>
        <p:spPr>
          <a:xfrm>
            <a:off x="448056" y="1206224"/>
            <a:ext cx="51389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31" indent="-457131" algn="l" defTabSz="914354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Wingdings" pitchFamily="2" charset="2"/>
              <a:buChar char="l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C00000"/>
                </a:solidFill>
              </a:rPr>
              <a:t>消息读取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1800" dirty="0" smtClean="0"/>
              <a:t>从</a:t>
            </a:r>
            <a:r>
              <a:rPr lang="en-US" altLang="zh-CN" sz="2000" b="1" dirty="0">
                <a:solidFill>
                  <a:srgbClr val="FF0000"/>
                </a:solidFill>
              </a:rPr>
              <a:t>Head</a:t>
            </a:r>
            <a:r>
              <a:rPr lang="zh-CN" altLang="en-US" sz="2000" b="1" dirty="0">
                <a:solidFill>
                  <a:srgbClr val="FF0000"/>
                </a:solidFill>
              </a:rPr>
              <a:t>指针</a:t>
            </a:r>
            <a:r>
              <a:rPr lang="zh-CN" altLang="en-US" sz="1800" dirty="0" smtClean="0"/>
              <a:t>所指消息结点</a:t>
            </a:r>
            <a:r>
              <a:rPr lang="zh-CN" altLang="en-US" sz="2000" b="1" dirty="0">
                <a:solidFill>
                  <a:srgbClr val="FF0000"/>
                </a:solidFill>
              </a:rPr>
              <a:t>读取消息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/>
            <a:r>
              <a:rPr lang="en-US" altLang="zh-CN" sz="1800" dirty="0" smtClean="0"/>
              <a:t>Head</a:t>
            </a:r>
            <a:r>
              <a:rPr lang="zh-CN" altLang="en-US" sz="1800" dirty="0" smtClean="0"/>
              <a:t>移动至下一个结点</a:t>
            </a:r>
            <a:endParaRPr lang="en-US" altLang="zh-CN" sz="1800" dirty="0" smtClean="0"/>
          </a:p>
          <a:p>
            <a:pPr lvl="2"/>
            <a:r>
              <a:rPr lang="zh-CN" altLang="en-US" sz="1600" dirty="0" smtClean="0"/>
              <a:t>若</a:t>
            </a:r>
            <a:r>
              <a:rPr lang="en-US" altLang="zh-CN" sz="1600" dirty="0" smtClean="0"/>
              <a:t>Head</a:t>
            </a:r>
            <a:r>
              <a:rPr lang="zh-CN" altLang="en-US" sz="1600" dirty="0" smtClean="0"/>
              <a:t>到达</a:t>
            </a:r>
            <a:r>
              <a:rPr lang="zh-CN" altLang="en-US" sz="2000" b="1" dirty="0">
                <a:solidFill>
                  <a:srgbClr val="FF0000"/>
                </a:solidFill>
              </a:rPr>
              <a:t>队列尾</a:t>
            </a:r>
            <a:r>
              <a:rPr lang="zh-CN" altLang="en-US" sz="1600" dirty="0" smtClean="0"/>
              <a:t>，</a:t>
            </a:r>
            <a:r>
              <a:rPr lang="zh-CN" altLang="en-US" sz="2000" b="1" dirty="0">
                <a:solidFill>
                  <a:srgbClr val="FF0000"/>
                </a:solidFill>
              </a:rPr>
              <a:t>回卷</a:t>
            </a:r>
            <a:r>
              <a:rPr lang="zh-CN" altLang="en-US" sz="1600" dirty="0" smtClean="0"/>
              <a:t>至队列起始地址</a:t>
            </a:r>
            <a:endParaRPr lang="en-US" altLang="zh-CN" sz="1600" dirty="0" smtClean="0"/>
          </a:p>
          <a:p>
            <a:pPr lvl="2"/>
            <a:r>
              <a:rPr lang="zh-CN" altLang="en-US" sz="1600" dirty="0" smtClean="0"/>
              <a:t>若移动后消息结点为</a:t>
            </a:r>
            <a:r>
              <a:rPr lang="zh-CN" altLang="en-US" sz="2000" b="1" dirty="0">
                <a:solidFill>
                  <a:srgbClr val="FF0000"/>
                </a:solidFill>
              </a:rPr>
              <a:t>空闲</a:t>
            </a:r>
            <a:r>
              <a:rPr lang="zh-CN" altLang="en-US" sz="1600" dirty="0" smtClean="0"/>
              <a:t>，则队列</a:t>
            </a:r>
            <a:r>
              <a:rPr lang="zh-CN" altLang="en-US" sz="2000" b="1" dirty="0">
                <a:solidFill>
                  <a:srgbClr val="FF0000"/>
                </a:solidFill>
              </a:rPr>
              <a:t>为空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2"/>
            <a:endParaRPr lang="en-US" altLang="zh-CN" sz="1600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ABE6EB6A-F530-41A6-8CD6-17E5BFB335B4}"/>
              </a:ext>
            </a:extLst>
          </p:cNvPr>
          <p:cNvSpPr txBox="1">
            <a:spLocks/>
          </p:cNvSpPr>
          <p:nvPr/>
        </p:nvSpPr>
        <p:spPr>
          <a:xfrm>
            <a:off x="448057" y="3221964"/>
            <a:ext cx="4876890" cy="1766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31" indent="-457131" algn="l" defTabSz="914354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Wingdings" pitchFamily="2" charset="2"/>
              <a:buChar char="l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C00000"/>
                </a:solidFill>
              </a:rPr>
              <a:t>队列删除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1800" dirty="0" smtClean="0"/>
              <a:t>根据队列</a:t>
            </a:r>
            <a:r>
              <a:rPr lang="en-US" altLang="zh-CN" sz="2000" b="1" dirty="0">
                <a:solidFill>
                  <a:srgbClr val="FF0000"/>
                </a:solidFill>
              </a:rPr>
              <a:t>ID</a:t>
            </a:r>
            <a:r>
              <a:rPr lang="zh-CN" altLang="en-US" sz="2000" b="1" dirty="0">
                <a:solidFill>
                  <a:srgbClr val="FF0000"/>
                </a:solidFill>
              </a:rPr>
              <a:t>找到</a:t>
            </a:r>
            <a:r>
              <a:rPr lang="zh-CN" altLang="en-US" sz="1800" dirty="0" smtClean="0"/>
              <a:t>对应消息队列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更改队列状态为</a:t>
            </a:r>
            <a:r>
              <a:rPr lang="zh-CN" altLang="en-US" sz="2000" b="1" dirty="0">
                <a:solidFill>
                  <a:srgbClr val="FF0000"/>
                </a:solidFill>
              </a:rPr>
              <a:t>未使用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b="1" dirty="0">
                <a:solidFill>
                  <a:srgbClr val="FF0000"/>
                </a:solidFill>
              </a:rPr>
              <a:t>释放</a:t>
            </a:r>
            <a:r>
              <a:rPr lang="zh-CN" altLang="en-US" sz="1800" dirty="0" smtClean="0"/>
              <a:t>队列所占</a:t>
            </a:r>
            <a:r>
              <a:rPr lang="zh-CN" altLang="en-US" sz="2000" b="1" dirty="0">
                <a:solidFill>
                  <a:srgbClr val="FF0000"/>
                </a:solidFill>
              </a:rPr>
              <a:t>空间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08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消息队列的使用方法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797" y="698799"/>
            <a:ext cx="1106424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</a:rPr>
              <a:t>1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、创建消息队列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r>
              <a:rPr lang="zh-CN" altLang="en-US" sz="1400" b="1" dirty="0" smtClean="0"/>
              <a:t>要使用消息队列，首先要创建一个消息队列，创建函数原型如下：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UINT32 </a:t>
            </a:r>
            <a:r>
              <a:rPr lang="en-US" altLang="zh-CN" sz="1400" b="1" dirty="0" err="1"/>
              <a:t>LOS_QueueCreate</a:t>
            </a:r>
            <a:r>
              <a:rPr lang="en-US" altLang="zh-CN" sz="1400" b="1" dirty="0" smtClean="0"/>
              <a:t>(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CHAR </a:t>
            </a:r>
            <a:r>
              <a:rPr lang="en-US" altLang="zh-CN" sz="1400" b="1" dirty="0"/>
              <a:t>*</a:t>
            </a:r>
            <a:r>
              <a:rPr lang="en-US" altLang="zh-CN" sz="1400" b="1" dirty="0" err="1"/>
              <a:t>pcQueueName</a:t>
            </a:r>
            <a:r>
              <a:rPr lang="en-US" altLang="zh-CN" sz="1400" b="1" dirty="0"/>
              <a:t>, </a:t>
            </a:r>
            <a:r>
              <a:rPr lang="en-US" altLang="zh-CN" sz="1400" b="1" dirty="0" smtClean="0"/>
              <a:t>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消息队列名称</a:t>
            </a:r>
            <a:r>
              <a:rPr lang="en-US" altLang="zh-CN" sz="1400" b="1" dirty="0">
                <a:solidFill>
                  <a:srgbClr val="C00000"/>
                </a:solidFill>
              </a:rPr>
              <a:t>,</a:t>
            </a:r>
            <a:r>
              <a:rPr lang="en-US" altLang="zh-CN" sz="1400" b="1" dirty="0" err="1">
                <a:solidFill>
                  <a:srgbClr val="C00000"/>
                </a:solidFill>
              </a:rPr>
              <a:t>LiteOS</a:t>
            </a:r>
            <a:r>
              <a:rPr lang="en-US" altLang="zh-CN" sz="1400" b="1" dirty="0">
                <a:solidFill>
                  <a:srgbClr val="C00000"/>
                </a:solidFill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</a:rPr>
              <a:t>保留， 暂时未使用</a:t>
            </a:r>
            <a:r>
              <a:rPr lang="zh-CN" altLang="en-US" sz="1400" b="1" dirty="0">
                <a:solidFill>
                  <a:srgbClr val="00B050"/>
                </a:solidFill>
              </a:rPr>
              <a:t>。</a:t>
            </a:r>
            <a:br>
              <a:rPr lang="zh-CN" altLang="en-US" sz="1400" b="1" dirty="0">
                <a:solidFill>
                  <a:srgbClr val="00B050"/>
                </a:solidFill>
              </a:rPr>
            </a:br>
            <a:r>
              <a:rPr lang="en-US" altLang="zh-CN" sz="1400" b="1" dirty="0"/>
              <a:t> </a:t>
            </a:r>
            <a:r>
              <a:rPr lang="en-US" altLang="zh-CN" sz="1400" b="1" dirty="0" smtClean="0"/>
              <a:t>       UINT16 </a:t>
            </a:r>
            <a:r>
              <a:rPr lang="en-US" altLang="zh-CN" sz="1400" b="1" dirty="0" err="1"/>
              <a:t>usLen</a:t>
            </a:r>
            <a:r>
              <a:rPr lang="en-US" altLang="zh-CN" sz="1400" b="1" dirty="0"/>
              <a:t>, </a:t>
            </a:r>
            <a:r>
              <a:rPr lang="en-US" altLang="zh-CN" sz="1400" b="1" dirty="0" smtClean="0"/>
              <a:t>             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队列长度， 值范围是 </a:t>
            </a:r>
            <a:r>
              <a:rPr lang="en-US" altLang="zh-CN" sz="1400" b="1" dirty="0">
                <a:solidFill>
                  <a:srgbClr val="C00000"/>
                </a:solidFill>
              </a:rPr>
              <a:t>1~0xFFFF</a:t>
            </a:r>
            <a:r>
              <a:rPr lang="zh-CN" altLang="en-US" sz="1400" b="1" dirty="0">
                <a:solidFill>
                  <a:srgbClr val="C00000"/>
                </a:solidFill>
              </a:rPr>
              <a:t>。 </a:t>
            </a:r>
            <a:r>
              <a:rPr lang="zh-CN" alt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节点数量</a:t>
            </a:r>
            <a:r>
              <a:rPr lang="zh-CN" altLang="en-US" sz="1400" b="1" dirty="0">
                <a:solidFill>
                  <a:srgbClr val="00B050"/>
                </a:solidFill>
              </a:rPr>
              <a:t/>
            </a:r>
            <a:br>
              <a:rPr lang="zh-CN" altLang="en-US" sz="1400" b="1" dirty="0">
                <a:solidFill>
                  <a:srgbClr val="00B050"/>
                </a:solidFill>
              </a:rPr>
            </a:br>
            <a:r>
              <a:rPr lang="en-US" altLang="zh-CN" sz="1400" b="1" dirty="0"/>
              <a:t> </a:t>
            </a:r>
            <a:r>
              <a:rPr lang="en-US" altLang="zh-CN" sz="1400" b="1" dirty="0" smtClean="0"/>
              <a:t>       UINT32 </a:t>
            </a:r>
            <a:r>
              <a:rPr lang="en-US" altLang="zh-CN" sz="1400" b="1" dirty="0"/>
              <a:t>*</a:t>
            </a:r>
            <a:r>
              <a:rPr lang="en-US" altLang="zh-CN" sz="1400" b="1" dirty="0" err="1"/>
              <a:t>puwQueueID</a:t>
            </a:r>
            <a:r>
              <a:rPr lang="en-US" altLang="zh-CN" sz="1400" b="1" dirty="0"/>
              <a:t>, </a:t>
            </a:r>
            <a:r>
              <a:rPr lang="en-US" altLang="zh-CN" sz="1400" b="1" dirty="0" smtClean="0"/>
              <a:t>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成功创建的队列控制结构的 </a:t>
            </a:r>
            <a:r>
              <a:rPr lang="en-US" altLang="zh-CN" sz="1400" b="1" dirty="0">
                <a:solidFill>
                  <a:srgbClr val="C00000"/>
                </a:solidFill>
              </a:rPr>
              <a:t>ID</a:t>
            </a:r>
            <a:r>
              <a:rPr lang="zh-CN" altLang="en-US" sz="1400" b="1" dirty="0">
                <a:solidFill>
                  <a:srgbClr val="C00000"/>
                </a:solidFill>
              </a:rPr>
              <a:t>，需要用户在创建前定义。</a:t>
            </a:r>
            <a:r>
              <a:rPr lang="zh-CN" alt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通过队列</a:t>
            </a:r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ID</a:t>
            </a:r>
            <a:r>
              <a:rPr lang="zh-CN" alt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来区分不同的消息队列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。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/>
              <a:t> </a:t>
            </a:r>
            <a:r>
              <a:rPr lang="en-US" altLang="zh-CN" sz="1400" b="1" dirty="0" smtClean="0"/>
              <a:t>       UINT32 </a:t>
            </a:r>
            <a:r>
              <a:rPr lang="en-US" altLang="zh-CN" sz="1400" b="1" dirty="0" err="1"/>
              <a:t>uwFlags</a:t>
            </a:r>
            <a:r>
              <a:rPr lang="en-US" altLang="zh-CN" sz="1400" b="1" dirty="0"/>
              <a:t>, </a:t>
            </a:r>
            <a:r>
              <a:rPr lang="en-US" altLang="zh-CN" sz="1400" b="1" dirty="0" smtClean="0"/>
              <a:t>         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队列模式， 保留参数，暂不使用。</a:t>
            </a:r>
            <a:br>
              <a:rPr lang="zh-CN" altLang="en-US" sz="1400" b="1" dirty="0">
                <a:solidFill>
                  <a:srgbClr val="C00000"/>
                </a:solidFill>
              </a:rPr>
            </a:br>
            <a:r>
              <a:rPr lang="en-US" altLang="zh-CN" sz="1400" b="1" dirty="0" smtClean="0"/>
              <a:t>        UINT16 </a:t>
            </a:r>
            <a:r>
              <a:rPr lang="en-US" altLang="zh-CN" sz="1400" b="1" dirty="0" err="1" smtClean="0"/>
              <a:t>usMaxMsgSize</a:t>
            </a:r>
            <a:r>
              <a:rPr lang="en-US" altLang="zh-CN" sz="1400" b="1" dirty="0" smtClean="0"/>
              <a:t>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最大消息大小（字节） ， 值范围为 </a:t>
            </a:r>
            <a:r>
              <a:rPr lang="en-US" altLang="zh-CN" sz="1400" b="1" dirty="0">
                <a:solidFill>
                  <a:srgbClr val="C00000"/>
                </a:solidFill>
              </a:rPr>
              <a:t>1~(0xFFFF-4)</a:t>
            </a:r>
            <a:r>
              <a:rPr lang="zh-CN" altLang="en-US" sz="1400" b="1" dirty="0">
                <a:solidFill>
                  <a:srgbClr val="C00000"/>
                </a:solidFill>
              </a:rPr>
              <a:t>。 </a:t>
            </a:r>
            <a:r>
              <a:rPr lang="zh-CN" alt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节点大小</a:t>
            </a:r>
            <a:endParaRPr lang="en-US" altLang="zh-CN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1400" b="1" dirty="0"/>
              <a:t>        ); </a:t>
            </a:r>
          </a:p>
          <a:p>
            <a:r>
              <a:rPr lang="zh-CN" altLang="en-US" sz="1400" b="1" dirty="0" smtClean="0"/>
              <a:t>例：创建一个消息总数</a:t>
            </a:r>
            <a:r>
              <a:rPr lang="en-US" altLang="zh-CN" sz="1400" b="1" dirty="0" smtClean="0"/>
              <a:t>128</a:t>
            </a:r>
            <a:r>
              <a:rPr lang="zh-CN" altLang="en-US" sz="1400" b="1" dirty="0" smtClean="0"/>
              <a:t>，每个消息长度不超过</a:t>
            </a:r>
            <a:r>
              <a:rPr lang="en-US" altLang="zh-CN" sz="1400" b="1" dirty="0" smtClean="0"/>
              <a:t>16</a:t>
            </a:r>
            <a:r>
              <a:rPr lang="zh-CN" altLang="en-US" sz="1400" b="1" dirty="0" smtClean="0"/>
              <a:t>字节。</a:t>
            </a:r>
            <a:endParaRPr lang="en-US" altLang="zh-CN" sz="1400" b="1" dirty="0" smtClean="0"/>
          </a:p>
          <a:p>
            <a:r>
              <a:rPr lang="en-US" altLang="zh-CN" sz="1400" b="1" dirty="0">
                <a:solidFill>
                  <a:srgbClr val="00B050"/>
                </a:solidFill>
              </a:rPr>
              <a:t>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      </a:t>
            </a:r>
            <a:r>
              <a:rPr lang="en-US" altLang="zh-CN" sz="1400" b="1" dirty="0" smtClean="0"/>
              <a:t>UINT32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   </a:t>
            </a:r>
            <a:r>
              <a:rPr lang="en-US" altLang="zh-CN" sz="1400" b="1" dirty="0" err="1" smtClean="0"/>
              <a:t>Queue_Handle</a:t>
            </a:r>
            <a:r>
              <a:rPr lang="en-US" altLang="zh-CN" sz="1400" b="1" dirty="0" smtClean="0"/>
              <a:t>;  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先定义一个队列</a:t>
            </a:r>
            <a:r>
              <a:rPr lang="en-US" altLang="zh-CN" sz="1400" b="1" dirty="0">
                <a:solidFill>
                  <a:srgbClr val="C00000"/>
                </a:solidFill>
              </a:rPr>
              <a:t>ID</a:t>
            </a:r>
            <a:r>
              <a:rPr lang="zh-CN" altLang="en-US" sz="1400" b="1" dirty="0">
                <a:solidFill>
                  <a:srgbClr val="C00000"/>
                </a:solidFill>
              </a:rPr>
              <a:t>（全局变量）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UINT32     </a:t>
            </a:r>
            <a:r>
              <a:rPr lang="en-US" altLang="zh-CN" sz="1400" b="1" dirty="0" err="1" smtClean="0"/>
              <a:t>uwRet</a:t>
            </a:r>
            <a:r>
              <a:rPr lang="en-US" altLang="zh-CN" sz="1400" b="1" dirty="0" smtClean="0"/>
              <a:t>  =  LOS_OK;   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再定义一个返回值，并初始化为成功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</a:t>
            </a:r>
            <a:r>
              <a:rPr lang="en-US" altLang="zh-CN" sz="1400" b="1" dirty="0" err="1" smtClean="0"/>
              <a:t>uwRet</a:t>
            </a:r>
            <a:r>
              <a:rPr lang="en-US" altLang="zh-CN" sz="1400" b="1" dirty="0" smtClean="0"/>
              <a:t>  = </a:t>
            </a:r>
            <a:r>
              <a:rPr lang="en-US" altLang="zh-CN" sz="1400" b="1" dirty="0" err="1"/>
              <a:t>LOS_QueueCreate</a:t>
            </a:r>
            <a:r>
              <a:rPr lang="en-US" altLang="zh-CN" sz="1400" b="1" dirty="0" smtClean="0"/>
              <a:t>(  “Test  Queue”,               </a:t>
            </a:r>
            <a:r>
              <a:rPr lang="en-US" altLang="zh-CN" sz="1400" b="1" dirty="0">
                <a:solidFill>
                  <a:srgbClr val="C00000"/>
                </a:solidFill>
              </a:rPr>
              <a:t> //</a:t>
            </a:r>
            <a:r>
              <a:rPr lang="zh-CN" altLang="en-US" sz="1400" b="1" dirty="0">
                <a:solidFill>
                  <a:srgbClr val="C00000"/>
                </a:solidFill>
              </a:rPr>
              <a:t>队列名称（没啥用）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                                         128</a:t>
            </a:r>
            <a:r>
              <a:rPr lang="zh-CN" altLang="en-US" sz="1400" b="1" dirty="0" smtClean="0"/>
              <a:t>，                            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队列的长度，</a:t>
            </a:r>
            <a:r>
              <a:rPr lang="zh-CN" alt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最多</a:t>
            </a:r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128</a:t>
            </a:r>
            <a:r>
              <a:rPr lang="zh-CN" alt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个消息</a:t>
            </a:r>
            <a:endParaRPr lang="en-US" altLang="zh-CN" sz="14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                                         &amp; </a:t>
            </a:r>
            <a:r>
              <a:rPr lang="en-US" altLang="zh-CN" sz="1400" b="1" dirty="0" err="1" smtClean="0"/>
              <a:t>Queue_Handle</a:t>
            </a:r>
            <a:r>
              <a:rPr lang="en-US" altLang="zh-CN" sz="1400" b="1" dirty="0" smtClean="0"/>
              <a:t>,         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队列</a:t>
            </a:r>
            <a:r>
              <a:rPr lang="en-US" altLang="zh-CN" sz="1400" b="1" dirty="0">
                <a:solidFill>
                  <a:srgbClr val="C00000"/>
                </a:solidFill>
              </a:rPr>
              <a:t>ID</a:t>
            </a:r>
            <a:r>
              <a:rPr lang="zh-CN" altLang="en-US" sz="1400" b="1" dirty="0">
                <a:solidFill>
                  <a:srgbClr val="C00000"/>
                </a:solidFill>
              </a:rPr>
              <a:t>（句柄），</a:t>
            </a:r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创建成功会被赋值</a:t>
            </a:r>
            <a:r>
              <a:rPr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altLang="zh-CN" sz="1400" b="1" dirty="0" smtClean="0"/>
              <a:t>                                                         0,                                  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en-US" altLang="zh-CN" sz="1400" b="1" dirty="0" err="1">
                <a:solidFill>
                  <a:srgbClr val="C00000"/>
                </a:solidFill>
              </a:rPr>
              <a:t>LiteOS</a:t>
            </a:r>
            <a:r>
              <a:rPr lang="zh-CN" altLang="en-US" sz="1400" b="1" dirty="0">
                <a:solidFill>
                  <a:srgbClr val="C00000"/>
                </a:solidFill>
              </a:rPr>
              <a:t>暂时保留，没用</a:t>
            </a:r>
            <a:r>
              <a:rPr lang="en-US" altLang="zh-CN" sz="1400" b="1" dirty="0">
                <a:solidFill>
                  <a:srgbClr val="C00000"/>
                </a:solidFill>
              </a:rPr>
              <a:t/>
            </a:r>
            <a:br>
              <a:rPr lang="en-US" altLang="zh-CN" sz="1400" b="1" dirty="0">
                <a:solidFill>
                  <a:srgbClr val="C00000"/>
                </a:solidFill>
              </a:rPr>
            </a:br>
            <a:r>
              <a:rPr lang="en-US" altLang="zh-CN" sz="1400" b="1" dirty="0"/>
              <a:t>                                                         </a:t>
            </a:r>
            <a:r>
              <a:rPr lang="en-US" altLang="zh-CN" sz="1400" b="1" dirty="0" smtClean="0"/>
              <a:t>16 </a:t>
            </a:r>
            <a:r>
              <a:rPr lang="zh-CN" altLang="en-US" sz="1400" b="1" dirty="0"/>
              <a:t>）</a:t>
            </a:r>
            <a:r>
              <a:rPr lang="zh-CN" altLang="en-US" sz="1400" b="1" dirty="0" smtClean="0"/>
              <a:t>；</a:t>
            </a:r>
            <a:r>
              <a:rPr lang="en-US" altLang="zh-CN" sz="1400" b="1" dirty="0" smtClean="0"/>
              <a:t>                         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每个消息的长度</a:t>
            </a:r>
            <a:r>
              <a:rPr lang="zh-CN" alt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不超过</a:t>
            </a:r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字节</a:t>
            </a:r>
            <a:endParaRPr lang="en-US" altLang="zh-CN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1400" b="1" dirty="0" smtClean="0"/>
              <a:t>       if(</a:t>
            </a:r>
            <a:r>
              <a:rPr lang="en-US" altLang="zh-CN" sz="1400" b="1" dirty="0" err="1" smtClean="0"/>
              <a:t>uwRet</a:t>
            </a:r>
            <a:r>
              <a:rPr lang="en-US" altLang="zh-CN" sz="1400" b="1" dirty="0" smtClean="0"/>
              <a:t>  !=  </a:t>
            </a:r>
            <a:r>
              <a:rPr lang="en-US" altLang="zh-CN" sz="1400" b="1" dirty="0"/>
              <a:t>LOS_OK</a:t>
            </a:r>
            <a:r>
              <a:rPr lang="en-US" altLang="zh-CN" sz="1400" b="1" dirty="0" smtClean="0"/>
              <a:t>)</a:t>
            </a:r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printf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Test_Queue</a:t>
            </a:r>
            <a:r>
              <a:rPr lang="en-US" altLang="zh-CN" sz="1400" b="1" dirty="0"/>
              <a:t> </a:t>
            </a:r>
            <a:r>
              <a:rPr lang="zh-CN" altLang="en-US" sz="1400" b="1" dirty="0"/>
              <a:t>队列创建失败！ </a:t>
            </a:r>
            <a:r>
              <a:rPr lang="en-US" altLang="zh-CN" sz="1400" b="1" dirty="0"/>
              <a:t>\n"); </a:t>
            </a:r>
            <a:endParaRPr lang="en-US" altLang="zh-CN" sz="1400" b="1" dirty="0" smtClean="0"/>
          </a:p>
          <a:p>
            <a:endParaRPr lang="en-US" altLang="zh-CN" sz="1400" b="1" dirty="0"/>
          </a:p>
          <a:p>
            <a:r>
              <a:rPr lang="en-US" altLang="zh-CN" sz="1400" b="1" dirty="0" smtClean="0"/>
              <a:t>    </a:t>
            </a:r>
            <a:r>
              <a:rPr lang="zh-CN" altLang="en-US" sz="1400" b="1" dirty="0" smtClean="0"/>
              <a:t>消息队列创建后如下图，刚创建时，消息队列为空，此时若读取消息必然失败（无消息可读）。</a:t>
            </a:r>
            <a:endParaRPr lang="en-US" altLang="zh-CN" sz="1400" b="1" dirty="0" smtClean="0"/>
          </a:p>
        </p:txBody>
      </p:sp>
      <p:grpSp>
        <p:nvGrpSpPr>
          <p:cNvPr id="29" name="组合 28"/>
          <p:cNvGrpSpPr/>
          <p:nvPr/>
        </p:nvGrpSpPr>
        <p:grpSpPr>
          <a:xfrm>
            <a:off x="627797" y="5325175"/>
            <a:ext cx="5711211" cy="1532825"/>
            <a:chOff x="5596899" y="5461403"/>
            <a:chExt cx="5711211" cy="1532825"/>
          </a:xfrm>
        </p:grpSpPr>
        <p:sp>
          <p:nvSpPr>
            <p:cNvPr id="8" name="圆角矩形 7"/>
            <p:cNvSpPr/>
            <p:nvPr/>
          </p:nvSpPr>
          <p:spPr>
            <a:xfrm>
              <a:off x="6096001" y="5929848"/>
              <a:ext cx="523702" cy="51538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6619703" y="5929847"/>
              <a:ext cx="523702" cy="51538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7143405" y="5929848"/>
              <a:ext cx="523702" cy="51538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7667107" y="5929847"/>
              <a:ext cx="523702" cy="51538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8190809" y="5929848"/>
              <a:ext cx="523702" cy="51538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8714511" y="5929847"/>
              <a:ext cx="523702" cy="51538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9238213" y="5929848"/>
              <a:ext cx="523702" cy="51538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9761915" y="5929847"/>
              <a:ext cx="523702" cy="51538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6096001" y="5630680"/>
              <a:ext cx="0" cy="3906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0285617" y="5630680"/>
              <a:ext cx="0" cy="3906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 flipV="1">
              <a:off x="6096002" y="5741178"/>
              <a:ext cx="4189615" cy="13844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7285046" y="5461403"/>
              <a:ext cx="16512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accent6"/>
                  </a:solidFill>
                </a:rPr>
                <a:t>          128</a:t>
              </a:r>
              <a:endParaRPr lang="zh-CN" altLang="en-US" sz="1600" dirty="0">
                <a:solidFill>
                  <a:schemeClr val="accent6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9773644" y="6445236"/>
              <a:ext cx="0" cy="3906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10297346" y="6413443"/>
              <a:ext cx="0" cy="39061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9656864" y="6666576"/>
              <a:ext cx="16512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accent6"/>
                  </a:solidFill>
                </a:rPr>
                <a:t>      16</a:t>
              </a:r>
              <a:endParaRPr lang="zh-CN" altLang="en-US" sz="1050" dirty="0">
                <a:solidFill>
                  <a:schemeClr val="accent6"/>
                </a:solidFill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flipH="1">
              <a:off x="9761916" y="6680420"/>
              <a:ext cx="535430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5937239" y="6445236"/>
              <a:ext cx="232742" cy="195308"/>
            </a:xfrm>
            <a:prstGeom prst="line">
              <a:avLst/>
            </a:prstGeom>
            <a:ln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5596899" y="6640544"/>
              <a:ext cx="6779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accent6"/>
                  </a:solidFill>
                </a:rPr>
                <a:t>队头</a:t>
              </a:r>
              <a:endParaRPr lang="zh-CN" altLang="en-US" sz="1600" dirty="0">
                <a:solidFill>
                  <a:schemeClr val="accent6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471308" y="6655674"/>
              <a:ext cx="6779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accent6"/>
                  </a:solidFill>
                </a:rPr>
                <a:t>队尾</a:t>
              </a:r>
              <a:endParaRPr lang="zh-CN" altLang="en-US" sz="1600" dirty="0">
                <a:solidFill>
                  <a:schemeClr val="accent6"/>
                </a:solidFill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6489419" y="6457917"/>
              <a:ext cx="167274" cy="221901"/>
            </a:xfrm>
            <a:prstGeom prst="line">
              <a:avLst/>
            </a:prstGeom>
            <a:ln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11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消息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队列的使用方法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0473" y="763825"/>
            <a:ext cx="11064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</a:rPr>
              <a:t>、删除消息队列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en-US" altLang="zh-CN" sz="1400" b="1" dirty="0" smtClean="0"/>
              <a:t>       </a:t>
            </a:r>
            <a:r>
              <a:rPr lang="zh-CN" altLang="en-US" sz="1400" b="1" dirty="0" smtClean="0"/>
              <a:t>消息队列使用结束，可以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删除</a:t>
            </a:r>
            <a:r>
              <a:rPr lang="zh-CN" altLang="en-US" sz="1400" b="1" dirty="0" smtClean="0"/>
              <a:t>消息队列，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回收</a:t>
            </a:r>
            <a:r>
              <a:rPr lang="zh-CN" altLang="en-US" sz="1400" b="1" dirty="0" smtClean="0"/>
              <a:t>内存</a:t>
            </a:r>
            <a:r>
              <a:rPr lang="zh-CN" altLang="en-US" sz="1400" b="1" dirty="0" smtClean="0"/>
              <a:t>空间。消息队列删除比较简单，函数如下：</a:t>
            </a:r>
            <a:endParaRPr lang="en-US" altLang="zh-CN" sz="1400" b="1" dirty="0" smtClean="0"/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            extern </a:t>
            </a:r>
            <a:r>
              <a:rPr lang="en-US" altLang="zh-CN" sz="1400" b="1" dirty="0"/>
              <a:t>UINT32 </a:t>
            </a:r>
            <a:r>
              <a:rPr lang="en-US" altLang="zh-CN" sz="1400" b="1" dirty="0" err="1"/>
              <a:t>LOS_QueueDelete</a:t>
            </a:r>
            <a:r>
              <a:rPr lang="en-US" altLang="zh-CN" sz="1400" b="1" dirty="0"/>
              <a:t>(UINT32 </a:t>
            </a:r>
            <a:r>
              <a:rPr lang="en-US" altLang="zh-CN" sz="1400" b="1" dirty="0" err="1"/>
              <a:t>uwQueueID</a:t>
            </a:r>
            <a:r>
              <a:rPr lang="en-US" altLang="zh-CN" sz="1400" b="1" dirty="0"/>
              <a:t>); </a:t>
            </a:r>
            <a:r>
              <a:rPr lang="en-US" altLang="zh-CN" sz="1400" b="1" dirty="0">
                <a:solidFill>
                  <a:srgbClr val="C00000"/>
                </a:solidFill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</a:rPr>
              <a:t>根据队列</a:t>
            </a:r>
            <a:r>
              <a:rPr lang="en-US" altLang="zh-CN" sz="1400" b="1" dirty="0">
                <a:solidFill>
                  <a:srgbClr val="C00000"/>
                </a:solidFill>
              </a:rPr>
              <a:t>ID</a:t>
            </a:r>
            <a:r>
              <a:rPr lang="zh-CN" altLang="en-US" sz="1400" b="1" dirty="0">
                <a:solidFill>
                  <a:srgbClr val="C00000"/>
                </a:solidFill>
              </a:rPr>
              <a:t>来删除。</a:t>
            </a:r>
            <a:r>
              <a:rPr lang="en-US" altLang="zh-CN" sz="1400" b="1" dirty="0">
                <a:solidFill>
                  <a:srgbClr val="C00000"/>
                </a:solidFill>
              </a:rPr>
              <a:t/>
            </a:r>
            <a:br>
              <a:rPr lang="en-US" altLang="zh-CN" sz="1400" b="1" dirty="0">
                <a:solidFill>
                  <a:srgbClr val="C00000"/>
                </a:solidFill>
              </a:rPr>
            </a:br>
            <a:r>
              <a:rPr lang="en-US" altLang="zh-CN" sz="1400" b="1" dirty="0" smtClean="0"/>
              <a:t>      </a:t>
            </a:r>
            <a:r>
              <a:rPr lang="zh-CN" altLang="en-US" sz="1400" b="1" dirty="0" smtClean="0"/>
              <a:t>注意：</a:t>
            </a:r>
            <a:r>
              <a:rPr lang="en-US" altLang="zh-CN" sz="1400" b="1" dirty="0" smtClean="0"/>
              <a:t>1</a:t>
            </a:r>
            <a:r>
              <a:rPr lang="zh-CN" altLang="en-US" sz="1400" b="1" dirty="0" smtClean="0"/>
              <a:t>）待删除的队列必须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存在</a:t>
            </a:r>
            <a:r>
              <a:rPr lang="zh-CN" altLang="en-US" sz="1400" b="1" dirty="0" smtClean="0"/>
              <a:t>；</a:t>
            </a:r>
            <a:r>
              <a:rPr lang="en-US" altLang="zh-CN" sz="1400" b="1" dirty="0" smtClean="0"/>
              <a:t>2</a:t>
            </a:r>
            <a:r>
              <a:rPr lang="zh-CN" altLang="en-US" sz="1400" b="1" dirty="0" smtClean="0"/>
              <a:t>）</a:t>
            </a:r>
            <a:r>
              <a:rPr lang="zh-CN" altLang="en-US" sz="1400" b="1" dirty="0" smtClean="0"/>
              <a:t>目前没有因为读写该队列而阻塞的任务，即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两个阻塞链表为空</a:t>
            </a:r>
            <a:r>
              <a:rPr lang="zh-CN" altLang="en-US" sz="1400" b="1" dirty="0" smtClean="0"/>
              <a:t>。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63881" y="2016112"/>
            <a:ext cx="11064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</a:rPr>
              <a:t>、写入消息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en-US" altLang="zh-CN" sz="1400" b="1" dirty="0" smtClean="0"/>
              <a:t>      </a:t>
            </a:r>
            <a:r>
              <a:rPr lang="zh-CN" altLang="en-US" sz="1400" b="1" dirty="0" smtClean="0"/>
              <a:t>写入消息时在队尾进行操作，</a:t>
            </a:r>
            <a:r>
              <a:rPr lang="zh-CN" altLang="en-US" sz="1400" b="1" dirty="0" smtClean="0">
                <a:solidFill>
                  <a:srgbClr val="0070C0"/>
                </a:solidFill>
              </a:rPr>
              <a:t>如果特殊要求后进先出（</a:t>
            </a:r>
            <a:r>
              <a:rPr lang="en-US" altLang="zh-CN" sz="1400" b="1" dirty="0" smtClean="0">
                <a:solidFill>
                  <a:srgbClr val="0070C0"/>
                </a:solidFill>
              </a:rPr>
              <a:t>LIFO</a:t>
            </a:r>
            <a:r>
              <a:rPr lang="zh-CN" altLang="en-US" sz="1400" b="1" dirty="0" smtClean="0">
                <a:solidFill>
                  <a:srgbClr val="0070C0"/>
                </a:solidFill>
              </a:rPr>
              <a:t>），其实是通过往队头写消息来实现，本课程不要求</a:t>
            </a:r>
            <a:r>
              <a:rPr lang="zh-CN" altLang="en-US" sz="1400" b="1" dirty="0" smtClean="0"/>
              <a:t>。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</a:t>
            </a:r>
            <a:r>
              <a:rPr lang="zh-CN" altLang="en-US" sz="1400" b="1" dirty="0" smtClean="0"/>
              <a:t>消息队列写入分为</a:t>
            </a:r>
            <a:r>
              <a:rPr lang="zh-CN" altLang="en-US" sz="1400" b="1" dirty="0">
                <a:solidFill>
                  <a:srgbClr val="0070C0"/>
                </a:solidFill>
              </a:rPr>
              <a:t>带拷贝写入</a:t>
            </a:r>
            <a:r>
              <a:rPr lang="zh-CN" altLang="en-US" sz="1400" b="1" dirty="0" smtClean="0"/>
              <a:t>和</a:t>
            </a:r>
            <a:r>
              <a:rPr lang="zh-CN" altLang="en-US" sz="1400" b="1" dirty="0">
                <a:solidFill>
                  <a:srgbClr val="0070C0"/>
                </a:solidFill>
              </a:rPr>
              <a:t>不带拷贝写入</a:t>
            </a:r>
            <a:r>
              <a:rPr lang="zh-CN" altLang="en-US" sz="1400" b="1" dirty="0" smtClean="0"/>
              <a:t>。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</a:t>
            </a:r>
            <a:r>
              <a:rPr lang="zh-CN" altLang="en-US" sz="1400" b="1" dirty="0">
                <a:solidFill>
                  <a:srgbClr val="0070C0"/>
                </a:solidFill>
              </a:rPr>
              <a:t>带拷贝写入（</a:t>
            </a:r>
            <a:r>
              <a:rPr lang="en-US" altLang="zh-CN" sz="1400" b="1" dirty="0" err="1">
                <a:solidFill>
                  <a:srgbClr val="0070C0"/>
                </a:solidFill>
              </a:rPr>
              <a:t>LOS_QueueWriteCopy</a:t>
            </a:r>
            <a:r>
              <a:rPr lang="zh-CN" altLang="en-US" sz="1400" b="1" dirty="0">
                <a:solidFill>
                  <a:srgbClr val="0070C0"/>
                </a:solidFill>
              </a:rPr>
              <a:t>）</a:t>
            </a:r>
            <a:r>
              <a:rPr lang="zh-CN" altLang="en-US" sz="1400" b="1" dirty="0" smtClean="0"/>
              <a:t>：把任务要发送的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消息内容写入</a:t>
            </a:r>
            <a:r>
              <a:rPr lang="zh-CN" altLang="en-US" sz="1400" b="1" dirty="0" smtClean="0"/>
              <a:t>队列。优点：保护消息；缺点：占用较多内存。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</a:t>
            </a:r>
            <a:r>
              <a:rPr lang="zh-CN" altLang="en-US" sz="1400" b="1" dirty="0" smtClean="0">
                <a:solidFill>
                  <a:srgbClr val="0070C0"/>
                </a:solidFill>
              </a:rPr>
              <a:t>不</a:t>
            </a:r>
            <a:r>
              <a:rPr lang="zh-CN" altLang="en-US" sz="1400" b="1" dirty="0">
                <a:solidFill>
                  <a:srgbClr val="0070C0"/>
                </a:solidFill>
              </a:rPr>
              <a:t>带拷贝写入（</a:t>
            </a:r>
            <a:r>
              <a:rPr lang="en-US" altLang="zh-CN" sz="1400" b="1" dirty="0" err="1">
                <a:solidFill>
                  <a:srgbClr val="0070C0"/>
                </a:solidFill>
              </a:rPr>
              <a:t>LOS_QueueWrite</a:t>
            </a:r>
            <a:r>
              <a:rPr lang="zh-CN" altLang="en-US" sz="1400" b="1" dirty="0" smtClean="0">
                <a:solidFill>
                  <a:srgbClr val="0070C0"/>
                </a:solidFill>
              </a:rPr>
              <a:t>）     </a:t>
            </a:r>
            <a:r>
              <a:rPr lang="zh-CN" altLang="en-US" sz="1400" b="1" dirty="0" smtClean="0"/>
              <a:t>：</a:t>
            </a:r>
            <a:r>
              <a:rPr lang="zh-CN" altLang="en-US" sz="1400" b="1" dirty="0" smtClean="0"/>
              <a:t>只把任务要发送的消息的</a:t>
            </a:r>
            <a:r>
              <a:rPr lang="zh-CN" altLang="en-US" sz="1400" b="1" dirty="0">
                <a:solidFill>
                  <a:srgbClr val="C00000"/>
                </a:solidFill>
              </a:rPr>
              <a:t>指针写入队列</a:t>
            </a:r>
            <a:r>
              <a:rPr lang="zh-CN" altLang="en-US" sz="1400" b="1" dirty="0" smtClean="0"/>
              <a:t>。优点：占用较少内存；缺点：消息可能被修改。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</a:t>
            </a:r>
            <a:endParaRPr lang="en-US" altLang="zh-CN" sz="1400" b="1" dirty="0" smtClean="0">
              <a:solidFill>
                <a:srgbClr val="00B05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9160" y="3336800"/>
            <a:ext cx="70744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/>
              <a:t>LITE_OS_SEC_TEXT UINT32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LOS_QueueWrite</a:t>
            </a:r>
            <a:endParaRPr lang="en-US" altLang="zh-CN" sz="1600" b="1" dirty="0" smtClean="0">
              <a:solidFill>
                <a:srgbClr val="C00000"/>
              </a:solidFill>
            </a:endParaRPr>
          </a:p>
          <a:p>
            <a:r>
              <a:rPr lang="en-US" altLang="zh-CN" sz="1600" b="1" dirty="0"/>
              <a:t>	</a:t>
            </a:r>
            <a:r>
              <a:rPr lang="en-US" altLang="zh-CN" sz="1600" b="1" dirty="0" smtClean="0"/>
              <a:t>(</a:t>
            </a:r>
            <a:r>
              <a:rPr lang="en-US" altLang="zh-CN" sz="1600" b="1" dirty="0"/>
              <a:t>UINT32 </a:t>
            </a:r>
            <a:r>
              <a:rPr lang="en-US" altLang="zh-CN" sz="1600" b="1" dirty="0" err="1"/>
              <a:t>uwQueueID</a:t>
            </a:r>
            <a:r>
              <a:rPr lang="en-US" altLang="zh-CN" sz="1600" b="1" dirty="0"/>
              <a:t>,</a:t>
            </a:r>
          </a:p>
          <a:p>
            <a:r>
              <a:rPr lang="en-US" altLang="zh-CN" sz="1600" b="1" dirty="0" smtClean="0"/>
              <a:t> 	VOID </a:t>
            </a:r>
            <a:r>
              <a:rPr lang="en-US" altLang="zh-CN" sz="1600" b="1" dirty="0"/>
              <a:t>*</a:t>
            </a:r>
            <a:r>
              <a:rPr lang="en-US" altLang="zh-CN" sz="1600" b="1" dirty="0" err="1">
                <a:solidFill>
                  <a:srgbClr val="C00000"/>
                </a:solidFill>
              </a:rPr>
              <a:t>pBufferAddr</a:t>
            </a:r>
            <a:r>
              <a:rPr lang="en-US" altLang="zh-CN" sz="1600" b="1" dirty="0"/>
              <a:t>,</a:t>
            </a:r>
          </a:p>
          <a:p>
            <a:r>
              <a:rPr lang="en-US" altLang="zh-CN" sz="1600" b="1" dirty="0" smtClean="0"/>
              <a:t> 	UINT32 </a:t>
            </a:r>
            <a:r>
              <a:rPr lang="en-US" altLang="zh-CN" sz="1600" b="1" dirty="0" err="1">
                <a:solidFill>
                  <a:srgbClr val="C00000"/>
                </a:solidFill>
              </a:rPr>
              <a:t>uwBufferSize</a:t>
            </a:r>
            <a:r>
              <a:rPr lang="en-US" altLang="zh-CN" sz="1600" b="1" dirty="0"/>
              <a:t>,</a:t>
            </a:r>
          </a:p>
          <a:p>
            <a:r>
              <a:rPr lang="en-US" altLang="zh-CN" sz="1600" b="1" dirty="0" smtClean="0"/>
              <a:t> 	UINT32 </a:t>
            </a:r>
            <a:r>
              <a:rPr lang="en-US" altLang="zh-CN" sz="1600" b="1" dirty="0" err="1"/>
              <a:t>uwTimeOut</a:t>
            </a:r>
            <a:r>
              <a:rPr lang="en-US" altLang="zh-CN" sz="1600" b="1" dirty="0"/>
              <a:t>)</a:t>
            </a:r>
          </a:p>
          <a:p>
            <a:r>
              <a:rPr lang="en-US" altLang="zh-CN" sz="1600" b="1" dirty="0" smtClean="0"/>
              <a:t> </a:t>
            </a:r>
            <a:endParaRPr lang="zh-CN" altLang="en-US" sz="1600" b="1" dirty="0"/>
          </a:p>
        </p:txBody>
      </p:sp>
      <p:sp>
        <p:nvSpPr>
          <p:cNvPr id="19" name="矩形 18"/>
          <p:cNvSpPr/>
          <p:nvPr/>
        </p:nvSpPr>
        <p:spPr>
          <a:xfrm>
            <a:off x="4487245" y="3820696"/>
            <a:ext cx="42936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0070C0"/>
                </a:solidFill>
              </a:rPr>
              <a:t>参数是消息的地址，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写入队列的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就是</a:t>
            </a:r>
            <a:r>
              <a:rPr lang="zh-CN" altLang="en-US" sz="1600" b="1" dirty="0">
                <a:solidFill>
                  <a:srgbClr val="C00000"/>
                </a:solidFill>
              </a:rPr>
              <a:t>该地址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r>
              <a:rPr lang="zh-CN" altLang="en-US" sz="1600" b="1" dirty="0" smtClean="0">
                <a:solidFill>
                  <a:srgbClr val="0070C0"/>
                </a:solidFill>
              </a:rPr>
              <a:t>此时，长度参数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无意义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436364" y="5352370"/>
            <a:ext cx="63481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0070C0"/>
                </a:solidFill>
              </a:rPr>
              <a:t>参数是消息的地址，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写入</a:t>
            </a:r>
            <a:r>
              <a:rPr lang="zh-CN" altLang="en-US" sz="1600" b="1" dirty="0">
                <a:solidFill>
                  <a:srgbClr val="0070C0"/>
                </a:solidFill>
              </a:rPr>
              <a:t>队列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的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就是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该地址存放的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内容</a:t>
            </a:r>
            <a:endParaRPr lang="en-US" altLang="zh-CN" sz="1600" b="1" dirty="0" smtClean="0">
              <a:solidFill>
                <a:srgbClr val="C00000"/>
              </a:solidFill>
            </a:endParaRPr>
          </a:p>
          <a:p>
            <a:r>
              <a:rPr lang="zh-CN" altLang="en-US" sz="1600" b="1" dirty="0" smtClean="0">
                <a:solidFill>
                  <a:srgbClr val="0070C0"/>
                </a:solidFill>
              </a:rPr>
              <a:t>长度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是实际写入字节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数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9160" y="473272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/>
              <a:t>LITE_OS_SEC_TEXT </a:t>
            </a:r>
            <a:r>
              <a:rPr lang="en-US" altLang="zh-CN" b="1" dirty="0" smtClean="0"/>
              <a:t>UINT32 </a:t>
            </a:r>
            <a:r>
              <a:rPr lang="en-US" altLang="zh-CN" b="1" dirty="0" err="1" smtClean="0">
                <a:solidFill>
                  <a:srgbClr val="C00000"/>
                </a:solidFill>
              </a:rPr>
              <a:t>LOS_QueueWriteCopy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	</a:t>
            </a:r>
            <a:r>
              <a:rPr lang="en-US" altLang="zh-CN" b="1" dirty="0" smtClean="0"/>
              <a:t>(UINT32 </a:t>
            </a:r>
            <a:r>
              <a:rPr lang="en-US" altLang="zh-CN" b="1" dirty="0" err="1" smtClean="0"/>
              <a:t>uwQueueID</a:t>
            </a:r>
            <a:r>
              <a:rPr lang="en-US" altLang="zh-CN" b="1" dirty="0"/>
              <a:t>,</a:t>
            </a:r>
          </a:p>
          <a:p>
            <a:r>
              <a:rPr lang="en-US" altLang="zh-CN" b="1" dirty="0"/>
              <a:t> 	</a:t>
            </a:r>
            <a:r>
              <a:rPr lang="en-US" altLang="zh-CN" b="1" dirty="0" smtClean="0"/>
              <a:t>void *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pBufferAddr</a:t>
            </a:r>
            <a:r>
              <a:rPr lang="en-US" altLang="zh-CN" b="1" dirty="0"/>
              <a:t>,</a:t>
            </a:r>
          </a:p>
          <a:p>
            <a:r>
              <a:rPr lang="en-US" altLang="zh-CN" b="1" dirty="0"/>
              <a:t>	</a:t>
            </a:r>
            <a:r>
              <a:rPr lang="en-US" altLang="zh-CN" b="1" dirty="0" smtClean="0"/>
              <a:t>UINT32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uwBufferSize</a:t>
            </a:r>
            <a:r>
              <a:rPr lang="en-US" altLang="zh-CN" b="1" dirty="0"/>
              <a:t>,</a:t>
            </a:r>
          </a:p>
          <a:p>
            <a:r>
              <a:rPr lang="en-US" altLang="zh-CN" b="1" dirty="0"/>
              <a:t> 	</a:t>
            </a:r>
            <a:r>
              <a:rPr lang="en-US" altLang="zh-CN" b="1" dirty="0" smtClean="0"/>
              <a:t>UINT32 </a:t>
            </a:r>
            <a:r>
              <a:rPr lang="en-US" altLang="zh-CN" b="1" dirty="0" err="1" smtClean="0"/>
              <a:t>uwTimeOut</a:t>
            </a:r>
            <a:r>
              <a:rPr lang="en-US" altLang="zh-CN" b="1" dirty="0"/>
              <a:t>);</a:t>
            </a:r>
            <a:endParaRPr lang="en-US" altLang="zh-CN" b="1" dirty="0"/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980537" y="6249350"/>
            <a:ext cx="9520314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b="1" dirty="0">
                <a:solidFill>
                  <a:srgbClr val="C00000"/>
                </a:solidFill>
                <a:latin typeface="+mn-lt"/>
              </a:rPr>
              <a:t>LITE_OS_SEC_TEXT 是宏定义，</a:t>
            </a:r>
            <a:r>
              <a:rPr lang="zh-CN" altLang="zh-CN" sz="1600" b="1" dirty="0">
                <a:latin typeface="+mn-lt"/>
              </a:rPr>
              <a:t>并非数据类型，其作用是指定函数编译后存放的内存段（Section</a:t>
            </a:r>
            <a:r>
              <a:rPr lang="zh-CN" altLang="zh-CN" sz="1600" b="1" dirty="0" smtClean="0">
                <a:latin typeface="+mn-lt"/>
              </a:rPr>
              <a:t>）</a:t>
            </a:r>
            <a:endParaRPr lang="en-US" altLang="zh-CN" sz="1600" b="1" dirty="0" smtClean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b="1" dirty="0" smtClean="0">
                <a:latin typeface="+mn-lt"/>
              </a:rPr>
              <a:t>属于</a:t>
            </a:r>
            <a:r>
              <a:rPr lang="zh-CN" altLang="zh-CN" sz="1600" b="1" dirty="0">
                <a:latin typeface="+mn-lt"/>
              </a:rPr>
              <a:t>编译器的扩展属性 </a:t>
            </a:r>
          </a:p>
        </p:txBody>
      </p:sp>
    </p:spTree>
    <p:extLst>
      <p:ext uri="{BB962C8B-B14F-4D97-AF65-F5344CB8AC3E}">
        <p14:creationId xmlns:p14="http://schemas.microsoft.com/office/powerpoint/2010/main" val="392165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消息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队列的使用方法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9669" y="946264"/>
            <a:ext cx="110642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/>
              <a:t>下边</a:t>
            </a:r>
            <a:r>
              <a:rPr lang="zh-CN" altLang="en-US" sz="1600" b="1" dirty="0"/>
              <a:t>我们以</a:t>
            </a:r>
            <a:r>
              <a:rPr lang="zh-CN" altLang="en-US" sz="1600" b="1" dirty="0">
                <a:solidFill>
                  <a:srgbClr val="C00000"/>
                </a:solidFill>
              </a:rPr>
              <a:t>不带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拷贝写入为例</a:t>
            </a:r>
            <a:r>
              <a:rPr lang="zh-CN" altLang="en-US" sz="1600" b="1" dirty="0" smtClean="0"/>
              <a:t>进行讲解，带拷贝写入自行学习。写</a:t>
            </a:r>
            <a:r>
              <a:rPr lang="zh-CN" altLang="en-US" sz="1600" b="1" dirty="0"/>
              <a:t>入函数</a:t>
            </a:r>
            <a:r>
              <a:rPr lang="zh-CN" altLang="en-US" sz="1600" b="1" dirty="0" smtClean="0"/>
              <a:t>如下：</a:t>
            </a:r>
            <a:endParaRPr lang="en-US" altLang="zh-CN" sz="1600" b="1" dirty="0" smtClean="0"/>
          </a:p>
          <a:p>
            <a:pPr lvl="0"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UINT32 </a:t>
            </a:r>
            <a:r>
              <a:rPr lang="en-US" altLang="zh-CN" sz="1600" b="1" dirty="0" err="1" smtClean="0"/>
              <a:t>LOS_QueueWrite</a:t>
            </a:r>
            <a:r>
              <a:rPr lang="en-US" altLang="zh-CN" sz="1600" b="1" dirty="0" smtClean="0"/>
              <a:t>(    UINT32 </a:t>
            </a:r>
            <a:r>
              <a:rPr lang="en-US" altLang="zh-CN" sz="1600" b="1" dirty="0" err="1"/>
              <a:t>uwQueueID</a:t>
            </a:r>
            <a:r>
              <a:rPr lang="en-US" altLang="zh-CN" sz="1600" b="1" dirty="0"/>
              <a:t>,   </a:t>
            </a:r>
            <a:r>
              <a:rPr lang="en-US" altLang="zh-CN" sz="1600" b="1" dirty="0" smtClean="0"/>
              <a:t>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>
                <a:solidFill>
                  <a:srgbClr val="00B050"/>
                </a:solidFill>
              </a:rPr>
              <a:t>要写入的队列</a:t>
            </a:r>
            <a:r>
              <a:rPr lang="en-US" altLang="zh-CN" sz="1600" b="1" dirty="0">
                <a:solidFill>
                  <a:srgbClr val="00B050"/>
                </a:solidFill>
              </a:rPr>
              <a:t>ID</a:t>
            </a:r>
            <a:br>
              <a:rPr lang="en-US" altLang="zh-CN" sz="1600" b="1" dirty="0">
                <a:solidFill>
                  <a:srgbClr val="00B050"/>
                </a:solidFill>
              </a:rPr>
            </a:br>
            <a:r>
              <a:rPr lang="en-US" altLang="zh-CN" sz="1600" b="1" dirty="0"/>
              <a:t>                                                      VOID *</a:t>
            </a:r>
            <a:r>
              <a:rPr lang="en-US" altLang="zh-CN" sz="1600" b="1" dirty="0" err="1"/>
              <a:t>pBufferAddr</a:t>
            </a:r>
            <a:r>
              <a:rPr lang="en-US" altLang="zh-CN" sz="1600" b="1" dirty="0"/>
              <a:t>,    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消息的指针  （被写入消息的地址）</a:t>
            </a:r>
            <a:r>
              <a:rPr lang="en-US" altLang="zh-CN" sz="1600" b="1" dirty="0"/>
              <a:t/>
            </a:r>
            <a:br>
              <a:rPr lang="en-US" altLang="zh-CN" sz="1600" b="1" dirty="0"/>
            </a:br>
            <a:r>
              <a:rPr lang="en-US" altLang="zh-CN" sz="1600" b="1" dirty="0"/>
              <a:t>                                                      UINT32 </a:t>
            </a:r>
            <a:r>
              <a:rPr lang="en-US" altLang="zh-CN" sz="1600" b="1" dirty="0" err="1"/>
              <a:t>uwBufferSize</a:t>
            </a:r>
            <a:r>
              <a:rPr lang="en-US" altLang="zh-CN" sz="1600" b="1" dirty="0"/>
              <a:t>,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消息的大小  （被写入消息的字节数，此参数实际无意义）</a:t>
            </a:r>
            <a:r>
              <a:rPr lang="en-US" altLang="zh-CN" sz="1600" b="1" dirty="0"/>
              <a:t/>
            </a:r>
            <a:br>
              <a:rPr lang="en-US" altLang="zh-CN" sz="1600" b="1" dirty="0"/>
            </a:br>
            <a:r>
              <a:rPr lang="en-US" altLang="zh-CN" sz="1600" b="1" dirty="0"/>
              <a:t>                                                      UINT32 </a:t>
            </a:r>
            <a:r>
              <a:rPr lang="en-US" altLang="zh-CN" sz="1600" b="1" dirty="0" err="1"/>
              <a:t>uwTimeOut</a:t>
            </a:r>
            <a:r>
              <a:rPr lang="en-US" altLang="zh-CN" sz="1600" b="1" dirty="0"/>
              <a:t>);  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超时。</a:t>
            </a:r>
            <a:r>
              <a:rPr lang="en-US" altLang="zh-CN" sz="1600" b="1" dirty="0"/>
              <a:t/>
            </a:r>
            <a:br>
              <a:rPr lang="en-US" altLang="zh-CN" sz="1600" b="1" dirty="0"/>
            </a:b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</a:rPr>
              <a:t>注：</a:t>
            </a: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  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uwTimeOut</a:t>
            </a:r>
            <a:r>
              <a:rPr lang="zh-CN" altLang="en-US" sz="1600" b="1" dirty="0">
                <a:solidFill>
                  <a:srgbClr val="C00000"/>
                </a:solidFill>
              </a:rPr>
              <a:t>的范围</a:t>
            </a:r>
            <a:r>
              <a:rPr lang="en-US" altLang="zh-CN" sz="1600" b="1" dirty="0">
                <a:solidFill>
                  <a:srgbClr val="C00000"/>
                </a:solidFill>
              </a:rPr>
              <a:t>0~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LOS_WAIT_FOREVER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，单位为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tick</a:t>
            </a:r>
            <a:r>
              <a:rPr lang="zh-CN" altLang="en-US" sz="1600" b="1" dirty="0">
                <a:solidFill>
                  <a:srgbClr val="C00000"/>
                </a:solidFill>
              </a:rPr>
              <a:t>。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          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=0</a:t>
            </a:r>
            <a:r>
              <a:rPr lang="zh-CN" altLang="en-US" sz="1600" b="1" dirty="0">
                <a:solidFill>
                  <a:srgbClr val="C00000"/>
                </a:solidFill>
              </a:rPr>
              <a:t>：不等待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；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=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常数</a:t>
            </a:r>
            <a:r>
              <a:rPr lang="en-US" altLang="zh-CN" sz="1600" b="1" dirty="0">
                <a:solidFill>
                  <a:srgbClr val="C00000"/>
                </a:solidFill>
              </a:rPr>
              <a:t>n</a:t>
            </a:r>
            <a:r>
              <a:rPr lang="zh-CN" altLang="en-US" sz="1600" b="1" dirty="0">
                <a:solidFill>
                  <a:srgbClr val="C00000"/>
                </a:solidFill>
              </a:rPr>
              <a:t>：等待</a:t>
            </a:r>
            <a:r>
              <a:rPr lang="en-US" altLang="zh-CN" sz="1600" b="1" dirty="0">
                <a:solidFill>
                  <a:srgbClr val="C00000"/>
                </a:solidFill>
              </a:rPr>
              <a:t>n</a:t>
            </a:r>
            <a:r>
              <a:rPr lang="zh-CN" altLang="en-US" sz="1600" b="1" dirty="0">
                <a:solidFill>
                  <a:srgbClr val="C00000"/>
                </a:solidFill>
              </a:rPr>
              <a:t>个</a:t>
            </a:r>
            <a:r>
              <a:rPr lang="en-US" altLang="zh-CN" sz="1600" b="1" dirty="0">
                <a:solidFill>
                  <a:srgbClr val="C00000"/>
                </a:solidFill>
              </a:rPr>
              <a:t>tick</a:t>
            </a:r>
            <a:r>
              <a:rPr lang="zh-CN" altLang="en-US" sz="1600" b="1" dirty="0">
                <a:solidFill>
                  <a:srgbClr val="C00000"/>
                </a:solidFill>
              </a:rPr>
              <a:t>；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=LOS_WAIT_FOREVER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：永久等待（死等，不写入誓不罢休</a:t>
            </a:r>
            <a:r>
              <a:rPr lang="zh-CN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）</a:t>
            </a:r>
            <a:endParaRPr lang="en-US" altLang="zh-CN" sz="1600" b="1" dirty="0" smtClean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             </a:t>
            </a:r>
            <a:r>
              <a:rPr lang="zh-CN" altLang="en-US" sz="1600" b="1" dirty="0" smtClean="0">
                <a:solidFill>
                  <a:srgbClr val="00B050"/>
                </a:solidFill>
                <a:latin typeface="Times New Roman" panose="02020603050405020304" pitchFamily="18" charset="0"/>
              </a:rPr>
              <a:t>等待就是进入阻塞态，等待时间到还不能写入，会进入就绪态</a:t>
            </a:r>
            <a:r>
              <a:rPr lang="en-US" altLang="zh-CN" sz="1600" b="1" dirty="0">
                <a:solidFill>
                  <a:srgbClr val="00B050"/>
                </a:solidFill>
              </a:rPr>
              <a:t/>
            </a:r>
            <a:br>
              <a:rPr lang="en-US" altLang="zh-CN" sz="1600" b="1" dirty="0">
                <a:solidFill>
                  <a:srgbClr val="00B050"/>
                </a:solidFill>
              </a:rPr>
            </a:br>
            <a:r>
              <a:rPr lang="en-US" altLang="zh-CN" sz="1600" b="1" dirty="0">
                <a:solidFill>
                  <a:srgbClr val="000000"/>
                </a:solidFill>
              </a:rPr>
              <a:t>           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 例：</a:t>
            </a:r>
            <a:r>
              <a:rPr lang="en-US" altLang="zh-CN" sz="1600" b="1" dirty="0" smtClean="0"/>
              <a:t>UINT32   </a:t>
            </a:r>
            <a:r>
              <a:rPr lang="en-US" altLang="zh-CN" sz="1600" b="1" dirty="0" err="1" smtClean="0"/>
              <a:t>dataMsg</a:t>
            </a:r>
            <a:r>
              <a:rPr lang="en-US" altLang="zh-CN" sz="1600" b="1" dirty="0" smtClean="0"/>
              <a:t> = 2;  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定义一个数值型消息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=2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rgbClr val="00B050"/>
                </a:solidFill>
              </a:rPr>
              <a:t>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       </a:t>
            </a:r>
            <a:r>
              <a:rPr lang="en-US" altLang="zh-CN" sz="1600" b="1" dirty="0" err="1" smtClean="0"/>
              <a:t>LOS_QueueWrite</a:t>
            </a:r>
            <a:r>
              <a:rPr lang="en-US" altLang="zh-CN" sz="1600" b="1" dirty="0" smtClean="0"/>
              <a:t>(</a:t>
            </a:r>
            <a:r>
              <a:rPr lang="en-US" altLang="zh-CN" sz="1600" b="1" dirty="0" err="1" smtClean="0"/>
              <a:t>Queue_Handle</a:t>
            </a:r>
            <a:r>
              <a:rPr lang="en-US" altLang="zh-CN" sz="1600" b="1" dirty="0" smtClean="0"/>
              <a:t>,   //</a:t>
            </a:r>
            <a:r>
              <a:rPr lang="zh-CN" altLang="en-US" sz="1600" b="1" dirty="0" smtClean="0"/>
              <a:t>队列</a:t>
            </a:r>
            <a:r>
              <a:rPr lang="en-US" altLang="zh-CN" sz="1600" b="1" dirty="0" smtClean="0"/>
              <a:t>ID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                              &amp; </a:t>
            </a:r>
            <a:r>
              <a:rPr lang="en-US" altLang="zh-CN" sz="1600" b="1" dirty="0" err="1"/>
              <a:t>dataMsg</a:t>
            </a:r>
            <a:r>
              <a:rPr lang="en-US" altLang="zh-CN" sz="1600" b="1" dirty="0" smtClean="0"/>
              <a:t>,           //</a:t>
            </a:r>
            <a:r>
              <a:rPr lang="zh-CN" altLang="en-US" sz="1600" b="1" dirty="0" smtClean="0"/>
              <a:t>消息的指针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                              </a:t>
            </a:r>
            <a:r>
              <a:rPr lang="en-US" altLang="zh-CN" sz="1600" b="1" dirty="0" err="1" smtClean="0"/>
              <a:t>sizeof</a:t>
            </a:r>
            <a:r>
              <a:rPr lang="en-US" altLang="zh-CN" sz="1600" b="1" dirty="0" smtClean="0"/>
              <a:t>(UINT32) ,   //</a:t>
            </a:r>
            <a:r>
              <a:rPr lang="zh-CN" altLang="en-US" sz="1600" b="1" dirty="0" smtClean="0"/>
              <a:t>消息的大小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                               0);                         //</a:t>
            </a:r>
            <a:r>
              <a:rPr lang="zh-CN" altLang="en-US" sz="1600" b="1" dirty="0" smtClean="0"/>
              <a:t>等待时间</a:t>
            </a:r>
            <a:r>
              <a:rPr lang="en-US" altLang="zh-CN" sz="1600" b="1" dirty="0" smtClean="0"/>
              <a:t>=0</a:t>
            </a:r>
            <a:r>
              <a:rPr lang="zh-CN" altLang="en-US" sz="1600" b="1" dirty="0" smtClean="0"/>
              <a:t>。如果消息写入失败（队列满了），直接跳过。</a:t>
            </a:r>
            <a:endParaRPr lang="en-US" altLang="zh-CN" sz="1600" b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19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消息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队列的使用方法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3898" y="750627"/>
            <a:ext cx="1106424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4</a:t>
            </a:r>
            <a:r>
              <a:rPr lang="zh-CN" altLang="en-US" sz="2000" b="1" dirty="0">
                <a:solidFill>
                  <a:srgbClr val="C00000"/>
                </a:solidFill>
              </a:rPr>
              <a:t>、读取消息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en-US" altLang="zh-CN" sz="1400" b="1" dirty="0" smtClean="0"/>
              <a:t>       </a:t>
            </a:r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</a:t>
            </a:r>
            <a:r>
              <a:rPr lang="zh-CN" altLang="en-US" b="1" dirty="0" smtClean="0"/>
              <a:t>消息队列读取分为</a:t>
            </a:r>
            <a:r>
              <a:rPr lang="zh-CN" altLang="en-US" b="1" dirty="0" smtClean="0">
                <a:solidFill>
                  <a:srgbClr val="C00000"/>
                </a:solidFill>
              </a:rPr>
              <a:t>带拷贝读取</a:t>
            </a:r>
            <a:r>
              <a:rPr lang="zh-CN" altLang="en-US" b="1" dirty="0" smtClean="0"/>
              <a:t>和</a:t>
            </a:r>
            <a:r>
              <a:rPr lang="zh-CN" altLang="en-US" b="1" dirty="0" smtClean="0">
                <a:solidFill>
                  <a:srgbClr val="C00000"/>
                </a:solidFill>
              </a:rPr>
              <a:t>不带拷贝读取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带拷贝读取（</a:t>
            </a:r>
            <a:r>
              <a:rPr lang="en-US" altLang="zh-CN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LOS_QueueReadCopy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）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         </a:t>
            </a:r>
            <a:r>
              <a:rPr lang="zh-CN" altLang="en-US" b="1" dirty="0" smtClean="0"/>
              <a:t>读取队头的消息内容。</a:t>
            </a:r>
            <a:endParaRPr lang="en-US" altLang="zh-CN" b="1" dirty="0" smtClean="0"/>
          </a:p>
          <a:p>
            <a:r>
              <a:rPr lang="en-US" altLang="zh-CN" b="1" dirty="0" smtClean="0"/>
              <a:t>     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不带拷贝读取（</a:t>
            </a:r>
            <a:r>
              <a:rPr lang="en-US" altLang="zh-CN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LOS_QueueRead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）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         </a:t>
            </a:r>
            <a:r>
              <a:rPr lang="zh-CN" altLang="en-US" b="1" dirty="0" smtClean="0"/>
              <a:t>只读取队头的消息的指针。</a:t>
            </a:r>
            <a:endParaRPr lang="en-US" altLang="zh-CN" b="1" dirty="0" smtClean="0"/>
          </a:p>
          <a:p>
            <a:r>
              <a:rPr lang="en-US" altLang="zh-CN" sz="1600" b="1" dirty="0"/>
              <a:t> </a:t>
            </a:r>
            <a:r>
              <a:rPr lang="en-US" altLang="zh-CN" sz="1600" b="1" dirty="0" smtClean="0"/>
              <a:t>    </a:t>
            </a:r>
          </a:p>
          <a:p>
            <a:r>
              <a:rPr lang="en-US" altLang="zh-CN" sz="1600" b="1" dirty="0"/>
              <a:t> </a:t>
            </a:r>
            <a:r>
              <a:rPr lang="en-US" altLang="zh-CN" sz="1600" b="1" dirty="0" smtClean="0"/>
              <a:t>    </a:t>
            </a:r>
            <a:endParaRPr lang="en-US" altLang="zh-CN" sz="1400" b="1" dirty="0" smtClean="0">
              <a:solidFill>
                <a:srgbClr val="00B05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7136" y="3020628"/>
            <a:ext cx="60502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LITE_OS_SEC_TEXT UINT32 LOS_</a:t>
            </a:r>
            <a:r>
              <a:rPr lang="zh-CN" altLang="en-US" b="1" dirty="0" smtClean="0"/>
              <a:t>QueueRead</a:t>
            </a:r>
            <a:endParaRPr lang="en-US" altLang="zh-CN" b="1" dirty="0" smtClean="0"/>
          </a:p>
          <a:p>
            <a:r>
              <a:rPr lang="en-US" altLang="zh-CN" b="1" dirty="0"/>
              <a:t>	</a:t>
            </a:r>
            <a:r>
              <a:rPr lang="zh-CN" altLang="en-US" b="1" dirty="0" smtClean="0"/>
              <a:t>(</a:t>
            </a:r>
            <a:r>
              <a:rPr lang="zh-CN" altLang="en-US" b="1" dirty="0"/>
              <a:t>UINT32 uwQueueID,</a:t>
            </a:r>
          </a:p>
          <a:p>
            <a:r>
              <a:rPr lang="zh-CN" altLang="en-US" b="1" dirty="0" smtClean="0"/>
              <a:t> </a:t>
            </a:r>
            <a:r>
              <a:rPr lang="en-US" altLang="zh-CN" b="1" dirty="0" smtClean="0"/>
              <a:t>	</a:t>
            </a:r>
            <a:r>
              <a:rPr lang="zh-CN" altLang="en-US" b="1" dirty="0" smtClean="0"/>
              <a:t>VOID </a:t>
            </a:r>
            <a:r>
              <a:rPr lang="zh-CN" altLang="en-US" b="1" dirty="0">
                <a:solidFill>
                  <a:srgbClr val="C00000"/>
                </a:solidFill>
              </a:rPr>
              <a:t>*pBufferAddr</a:t>
            </a:r>
            <a:r>
              <a:rPr lang="zh-CN" altLang="en-US" b="1" dirty="0"/>
              <a:t>,</a:t>
            </a:r>
          </a:p>
          <a:p>
            <a:r>
              <a:rPr lang="en-US" altLang="zh-CN" b="1" dirty="0" smtClean="0"/>
              <a:t>	</a:t>
            </a:r>
            <a:r>
              <a:rPr lang="zh-CN" altLang="en-US" b="1" dirty="0" smtClean="0"/>
              <a:t> </a:t>
            </a:r>
            <a:r>
              <a:rPr lang="zh-CN" altLang="en-US" b="1" dirty="0"/>
              <a:t>UINT32 </a:t>
            </a:r>
            <a:r>
              <a:rPr lang="zh-CN" altLang="en-US" b="1" dirty="0">
                <a:solidFill>
                  <a:srgbClr val="C00000"/>
                </a:solidFill>
              </a:rPr>
              <a:t>uwBufferSize</a:t>
            </a:r>
            <a:r>
              <a:rPr lang="zh-CN" altLang="en-US" b="1" dirty="0"/>
              <a:t>,</a:t>
            </a:r>
          </a:p>
          <a:p>
            <a:r>
              <a:rPr lang="zh-CN" altLang="en-US" b="1" dirty="0" smtClean="0"/>
              <a:t> </a:t>
            </a:r>
            <a:r>
              <a:rPr lang="en-US" altLang="zh-CN" b="1" dirty="0" smtClean="0"/>
              <a:t>	</a:t>
            </a:r>
            <a:r>
              <a:rPr lang="zh-CN" altLang="en-US" b="1" dirty="0" smtClean="0"/>
              <a:t>UINT</a:t>
            </a:r>
            <a:r>
              <a:rPr lang="zh-CN" altLang="en-US" b="1" dirty="0"/>
              <a:t>32 uwTimeOut)</a:t>
            </a:r>
          </a:p>
          <a:p>
            <a:r>
              <a:rPr lang="zh-CN" altLang="en-US" b="1" dirty="0" smtClean="0"/>
              <a:t> 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4495257" y="5175064"/>
            <a:ext cx="3672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solidFill>
                  <a:srgbClr val="00B050"/>
                </a:solidFill>
              </a:rPr>
              <a:t>存放读出消息</a:t>
            </a:r>
            <a:r>
              <a:rPr lang="zh-CN" altLang="en-US" sz="1600" b="1" dirty="0">
                <a:solidFill>
                  <a:srgbClr val="00B050"/>
                </a:solidFill>
              </a:rPr>
              <a:t>的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地址，读的是消息内容</a:t>
            </a:r>
            <a:endParaRPr lang="zh-CN" altLang="en-US" sz="1600" dirty="0"/>
          </a:p>
        </p:txBody>
      </p:sp>
      <p:sp>
        <p:nvSpPr>
          <p:cNvPr id="17" name="矩形 16"/>
          <p:cNvSpPr/>
          <p:nvPr/>
        </p:nvSpPr>
        <p:spPr>
          <a:xfrm>
            <a:off x="4495257" y="3900291"/>
            <a:ext cx="29113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solidFill>
                  <a:srgbClr val="00B050"/>
                </a:solidFill>
              </a:rPr>
              <a:t>读出消息的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长度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,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能存地址即可</a:t>
            </a:r>
            <a:endParaRPr lang="zh-CN" altLang="en-US" sz="1600" dirty="0"/>
          </a:p>
        </p:txBody>
      </p:sp>
      <p:sp>
        <p:nvSpPr>
          <p:cNvPr id="2" name="矩形 1"/>
          <p:cNvSpPr/>
          <p:nvPr/>
        </p:nvSpPr>
        <p:spPr>
          <a:xfrm>
            <a:off x="627797" y="6355744"/>
            <a:ext cx="6378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说明：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写入和读出消息，要区分带</a:t>
            </a:r>
            <a:r>
              <a:rPr lang="en-US" altLang="zh-C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copy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和不带</a:t>
            </a:r>
            <a:r>
              <a:rPr lang="en-US" altLang="zh-C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copy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配套使用</a:t>
            </a:r>
            <a:endParaRPr lang="en-US" altLang="zh-C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1416" y="465760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LITE_OS_SEC_TEXT UINT32 </a:t>
            </a:r>
            <a:r>
              <a:rPr lang="zh-CN" altLang="en-US" b="1" dirty="0" smtClean="0"/>
              <a:t>LOS</a:t>
            </a:r>
            <a:r>
              <a:rPr lang="zh-CN" altLang="en-US" b="1" dirty="0"/>
              <a:t>_</a:t>
            </a:r>
            <a:r>
              <a:rPr lang="zh-CN" altLang="en-US" b="1" dirty="0" smtClean="0"/>
              <a:t>QueueReadCopy</a:t>
            </a:r>
            <a:endParaRPr lang="en-US" altLang="zh-CN" b="1" dirty="0" smtClean="0"/>
          </a:p>
          <a:p>
            <a:r>
              <a:rPr lang="en-US" altLang="zh-CN" b="1" dirty="0"/>
              <a:t>	</a:t>
            </a:r>
            <a:r>
              <a:rPr lang="zh-CN" altLang="en-US" b="1" dirty="0" smtClean="0"/>
              <a:t>(</a:t>
            </a:r>
            <a:r>
              <a:rPr lang="en-US" altLang="zh-CN" b="1" dirty="0" smtClean="0"/>
              <a:t>UINT32 </a:t>
            </a:r>
            <a:r>
              <a:rPr lang="zh-CN" altLang="en-US" b="1" dirty="0" smtClean="0"/>
              <a:t>uwQueueID</a:t>
            </a:r>
            <a:r>
              <a:rPr lang="zh-CN" altLang="en-US" b="1" dirty="0"/>
              <a:t>,</a:t>
            </a:r>
          </a:p>
          <a:p>
            <a:r>
              <a:rPr lang="en-US" altLang="zh-CN" b="1" dirty="0"/>
              <a:t>	</a:t>
            </a:r>
            <a:r>
              <a:rPr lang="en-US" altLang="zh-CN" b="1" dirty="0" smtClean="0"/>
              <a:t>void *</a:t>
            </a:r>
            <a:r>
              <a:rPr lang="zh-CN" altLang="en-US" b="1" dirty="0" smtClean="0"/>
              <a:t>pBufferAddr</a:t>
            </a:r>
            <a:r>
              <a:rPr lang="zh-CN" altLang="en-US" b="1" dirty="0"/>
              <a:t>,</a:t>
            </a:r>
          </a:p>
          <a:p>
            <a:r>
              <a:rPr lang="zh-CN" altLang="en-US" b="1" dirty="0"/>
              <a:t> </a:t>
            </a:r>
            <a:r>
              <a:rPr lang="en-US" altLang="zh-CN" b="1" dirty="0"/>
              <a:t>	</a:t>
            </a:r>
            <a:r>
              <a:rPr lang="en-US" altLang="zh-CN" b="1" dirty="0" smtClean="0"/>
              <a:t>UNIT32 *</a:t>
            </a:r>
            <a:r>
              <a:rPr lang="zh-CN" altLang="en-US" b="1" dirty="0" smtClean="0"/>
              <a:t>uwBufferSize</a:t>
            </a:r>
            <a:r>
              <a:rPr lang="zh-CN" altLang="en-US" b="1" dirty="0"/>
              <a:t>,</a:t>
            </a:r>
          </a:p>
          <a:p>
            <a:r>
              <a:rPr lang="zh-CN" altLang="en-US" b="1" dirty="0"/>
              <a:t> </a:t>
            </a:r>
            <a:r>
              <a:rPr lang="en-US" altLang="zh-CN" b="1" dirty="0"/>
              <a:t>	</a:t>
            </a:r>
            <a:r>
              <a:rPr lang="en-US" altLang="zh-CN" b="1" dirty="0" smtClean="0"/>
              <a:t>UINT32 </a:t>
            </a:r>
            <a:r>
              <a:rPr lang="zh-CN" altLang="en-US" b="1" dirty="0" smtClean="0"/>
              <a:t>uwTimeOut</a:t>
            </a:r>
            <a:r>
              <a:rPr lang="zh-CN" altLang="en-US" b="1" dirty="0"/>
              <a:t>);</a:t>
            </a:r>
            <a:endParaRPr lang="zh-CN" altLang="en-US" b="1" dirty="0"/>
          </a:p>
        </p:txBody>
      </p:sp>
      <p:sp>
        <p:nvSpPr>
          <p:cNvPr id="23" name="矩形 22"/>
          <p:cNvSpPr/>
          <p:nvPr/>
        </p:nvSpPr>
        <p:spPr>
          <a:xfrm>
            <a:off x="4495257" y="3577309"/>
            <a:ext cx="56493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solidFill>
                  <a:srgbClr val="00B050"/>
                </a:solidFill>
              </a:rPr>
              <a:t>存放读出消息</a:t>
            </a:r>
            <a:r>
              <a:rPr lang="zh-CN" altLang="en-US" sz="1600" b="1" dirty="0">
                <a:solidFill>
                  <a:srgbClr val="00B050"/>
                </a:solidFill>
              </a:rPr>
              <a:t>的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地址，由于读的也是消息的地址，所以为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**p</a:t>
            </a:r>
            <a:endParaRPr lang="zh-CN" altLang="en-US" sz="1600" dirty="0"/>
          </a:p>
        </p:txBody>
      </p:sp>
      <p:sp>
        <p:nvSpPr>
          <p:cNvPr id="25" name="矩形 24"/>
          <p:cNvSpPr/>
          <p:nvPr/>
        </p:nvSpPr>
        <p:spPr>
          <a:xfrm>
            <a:off x="4495257" y="5535342"/>
            <a:ext cx="44935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solidFill>
                  <a:srgbClr val="00B050"/>
                </a:solidFill>
              </a:rPr>
              <a:t>读出消息的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长度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（有的版本不传地址，传内容）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69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消息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队列的使用方法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3898" y="750627"/>
            <a:ext cx="11064240" cy="4747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en-US" b="1" dirty="0" smtClean="0"/>
              <a:t>下边</a:t>
            </a:r>
            <a:r>
              <a:rPr lang="zh-CN" altLang="en-US" b="1" dirty="0"/>
              <a:t>我们以</a:t>
            </a:r>
            <a:r>
              <a:rPr lang="zh-CN" altLang="en-US" b="1" dirty="0">
                <a:solidFill>
                  <a:srgbClr val="C00000"/>
                </a:solidFill>
              </a:rPr>
              <a:t>不带</a:t>
            </a:r>
            <a:r>
              <a:rPr lang="zh-CN" altLang="en-US" b="1" dirty="0" smtClean="0">
                <a:solidFill>
                  <a:srgbClr val="C00000"/>
                </a:solidFill>
              </a:rPr>
              <a:t>拷贝读取</a:t>
            </a:r>
            <a:r>
              <a:rPr lang="zh-CN" altLang="en-US" b="1" dirty="0" smtClean="0"/>
              <a:t>为例进行讲解，带拷贝读取自行学习。读取函数如下：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 UINT32 </a:t>
            </a:r>
            <a:r>
              <a:rPr lang="en-US" altLang="zh-CN" sz="1600" b="1" dirty="0" err="1" smtClean="0"/>
              <a:t>LOS_QueueRead</a:t>
            </a:r>
            <a:r>
              <a:rPr lang="en-US" altLang="zh-CN" sz="1600" b="1" dirty="0" smtClean="0"/>
              <a:t>(     UINT32 </a:t>
            </a:r>
            <a:r>
              <a:rPr lang="en-US" altLang="zh-CN" sz="1600" b="1" dirty="0" err="1"/>
              <a:t>uwQueueID</a:t>
            </a:r>
            <a:r>
              <a:rPr lang="en-US" altLang="zh-CN" sz="1600" b="1" dirty="0"/>
              <a:t>,   </a:t>
            </a:r>
            <a:r>
              <a:rPr lang="en-US" altLang="zh-CN" sz="1600" b="1" dirty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要读取的</a:t>
            </a:r>
            <a:r>
              <a:rPr lang="zh-CN" altLang="en-US" sz="1600" b="1" dirty="0">
                <a:solidFill>
                  <a:srgbClr val="00B050"/>
                </a:solidFill>
              </a:rPr>
              <a:t>队列</a:t>
            </a:r>
            <a:r>
              <a:rPr lang="en-US" altLang="zh-CN" sz="1600" b="1" dirty="0">
                <a:solidFill>
                  <a:srgbClr val="00B050"/>
                </a:solidFill>
              </a:rPr>
              <a:t>ID</a:t>
            </a:r>
            <a:br>
              <a:rPr lang="en-US" altLang="zh-CN" sz="1600" b="1" dirty="0">
                <a:solidFill>
                  <a:srgbClr val="00B050"/>
                </a:solidFill>
              </a:rPr>
            </a:br>
            <a:r>
              <a:rPr lang="en-US" altLang="zh-CN" sz="1600" b="1" dirty="0"/>
              <a:t>                                                      VOID *</a:t>
            </a:r>
            <a:r>
              <a:rPr lang="en-US" altLang="zh-CN" sz="1600" b="1" dirty="0" err="1"/>
              <a:t>pBufferAddr</a:t>
            </a:r>
            <a:r>
              <a:rPr lang="en-US" altLang="zh-CN" sz="1600" b="1" dirty="0"/>
              <a:t>,    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读取消息要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存放到的缓冲区地址</a:t>
            </a:r>
            <a:r>
              <a:rPr lang="en-US" altLang="zh-CN" sz="1600" b="1" dirty="0"/>
              <a:t/>
            </a:r>
            <a:br>
              <a:rPr lang="en-US" altLang="zh-CN" sz="1600" b="1" dirty="0"/>
            </a:br>
            <a:r>
              <a:rPr lang="en-US" altLang="zh-CN" sz="1600" b="1" dirty="0"/>
              <a:t>                                                      UINT32 </a:t>
            </a:r>
            <a:r>
              <a:rPr lang="en-US" altLang="zh-CN" sz="1600" b="1" dirty="0" err="1"/>
              <a:t>uwBufferSize</a:t>
            </a:r>
            <a:r>
              <a:rPr lang="en-US" altLang="zh-CN" sz="1600" b="1" dirty="0"/>
              <a:t>,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消息的大小，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不能小于创建队列时设定的长度</a:t>
            </a:r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altLang="zh-CN" sz="1600" b="1" dirty="0"/>
              <a:t>                                                      UINT32 </a:t>
            </a:r>
            <a:r>
              <a:rPr lang="en-US" altLang="zh-CN" sz="1600" b="1" dirty="0" err="1"/>
              <a:t>uwTimeOut</a:t>
            </a:r>
            <a:r>
              <a:rPr lang="en-US" altLang="zh-CN" sz="1600" b="1" dirty="0"/>
              <a:t>);  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超时。分三种情况，不等待、等待一定时长、死等。</a:t>
            </a:r>
            <a:endParaRPr lang="en-US" altLang="zh-CN" sz="1600" b="1" dirty="0" smtClean="0">
              <a:solidFill>
                <a:srgbClr val="00B05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       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注：</a:t>
            </a: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uwTimeOut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的范围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0~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LOS_WAIT_FOREVER</a:t>
            </a:r>
            <a:r>
              <a:rPr lang="zh-CN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，单位为</a:t>
            </a:r>
            <a:r>
              <a:rPr lang="en-US" altLang="zh-CN" sz="16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tick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。</a:t>
            </a:r>
            <a:endParaRPr lang="en-US" altLang="zh-CN" sz="16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               0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：不等待；常数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n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：等待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n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个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tick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；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LOS_WAIT_FOREVER</a:t>
            </a:r>
            <a:r>
              <a:rPr lang="zh-CN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：永久等待（死等，不读入誓不罢休）</a:t>
            </a:r>
            <a:r>
              <a:rPr lang="en-US" altLang="zh-CN" sz="1600" b="1" dirty="0"/>
              <a:t/>
            </a:r>
            <a:br>
              <a:rPr lang="en-US" altLang="zh-CN" sz="1600" b="1" dirty="0"/>
            </a:br>
            <a:r>
              <a:rPr lang="en-US" altLang="zh-CN" sz="1600" b="1" dirty="0" smtClean="0"/>
              <a:t>                </a:t>
            </a:r>
            <a:endParaRPr lang="en-US" altLang="zh-CN" sz="1600" b="1" dirty="0" smtClean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例：</a:t>
            </a:r>
            <a:r>
              <a:rPr lang="en-US" altLang="zh-CN" sz="1600" b="1" dirty="0" smtClean="0"/>
              <a:t>UINT32   </a:t>
            </a:r>
            <a:r>
              <a:rPr lang="en-US" altLang="zh-CN" sz="1600" b="1" dirty="0" err="1" smtClean="0"/>
              <a:t>dataMsg</a:t>
            </a:r>
            <a:r>
              <a:rPr lang="en-US" altLang="zh-CN" sz="1600" b="1" dirty="0" smtClean="0"/>
              <a:t>;         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定义一个消息缓冲区</a:t>
            </a:r>
            <a:endParaRPr lang="en-US" altLang="zh-CN" sz="1600" b="1" dirty="0" smtClean="0">
              <a:solidFill>
                <a:srgbClr val="00B05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rgbClr val="00B050"/>
                </a:solidFill>
              </a:rPr>
              <a:t>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      </a:t>
            </a:r>
            <a:r>
              <a:rPr lang="en-US" altLang="zh-CN" sz="1600" b="1" dirty="0" err="1" smtClean="0"/>
              <a:t>LOS_QueueRead</a:t>
            </a:r>
            <a:r>
              <a:rPr lang="en-US" altLang="zh-CN" sz="1600" b="1" dirty="0" smtClean="0"/>
              <a:t>(</a:t>
            </a:r>
            <a:r>
              <a:rPr lang="en-US" altLang="zh-CN" sz="1600" b="1" dirty="0" err="1" smtClean="0"/>
              <a:t>Queue_Handle</a:t>
            </a:r>
            <a:r>
              <a:rPr lang="en-US" altLang="zh-CN" sz="1600" b="1" dirty="0" smtClean="0"/>
              <a:t>,    //</a:t>
            </a:r>
            <a:r>
              <a:rPr lang="zh-CN" altLang="en-US" sz="1600" b="1" dirty="0" smtClean="0"/>
              <a:t>队列</a:t>
            </a:r>
            <a:r>
              <a:rPr lang="en-US" altLang="zh-CN" sz="1600" b="1" dirty="0" smtClean="0"/>
              <a:t>ID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                              &amp; </a:t>
            </a:r>
            <a:r>
              <a:rPr lang="en-US" altLang="zh-CN" sz="1600" b="1" dirty="0" err="1"/>
              <a:t>dataMsg</a:t>
            </a:r>
            <a:r>
              <a:rPr lang="en-US" altLang="zh-CN" sz="1600" b="1" dirty="0" smtClean="0"/>
              <a:t>,          //</a:t>
            </a:r>
            <a:r>
              <a:rPr lang="zh-CN" altLang="en-US" sz="1600" b="1" dirty="0" smtClean="0"/>
              <a:t>把消息读入</a:t>
            </a:r>
            <a:r>
              <a:rPr lang="en-US" altLang="zh-CN" sz="1600" b="1" dirty="0" err="1" smtClean="0"/>
              <a:t>dataMsg</a:t>
            </a:r>
            <a:endParaRPr lang="en-US" altLang="zh-CN" sz="1600" b="1" dirty="0"/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                               </a:t>
            </a:r>
            <a:r>
              <a:rPr lang="en-US" altLang="zh-CN" sz="1600" b="1" dirty="0" err="1" smtClean="0"/>
              <a:t>sizeof</a:t>
            </a:r>
            <a:r>
              <a:rPr lang="en-US" altLang="zh-CN" sz="1600" b="1" dirty="0" smtClean="0"/>
              <a:t>(UINT32) ,   //</a:t>
            </a:r>
            <a:r>
              <a:rPr lang="zh-CN" altLang="en-US" sz="1600" b="1" dirty="0" smtClean="0"/>
              <a:t>消息的大小（</a:t>
            </a:r>
            <a:r>
              <a:rPr lang="zh-CN" altLang="en-US" sz="1600" b="1" dirty="0" smtClean="0">
                <a:solidFill>
                  <a:srgbClr val="566BD8"/>
                </a:solidFill>
              </a:rPr>
              <a:t>此处应该不小于消息节点的设定大小，否则报错</a:t>
            </a:r>
            <a:r>
              <a:rPr lang="zh-CN" altLang="en-US" sz="1600" b="1" dirty="0" smtClean="0"/>
              <a:t>）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                              100);                     //</a:t>
            </a:r>
            <a:r>
              <a:rPr lang="zh-CN" altLang="en-US" sz="1600" b="1" dirty="0" smtClean="0"/>
              <a:t>等待</a:t>
            </a:r>
            <a:r>
              <a:rPr lang="en-US" altLang="zh-CN" sz="1600" b="1" dirty="0" smtClean="0"/>
              <a:t>100</a:t>
            </a:r>
            <a:r>
              <a:rPr lang="zh-CN" altLang="en-US" sz="1600" b="1" dirty="0" smtClean="0"/>
              <a:t>个</a:t>
            </a:r>
            <a:r>
              <a:rPr lang="en-US" altLang="zh-CN" sz="1600" b="1" dirty="0" smtClean="0"/>
              <a:t>tick</a:t>
            </a:r>
            <a:r>
              <a:rPr lang="zh-CN" altLang="en-US" sz="1600" b="1" dirty="0" smtClean="0"/>
              <a:t>。如果消息读入失败（队列空了），直接跳过。</a:t>
            </a:r>
            <a:r>
              <a:rPr lang="en-US" altLang="zh-CN" sz="1600" b="1" dirty="0"/>
              <a:t/>
            </a:r>
            <a:br>
              <a:rPr lang="en-US" altLang="zh-CN" sz="1600" b="1" dirty="0"/>
            </a:br>
            <a:endParaRPr lang="en-US" altLang="zh-CN" sz="1600" b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49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消息队列使用示例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808816"/>
            <a:ext cx="636754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/>
              <a:t>      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本示例只给出主要框架，详细代码自己完成</a:t>
            </a:r>
            <a:r>
              <a:rPr lang="zh-CN" altLang="en-US" sz="1400" b="1" dirty="0" smtClean="0"/>
              <a:t>。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</a:t>
            </a:r>
            <a:r>
              <a:rPr lang="zh-CN" altLang="en-US" sz="1400" b="1" dirty="0" smtClean="0"/>
              <a:t>①头文件      </a:t>
            </a:r>
            <a:r>
              <a:rPr lang="en-US" altLang="zh-CN" sz="1400" b="1" dirty="0" smtClean="0"/>
              <a:t>			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略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r>
              <a:rPr lang="zh-CN" altLang="en-US" sz="1400" b="1" dirty="0" smtClean="0"/>
              <a:t>      ②定义全局变量</a:t>
            </a:r>
            <a:endParaRPr lang="en-US" altLang="zh-CN" sz="1400" b="1" dirty="0" smtClean="0"/>
          </a:p>
          <a:p>
            <a:r>
              <a:rPr lang="en-US" altLang="zh-CN" sz="1600" b="1" dirty="0"/>
              <a:t> </a:t>
            </a:r>
            <a:r>
              <a:rPr lang="en-US" altLang="zh-CN" sz="1600" b="1" dirty="0" smtClean="0"/>
              <a:t>        </a:t>
            </a:r>
            <a:r>
              <a:rPr lang="en-US" altLang="zh-CN" sz="1400" b="1" dirty="0"/>
              <a:t>UINT32 </a:t>
            </a:r>
            <a:r>
              <a:rPr lang="en-US" altLang="zh-CN" sz="1400" b="1" dirty="0" smtClean="0"/>
              <a:t> </a:t>
            </a:r>
            <a:r>
              <a:rPr lang="en-US" altLang="zh-CN" sz="1400" b="1" dirty="0" err="1" smtClean="0"/>
              <a:t>Receive_Task_Handle</a:t>
            </a:r>
            <a:r>
              <a:rPr lang="en-US" altLang="zh-CN" sz="1400" b="1" dirty="0" smtClean="0"/>
              <a:t>; </a:t>
            </a:r>
            <a:r>
              <a:rPr lang="en-US" altLang="zh-CN" sz="1400" b="1" dirty="0" smtClean="0"/>
              <a:t>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接收消息的</a:t>
            </a:r>
            <a:r>
              <a:rPr lang="zh-CN" altLang="en-US" sz="1400" b="1" dirty="0" smtClean="0">
                <a:solidFill>
                  <a:srgbClr val="C00000"/>
                </a:solidFill>
              </a:rPr>
              <a:t>任务句柄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（或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ID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）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 smtClean="0"/>
              <a:t>          UINT32  </a:t>
            </a:r>
            <a:r>
              <a:rPr lang="en-US" altLang="zh-CN" sz="1400" b="1" dirty="0" err="1" smtClean="0"/>
              <a:t>Send_Task_Handle</a:t>
            </a:r>
            <a:r>
              <a:rPr lang="en-US" altLang="zh-CN" sz="1400" b="1" dirty="0"/>
              <a:t>; </a:t>
            </a:r>
            <a:r>
              <a:rPr lang="en-US" altLang="zh-CN" sz="1400" b="1" dirty="0" smtClean="0"/>
              <a:t>       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发送消息的</a:t>
            </a:r>
            <a:r>
              <a:rPr lang="zh-CN" altLang="en-US" sz="1400" b="1" dirty="0">
                <a:solidFill>
                  <a:srgbClr val="C00000"/>
                </a:solidFill>
              </a:rPr>
              <a:t>任务句柄</a:t>
            </a:r>
            <a:r>
              <a:rPr lang="zh-CN" altLang="en-US" sz="1400" b="1" dirty="0">
                <a:solidFill>
                  <a:srgbClr val="00B050"/>
                </a:solidFill>
              </a:rPr>
              <a:t>（或</a:t>
            </a:r>
            <a:r>
              <a:rPr lang="en-US" altLang="zh-CN" sz="1400" b="1" dirty="0">
                <a:solidFill>
                  <a:srgbClr val="00B050"/>
                </a:solidFill>
              </a:rPr>
              <a:t>ID</a:t>
            </a:r>
            <a:r>
              <a:rPr lang="zh-CN" altLang="en-US" sz="1400" b="1" dirty="0">
                <a:solidFill>
                  <a:srgbClr val="00B050"/>
                </a:solidFill>
              </a:rPr>
              <a:t>）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 smtClean="0">
                <a:solidFill>
                  <a:srgbClr val="000000"/>
                </a:solidFill>
              </a:rPr>
              <a:t>          </a:t>
            </a:r>
            <a:r>
              <a:rPr lang="en-US" altLang="zh-CN" sz="1400" b="1" dirty="0"/>
              <a:t>UINT32 </a:t>
            </a:r>
            <a:r>
              <a:rPr lang="en-US" altLang="zh-CN" sz="1400" b="1" dirty="0" err="1" smtClean="0"/>
              <a:t>Queue_Handle</a:t>
            </a:r>
            <a:r>
              <a:rPr lang="en-US" altLang="zh-CN" sz="1400" b="1" dirty="0"/>
              <a:t>; </a:t>
            </a:r>
            <a:r>
              <a:rPr lang="en-US" altLang="zh-CN" sz="1400" b="1" dirty="0" smtClean="0"/>
              <a:t>              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消息</a:t>
            </a:r>
            <a:r>
              <a:rPr lang="zh-CN" altLang="en-US" sz="1400" b="1" dirty="0">
                <a:solidFill>
                  <a:srgbClr val="C00000"/>
                </a:solidFill>
              </a:rPr>
              <a:t>队列句柄</a:t>
            </a:r>
            <a:r>
              <a:rPr lang="zh-CN" altLang="en-US" sz="1400" b="1" dirty="0">
                <a:solidFill>
                  <a:srgbClr val="00B050"/>
                </a:solidFill>
              </a:rPr>
              <a:t>（或</a:t>
            </a:r>
            <a:r>
              <a:rPr lang="en-US" altLang="zh-CN" sz="1400" b="1" dirty="0">
                <a:solidFill>
                  <a:srgbClr val="00B050"/>
                </a:solidFill>
              </a:rPr>
              <a:t>ID</a:t>
            </a:r>
            <a:r>
              <a:rPr lang="zh-CN" altLang="en-US" sz="1400" b="1" dirty="0">
                <a:solidFill>
                  <a:srgbClr val="00B050"/>
                </a:solidFill>
              </a:rPr>
              <a:t>）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>
                <a:solidFill>
                  <a:srgbClr val="00B050"/>
                </a:solidFill>
              </a:rPr>
              <a:t>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       </a:t>
            </a:r>
            <a:r>
              <a:rPr lang="en-US" altLang="zh-CN" sz="1400" b="1" dirty="0">
                <a:solidFill>
                  <a:srgbClr val="00B050"/>
                </a:solidFill>
              </a:rPr>
              <a:t>#define TEST_QUEUE_LEN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 16          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消息队列长度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 smtClean="0">
                <a:solidFill>
                  <a:srgbClr val="00B050"/>
                </a:solidFill>
              </a:rPr>
              <a:t>  //       #</a:t>
            </a:r>
            <a:r>
              <a:rPr lang="en-US" altLang="zh-CN" sz="1400" b="1" dirty="0">
                <a:solidFill>
                  <a:srgbClr val="00B050"/>
                </a:solidFill>
              </a:rPr>
              <a:t>define TEST_QUEUE_SIZE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16          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消息大小（最大）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600" b="1" dirty="0" smtClean="0"/>
              <a:t>     </a:t>
            </a:r>
            <a:r>
              <a:rPr lang="zh-CN" altLang="en-US" sz="1400" b="1" dirty="0" smtClean="0"/>
              <a:t>③函数声明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包括应用创建函数、任务创建函数、任务函数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zh-CN" altLang="en-US" sz="1400" b="1" dirty="0" smtClean="0"/>
              <a:t>      ④</a:t>
            </a:r>
            <a:r>
              <a:rPr lang="en-US" altLang="zh-CN" sz="1400" b="1" dirty="0" smtClean="0"/>
              <a:t>main</a:t>
            </a:r>
            <a:r>
              <a:rPr lang="zh-CN" altLang="en-US" sz="1400" b="1" dirty="0" smtClean="0"/>
              <a:t>函数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main{</a:t>
            </a:r>
          </a:p>
          <a:p>
            <a:r>
              <a:rPr lang="en-US" altLang="zh-CN" sz="1400" b="1" dirty="0" smtClean="0"/>
              <a:t>                    …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定义局部变量，板级初始化等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</a:t>
            </a:r>
            <a:r>
              <a:rPr lang="en-US" altLang="zh-CN" sz="1400" b="1" dirty="0" err="1"/>
              <a:t>LOS_KernelInit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内核初始化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smtClean="0"/>
              <a:t>…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</a:t>
            </a:r>
            <a:r>
              <a:rPr lang="en-US" altLang="zh-CN" sz="1400" b="1" dirty="0" err="1"/>
              <a:t>AppTaskCreate</a:t>
            </a:r>
            <a:r>
              <a:rPr lang="en-US" altLang="zh-CN" sz="1400" b="1" dirty="0"/>
              <a:t>(); </a:t>
            </a:r>
            <a:br>
              <a:rPr lang="en-US" altLang="zh-CN" sz="1400" b="1" dirty="0"/>
            </a:br>
            <a:r>
              <a:rPr lang="en-US" altLang="zh-CN" sz="1400" b="1" dirty="0"/>
              <a:t>                    </a:t>
            </a:r>
            <a:r>
              <a:rPr lang="en-US" altLang="zh-CN" sz="1400" b="1" dirty="0" smtClean="0"/>
              <a:t>…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LOS_Start</a:t>
            </a:r>
            <a:r>
              <a:rPr lang="en-US" altLang="zh-CN" sz="1400" b="1" dirty="0" smtClean="0"/>
              <a:t>();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启动任务调度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 smtClean="0"/>
              <a:t>                    …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    }</a:t>
            </a:r>
          </a:p>
          <a:p>
            <a:r>
              <a:rPr lang="zh-CN" altLang="en-US" sz="1400" b="1" dirty="0" smtClean="0"/>
              <a:t>      ⑤应用创建函数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</a:t>
            </a:r>
            <a:r>
              <a:rPr lang="en-US" altLang="zh-CN" sz="1400" b="1" dirty="0" err="1"/>
              <a:t>AppTaskCreate</a:t>
            </a:r>
            <a:r>
              <a:rPr lang="en-US" altLang="zh-CN" sz="1400" b="1" dirty="0" smtClean="0"/>
              <a:t>()</a:t>
            </a:r>
            <a:r>
              <a:rPr lang="en-US" altLang="zh-CN" sz="1400" b="1" dirty="0"/>
              <a:t> {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LOS_QueueCreate</a:t>
            </a:r>
            <a:r>
              <a:rPr lang="en-US" altLang="zh-CN" sz="1400" b="1" dirty="0"/>
              <a:t>("</a:t>
            </a:r>
            <a:r>
              <a:rPr lang="en-US" altLang="zh-CN" sz="1400" b="1" dirty="0" err="1"/>
              <a:t>Test_Queue</a:t>
            </a:r>
            <a:r>
              <a:rPr lang="en-US" altLang="zh-CN" sz="1400" b="1" dirty="0"/>
              <a:t>", </a:t>
            </a:r>
            <a:r>
              <a:rPr lang="en-US" altLang="zh-CN" sz="1400" b="1" dirty="0" smtClean="0"/>
              <a:t>16, &amp;</a:t>
            </a:r>
            <a:r>
              <a:rPr lang="en-US" altLang="zh-CN" sz="1400" b="1" dirty="0" err="1" smtClean="0"/>
              <a:t>Queue_Handle</a:t>
            </a:r>
            <a:r>
              <a:rPr lang="en-US" altLang="zh-CN" sz="1400" b="1" dirty="0"/>
              <a:t>, </a:t>
            </a:r>
            <a:r>
              <a:rPr lang="en-US" altLang="zh-CN" sz="1400" b="1" dirty="0" smtClean="0"/>
              <a:t>0</a:t>
            </a:r>
            <a:r>
              <a:rPr lang="en-US" altLang="zh-CN" sz="1400" b="1" dirty="0"/>
              <a:t>, </a:t>
            </a:r>
            <a:r>
              <a:rPr lang="en-US" altLang="zh-CN" sz="1400" b="1" dirty="0" smtClean="0"/>
              <a:t>16); </a:t>
            </a:r>
          </a:p>
          <a:p>
            <a:r>
              <a:rPr lang="en-US" altLang="zh-CN" sz="1400" b="1" dirty="0" smtClean="0"/>
              <a:t>             </a:t>
            </a:r>
            <a:r>
              <a:rPr lang="en-US" altLang="zh-CN" sz="1400" b="1" dirty="0" err="1" smtClean="0"/>
              <a:t>Creat_Receive_Task</a:t>
            </a:r>
            <a:r>
              <a:rPr lang="en-US" altLang="zh-CN" sz="1400" b="1" dirty="0" smtClean="0"/>
              <a:t>();</a:t>
            </a:r>
          </a:p>
          <a:p>
            <a:r>
              <a:rPr lang="en-US" altLang="zh-CN" sz="1400" b="1" dirty="0"/>
              <a:t>             </a:t>
            </a:r>
            <a:r>
              <a:rPr lang="en-US" altLang="zh-CN" sz="1400" b="1" dirty="0" err="1"/>
              <a:t>Creat_Send_Task</a:t>
            </a:r>
            <a:r>
              <a:rPr lang="en-US" altLang="zh-CN" sz="1400" b="1" dirty="0"/>
              <a:t>();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        }</a:t>
            </a:r>
          </a:p>
          <a:p>
            <a:r>
              <a:rPr lang="zh-CN" altLang="en-US" sz="1400" b="1" dirty="0" smtClean="0"/>
              <a:t>      ⑥任务创建函数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略</a:t>
            </a:r>
            <a:r>
              <a:rPr lang="en-US" altLang="zh-CN" sz="1400" b="1" dirty="0" smtClean="0"/>
              <a:t>     </a:t>
            </a:r>
            <a:endParaRPr lang="en-US" altLang="zh-CN" sz="1400" b="1" dirty="0" smtClean="0">
              <a:solidFill>
                <a:srgbClr val="00B05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09607" y="808816"/>
            <a:ext cx="572747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⑦接收消息的任务函数</a:t>
            </a:r>
            <a:r>
              <a:rPr lang="en-US" altLang="zh-CN" sz="1600" b="1" dirty="0" err="1"/>
              <a:t>Receive_Task</a:t>
            </a:r>
            <a:r>
              <a:rPr lang="zh-CN" altLang="en-US" sz="1600" b="1" dirty="0"/>
              <a:t>（）</a:t>
            </a:r>
            <a:endParaRPr lang="en-US" altLang="zh-CN" sz="1600" b="1" dirty="0"/>
          </a:p>
          <a:p>
            <a:r>
              <a:rPr lang="en-US" altLang="zh-CN" b="1" dirty="0"/>
              <a:t>   </a:t>
            </a:r>
            <a:r>
              <a:rPr lang="en-US" altLang="zh-CN" sz="1400" b="1" dirty="0" err="1"/>
              <a:t>Receive_Task</a:t>
            </a:r>
            <a:r>
              <a:rPr lang="zh-CN" altLang="en-US" sz="1400" b="1" dirty="0"/>
              <a:t>（）</a:t>
            </a:r>
            <a:r>
              <a:rPr lang="en-US" altLang="zh-CN" sz="1400" b="1" dirty="0"/>
              <a:t>{</a:t>
            </a:r>
          </a:p>
          <a:p>
            <a:r>
              <a:rPr lang="en-US" altLang="zh-CN" sz="1400" b="1" dirty="0"/>
              <a:t>       UINT32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LOS_OK;</a:t>
            </a:r>
          </a:p>
          <a:p>
            <a:r>
              <a:rPr lang="en-US" altLang="zh-CN" sz="1400" b="1" dirty="0"/>
              <a:t>       UINT32   * </a:t>
            </a:r>
            <a:r>
              <a:rPr lang="en-US" altLang="zh-CN" sz="1400" b="1" dirty="0" err="1"/>
              <a:t>r_queue</a:t>
            </a:r>
            <a:r>
              <a:rPr lang="en-US" altLang="zh-CN" sz="1400" b="1" dirty="0" smtClean="0"/>
              <a:t>;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 //</a:t>
            </a:r>
            <a:r>
              <a:rPr lang="zh-CN" altLang="en-US" sz="1400" b="1" dirty="0">
                <a:solidFill>
                  <a:srgbClr val="00B050"/>
                </a:solidFill>
              </a:rPr>
              <a:t>定义接收消息的缓冲区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</a:t>
            </a:r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while </a:t>
            </a:r>
            <a:r>
              <a:rPr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(1) {</a:t>
            </a:r>
          </a:p>
          <a:p>
            <a:r>
              <a:rPr lang="en-US" altLang="zh-CN" sz="1400" b="1" dirty="0" smtClean="0"/>
              <a:t>       </a:t>
            </a:r>
            <a:r>
              <a:rPr lang="en-US" altLang="zh-CN" sz="1400" b="1" dirty="0" err="1" smtClean="0"/>
              <a:t>uwRet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= </a:t>
            </a:r>
            <a:r>
              <a:rPr lang="en-US" altLang="zh-CN" sz="1400" b="1" dirty="0" err="1" smtClean="0"/>
              <a:t>LOS_QueueRead</a:t>
            </a:r>
            <a:r>
              <a:rPr lang="en-US" altLang="zh-CN" sz="1400" b="1" dirty="0" smtClean="0"/>
              <a:t>(</a:t>
            </a:r>
            <a:r>
              <a:rPr lang="en-US" altLang="zh-CN" sz="1400" b="1" dirty="0" err="1" smtClean="0"/>
              <a:t>Queue_Handle</a:t>
            </a:r>
            <a:r>
              <a:rPr lang="en-US" altLang="zh-CN" sz="1400" b="1" dirty="0"/>
              <a:t>, 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                                               &amp;</a:t>
            </a:r>
            <a:r>
              <a:rPr lang="en-US" altLang="zh-CN" sz="1400" b="1" dirty="0" err="1"/>
              <a:t>r_queue</a:t>
            </a:r>
            <a:r>
              <a:rPr lang="en-US" altLang="zh-CN" sz="1400" b="1" dirty="0"/>
              <a:t>, </a:t>
            </a:r>
          </a:p>
          <a:p>
            <a:r>
              <a:rPr lang="en-US" altLang="zh-CN" sz="1400" b="1" dirty="0" smtClean="0"/>
              <a:t>                                                             16, 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                                               LOS_WAIT_FOREVER</a:t>
            </a:r>
            <a:r>
              <a:rPr lang="en-US" altLang="zh-CN" sz="1400" b="1" dirty="0"/>
              <a:t>); 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       if </a:t>
            </a:r>
            <a:r>
              <a:rPr lang="en-US" altLang="zh-CN" sz="1400" b="1" dirty="0"/>
              <a:t>(LOS_OK ==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) </a:t>
            </a:r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printf</a:t>
            </a:r>
            <a:r>
              <a:rPr lang="en-US" altLang="zh-CN" sz="1400" b="1" dirty="0" smtClean="0"/>
              <a:t>(“</a:t>
            </a:r>
            <a:r>
              <a:rPr lang="zh-CN" altLang="en-US" sz="1400" b="1" dirty="0" smtClean="0"/>
              <a:t>本次读取的消息是</a:t>
            </a:r>
            <a:r>
              <a:rPr lang="en-US" altLang="zh-CN" sz="1400" b="1" dirty="0"/>
              <a:t>%x\n",*</a:t>
            </a:r>
            <a:r>
              <a:rPr lang="en-US" altLang="zh-CN" sz="1400" b="1" dirty="0" err="1"/>
              <a:t>r_queue</a:t>
            </a:r>
            <a:r>
              <a:rPr lang="en-US" altLang="zh-CN" sz="1400" b="1" dirty="0"/>
              <a:t>);</a:t>
            </a:r>
          </a:p>
          <a:p>
            <a:r>
              <a:rPr lang="en-US" altLang="zh-CN" sz="1400" b="1" dirty="0" smtClean="0"/>
              <a:t>       else</a:t>
            </a:r>
            <a:endParaRPr lang="en-US" altLang="zh-CN" sz="1400" b="1" dirty="0"/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printf</a:t>
            </a:r>
            <a:r>
              <a:rPr lang="en-US" altLang="zh-CN" sz="1400" b="1" dirty="0" smtClean="0"/>
              <a:t>(“</a:t>
            </a:r>
            <a:r>
              <a:rPr lang="zh-CN" altLang="en-US" sz="1400" b="1" dirty="0" smtClean="0"/>
              <a:t>消息读取出错</a:t>
            </a:r>
            <a:r>
              <a:rPr lang="en-US" altLang="zh-CN" sz="1400" b="1" dirty="0"/>
              <a:t>,</a:t>
            </a:r>
            <a:r>
              <a:rPr lang="zh-CN" altLang="en-US" sz="1400" b="1" dirty="0"/>
              <a:t>错误代码 </a:t>
            </a:r>
            <a:r>
              <a:rPr lang="en-US" altLang="zh-CN" sz="1400" b="1" dirty="0"/>
              <a:t>0x%X\n",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);</a:t>
            </a:r>
          </a:p>
          <a:p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}</a:t>
            </a:r>
          </a:p>
          <a:p>
            <a:r>
              <a:rPr lang="en-US" altLang="zh-CN" sz="1400" b="1" dirty="0" smtClean="0"/>
              <a:t>     }</a:t>
            </a:r>
            <a:endParaRPr lang="en-US" altLang="zh-CN" sz="1400" b="1" dirty="0"/>
          </a:p>
          <a:p>
            <a:r>
              <a:rPr lang="zh-CN" altLang="en-US" b="1" dirty="0" smtClean="0"/>
              <a:t>⑧</a:t>
            </a:r>
            <a:r>
              <a:rPr lang="zh-CN" altLang="en-US" sz="1600" b="1" dirty="0"/>
              <a:t>写入消息的任务函数</a:t>
            </a:r>
            <a:r>
              <a:rPr lang="en-US" altLang="zh-CN" sz="1600" b="1" dirty="0" err="1"/>
              <a:t>Send_Task</a:t>
            </a:r>
            <a:r>
              <a:rPr lang="zh-CN" altLang="en-US" sz="1600" b="1" dirty="0"/>
              <a:t>（）</a:t>
            </a:r>
            <a:endParaRPr lang="en-US" altLang="zh-CN" sz="1600" b="1" dirty="0"/>
          </a:p>
          <a:p>
            <a:r>
              <a:rPr lang="en-US" altLang="zh-CN" sz="1400" b="1" dirty="0" smtClean="0"/>
              <a:t>  </a:t>
            </a:r>
            <a:r>
              <a:rPr lang="en-US" altLang="zh-CN" sz="1400" b="1" dirty="0" err="1" smtClean="0"/>
              <a:t>Send_Task</a:t>
            </a:r>
            <a:r>
              <a:rPr lang="zh-CN" altLang="en-US" sz="1400" b="1" dirty="0"/>
              <a:t>（）</a:t>
            </a:r>
            <a:r>
              <a:rPr lang="en-US" altLang="zh-CN" sz="1400" b="1" dirty="0"/>
              <a:t>{</a:t>
            </a:r>
          </a:p>
          <a:p>
            <a:r>
              <a:rPr lang="en-US" altLang="zh-CN" sz="1400" b="1" dirty="0"/>
              <a:t>       UINT32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LOS_OK;</a:t>
            </a:r>
          </a:p>
          <a:p>
            <a:r>
              <a:rPr lang="en-US" altLang="zh-CN" sz="1400" b="1" dirty="0"/>
              <a:t>       UINT32   </a:t>
            </a:r>
            <a:r>
              <a:rPr lang="en-US" altLang="zh-CN" sz="1400" b="1" dirty="0" smtClean="0"/>
              <a:t>dataMsg1= 1</a:t>
            </a:r>
            <a:r>
              <a:rPr lang="zh-CN" altLang="en-US" sz="1400" b="1" dirty="0" smtClean="0"/>
              <a:t>，</a:t>
            </a:r>
            <a:r>
              <a:rPr lang="en-US" altLang="zh-CN" sz="1400" b="1" dirty="0"/>
              <a:t> </a:t>
            </a:r>
            <a:r>
              <a:rPr lang="en-US" altLang="zh-CN" sz="1400" b="1" dirty="0" smtClean="0"/>
              <a:t>dataMsg2= 2;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定义消息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1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、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2</a:t>
            </a:r>
            <a:endParaRPr lang="zh-CN" altLang="en-US" sz="1400" b="1" dirty="0">
              <a:solidFill>
                <a:srgbClr val="00B050"/>
              </a:solidFill>
            </a:endParaRPr>
          </a:p>
          <a:p>
            <a:r>
              <a:rPr lang="zh-CN" altLang="en-US" sz="1400" b="1" dirty="0"/>
              <a:t>        </a:t>
            </a:r>
            <a:r>
              <a:rPr lang="en-US" altLang="zh-CN" sz="1400" b="1" dirty="0"/>
              <a:t>while (1) </a:t>
            </a:r>
            <a:r>
              <a:rPr lang="en-US" altLang="zh-CN" sz="1400" b="1" dirty="0" smtClean="0"/>
              <a:t>{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if(key1)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按键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1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按下发送消息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1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</a:t>
            </a:r>
            <a:r>
              <a:rPr lang="en-US" altLang="zh-CN" sz="1400" b="1" dirty="0" smtClean="0"/>
              <a:t> </a:t>
            </a:r>
            <a:r>
              <a:rPr lang="en-US" altLang="zh-CN" sz="1400" b="1" dirty="0" err="1" smtClean="0"/>
              <a:t>LOS_QueueWrite</a:t>
            </a:r>
            <a:r>
              <a:rPr lang="en-US" altLang="zh-CN" sz="1400" b="1" dirty="0" smtClean="0"/>
              <a:t>(</a:t>
            </a:r>
            <a:r>
              <a:rPr lang="en-US" altLang="zh-CN" sz="1400" b="1" dirty="0" err="1" smtClean="0"/>
              <a:t>Queue_Handle</a:t>
            </a:r>
            <a:r>
              <a:rPr lang="en-US" altLang="zh-CN" sz="1400" b="1" dirty="0"/>
              <a:t>, </a:t>
            </a:r>
            <a:r>
              <a:rPr lang="en-US" altLang="zh-CN" sz="1400" b="1" dirty="0" smtClean="0"/>
              <a:t>&amp;dataMsg1, 16,0); 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if(key2)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按键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2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按下</a:t>
            </a:r>
            <a:r>
              <a:rPr lang="zh-CN" altLang="en-US" sz="1400" b="1" dirty="0">
                <a:solidFill>
                  <a:srgbClr val="00B050"/>
                </a:solidFill>
              </a:rPr>
              <a:t>发送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消息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2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</a:t>
            </a:r>
            <a:r>
              <a:rPr lang="en-US" altLang="zh-CN" sz="1400" b="1" dirty="0" err="1"/>
              <a:t>LOS_QueueWrite</a:t>
            </a:r>
            <a:r>
              <a:rPr lang="en-US" altLang="zh-CN" sz="1400" b="1" dirty="0"/>
              <a:t>(</a:t>
            </a:r>
            <a:r>
              <a:rPr lang="en-US" altLang="zh-CN" sz="1400" b="1" dirty="0" err="1"/>
              <a:t>Queue_Handle</a:t>
            </a:r>
            <a:r>
              <a:rPr lang="en-US" altLang="zh-CN" sz="1400" b="1" dirty="0"/>
              <a:t>, &amp;</a:t>
            </a:r>
            <a:r>
              <a:rPr lang="en-US" altLang="zh-CN" sz="1400" b="1" dirty="0" smtClean="0"/>
              <a:t>dataMsg2, </a:t>
            </a:r>
            <a:r>
              <a:rPr lang="en-US" altLang="zh-CN" sz="1400" b="1" dirty="0"/>
              <a:t>16,0); 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    }</a:t>
            </a:r>
            <a:endParaRPr lang="en-US" altLang="zh-CN" sz="1400" b="1" dirty="0"/>
          </a:p>
          <a:p>
            <a:r>
              <a:rPr lang="en-US" altLang="zh-CN" sz="1400" b="1" dirty="0" smtClean="0"/>
              <a:t>}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49659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消息队列的删除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5389" y="750627"/>
            <a:ext cx="110642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消息队列占用空间，如果不再使用消息队列，可以删除消息队列，并回收存储空间。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删除队列需满足：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、</a:t>
            </a:r>
            <a:r>
              <a:rPr lang="zh-CN" altLang="en-US" b="1" dirty="0" smtClean="0">
                <a:solidFill>
                  <a:srgbClr val="C00000"/>
                </a:solidFill>
              </a:rPr>
              <a:t>队列存在</a:t>
            </a:r>
            <a:r>
              <a:rPr lang="zh-CN" altLang="en-US" b="1" dirty="0" smtClean="0"/>
              <a:t>；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、队列没有</a:t>
            </a:r>
            <a:r>
              <a:rPr lang="zh-CN" altLang="en-US" b="1" dirty="0" smtClean="0">
                <a:solidFill>
                  <a:srgbClr val="C00000"/>
                </a:solidFill>
              </a:rPr>
              <a:t>正在</a:t>
            </a:r>
            <a:r>
              <a:rPr lang="zh-CN" altLang="en-US" b="1" dirty="0" smtClean="0">
                <a:solidFill>
                  <a:srgbClr val="C00000"/>
                </a:solidFill>
              </a:rPr>
              <a:t>使用（</a:t>
            </a:r>
            <a:r>
              <a:rPr lang="zh-CN" altLang="en-US" b="1" dirty="0" smtClean="0"/>
              <a:t>任务</a:t>
            </a:r>
            <a:r>
              <a:rPr lang="zh-CN" altLang="en-US" b="1" dirty="0"/>
              <a:t>正在执行对队列的读写</a:t>
            </a:r>
            <a:r>
              <a:rPr lang="zh-CN" altLang="en-US" b="1" dirty="0" smtClean="0"/>
              <a:t>操作）</a:t>
            </a:r>
            <a:r>
              <a:rPr lang="zh-CN" altLang="en-US" b="1" dirty="0" smtClean="0"/>
              <a:t>或</a:t>
            </a:r>
            <a:r>
              <a:rPr lang="zh-CN" altLang="en-US" b="1" dirty="0" smtClean="0">
                <a:solidFill>
                  <a:srgbClr val="C00000"/>
                </a:solidFill>
              </a:rPr>
              <a:t>阻塞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endParaRPr lang="en-US" altLang="zh-CN" b="1" dirty="0" smtClean="0"/>
          </a:p>
          <a:p>
            <a:r>
              <a:rPr lang="zh-CN" altLang="en-US" b="1" dirty="0" smtClean="0"/>
              <a:t>删除队列函数如下：</a:t>
            </a:r>
            <a:endParaRPr lang="en-US" altLang="zh-CN" b="1" dirty="0" smtClean="0"/>
          </a:p>
          <a:p>
            <a:r>
              <a:rPr lang="en-US" altLang="zh-CN" b="1" dirty="0" smtClean="0"/>
              <a:t> </a:t>
            </a:r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extern </a:t>
            </a:r>
            <a:r>
              <a:rPr lang="en-US" altLang="zh-CN" b="1" dirty="0"/>
              <a:t>UINT32 </a:t>
            </a:r>
            <a:r>
              <a:rPr lang="en-US" altLang="zh-CN" b="1" dirty="0" err="1"/>
              <a:t>LOS_QueueDelete</a:t>
            </a:r>
            <a:r>
              <a:rPr lang="en-US" altLang="zh-CN" b="1" dirty="0"/>
              <a:t>(UINT32 </a:t>
            </a:r>
            <a:r>
              <a:rPr lang="en-US" altLang="zh-CN" b="1" dirty="0" err="1"/>
              <a:t>uwQueueID</a:t>
            </a:r>
            <a:r>
              <a:rPr lang="en-US" altLang="zh-CN" b="1" dirty="0"/>
              <a:t>); </a:t>
            </a:r>
            <a:r>
              <a:rPr lang="en-US" altLang="zh-CN" b="1" dirty="0" smtClean="0">
                <a:solidFill>
                  <a:srgbClr val="00B050"/>
                </a:solidFill>
              </a:rPr>
              <a:t>//</a:t>
            </a:r>
            <a:r>
              <a:rPr lang="zh-CN" altLang="en-US" b="1" dirty="0" smtClean="0">
                <a:solidFill>
                  <a:srgbClr val="00B050"/>
                </a:solidFill>
              </a:rPr>
              <a:t>根据队列</a:t>
            </a:r>
            <a:r>
              <a:rPr lang="en-US" altLang="zh-CN" b="1" dirty="0" smtClean="0">
                <a:solidFill>
                  <a:srgbClr val="00B050"/>
                </a:solidFill>
              </a:rPr>
              <a:t>ID</a:t>
            </a:r>
            <a:r>
              <a:rPr lang="zh-CN" altLang="en-US" b="1" dirty="0" smtClean="0">
                <a:solidFill>
                  <a:srgbClr val="00B050"/>
                </a:solidFill>
              </a:rPr>
              <a:t>来删除。</a:t>
            </a:r>
            <a:r>
              <a:rPr lang="en-US" altLang="zh-CN" b="1" dirty="0">
                <a:solidFill>
                  <a:srgbClr val="00B050"/>
                </a:solidFill>
              </a:rPr>
              <a:t/>
            </a:r>
            <a:br>
              <a:rPr lang="en-US" altLang="zh-CN" b="1" dirty="0">
                <a:solidFill>
                  <a:srgbClr val="00B050"/>
                </a:solidFill>
              </a:rPr>
            </a:br>
            <a:endParaRPr lang="en-US" altLang="zh-C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02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目录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D02CDF3-99CB-47D4-9923-DEE71CF4F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97" y="1102970"/>
            <a:ext cx="78867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</a:rPr>
              <a:t>消息队列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</a:rPr>
              <a:t>信号量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 smtClean="0">
                <a:solidFill>
                  <a:schemeClr val="tx1"/>
                </a:solidFill>
              </a:rPr>
              <a:t>互斥量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r>
              <a:rPr lang="zh-CN" altLang="en-US" sz="2400" b="1" dirty="0" smtClean="0">
                <a:solidFill>
                  <a:schemeClr val="tx1"/>
                </a:solidFill>
              </a:rPr>
              <a:t>事件</a:t>
            </a:r>
            <a:endParaRPr lang="en-US" altLang="zh-CN" sz="24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19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信号量的基本概念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7797" y="875345"/>
            <a:ext cx="10543309" cy="2237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信号量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）</a:t>
            </a:r>
            <a:r>
              <a:rPr lang="zh-CN" altLang="en-US" b="1" dirty="0"/>
              <a:t>一</a:t>
            </a:r>
            <a:r>
              <a:rPr lang="zh-CN" altLang="en-US" b="1" dirty="0" smtClean="0"/>
              <a:t>种实现任务</a:t>
            </a:r>
            <a:r>
              <a:rPr lang="zh-CN" altLang="en-US" b="1" dirty="0"/>
              <a:t>间</a:t>
            </a:r>
            <a:r>
              <a:rPr lang="zh-CN" altLang="en-US" b="1" dirty="0" smtClean="0"/>
              <a:t>通信的</a:t>
            </a:r>
            <a:r>
              <a:rPr lang="zh-CN" altLang="en-US" b="1" dirty="0"/>
              <a:t>机制</a:t>
            </a:r>
            <a:r>
              <a:rPr lang="zh-CN" altLang="en-US" b="1" dirty="0" smtClean="0"/>
              <a:t>，实现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任务之间同步</a:t>
            </a:r>
            <a:r>
              <a:rPr lang="zh-CN" altLang="en-US" b="1" dirty="0" smtClean="0"/>
              <a:t>或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临界资源的互斥访问</a:t>
            </a:r>
            <a:r>
              <a:rPr lang="zh-CN" altLang="en-US" b="1" dirty="0" smtClean="0"/>
              <a:t>，常用用来协调</a:t>
            </a:r>
            <a:endParaRPr lang="en-US" altLang="zh-CN" b="1" dirty="0" smtClean="0"/>
          </a:p>
          <a:p>
            <a:pPr>
              <a:lnSpc>
                <a:spcPct val="110000"/>
              </a:lnSpc>
            </a:pPr>
            <a:r>
              <a:rPr lang="en-US" altLang="zh-CN" b="1" dirty="0"/>
              <a:t> </a:t>
            </a:r>
            <a:r>
              <a:rPr lang="en-US" altLang="zh-CN" b="1" dirty="0" smtClean="0"/>
              <a:t>              </a:t>
            </a:r>
            <a:r>
              <a:rPr lang="zh-CN" altLang="en-US" b="1" dirty="0" smtClean="0"/>
              <a:t>多任务对临界资源的访问；</a:t>
            </a:r>
            <a:endParaRPr lang="en-US" altLang="zh-CN" b="1" dirty="0" smtClean="0"/>
          </a:p>
          <a:p>
            <a:pPr>
              <a:lnSpc>
                <a:spcPct val="110000"/>
              </a:lnSpc>
            </a:pP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）信号量分为</a:t>
            </a:r>
            <a:r>
              <a:rPr lang="zh-CN" altLang="en-US" b="1" dirty="0" smtClean="0">
                <a:solidFill>
                  <a:srgbClr val="C00000"/>
                </a:solidFill>
              </a:rPr>
              <a:t>二值信号量</a:t>
            </a:r>
            <a:r>
              <a:rPr lang="zh-CN" altLang="en-US" b="1" dirty="0" smtClean="0"/>
              <a:t>（开关）和</a:t>
            </a:r>
            <a:r>
              <a:rPr lang="zh-CN" altLang="en-US" b="1" dirty="0" smtClean="0">
                <a:solidFill>
                  <a:srgbClr val="C00000"/>
                </a:solidFill>
              </a:rPr>
              <a:t>数值信号量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>
              <a:lnSpc>
                <a:spcPct val="110000"/>
              </a:lnSpc>
            </a:pP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）相较于消息队列，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信号量是任务间</a:t>
            </a:r>
            <a:r>
              <a:rPr lang="zh-CN" altLang="en-US" b="1" dirty="0" smtClean="0">
                <a:solidFill>
                  <a:srgbClr val="C00000"/>
                </a:solidFill>
              </a:rPr>
              <a:t>同步通信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，消息队列是</a:t>
            </a:r>
            <a:r>
              <a:rPr lang="zh-CN" altLang="en-US" b="1" dirty="0" smtClean="0">
                <a:solidFill>
                  <a:srgbClr val="C00000"/>
                </a:solidFill>
              </a:rPr>
              <a:t>异步通信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>
              <a:lnSpc>
                <a:spcPct val="110000"/>
              </a:lnSpc>
            </a:pPr>
            <a:r>
              <a:rPr lang="en-US" altLang="zh-CN" b="1" dirty="0"/>
              <a:t> </a:t>
            </a:r>
            <a:r>
              <a:rPr lang="en-US" altLang="zh-CN" b="1" dirty="0" smtClean="0"/>
              <a:t>               --- 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消息不需要操作临界资源</a:t>
            </a:r>
            <a:r>
              <a:rPr lang="zh-CN" altLang="en-US" b="1" dirty="0" smtClean="0"/>
              <a:t>（大家都要用的</a:t>
            </a:r>
            <a:r>
              <a:rPr lang="zh-CN" altLang="en-US" b="1" dirty="0" smtClean="0">
                <a:solidFill>
                  <a:srgbClr val="C00000"/>
                </a:solidFill>
              </a:rPr>
              <a:t>稀缺资源</a:t>
            </a:r>
            <a:r>
              <a:rPr lang="zh-CN" altLang="en-US" b="1" dirty="0" smtClean="0"/>
              <a:t>），所以可以不着急处理；</a:t>
            </a:r>
            <a:endParaRPr lang="en-US" altLang="zh-CN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b="1" dirty="0" smtClean="0"/>
              <a:t>                --- 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信号量则要操作临界资源</a:t>
            </a:r>
            <a:r>
              <a:rPr lang="zh-CN" altLang="en-US" b="1" dirty="0" smtClean="0"/>
              <a:t>，应该立即处理（别人还要着急用临界资源）。           </a:t>
            </a:r>
            <a:endParaRPr lang="zh-CN" alt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7796" y="3113202"/>
            <a:ext cx="10996937" cy="2563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二值信号量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 dirty="0" smtClean="0"/>
              <a:t>       只有</a:t>
            </a:r>
            <a:r>
              <a:rPr lang="zh-CN" altLang="en-US" b="1" dirty="0"/>
              <a:t>“有”“无”两种状态，可以认为是</a:t>
            </a:r>
            <a:r>
              <a:rPr lang="zh-CN" altLang="en-US" b="1" dirty="0">
                <a:solidFill>
                  <a:srgbClr val="C00000"/>
                </a:solidFill>
              </a:rPr>
              <a:t>数值信号量的特殊情况</a:t>
            </a:r>
            <a:r>
              <a:rPr lang="zh-CN" altLang="en-US" b="1" dirty="0"/>
              <a:t>，主要用来实现</a:t>
            </a:r>
            <a:r>
              <a:rPr lang="zh-CN" altLang="en-US" b="1" dirty="0">
                <a:solidFill>
                  <a:srgbClr val="C00000"/>
                </a:solidFill>
              </a:rPr>
              <a:t>互斥访问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>
              <a:lnSpc>
                <a:spcPct val="110000"/>
              </a:lnSpc>
            </a:pPr>
            <a:r>
              <a:rPr lang="en-US" altLang="zh-CN" b="1" dirty="0"/>
              <a:t> </a:t>
            </a:r>
            <a:r>
              <a:rPr lang="en-US" altLang="zh-CN" b="1" dirty="0" smtClean="0"/>
              <a:t>      </a:t>
            </a:r>
            <a:r>
              <a:rPr lang="zh-CN" altLang="en-US" b="1" dirty="0" smtClean="0"/>
              <a:t>与互斥量区别，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互斥量具有优先级继承，而二值信号量不具有优先级继承</a:t>
            </a:r>
            <a:r>
              <a:rPr lang="zh-CN" altLang="en-US" b="1" dirty="0"/>
              <a:t>，可能造成优先级翻转错误。</a:t>
            </a:r>
            <a:endParaRPr lang="en-US" altLang="zh-CN" b="1" dirty="0"/>
          </a:p>
          <a:p>
            <a:pPr>
              <a:lnSpc>
                <a:spcPct val="110000"/>
              </a:lnSpc>
            </a:pPr>
            <a:endParaRPr lang="en-US" altLang="zh-CN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为什么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需要二值信号量？</a:t>
            </a:r>
            <a:endParaRPr lang="en-US" altLang="zh-C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b="1" dirty="0"/>
              <a:t>     </a:t>
            </a:r>
            <a:r>
              <a:rPr lang="en-US" altLang="zh-CN" b="1" dirty="0" smtClean="0"/>
              <a:t>  </a:t>
            </a:r>
            <a:r>
              <a:rPr lang="zh-CN" altLang="en-US" b="1" dirty="0" smtClean="0"/>
              <a:t>比如</a:t>
            </a:r>
            <a:r>
              <a:rPr lang="zh-CN" altLang="en-US" b="1" dirty="0"/>
              <a:t>一个任务用来</a:t>
            </a:r>
            <a:r>
              <a:rPr lang="zh-CN" altLang="en-US" b="1" dirty="0">
                <a:solidFill>
                  <a:srgbClr val="C00000"/>
                </a:solidFill>
              </a:rPr>
              <a:t>显示温度</a:t>
            </a:r>
            <a:r>
              <a:rPr lang="zh-CN" altLang="en-US" b="1" dirty="0"/>
              <a:t>，一个任务用来</a:t>
            </a:r>
            <a:r>
              <a:rPr lang="zh-CN" altLang="en-US" b="1" dirty="0">
                <a:solidFill>
                  <a:srgbClr val="C00000"/>
                </a:solidFill>
              </a:rPr>
              <a:t>采集温度</a:t>
            </a:r>
            <a:r>
              <a:rPr lang="zh-CN" altLang="en-US" b="1" dirty="0"/>
              <a:t>。显然没有采集到温度之前，不停地刷新屏幕会造成</a:t>
            </a:r>
            <a:r>
              <a:rPr lang="en-US" altLang="zh-CN" b="1" dirty="0"/>
              <a:t>CPU</a:t>
            </a:r>
            <a:r>
              <a:rPr lang="zh-CN" altLang="en-US" b="1" dirty="0"/>
              <a:t>资源的浪费，当采集任务采集到温度</a:t>
            </a:r>
            <a:r>
              <a:rPr lang="zh-CN" altLang="en-US" b="1" dirty="0" smtClean="0"/>
              <a:t>后给出信号量</a:t>
            </a:r>
            <a:r>
              <a:rPr lang="zh-CN" altLang="en-US" b="1" dirty="0"/>
              <a:t>，（有信号）显示任务再进行显示</a:t>
            </a:r>
            <a:r>
              <a:rPr lang="zh-CN" altLang="en-US" b="1" dirty="0" smtClean="0"/>
              <a:t>，显示完成</a:t>
            </a:r>
            <a:r>
              <a:rPr lang="zh-CN" altLang="en-US" b="1" dirty="0"/>
              <a:t>后释放信号量（无信号），这就是二值信号量的</a:t>
            </a:r>
            <a:r>
              <a:rPr lang="zh-CN" altLang="en-US" b="1" dirty="0">
                <a:solidFill>
                  <a:srgbClr val="C00000"/>
                </a:solidFill>
              </a:rPr>
              <a:t>典型应用场景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120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信号量的基本概念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36357" y="1105468"/>
            <a:ext cx="10543309" cy="151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数值信号量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 dirty="0"/>
              <a:t>数值信号量可以比作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工具或者停车位</a:t>
            </a:r>
            <a:r>
              <a:rPr lang="zh-CN" altLang="en-US" b="1" dirty="0"/>
              <a:t>，拿到工具才能干活，有停车位才能停车。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/>
              <a:t>   </a:t>
            </a:r>
            <a:r>
              <a:rPr lang="en-US" altLang="zh-CN" b="1" dirty="0" smtClean="0"/>
              <a:t>  </a:t>
            </a:r>
            <a:r>
              <a:rPr lang="zh-CN" altLang="en-US" b="1" dirty="0" smtClean="0"/>
              <a:t>与</a:t>
            </a:r>
            <a:r>
              <a:rPr lang="zh-CN" altLang="en-US" b="1" dirty="0"/>
              <a:t>二值信号量相比，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二值信号量</a:t>
            </a:r>
            <a:r>
              <a:rPr lang="zh-CN" altLang="en-US" b="1" dirty="0"/>
              <a:t>只有“有”还是“没有”，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数值信号量则是</a:t>
            </a:r>
            <a:r>
              <a:rPr lang="zh-CN" altLang="en-US" b="1" dirty="0"/>
              <a:t>“有几个”，很显然二值信号量可以看做特殊的数值信号量。</a:t>
            </a:r>
          </a:p>
        </p:txBody>
      </p:sp>
    </p:spTree>
    <p:extLst>
      <p:ext uri="{BB962C8B-B14F-4D97-AF65-F5344CB8AC3E}">
        <p14:creationId xmlns:p14="http://schemas.microsoft.com/office/powerpoint/2010/main" val="317535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信号量的使用方法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5389" y="750627"/>
            <a:ext cx="11064240" cy="537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、创建信号量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zh-CN" altLang="en-US" b="1" dirty="0" smtClean="0"/>
              <a:t>（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）创建二值信号量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US" altLang="zh-CN" sz="1400" b="1" dirty="0" smtClean="0"/>
              <a:t>         UINT32 </a:t>
            </a:r>
            <a:r>
              <a:rPr lang="en-US" altLang="zh-CN" sz="1400" b="1" dirty="0" err="1"/>
              <a:t>LOS_BinarySemCreate</a:t>
            </a:r>
            <a:r>
              <a:rPr lang="en-US" altLang="zh-CN" sz="1400" b="1" dirty="0"/>
              <a:t> (UINT16 </a:t>
            </a:r>
            <a:r>
              <a:rPr lang="en-US" altLang="zh-CN" sz="1400" b="1" dirty="0" err="1"/>
              <a:t>usCount</a:t>
            </a:r>
            <a:r>
              <a:rPr lang="en-US" altLang="zh-CN" sz="1400" b="1" dirty="0"/>
              <a:t>, </a:t>
            </a:r>
            <a:r>
              <a:rPr lang="en-US" altLang="zh-CN" sz="1400" b="1" dirty="0" smtClean="0"/>
              <a:t>            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二值信号量的值，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只能是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0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、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1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                                             UINT32 </a:t>
            </a:r>
            <a:r>
              <a:rPr lang="en-US" altLang="zh-CN" sz="1400" b="1" dirty="0"/>
              <a:t>*</a:t>
            </a:r>
            <a:r>
              <a:rPr lang="en-US" altLang="zh-CN" sz="1400" b="1" dirty="0" err="1"/>
              <a:t>puwSemHandle</a:t>
            </a:r>
            <a:r>
              <a:rPr lang="en-US" altLang="zh-CN" sz="1400" b="1" dirty="0" smtClean="0"/>
              <a:t>)</a:t>
            </a:r>
            <a:r>
              <a:rPr lang="zh-CN" altLang="en-US" sz="1400" b="1" dirty="0" smtClean="0"/>
              <a:t>。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信号量的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ID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，须事先定义，用以区分多个信号量。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sz="1400" b="1" dirty="0" smtClean="0">
                <a:solidFill>
                  <a:srgbClr val="00B050"/>
                </a:solidFill>
              </a:rPr>
              <a:t>     </a:t>
            </a:r>
            <a:r>
              <a:rPr lang="zh-CN" altLang="en-US" b="1" dirty="0" smtClean="0">
                <a:solidFill>
                  <a:srgbClr val="000000"/>
                </a:solidFill>
              </a:rPr>
              <a:t>（</a:t>
            </a:r>
            <a:r>
              <a:rPr lang="en-US" altLang="zh-CN" b="1" dirty="0" smtClean="0">
                <a:solidFill>
                  <a:srgbClr val="000000"/>
                </a:solidFill>
              </a:rPr>
              <a:t>2</a:t>
            </a:r>
            <a:r>
              <a:rPr lang="zh-CN" altLang="en-US" b="1" dirty="0" smtClean="0">
                <a:solidFill>
                  <a:srgbClr val="000000"/>
                </a:solidFill>
              </a:rPr>
              <a:t>）创建数值信号量</a:t>
            </a:r>
            <a:endParaRPr lang="en-US" altLang="zh-CN" b="1" dirty="0" smtClean="0">
              <a:solidFill>
                <a:srgbClr val="0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</a:rPr>
              <a:t>      </a:t>
            </a:r>
            <a:r>
              <a:rPr lang="en-US" altLang="zh-CN" sz="1400" b="1" dirty="0" smtClean="0"/>
              <a:t>UINT32 </a:t>
            </a:r>
            <a:r>
              <a:rPr lang="en-US" altLang="zh-CN" sz="1400" b="1" dirty="0" err="1"/>
              <a:t>LOS_SemCreate</a:t>
            </a:r>
            <a:r>
              <a:rPr lang="en-US" altLang="zh-CN" sz="1400" b="1" dirty="0"/>
              <a:t> (UINT16 </a:t>
            </a:r>
            <a:r>
              <a:rPr lang="en-US" altLang="zh-CN" sz="1400" b="1" dirty="0" err="1"/>
              <a:t>usCount</a:t>
            </a:r>
            <a:r>
              <a:rPr lang="en-US" altLang="zh-CN" sz="1400" b="1" dirty="0" smtClean="0"/>
              <a:t>,</a:t>
            </a:r>
            <a:r>
              <a:rPr lang="en-US" altLang="zh-CN" sz="1400" b="1" dirty="0">
                <a:solidFill>
                  <a:srgbClr val="00B050"/>
                </a:solidFill>
              </a:rPr>
              <a:t>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                    //</a:t>
            </a:r>
            <a:r>
              <a:rPr lang="zh-CN" altLang="en-US" sz="1400" b="1" dirty="0">
                <a:solidFill>
                  <a:srgbClr val="00B050"/>
                </a:solidFill>
              </a:rPr>
              <a:t>信号量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，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0~0xFFFF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400" b="1" dirty="0" smtClean="0"/>
              <a:t>                                                    UINT32 </a:t>
            </a:r>
            <a:r>
              <a:rPr lang="en-US" altLang="zh-CN" sz="1400" b="1" dirty="0"/>
              <a:t>*</a:t>
            </a:r>
            <a:r>
              <a:rPr lang="en-US" altLang="zh-CN" sz="1400" b="1" dirty="0" err="1"/>
              <a:t>puwSemHandle</a:t>
            </a:r>
            <a:r>
              <a:rPr lang="en-US" altLang="zh-CN" sz="1400" b="1" dirty="0"/>
              <a:t>) </a:t>
            </a:r>
            <a:r>
              <a:rPr lang="en-US" altLang="zh-CN" sz="1400" b="1" dirty="0" smtClean="0"/>
              <a:t>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信号量的</a:t>
            </a:r>
            <a:r>
              <a:rPr lang="en-US" altLang="zh-CN" sz="1400" b="1" dirty="0">
                <a:solidFill>
                  <a:srgbClr val="00B050"/>
                </a:solidFill>
              </a:rPr>
              <a:t>ID</a:t>
            </a:r>
            <a:r>
              <a:rPr lang="zh-CN" altLang="en-US" sz="1400" b="1" dirty="0">
                <a:solidFill>
                  <a:srgbClr val="00B050"/>
                </a:solidFill>
              </a:rPr>
              <a:t>，须事先定义，用以区分多个信号量。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、删除信号量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400" b="1" dirty="0" smtClean="0"/>
              <a:t>        </a:t>
            </a:r>
            <a:r>
              <a:rPr lang="zh-CN" altLang="en-US" b="1" dirty="0" smtClean="0"/>
              <a:t>信号量使用结束，应该删除信号量，回收存储空间。</a:t>
            </a:r>
            <a:r>
              <a:rPr lang="en-US" altLang="zh-CN" b="1" dirty="0" smtClean="0"/>
              <a:t> </a:t>
            </a:r>
            <a:r>
              <a:rPr lang="zh-CN" altLang="en-US" b="1" dirty="0" smtClean="0"/>
              <a:t>删除函数如下：</a:t>
            </a:r>
            <a:endParaRPr lang="en-US" altLang="zh-CN" b="1" dirty="0" smtClean="0"/>
          </a:p>
          <a:p>
            <a:pPr lvl="0">
              <a:lnSpc>
                <a:spcPct val="125000"/>
              </a:lnSpc>
            </a:pPr>
            <a:r>
              <a:rPr lang="en-US" altLang="zh-CN" sz="1400" b="1" dirty="0" smtClean="0"/>
              <a:t>        </a:t>
            </a:r>
            <a:r>
              <a:rPr lang="en-US" altLang="zh-CN" sz="1400" b="1" dirty="0"/>
              <a:t>UINT32 </a:t>
            </a:r>
            <a:r>
              <a:rPr lang="en-US" altLang="zh-CN" sz="1400" b="1" dirty="0" err="1"/>
              <a:t>LOS_SemDelete</a:t>
            </a:r>
            <a:r>
              <a:rPr lang="en-US" altLang="zh-CN" sz="1400" b="1" dirty="0"/>
              <a:t>(UINT32 </a:t>
            </a:r>
            <a:r>
              <a:rPr lang="en-US" altLang="zh-CN" sz="1400" b="1" dirty="0" err="1"/>
              <a:t>uwSemHandle</a:t>
            </a:r>
            <a:r>
              <a:rPr lang="en-US" altLang="zh-CN" sz="1400" b="1" dirty="0"/>
              <a:t>)  </a:t>
            </a:r>
            <a:r>
              <a:rPr lang="en-US" altLang="zh-CN" sz="1400" b="1" dirty="0" smtClean="0"/>
              <a:t>	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根据信号量</a:t>
            </a:r>
            <a:r>
              <a:rPr lang="en-US" altLang="zh-CN" sz="1400" b="1" dirty="0">
                <a:solidFill>
                  <a:srgbClr val="00B050"/>
                </a:solidFill>
              </a:rPr>
              <a:t>ID</a:t>
            </a:r>
            <a:r>
              <a:rPr lang="zh-CN" altLang="en-US" sz="1400" b="1" dirty="0">
                <a:solidFill>
                  <a:srgbClr val="00B050"/>
                </a:solidFill>
              </a:rPr>
              <a:t>来删除。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b="1" dirty="0">
                <a:solidFill>
                  <a:srgbClr val="C00000"/>
                </a:solidFill>
              </a:rPr>
              <a:t>3</a:t>
            </a:r>
            <a:r>
              <a:rPr lang="zh-CN" altLang="en-US" b="1" dirty="0">
                <a:solidFill>
                  <a:srgbClr val="C00000"/>
                </a:solidFill>
              </a:rPr>
              <a:t>、读取信号量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0">
              <a:lnSpc>
                <a:spcPct val="125000"/>
              </a:lnSpc>
            </a:pPr>
            <a:r>
              <a:rPr lang="nl-NL" altLang="zh-CN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nl-NL" altLang="zh-CN" sz="1400" b="1" dirty="0"/>
              <a:t>UINT32 LOS_SemPend(UINT32 uwSemHandle, UINT32 uwTimeout) </a:t>
            </a:r>
          </a:p>
          <a:p>
            <a:pPr lvl="0">
              <a:lnSpc>
                <a:spcPct val="125000"/>
              </a:lnSpc>
            </a:pPr>
            <a:r>
              <a:rPr lang="zh-CN" altLang="en-US" sz="1400" b="1" dirty="0" smtClean="0"/>
              <a:t>      </a:t>
            </a:r>
            <a:r>
              <a:rPr lang="zh-CN" altLang="en-US" b="1" dirty="0"/>
              <a:t>类似于消息队列读取，分为：</a:t>
            </a:r>
            <a:r>
              <a:rPr lang="zh-CN" altLang="en-US" b="1" dirty="0">
                <a:solidFill>
                  <a:srgbClr val="00B050"/>
                </a:solidFill>
              </a:rPr>
              <a:t>不等待、等待一段时间、一直等待（死等）。 读取信号量，信号量减</a:t>
            </a:r>
            <a:r>
              <a:rPr lang="en-US" altLang="zh-CN" b="1" dirty="0">
                <a:solidFill>
                  <a:srgbClr val="00B050"/>
                </a:solidFill>
              </a:rPr>
              <a:t>1</a:t>
            </a:r>
            <a:r>
              <a:rPr lang="zh-CN" altLang="en-US" sz="1400" b="1" dirty="0" smtClean="0"/>
              <a:t>。</a:t>
            </a:r>
            <a:endParaRPr lang="en-US" altLang="zh-CN" sz="1400" b="1" dirty="0" smtClean="0"/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rgbClr val="C00000"/>
                </a:solidFill>
              </a:rPr>
              <a:t>、释放信号量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sz="1400" b="1" dirty="0" smtClean="0"/>
              <a:t>       </a:t>
            </a:r>
            <a:r>
              <a:rPr lang="en-US" altLang="zh-CN" sz="1400" b="1" dirty="0"/>
              <a:t>UINT32 </a:t>
            </a:r>
            <a:r>
              <a:rPr lang="en-US" altLang="zh-CN" sz="1400" b="1" dirty="0" err="1"/>
              <a:t>LOS_SemPost</a:t>
            </a:r>
            <a:r>
              <a:rPr lang="en-US" altLang="zh-CN" sz="1400" b="1" dirty="0"/>
              <a:t>(UINT32 </a:t>
            </a:r>
            <a:r>
              <a:rPr lang="en-US" altLang="zh-CN" sz="1400" b="1" dirty="0" err="1"/>
              <a:t>uwSemHandle</a:t>
            </a:r>
            <a:r>
              <a:rPr lang="en-US" altLang="zh-CN" sz="1400" b="1" dirty="0"/>
              <a:t>) </a:t>
            </a:r>
            <a:br>
              <a:rPr lang="en-US" altLang="zh-CN" sz="1400" b="1" dirty="0"/>
            </a:br>
            <a:r>
              <a:rPr lang="en-US" altLang="zh-CN" sz="1400" b="1" dirty="0" smtClean="0"/>
              <a:t>       </a:t>
            </a:r>
            <a:r>
              <a:rPr lang="zh-CN" altLang="en-US" b="1" dirty="0">
                <a:solidFill>
                  <a:srgbClr val="00B050"/>
                </a:solidFill>
              </a:rPr>
              <a:t>释放信号量，信号量加</a:t>
            </a:r>
            <a:r>
              <a:rPr lang="en-US" altLang="zh-CN" b="1" dirty="0">
                <a:solidFill>
                  <a:srgbClr val="00B050"/>
                </a:solidFill>
              </a:rPr>
              <a:t>1</a:t>
            </a:r>
            <a:r>
              <a:rPr lang="zh-CN" altLang="en-US" b="1" dirty="0" smtClean="0">
                <a:solidFill>
                  <a:srgbClr val="00B050"/>
                </a:solidFill>
              </a:rPr>
              <a:t>。</a:t>
            </a:r>
            <a:endParaRPr lang="en-US" altLang="zh-CN" sz="1400" b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00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数值信号量使用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示例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808816"/>
            <a:ext cx="833932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      </a:t>
            </a:r>
            <a:r>
              <a:rPr lang="zh-CN" altLang="en-US" b="1" dirty="0" smtClean="0">
                <a:solidFill>
                  <a:srgbClr val="C00000"/>
                </a:solidFill>
              </a:rPr>
              <a:t>本示例只给出主要框架，详细代码自己完成。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</a:t>
            </a:r>
            <a:r>
              <a:rPr lang="zh-CN" altLang="en-US" sz="1400" b="1" dirty="0" smtClean="0"/>
              <a:t>①头文件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略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r>
              <a:rPr lang="zh-CN" altLang="en-US" sz="1400" b="1" dirty="0" smtClean="0"/>
              <a:t>      ②定义全局变量</a:t>
            </a:r>
            <a:endParaRPr lang="en-US" altLang="zh-CN" sz="1400" b="1" dirty="0" smtClean="0"/>
          </a:p>
          <a:p>
            <a:r>
              <a:rPr lang="en-US" altLang="zh-CN" sz="1600" b="1" dirty="0"/>
              <a:t> </a:t>
            </a:r>
            <a:r>
              <a:rPr lang="en-US" altLang="zh-CN" sz="1600" b="1" dirty="0" smtClean="0"/>
              <a:t>        </a:t>
            </a:r>
            <a:r>
              <a:rPr lang="en-US" altLang="zh-CN" sz="1400" b="1" dirty="0"/>
              <a:t>UINT32 </a:t>
            </a:r>
            <a:r>
              <a:rPr lang="en-US" altLang="zh-CN" sz="1400" b="1" dirty="0" smtClean="0"/>
              <a:t> </a:t>
            </a:r>
            <a:r>
              <a:rPr lang="en-US" altLang="zh-CN" sz="1400" b="1" dirty="0" err="1" smtClean="0"/>
              <a:t>Pend_Task_Handle</a:t>
            </a:r>
            <a:r>
              <a:rPr lang="en-US" altLang="zh-CN" sz="1400" b="1" dirty="0" smtClean="0"/>
              <a:t>;    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读取信号量的任务句柄（或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ID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）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 smtClean="0"/>
              <a:t>          UINT32  </a:t>
            </a:r>
            <a:r>
              <a:rPr lang="en-US" altLang="zh-CN" sz="1400" b="1" dirty="0" err="1" smtClean="0"/>
              <a:t>Post_Task_Handle</a:t>
            </a:r>
            <a:r>
              <a:rPr lang="en-US" altLang="zh-CN" sz="1400" b="1" dirty="0"/>
              <a:t>; </a:t>
            </a:r>
            <a:r>
              <a:rPr lang="en-US" altLang="zh-CN" sz="1400" b="1" dirty="0" smtClean="0"/>
              <a:t>      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给出信号量的</a:t>
            </a:r>
            <a:r>
              <a:rPr lang="zh-CN" altLang="en-US" sz="1400" b="1" dirty="0">
                <a:solidFill>
                  <a:srgbClr val="00B050"/>
                </a:solidFill>
              </a:rPr>
              <a:t>任务句柄（或</a:t>
            </a:r>
            <a:r>
              <a:rPr lang="en-US" altLang="zh-CN" sz="1400" b="1" dirty="0">
                <a:solidFill>
                  <a:srgbClr val="00B050"/>
                </a:solidFill>
              </a:rPr>
              <a:t>ID</a:t>
            </a:r>
            <a:r>
              <a:rPr lang="zh-CN" altLang="en-US" sz="1400" b="1" dirty="0">
                <a:solidFill>
                  <a:srgbClr val="00B050"/>
                </a:solidFill>
              </a:rPr>
              <a:t>）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 smtClean="0">
                <a:solidFill>
                  <a:srgbClr val="000000"/>
                </a:solidFill>
              </a:rPr>
              <a:t>          </a:t>
            </a:r>
            <a:r>
              <a:rPr lang="en-US" altLang="zh-CN" sz="1400" b="1" dirty="0"/>
              <a:t>UINT32 </a:t>
            </a:r>
            <a:r>
              <a:rPr lang="en-US" altLang="zh-CN" sz="1400" b="1" dirty="0" err="1" smtClean="0"/>
              <a:t>CountSem_Handle</a:t>
            </a:r>
            <a:r>
              <a:rPr lang="en-US" altLang="zh-CN" sz="1400" b="1" dirty="0"/>
              <a:t>; </a:t>
            </a:r>
            <a:r>
              <a:rPr lang="en-US" altLang="zh-CN" sz="1400" b="1" dirty="0" smtClean="0"/>
              <a:t>            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数值信号量句柄</a:t>
            </a:r>
            <a:r>
              <a:rPr lang="zh-CN" altLang="en-US" sz="1400" b="1" dirty="0">
                <a:solidFill>
                  <a:srgbClr val="00B050"/>
                </a:solidFill>
              </a:rPr>
              <a:t>（或</a:t>
            </a:r>
            <a:r>
              <a:rPr lang="en-US" altLang="zh-CN" sz="1400" b="1" dirty="0">
                <a:solidFill>
                  <a:srgbClr val="00B050"/>
                </a:solidFill>
              </a:rPr>
              <a:t>ID</a:t>
            </a:r>
            <a:r>
              <a:rPr lang="zh-CN" altLang="en-US" sz="1400" b="1" dirty="0">
                <a:solidFill>
                  <a:srgbClr val="00B050"/>
                </a:solidFill>
              </a:rPr>
              <a:t>）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>
                <a:solidFill>
                  <a:srgbClr val="00B050"/>
                </a:solidFill>
              </a:rPr>
              <a:t>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 </a:t>
            </a:r>
            <a:r>
              <a:rPr lang="en-US" altLang="zh-CN" sz="1600" b="1" dirty="0" smtClean="0"/>
              <a:t>   </a:t>
            </a:r>
            <a:r>
              <a:rPr lang="zh-CN" altLang="en-US" sz="1400" b="1" dirty="0" smtClean="0"/>
              <a:t>③函数声明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包括应用创建函数、任务创建函数、任务函数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zh-CN" altLang="en-US" sz="1400" b="1" dirty="0" smtClean="0"/>
              <a:t>      ④</a:t>
            </a:r>
            <a:r>
              <a:rPr lang="en-US" altLang="zh-CN" sz="1400" b="1" dirty="0" smtClean="0"/>
              <a:t>main</a:t>
            </a:r>
            <a:r>
              <a:rPr lang="zh-CN" altLang="en-US" sz="1400" b="1" dirty="0" smtClean="0"/>
              <a:t>函数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main{</a:t>
            </a:r>
          </a:p>
          <a:p>
            <a:r>
              <a:rPr lang="en-US" altLang="zh-CN" sz="1400" b="1" dirty="0" smtClean="0"/>
              <a:t>                    …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定义局部变量，板级初始化等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</a:t>
            </a:r>
            <a:r>
              <a:rPr lang="en-US" altLang="zh-CN" sz="1400" b="1" dirty="0" err="1"/>
              <a:t>LOS_KernelInit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内核初始化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smtClean="0"/>
              <a:t>…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</a:t>
            </a:r>
            <a:r>
              <a:rPr lang="en-US" altLang="zh-CN" sz="1400" b="1" dirty="0" err="1"/>
              <a:t>AppTaskCreate</a:t>
            </a:r>
            <a:r>
              <a:rPr lang="en-US" altLang="zh-CN" sz="1400" b="1" dirty="0"/>
              <a:t>(); </a:t>
            </a:r>
            <a:br>
              <a:rPr lang="en-US" altLang="zh-CN" sz="1400" b="1" dirty="0"/>
            </a:br>
            <a:r>
              <a:rPr lang="en-US" altLang="zh-CN" sz="1400" b="1" dirty="0"/>
              <a:t>                    </a:t>
            </a:r>
            <a:r>
              <a:rPr lang="en-US" altLang="zh-CN" sz="1400" b="1" dirty="0" smtClean="0"/>
              <a:t>…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LOS_Start</a:t>
            </a:r>
            <a:r>
              <a:rPr lang="en-US" altLang="zh-CN" sz="1400" b="1" dirty="0" smtClean="0"/>
              <a:t>();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启动任务调度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 smtClean="0"/>
              <a:t>                    …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    }</a:t>
            </a:r>
          </a:p>
          <a:p>
            <a:r>
              <a:rPr lang="zh-CN" altLang="en-US" sz="1400" b="1" dirty="0" smtClean="0"/>
              <a:t>      ⑤应用创建函数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</a:t>
            </a:r>
            <a:r>
              <a:rPr lang="en-US" altLang="zh-CN" sz="1400" b="1" dirty="0" err="1"/>
              <a:t>AppTaskCreate</a:t>
            </a:r>
            <a:r>
              <a:rPr lang="en-US" altLang="zh-CN" sz="1400" b="1" dirty="0" smtClean="0"/>
              <a:t>()</a:t>
            </a:r>
            <a:r>
              <a:rPr lang="en-US" altLang="zh-CN" sz="1400" b="1" dirty="0"/>
              <a:t> {</a:t>
            </a:r>
            <a:endParaRPr lang="en-US" altLang="zh-CN" sz="1400" b="1" dirty="0" smtClean="0"/>
          </a:p>
          <a:p>
            <a:r>
              <a:rPr lang="en-US" altLang="zh-CN" sz="1400" b="1" dirty="0"/>
              <a:t>              </a:t>
            </a:r>
            <a:r>
              <a:rPr lang="en-US" altLang="zh-CN" sz="1400" b="1" dirty="0" err="1"/>
              <a:t>LOS_SemCreate</a:t>
            </a:r>
            <a:r>
              <a:rPr lang="en-US" altLang="zh-CN" sz="1400" b="1" dirty="0"/>
              <a:t> (5,&amp;CountSem_Handle</a:t>
            </a:r>
            <a:r>
              <a:rPr lang="en-US" altLang="zh-CN" sz="1400" b="1" dirty="0" smtClean="0"/>
              <a:t>);//</a:t>
            </a:r>
            <a:r>
              <a:rPr lang="zh-CN" altLang="en-US" sz="1400" b="1" dirty="0" smtClean="0"/>
              <a:t>初始信号量为</a:t>
            </a:r>
            <a:r>
              <a:rPr lang="en-US" altLang="zh-CN" sz="1400" b="1" dirty="0" smtClean="0"/>
              <a:t>5</a:t>
            </a:r>
          </a:p>
          <a:p>
            <a:r>
              <a:rPr lang="en-US" altLang="zh-CN" sz="1400" b="1" dirty="0" smtClean="0"/>
              <a:t>             </a:t>
            </a:r>
            <a:r>
              <a:rPr lang="en-US" altLang="zh-CN" sz="1400" b="1" dirty="0" err="1" smtClean="0"/>
              <a:t>Creat_Receive_Task</a:t>
            </a:r>
            <a:r>
              <a:rPr lang="en-US" altLang="zh-CN" sz="1400" b="1" dirty="0" smtClean="0"/>
              <a:t>();</a:t>
            </a:r>
          </a:p>
          <a:p>
            <a:r>
              <a:rPr lang="en-US" altLang="zh-CN" sz="1400" b="1" dirty="0" smtClean="0"/>
              <a:t>             </a:t>
            </a:r>
            <a:r>
              <a:rPr lang="en-US" altLang="zh-CN" sz="1400" b="1" dirty="0" err="1"/>
              <a:t>Creat_Send_Task</a:t>
            </a:r>
            <a:r>
              <a:rPr lang="en-US" altLang="zh-CN" sz="1400" b="1" dirty="0"/>
              <a:t>();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        }</a:t>
            </a:r>
          </a:p>
          <a:p>
            <a:r>
              <a:rPr lang="zh-CN" altLang="en-US" sz="1400" b="1" dirty="0" smtClean="0"/>
              <a:t>      ⑥任务创建函数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略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endParaRPr lang="en-US" altLang="zh-CN" sz="1400" b="1" dirty="0"/>
          </a:p>
          <a:p>
            <a:r>
              <a:rPr lang="en-US" altLang="zh-CN" sz="1400" b="1" dirty="0"/>
              <a:t>     </a:t>
            </a:r>
            <a:endParaRPr lang="en-US" altLang="zh-CN" sz="1400" b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65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数值信号量使用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示例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3898" y="845392"/>
            <a:ext cx="60433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/>
              <a:t>⑦读取信号量的</a:t>
            </a:r>
            <a:r>
              <a:rPr lang="zh-CN" altLang="en-US" sz="1600" b="1" dirty="0"/>
              <a:t>任务</a:t>
            </a:r>
            <a:r>
              <a:rPr lang="zh-CN" altLang="en-US" sz="1600" b="1" dirty="0" smtClean="0"/>
              <a:t>函数</a:t>
            </a:r>
            <a:r>
              <a:rPr lang="en-US" altLang="zh-CN" sz="1600" b="1" dirty="0" err="1" smtClean="0"/>
              <a:t>Pend_Task</a:t>
            </a:r>
            <a:r>
              <a:rPr lang="zh-CN" altLang="en-US" sz="1600" b="1" dirty="0"/>
              <a:t>（）</a:t>
            </a:r>
            <a:endParaRPr lang="en-US" altLang="zh-CN" sz="1600" b="1" dirty="0"/>
          </a:p>
          <a:p>
            <a:r>
              <a:rPr lang="en-US" altLang="zh-CN" b="1" dirty="0"/>
              <a:t>   </a:t>
            </a:r>
            <a:r>
              <a:rPr lang="en-US" altLang="zh-CN" sz="1400" b="1" dirty="0" err="1" smtClean="0"/>
              <a:t>Pend_Task</a:t>
            </a:r>
            <a:r>
              <a:rPr lang="zh-CN" altLang="en-US" sz="1400" b="1" dirty="0"/>
              <a:t>（）</a:t>
            </a:r>
            <a:r>
              <a:rPr lang="en-US" altLang="zh-CN" sz="1400" b="1" dirty="0"/>
              <a:t>{</a:t>
            </a:r>
          </a:p>
          <a:p>
            <a:r>
              <a:rPr lang="en-US" altLang="zh-CN" sz="1400" b="1" dirty="0"/>
              <a:t>       UINT32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LOS_OK;</a:t>
            </a:r>
          </a:p>
          <a:p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while </a:t>
            </a:r>
            <a:r>
              <a:rPr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(1) {</a:t>
            </a:r>
          </a:p>
          <a:p>
            <a:r>
              <a:rPr lang="en-US" altLang="zh-CN" sz="1400" b="1" dirty="0" smtClean="0"/>
              <a:t>         if </a:t>
            </a:r>
            <a:r>
              <a:rPr lang="en-US" altLang="zh-CN" sz="1400" b="1" dirty="0"/>
              <a:t>( </a:t>
            </a:r>
            <a:r>
              <a:rPr lang="en-US" altLang="zh-CN" sz="1400" b="1" dirty="0" smtClean="0"/>
              <a:t>KEY1 </a:t>
            </a:r>
            <a:r>
              <a:rPr lang="en-US" altLang="zh-CN" sz="1400" b="1" dirty="0"/>
              <a:t>) </a:t>
            </a:r>
            <a:r>
              <a:rPr lang="en-US" altLang="zh-CN" sz="1400" b="1" dirty="0" smtClean="0"/>
              <a:t>{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按键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1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按下读取信号量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uwRet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= </a:t>
            </a:r>
            <a:r>
              <a:rPr lang="en-US" altLang="zh-CN" sz="1400" b="1" dirty="0" err="1"/>
              <a:t>LOS_SemPend</a:t>
            </a:r>
            <a:r>
              <a:rPr lang="en-US" altLang="zh-CN" sz="1400" b="1" dirty="0"/>
              <a:t> ( CountSem_Handle,0);</a:t>
            </a:r>
          </a:p>
          <a:p>
            <a:r>
              <a:rPr lang="en-US" altLang="zh-CN" sz="1400" b="1" dirty="0" smtClean="0"/>
              <a:t>              if </a:t>
            </a:r>
            <a:r>
              <a:rPr lang="en-US" altLang="zh-CN" sz="1400" b="1" dirty="0"/>
              <a:t>(LOS_OK ==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)</a:t>
            </a:r>
          </a:p>
          <a:p>
            <a:r>
              <a:rPr lang="en-US" altLang="zh-CN" sz="1400" b="1" dirty="0" smtClean="0"/>
              <a:t>                    </a:t>
            </a:r>
            <a:r>
              <a:rPr lang="en-US" altLang="zh-CN" sz="1400" b="1" dirty="0" err="1" smtClean="0"/>
              <a:t>printf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( "\r\nKEY1 </a:t>
            </a:r>
            <a:r>
              <a:rPr lang="zh-CN" altLang="en-US" sz="1400" b="1" dirty="0"/>
              <a:t>被按下，成功申请到停车位。 </a:t>
            </a:r>
            <a:r>
              <a:rPr lang="en-US" altLang="zh-CN" sz="1400" b="1" dirty="0"/>
              <a:t>\r\n" );</a:t>
            </a:r>
          </a:p>
          <a:p>
            <a:r>
              <a:rPr lang="en-US" altLang="zh-CN" sz="1400" b="1" dirty="0" smtClean="0"/>
              <a:t>              else</a:t>
            </a:r>
            <a:endParaRPr lang="en-US" altLang="zh-CN" sz="1400" b="1" dirty="0"/>
          </a:p>
          <a:p>
            <a:r>
              <a:rPr lang="en-US" altLang="zh-CN" sz="1400" b="1" dirty="0" smtClean="0"/>
              <a:t>                    </a:t>
            </a:r>
            <a:r>
              <a:rPr lang="en-US" altLang="zh-CN" sz="1400" b="1" dirty="0" err="1" smtClean="0"/>
              <a:t>printf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( "\r\nKEY1 </a:t>
            </a:r>
            <a:r>
              <a:rPr lang="zh-CN" altLang="en-US" sz="1400" b="1" dirty="0"/>
              <a:t>被按下，不好意思，现在停车场已满！ </a:t>
            </a:r>
            <a:r>
              <a:rPr lang="en-US" altLang="zh-CN" sz="1400" b="1" dirty="0"/>
              <a:t>\r\n" );</a:t>
            </a:r>
          </a:p>
          <a:p>
            <a:r>
              <a:rPr lang="en-US" altLang="zh-CN" sz="1400" b="1" dirty="0" smtClean="0"/>
              <a:t>         }</a:t>
            </a:r>
          </a:p>
          <a:p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}</a:t>
            </a:r>
          </a:p>
          <a:p>
            <a:r>
              <a:rPr lang="en-US" altLang="zh-CN" sz="1400" b="1" dirty="0" smtClean="0"/>
              <a:t>     }</a:t>
            </a:r>
            <a:endParaRPr lang="en-US" altLang="zh-CN" sz="1400" b="1" dirty="0"/>
          </a:p>
          <a:p>
            <a:endParaRPr lang="en-US" altLang="zh-CN" sz="1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510483" y="753059"/>
            <a:ext cx="544987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⑧</a:t>
            </a:r>
            <a:r>
              <a:rPr lang="zh-CN" altLang="en-US" sz="1600" b="1" dirty="0"/>
              <a:t>给出信号量的任务</a:t>
            </a:r>
            <a:r>
              <a:rPr lang="zh-CN" altLang="en-US" sz="1600" b="1" dirty="0" smtClean="0"/>
              <a:t>函数</a:t>
            </a:r>
            <a:r>
              <a:rPr lang="en-US" altLang="zh-CN" sz="1600" b="1" dirty="0" err="1" smtClean="0"/>
              <a:t>Post_Task</a:t>
            </a:r>
            <a:r>
              <a:rPr lang="zh-CN" altLang="en-US" sz="1600" b="1" dirty="0"/>
              <a:t>（）</a:t>
            </a:r>
            <a:endParaRPr lang="en-US" altLang="zh-CN" sz="1600" b="1" dirty="0"/>
          </a:p>
          <a:p>
            <a:r>
              <a:rPr lang="en-US" altLang="zh-CN" sz="1400" b="1" dirty="0" smtClean="0"/>
              <a:t>     </a:t>
            </a:r>
            <a:r>
              <a:rPr lang="en-US" altLang="zh-CN" sz="1400" b="1" dirty="0" err="1" smtClean="0"/>
              <a:t>Post_Task</a:t>
            </a:r>
            <a:r>
              <a:rPr lang="zh-CN" altLang="en-US" sz="1400" b="1" dirty="0"/>
              <a:t>（）</a:t>
            </a:r>
            <a:r>
              <a:rPr lang="en-US" altLang="zh-CN" sz="1400" b="1" dirty="0"/>
              <a:t>{</a:t>
            </a:r>
          </a:p>
          <a:p>
            <a:r>
              <a:rPr lang="en-US" altLang="zh-CN" sz="1400" b="1" dirty="0"/>
              <a:t>       UINT32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LOS_OK;</a:t>
            </a:r>
          </a:p>
          <a:p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while </a:t>
            </a:r>
            <a:r>
              <a:rPr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(1) </a:t>
            </a:r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if(KEY2) {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按键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2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按下</a:t>
            </a:r>
            <a:r>
              <a:rPr lang="zh-CN" altLang="en-US" sz="1400" b="1" dirty="0">
                <a:solidFill>
                  <a:srgbClr val="00B050"/>
                </a:solidFill>
              </a:rPr>
              <a:t>释放信号量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</a:t>
            </a:r>
            <a:r>
              <a:rPr lang="en-US" altLang="zh-CN" sz="1400" b="1" dirty="0" err="1" smtClean="0"/>
              <a:t>uwRet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= </a:t>
            </a:r>
            <a:r>
              <a:rPr lang="en-US" altLang="zh-CN" sz="1400" b="1" dirty="0" err="1" smtClean="0"/>
              <a:t>LOS_SemPost</a:t>
            </a:r>
            <a:r>
              <a:rPr lang="en-US" altLang="zh-CN" sz="1400" b="1" dirty="0" smtClean="0"/>
              <a:t>(</a:t>
            </a:r>
            <a:r>
              <a:rPr lang="en-US" altLang="zh-CN" sz="1400" b="1" dirty="0" err="1" smtClean="0"/>
              <a:t>CountSem_Handle</a:t>
            </a:r>
            <a:r>
              <a:rPr lang="en-US" altLang="zh-CN" sz="1400" b="1" dirty="0" smtClean="0"/>
              <a:t>); </a:t>
            </a:r>
          </a:p>
          <a:p>
            <a:r>
              <a:rPr lang="en-US" altLang="zh-CN" sz="1400" b="1" dirty="0" smtClean="0"/>
              <a:t>              if </a:t>
            </a:r>
            <a:r>
              <a:rPr lang="en-US" altLang="zh-CN" sz="1400" b="1" dirty="0"/>
              <a:t>(LOS_OK ==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)</a:t>
            </a: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printf</a:t>
            </a:r>
            <a:r>
              <a:rPr lang="en-US" altLang="zh-CN" sz="1400" b="1" dirty="0"/>
              <a:t> ( </a:t>
            </a:r>
            <a:r>
              <a:rPr lang="en-US" altLang="zh-CN" sz="1400" b="1" dirty="0" smtClean="0"/>
              <a:t>“\r\nKEY2</a:t>
            </a:r>
            <a:r>
              <a:rPr lang="zh-CN" altLang="en-US" sz="1400" b="1" dirty="0" smtClean="0"/>
              <a:t>被</a:t>
            </a:r>
            <a:r>
              <a:rPr lang="zh-CN" altLang="en-US" sz="1400" b="1" dirty="0"/>
              <a:t>按下</a:t>
            </a:r>
            <a:r>
              <a:rPr lang="zh-CN" altLang="en-US" sz="1400" b="1" dirty="0" smtClean="0"/>
              <a:t>，释放停车位</a:t>
            </a:r>
            <a:r>
              <a:rPr lang="zh-CN" altLang="en-US" sz="1400" b="1" dirty="0"/>
              <a:t>。 </a:t>
            </a:r>
            <a:r>
              <a:rPr lang="en-US" altLang="zh-CN" sz="1400" b="1" dirty="0"/>
              <a:t>\r\n" );</a:t>
            </a:r>
          </a:p>
          <a:p>
            <a:r>
              <a:rPr lang="en-US" altLang="zh-CN" sz="1400" b="1" dirty="0"/>
              <a:t>              else</a:t>
            </a: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printf</a:t>
            </a:r>
            <a:r>
              <a:rPr lang="en-US" altLang="zh-CN" sz="1400" b="1" dirty="0"/>
              <a:t> ( </a:t>
            </a:r>
            <a:r>
              <a:rPr lang="en-US" altLang="zh-CN" sz="1400" b="1" dirty="0" smtClean="0"/>
              <a:t>“\r\nKEY2 </a:t>
            </a:r>
            <a:r>
              <a:rPr lang="zh-CN" altLang="en-US" sz="1400" b="1" dirty="0"/>
              <a:t>被按下</a:t>
            </a:r>
            <a:r>
              <a:rPr lang="zh-CN" altLang="en-US" sz="1400" b="1" dirty="0" smtClean="0"/>
              <a:t>，但无停车位可以释放！ </a:t>
            </a:r>
            <a:r>
              <a:rPr lang="en-US" altLang="zh-CN" sz="1400" b="1" dirty="0"/>
              <a:t>\r\n" </a:t>
            </a:r>
            <a:r>
              <a:rPr lang="en-US" altLang="zh-CN" sz="1400" b="1" dirty="0" smtClean="0"/>
              <a:t>);</a:t>
            </a:r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LOS_TaskDelay</a:t>
            </a:r>
            <a:r>
              <a:rPr lang="en-US" altLang="zh-CN" sz="1400" b="1" dirty="0" smtClean="0"/>
              <a:t>(20</a:t>
            </a:r>
            <a:r>
              <a:rPr lang="en-US" altLang="zh-CN" sz="1400" b="1" dirty="0"/>
              <a:t>);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           }</a:t>
            </a:r>
          </a:p>
          <a:p>
            <a:r>
              <a:rPr lang="en-US" altLang="zh-CN" sz="1400" b="1" dirty="0" smtClean="0"/>
              <a:t>    </a:t>
            </a:r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}</a:t>
            </a:r>
          </a:p>
          <a:p>
            <a:r>
              <a:rPr lang="en-US" altLang="zh-CN" sz="1400" b="1" dirty="0"/>
              <a:t>}</a:t>
            </a:r>
          </a:p>
          <a:p>
            <a:endParaRPr lang="en-US" altLang="zh-CN" sz="1400" b="1" dirty="0"/>
          </a:p>
        </p:txBody>
      </p:sp>
      <p:sp>
        <p:nvSpPr>
          <p:cNvPr id="2" name="矩形 1"/>
          <p:cNvSpPr/>
          <p:nvPr/>
        </p:nvSpPr>
        <p:spPr>
          <a:xfrm>
            <a:off x="627797" y="4354045"/>
            <a:ext cx="45741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C00000"/>
                </a:solidFill>
              </a:rPr>
              <a:t>Pend_Task</a:t>
            </a:r>
            <a:r>
              <a:rPr lang="zh-CN" altLang="en-US" b="1" dirty="0" smtClean="0">
                <a:solidFill>
                  <a:srgbClr val="C00000"/>
                </a:solidFill>
              </a:rPr>
              <a:t>（）优先级低于</a:t>
            </a:r>
            <a:r>
              <a:rPr lang="en-US" altLang="zh-CN" b="1" dirty="0" err="1">
                <a:solidFill>
                  <a:srgbClr val="C00000"/>
                </a:solidFill>
              </a:rPr>
              <a:t>Post_Task</a:t>
            </a:r>
            <a:r>
              <a:rPr lang="zh-CN" altLang="en-US" b="1" dirty="0">
                <a:solidFill>
                  <a:srgbClr val="C00000"/>
                </a:solidFill>
              </a:rPr>
              <a:t>（）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3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数值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信号量使用示例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5389" y="750627"/>
            <a:ext cx="1106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运行效果如下：</a:t>
            </a:r>
            <a:endParaRPr lang="en-US" altLang="zh-CN" dirty="0">
              <a:solidFill>
                <a:srgbClr val="00B05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53" y="1232794"/>
            <a:ext cx="997267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6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目录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D02CDF3-99CB-47D4-9923-DEE71CF4F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97" y="1102970"/>
            <a:ext cx="78867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</a:rPr>
              <a:t>消息队列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r>
              <a:rPr lang="zh-CN" altLang="en-US" sz="2400" b="1" dirty="0" smtClean="0">
                <a:solidFill>
                  <a:schemeClr val="tx1"/>
                </a:solidFill>
              </a:rPr>
              <a:t>信号量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</a:rPr>
              <a:t>互斥量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zh-CN" altLang="en-US" sz="2400" b="1" dirty="0" smtClean="0">
                <a:solidFill>
                  <a:schemeClr val="tx1"/>
                </a:solidFill>
              </a:rPr>
              <a:t>事件</a:t>
            </a:r>
            <a:endParaRPr lang="en-US" altLang="zh-CN" sz="24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16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互斥量的基本概念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6160" y="865148"/>
            <a:ext cx="11105569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互斥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量：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处理临界资源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/>
              <a:t>        互斥</a:t>
            </a:r>
            <a:r>
              <a:rPr lang="zh-CN" altLang="en-US" dirty="0"/>
              <a:t>量又称互斥信号量，是一种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特殊的二值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信号量</a:t>
            </a:r>
            <a:r>
              <a:rPr lang="zh-CN" altLang="en-US" dirty="0" smtClean="0"/>
              <a:t>，又称互斥锁；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只有</a:t>
            </a:r>
            <a:r>
              <a:rPr lang="zh-CN" altLang="en-US" b="1" dirty="0" smtClean="0">
                <a:solidFill>
                  <a:srgbClr val="5666D7"/>
                </a:solidFill>
              </a:rPr>
              <a:t>闭锁和开锁</a:t>
            </a:r>
            <a:r>
              <a:rPr lang="zh-CN" altLang="en-US" dirty="0" smtClean="0"/>
              <a:t>两种状态；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它和二值信号量最大的区别是具有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优先级继承</a:t>
            </a:r>
            <a:r>
              <a:rPr lang="zh-CN" altLang="en-US" dirty="0" smtClean="0"/>
              <a:t>机制，减少二值信号量优先级翻转的危害。二值信号量和互斥量的区别如下图：</a:t>
            </a:r>
            <a:r>
              <a:rPr lang="en-US" altLang="zh-CN" dirty="0" smtClean="0"/>
              <a:t>        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97" y="2841717"/>
            <a:ext cx="4931275" cy="293170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719766" y="2568633"/>
            <a:ext cx="590196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/>
              <a:t>存在三个任务，高级任务</a:t>
            </a:r>
            <a:r>
              <a:rPr lang="en-US" altLang="zh-CN" sz="1600" b="1" dirty="0" smtClean="0"/>
              <a:t>H</a:t>
            </a:r>
            <a:r>
              <a:rPr lang="zh-CN" altLang="en-US" sz="1600" b="1" dirty="0" smtClean="0"/>
              <a:t>，中级任务</a:t>
            </a:r>
            <a:r>
              <a:rPr lang="en-US" altLang="zh-CN" sz="1600" b="1" dirty="0" smtClean="0"/>
              <a:t>M</a:t>
            </a:r>
            <a:r>
              <a:rPr lang="zh-CN" altLang="en-US" sz="1600" b="1" dirty="0" smtClean="0"/>
              <a:t>，低级任务</a:t>
            </a:r>
            <a:r>
              <a:rPr lang="en-US" altLang="zh-CN" sz="1600" b="1" dirty="0" smtClean="0"/>
              <a:t>L</a:t>
            </a:r>
            <a:r>
              <a:rPr lang="zh-CN" altLang="en-US" sz="1600" b="1" dirty="0" smtClean="0"/>
              <a:t>。</a:t>
            </a:r>
            <a:r>
              <a:rPr lang="zh-CN" altLang="en-US" sz="1600" b="1" dirty="0"/>
              <a:t>如果</a:t>
            </a:r>
            <a:r>
              <a:rPr lang="zh-CN" altLang="en-US" sz="1600" b="1" dirty="0" smtClean="0"/>
              <a:t>使用二值信号量，则三个任务的响应过程如下：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①</a:t>
            </a:r>
            <a:r>
              <a:rPr lang="en-US" altLang="zh-CN" sz="1600" b="1" dirty="0">
                <a:solidFill>
                  <a:srgbClr val="C00000"/>
                </a:solidFill>
              </a:rPr>
              <a:t>L </a:t>
            </a:r>
            <a:r>
              <a:rPr lang="zh-CN" altLang="en-US" sz="1600" b="1" dirty="0">
                <a:solidFill>
                  <a:srgbClr val="C00000"/>
                </a:solidFill>
              </a:rPr>
              <a:t>任务正在使用某临界资源</a:t>
            </a:r>
            <a:r>
              <a:rPr lang="zh-CN" altLang="en-US" sz="1600" b="1" dirty="0"/>
              <a:t>， </a:t>
            </a:r>
            <a:r>
              <a:rPr lang="en-US" altLang="zh-CN" sz="1600" b="1" dirty="0"/>
              <a:t>H </a:t>
            </a:r>
            <a:r>
              <a:rPr lang="zh-CN" altLang="en-US" sz="1600" b="1" dirty="0"/>
              <a:t>任务被唤醒，执行 </a:t>
            </a:r>
            <a:r>
              <a:rPr lang="en-US" altLang="zh-CN" sz="1600" b="1" dirty="0"/>
              <a:t>H </a:t>
            </a:r>
            <a:r>
              <a:rPr lang="zh-CN" altLang="en-US" sz="1600" b="1" dirty="0" smtClean="0"/>
              <a:t>任务， 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</a:t>
            </a:r>
            <a:r>
              <a:rPr lang="zh-CN" altLang="en-US" sz="1600" b="1" dirty="0" smtClean="0"/>
              <a:t>但</a:t>
            </a:r>
            <a:r>
              <a:rPr lang="en-US" altLang="zh-CN" sz="1600" b="1" dirty="0" smtClean="0"/>
              <a:t>L</a:t>
            </a:r>
            <a:r>
              <a:rPr lang="zh-CN" altLang="en-US" sz="1600" b="1" dirty="0" smtClean="0"/>
              <a:t>任务还没有释放资源。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②</a:t>
            </a:r>
            <a:r>
              <a:rPr lang="en-US" altLang="zh-CN" sz="1600" b="1" dirty="0">
                <a:solidFill>
                  <a:srgbClr val="C00000"/>
                </a:solidFill>
              </a:rPr>
              <a:t>H</a:t>
            </a:r>
            <a:r>
              <a:rPr lang="zh-CN" altLang="en-US" sz="1600" b="1" dirty="0">
                <a:solidFill>
                  <a:srgbClr val="C00000"/>
                </a:solidFill>
              </a:rPr>
              <a:t>任务也要使用临界资源</a:t>
            </a:r>
            <a:r>
              <a:rPr lang="zh-CN" altLang="en-US" sz="1600" b="1" dirty="0" smtClean="0"/>
              <a:t>，因为</a:t>
            </a:r>
            <a:r>
              <a:rPr lang="en-US" altLang="zh-CN" sz="1600" b="1" dirty="0" smtClean="0"/>
              <a:t>L</a:t>
            </a:r>
            <a:r>
              <a:rPr lang="zh-CN" altLang="en-US" sz="1600" b="1" dirty="0" smtClean="0"/>
              <a:t>任务还没有释放资源，</a:t>
            </a:r>
            <a:r>
              <a:rPr lang="en-US" altLang="zh-CN" sz="1600" b="1" dirty="0" smtClean="0"/>
              <a:t>H</a:t>
            </a:r>
            <a:r>
              <a:rPr lang="zh-CN" altLang="en-US" sz="1600" b="1" dirty="0" smtClean="0"/>
              <a:t>任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</a:t>
            </a:r>
            <a:r>
              <a:rPr lang="zh-CN" altLang="en-US" sz="1600" b="1" dirty="0" smtClean="0"/>
              <a:t>务被阻塞，继续执行</a:t>
            </a:r>
            <a:r>
              <a:rPr lang="en-US" altLang="zh-CN" sz="1600" b="1" dirty="0" smtClean="0"/>
              <a:t>L</a:t>
            </a:r>
            <a:r>
              <a:rPr lang="zh-CN" altLang="en-US" sz="1600" b="1" dirty="0" smtClean="0"/>
              <a:t>任务。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③此时刻</a:t>
            </a:r>
            <a:r>
              <a:rPr lang="en-US" altLang="zh-CN" sz="1600" b="1" dirty="0" smtClean="0"/>
              <a:t>M</a:t>
            </a:r>
            <a:r>
              <a:rPr lang="zh-CN" altLang="en-US" sz="1600" b="1" dirty="0" smtClean="0"/>
              <a:t>任务被唤醒，执行</a:t>
            </a:r>
            <a:r>
              <a:rPr lang="en-US" altLang="zh-CN" sz="1600" b="1" dirty="0" smtClean="0"/>
              <a:t>M</a:t>
            </a:r>
            <a:r>
              <a:rPr lang="zh-CN" altLang="en-US" sz="1600" b="1" dirty="0" smtClean="0"/>
              <a:t>任务（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不使用临界资源</a:t>
            </a:r>
            <a:r>
              <a:rPr lang="zh-CN" altLang="en-US" sz="1600" b="1" dirty="0" smtClean="0"/>
              <a:t>），此时 </a:t>
            </a:r>
            <a:r>
              <a:rPr lang="en-US" altLang="zh-CN" sz="1600" b="1" dirty="0" smtClean="0"/>
              <a:t>H</a:t>
            </a:r>
            <a:r>
              <a:rPr lang="zh-CN" altLang="en-US" sz="1600" b="1" dirty="0" smtClean="0"/>
              <a:t>任务继续被阻塞。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④</a:t>
            </a:r>
            <a:r>
              <a:rPr lang="en-US" altLang="zh-CN" sz="1600" b="1" dirty="0" smtClean="0"/>
              <a:t>M</a:t>
            </a:r>
            <a:r>
              <a:rPr lang="zh-CN" altLang="en-US" sz="1600" b="1" dirty="0" smtClean="0"/>
              <a:t>任务执行结束，继续执行</a:t>
            </a:r>
            <a:r>
              <a:rPr lang="en-US" altLang="zh-CN" sz="1600" b="1" dirty="0" smtClean="0"/>
              <a:t>L</a:t>
            </a:r>
            <a:r>
              <a:rPr lang="zh-CN" altLang="en-US" sz="1600" b="1" dirty="0" smtClean="0"/>
              <a:t>任务。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⑤</a:t>
            </a:r>
            <a:r>
              <a:rPr lang="en-US" altLang="zh-CN" sz="1600" b="1" dirty="0" smtClean="0"/>
              <a:t>L</a:t>
            </a:r>
            <a:r>
              <a:rPr lang="zh-CN" altLang="en-US" sz="1600" b="1" dirty="0" smtClean="0"/>
              <a:t>任务执行完成，接着执行</a:t>
            </a:r>
            <a:r>
              <a:rPr lang="en-US" altLang="zh-CN" sz="1600" b="1" dirty="0" smtClean="0"/>
              <a:t>H</a:t>
            </a:r>
            <a:r>
              <a:rPr lang="zh-CN" altLang="en-US" sz="1600" b="1" dirty="0" smtClean="0"/>
              <a:t>任务。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出现了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M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任务先运行</a:t>
            </a:r>
            <a:r>
              <a:rPr lang="zh-CN" altLang="en-US" sz="1600" b="1" dirty="0" smtClean="0"/>
              <a:t>，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任务优先级翻转</a:t>
            </a:r>
            <a:r>
              <a:rPr lang="zh-CN" altLang="en-US" sz="1600" b="1" dirty="0" smtClean="0"/>
              <a:t>，这对系统来说是致命的。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3403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互斥量的基本概念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47" y="2931857"/>
            <a:ext cx="4859302" cy="286232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560803" y="2841717"/>
            <a:ext cx="61976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/>
              <a:t>如果有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优先级继承</a:t>
            </a:r>
            <a:r>
              <a:rPr lang="zh-CN" altLang="en-US" sz="1600" b="1" dirty="0" smtClean="0"/>
              <a:t>，则三个任务的响应过程如下：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①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L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任务</a:t>
            </a:r>
            <a:r>
              <a:rPr lang="zh-CN" altLang="en-US" sz="1600" b="1" dirty="0">
                <a:solidFill>
                  <a:srgbClr val="C00000"/>
                </a:solidFill>
              </a:rPr>
              <a:t>正在使用某临界资源</a:t>
            </a:r>
            <a:r>
              <a:rPr lang="zh-CN" altLang="en-US" sz="1600" b="1" dirty="0"/>
              <a:t>， </a:t>
            </a:r>
            <a:r>
              <a:rPr lang="en-US" altLang="zh-CN" sz="1600" b="1" dirty="0"/>
              <a:t>H </a:t>
            </a:r>
            <a:r>
              <a:rPr lang="zh-CN" altLang="en-US" sz="1600" b="1" dirty="0"/>
              <a:t>任务被唤醒，执行 </a:t>
            </a:r>
            <a:r>
              <a:rPr lang="en-US" altLang="zh-CN" sz="1600" b="1" dirty="0"/>
              <a:t>H </a:t>
            </a:r>
            <a:r>
              <a:rPr lang="zh-CN" altLang="en-US" sz="1600" b="1" dirty="0" smtClean="0"/>
              <a:t>任务， 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</a:t>
            </a:r>
            <a:r>
              <a:rPr lang="zh-CN" altLang="en-US" sz="1600" b="1" dirty="0" smtClean="0"/>
              <a:t>但</a:t>
            </a:r>
            <a:r>
              <a:rPr lang="en-US" altLang="zh-CN" sz="1600" b="1" dirty="0" smtClean="0"/>
              <a:t>L</a:t>
            </a:r>
            <a:r>
              <a:rPr lang="zh-CN" altLang="en-US" sz="1600" b="1" dirty="0" smtClean="0"/>
              <a:t>任务还没有释放资源。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②</a:t>
            </a:r>
            <a:r>
              <a:rPr lang="en-US" altLang="zh-CN" sz="1600" b="1" dirty="0">
                <a:solidFill>
                  <a:srgbClr val="C00000"/>
                </a:solidFill>
              </a:rPr>
              <a:t>H</a:t>
            </a:r>
            <a:r>
              <a:rPr lang="zh-CN" altLang="en-US" sz="1600" b="1" dirty="0">
                <a:solidFill>
                  <a:srgbClr val="C00000"/>
                </a:solidFill>
              </a:rPr>
              <a:t>任务也要使用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临界资源</a:t>
            </a:r>
            <a:r>
              <a:rPr lang="zh-CN" altLang="en-US" sz="1600" b="1" dirty="0" smtClean="0"/>
              <a:t>，因为</a:t>
            </a:r>
            <a:r>
              <a:rPr lang="en-US" altLang="zh-CN" sz="1600" b="1" dirty="0" smtClean="0"/>
              <a:t>L</a:t>
            </a:r>
            <a:r>
              <a:rPr lang="zh-CN" altLang="en-US" sz="1600" b="1" dirty="0" smtClean="0"/>
              <a:t>任务还没有释放资源，</a:t>
            </a:r>
            <a:r>
              <a:rPr lang="en-US" altLang="zh-CN" sz="1600" b="1" dirty="0" smtClean="0"/>
              <a:t>H</a:t>
            </a:r>
            <a:r>
              <a:rPr lang="zh-CN" altLang="en-US" sz="1600" b="1" dirty="0" smtClean="0"/>
              <a:t>任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</a:t>
            </a:r>
            <a:r>
              <a:rPr lang="zh-CN" altLang="en-US" sz="1600" b="1" dirty="0" smtClean="0"/>
              <a:t>务被阻塞，继续执行</a:t>
            </a:r>
            <a:r>
              <a:rPr lang="en-US" altLang="zh-CN" sz="1600" b="1" dirty="0" smtClean="0"/>
              <a:t>L</a:t>
            </a:r>
            <a:r>
              <a:rPr lang="zh-CN" altLang="en-US" sz="1600" b="1" dirty="0" smtClean="0"/>
              <a:t>任务，但此时会把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L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任务暂时提高到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H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同级</a:t>
            </a:r>
            <a:r>
              <a:rPr lang="zh-CN" altLang="en-US" sz="1600" b="1" dirty="0" smtClean="0"/>
              <a:t>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③此时刻</a:t>
            </a:r>
            <a:r>
              <a:rPr lang="en-US" altLang="zh-CN" sz="1600" b="1" dirty="0" smtClean="0"/>
              <a:t>M</a:t>
            </a:r>
            <a:r>
              <a:rPr lang="zh-CN" altLang="en-US" sz="1600" b="1" dirty="0" smtClean="0"/>
              <a:t>任务被唤醒，</a:t>
            </a:r>
            <a:r>
              <a:rPr lang="zh-CN" altLang="en-US" sz="1600" b="1" dirty="0">
                <a:solidFill>
                  <a:srgbClr val="C00000"/>
                </a:solidFill>
              </a:rPr>
              <a:t>但是</a:t>
            </a:r>
            <a:r>
              <a:rPr lang="en-US" altLang="zh-CN" sz="1600" b="1" dirty="0">
                <a:solidFill>
                  <a:srgbClr val="C00000"/>
                </a:solidFill>
              </a:rPr>
              <a:t>L</a:t>
            </a:r>
            <a:r>
              <a:rPr lang="zh-CN" altLang="en-US" sz="1600" b="1" dirty="0">
                <a:solidFill>
                  <a:srgbClr val="C00000"/>
                </a:solidFill>
              </a:rPr>
              <a:t>任务继承到</a:t>
            </a:r>
            <a:r>
              <a:rPr lang="en-US" altLang="zh-CN" sz="1600" b="1" dirty="0">
                <a:solidFill>
                  <a:srgbClr val="C00000"/>
                </a:solidFill>
              </a:rPr>
              <a:t>H</a:t>
            </a:r>
            <a:r>
              <a:rPr lang="zh-CN" altLang="en-US" sz="1600" b="1" dirty="0">
                <a:solidFill>
                  <a:srgbClr val="C00000"/>
                </a:solidFill>
              </a:rPr>
              <a:t>级</a:t>
            </a:r>
            <a:r>
              <a:rPr lang="zh-CN" altLang="en-US" sz="1600" b="1" dirty="0" smtClean="0"/>
              <a:t>，</a:t>
            </a:r>
            <a:r>
              <a:rPr lang="en-US" altLang="zh-CN" sz="1600" b="1" dirty="0" smtClean="0"/>
              <a:t>M</a:t>
            </a:r>
            <a:r>
              <a:rPr lang="zh-CN" altLang="en-US" sz="1600" b="1" dirty="0" smtClean="0"/>
              <a:t>任务继续等待。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④</a:t>
            </a:r>
            <a:r>
              <a:rPr lang="en-US" altLang="zh-CN" sz="1600" b="1" dirty="0">
                <a:solidFill>
                  <a:srgbClr val="C00000"/>
                </a:solidFill>
              </a:rPr>
              <a:t>L</a:t>
            </a:r>
            <a:r>
              <a:rPr lang="zh-CN" altLang="en-US" sz="1600" b="1" dirty="0">
                <a:solidFill>
                  <a:srgbClr val="C00000"/>
                </a:solidFill>
              </a:rPr>
              <a:t>任务释放临界资源</a:t>
            </a:r>
            <a:r>
              <a:rPr lang="zh-CN" altLang="en-US" sz="1600" b="1" dirty="0" smtClean="0"/>
              <a:t>，</a:t>
            </a:r>
            <a:r>
              <a:rPr lang="en-US" altLang="zh-CN" sz="1600" b="1" dirty="0">
                <a:solidFill>
                  <a:srgbClr val="C00000"/>
                </a:solidFill>
              </a:rPr>
              <a:t>H</a:t>
            </a:r>
            <a:r>
              <a:rPr lang="zh-CN" altLang="en-US" sz="1600" b="1" dirty="0">
                <a:solidFill>
                  <a:srgbClr val="C00000"/>
                </a:solidFill>
              </a:rPr>
              <a:t>任务会优先抢到权限</a:t>
            </a:r>
            <a:r>
              <a:rPr lang="zh-CN" altLang="en-US" sz="1600" b="1" dirty="0" smtClean="0"/>
              <a:t>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⑤</a:t>
            </a:r>
            <a:r>
              <a:rPr lang="en-US" altLang="zh-CN" sz="1600" b="1" dirty="0" smtClean="0"/>
              <a:t>H</a:t>
            </a:r>
            <a:r>
              <a:rPr lang="zh-CN" altLang="en-US" sz="1600" b="1" dirty="0" smtClean="0"/>
              <a:t>任务执行完成，接着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执行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M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任务</a:t>
            </a:r>
            <a:r>
              <a:rPr lang="zh-CN" altLang="en-US" sz="1600" b="1" dirty="0" smtClean="0"/>
              <a:t>。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zh-CN" altLang="en-US" sz="1600" b="1" dirty="0" smtClean="0"/>
              <a:t>⑥</a:t>
            </a:r>
            <a:r>
              <a:rPr lang="en-US" altLang="zh-CN" sz="1600" b="1" dirty="0" smtClean="0"/>
              <a:t>M</a:t>
            </a:r>
            <a:r>
              <a:rPr lang="zh-CN" altLang="en-US" sz="1600" b="1" dirty="0" smtClean="0"/>
              <a:t>任务执行完成，则继续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执行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L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任务</a:t>
            </a:r>
            <a:r>
              <a:rPr lang="zh-CN" altLang="en-US" sz="1600" b="1" dirty="0" smtClean="0"/>
              <a:t>。</a:t>
            </a:r>
            <a:endParaRPr lang="en-US" altLang="zh-CN" sz="1600" b="1" dirty="0"/>
          </a:p>
        </p:txBody>
      </p:sp>
      <p:sp>
        <p:nvSpPr>
          <p:cNvPr id="7" name="矩形 6"/>
          <p:cNvSpPr/>
          <p:nvPr/>
        </p:nvSpPr>
        <p:spPr>
          <a:xfrm>
            <a:off x="516160" y="865148"/>
            <a:ext cx="11105569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互斥量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/>
              <a:t>        互斥</a:t>
            </a:r>
            <a:r>
              <a:rPr lang="zh-CN" altLang="en-US" dirty="0"/>
              <a:t>量又称互斥信号量，是一种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特殊的二值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信号量</a:t>
            </a:r>
            <a:r>
              <a:rPr lang="zh-CN" altLang="en-US" dirty="0" smtClean="0"/>
              <a:t>，又称互斥锁；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只有</a:t>
            </a:r>
            <a:r>
              <a:rPr lang="zh-CN" altLang="en-US" b="1" dirty="0" smtClean="0">
                <a:solidFill>
                  <a:srgbClr val="5666D7"/>
                </a:solidFill>
              </a:rPr>
              <a:t>闭锁和开锁</a:t>
            </a:r>
            <a:r>
              <a:rPr lang="zh-CN" altLang="en-US" dirty="0" smtClean="0"/>
              <a:t>两种状态；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它和二值信号量最大的区别是具有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优先级继承</a:t>
            </a:r>
            <a:r>
              <a:rPr lang="zh-CN" altLang="en-US" dirty="0" smtClean="0"/>
              <a:t>机制，减少二值信号量优先级翻转的危害。二值信号量和互斥量的区别如下图：</a:t>
            </a:r>
            <a:r>
              <a:rPr lang="en-US" altLang="zh-CN" dirty="0" smtClean="0"/>
              <a:t> 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184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互斥量的使用方法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574" y="1024947"/>
            <a:ext cx="1106424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rgbClr val="C00000"/>
                </a:solidFill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</a:rPr>
              <a:t>、创建互斥量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en-US" altLang="zh-CN" b="1" dirty="0" smtClean="0"/>
              <a:t>    </a:t>
            </a:r>
            <a:r>
              <a:rPr lang="en-US" altLang="zh-CN" b="1" dirty="0" smtClean="0">
                <a:solidFill>
                  <a:srgbClr val="000000"/>
                </a:solidFill>
              </a:rPr>
              <a:t> </a:t>
            </a:r>
            <a:r>
              <a:rPr lang="en-US" altLang="zh-CN" sz="1400" b="1" dirty="0" smtClean="0"/>
              <a:t>UINT32 </a:t>
            </a:r>
            <a:r>
              <a:rPr lang="en-US" altLang="zh-CN" sz="1400" b="1" dirty="0" err="1" smtClean="0"/>
              <a:t>LOS_MuxCreate</a:t>
            </a:r>
            <a:r>
              <a:rPr lang="en-US" altLang="zh-CN" sz="1400" b="1" dirty="0" smtClean="0"/>
              <a:t> (UINT32 </a:t>
            </a:r>
            <a:r>
              <a:rPr lang="en-US" altLang="zh-CN" sz="1400" b="1" dirty="0"/>
              <a:t>*</a:t>
            </a:r>
            <a:r>
              <a:rPr lang="en-US" altLang="zh-CN" sz="1400" b="1" dirty="0" err="1" smtClean="0"/>
              <a:t>puwMuxHandle</a:t>
            </a:r>
            <a:r>
              <a:rPr lang="en-US" altLang="zh-CN" sz="1400" b="1" dirty="0"/>
              <a:t>) </a:t>
            </a:r>
            <a:r>
              <a:rPr lang="en-US" altLang="zh-CN" sz="1400" b="1" dirty="0" smtClean="0"/>
              <a:t>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互斥量的</a:t>
            </a:r>
            <a:r>
              <a:rPr lang="en-US" altLang="zh-CN" sz="1400" b="1" dirty="0">
                <a:solidFill>
                  <a:srgbClr val="00B050"/>
                </a:solidFill>
              </a:rPr>
              <a:t>ID</a:t>
            </a:r>
            <a:r>
              <a:rPr lang="zh-CN" altLang="en-US" sz="1400" b="1" dirty="0">
                <a:solidFill>
                  <a:srgbClr val="00B050"/>
                </a:solidFill>
              </a:rPr>
              <a:t>，须事先定义，用以区分多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个互斥量。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zh-CN" b="1" dirty="0" smtClean="0">
                <a:solidFill>
                  <a:srgbClr val="C00000"/>
                </a:solidFill>
              </a:rPr>
              <a:t>2</a:t>
            </a:r>
            <a:r>
              <a:rPr lang="zh-CN" altLang="en-US" b="1" dirty="0" smtClean="0">
                <a:solidFill>
                  <a:srgbClr val="C00000"/>
                </a:solidFill>
              </a:rPr>
              <a:t>、删除互斥量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    </a:t>
            </a:r>
            <a:r>
              <a:rPr lang="zh-CN" altLang="en-US" sz="1400" b="1" dirty="0" smtClean="0"/>
              <a:t>互斥量使用结束，应该删除互斥量，回收存储空间。</a:t>
            </a:r>
            <a:r>
              <a:rPr lang="en-US" altLang="zh-CN" sz="1400" b="1" dirty="0" smtClean="0"/>
              <a:t> </a:t>
            </a:r>
            <a:r>
              <a:rPr lang="zh-CN" altLang="en-US" sz="1400" b="1" dirty="0" smtClean="0"/>
              <a:t>删除函数如下：</a:t>
            </a:r>
            <a:endParaRPr lang="en-US" altLang="zh-CN" sz="1400" b="1" dirty="0" smtClean="0"/>
          </a:p>
          <a:p>
            <a:pPr>
              <a:lnSpc>
                <a:spcPct val="150000"/>
              </a:lnSpc>
            </a:pPr>
            <a:r>
              <a:rPr lang="en-US" altLang="zh-CN" sz="1400" b="1" dirty="0" smtClean="0"/>
              <a:t>        </a:t>
            </a:r>
            <a:r>
              <a:rPr lang="en-US" altLang="zh-CN" sz="1400" b="1" dirty="0"/>
              <a:t>UINT32 </a:t>
            </a:r>
            <a:r>
              <a:rPr lang="en-US" altLang="zh-CN" sz="1400" b="1" dirty="0" err="1"/>
              <a:t>LOS_MuxDelete</a:t>
            </a:r>
            <a:r>
              <a:rPr lang="en-US" altLang="zh-CN" sz="1400" b="1" dirty="0"/>
              <a:t>(UINT32 </a:t>
            </a:r>
            <a:r>
              <a:rPr lang="en-US" altLang="zh-CN" sz="1400" b="1" dirty="0" err="1"/>
              <a:t>uwMuxHandle</a:t>
            </a:r>
            <a:r>
              <a:rPr lang="en-US" altLang="zh-CN" sz="1400" b="1" dirty="0"/>
              <a:t>) 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根据信号量</a:t>
            </a:r>
            <a:r>
              <a:rPr lang="en-US" altLang="zh-CN" sz="1400" b="1" dirty="0">
                <a:solidFill>
                  <a:srgbClr val="00B050"/>
                </a:solidFill>
              </a:rPr>
              <a:t>ID</a:t>
            </a:r>
            <a:r>
              <a:rPr lang="zh-CN" altLang="en-US" sz="1400" b="1" dirty="0">
                <a:solidFill>
                  <a:srgbClr val="00B050"/>
                </a:solidFill>
              </a:rPr>
              <a:t>来删除。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b="1" dirty="0">
                <a:solidFill>
                  <a:srgbClr val="C00000"/>
                </a:solidFill>
              </a:rPr>
              <a:t>3</a:t>
            </a:r>
            <a:r>
              <a:rPr lang="zh-CN" altLang="en-US" b="1" dirty="0">
                <a:solidFill>
                  <a:srgbClr val="C00000"/>
                </a:solidFill>
              </a:rPr>
              <a:t>、申请互斥量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0">
              <a:lnSpc>
                <a:spcPct val="150000"/>
              </a:lnSpc>
            </a:pPr>
            <a:r>
              <a:rPr lang="nl-NL" altLang="zh-CN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nl-NL" altLang="zh-CN" sz="1400" b="1" dirty="0"/>
              <a:t>UINT32 LOS_</a:t>
            </a:r>
            <a:r>
              <a:rPr lang="en-US" altLang="zh-CN" sz="1400" b="1" dirty="0"/>
              <a:t>Mux</a:t>
            </a:r>
            <a:r>
              <a:rPr lang="nl-NL" altLang="zh-CN" sz="1400" b="1" dirty="0"/>
              <a:t>Pend(UINT32 uwMuxHandle, UINT32 uwTimeout) </a:t>
            </a:r>
          </a:p>
          <a:p>
            <a:pPr lvl="0">
              <a:lnSpc>
                <a:spcPct val="150000"/>
              </a:lnSpc>
            </a:pPr>
            <a:r>
              <a:rPr lang="zh-CN" altLang="en-US" sz="1400" b="1" dirty="0" smtClean="0"/>
              <a:t>      </a:t>
            </a:r>
            <a:r>
              <a:rPr lang="zh-CN" altLang="en-US" sz="1400" b="1" dirty="0">
                <a:solidFill>
                  <a:srgbClr val="00B050"/>
                </a:solidFill>
              </a:rPr>
              <a:t>类似于信号量读取，分为：不等待、等待一段时间、一直等待（死等）。 读取成功，互斥量闭锁。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rgbClr val="C00000"/>
                </a:solidFill>
              </a:rPr>
              <a:t>、释放互斥量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zh-CN" sz="1400" b="1" dirty="0" smtClean="0"/>
              <a:t>       </a:t>
            </a:r>
            <a:r>
              <a:rPr lang="en-US" altLang="zh-CN" sz="1400" b="1" dirty="0"/>
              <a:t>UINT32 </a:t>
            </a:r>
            <a:r>
              <a:rPr lang="en-US" altLang="zh-CN" sz="1400" b="1" dirty="0" err="1"/>
              <a:t>LOS_MuxPost</a:t>
            </a:r>
            <a:r>
              <a:rPr lang="en-US" altLang="zh-CN" sz="1400" b="1" dirty="0"/>
              <a:t>(UINT32 </a:t>
            </a:r>
            <a:r>
              <a:rPr lang="en-US" altLang="zh-CN" sz="1400" b="1" dirty="0" err="1"/>
              <a:t>uwMuxHandle</a:t>
            </a:r>
            <a:r>
              <a:rPr lang="en-US" altLang="zh-CN" sz="1400" b="1" dirty="0"/>
              <a:t>) </a:t>
            </a:r>
            <a:br>
              <a:rPr lang="en-US" altLang="zh-CN" sz="1400" b="1" dirty="0"/>
            </a:br>
            <a:r>
              <a:rPr lang="en-US" altLang="zh-CN" sz="1400" b="1" dirty="0" smtClean="0"/>
              <a:t>       </a:t>
            </a:r>
            <a:r>
              <a:rPr lang="zh-CN" altLang="en-US" sz="1400" b="1" dirty="0">
                <a:solidFill>
                  <a:srgbClr val="00B050"/>
                </a:solidFill>
              </a:rPr>
              <a:t>释放互斥量，互斥量开锁。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353187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二值信号量和互斥锁对比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9" y="856037"/>
            <a:ext cx="5755358" cy="292893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9" y="3784973"/>
            <a:ext cx="5755358" cy="29539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143" y="856037"/>
            <a:ext cx="5076667" cy="30181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143" y="3873323"/>
            <a:ext cx="5076667" cy="299035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3263" y="1662546"/>
            <a:ext cx="167119" cy="1671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2543" y="1662546"/>
            <a:ext cx="159524" cy="1671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9415" y="1813040"/>
            <a:ext cx="179280" cy="1718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9415" y="2068732"/>
            <a:ext cx="126942" cy="13271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1874" y="2204916"/>
            <a:ext cx="160193" cy="16019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3617" y="2336801"/>
            <a:ext cx="160193" cy="16019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501970" y="4906837"/>
            <a:ext cx="1912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Low</a:t>
            </a:r>
            <a:r>
              <a:rPr lang="zh-CN" altLang="en-US" dirty="0" smtClean="0">
                <a:solidFill>
                  <a:srgbClr val="FF0000"/>
                </a:solidFill>
              </a:rPr>
              <a:t>级别释放互锁之前</a:t>
            </a:r>
            <a:r>
              <a:rPr lang="zh-CN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不会</a:t>
            </a:r>
            <a:r>
              <a:rPr lang="zh-CN" altLang="en-US" dirty="0" smtClean="0">
                <a:solidFill>
                  <a:srgbClr val="FF0000"/>
                </a:solidFill>
              </a:rPr>
              <a:t>执行</a:t>
            </a:r>
            <a:r>
              <a:rPr lang="en-US" altLang="zh-CN" dirty="0" smtClean="0">
                <a:solidFill>
                  <a:srgbClr val="FF0000"/>
                </a:solidFill>
              </a:rPr>
              <a:t>Middle</a:t>
            </a:r>
            <a:r>
              <a:rPr lang="zh-CN" altLang="en-US" dirty="0" smtClean="0">
                <a:solidFill>
                  <a:srgbClr val="FF0000"/>
                </a:solidFill>
              </a:rPr>
              <a:t>级别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771223" y="1898945"/>
            <a:ext cx="1912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Low</a:t>
            </a:r>
            <a:r>
              <a:rPr lang="zh-CN" altLang="en-US" dirty="0" smtClean="0">
                <a:solidFill>
                  <a:srgbClr val="FF0000"/>
                </a:solidFill>
              </a:rPr>
              <a:t>级别释放互锁之前</a:t>
            </a:r>
            <a:r>
              <a:rPr lang="zh-CN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会</a:t>
            </a:r>
            <a:r>
              <a:rPr lang="zh-CN" altLang="en-US" dirty="0" smtClean="0">
                <a:solidFill>
                  <a:srgbClr val="FF0000"/>
                </a:solidFill>
              </a:rPr>
              <a:t>执行</a:t>
            </a:r>
            <a:r>
              <a:rPr lang="en-US" altLang="zh-CN" dirty="0" smtClean="0">
                <a:solidFill>
                  <a:srgbClr val="FF0000"/>
                </a:solidFill>
              </a:rPr>
              <a:t>Middle</a:t>
            </a:r>
            <a:r>
              <a:rPr lang="zh-CN" altLang="en-US" dirty="0" smtClean="0">
                <a:solidFill>
                  <a:srgbClr val="FF0000"/>
                </a:solidFill>
              </a:rPr>
              <a:t>级别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89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zh-CN" altLang="en-US" sz="2800" b="1" dirty="0">
                <a:cs typeface="+mn-ea"/>
                <a:sym typeface="+mn-lt"/>
              </a:rPr>
              <a:t>       </a:t>
            </a:r>
            <a:r>
              <a:rPr lang="zh-CN" altLang="en-US" sz="2800" b="1" dirty="0" smtClean="0">
                <a:cs typeface="+mn-ea"/>
                <a:sym typeface="+mn-lt"/>
              </a:rPr>
              <a:t>目录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D02CDF3-99CB-47D4-9923-DEE71CF4F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97" y="1102970"/>
            <a:ext cx="7886700" cy="4351338"/>
          </a:xfrm>
        </p:spPr>
        <p:txBody>
          <a:bodyPr>
            <a:normAutofit/>
          </a:bodyPr>
          <a:lstStyle/>
          <a:p>
            <a:r>
              <a:rPr lang="zh-CN" altLang="en-US" sz="2400" b="1" dirty="0" smtClean="0">
                <a:solidFill>
                  <a:schemeClr val="tx1"/>
                </a:solidFill>
              </a:rPr>
              <a:t>消息队列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r>
              <a:rPr lang="zh-CN" altLang="en-US" sz="2400" b="1" dirty="0" smtClean="0">
                <a:solidFill>
                  <a:schemeClr val="tx1"/>
                </a:solidFill>
              </a:rPr>
              <a:t>信号量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400" b="1" dirty="0" smtClean="0">
                <a:solidFill>
                  <a:schemeClr val="tx1"/>
                </a:solidFill>
              </a:rPr>
              <a:t>互斥量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</a:rPr>
              <a:t>事件</a:t>
            </a:r>
            <a:endParaRPr lang="en-US" altLang="zh-CN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3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事件的基本概念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2024" y="863707"/>
            <a:ext cx="11562173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</a:rPr>
              <a:t>    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事件：</a:t>
            </a:r>
            <a:r>
              <a:rPr lang="zh-CN" altLang="en-US" sz="2000" b="1" dirty="0" smtClean="0">
                <a:solidFill>
                  <a:srgbClr val="000000"/>
                </a:solidFill>
                <a:latin typeface="+mn-ea"/>
              </a:rPr>
              <a:t>以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位掩码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</a:rPr>
              <a:t>的方式支持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多事件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</a:rPr>
              <a:t>的同步</a:t>
            </a:r>
            <a:endParaRPr lang="en-US" altLang="zh-CN" sz="2000" b="1" dirty="0" smtClean="0">
              <a:latin typeface="+mn-ea"/>
            </a:endParaRP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一种实现任务间通信的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机制</a:t>
            </a:r>
            <a:r>
              <a:rPr lang="zh-CN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，主要用于任务间的同步</a:t>
            </a:r>
            <a:r>
              <a:rPr lang="zh-CN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。</a:t>
            </a:r>
            <a:endParaRPr lang="en-US" altLang="zh-CN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zh-CN" altLang="en-US" dirty="0" smtClean="0"/>
              <a:t>              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多任务</a:t>
            </a:r>
            <a:r>
              <a:rPr lang="zh-CN" altLang="en-US" dirty="0"/>
              <a:t>环境下，任务和任务，任务和中断之间经常需要同步。例如任务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C00000"/>
                </a:solidFill>
              </a:rPr>
              <a:t>发生某事件</a:t>
            </a:r>
            <a:r>
              <a:rPr lang="zh-CN" altLang="en-US" dirty="0" smtClean="0">
                <a:solidFill>
                  <a:srgbClr val="C00000"/>
                </a:solidFill>
              </a:rPr>
              <a:t>，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                    </a:t>
            </a:r>
            <a:r>
              <a:rPr lang="zh-CN" altLang="en-US" dirty="0" smtClean="0">
                <a:solidFill>
                  <a:srgbClr val="C00000"/>
                </a:solidFill>
              </a:rPr>
              <a:t>任务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zh-CN" altLang="en-US" dirty="0">
                <a:solidFill>
                  <a:srgbClr val="C00000"/>
                </a:solidFill>
              </a:rPr>
              <a:t>需要立刻处理</a:t>
            </a:r>
            <a:r>
              <a:rPr lang="zh-CN" altLang="en-US" dirty="0"/>
              <a:t>，这就是</a:t>
            </a:r>
            <a:r>
              <a:rPr lang="zh-CN" altLang="en-US" dirty="0" smtClean="0">
                <a:solidFill>
                  <a:srgbClr val="C00000"/>
                </a:solidFill>
              </a:rPr>
              <a:t>同步</a:t>
            </a:r>
            <a:r>
              <a:rPr lang="zh-CN" altLang="en-US" dirty="0" smtClean="0"/>
              <a:t>，以实现多任务协调工作。</a:t>
            </a:r>
            <a:endParaRPr lang="en-US" altLang="zh-CN" dirty="0"/>
          </a:p>
          <a:p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事件与消息对比：只用来通信，不能传输数据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                    事件</a:t>
            </a:r>
            <a:r>
              <a:rPr lang="en-US" altLang="zh-CN" dirty="0" smtClean="0"/>
              <a:t>------</a:t>
            </a:r>
            <a:r>
              <a:rPr lang="zh-CN" altLang="en-US" dirty="0" smtClean="0"/>
              <a:t>只通知事件</a:t>
            </a:r>
            <a:r>
              <a:rPr lang="zh-CN" altLang="en-US" dirty="0" smtClean="0">
                <a:solidFill>
                  <a:srgbClr val="C00000"/>
                </a:solidFill>
              </a:rPr>
              <a:t>是否发生</a:t>
            </a:r>
            <a:r>
              <a:rPr lang="zh-CN" altLang="en-US" dirty="0" smtClean="0"/>
              <a:t>，不会提供更多信息；</a:t>
            </a:r>
            <a:endParaRPr lang="en-US" altLang="zh-CN" dirty="0" smtClean="0"/>
          </a:p>
          <a:p>
            <a:r>
              <a:rPr lang="zh-CN" altLang="en-US" dirty="0" smtClean="0"/>
              <a:t>                     消息</a:t>
            </a:r>
            <a:r>
              <a:rPr lang="en-US" altLang="zh-CN" dirty="0" smtClean="0"/>
              <a:t>------</a:t>
            </a:r>
            <a:r>
              <a:rPr lang="zh-CN" altLang="en-US" dirty="0" smtClean="0"/>
              <a:t>可以给出具体的</a:t>
            </a:r>
            <a:r>
              <a:rPr lang="zh-CN" altLang="en-US" dirty="0" smtClean="0">
                <a:solidFill>
                  <a:srgbClr val="C00000"/>
                </a:solidFill>
              </a:rPr>
              <a:t>消息内容</a:t>
            </a:r>
            <a:r>
              <a:rPr lang="zh-CN" altLang="en-US" dirty="0" smtClean="0"/>
              <a:t>，具有数据传输功能。</a:t>
            </a:r>
            <a:endParaRPr lang="en-US" altLang="zh-CN" dirty="0" smtClean="0"/>
          </a:p>
          <a:p>
            <a:r>
              <a:rPr lang="en-US" altLang="zh-CN" dirty="0" smtClean="0"/>
              <a:t>	  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事件与信号量对比：可以实现一对多，多对多的同步；不具有累加功能</a:t>
            </a:r>
            <a:r>
              <a:rPr lang="zh-CN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。</a:t>
            </a:r>
            <a:endParaRPr lang="en-US" altLang="zh-CN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zh-CN" altLang="en-US" dirty="0" smtClean="0"/>
              <a:t>                     事件</a:t>
            </a:r>
            <a:r>
              <a:rPr lang="en-US" altLang="zh-CN" dirty="0" smtClean="0"/>
              <a:t>------</a:t>
            </a:r>
            <a:r>
              <a:rPr lang="zh-CN" altLang="en-US" dirty="0"/>
              <a:t>比作开关，一个开关可以控制多台</a:t>
            </a:r>
            <a:r>
              <a:rPr lang="zh-CN" altLang="en-US" dirty="0" smtClean="0"/>
              <a:t>设备</a:t>
            </a:r>
            <a:r>
              <a:rPr lang="zh-CN" altLang="en-US" dirty="0"/>
              <a:t>；</a:t>
            </a:r>
            <a:r>
              <a:rPr lang="zh-CN" altLang="en-US" dirty="0" smtClean="0"/>
              <a:t>事件可以重复写，最后写入的有效。</a:t>
            </a:r>
            <a:endParaRPr lang="en-US" altLang="zh-CN" dirty="0" smtClean="0"/>
          </a:p>
          <a:p>
            <a:r>
              <a:rPr lang="zh-CN" altLang="en-US" dirty="0" smtClean="0"/>
              <a:t>                     信号量</a:t>
            </a:r>
            <a:r>
              <a:rPr lang="en-US" altLang="zh-CN" dirty="0" smtClean="0"/>
              <a:t>------</a:t>
            </a:r>
            <a:r>
              <a:rPr lang="zh-CN" altLang="en-US" dirty="0" smtClean="0"/>
              <a:t>比作工具，一个工具不可能多人</a:t>
            </a:r>
            <a:r>
              <a:rPr lang="zh-CN" altLang="en-US" dirty="0"/>
              <a:t>同时</a:t>
            </a:r>
            <a:r>
              <a:rPr lang="zh-CN" altLang="en-US" dirty="0" smtClean="0"/>
              <a:t>使用，</a:t>
            </a:r>
            <a:r>
              <a:rPr lang="zh-CN" altLang="en-US" dirty="0" smtClean="0"/>
              <a:t>也</a:t>
            </a:r>
            <a:r>
              <a:rPr lang="zh-CN" altLang="en-US" dirty="0"/>
              <a:t>不能重复写入，有累加计数</a:t>
            </a:r>
            <a:r>
              <a:rPr lang="zh-CN" altLang="en-US" dirty="0" smtClean="0"/>
              <a:t>功能。 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事件控制块</a:t>
            </a:r>
            <a:b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/>
              <a:t>	        </a:t>
            </a:r>
            <a:r>
              <a:rPr lang="zh-CN" altLang="en-US" dirty="0" smtClean="0"/>
              <a:t>事件控制块</a:t>
            </a:r>
            <a:r>
              <a:rPr lang="en-US" altLang="zh-CN" dirty="0" smtClean="0"/>
              <a:t>------</a:t>
            </a:r>
            <a:r>
              <a:rPr lang="zh-CN" altLang="en-US" b="1" dirty="0" smtClean="0">
                <a:solidFill>
                  <a:srgbClr val="C00000"/>
                </a:solidFill>
              </a:rPr>
              <a:t>事件控制块用户可以操作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                    消息</a:t>
            </a:r>
            <a:r>
              <a:rPr lang="zh-CN" altLang="en-US" dirty="0"/>
              <a:t>控制块、信号量控制块和互斥量控制</a:t>
            </a:r>
            <a:r>
              <a:rPr lang="zh-CN" altLang="en-US" dirty="0" smtClean="0"/>
              <a:t>块</a:t>
            </a:r>
            <a:r>
              <a:rPr lang="en-US" altLang="zh-CN" dirty="0" smtClean="0"/>
              <a:t>------</a:t>
            </a:r>
            <a:r>
              <a:rPr lang="zh-CN" altLang="en-US" b="1" dirty="0" smtClean="0">
                <a:solidFill>
                  <a:srgbClr val="C00000"/>
                </a:solidFill>
              </a:rPr>
              <a:t>用户是看不到的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</a:t>
            </a:r>
            <a:r>
              <a:rPr lang="zh-CN" altLang="en-US" dirty="0" smtClean="0"/>
              <a:t>事件控制块的结构体定义如下：</a:t>
            </a:r>
            <a:endParaRPr lang="en-US" altLang="zh-CN" dirty="0" smtClean="0"/>
          </a:p>
          <a:p>
            <a:r>
              <a:rPr lang="en-US" altLang="zh-CN" dirty="0" smtClean="0"/>
              <a:t>                      </a:t>
            </a: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/>
              <a:t>struct</a:t>
            </a:r>
            <a:r>
              <a:rPr lang="en-US" altLang="zh-CN" dirty="0"/>
              <a:t> </a:t>
            </a:r>
            <a:r>
              <a:rPr lang="en-US" altLang="zh-CN" dirty="0" err="1"/>
              <a:t>tagEvent</a:t>
            </a:r>
            <a:r>
              <a:rPr lang="en-US" altLang="zh-CN" dirty="0"/>
              <a:t> {</a:t>
            </a:r>
            <a:br>
              <a:rPr lang="en-US" altLang="zh-CN" dirty="0"/>
            </a:br>
            <a:r>
              <a:rPr lang="en-US" altLang="zh-CN" dirty="0" smtClean="0"/>
              <a:t>                                    </a:t>
            </a:r>
            <a:r>
              <a:rPr lang="en-US" altLang="zh-CN" dirty="0"/>
              <a:t>UINT32 </a:t>
            </a:r>
            <a:r>
              <a:rPr lang="en-US" altLang="zh-CN" dirty="0" err="1"/>
              <a:t>uwEventID</a:t>
            </a:r>
            <a:r>
              <a:rPr lang="en-US" altLang="zh-CN" dirty="0"/>
              <a:t>; </a:t>
            </a:r>
            <a:r>
              <a:rPr lang="en-US" altLang="zh-CN" dirty="0" smtClean="0"/>
              <a:t>           </a:t>
            </a:r>
            <a:r>
              <a:rPr lang="en-US" altLang="zh-CN" dirty="0" smtClean="0">
                <a:solidFill>
                  <a:srgbClr val="00B050"/>
                </a:solidFill>
              </a:rPr>
              <a:t>//</a:t>
            </a:r>
            <a:r>
              <a:rPr lang="zh-CN" altLang="en-US" dirty="0" smtClean="0">
                <a:solidFill>
                  <a:srgbClr val="00B050"/>
                </a:solidFill>
              </a:rPr>
              <a:t>事件</a:t>
            </a:r>
            <a:r>
              <a:rPr lang="zh-CN" altLang="en-US" dirty="0">
                <a:solidFill>
                  <a:srgbClr val="00B050"/>
                </a:solidFill>
              </a:rPr>
              <a:t>控制块中的事件掩码</a:t>
            </a:r>
            <a:r>
              <a:rPr lang="zh-CN" altLang="en-US" dirty="0" smtClean="0">
                <a:solidFill>
                  <a:srgbClr val="00B050"/>
                </a:solidFill>
              </a:rPr>
              <a:t>，存放事件组。</a:t>
            </a:r>
            <a:r>
              <a:rPr lang="zh-CN" altLang="en-US" b="1" dirty="0">
                <a:solidFill>
                  <a:srgbClr val="C00000"/>
                </a:solidFill>
              </a:rPr>
              <a:t>用户可操作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dirty="0" smtClean="0"/>
              <a:t>                                    LOS_DL_LIST </a:t>
            </a:r>
            <a:r>
              <a:rPr lang="en-US" altLang="zh-CN" dirty="0" err="1" smtClean="0"/>
              <a:t>stEventList</a:t>
            </a:r>
            <a:r>
              <a:rPr lang="en-US" altLang="zh-CN" dirty="0" smtClean="0"/>
              <a:t>;    </a:t>
            </a:r>
            <a:r>
              <a:rPr lang="en-US" altLang="zh-CN" dirty="0" smtClean="0">
                <a:solidFill>
                  <a:srgbClr val="00B050"/>
                </a:solidFill>
              </a:rPr>
              <a:t>//</a:t>
            </a:r>
            <a:r>
              <a:rPr lang="zh-CN" altLang="en-US" dirty="0" smtClean="0">
                <a:solidFill>
                  <a:srgbClr val="00B050"/>
                </a:solidFill>
              </a:rPr>
              <a:t>事件阻塞列表。</a:t>
            </a:r>
            <a:r>
              <a:rPr lang="zh-CN" altLang="en-US" b="1" dirty="0">
                <a:solidFill>
                  <a:srgbClr val="C00000"/>
                </a:solidFill>
              </a:rPr>
              <a:t>用户不可操作</a:t>
            </a:r>
            <a:r>
              <a:rPr lang="en-US" altLang="zh-CN" b="1" dirty="0">
                <a:solidFill>
                  <a:srgbClr val="C00000"/>
                </a:solidFill>
              </a:rPr>
              <a:t/>
            </a:r>
            <a:br>
              <a:rPr lang="en-US" altLang="zh-CN" b="1" dirty="0">
                <a:solidFill>
                  <a:srgbClr val="C00000"/>
                </a:solidFill>
              </a:rPr>
            </a:br>
            <a:r>
              <a:rPr lang="en-US" altLang="zh-CN" dirty="0" smtClean="0"/>
              <a:t>                      } EVENT_CB_S, *PEVENT_CB_S; </a:t>
            </a:r>
            <a:r>
              <a:rPr lang="en-US" altLang="zh-CN" dirty="0" smtClean="0"/>
              <a:t>  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定义了一个</a:t>
            </a:r>
            <a:r>
              <a:rPr lang="zh-CN" altLang="en-US" b="1" dirty="0">
                <a:solidFill>
                  <a:srgbClr val="C00000"/>
                </a:solidFill>
              </a:rPr>
              <a:t>结构体类型</a:t>
            </a:r>
            <a:r>
              <a:rPr lang="zh-CN" altLang="en-US" dirty="0">
                <a:solidFill>
                  <a:srgbClr val="00B050"/>
                </a:solidFill>
              </a:rPr>
              <a:t>，同时定义了一个</a:t>
            </a:r>
            <a:r>
              <a:rPr lang="zh-CN" altLang="en-US" b="1" dirty="0">
                <a:solidFill>
                  <a:srgbClr val="C00000"/>
                </a:solidFill>
              </a:rPr>
              <a:t>结构体指针类型</a:t>
            </a:r>
            <a:r>
              <a:rPr lang="en-US" altLang="zh-CN" dirty="0">
                <a:solidFill>
                  <a:srgbClr val="00B050"/>
                </a:solidFill>
              </a:rPr>
              <a:t/>
            </a:r>
            <a:br>
              <a:rPr lang="en-US" altLang="zh-CN" dirty="0">
                <a:solidFill>
                  <a:srgbClr val="00B050"/>
                </a:solidFill>
              </a:rPr>
            </a:br>
            <a:r>
              <a:rPr lang="en-US" altLang="zh-CN" dirty="0" smtClean="0"/>
              <a:t>                </a:t>
            </a:r>
            <a:r>
              <a:rPr lang="zh-CN" altLang="en-US" b="1" dirty="0">
                <a:solidFill>
                  <a:srgbClr val="C00000"/>
                </a:solidFill>
              </a:rPr>
              <a:t>注意：</a:t>
            </a:r>
            <a:r>
              <a:rPr lang="en-US" altLang="zh-CN" b="1" dirty="0" err="1">
                <a:solidFill>
                  <a:srgbClr val="C00000"/>
                </a:solidFill>
              </a:rPr>
              <a:t>uwEventID</a:t>
            </a:r>
            <a:r>
              <a:rPr lang="zh-CN" altLang="en-US" b="1" dirty="0">
                <a:solidFill>
                  <a:srgbClr val="C00000"/>
                </a:solidFill>
              </a:rPr>
              <a:t>的第</a:t>
            </a:r>
            <a:r>
              <a:rPr lang="en-US" altLang="zh-CN" b="1" dirty="0">
                <a:solidFill>
                  <a:srgbClr val="C00000"/>
                </a:solidFill>
              </a:rPr>
              <a:t>25</a:t>
            </a:r>
            <a:r>
              <a:rPr lang="zh-CN" altLang="en-US" b="1" dirty="0">
                <a:solidFill>
                  <a:srgbClr val="C00000"/>
                </a:solidFill>
              </a:rPr>
              <a:t>位固定为</a:t>
            </a:r>
            <a:r>
              <a:rPr lang="en-US" altLang="zh-CN" b="1" dirty="0">
                <a:solidFill>
                  <a:srgbClr val="C00000"/>
                </a:solidFill>
              </a:rPr>
              <a:t>0</a:t>
            </a:r>
            <a:r>
              <a:rPr lang="zh-CN" altLang="en-US" b="1" dirty="0">
                <a:solidFill>
                  <a:srgbClr val="C00000"/>
                </a:solidFill>
              </a:rPr>
              <a:t>，其他</a:t>
            </a:r>
            <a:r>
              <a:rPr lang="en-US" altLang="zh-CN" b="1" dirty="0">
                <a:solidFill>
                  <a:srgbClr val="C00000"/>
                </a:solidFill>
              </a:rPr>
              <a:t>31</a:t>
            </a:r>
            <a:r>
              <a:rPr lang="zh-CN" altLang="en-US" b="1" dirty="0">
                <a:solidFill>
                  <a:srgbClr val="C00000"/>
                </a:solidFill>
              </a:rPr>
              <a:t>个位用来存放</a:t>
            </a:r>
            <a:r>
              <a:rPr lang="en-US" altLang="zh-CN" b="1" dirty="0">
                <a:solidFill>
                  <a:srgbClr val="C00000"/>
                </a:solidFill>
              </a:rPr>
              <a:t>31</a:t>
            </a:r>
            <a:r>
              <a:rPr lang="zh-CN" altLang="en-US" b="1" dirty="0">
                <a:solidFill>
                  <a:srgbClr val="C00000"/>
                </a:solidFill>
              </a:rPr>
              <a:t>个事件。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                          即一个事件组可以存放</a:t>
            </a:r>
            <a:r>
              <a:rPr lang="en-US" altLang="zh-CN" b="1" dirty="0">
                <a:solidFill>
                  <a:srgbClr val="C00000"/>
                </a:solidFill>
              </a:rPr>
              <a:t>31</a:t>
            </a:r>
            <a:r>
              <a:rPr lang="zh-CN" altLang="en-US" b="1" dirty="0">
                <a:solidFill>
                  <a:srgbClr val="C00000"/>
                </a:solidFill>
              </a:rPr>
              <a:t>个事件。</a:t>
            </a:r>
          </a:p>
        </p:txBody>
      </p:sp>
    </p:spTree>
    <p:extLst>
      <p:ext uri="{BB962C8B-B14F-4D97-AF65-F5344CB8AC3E}">
        <p14:creationId xmlns:p14="http://schemas.microsoft.com/office/powerpoint/2010/main" val="104043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事件的使用方法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2458" y="750627"/>
            <a:ext cx="11064240" cy="4373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、初始化事件控制块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  UINT32 </a:t>
            </a:r>
            <a:r>
              <a:rPr lang="en-US" altLang="zh-CN" sz="1600" b="1" dirty="0" err="1"/>
              <a:t>LOS_EventInit</a:t>
            </a:r>
            <a:r>
              <a:rPr lang="en-US" altLang="zh-CN" sz="1600" b="1" dirty="0"/>
              <a:t>(PEVENT_CB_S </a:t>
            </a:r>
            <a:r>
              <a:rPr lang="en-US" altLang="zh-CN" sz="1600" b="1" dirty="0" err="1"/>
              <a:t>pstEventCB</a:t>
            </a:r>
            <a:r>
              <a:rPr lang="en-US" altLang="zh-CN" sz="1600" b="1" dirty="0"/>
              <a:t>)      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事件控制块，</a:t>
            </a:r>
            <a:r>
              <a:rPr lang="zh-CN" altLang="en-US" sz="1600" b="1" dirty="0">
                <a:solidFill>
                  <a:srgbClr val="00B050"/>
                </a:solidFill>
              </a:rPr>
              <a:t>须事先定义，用以区分多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个事件组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,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其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地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							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址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为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初始化事件控制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块函数的参数。</a:t>
            </a:r>
            <a:endParaRPr lang="en-US" altLang="zh-CN" sz="1600" b="1" dirty="0" smtClean="0">
              <a:solidFill>
                <a:srgbClr val="00B05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rgbClr val="00B050"/>
                </a:solidFill>
              </a:rPr>
              <a:t> 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      					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初始化的结果</a:t>
            </a:r>
            <a:r>
              <a:rPr lang="en-US" altLang="zh-CN" sz="1600" b="1" dirty="0" err="1" smtClean="0">
                <a:solidFill>
                  <a:srgbClr val="00B050"/>
                </a:solidFill>
              </a:rPr>
              <a:t>uwEventID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=0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，即事件为空，没有任何事件发生。</a:t>
            </a:r>
            <a:endParaRPr lang="en-US" altLang="zh-CN" sz="1600" b="1" dirty="0" smtClean="0">
              <a:solidFill>
                <a:srgbClr val="00B05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600" b="1" dirty="0" smtClean="0"/>
              <a:t>     </a:t>
            </a:r>
            <a:r>
              <a:rPr lang="zh-CN" altLang="en-US" sz="1600" b="1" dirty="0"/>
              <a:t>例：</a:t>
            </a:r>
            <a:r>
              <a:rPr lang="en-US" altLang="zh-CN" sz="1600" b="1" dirty="0"/>
              <a:t>static EVENT_CB_S </a:t>
            </a:r>
            <a:r>
              <a:rPr lang="en-US" altLang="zh-CN" sz="1600" b="1" dirty="0" err="1"/>
              <a:t>EventGroup_CB</a:t>
            </a:r>
            <a:r>
              <a:rPr lang="en-US" altLang="zh-CN" sz="1600" b="1" dirty="0" smtClean="0"/>
              <a:t>; 	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>
                <a:solidFill>
                  <a:srgbClr val="00B050"/>
                </a:solidFill>
              </a:rPr>
              <a:t>定义事件控制块</a:t>
            </a:r>
            <a:r>
              <a:rPr lang="en-US" altLang="zh-CN" sz="1600" b="1" dirty="0">
                <a:solidFill>
                  <a:srgbClr val="00B050"/>
                </a:solidFill>
              </a:rPr>
              <a:t/>
            </a:r>
            <a:br>
              <a:rPr lang="en-US" altLang="zh-CN" sz="1600" b="1" dirty="0">
                <a:solidFill>
                  <a:srgbClr val="00B050"/>
                </a:solidFill>
              </a:rPr>
            </a:br>
            <a:r>
              <a:rPr lang="en-US" altLang="zh-CN" sz="1600" b="1" dirty="0"/>
              <a:t>            </a:t>
            </a:r>
            <a:r>
              <a:rPr lang="en-US" altLang="zh-CN" sz="1600" b="1" dirty="0" smtClean="0"/>
              <a:t>  UINT32 </a:t>
            </a:r>
            <a:r>
              <a:rPr lang="en-US" altLang="zh-CN" sz="1600" b="1" dirty="0" err="1"/>
              <a:t>uwRet</a:t>
            </a:r>
            <a:r>
              <a:rPr lang="en-US" altLang="zh-CN" sz="1600" b="1" dirty="0"/>
              <a:t> = LOS_OK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;  		 // </a:t>
            </a:r>
            <a:r>
              <a:rPr lang="zh-CN" altLang="en-US" sz="1600" b="1" dirty="0">
                <a:solidFill>
                  <a:srgbClr val="00B050"/>
                </a:solidFill>
              </a:rPr>
              <a:t>定义一个返回类型，初始化为成功的返回值 </a:t>
            </a:r>
            <a:r>
              <a:rPr lang="en-US" altLang="zh-CN" sz="1600" b="1" dirty="0"/>
              <a:t/>
            </a:r>
            <a:br>
              <a:rPr lang="en-US" altLang="zh-CN" sz="1600" b="1" dirty="0"/>
            </a:br>
            <a:r>
              <a:rPr lang="en-US" altLang="zh-CN" sz="1600" b="1" dirty="0" smtClean="0"/>
              <a:t>              </a:t>
            </a:r>
            <a:r>
              <a:rPr lang="en-US" altLang="zh-CN" sz="1600" b="1" dirty="0" err="1"/>
              <a:t>uwRet</a:t>
            </a:r>
            <a:r>
              <a:rPr lang="en-US" altLang="zh-CN" sz="1600" b="1" dirty="0"/>
              <a:t> = </a:t>
            </a:r>
            <a:r>
              <a:rPr lang="en-US" altLang="zh-CN" sz="1600" b="1" dirty="0" err="1"/>
              <a:t>LOS_EventInit</a:t>
            </a:r>
            <a:r>
              <a:rPr lang="en-US" altLang="zh-CN" sz="1600" b="1" dirty="0"/>
              <a:t>(&amp;</a:t>
            </a:r>
            <a:r>
              <a:rPr lang="en-US" altLang="zh-CN" sz="1600" b="1" dirty="0" err="1"/>
              <a:t>EventGroup_CB</a:t>
            </a:r>
            <a:r>
              <a:rPr lang="en-US" altLang="zh-CN" sz="1600" b="1" dirty="0"/>
              <a:t>); </a:t>
            </a:r>
            <a:r>
              <a:rPr lang="en-US" altLang="zh-CN" sz="1600" b="1" dirty="0" smtClean="0"/>
              <a:t>	</a:t>
            </a:r>
            <a:r>
              <a:rPr lang="en-US" altLang="zh-CN" sz="16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初始化事件控制块</a:t>
            </a:r>
            <a:r>
              <a:rPr lang="en-US" altLang="zh-CN" sz="1600" b="1" dirty="0">
                <a:solidFill>
                  <a:srgbClr val="00B050"/>
                </a:solidFill>
              </a:rPr>
              <a:t/>
            </a:r>
            <a:br>
              <a:rPr lang="en-US" altLang="zh-CN" sz="1600" b="1" dirty="0">
                <a:solidFill>
                  <a:srgbClr val="00B050"/>
                </a:solidFill>
              </a:rPr>
            </a:br>
            <a:endParaRPr lang="en-US" altLang="zh-CN" sz="1600" b="1" dirty="0">
              <a:solidFill>
                <a:srgbClr val="00B05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、销毁事件控制块</a:t>
            </a:r>
            <a:r>
              <a:rPr lang="en-US" altLang="zh-CN" sz="1600" b="1" dirty="0">
                <a:solidFill>
                  <a:srgbClr val="C00000"/>
                </a:solidFill>
              </a:rPr>
              <a:t>        </a:t>
            </a:r>
          </a:p>
          <a:p>
            <a:pPr lvl="0">
              <a:lnSpc>
                <a:spcPct val="125000"/>
              </a:lnSpc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  </a:t>
            </a:r>
            <a:r>
              <a:rPr lang="zh-CN" altLang="en-US" sz="1600" b="1" dirty="0" smtClean="0"/>
              <a:t>事件使用结束，应该删除事件控制块，回收存储空间。</a:t>
            </a:r>
            <a:r>
              <a:rPr lang="en-US" altLang="zh-CN" sz="1600" b="1" dirty="0" smtClean="0"/>
              <a:t> </a:t>
            </a:r>
            <a:r>
              <a:rPr lang="zh-CN" altLang="en-US" sz="1600" b="1" dirty="0" smtClean="0"/>
              <a:t>销毁函数如下：</a:t>
            </a:r>
            <a:endParaRPr lang="en-US" altLang="zh-CN" sz="1600" b="1" dirty="0" smtClean="0"/>
          </a:p>
          <a:p>
            <a:pPr>
              <a:lnSpc>
                <a:spcPct val="125000"/>
              </a:lnSpc>
            </a:pPr>
            <a:r>
              <a:rPr lang="en-US" altLang="zh-CN" sz="1600" b="1" dirty="0" smtClean="0">
                <a:latin typeface="+mn-ea"/>
              </a:rPr>
              <a:t>        </a:t>
            </a:r>
            <a:r>
              <a:rPr lang="en-US" altLang="zh-CN" sz="1600" b="1" dirty="0" smtClean="0">
                <a:solidFill>
                  <a:srgbClr val="000000"/>
                </a:solidFill>
                <a:latin typeface="+mn-ea"/>
              </a:rPr>
              <a:t>UINT32 </a:t>
            </a:r>
            <a:r>
              <a:rPr lang="en-US" altLang="zh-CN" sz="1600" b="1" dirty="0" err="1">
                <a:solidFill>
                  <a:srgbClr val="000000"/>
                </a:solidFill>
                <a:latin typeface="+mn-ea"/>
              </a:rPr>
              <a:t>LOS_EventDestory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(PEVENT_CB_S </a:t>
            </a:r>
            <a:r>
              <a:rPr lang="en-US" altLang="zh-CN" sz="1600" b="1" dirty="0" err="1" smtClean="0">
                <a:solidFill>
                  <a:srgbClr val="000000"/>
                </a:solidFill>
                <a:latin typeface="+mn-ea"/>
              </a:rPr>
              <a:t>pstEventCB</a:t>
            </a:r>
            <a:r>
              <a:rPr lang="en-US" altLang="zh-CN" sz="1600" b="1" dirty="0" smtClean="0">
                <a:solidFill>
                  <a:srgbClr val="000000"/>
                </a:solidFill>
                <a:latin typeface="+mn-ea"/>
              </a:rPr>
              <a:t>)</a:t>
            </a:r>
            <a:r>
              <a:rPr lang="en-US" altLang="zh-CN" sz="1600" b="1" dirty="0" smtClean="0">
                <a:latin typeface="+mn-ea"/>
              </a:rPr>
              <a:t> </a:t>
            </a:r>
            <a:r>
              <a:rPr lang="en-US" altLang="zh-CN" sz="1600" b="1" dirty="0" smtClean="0">
                <a:solidFill>
                  <a:srgbClr val="00B050"/>
                </a:solidFill>
                <a:latin typeface="+mn-ea"/>
              </a:rPr>
              <a:t>//</a:t>
            </a:r>
            <a:r>
              <a:rPr lang="zh-CN" altLang="en-US" sz="1600" b="1" dirty="0" smtClean="0">
                <a:solidFill>
                  <a:srgbClr val="00B050"/>
                </a:solidFill>
                <a:latin typeface="+mn-ea"/>
              </a:rPr>
              <a:t>参数为指针类型</a:t>
            </a:r>
            <a:r>
              <a:rPr lang="en-US" altLang="zh-CN" sz="1600" b="1" dirty="0" smtClean="0">
                <a:solidFill>
                  <a:srgbClr val="00B050"/>
                </a:solidFill>
                <a:latin typeface="+mn-ea"/>
              </a:rPr>
              <a:t/>
            </a:r>
            <a:br>
              <a:rPr lang="en-US" altLang="zh-CN" sz="1600" b="1" dirty="0" smtClean="0">
                <a:solidFill>
                  <a:srgbClr val="00B050"/>
                </a:solidFill>
                <a:latin typeface="+mn-ea"/>
              </a:rPr>
            </a:b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、写指定事件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0">
              <a:lnSpc>
                <a:spcPct val="125000"/>
              </a:lnSpc>
            </a:pPr>
            <a:r>
              <a:rPr lang="nl-NL" altLang="zh-CN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nl-NL" altLang="zh-CN" sz="1600" b="1" dirty="0">
                <a:latin typeface="+mn-ea"/>
              </a:rPr>
              <a:t>UINT32 LOS_EventWrite(PEVENT_CB_S pstEventCB, </a:t>
            </a:r>
            <a:r>
              <a:rPr lang="nl-NL" altLang="zh-CN" sz="1600" b="1" dirty="0" smtClean="0">
                <a:latin typeface="+mn-ea"/>
              </a:rPr>
              <a:t>	 </a:t>
            </a:r>
            <a:r>
              <a:rPr lang="nl-NL" altLang="zh-CN" sz="1600" b="1" dirty="0">
                <a:solidFill>
                  <a:srgbClr val="00B05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事件控制块</a:t>
            </a:r>
            <a:endParaRPr lang="nl-NL" altLang="zh-CN" sz="1600" b="1" dirty="0">
              <a:solidFill>
                <a:srgbClr val="00B050"/>
              </a:solidFill>
              <a:latin typeface="+mn-ea"/>
            </a:endParaRPr>
          </a:p>
          <a:p>
            <a:pPr lvl="0">
              <a:lnSpc>
                <a:spcPct val="125000"/>
              </a:lnSpc>
            </a:pPr>
            <a:r>
              <a:rPr lang="nl-NL" altLang="zh-CN" sz="1600" b="1" dirty="0">
                <a:latin typeface="+mn-ea"/>
              </a:rPr>
              <a:t>                       </a:t>
            </a:r>
            <a:r>
              <a:rPr lang="nl-NL" altLang="zh-CN" sz="1600" b="1" dirty="0" smtClean="0">
                <a:latin typeface="+mn-ea"/>
              </a:rPr>
              <a:t>	  </a:t>
            </a:r>
            <a:r>
              <a:rPr lang="nl-NL" altLang="zh-CN" sz="1600" b="1" dirty="0">
                <a:latin typeface="+mn-ea"/>
              </a:rPr>
              <a:t>UINT32 uwEvents)                </a:t>
            </a:r>
            <a:r>
              <a:rPr lang="nl-NL" altLang="zh-CN" sz="1600" b="1" dirty="0" smtClean="0">
                <a:latin typeface="+mn-ea"/>
              </a:rPr>
              <a:t>		</a:t>
            </a:r>
            <a:r>
              <a:rPr lang="nl-NL" altLang="zh-CN" sz="1600" b="1" dirty="0" smtClean="0">
                <a:solidFill>
                  <a:srgbClr val="00B05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事件掩码，写</a:t>
            </a: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1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给</a:t>
            </a:r>
            <a:r>
              <a:rPr lang="zh-CN" altLang="en-US" sz="1600" b="1" dirty="0" smtClean="0">
                <a:solidFill>
                  <a:srgbClr val="00B050"/>
                </a:solidFill>
                <a:latin typeface="+mn-ea"/>
              </a:rPr>
              <a:t>出事件</a:t>
            </a:r>
            <a:r>
              <a:rPr lang="en-US" altLang="zh-CN" sz="1600" b="1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zh-CN" altLang="en-US" sz="1600" b="1" dirty="0" smtClean="0">
                <a:solidFill>
                  <a:srgbClr val="C00000"/>
                </a:solidFill>
                <a:latin typeface="+mn-ea"/>
              </a:rPr>
              <a:t>相当于或</a:t>
            </a:r>
            <a:r>
              <a:rPr lang="en-US" altLang="zh-CN" sz="1600" b="1" dirty="0" smtClean="0">
                <a:solidFill>
                  <a:srgbClr val="C00000"/>
                </a:solidFill>
                <a:latin typeface="+mn-ea"/>
              </a:rPr>
              <a:t>1</a:t>
            </a:r>
            <a:r>
              <a:rPr lang="zh-CN" altLang="en-US" sz="1600" b="1" dirty="0" smtClean="0">
                <a:solidFill>
                  <a:srgbClr val="C00000"/>
                </a:solidFill>
                <a:latin typeface="+mn-ea"/>
              </a:rPr>
              <a:t>操作</a:t>
            </a:r>
            <a:r>
              <a:rPr lang="en-US" altLang="zh-CN" sz="1600" b="1" dirty="0" smtClean="0">
                <a:solidFill>
                  <a:srgbClr val="C00000"/>
                </a:solidFill>
                <a:latin typeface="+mn-ea"/>
              </a:rPr>
              <a:t>)</a:t>
            </a:r>
            <a:endParaRPr lang="nl-NL" altLang="zh-CN" sz="160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183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事件的使用方法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3897" y="918494"/>
            <a:ext cx="11533973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rgbClr val="C00000"/>
                </a:solidFill>
              </a:rPr>
              <a:t>、清除指定事件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0"/>
            <a:r>
              <a:rPr lang="en-US" altLang="zh-CN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1400" b="1" dirty="0" smtClean="0">
                <a:solidFill>
                  <a:srgbClr val="000000"/>
                </a:solidFill>
                <a:latin typeface="+mn-ea"/>
              </a:rPr>
              <a:t>UINT32 </a:t>
            </a:r>
            <a:r>
              <a:rPr lang="en-US" altLang="zh-CN" sz="1400" b="1" dirty="0" err="1">
                <a:solidFill>
                  <a:srgbClr val="000000"/>
                </a:solidFill>
                <a:latin typeface="+mn-ea"/>
              </a:rPr>
              <a:t>LOS_EventClear</a:t>
            </a: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(PEVENT_CB_S </a:t>
            </a:r>
            <a:r>
              <a:rPr lang="en-US" altLang="zh-CN" sz="1400" b="1" dirty="0" err="1">
                <a:solidFill>
                  <a:srgbClr val="000000"/>
                </a:solidFill>
                <a:latin typeface="+mn-ea"/>
              </a:rPr>
              <a:t>pstEventCB</a:t>
            </a:r>
            <a:r>
              <a:rPr lang="en-US" altLang="zh-CN" sz="1400" b="1" dirty="0" smtClean="0">
                <a:solidFill>
                  <a:srgbClr val="000000"/>
                </a:solidFill>
                <a:latin typeface="+mn-ea"/>
              </a:rPr>
              <a:t>,</a:t>
            </a:r>
            <a:r>
              <a:rPr lang="nl-NL" altLang="zh-CN" sz="1400" b="1" dirty="0">
                <a:solidFill>
                  <a:srgbClr val="00B050"/>
                </a:solidFill>
                <a:latin typeface="+mn-ea"/>
              </a:rPr>
              <a:t> //</a:t>
            </a:r>
            <a:r>
              <a:rPr lang="zh-CN" altLang="en-US" sz="1400" b="1" dirty="0">
                <a:solidFill>
                  <a:srgbClr val="00B050"/>
                </a:solidFill>
                <a:latin typeface="+mn-ea"/>
              </a:rPr>
              <a:t>事件控制块</a:t>
            </a:r>
            <a:endParaRPr lang="nl-NL" altLang="zh-CN" sz="1400" b="1" dirty="0">
              <a:solidFill>
                <a:srgbClr val="00B050"/>
              </a:solidFill>
              <a:latin typeface="+mn-ea"/>
            </a:endParaRPr>
          </a:p>
          <a:p>
            <a:pPr lvl="0"/>
            <a:r>
              <a:rPr lang="en-US" altLang="zh-CN" sz="1400" b="1" dirty="0" smtClean="0">
                <a:solidFill>
                  <a:srgbClr val="000000"/>
                </a:solidFill>
                <a:latin typeface="+mn-ea"/>
              </a:rPr>
              <a:t>                         UINT32 </a:t>
            </a:r>
            <a:r>
              <a:rPr lang="en-US" altLang="zh-CN" sz="1400" b="1" dirty="0" err="1">
                <a:solidFill>
                  <a:srgbClr val="000000"/>
                </a:solidFill>
                <a:latin typeface="+mn-ea"/>
              </a:rPr>
              <a:t>uwEvents</a:t>
            </a: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) </a:t>
            </a:r>
            <a:r>
              <a:rPr lang="en-US" altLang="zh-CN" sz="1400" b="1" dirty="0" smtClean="0">
                <a:solidFill>
                  <a:srgbClr val="000000"/>
                </a:solidFill>
                <a:latin typeface="+mn-ea"/>
              </a:rPr>
              <a:t>      </a:t>
            </a:r>
            <a:r>
              <a:rPr lang="en-US" altLang="zh-CN" sz="1400" b="1" dirty="0" smtClean="0">
                <a:solidFill>
                  <a:srgbClr val="00B050"/>
                </a:solidFill>
                <a:latin typeface="+mn-ea"/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  <a:latin typeface="+mn-ea"/>
              </a:rPr>
              <a:t>事件掩码，</a:t>
            </a:r>
            <a:r>
              <a:rPr lang="zh-CN" altLang="en-US" sz="1400" b="1" dirty="0" smtClean="0">
                <a:solidFill>
                  <a:srgbClr val="00B050"/>
                </a:solidFill>
                <a:latin typeface="+mn-ea"/>
              </a:rPr>
              <a:t>写</a:t>
            </a:r>
            <a:r>
              <a:rPr lang="en-US" altLang="zh-CN" sz="1400" b="1" dirty="0" smtClean="0">
                <a:solidFill>
                  <a:srgbClr val="00B050"/>
                </a:solidFill>
                <a:latin typeface="+mn-ea"/>
              </a:rPr>
              <a:t>0</a:t>
            </a:r>
            <a:r>
              <a:rPr lang="zh-CN" altLang="en-US" sz="1400" b="1" dirty="0" smtClean="0">
                <a:solidFill>
                  <a:srgbClr val="00B050"/>
                </a:solidFill>
                <a:latin typeface="+mn-ea"/>
              </a:rPr>
              <a:t>清除事件</a:t>
            </a:r>
            <a:r>
              <a:rPr lang="zh-CN" altLang="en-US" sz="1400" b="1" dirty="0" smtClean="0">
                <a:solidFill>
                  <a:srgbClr val="C00000"/>
                </a:solidFill>
                <a:latin typeface="+mn-ea"/>
              </a:rPr>
              <a:t>（相当于与</a:t>
            </a:r>
            <a:r>
              <a:rPr lang="en-US" altLang="zh-CN" sz="1400" b="1" dirty="0" smtClean="0">
                <a:solidFill>
                  <a:srgbClr val="C00000"/>
                </a:solidFill>
                <a:latin typeface="+mn-ea"/>
              </a:rPr>
              <a:t>0</a:t>
            </a:r>
            <a:r>
              <a:rPr lang="zh-CN" altLang="en-US" sz="1400" b="1" dirty="0" smtClean="0">
                <a:solidFill>
                  <a:srgbClr val="C00000"/>
                </a:solidFill>
                <a:latin typeface="+mn-ea"/>
              </a:rPr>
              <a:t>操作）</a:t>
            </a:r>
            <a:endParaRPr lang="zh-CN" altLang="en-US" sz="1400" b="1" dirty="0">
              <a:solidFill>
                <a:srgbClr val="C00000"/>
              </a:solidFill>
              <a:latin typeface="+mn-ea"/>
            </a:endParaRPr>
          </a:p>
          <a:p>
            <a:pPr lvl="0"/>
            <a:endParaRPr lang="en-US" altLang="zh-CN" sz="1400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5</a:t>
            </a:r>
            <a:r>
              <a:rPr lang="zh-CN" altLang="en-US" b="1" dirty="0">
                <a:solidFill>
                  <a:srgbClr val="C00000"/>
                </a:solidFill>
              </a:rPr>
              <a:t>、读取指定事件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       UINT32 </a:t>
            </a:r>
            <a:r>
              <a:rPr lang="en-US" altLang="zh-CN" sz="1400" b="1" dirty="0" err="1">
                <a:solidFill>
                  <a:srgbClr val="000000"/>
                </a:solidFill>
                <a:latin typeface="+mn-ea"/>
              </a:rPr>
              <a:t>LOS_EventRead</a:t>
            </a: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(PEVENT_CB_S </a:t>
            </a:r>
            <a:r>
              <a:rPr lang="en-US" altLang="zh-CN" sz="1400" b="1" dirty="0" err="1">
                <a:solidFill>
                  <a:srgbClr val="000000"/>
                </a:solidFill>
                <a:latin typeface="+mn-ea"/>
              </a:rPr>
              <a:t>pstEventCB</a:t>
            </a: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zh-CN" sz="1400" b="1" dirty="0">
                <a:solidFill>
                  <a:srgbClr val="00B050"/>
                </a:solidFill>
                <a:latin typeface="+mn-ea"/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  <a:latin typeface="+mn-ea"/>
              </a:rPr>
              <a:t>事件控制块</a:t>
            </a:r>
            <a:endParaRPr lang="en-US" altLang="zh-CN" sz="1400" b="1" dirty="0">
              <a:solidFill>
                <a:srgbClr val="00B050"/>
              </a:solidFill>
              <a:latin typeface="+mn-ea"/>
            </a:endParaRPr>
          </a:p>
          <a:p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                        UINT32 </a:t>
            </a:r>
            <a:r>
              <a:rPr lang="en-US" altLang="zh-CN" sz="1400" b="1" dirty="0" err="1">
                <a:solidFill>
                  <a:srgbClr val="000000"/>
                </a:solidFill>
                <a:latin typeface="+mn-ea"/>
              </a:rPr>
              <a:t>uwEventMask</a:t>
            </a: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,     </a:t>
            </a:r>
            <a:r>
              <a:rPr lang="en-US" altLang="zh-CN" sz="1400" b="1" dirty="0">
                <a:solidFill>
                  <a:srgbClr val="00B050"/>
                </a:solidFill>
                <a:latin typeface="+mn-ea"/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  <a:latin typeface="+mn-ea"/>
              </a:rPr>
              <a:t>事件</a:t>
            </a:r>
            <a:r>
              <a:rPr lang="zh-CN" altLang="en-US" sz="1400" b="1" dirty="0" smtClean="0">
                <a:solidFill>
                  <a:srgbClr val="00B050"/>
                </a:solidFill>
                <a:latin typeface="+mn-ea"/>
              </a:rPr>
              <a:t>掩码</a:t>
            </a:r>
            <a:r>
              <a:rPr lang="en-US" altLang="zh-CN" sz="1400" b="1" dirty="0" smtClean="0">
                <a:solidFill>
                  <a:srgbClr val="00B050"/>
                </a:solidFill>
                <a:latin typeface="+mn-ea"/>
              </a:rPr>
              <a:t>: </a:t>
            </a:r>
            <a:r>
              <a:rPr lang="zh-CN" altLang="en-US" sz="1400" b="1" dirty="0" smtClean="0">
                <a:solidFill>
                  <a:srgbClr val="C00000"/>
                </a:solidFill>
                <a:latin typeface="+mn-ea"/>
              </a:rPr>
              <a:t>为</a:t>
            </a:r>
            <a:r>
              <a:rPr lang="en-US" altLang="zh-CN" sz="1400" b="1" dirty="0" smtClean="0">
                <a:solidFill>
                  <a:srgbClr val="C00000"/>
                </a:solidFill>
                <a:latin typeface="+mn-ea"/>
              </a:rPr>
              <a:t>1</a:t>
            </a:r>
            <a:r>
              <a:rPr lang="zh-CN" altLang="en-US" sz="1400" b="1" dirty="0" smtClean="0">
                <a:solidFill>
                  <a:srgbClr val="C00000"/>
                </a:solidFill>
                <a:latin typeface="+mn-ea"/>
              </a:rPr>
              <a:t>的位置就是要判断的事件</a:t>
            </a:r>
            <a:endParaRPr lang="en-US" altLang="zh-CN" sz="1400" b="1" dirty="0">
              <a:solidFill>
                <a:srgbClr val="C00000"/>
              </a:solidFill>
              <a:latin typeface="+mn-ea"/>
            </a:endParaRPr>
          </a:p>
          <a:p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                        UINT32 </a:t>
            </a:r>
            <a:r>
              <a:rPr lang="en-US" altLang="zh-CN" sz="1400" b="1" dirty="0" err="1">
                <a:solidFill>
                  <a:srgbClr val="000000"/>
                </a:solidFill>
                <a:latin typeface="+mn-ea"/>
              </a:rPr>
              <a:t>uwMode</a:t>
            </a:r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,         </a:t>
            </a:r>
            <a:r>
              <a:rPr lang="en-US" altLang="zh-CN" sz="1400" b="1" dirty="0" smtClean="0">
                <a:solidFill>
                  <a:srgbClr val="000000"/>
                </a:solidFill>
                <a:latin typeface="+mn-ea"/>
              </a:rPr>
              <a:t>     </a:t>
            </a:r>
            <a:r>
              <a:rPr lang="en-US" altLang="zh-CN" sz="1400" b="1" dirty="0">
                <a:solidFill>
                  <a:srgbClr val="00B050"/>
                </a:solidFill>
                <a:latin typeface="+mn-ea"/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  <a:latin typeface="+mn-ea"/>
              </a:rPr>
              <a:t>操作模式：与、或、清除（读完清除）</a:t>
            </a:r>
            <a:endParaRPr lang="en-US" altLang="zh-CN" sz="1400" b="1" dirty="0">
              <a:solidFill>
                <a:srgbClr val="00B050"/>
              </a:solidFill>
              <a:latin typeface="+mn-ea"/>
            </a:endParaRPr>
          </a:p>
          <a:p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                        UINT32 </a:t>
            </a:r>
            <a:r>
              <a:rPr lang="en-US" altLang="zh-CN" sz="1400" b="1" dirty="0" err="1">
                <a:solidFill>
                  <a:srgbClr val="000000"/>
                </a:solidFill>
                <a:latin typeface="+mn-ea"/>
              </a:rPr>
              <a:t>uwTimeOut</a:t>
            </a:r>
            <a:r>
              <a:rPr lang="en-US" altLang="zh-CN" sz="1400" b="1" dirty="0">
                <a:latin typeface="+mn-ea"/>
              </a:rPr>
              <a:t>)</a:t>
            </a:r>
            <a:r>
              <a:rPr lang="en-US" altLang="zh-CN" sz="1400" b="1" dirty="0">
                <a:solidFill>
                  <a:srgbClr val="00B050"/>
                </a:solidFill>
                <a:latin typeface="+mn-ea"/>
              </a:rPr>
              <a:t>       </a:t>
            </a:r>
            <a:r>
              <a:rPr lang="en-US" altLang="zh-CN" sz="1400" b="1" dirty="0" smtClean="0">
                <a:solidFill>
                  <a:srgbClr val="00B050"/>
                </a:solidFill>
                <a:latin typeface="+mn-ea"/>
              </a:rPr>
              <a:t>  //</a:t>
            </a:r>
            <a:r>
              <a:rPr lang="zh-CN" altLang="en-US" sz="1400" b="1" dirty="0">
                <a:solidFill>
                  <a:srgbClr val="00B050"/>
                </a:solidFill>
                <a:latin typeface="+mn-ea"/>
              </a:rPr>
              <a:t>不等待、等待一段时间、永久</a:t>
            </a:r>
            <a:r>
              <a:rPr lang="zh-CN" altLang="en-US" sz="1400" b="1" dirty="0" smtClean="0">
                <a:solidFill>
                  <a:srgbClr val="00B050"/>
                </a:solidFill>
                <a:latin typeface="+mn-ea"/>
              </a:rPr>
              <a:t>等待</a:t>
            </a:r>
            <a:endParaRPr lang="en-US" altLang="zh-CN" sz="1400" b="1" dirty="0" smtClean="0">
              <a:solidFill>
                <a:srgbClr val="00B050"/>
              </a:solidFill>
              <a:latin typeface="+mn-ea"/>
            </a:endParaRPr>
          </a:p>
          <a:p>
            <a:r>
              <a:rPr lang="en-US" altLang="zh-CN" sz="1400" b="1" dirty="0">
                <a:solidFill>
                  <a:srgbClr val="00B050"/>
                </a:solidFill>
                <a:latin typeface="+mn-ea"/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  <a:latin typeface="+mn-ea"/>
              </a:rPr>
            </a:br>
            <a:r>
              <a:rPr lang="en-US" altLang="zh-CN" sz="1600" b="1" dirty="0" smtClean="0"/>
              <a:t>       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注意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：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操作模式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：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与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、或模式是针对多个事件的，所有事件用“与”，任一事件用“或”，类似多个开关的串并联结构。</a:t>
            </a:r>
            <a:endParaRPr lang="en-US" altLang="zh-CN" sz="16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</a:t>
            </a:r>
            <a:r>
              <a:rPr lang="zh-CN" altLang="en-US" sz="1600" b="1" dirty="0" smtClean="0">
                <a:solidFill>
                  <a:srgbClr val="00B050"/>
                </a:solidFill>
              </a:rPr>
              <a:t>与模式：</a:t>
            </a:r>
            <a:r>
              <a:rPr lang="en-US" altLang="zh-CN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LOS_WAITMODE_AND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；</a:t>
            </a:r>
            <a:r>
              <a:rPr lang="zh-CN" altLang="en-US" sz="1600" b="1" dirty="0">
                <a:solidFill>
                  <a:srgbClr val="00B050"/>
                </a:solidFill>
              </a:rPr>
              <a:t>或模式：</a:t>
            </a:r>
            <a:r>
              <a:rPr lang="en-US" altLang="zh-CN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LOS_WAITMODE_OR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；</a:t>
            </a:r>
            <a:r>
              <a:rPr lang="zh-CN" altLang="en-US" sz="1600" b="1" dirty="0">
                <a:solidFill>
                  <a:srgbClr val="00B050"/>
                </a:solidFill>
              </a:rPr>
              <a:t>清除模式：</a:t>
            </a:r>
            <a:r>
              <a:rPr lang="en-US" altLang="zh-CN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LOS_WAITMODE_CLR	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（读完清除事件）</a:t>
            </a:r>
            <a:endParaRPr lang="en-US" altLang="zh-CN" sz="16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0"/>
            <a:endParaRPr lang="en-US" altLang="zh-CN" sz="16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altLang="zh-CN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zh-CN" altLang="en-US" sz="1600" b="1" dirty="0">
                <a:solidFill>
                  <a:srgbClr val="C00000"/>
                </a:solidFill>
              </a:rPr>
              <a:t>操作模式可采用</a:t>
            </a:r>
            <a:r>
              <a:rPr lang="en-US" altLang="zh-CN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LOS_WAITMODE_AND|LOS_WAITMODE_CLR 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或者</a:t>
            </a:r>
            <a:endParaRPr lang="en-US" altLang="zh-CN" sz="16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LOS_WAITMODE_OR| LOS_WAITMODE_CLR 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的形式</a:t>
            </a:r>
            <a:endParaRPr lang="en-US" altLang="zh-CN" sz="16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altLang="zh-CN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表示</a:t>
            </a:r>
            <a:r>
              <a:rPr lang="zh-CN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读取成功后，对应事件类型位会</a:t>
            </a:r>
            <a:r>
              <a:rPr lang="zh-CN" altLang="en-US" sz="1600" b="1" dirty="0">
                <a:solidFill>
                  <a:srgbClr val="C00000"/>
                </a:solidFill>
              </a:rPr>
              <a:t>自动清除</a:t>
            </a:r>
            <a:r>
              <a:rPr lang="zh-CN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。</a:t>
            </a:r>
          </a:p>
          <a:p>
            <a:pPr lvl="0"/>
            <a:r>
              <a:rPr lang="en-US" altLang="zh-CN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如果</a:t>
            </a:r>
            <a:r>
              <a:rPr lang="zh-CN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模式没有设置为自动清除的话，那么需要我们</a:t>
            </a:r>
            <a:r>
              <a:rPr lang="zh-CN" altLang="en-US" sz="1600" b="1" dirty="0">
                <a:solidFill>
                  <a:srgbClr val="00B050"/>
                </a:solidFill>
              </a:rPr>
              <a:t>手动显式</a:t>
            </a:r>
            <a:r>
              <a:rPr lang="zh-CN" altLang="en-US" sz="1600" b="1" dirty="0">
                <a:solidFill>
                  <a:srgbClr val="00B050"/>
                </a:solidFill>
              </a:rPr>
              <a:t>清除</a:t>
            </a:r>
            <a:endParaRPr lang="en-US" altLang="zh-CN" sz="1600" b="1" dirty="0">
              <a:solidFill>
                <a:srgbClr val="00B050"/>
              </a:solidFill>
            </a:endParaRPr>
          </a:p>
          <a:p>
            <a:pPr lvl="0"/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endParaRPr lang="en-US" altLang="zh-CN" sz="1600" b="1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zh-CN" altLang="en-US" sz="1600" b="1" dirty="0">
                <a:solidFill>
                  <a:srgbClr val="C00000"/>
                </a:solidFill>
              </a:rPr>
              <a:t>掩码：</a:t>
            </a:r>
            <a:r>
              <a:rPr lang="zh-CN" alt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按位来进行操作，区别于普通数值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。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 smtClean="0"/>
          </a:p>
        </p:txBody>
      </p:sp>
    </p:spTree>
    <p:extLst>
      <p:ext uri="{BB962C8B-B14F-4D97-AF65-F5344CB8AC3E}">
        <p14:creationId xmlns:p14="http://schemas.microsoft.com/office/powerpoint/2010/main" val="196535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DFA951A-978E-4E8D-A85A-85B6177AC588}"/>
              </a:ext>
            </a:extLst>
          </p:cNvPr>
          <p:cNvSpPr/>
          <p:nvPr/>
        </p:nvSpPr>
        <p:spPr>
          <a:xfrm>
            <a:off x="1" y="0"/>
            <a:ext cx="12192000" cy="750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2"/>
            <a:r>
              <a:rPr lang="zh-CN" altLang="en-US" sz="2800" b="1" dirty="0" smtClean="0">
                <a:solidFill>
                  <a:schemeClr val="bg1"/>
                </a:solidFill>
                <a:cs typeface="+mn-ea"/>
                <a:sym typeface="+mn-lt"/>
              </a:rPr>
              <a:t>事件组使用</a:t>
            </a:r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示例</a:t>
            </a:r>
          </a:p>
        </p:txBody>
      </p:sp>
      <p:sp>
        <p:nvSpPr>
          <p:cNvPr id="6" name="hdmi_130129">
            <a:extLst>
              <a:ext uri="{FF2B5EF4-FFF2-40B4-BE49-F238E27FC236}">
                <a16:creationId xmlns:a16="http://schemas.microsoft.com/office/drawing/2014/main" id="{3CA7E7D0-7908-41F4-A494-E785B89F8C69}"/>
              </a:ext>
            </a:extLst>
          </p:cNvPr>
          <p:cNvSpPr>
            <a:spLocks noChangeAspect="1"/>
          </p:cNvSpPr>
          <p:nvPr/>
        </p:nvSpPr>
        <p:spPr bwMode="auto">
          <a:xfrm>
            <a:off x="0" y="354841"/>
            <a:ext cx="627797" cy="395786"/>
          </a:xfrm>
          <a:custGeom>
            <a:avLst/>
            <a:gdLst>
              <a:gd name="connsiteX0" fmla="*/ 536968 w 608415"/>
              <a:gd name="connsiteY0" fmla="*/ 156443 h 542789"/>
              <a:gd name="connsiteX1" fmla="*/ 547100 w 608415"/>
              <a:gd name="connsiteY1" fmla="*/ 160588 h 542789"/>
              <a:gd name="connsiteX2" fmla="*/ 551398 w 608415"/>
              <a:gd name="connsiteY2" fmla="*/ 170874 h 542789"/>
              <a:gd name="connsiteX3" fmla="*/ 547100 w 608415"/>
              <a:gd name="connsiteY3" fmla="*/ 181006 h 542789"/>
              <a:gd name="connsiteX4" fmla="*/ 536968 w 608415"/>
              <a:gd name="connsiteY4" fmla="*/ 185304 h 542789"/>
              <a:gd name="connsiteX5" fmla="*/ 526682 w 608415"/>
              <a:gd name="connsiteY5" fmla="*/ 181006 h 542789"/>
              <a:gd name="connsiteX6" fmla="*/ 522537 w 608415"/>
              <a:gd name="connsiteY6" fmla="*/ 170874 h 542789"/>
              <a:gd name="connsiteX7" fmla="*/ 526682 w 608415"/>
              <a:gd name="connsiteY7" fmla="*/ 160588 h 542789"/>
              <a:gd name="connsiteX8" fmla="*/ 536968 w 608415"/>
              <a:gd name="connsiteY8" fmla="*/ 156443 h 542789"/>
              <a:gd name="connsiteX9" fmla="*/ 116152 w 608415"/>
              <a:gd name="connsiteY9" fmla="*/ 116443 h 542789"/>
              <a:gd name="connsiteX10" fmla="*/ 41176 w 608415"/>
              <a:gd name="connsiteY10" fmla="*/ 191158 h 542789"/>
              <a:gd name="connsiteX11" fmla="*/ 41176 w 608415"/>
              <a:gd name="connsiteY11" fmla="*/ 501674 h 542789"/>
              <a:gd name="connsiteX12" fmla="*/ 85424 w 608415"/>
              <a:gd name="connsiteY12" fmla="*/ 501674 h 542789"/>
              <a:gd name="connsiteX13" fmla="*/ 85424 w 608415"/>
              <a:gd name="connsiteY13" fmla="*/ 194993 h 542789"/>
              <a:gd name="connsiteX14" fmla="*/ 125985 w 608415"/>
              <a:gd name="connsiteY14" fmla="*/ 154337 h 542789"/>
              <a:gd name="connsiteX15" fmla="*/ 263339 w 608415"/>
              <a:gd name="connsiteY15" fmla="*/ 154337 h 542789"/>
              <a:gd name="connsiteX16" fmla="*/ 263339 w 608415"/>
              <a:gd name="connsiteY16" fmla="*/ 116443 h 542789"/>
              <a:gd name="connsiteX17" fmla="*/ 536968 w 608415"/>
              <a:gd name="connsiteY17" fmla="*/ 91453 h 542789"/>
              <a:gd name="connsiteX18" fmla="*/ 547100 w 608415"/>
              <a:gd name="connsiteY18" fmla="*/ 95741 h 542789"/>
              <a:gd name="connsiteX19" fmla="*/ 551398 w 608415"/>
              <a:gd name="connsiteY19" fmla="*/ 105848 h 542789"/>
              <a:gd name="connsiteX20" fmla="*/ 547100 w 608415"/>
              <a:gd name="connsiteY20" fmla="*/ 116109 h 542789"/>
              <a:gd name="connsiteX21" fmla="*/ 536968 w 608415"/>
              <a:gd name="connsiteY21" fmla="*/ 120244 h 542789"/>
              <a:gd name="connsiteX22" fmla="*/ 526682 w 608415"/>
              <a:gd name="connsiteY22" fmla="*/ 116109 h 542789"/>
              <a:gd name="connsiteX23" fmla="*/ 522537 w 608415"/>
              <a:gd name="connsiteY23" fmla="*/ 105848 h 542789"/>
              <a:gd name="connsiteX24" fmla="*/ 526682 w 608415"/>
              <a:gd name="connsiteY24" fmla="*/ 95741 h 542789"/>
              <a:gd name="connsiteX25" fmla="*/ 536968 w 608415"/>
              <a:gd name="connsiteY25" fmla="*/ 91453 h 542789"/>
              <a:gd name="connsiteX26" fmla="*/ 507627 w 608415"/>
              <a:gd name="connsiteY26" fmla="*/ 74714 h 542789"/>
              <a:gd name="connsiteX27" fmla="*/ 507627 w 608415"/>
              <a:gd name="connsiteY27" fmla="*/ 201130 h 542789"/>
              <a:gd name="connsiteX28" fmla="*/ 567239 w 608415"/>
              <a:gd name="connsiteY28" fmla="*/ 201130 h 542789"/>
              <a:gd name="connsiteX29" fmla="*/ 567239 w 608415"/>
              <a:gd name="connsiteY29" fmla="*/ 74714 h 542789"/>
              <a:gd name="connsiteX30" fmla="*/ 357674 w 608415"/>
              <a:gd name="connsiteY30" fmla="*/ 41115 h 542789"/>
              <a:gd name="connsiteX31" fmla="*/ 306205 w 608415"/>
              <a:gd name="connsiteY31" fmla="*/ 66736 h 542789"/>
              <a:gd name="connsiteX32" fmla="*/ 306205 w 608415"/>
              <a:gd name="connsiteY32" fmla="*/ 208954 h 542789"/>
              <a:gd name="connsiteX33" fmla="*/ 357674 w 608415"/>
              <a:gd name="connsiteY33" fmla="*/ 234575 h 542789"/>
              <a:gd name="connsiteX34" fmla="*/ 466452 w 608415"/>
              <a:gd name="connsiteY34" fmla="*/ 234575 h 542789"/>
              <a:gd name="connsiteX35" fmla="*/ 466452 w 608415"/>
              <a:gd name="connsiteY35" fmla="*/ 41115 h 542789"/>
              <a:gd name="connsiteX36" fmla="*/ 352758 w 608415"/>
              <a:gd name="connsiteY36" fmla="*/ 0 h 542789"/>
              <a:gd name="connsiteX37" fmla="*/ 487039 w 608415"/>
              <a:gd name="connsiteY37" fmla="*/ 0 h 542789"/>
              <a:gd name="connsiteX38" fmla="*/ 507627 w 608415"/>
              <a:gd name="connsiteY38" fmla="*/ 20558 h 542789"/>
              <a:gd name="connsiteX39" fmla="*/ 507627 w 608415"/>
              <a:gd name="connsiteY39" fmla="*/ 33445 h 542789"/>
              <a:gd name="connsiteX40" fmla="*/ 587827 w 608415"/>
              <a:gd name="connsiteY40" fmla="*/ 33445 h 542789"/>
              <a:gd name="connsiteX41" fmla="*/ 608415 w 608415"/>
              <a:gd name="connsiteY41" fmla="*/ 54003 h 542789"/>
              <a:gd name="connsiteX42" fmla="*/ 608415 w 608415"/>
              <a:gd name="connsiteY42" fmla="*/ 221688 h 542789"/>
              <a:gd name="connsiteX43" fmla="*/ 587827 w 608415"/>
              <a:gd name="connsiteY43" fmla="*/ 242246 h 542789"/>
              <a:gd name="connsiteX44" fmla="*/ 507627 w 608415"/>
              <a:gd name="connsiteY44" fmla="*/ 242246 h 542789"/>
              <a:gd name="connsiteX45" fmla="*/ 507627 w 608415"/>
              <a:gd name="connsiteY45" fmla="*/ 255286 h 542789"/>
              <a:gd name="connsiteX46" fmla="*/ 487039 w 608415"/>
              <a:gd name="connsiteY46" fmla="*/ 275844 h 542789"/>
              <a:gd name="connsiteX47" fmla="*/ 352758 w 608415"/>
              <a:gd name="connsiteY47" fmla="*/ 275844 h 542789"/>
              <a:gd name="connsiteX48" fmla="*/ 343539 w 608415"/>
              <a:gd name="connsiteY48" fmla="*/ 273696 h 542789"/>
              <a:gd name="connsiteX49" fmla="*/ 276399 w 608415"/>
              <a:gd name="connsiteY49" fmla="*/ 240098 h 542789"/>
              <a:gd name="connsiteX50" fmla="*/ 265029 w 608415"/>
              <a:gd name="connsiteY50" fmla="*/ 221688 h 542789"/>
              <a:gd name="connsiteX51" fmla="*/ 265029 w 608415"/>
              <a:gd name="connsiteY51" fmla="*/ 195607 h 542789"/>
              <a:gd name="connsiteX52" fmla="*/ 126599 w 608415"/>
              <a:gd name="connsiteY52" fmla="*/ 195607 h 542789"/>
              <a:gd name="connsiteX53" fmla="*/ 126599 w 608415"/>
              <a:gd name="connsiteY53" fmla="*/ 522231 h 542789"/>
              <a:gd name="connsiteX54" fmla="*/ 106012 w 608415"/>
              <a:gd name="connsiteY54" fmla="*/ 542789 h 542789"/>
              <a:gd name="connsiteX55" fmla="*/ 20588 w 608415"/>
              <a:gd name="connsiteY55" fmla="*/ 542789 h 542789"/>
              <a:gd name="connsiteX56" fmla="*/ 0 w 608415"/>
              <a:gd name="connsiteY56" fmla="*/ 522231 h 542789"/>
              <a:gd name="connsiteX57" fmla="*/ 0 w 608415"/>
              <a:gd name="connsiteY57" fmla="*/ 191158 h 542789"/>
              <a:gd name="connsiteX58" fmla="*/ 116152 w 608415"/>
              <a:gd name="connsiteY58" fmla="*/ 75327 h 542789"/>
              <a:gd name="connsiteX59" fmla="*/ 265029 w 608415"/>
              <a:gd name="connsiteY59" fmla="*/ 75327 h 542789"/>
              <a:gd name="connsiteX60" fmla="*/ 265029 w 608415"/>
              <a:gd name="connsiteY60" fmla="*/ 54003 h 542789"/>
              <a:gd name="connsiteX61" fmla="*/ 276399 w 608415"/>
              <a:gd name="connsiteY61" fmla="*/ 35592 h 542789"/>
              <a:gd name="connsiteX62" fmla="*/ 343539 w 608415"/>
              <a:gd name="connsiteY62" fmla="*/ 2148 h 542789"/>
              <a:gd name="connsiteX63" fmla="*/ 352758 w 608415"/>
              <a:gd name="connsiteY63" fmla="*/ 0 h 542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608415" h="542789">
                <a:moveTo>
                  <a:pt x="536968" y="156443"/>
                </a:moveTo>
                <a:cubicBezTo>
                  <a:pt x="540652" y="156443"/>
                  <a:pt x="544490" y="157978"/>
                  <a:pt x="547100" y="160588"/>
                </a:cubicBezTo>
                <a:cubicBezTo>
                  <a:pt x="549863" y="163351"/>
                  <a:pt x="551398" y="167036"/>
                  <a:pt x="551398" y="170874"/>
                </a:cubicBezTo>
                <a:cubicBezTo>
                  <a:pt x="551398" y="174712"/>
                  <a:pt x="549863" y="178396"/>
                  <a:pt x="547100" y="181006"/>
                </a:cubicBezTo>
                <a:cubicBezTo>
                  <a:pt x="544490" y="183769"/>
                  <a:pt x="540652" y="185304"/>
                  <a:pt x="536968" y="185304"/>
                </a:cubicBezTo>
                <a:cubicBezTo>
                  <a:pt x="533130" y="185304"/>
                  <a:pt x="529445" y="183769"/>
                  <a:pt x="526682" y="181006"/>
                </a:cubicBezTo>
                <a:cubicBezTo>
                  <a:pt x="524072" y="178396"/>
                  <a:pt x="522537" y="174712"/>
                  <a:pt x="522537" y="170874"/>
                </a:cubicBezTo>
                <a:cubicBezTo>
                  <a:pt x="522537" y="167036"/>
                  <a:pt x="524072" y="163351"/>
                  <a:pt x="526682" y="160588"/>
                </a:cubicBezTo>
                <a:cubicBezTo>
                  <a:pt x="529445" y="157978"/>
                  <a:pt x="533130" y="156443"/>
                  <a:pt x="536968" y="156443"/>
                </a:cubicBezTo>
                <a:close/>
                <a:moveTo>
                  <a:pt x="116152" y="116443"/>
                </a:moveTo>
                <a:cubicBezTo>
                  <a:pt x="74823" y="116443"/>
                  <a:pt x="41176" y="150041"/>
                  <a:pt x="41176" y="191158"/>
                </a:cubicBezTo>
                <a:lnTo>
                  <a:pt x="41176" y="501674"/>
                </a:lnTo>
                <a:lnTo>
                  <a:pt x="85424" y="501674"/>
                </a:lnTo>
                <a:lnTo>
                  <a:pt x="85424" y="194993"/>
                </a:lnTo>
                <a:cubicBezTo>
                  <a:pt x="85424" y="172594"/>
                  <a:pt x="103553" y="154337"/>
                  <a:pt x="125985" y="154337"/>
                </a:cubicBezTo>
                <a:lnTo>
                  <a:pt x="263339" y="154337"/>
                </a:lnTo>
                <a:lnTo>
                  <a:pt x="263339" y="116443"/>
                </a:lnTo>
                <a:close/>
                <a:moveTo>
                  <a:pt x="536968" y="91453"/>
                </a:moveTo>
                <a:cubicBezTo>
                  <a:pt x="540652" y="91453"/>
                  <a:pt x="544490" y="92984"/>
                  <a:pt x="547100" y="95741"/>
                </a:cubicBezTo>
                <a:cubicBezTo>
                  <a:pt x="549863" y="98344"/>
                  <a:pt x="551398" y="102020"/>
                  <a:pt x="551398" y="105848"/>
                </a:cubicBezTo>
                <a:cubicBezTo>
                  <a:pt x="551398" y="109677"/>
                  <a:pt x="549863" y="113352"/>
                  <a:pt x="547100" y="116109"/>
                </a:cubicBezTo>
                <a:cubicBezTo>
                  <a:pt x="544490" y="118712"/>
                  <a:pt x="540652" y="120244"/>
                  <a:pt x="536968" y="120244"/>
                </a:cubicBezTo>
                <a:cubicBezTo>
                  <a:pt x="533130" y="120244"/>
                  <a:pt x="529445" y="118712"/>
                  <a:pt x="526682" y="116109"/>
                </a:cubicBezTo>
                <a:cubicBezTo>
                  <a:pt x="524072" y="113352"/>
                  <a:pt x="522537" y="109677"/>
                  <a:pt x="522537" y="105848"/>
                </a:cubicBezTo>
                <a:cubicBezTo>
                  <a:pt x="522537" y="102020"/>
                  <a:pt x="524072" y="98344"/>
                  <a:pt x="526682" y="95741"/>
                </a:cubicBezTo>
                <a:cubicBezTo>
                  <a:pt x="529445" y="92984"/>
                  <a:pt x="533130" y="91453"/>
                  <a:pt x="536968" y="91453"/>
                </a:cubicBezTo>
                <a:close/>
                <a:moveTo>
                  <a:pt x="507627" y="74714"/>
                </a:moveTo>
                <a:lnTo>
                  <a:pt x="507627" y="201130"/>
                </a:lnTo>
                <a:lnTo>
                  <a:pt x="567239" y="201130"/>
                </a:lnTo>
                <a:lnTo>
                  <a:pt x="567239" y="74714"/>
                </a:lnTo>
                <a:close/>
                <a:moveTo>
                  <a:pt x="357674" y="41115"/>
                </a:moveTo>
                <a:lnTo>
                  <a:pt x="306205" y="66736"/>
                </a:lnTo>
                <a:lnTo>
                  <a:pt x="306205" y="208954"/>
                </a:lnTo>
                <a:lnTo>
                  <a:pt x="357674" y="234575"/>
                </a:lnTo>
                <a:lnTo>
                  <a:pt x="466452" y="234575"/>
                </a:lnTo>
                <a:lnTo>
                  <a:pt x="466452" y="41115"/>
                </a:lnTo>
                <a:close/>
                <a:moveTo>
                  <a:pt x="352758" y="0"/>
                </a:moveTo>
                <a:lnTo>
                  <a:pt x="487039" y="0"/>
                </a:lnTo>
                <a:cubicBezTo>
                  <a:pt x="498409" y="0"/>
                  <a:pt x="507627" y="9205"/>
                  <a:pt x="507627" y="20558"/>
                </a:cubicBezTo>
                <a:lnTo>
                  <a:pt x="507627" y="33445"/>
                </a:lnTo>
                <a:lnTo>
                  <a:pt x="587827" y="33445"/>
                </a:lnTo>
                <a:cubicBezTo>
                  <a:pt x="599197" y="33445"/>
                  <a:pt x="608415" y="42650"/>
                  <a:pt x="608415" y="54003"/>
                </a:cubicBezTo>
                <a:lnTo>
                  <a:pt x="608415" y="221688"/>
                </a:lnTo>
                <a:cubicBezTo>
                  <a:pt x="608415" y="233041"/>
                  <a:pt x="599197" y="242246"/>
                  <a:pt x="587827" y="242246"/>
                </a:cubicBezTo>
                <a:lnTo>
                  <a:pt x="507627" y="242246"/>
                </a:lnTo>
                <a:lnTo>
                  <a:pt x="507627" y="255286"/>
                </a:lnTo>
                <a:cubicBezTo>
                  <a:pt x="507627" y="266639"/>
                  <a:pt x="498409" y="275844"/>
                  <a:pt x="487039" y="275844"/>
                </a:cubicBezTo>
                <a:lnTo>
                  <a:pt x="352758" y="275844"/>
                </a:lnTo>
                <a:cubicBezTo>
                  <a:pt x="349531" y="275844"/>
                  <a:pt x="346459" y="275077"/>
                  <a:pt x="343539" y="273696"/>
                </a:cubicBezTo>
                <a:lnTo>
                  <a:pt x="276399" y="240098"/>
                </a:lnTo>
                <a:cubicBezTo>
                  <a:pt x="269331" y="236569"/>
                  <a:pt x="265029" y="229512"/>
                  <a:pt x="265029" y="221688"/>
                </a:cubicBezTo>
                <a:lnTo>
                  <a:pt x="265029" y="195607"/>
                </a:lnTo>
                <a:lnTo>
                  <a:pt x="126599" y="195607"/>
                </a:lnTo>
                <a:lnTo>
                  <a:pt x="126599" y="522231"/>
                </a:lnTo>
                <a:cubicBezTo>
                  <a:pt x="126599" y="533584"/>
                  <a:pt x="117381" y="542789"/>
                  <a:pt x="106012" y="542789"/>
                </a:cubicBezTo>
                <a:lnTo>
                  <a:pt x="20588" y="542789"/>
                </a:lnTo>
                <a:cubicBezTo>
                  <a:pt x="9218" y="542789"/>
                  <a:pt x="0" y="533584"/>
                  <a:pt x="0" y="522231"/>
                </a:cubicBezTo>
                <a:lnTo>
                  <a:pt x="0" y="191158"/>
                </a:lnTo>
                <a:cubicBezTo>
                  <a:pt x="0" y="127336"/>
                  <a:pt x="52084" y="75327"/>
                  <a:pt x="116152" y="75327"/>
                </a:cubicBezTo>
                <a:lnTo>
                  <a:pt x="265029" y="75327"/>
                </a:lnTo>
                <a:lnTo>
                  <a:pt x="265029" y="54003"/>
                </a:lnTo>
                <a:cubicBezTo>
                  <a:pt x="265029" y="46178"/>
                  <a:pt x="269331" y="39121"/>
                  <a:pt x="276399" y="35592"/>
                </a:cubicBezTo>
                <a:lnTo>
                  <a:pt x="343539" y="2148"/>
                </a:lnTo>
                <a:cubicBezTo>
                  <a:pt x="346459" y="613"/>
                  <a:pt x="349531" y="0"/>
                  <a:pt x="352758" y="0"/>
                </a:cubicBezTo>
                <a:close/>
              </a:path>
            </a:pathLst>
          </a:custGeom>
          <a:solidFill>
            <a:schemeClr val="bg1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808816"/>
            <a:ext cx="6143105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/>
              <a:t>      </a:t>
            </a:r>
            <a:r>
              <a:rPr lang="zh-CN" altLang="en-US" sz="1400" b="1" dirty="0" smtClean="0"/>
              <a:t>本示例只给出主要框架，详细代码自己完成。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</a:t>
            </a:r>
            <a:r>
              <a:rPr lang="zh-CN" altLang="en-US" sz="1400" b="1" dirty="0" smtClean="0"/>
              <a:t>①头文件      </a:t>
            </a:r>
            <a:r>
              <a:rPr lang="en-US" altLang="zh-CN" sz="1400" b="1" dirty="0" smtClean="0"/>
              <a:t>	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略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r>
              <a:rPr lang="zh-CN" altLang="en-US" sz="1400" b="1" dirty="0" smtClean="0"/>
              <a:t>      ②定义全局变量</a:t>
            </a:r>
            <a:endParaRPr lang="en-US" altLang="zh-CN" sz="1400" b="1" dirty="0" smtClean="0"/>
          </a:p>
          <a:p>
            <a:r>
              <a:rPr lang="en-US" altLang="zh-CN" sz="1600" b="1" dirty="0"/>
              <a:t> </a:t>
            </a:r>
            <a:r>
              <a:rPr lang="en-US" altLang="zh-CN" sz="1600" b="1" dirty="0" smtClean="0"/>
              <a:t>        </a:t>
            </a:r>
            <a:r>
              <a:rPr lang="en-US" altLang="zh-CN" sz="1400" b="1" dirty="0"/>
              <a:t>UINT32 </a:t>
            </a:r>
            <a:r>
              <a:rPr lang="en-US" altLang="zh-CN" sz="1400" b="1" dirty="0" smtClean="0"/>
              <a:t> </a:t>
            </a:r>
            <a:r>
              <a:rPr lang="en-US" altLang="zh-CN" sz="1400" b="1" dirty="0" err="1" smtClean="0"/>
              <a:t>LED_Task_Handle</a:t>
            </a:r>
            <a:r>
              <a:rPr lang="en-US" altLang="zh-CN" sz="1400" b="1" dirty="0" smtClean="0"/>
              <a:t>;      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显示任务</a:t>
            </a:r>
            <a:r>
              <a:rPr lang="zh-CN" altLang="en-US" sz="1400" b="1" dirty="0">
                <a:solidFill>
                  <a:srgbClr val="00B050"/>
                </a:solidFill>
              </a:rPr>
              <a:t>的句柄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（或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ID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）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 smtClean="0"/>
              <a:t>          UINT32  </a:t>
            </a:r>
            <a:r>
              <a:rPr lang="en-US" altLang="zh-CN" sz="1400" b="1" dirty="0" err="1" smtClean="0"/>
              <a:t>KEY_Task_Handle</a:t>
            </a:r>
            <a:r>
              <a:rPr lang="en-US" altLang="zh-CN" sz="1400" b="1" dirty="0"/>
              <a:t>; </a:t>
            </a:r>
            <a:r>
              <a:rPr lang="en-US" altLang="zh-CN" sz="1400" b="1" dirty="0" smtClean="0"/>
              <a:t>      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开关任务的句柄</a:t>
            </a:r>
            <a:r>
              <a:rPr lang="zh-CN" altLang="en-US" sz="1400" b="1" dirty="0">
                <a:solidFill>
                  <a:srgbClr val="00B050"/>
                </a:solidFill>
              </a:rPr>
              <a:t>（或</a:t>
            </a:r>
            <a:r>
              <a:rPr lang="en-US" altLang="zh-CN" sz="1400" b="1" dirty="0">
                <a:solidFill>
                  <a:srgbClr val="00B050"/>
                </a:solidFill>
              </a:rPr>
              <a:t>ID</a:t>
            </a:r>
            <a:r>
              <a:rPr lang="zh-CN" altLang="en-US" sz="1400" b="1" dirty="0">
                <a:solidFill>
                  <a:srgbClr val="00B050"/>
                </a:solidFill>
              </a:rPr>
              <a:t>）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 smtClean="0">
                <a:solidFill>
                  <a:srgbClr val="000000"/>
                </a:solidFill>
              </a:rPr>
              <a:t>          </a:t>
            </a:r>
            <a:r>
              <a:rPr lang="en-US" altLang="zh-CN" sz="1400" b="1" dirty="0"/>
              <a:t>static EVENT_CB_S </a:t>
            </a:r>
            <a:r>
              <a:rPr lang="en-US" altLang="zh-CN" sz="1400" b="1" dirty="0" err="1"/>
              <a:t>EventGroup_CB</a:t>
            </a:r>
            <a:r>
              <a:rPr lang="en-US" altLang="zh-CN" sz="1400" b="1" dirty="0" smtClean="0"/>
              <a:t>;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定义事件控制块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r>
              <a:rPr lang="en-US" altLang="zh-CN" sz="1400" b="1" dirty="0" smtClean="0">
                <a:solidFill>
                  <a:srgbClr val="00B050"/>
                </a:solidFill>
              </a:rPr>
              <a:t>          </a:t>
            </a:r>
            <a:r>
              <a:rPr lang="en-US" altLang="zh-CN" sz="1400" b="1" dirty="0" smtClean="0"/>
              <a:t>#</a:t>
            </a:r>
            <a:r>
              <a:rPr lang="en-US" altLang="zh-CN" sz="1400" b="1" dirty="0"/>
              <a:t>define KEY1_EVENT (0x01 &lt;&lt; 0</a:t>
            </a:r>
            <a:r>
              <a:rPr lang="en-US" altLang="zh-CN" sz="1400" b="1" dirty="0" smtClean="0"/>
              <a:t>) 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设置事件掩码的位 </a:t>
            </a:r>
            <a:r>
              <a:rPr lang="en-US" altLang="zh-CN" sz="1400" b="1" dirty="0">
                <a:solidFill>
                  <a:srgbClr val="00B050"/>
                </a:solidFill>
              </a:rPr>
              <a:t>0</a:t>
            </a:r>
          </a:p>
          <a:p>
            <a:r>
              <a:rPr lang="en-US" altLang="zh-CN" sz="1400" b="1" dirty="0" smtClean="0"/>
              <a:t>          #</a:t>
            </a:r>
            <a:r>
              <a:rPr lang="en-US" altLang="zh-CN" sz="1400" b="1" dirty="0"/>
              <a:t>define KEY2_EVENT (0x01 &lt;&lt; 1</a:t>
            </a:r>
            <a:r>
              <a:rPr lang="en-US" altLang="zh-CN" sz="1400" b="1" dirty="0" smtClean="0"/>
              <a:t>)   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设置事件掩码的位 </a:t>
            </a:r>
            <a:r>
              <a:rPr lang="en-US" altLang="zh-CN" sz="1400" b="1" dirty="0">
                <a:solidFill>
                  <a:srgbClr val="00B050"/>
                </a:solidFill>
              </a:rPr>
              <a:t>1</a:t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>
                <a:solidFill>
                  <a:srgbClr val="00B050"/>
                </a:solidFill>
              </a:rPr>
              <a:t>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 </a:t>
            </a:r>
            <a:r>
              <a:rPr lang="en-US" altLang="zh-CN" sz="1600" b="1" dirty="0" smtClean="0"/>
              <a:t>   </a:t>
            </a:r>
            <a:r>
              <a:rPr lang="zh-CN" altLang="en-US" sz="1400" b="1" dirty="0" smtClean="0"/>
              <a:t>③函数声明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包括应用创建函数、任务创建函数、任务函数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zh-CN" altLang="en-US" sz="1400" b="1" dirty="0" smtClean="0"/>
              <a:t>      ④</a:t>
            </a:r>
            <a:r>
              <a:rPr lang="en-US" altLang="zh-CN" sz="1400" b="1" dirty="0" smtClean="0"/>
              <a:t>main</a:t>
            </a:r>
            <a:r>
              <a:rPr lang="zh-CN" altLang="en-US" sz="1400" b="1" dirty="0" smtClean="0"/>
              <a:t>函数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main{</a:t>
            </a:r>
          </a:p>
          <a:p>
            <a:r>
              <a:rPr lang="en-US" altLang="zh-CN" sz="1400" b="1" dirty="0" smtClean="0"/>
              <a:t>                    …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定义局部变量，板级初始化等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</a:t>
            </a:r>
            <a:r>
              <a:rPr lang="en-US" altLang="zh-CN" sz="1400" b="1" dirty="0" err="1"/>
              <a:t>LOS_KernelInit</a:t>
            </a:r>
            <a:r>
              <a:rPr lang="en-US" altLang="zh-CN" sz="1400" b="1" dirty="0"/>
              <a:t>(); 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内核初始化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smtClean="0"/>
              <a:t>…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</a:t>
            </a:r>
            <a:r>
              <a:rPr lang="en-US" altLang="zh-CN" sz="1400" b="1" dirty="0" err="1"/>
              <a:t>AppTaskCreate</a:t>
            </a:r>
            <a:r>
              <a:rPr lang="en-US" altLang="zh-CN" sz="1400" b="1" dirty="0"/>
              <a:t>(); </a:t>
            </a:r>
            <a:br>
              <a:rPr lang="en-US" altLang="zh-CN" sz="1400" b="1" dirty="0"/>
            </a:br>
            <a:r>
              <a:rPr lang="en-US" altLang="zh-CN" sz="1400" b="1" dirty="0"/>
              <a:t>                    </a:t>
            </a:r>
            <a:r>
              <a:rPr lang="en-US" altLang="zh-CN" sz="1400" b="1" dirty="0" smtClean="0"/>
              <a:t>… 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LOS_Start</a:t>
            </a:r>
            <a:r>
              <a:rPr lang="en-US" altLang="zh-CN" sz="1400" b="1" dirty="0" smtClean="0"/>
              <a:t>();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启动任务调度</a:t>
            </a:r>
            <a:r>
              <a:rPr lang="en-US" altLang="zh-CN" sz="1400" b="1" dirty="0">
                <a:solidFill>
                  <a:srgbClr val="00B050"/>
                </a:solidFill>
              </a:rPr>
              <a:t/>
            </a:r>
            <a:br>
              <a:rPr lang="en-US" altLang="zh-CN" sz="1400" b="1" dirty="0">
                <a:solidFill>
                  <a:srgbClr val="00B050"/>
                </a:solidFill>
              </a:rPr>
            </a:br>
            <a:r>
              <a:rPr lang="en-US" altLang="zh-CN" sz="1400" b="1" dirty="0" smtClean="0"/>
              <a:t>                    … 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    }</a:t>
            </a:r>
          </a:p>
          <a:p>
            <a:r>
              <a:rPr lang="zh-CN" altLang="en-US" sz="1400" b="1" dirty="0" smtClean="0"/>
              <a:t>      ⑤应用创建函数</a:t>
            </a:r>
            <a:endParaRPr lang="en-US" altLang="zh-CN" sz="1400" b="1" dirty="0" smtClean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</a:t>
            </a:r>
            <a:r>
              <a:rPr lang="en-US" altLang="zh-CN" sz="1400" b="1" dirty="0" err="1"/>
              <a:t>AppTaskCreate</a:t>
            </a:r>
            <a:r>
              <a:rPr lang="en-US" altLang="zh-CN" sz="1400" b="1" dirty="0" smtClean="0"/>
              <a:t>()</a:t>
            </a:r>
            <a:r>
              <a:rPr lang="en-US" altLang="zh-CN" sz="1400" b="1" dirty="0"/>
              <a:t> {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LOS_EventInit</a:t>
            </a:r>
            <a:r>
              <a:rPr lang="en-US" altLang="zh-CN" sz="1400" b="1" dirty="0"/>
              <a:t>(&amp;</a:t>
            </a:r>
            <a:r>
              <a:rPr lang="en-US" altLang="zh-CN" sz="1400" b="1" dirty="0" err="1"/>
              <a:t>EventGroup_CB</a:t>
            </a:r>
            <a:r>
              <a:rPr lang="en-US" altLang="zh-CN" sz="1400" b="1" dirty="0"/>
              <a:t>); </a:t>
            </a:r>
            <a:r>
              <a:rPr lang="en-US" altLang="zh-CN" sz="1400" b="1" dirty="0" smtClean="0"/>
              <a:t>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初始化事件控制块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Creat_LED_Task</a:t>
            </a:r>
            <a:r>
              <a:rPr lang="en-US" altLang="zh-CN" sz="1400" b="1" dirty="0" smtClean="0"/>
              <a:t>();</a:t>
            </a:r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Creat_KEY_Task</a:t>
            </a:r>
            <a:r>
              <a:rPr lang="en-US" altLang="zh-CN" sz="1400" b="1" dirty="0"/>
              <a:t>();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        }</a:t>
            </a:r>
          </a:p>
          <a:p>
            <a:r>
              <a:rPr lang="zh-CN" altLang="en-US" sz="1400" b="1" dirty="0" smtClean="0"/>
              <a:t>      ⑥任务创建函数 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略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endParaRPr lang="en-US" altLang="zh-CN" sz="1400" b="1" dirty="0"/>
          </a:p>
          <a:p>
            <a:r>
              <a:rPr lang="en-US" altLang="zh-CN" sz="1400" b="1" dirty="0"/>
              <a:t>     </a:t>
            </a:r>
            <a:endParaRPr lang="en-US" altLang="zh-CN" sz="1400" b="1" dirty="0" smtClean="0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98594" y="750627"/>
            <a:ext cx="649340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/>
              <a:t>⑦读取事件的</a:t>
            </a:r>
            <a:r>
              <a:rPr lang="zh-CN" altLang="en-US" sz="1600" b="1" dirty="0"/>
              <a:t>任务</a:t>
            </a:r>
            <a:r>
              <a:rPr lang="zh-CN" altLang="en-US" sz="1600" b="1" dirty="0" smtClean="0"/>
              <a:t>函数</a:t>
            </a:r>
            <a:r>
              <a:rPr lang="en-US" altLang="zh-CN" sz="1600" b="1" dirty="0" err="1" smtClean="0"/>
              <a:t>LED_Task</a:t>
            </a:r>
            <a:r>
              <a:rPr lang="zh-CN" altLang="en-US" sz="1600" b="1" dirty="0"/>
              <a:t>（）</a:t>
            </a:r>
            <a:endParaRPr lang="en-US" altLang="zh-CN" sz="1600" b="1" dirty="0"/>
          </a:p>
          <a:p>
            <a:r>
              <a:rPr lang="en-US" altLang="zh-CN" b="1" dirty="0"/>
              <a:t>   </a:t>
            </a:r>
            <a:r>
              <a:rPr lang="en-US" altLang="zh-CN" b="1" dirty="0" smtClean="0"/>
              <a:t>  </a:t>
            </a:r>
            <a:r>
              <a:rPr lang="en-US" altLang="zh-CN" sz="1400" b="1" dirty="0" err="1" smtClean="0"/>
              <a:t>LED_Task</a:t>
            </a:r>
            <a:r>
              <a:rPr lang="zh-CN" altLang="en-US" sz="1400" b="1" dirty="0"/>
              <a:t>（）</a:t>
            </a:r>
            <a:r>
              <a:rPr lang="en-US" altLang="zh-CN" sz="1400" b="1" dirty="0"/>
              <a:t>{</a:t>
            </a:r>
          </a:p>
          <a:p>
            <a:r>
              <a:rPr lang="en-US" altLang="zh-CN" sz="1400" b="1" dirty="0"/>
              <a:t>      </a:t>
            </a:r>
            <a:r>
              <a:rPr lang="en-US" altLang="zh-CN" sz="1400" b="1" dirty="0" smtClean="0"/>
              <a:t>UINT32   </a:t>
            </a:r>
            <a:r>
              <a:rPr lang="en-US" altLang="zh-CN" sz="1400" b="1" dirty="0" err="1"/>
              <a:t>uwRet</a:t>
            </a:r>
            <a:r>
              <a:rPr lang="en-US" altLang="zh-CN" sz="1400" b="1" dirty="0"/>
              <a:t> = LOS_OK;</a:t>
            </a:r>
          </a:p>
          <a:p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while </a:t>
            </a:r>
            <a:r>
              <a:rPr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(1) {</a:t>
            </a:r>
          </a:p>
          <a:p>
            <a:r>
              <a:rPr lang="en-US" altLang="zh-CN" sz="1400" b="1" dirty="0" smtClean="0"/>
              <a:t>         if </a:t>
            </a:r>
            <a:r>
              <a:rPr lang="en-US" altLang="zh-CN" sz="1400" b="1" dirty="0"/>
              <a:t>( </a:t>
            </a:r>
            <a:r>
              <a:rPr lang="en-US" altLang="zh-CN" sz="1400" b="1" dirty="0" smtClean="0"/>
              <a:t>KEY1 </a:t>
            </a:r>
            <a:r>
              <a:rPr lang="en-US" altLang="zh-CN" sz="1400" b="1" dirty="0"/>
              <a:t>) </a:t>
            </a:r>
            <a:r>
              <a:rPr lang="en-US" altLang="zh-CN" sz="1400" b="1" dirty="0" smtClean="0"/>
              <a:t>{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按键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1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按下</a:t>
            </a:r>
            <a:r>
              <a:rPr lang="zh-CN" altLang="en-US" sz="1400" b="1" dirty="0">
                <a:solidFill>
                  <a:srgbClr val="00B050"/>
                </a:solidFill>
              </a:rPr>
              <a:t>读取事件</a:t>
            </a:r>
          </a:p>
          <a:p>
            <a:r>
              <a:rPr lang="en-US" altLang="zh-CN" sz="1400" b="1" dirty="0" smtClean="0"/>
              <a:t>              </a:t>
            </a:r>
            <a:r>
              <a:rPr lang="en-US" altLang="zh-CN" sz="1400" b="1" dirty="0" err="1" smtClean="0"/>
              <a:t>uwRet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=</a:t>
            </a:r>
            <a:r>
              <a:rPr lang="en-US" altLang="zh-CN" sz="1400" b="1" dirty="0" err="1"/>
              <a:t>LOS_EventRead</a:t>
            </a:r>
            <a:r>
              <a:rPr lang="en-US" altLang="zh-CN" sz="1400" b="1" dirty="0"/>
              <a:t>(&amp;</a:t>
            </a:r>
            <a:r>
              <a:rPr lang="en-US" altLang="zh-CN" sz="1400" b="1" dirty="0" err="1"/>
              <a:t>EventGroup_CB</a:t>
            </a:r>
            <a:r>
              <a:rPr lang="en-US" altLang="zh-CN" sz="1400" b="1" dirty="0"/>
              <a:t>,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事件标志组对象</a:t>
            </a:r>
          </a:p>
          <a:p>
            <a:r>
              <a:rPr lang="en-US" altLang="zh-CN" sz="1400" b="1" dirty="0" smtClean="0"/>
              <a:t>                          KEY1_EVENT|KEY2_EVENT</a:t>
            </a:r>
            <a:r>
              <a:rPr lang="en-US" altLang="zh-CN" sz="1400" b="1" dirty="0"/>
              <a:t>,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等待任务感兴趣的事件</a:t>
            </a:r>
          </a:p>
          <a:p>
            <a:r>
              <a:rPr lang="en-US" altLang="zh-CN" sz="1400" b="1" dirty="0" smtClean="0"/>
              <a:t>                          </a:t>
            </a:r>
            <a:r>
              <a:rPr lang="en-US" altLang="zh-CN" sz="1400" b="1" dirty="0"/>
              <a:t>LOS_WAITMODE_AND,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等待两位均被置位</a:t>
            </a:r>
          </a:p>
          <a:p>
            <a:r>
              <a:rPr lang="en-US" altLang="zh-CN" sz="1400" b="1" dirty="0" smtClean="0"/>
              <a:t>                          </a:t>
            </a:r>
            <a:r>
              <a:rPr lang="en-US" altLang="zh-CN" sz="1400" b="1" dirty="0"/>
              <a:t>LOS_WAIT_FOREVER ); </a:t>
            </a:r>
            <a:r>
              <a:rPr lang="en-US" altLang="zh-CN" sz="1400" b="1" dirty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无期限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等待</a:t>
            </a:r>
            <a:r>
              <a:rPr lang="en-US" altLang="zh-CN" sz="1400" b="1" dirty="0" smtClean="0"/>
              <a:t>                       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</a:t>
            </a:r>
            <a:r>
              <a:rPr lang="en-US" altLang="zh-CN" sz="1400" b="1" dirty="0"/>
              <a:t>if(KEY1_EVENT|KEY2_EVENT == </a:t>
            </a:r>
            <a:r>
              <a:rPr lang="en-US" altLang="zh-CN" sz="1400" b="1" dirty="0" err="1" smtClean="0"/>
              <a:t>uwRet</a:t>
            </a:r>
            <a:r>
              <a:rPr lang="en-US" altLang="zh-CN" sz="1400" b="1" dirty="0" smtClean="0"/>
              <a:t>&amp;			</a:t>
            </a:r>
            <a:r>
              <a:rPr lang="zh-CN" altLang="en-US" sz="1400" b="1" dirty="0" smtClean="0"/>
              <a:t>（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KEY1_EVENT|KEY2_EVENT </a:t>
            </a:r>
            <a:r>
              <a:rPr lang="zh-CN" altLang="en-US" sz="1400" b="1" dirty="0" smtClean="0"/>
              <a:t>）</a:t>
            </a:r>
            <a:r>
              <a:rPr lang="en-US" altLang="zh-CN" sz="1400" b="1" dirty="0" smtClean="0"/>
              <a:t>){</a:t>
            </a:r>
            <a:endParaRPr lang="en-US" altLang="zh-CN" sz="1400" b="1" dirty="0"/>
          </a:p>
          <a:p>
            <a:r>
              <a:rPr lang="en-US" altLang="zh-CN" sz="1400" b="1" dirty="0" smtClean="0"/>
              <a:t>                    </a:t>
            </a:r>
            <a:r>
              <a:rPr lang="en-US" altLang="zh-CN" sz="1400" b="1" dirty="0" err="1" smtClean="0"/>
              <a:t>printf</a:t>
            </a:r>
            <a:r>
              <a:rPr lang="en-US" altLang="zh-CN" sz="1400" b="1" dirty="0" smtClean="0"/>
              <a:t> </a:t>
            </a:r>
            <a:r>
              <a:rPr lang="en-US" altLang="zh-CN" sz="1400" b="1" dirty="0"/>
              <a:t>( </a:t>
            </a:r>
            <a:r>
              <a:rPr lang="en-US" altLang="zh-CN" sz="1400" b="1" dirty="0" smtClean="0"/>
              <a:t>“\r\nKEY1</a:t>
            </a:r>
            <a:r>
              <a:rPr lang="zh-CN" altLang="en-US" sz="1400" b="1" dirty="0" smtClean="0"/>
              <a:t>和</a:t>
            </a:r>
            <a:r>
              <a:rPr lang="en-US" altLang="zh-CN" sz="1400" b="1" dirty="0" smtClean="0"/>
              <a:t>KEY2</a:t>
            </a:r>
            <a:r>
              <a:rPr lang="zh-CN" altLang="en-US" sz="1400" b="1" dirty="0" smtClean="0"/>
              <a:t>均被按下！ </a:t>
            </a:r>
            <a:r>
              <a:rPr lang="en-US" altLang="zh-CN" sz="1400" b="1" dirty="0"/>
              <a:t>\r\n" </a:t>
            </a:r>
            <a:r>
              <a:rPr lang="en-US" altLang="zh-CN" sz="1400" b="1" dirty="0" smtClean="0"/>
              <a:t>);</a:t>
            </a:r>
          </a:p>
          <a:p>
            <a:r>
              <a:rPr lang="en-US" altLang="zh-CN" sz="1400" b="1" dirty="0"/>
              <a:t>  </a:t>
            </a:r>
            <a:r>
              <a:rPr lang="en-US" altLang="zh-CN" sz="1400" b="1" dirty="0" smtClean="0"/>
              <a:t>                  </a:t>
            </a:r>
            <a:r>
              <a:rPr lang="en-US" altLang="zh-CN" sz="1400" b="1" dirty="0" err="1" smtClean="0"/>
              <a:t>LOS_EventClear</a:t>
            </a:r>
            <a:r>
              <a:rPr lang="en-US" altLang="zh-CN" sz="1400" b="1" dirty="0"/>
              <a:t>(&amp;EventGroup_CB,~KEY1_EVENT); //</a:t>
            </a:r>
            <a:r>
              <a:rPr lang="zh-CN" altLang="en-US" sz="1400" b="1" dirty="0" smtClean="0"/>
              <a:t>清除</a:t>
            </a:r>
            <a:r>
              <a:rPr lang="en-US" altLang="zh-CN" sz="1400" b="1" dirty="0" smtClean="0"/>
              <a:t>     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         </a:t>
            </a:r>
            <a:r>
              <a:rPr lang="en-US" altLang="zh-CN" sz="1400" b="1" dirty="0" err="1" smtClean="0"/>
              <a:t>LOS_EventClear</a:t>
            </a:r>
            <a:r>
              <a:rPr lang="en-US" altLang="zh-CN" sz="1400" b="1" dirty="0"/>
              <a:t>(&amp;EventGroup_CB,~KEY2_EVENT); </a:t>
            </a:r>
            <a:r>
              <a:rPr lang="en-US" altLang="zh-CN" sz="1400" b="1" dirty="0" smtClean="0"/>
              <a:t> } }</a:t>
            </a:r>
          </a:p>
          <a:p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}</a:t>
            </a:r>
          </a:p>
          <a:p>
            <a:r>
              <a:rPr lang="en-US" altLang="zh-CN" sz="1400" b="1" dirty="0" smtClean="0"/>
              <a:t>     }</a:t>
            </a:r>
            <a:endParaRPr lang="en-US" altLang="zh-CN" sz="1400" b="1" dirty="0"/>
          </a:p>
          <a:p>
            <a:r>
              <a:rPr lang="zh-CN" altLang="en-US" b="1" dirty="0" smtClean="0"/>
              <a:t>⑧</a:t>
            </a:r>
            <a:r>
              <a:rPr lang="zh-CN" altLang="en-US" sz="1600" b="1" dirty="0"/>
              <a:t>给</a:t>
            </a:r>
            <a:r>
              <a:rPr lang="zh-CN" altLang="en-US" sz="1600" b="1" dirty="0" smtClean="0"/>
              <a:t>出事件的</a:t>
            </a:r>
            <a:r>
              <a:rPr lang="zh-CN" altLang="en-US" sz="1600" b="1" dirty="0"/>
              <a:t>任务</a:t>
            </a:r>
            <a:r>
              <a:rPr lang="zh-CN" altLang="en-US" sz="1600" b="1" dirty="0" smtClean="0"/>
              <a:t>函数</a:t>
            </a:r>
            <a:r>
              <a:rPr lang="en-US" altLang="zh-CN" sz="1600" b="1" dirty="0" err="1" smtClean="0"/>
              <a:t>KEY_Task</a:t>
            </a:r>
            <a:r>
              <a:rPr lang="zh-CN" altLang="en-US" sz="1600" b="1" dirty="0"/>
              <a:t>（）</a:t>
            </a:r>
            <a:endParaRPr lang="en-US" altLang="zh-CN" sz="1600" b="1" dirty="0"/>
          </a:p>
          <a:p>
            <a:r>
              <a:rPr lang="en-US" altLang="zh-CN" sz="1400" b="1" dirty="0" smtClean="0"/>
              <a:t>     </a:t>
            </a:r>
            <a:r>
              <a:rPr lang="en-US" altLang="zh-CN" sz="1400" b="1" dirty="0" err="1" smtClean="0"/>
              <a:t>KEY_Task</a:t>
            </a:r>
            <a:r>
              <a:rPr lang="zh-CN" altLang="en-US" sz="1400" b="1" dirty="0"/>
              <a:t>（）</a:t>
            </a:r>
            <a:r>
              <a:rPr lang="en-US" altLang="zh-CN" sz="1400" b="1" dirty="0"/>
              <a:t>{</a:t>
            </a:r>
          </a:p>
          <a:p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while </a:t>
            </a:r>
            <a:r>
              <a:rPr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(1) </a:t>
            </a:r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if(KEY1) {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按键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1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按下</a:t>
            </a:r>
            <a:r>
              <a:rPr lang="zh-CN" altLang="en-US" sz="1400" b="1" dirty="0">
                <a:solidFill>
                  <a:srgbClr val="00B050"/>
                </a:solidFill>
              </a:rPr>
              <a:t>释放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事件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1</a:t>
            </a:r>
          </a:p>
          <a:p>
            <a:pPr lvl="0"/>
            <a:r>
              <a:rPr lang="en-US" altLang="zh-CN" sz="1400" b="1" dirty="0" smtClean="0">
                <a:solidFill>
                  <a:srgbClr val="000000"/>
                </a:solidFill>
              </a:rPr>
              <a:t>                    </a:t>
            </a:r>
            <a:r>
              <a:rPr lang="en-US" altLang="zh-CN" sz="1400" b="1" dirty="0" err="1" smtClean="0">
                <a:solidFill>
                  <a:srgbClr val="000000"/>
                </a:solidFill>
              </a:rPr>
              <a:t>printf</a:t>
            </a:r>
            <a:r>
              <a:rPr lang="en-US" altLang="zh-CN" sz="1400" b="1" dirty="0" smtClean="0">
                <a:solidFill>
                  <a:srgbClr val="000000"/>
                </a:solidFill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</a:rPr>
              <a:t>( “\r\nKEY1</a:t>
            </a:r>
            <a:r>
              <a:rPr lang="zh-CN" altLang="en-US" sz="1400" b="1" dirty="0">
                <a:solidFill>
                  <a:srgbClr val="000000"/>
                </a:solidFill>
              </a:rPr>
              <a:t>被按下！</a:t>
            </a:r>
            <a:r>
              <a:rPr lang="en-US" altLang="zh-CN" sz="1400" b="1" dirty="0">
                <a:solidFill>
                  <a:srgbClr val="000000"/>
                </a:solidFill>
              </a:rPr>
              <a:t>\r\n" );</a:t>
            </a:r>
          </a:p>
          <a:p>
            <a:r>
              <a:rPr lang="en-US" altLang="zh-CN" sz="1400" b="1" dirty="0" smtClean="0"/>
              <a:t>                    </a:t>
            </a:r>
            <a:r>
              <a:rPr lang="en-US" altLang="zh-CN" sz="1400" b="1" dirty="0" err="1" smtClean="0"/>
              <a:t>LOS_EventWrite</a:t>
            </a:r>
            <a:r>
              <a:rPr lang="en-US" altLang="zh-CN" sz="1400" b="1" dirty="0"/>
              <a:t>(&amp;</a:t>
            </a:r>
            <a:r>
              <a:rPr lang="en-US" altLang="zh-CN" sz="1400" b="1" dirty="0" smtClean="0"/>
              <a:t>EventGroup_CB,KEY1_EVENT</a:t>
            </a:r>
            <a:r>
              <a:rPr lang="zh-CN" altLang="en-US" sz="1400" b="1" dirty="0" smtClean="0"/>
              <a:t>）；</a:t>
            </a:r>
            <a:r>
              <a:rPr lang="en-US" altLang="zh-CN" sz="1400" b="1" dirty="0" smtClean="0"/>
              <a:t>} </a:t>
            </a:r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  if(KEY2) { 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//</a:t>
            </a:r>
            <a:r>
              <a:rPr lang="zh-CN" altLang="en-US" sz="1400" b="1" dirty="0">
                <a:solidFill>
                  <a:srgbClr val="00B050"/>
                </a:solidFill>
              </a:rPr>
              <a:t>按键</a:t>
            </a:r>
            <a:r>
              <a:rPr lang="en-US" altLang="zh-CN" sz="1400" b="1" dirty="0">
                <a:solidFill>
                  <a:srgbClr val="00B050"/>
                </a:solidFill>
              </a:rPr>
              <a:t>2</a:t>
            </a:r>
            <a:r>
              <a:rPr lang="zh-CN" altLang="en-US" sz="1400" b="1" dirty="0">
                <a:solidFill>
                  <a:srgbClr val="00B050"/>
                </a:solidFill>
              </a:rPr>
              <a:t>按下释放</a:t>
            </a:r>
            <a:r>
              <a:rPr lang="zh-CN" altLang="en-US" sz="1400" b="1" dirty="0" smtClean="0">
                <a:solidFill>
                  <a:srgbClr val="00B050"/>
                </a:solidFill>
              </a:rPr>
              <a:t>事件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2</a:t>
            </a:r>
            <a:endParaRPr lang="en-US" altLang="zh-CN" sz="1400" b="1" dirty="0">
              <a:solidFill>
                <a:srgbClr val="00B050"/>
              </a:solidFill>
            </a:endParaRPr>
          </a:p>
          <a:p>
            <a:pPr lvl="0"/>
            <a:r>
              <a:rPr lang="en-US" altLang="zh-CN" sz="1400" b="1" dirty="0">
                <a:solidFill>
                  <a:srgbClr val="000000"/>
                </a:solidFill>
              </a:rPr>
              <a:t>                    </a:t>
            </a:r>
            <a:r>
              <a:rPr lang="en-US" altLang="zh-CN" sz="1400" b="1" dirty="0" err="1">
                <a:solidFill>
                  <a:srgbClr val="000000"/>
                </a:solidFill>
              </a:rPr>
              <a:t>printf</a:t>
            </a:r>
            <a:r>
              <a:rPr lang="en-US" altLang="zh-CN" sz="1400" b="1" dirty="0">
                <a:solidFill>
                  <a:srgbClr val="000000"/>
                </a:solidFill>
              </a:rPr>
              <a:t> ( “\</a:t>
            </a:r>
            <a:r>
              <a:rPr lang="en-US" altLang="zh-CN" sz="1400" b="1" dirty="0" smtClean="0">
                <a:solidFill>
                  <a:srgbClr val="000000"/>
                </a:solidFill>
              </a:rPr>
              <a:t>r\nKEY2</a:t>
            </a:r>
            <a:r>
              <a:rPr lang="zh-CN" altLang="en-US" sz="1400" b="1" dirty="0" smtClean="0">
                <a:solidFill>
                  <a:srgbClr val="000000"/>
                </a:solidFill>
              </a:rPr>
              <a:t>被</a:t>
            </a:r>
            <a:r>
              <a:rPr lang="zh-CN" altLang="en-US" sz="1400" b="1" dirty="0">
                <a:solidFill>
                  <a:srgbClr val="000000"/>
                </a:solidFill>
              </a:rPr>
              <a:t>按下！</a:t>
            </a:r>
            <a:r>
              <a:rPr lang="en-US" altLang="zh-CN" sz="1400" b="1" dirty="0">
                <a:solidFill>
                  <a:srgbClr val="000000"/>
                </a:solidFill>
              </a:rPr>
              <a:t>\r\n" );</a:t>
            </a:r>
          </a:p>
          <a:p>
            <a:r>
              <a:rPr lang="en-US" altLang="zh-CN" sz="1400" b="1" dirty="0"/>
              <a:t>                    </a:t>
            </a:r>
            <a:r>
              <a:rPr lang="en-US" altLang="zh-CN" sz="1400" b="1" dirty="0" err="1"/>
              <a:t>LOS_EventWrite</a:t>
            </a:r>
            <a:r>
              <a:rPr lang="en-US" altLang="zh-CN" sz="1400" b="1" dirty="0"/>
              <a:t>(&amp;</a:t>
            </a:r>
            <a:r>
              <a:rPr lang="en-US" altLang="zh-CN" sz="1400" b="1" dirty="0" smtClean="0"/>
              <a:t>EventGroup_CB,KEY2_EVENT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}  </a:t>
            </a:r>
            <a:endParaRPr lang="en-US" altLang="zh-CN" sz="1400" b="1" dirty="0" smtClean="0"/>
          </a:p>
          <a:p>
            <a:r>
              <a:rPr lang="en-US" altLang="zh-CN" sz="1400" b="1" dirty="0" smtClean="0"/>
              <a:t>           </a:t>
            </a:r>
            <a:r>
              <a:rPr lang="en-US" altLang="zh-CN" sz="1400" b="1" dirty="0" err="1" smtClean="0"/>
              <a:t>LOS_TaskDelay</a:t>
            </a:r>
            <a:r>
              <a:rPr lang="en-US" altLang="zh-CN" sz="1400" b="1" dirty="0" smtClean="0"/>
              <a:t>(20);                                       </a:t>
            </a:r>
          </a:p>
          <a:p>
            <a:r>
              <a:rPr lang="en-US" altLang="zh-CN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}</a:t>
            </a:r>
          </a:p>
          <a:p>
            <a:r>
              <a:rPr lang="en-US" altLang="zh-CN" sz="1400" b="1" dirty="0" smtClean="0"/>
              <a:t>  }</a:t>
            </a:r>
            <a:endParaRPr lang="en-US" altLang="zh-CN" sz="1400" b="1" dirty="0"/>
          </a:p>
          <a:p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54240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0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558083" y="2341767"/>
            <a:ext cx="5079462" cy="1621509"/>
          </a:xfrm>
        </p:spPr>
        <p:txBody>
          <a:bodyPr/>
          <a:lstStyle/>
          <a:p>
            <a:r>
              <a:rPr lang="en-US" altLang="zh-CN" sz="4000" dirty="0">
                <a:latin typeface="+mn-lt"/>
                <a:ea typeface="+mn-ea"/>
                <a:cs typeface="+mn-ea"/>
                <a:sym typeface="+mn-lt"/>
              </a:rPr>
              <a:t>Thanks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/>
            </a:r>
            <a:br>
              <a:rPr lang="en-US" altLang="zh-CN" dirty="0">
                <a:latin typeface="+mn-lt"/>
                <a:ea typeface="+mn-ea"/>
                <a:cs typeface="+mn-ea"/>
                <a:sym typeface="+mn-lt"/>
              </a:rPr>
            </a:b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098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ll/>
      </p:transition>
    </mc:Choice>
    <mc:Fallback xmlns="">
      <p:transition>
        <p:pull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3d09a1d7-7c63-43a4-b3ee-df21fa2c8d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70C5A"/>
      </a:accent1>
      <a:accent2>
        <a:srgbClr val="4F5DCB"/>
      </a:accent2>
      <a:accent3>
        <a:srgbClr val="265989"/>
      </a:accent3>
      <a:accent4>
        <a:srgbClr val="41E7DF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1lxsh3e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2324</TotalTime>
  <Words>4768</Words>
  <Application>Microsoft Office PowerPoint</Application>
  <PresentationFormat>宽屏</PresentationFormat>
  <Paragraphs>449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宋体</vt:lpstr>
      <vt:lpstr>微软雅黑</vt:lpstr>
      <vt:lpstr>微软雅黑</vt:lpstr>
      <vt:lpstr>Arial</vt:lpstr>
      <vt:lpstr>Calibri</vt:lpstr>
      <vt:lpstr>Courier New</vt:lpstr>
      <vt:lpstr>Times New Roman</vt:lpstr>
      <vt:lpstr>Wingdings</vt:lpstr>
      <vt:lpstr>主题5</vt:lpstr>
      <vt:lpstr>think-cell Slide</vt:lpstr>
      <vt:lpstr>LiteOS内核开发与实践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MaoYX</cp:lastModifiedBy>
  <cp:revision>257</cp:revision>
  <cp:lastPrinted>2018-09-20T16:00:00Z</cp:lastPrinted>
  <dcterms:created xsi:type="dcterms:W3CDTF">2018-09-20T16:00:00Z</dcterms:created>
  <dcterms:modified xsi:type="dcterms:W3CDTF">2025-12-17T15:10:14Z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