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3"/>
  </p:notesMasterIdLst>
  <p:sldIdLst>
    <p:sldId id="446" r:id="rId2"/>
    <p:sldId id="554" r:id="rId3"/>
    <p:sldId id="523" r:id="rId4"/>
    <p:sldId id="559" r:id="rId5"/>
    <p:sldId id="528" r:id="rId6"/>
    <p:sldId id="529" r:id="rId7"/>
    <p:sldId id="530" r:id="rId8"/>
    <p:sldId id="560" r:id="rId9"/>
    <p:sldId id="531" r:id="rId10"/>
    <p:sldId id="532" r:id="rId11"/>
    <p:sldId id="533" r:id="rId12"/>
    <p:sldId id="534" r:id="rId13"/>
    <p:sldId id="535" r:id="rId14"/>
    <p:sldId id="536" r:id="rId15"/>
    <p:sldId id="561" r:id="rId16"/>
    <p:sldId id="538" r:id="rId17"/>
    <p:sldId id="546" r:id="rId18"/>
    <p:sldId id="547" r:id="rId19"/>
    <p:sldId id="556" r:id="rId20"/>
    <p:sldId id="548" r:id="rId21"/>
    <p:sldId id="549" r:id="rId22"/>
    <p:sldId id="557" r:id="rId23"/>
    <p:sldId id="562" r:id="rId24"/>
    <p:sldId id="522" r:id="rId25"/>
    <p:sldId id="563" r:id="rId26"/>
    <p:sldId id="524" r:id="rId27"/>
    <p:sldId id="525" r:id="rId28"/>
    <p:sldId id="526" r:id="rId29"/>
    <p:sldId id="527" r:id="rId30"/>
    <p:sldId id="564" r:id="rId31"/>
    <p:sldId id="565" r:id="rId32"/>
    <p:sldId id="545" r:id="rId33"/>
    <p:sldId id="566" r:id="rId34"/>
    <p:sldId id="567" r:id="rId35"/>
    <p:sldId id="568" r:id="rId36"/>
    <p:sldId id="569" r:id="rId37"/>
    <p:sldId id="570" r:id="rId38"/>
    <p:sldId id="571" r:id="rId39"/>
    <p:sldId id="537" r:id="rId40"/>
    <p:sldId id="572" r:id="rId41"/>
    <p:sldId id="573" r:id="rId42"/>
    <p:sldId id="574" r:id="rId43"/>
    <p:sldId id="575" r:id="rId44"/>
    <p:sldId id="576" r:id="rId45"/>
    <p:sldId id="577" r:id="rId46"/>
    <p:sldId id="578" r:id="rId47"/>
    <p:sldId id="579" r:id="rId48"/>
    <p:sldId id="580" r:id="rId49"/>
    <p:sldId id="581" r:id="rId50"/>
    <p:sldId id="582" r:id="rId51"/>
    <p:sldId id="583" r:id="rId52"/>
    <p:sldId id="584" r:id="rId53"/>
    <p:sldId id="585" r:id="rId54"/>
    <p:sldId id="586" r:id="rId55"/>
    <p:sldId id="587" r:id="rId56"/>
    <p:sldId id="588" r:id="rId57"/>
    <p:sldId id="589" r:id="rId58"/>
    <p:sldId id="539" r:id="rId59"/>
    <p:sldId id="540" r:id="rId60"/>
    <p:sldId id="541" r:id="rId61"/>
    <p:sldId id="542" r:id="rId62"/>
    <p:sldId id="543" r:id="rId63"/>
    <p:sldId id="544" r:id="rId64"/>
    <p:sldId id="590" r:id="rId65"/>
    <p:sldId id="591" r:id="rId66"/>
    <p:sldId id="592" r:id="rId67"/>
    <p:sldId id="593" r:id="rId68"/>
    <p:sldId id="594" r:id="rId69"/>
    <p:sldId id="550" r:id="rId70"/>
    <p:sldId id="551" r:id="rId71"/>
    <p:sldId id="552" r:id="rId72"/>
    <p:sldId id="595" r:id="rId73"/>
    <p:sldId id="553" r:id="rId74"/>
    <p:sldId id="596" r:id="rId75"/>
    <p:sldId id="555" r:id="rId76"/>
    <p:sldId id="597" r:id="rId77"/>
    <p:sldId id="598" r:id="rId78"/>
    <p:sldId id="558" r:id="rId79"/>
    <p:sldId id="599" r:id="rId80"/>
    <p:sldId id="600" r:id="rId81"/>
    <p:sldId id="601" r:id="rId82"/>
    <p:sldId id="602" r:id="rId83"/>
    <p:sldId id="603" r:id="rId84"/>
    <p:sldId id="604" r:id="rId85"/>
    <p:sldId id="605" r:id="rId86"/>
    <p:sldId id="606" r:id="rId87"/>
    <p:sldId id="608" r:id="rId88"/>
    <p:sldId id="607" r:id="rId89"/>
    <p:sldId id="609" r:id="rId90"/>
    <p:sldId id="610" r:id="rId91"/>
    <p:sldId id="611" r:id="rId92"/>
    <p:sldId id="612" r:id="rId93"/>
    <p:sldId id="613" r:id="rId94"/>
    <p:sldId id="614" r:id="rId95"/>
    <p:sldId id="615" r:id="rId96"/>
    <p:sldId id="616" r:id="rId97"/>
    <p:sldId id="617" r:id="rId98"/>
    <p:sldId id="618" r:id="rId99"/>
    <p:sldId id="619" r:id="rId100"/>
    <p:sldId id="620" r:id="rId101"/>
    <p:sldId id="621" r:id="rId102"/>
    <p:sldId id="622" r:id="rId103"/>
    <p:sldId id="623" r:id="rId104"/>
    <p:sldId id="624" r:id="rId105"/>
    <p:sldId id="625" r:id="rId106"/>
    <p:sldId id="626" r:id="rId107"/>
    <p:sldId id="627" r:id="rId108"/>
    <p:sldId id="628" r:id="rId109"/>
    <p:sldId id="629" r:id="rId110"/>
    <p:sldId id="630" r:id="rId111"/>
    <p:sldId id="631" r:id="rId112"/>
    <p:sldId id="632" r:id="rId113"/>
    <p:sldId id="633" r:id="rId114"/>
    <p:sldId id="634" r:id="rId115"/>
    <p:sldId id="635" r:id="rId116"/>
    <p:sldId id="636" r:id="rId117"/>
    <p:sldId id="637" r:id="rId118"/>
    <p:sldId id="638" r:id="rId119"/>
    <p:sldId id="639" r:id="rId120"/>
    <p:sldId id="640" r:id="rId121"/>
    <p:sldId id="641" r:id="rId122"/>
  </p:sldIdLst>
  <p:sldSz cx="12192000" cy="6858000"/>
  <p:notesSz cx="6858000" cy="9144000"/>
  <p:custDataLst>
    <p:tags r:id="rId1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0D5B"/>
    <a:srgbClr val="5666D7"/>
    <a:srgbClr val="36A6B8"/>
    <a:srgbClr val="42E6E0"/>
    <a:srgbClr val="566BD8"/>
    <a:srgbClr val="42E8E0"/>
    <a:srgbClr val="255184"/>
    <a:srgbClr val="2B6C95"/>
    <a:srgbClr val="40DCD9"/>
    <a:srgbClr val="265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82" autoAdjust="0"/>
  </p:normalViewPr>
  <p:slideViewPr>
    <p:cSldViewPr snapToGrid="0">
      <p:cViewPr varScale="1">
        <p:scale>
          <a:sx n="76" d="100"/>
          <a:sy n="76" d="100"/>
        </p:scale>
        <p:origin x="714" y="45"/>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gs" Target="tags/tag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pPr/>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pPr/>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927" name="矩形 9926">
            <a:extLst>
              <a:ext uri="{FF2B5EF4-FFF2-40B4-BE49-F238E27FC236}">
                <a16:creationId xmlns:a16="http://schemas.microsoft.com/office/drawing/2014/main" id="{F722FE8D-4A19-4A18-B1FB-8492B199FD0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01" name="副标题 2"/>
          <p:cNvSpPr>
            <a:spLocks noGrp="1"/>
          </p:cNvSpPr>
          <p:nvPr userDrawn="1">
            <p:ph type="subTitle" idx="1"/>
          </p:nvPr>
        </p:nvSpPr>
        <p:spPr>
          <a:xfrm>
            <a:off x="943402" y="2737940"/>
            <a:ext cx="5087595" cy="558799"/>
          </a:xfrm>
        </p:spPr>
        <p:txBody>
          <a:bodyPr anchor="ctr">
            <a:normAutofit/>
          </a:bodyPr>
          <a:lstStyle>
            <a:lvl1pPr marL="0" indent="0" algn="l">
              <a:buNone/>
              <a:defRPr sz="2000">
                <a:solidFill>
                  <a:srgbClr val="5666D7"/>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943402" y="1525496"/>
            <a:ext cx="5087595" cy="1198382"/>
          </a:xfrm>
        </p:spPr>
        <p:txBody>
          <a:bodyPr anchor="ctr">
            <a:normAutofit/>
          </a:bodyPr>
          <a:lstStyle>
            <a:lvl1pPr algn="l">
              <a:defRPr sz="4000">
                <a:solidFill>
                  <a:schemeClr val="bg1"/>
                </a:solidFill>
              </a:defRPr>
            </a:lvl1pPr>
          </a:lstStyle>
          <a:p>
            <a:r>
              <a:rPr lang="en-US" dirty="0"/>
              <a:t>Click to edit Master title style</a:t>
            </a:r>
            <a:endParaRPr lang="zh-CN" altLang="en-US" dirty="0"/>
          </a:p>
        </p:txBody>
      </p:sp>
      <p:grpSp>
        <p:nvGrpSpPr>
          <p:cNvPr id="252" name="组合 251">
            <a:extLst>
              <a:ext uri="{FF2B5EF4-FFF2-40B4-BE49-F238E27FC236}">
                <a16:creationId xmlns:a16="http://schemas.microsoft.com/office/drawing/2014/main" id="{839CE1DB-111B-4A2C-A29E-C50E634E2318}"/>
              </a:ext>
            </a:extLst>
          </p:cNvPr>
          <p:cNvGrpSpPr/>
          <p:nvPr userDrawn="1"/>
        </p:nvGrpSpPr>
        <p:grpSpPr>
          <a:xfrm>
            <a:off x="2134335" y="607950"/>
            <a:ext cx="9680127" cy="5377577"/>
            <a:chOff x="4656138" y="2437995"/>
            <a:chExt cx="6846887" cy="3803634"/>
          </a:xfrm>
        </p:grpSpPr>
        <p:sp>
          <p:nvSpPr>
            <p:cNvPr id="196" name="椭圆 195">
              <a:extLst>
                <a:ext uri="{FF2B5EF4-FFF2-40B4-BE49-F238E27FC236}">
                  <a16:creationId xmlns:a16="http://schemas.microsoft.com/office/drawing/2014/main" id="{31287A23-FE6B-487B-8BED-0C677DFB4992}"/>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044A711-CB2C-4F92-A19F-1C38F5CC3EA3}"/>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97AC0DD2-E837-4B6C-A8B4-9459081251B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9" name="椭圆 4098">
              <a:extLst>
                <a:ext uri="{FF2B5EF4-FFF2-40B4-BE49-F238E27FC236}">
                  <a16:creationId xmlns:a16="http://schemas.microsoft.com/office/drawing/2014/main" id="{CCFB4B6B-1FA7-46C9-B4AC-9CA47E3B66ED}"/>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5">
              <a:extLst>
                <a:ext uri="{FF2B5EF4-FFF2-40B4-BE49-F238E27FC236}">
                  <a16:creationId xmlns:a16="http://schemas.microsoft.com/office/drawing/2014/main" id="{DD7B420F-1711-4A49-A959-C81CD1AFFC29}"/>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01C9163C-CB87-4DDA-A749-1A8F5B9D2AB6}"/>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FC5F6088-3348-4370-A1D6-28FAA3A5840A}"/>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CD134D4A-FF64-418D-BF61-AE24A995E02E}"/>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9">
              <a:extLst>
                <a:ext uri="{FF2B5EF4-FFF2-40B4-BE49-F238E27FC236}">
                  <a16:creationId xmlns:a16="http://schemas.microsoft.com/office/drawing/2014/main" id="{FC0074FF-5BCC-45FA-8E44-F66DF0B78B91}"/>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55">
              <a:extLst>
                <a:ext uri="{FF2B5EF4-FFF2-40B4-BE49-F238E27FC236}">
                  <a16:creationId xmlns:a16="http://schemas.microsoft.com/office/drawing/2014/main" id="{B5EFAE15-02B0-4FEA-B304-654B59B7E046}"/>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6">
              <a:extLst>
                <a:ext uri="{FF2B5EF4-FFF2-40B4-BE49-F238E27FC236}">
                  <a16:creationId xmlns:a16="http://schemas.microsoft.com/office/drawing/2014/main" id="{AACA5D4B-622F-452A-9E2E-FB3D8E5B424C}"/>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7">
              <a:extLst>
                <a:ext uri="{FF2B5EF4-FFF2-40B4-BE49-F238E27FC236}">
                  <a16:creationId xmlns:a16="http://schemas.microsoft.com/office/drawing/2014/main" id="{E9112628-8D4E-4BCC-BC3E-D239FECFF1B9}"/>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58">
              <a:extLst>
                <a:ext uri="{FF2B5EF4-FFF2-40B4-BE49-F238E27FC236}">
                  <a16:creationId xmlns:a16="http://schemas.microsoft.com/office/drawing/2014/main" id="{4C1692C0-671E-4112-8870-EA379167AC57}"/>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59">
              <a:extLst>
                <a:ext uri="{FF2B5EF4-FFF2-40B4-BE49-F238E27FC236}">
                  <a16:creationId xmlns:a16="http://schemas.microsoft.com/office/drawing/2014/main" id="{CE40BE4D-1325-413C-9BF6-92993CBBA4E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0">
              <a:extLst>
                <a:ext uri="{FF2B5EF4-FFF2-40B4-BE49-F238E27FC236}">
                  <a16:creationId xmlns:a16="http://schemas.microsoft.com/office/drawing/2014/main" id="{F6CF83C1-7FD5-4B8D-B257-A98CD78B78B6}"/>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1">
              <a:extLst>
                <a:ext uri="{FF2B5EF4-FFF2-40B4-BE49-F238E27FC236}">
                  <a16:creationId xmlns:a16="http://schemas.microsoft.com/office/drawing/2014/main" id="{B15DA810-0AC5-40C4-A5A1-B1285D0BAB29}"/>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2">
              <a:extLst>
                <a:ext uri="{FF2B5EF4-FFF2-40B4-BE49-F238E27FC236}">
                  <a16:creationId xmlns:a16="http://schemas.microsoft.com/office/drawing/2014/main" id="{FD1476BC-AC33-4968-8BE4-E89562505DA5}"/>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3">
              <a:extLst>
                <a:ext uri="{FF2B5EF4-FFF2-40B4-BE49-F238E27FC236}">
                  <a16:creationId xmlns:a16="http://schemas.microsoft.com/office/drawing/2014/main" id="{0B4524DE-4782-43B9-83DA-A10F81CC0FFE}"/>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4">
              <a:extLst>
                <a:ext uri="{FF2B5EF4-FFF2-40B4-BE49-F238E27FC236}">
                  <a16:creationId xmlns:a16="http://schemas.microsoft.com/office/drawing/2014/main" id="{DB720F95-412E-4E6C-802D-473669FBF1D5}"/>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5">
              <a:extLst>
                <a:ext uri="{FF2B5EF4-FFF2-40B4-BE49-F238E27FC236}">
                  <a16:creationId xmlns:a16="http://schemas.microsoft.com/office/drawing/2014/main" id="{6F409CC0-6CE5-411A-A631-05BC30DE3FF0}"/>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6">
              <a:extLst>
                <a:ext uri="{FF2B5EF4-FFF2-40B4-BE49-F238E27FC236}">
                  <a16:creationId xmlns:a16="http://schemas.microsoft.com/office/drawing/2014/main" id="{FBBEC337-3D96-4552-94E6-D5A400715A52}"/>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8" name="Freeform 67">
              <a:extLst>
                <a:ext uri="{FF2B5EF4-FFF2-40B4-BE49-F238E27FC236}">
                  <a16:creationId xmlns:a16="http://schemas.microsoft.com/office/drawing/2014/main" id="{0B480263-2724-4D8D-890E-23B98114D457}"/>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9" name="Freeform 68">
              <a:extLst>
                <a:ext uri="{FF2B5EF4-FFF2-40B4-BE49-F238E27FC236}">
                  <a16:creationId xmlns:a16="http://schemas.microsoft.com/office/drawing/2014/main" id="{7FC2FF67-8A42-4CD0-B5E5-272103BC2376}"/>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2" name="Freeform 71">
              <a:extLst>
                <a:ext uri="{FF2B5EF4-FFF2-40B4-BE49-F238E27FC236}">
                  <a16:creationId xmlns:a16="http://schemas.microsoft.com/office/drawing/2014/main" id="{FD80A767-1C22-4670-99FF-B8B248D1B0F2}"/>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3" name="Freeform 72">
              <a:extLst>
                <a:ext uri="{FF2B5EF4-FFF2-40B4-BE49-F238E27FC236}">
                  <a16:creationId xmlns:a16="http://schemas.microsoft.com/office/drawing/2014/main" id="{63B25B06-018E-4207-8D4D-28A3CAB37F2A}"/>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4" name="Freeform 73">
              <a:extLst>
                <a:ext uri="{FF2B5EF4-FFF2-40B4-BE49-F238E27FC236}">
                  <a16:creationId xmlns:a16="http://schemas.microsoft.com/office/drawing/2014/main" id="{5D585783-FD34-4BEE-B88F-4B5FB48E44B9}"/>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5" name="Freeform 74">
              <a:extLst>
                <a:ext uri="{FF2B5EF4-FFF2-40B4-BE49-F238E27FC236}">
                  <a16:creationId xmlns:a16="http://schemas.microsoft.com/office/drawing/2014/main" id="{4C4350A5-33CD-4F3C-9E46-A7BA7A3F80BA}"/>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6" name="Freeform 75">
              <a:extLst>
                <a:ext uri="{FF2B5EF4-FFF2-40B4-BE49-F238E27FC236}">
                  <a16:creationId xmlns:a16="http://schemas.microsoft.com/office/drawing/2014/main" id="{2C1A229B-0034-4B96-BD9F-4C994F24CDFF}"/>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8" name="Freeform 77">
              <a:extLst>
                <a:ext uri="{FF2B5EF4-FFF2-40B4-BE49-F238E27FC236}">
                  <a16:creationId xmlns:a16="http://schemas.microsoft.com/office/drawing/2014/main" id="{CF3B3962-B84A-4F1D-8B93-0BED7414ED25}"/>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0" name="Freeform 79">
              <a:extLst>
                <a:ext uri="{FF2B5EF4-FFF2-40B4-BE49-F238E27FC236}">
                  <a16:creationId xmlns:a16="http://schemas.microsoft.com/office/drawing/2014/main" id="{961F8AA8-F20D-422E-8437-87E243BB6FC9}"/>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1" name="Freeform 80">
              <a:extLst>
                <a:ext uri="{FF2B5EF4-FFF2-40B4-BE49-F238E27FC236}">
                  <a16:creationId xmlns:a16="http://schemas.microsoft.com/office/drawing/2014/main" id="{4E51C430-C56F-4FCE-A8D2-F80B699395B0}"/>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2" name="Freeform 81">
              <a:extLst>
                <a:ext uri="{FF2B5EF4-FFF2-40B4-BE49-F238E27FC236}">
                  <a16:creationId xmlns:a16="http://schemas.microsoft.com/office/drawing/2014/main" id="{D13B5027-1B7C-4ADA-B936-D7BF2A08CBA6}"/>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3" name="Freeform 82">
              <a:extLst>
                <a:ext uri="{FF2B5EF4-FFF2-40B4-BE49-F238E27FC236}">
                  <a16:creationId xmlns:a16="http://schemas.microsoft.com/office/drawing/2014/main" id="{9A093AB1-2883-4487-BA43-17D9702BC372}"/>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4" name="Freeform 83">
              <a:extLst>
                <a:ext uri="{FF2B5EF4-FFF2-40B4-BE49-F238E27FC236}">
                  <a16:creationId xmlns:a16="http://schemas.microsoft.com/office/drawing/2014/main" id="{AA71B833-BA1E-4616-AB0B-5881C5F3EE3D}"/>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5" name="Freeform 84">
              <a:extLst>
                <a:ext uri="{FF2B5EF4-FFF2-40B4-BE49-F238E27FC236}">
                  <a16:creationId xmlns:a16="http://schemas.microsoft.com/office/drawing/2014/main" id="{E764C7B4-7F50-466F-8499-DA36A2B89910}"/>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6" name="Freeform 85">
              <a:extLst>
                <a:ext uri="{FF2B5EF4-FFF2-40B4-BE49-F238E27FC236}">
                  <a16:creationId xmlns:a16="http://schemas.microsoft.com/office/drawing/2014/main" id="{092929F9-5B9E-4756-9ABB-428BAC74A553}"/>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7" name="Freeform 86">
              <a:extLst>
                <a:ext uri="{FF2B5EF4-FFF2-40B4-BE49-F238E27FC236}">
                  <a16:creationId xmlns:a16="http://schemas.microsoft.com/office/drawing/2014/main" id="{8C90C5E6-79A2-4060-8EB1-737E351C3EB9}"/>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096" name="直接连接符 4095">
              <a:extLst>
                <a:ext uri="{FF2B5EF4-FFF2-40B4-BE49-F238E27FC236}">
                  <a16:creationId xmlns:a16="http://schemas.microsoft.com/office/drawing/2014/main" id="{B1EA0FC5-29CD-4F28-A45D-D157FD7E5BA2}"/>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867A0B53-8EDF-48B5-9A4E-8F1B2EE88C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59F3CA0-87B8-43D8-B691-12FB120D8ECB}"/>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E3DD8066-40F4-4A02-9DF1-05A162F2CA2C}"/>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99" name="椭圆 198">
              <a:extLst>
                <a:ext uri="{FF2B5EF4-FFF2-40B4-BE49-F238E27FC236}">
                  <a16:creationId xmlns:a16="http://schemas.microsoft.com/office/drawing/2014/main" id="{001A6F1F-C585-4281-828C-058AB5EDE524}"/>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0" name="直接连接符 199">
              <a:extLst>
                <a:ext uri="{FF2B5EF4-FFF2-40B4-BE49-F238E27FC236}">
                  <a16:creationId xmlns:a16="http://schemas.microsoft.com/office/drawing/2014/main" id="{493F7646-9DF0-4328-BA59-726818EBD667}"/>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557EAC11-F2A0-4C08-8F11-44BF87802B10}"/>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3" name="直接连接符 202">
              <a:extLst>
                <a:ext uri="{FF2B5EF4-FFF2-40B4-BE49-F238E27FC236}">
                  <a16:creationId xmlns:a16="http://schemas.microsoft.com/office/drawing/2014/main" id="{5D1273CE-BE25-441B-953B-C1B5966CAE6F}"/>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4" name="椭圆 203">
              <a:extLst>
                <a:ext uri="{FF2B5EF4-FFF2-40B4-BE49-F238E27FC236}">
                  <a16:creationId xmlns:a16="http://schemas.microsoft.com/office/drawing/2014/main" id="{8F096A9B-1AA8-431A-BB04-8C15CF5627F3}"/>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2919DAC9-4D15-444E-AD29-DB55069F5E68}"/>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E0D349D6-48B6-4D60-8DDF-1C1342CDA205}"/>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7089C232-3C85-423F-947B-0BFA9401DFAE}"/>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3" name="椭圆 212">
              <a:extLst>
                <a:ext uri="{FF2B5EF4-FFF2-40B4-BE49-F238E27FC236}">
                  <a16:creationId xmlns:a16="http://schemas.microsoft.com/office/drawing/2014/main" id="{C560641A-F420-4727-A7F7-179E3FE6374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 name="直接连接符 213">
              <a:extLst>
                <a:ext uri="{FF2B5EF4-FFF2-40B4-BE49-F238E27FC236}">
                  <a16:creationId xmlns:a16="http://schemas.microsoft.com/office/drawing/2014/main" id="{545304FD-1796-4169-B922-A5937A78C4FD}"/>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5" name="椭圆 214">
              <a:extLst>
                <a:ext uri="{FF2B5EF4-FFF2-40B4-BE49-F238E27FC236}">
                  <a16:creationId xmlns:a16="http://schemas.microsoft.com/office/drawing/2014/main" id="{73E6A0CA-67C2-42EF-8383-B14B770ED349}"/>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AF574737-39F9-4472-AE17-3BFF53B46DED}"/>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9D684D3A-8C4E-4158-8772-8D8471CDA91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1E239B15-E30E-46F9-A6D0-F08CDCC35D74}"/>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4154" name="Freeform 90">
              <a:extLst>
                <a:ext uri="{FF2B5EF4-FFF2-40B4-BE49-F238E27FC236}">
                  <a16:creationId xmlns:a16="http://schemas.microsoft.com/office/drawing/2014/main" id="{AF6DEBA4-934D-42E9-8FD3-EA26D0DCE329}"/>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55" name="Freeform 91">
              <a:extLst>
                <a:ext uri="{FF2B5EF4-FFF2-40B4-BE49-F238E27FC236}">
                  <a16:creationId xmlns:a16="http://schemas.microsoft.com/office/drawing/2014/main" id="{D3086A1B-50B2-4CAF-9735-932CF494AE9F}"/>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Freeform 90">
              <a:extLst>
                <a:ext uri="{FF2B5EF4-FFF2-40B4-BE49-F238E27FC236}">
                  <a16:creationId xmlns:a16="http://schemas.microsoft.com/office/drawing/2014/main" id="{C63D826E-5E90-4F6D-88F7-EA5A08B9047D}"/>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7" name="任意多边形: 形状 246">
              <a:extLst>
                <a:ext uri="{FF2B5EF4-FFF2-40B4-BE49-F238E27FC236}">
                  <a16:creationId xmlns:a16="http://schemas.microsoft.com/office/drawing/2014/main" id="{A1430432-40EA-4925-AA20-F60AF99BA01B}"/>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5" name="任意多边形: 形状 244">
              <a:extLst>
                <a:ext uri="{FF2B5EF4-FFF2-40B4-BE49-F238E27FC236}">
                  <a16:creationId xmlns:a16="http://schemas.microsoft.com/office/drawing/2014/main" id="{20D60DA0-3304-4EAA-A6B3-B1D71DBAC6BD}"/>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1" name="任意多边形: 形状 240">
              <a:extLst>
                <a:ext uri="{FF2B5EF4-FFF2-40B4-BE49-F238E27FC236}">
                  <a16:creationId xmlns:a16="http://schemas.microsoft.com/office/drawing/2014/main" id="{5F215D2E-5F33-46B1-BF06-9545891E75A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9" name="任意多边形: 形状 238">
              <a:extLst>
                <a:ext uri="{FF2B5EF4-FFF2-40B4-BE49-F238E27FC236}">
                  <a16:creationId xmlns:a16="http://schemas.microsoft.com/office/drawing/2014/main" id="{3999E84D-AA32-4328-8EB1-E150383BC4D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8" name="任意多边形: 形状 247">
              <a:extLst>
                <a:ext uri="{FF2B5EF4-FFF2-40B4-BE49-F238E27FC236}">
                  <a16:creationId xmlns:a16="http://schemas.microsoft.com/office/drawing/2014/main" id="{E2DF0AA1-2C0A-4E2E-99B1-A1EB47B77077}"/>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9" name="任意多边形: 形状 248">
              <a:extLst>
                <a:ext uri="{FF2B5EF4-FFF2-40B4-BE49-F238E27FC236}">
                  <a16:creationId xmlns:a16="http://schemas.microsoft.com/office/drawing/2014/main" id="{93F95DFF-692A-4154-AB5C-0BEB1715CA9F}"/>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0" name="任意多边形: 形状 249">
              <a:extLst>
                <a:ext uri="{FF2B5EF4-FFF2-40B4-BE49-F238E27FC236}">
                  <a16:creationId xmlns:a16="http://schemas.microsoft.com/office/drawing/2014/main" id="{12DE8761-93A2-4BA5-96ED-CBDB609E5AA2}"/>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1" name="任意多边形: 形状 250">
              <a:extLst>
                <a:ext uri="{FF2B5EF4-FFF2-40B4-BE49-F238E27FC236}">
                  <a16:creationId xmlns:a16="http://schemas.microsoft.com/office/drawing/2014/main" id="{31E777D3-0C18-4121-89DC-F8148821A7C1}"/>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6" name="Freeform 106">
              <a:extLst>
                <a:ext uri="{FF2B5EF4-FFF2-40B4-BE49-F238E27FC236}">
                  <a16:creationId xmlns:a16="http://schemas.microsoft.com/office/drawing/2014/main" id="{4E1033CC-A13D-4768-92B6-DDBAE3D7D4E2}"/>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
        <p:nvSpPr>
          <p:cNvPr id="12" name="文本占位符 13"/>
          <p:cNvSpPr>
            <a:spLocks noGrp="1"/>
          </p:cNvSpPr>
          <p:nvPr userDrawn="1">
            <p:ph type="body" sz="quarter" idx="10" hasCustomPrompt="1"/>
          </p:nvPr>
        </p:nvSpPr>
        <p:spPr>
          <a:xfrm>
            <a:off x="943403" y="4071055"/>
            <a:ext cx="2340818" cy="296271"/>
          </a:xfrm>
          <a:prstGeom prst="roundRect">
            <a:avLst>
              <a:gd name="adj" fmla="val 50000"/>
            </a:avLst>
          </a:prstGeom>
          <a:ln>
            <a:solidFill>
              <a:schemeClr val="bg1"/>
            </a:solidFill>
          </a:ln>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943402" y="4533176"/>
            <a:ext cx="508759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F43A69A-C441-46B2-A04C-833C041584CC}"/>
              </a:ext>
            </a:extLst>
          </p:cNvPr>
          <p:cNvSpPr/>
          <p:nvPr userDrawn="1"/>
        </p:nvSpPr>
        <p:spPr>
          <a:xfrm>
            <a:off x="-111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标题 1"/>
          <p:cNvSpPr>
            <a:spLocks noGrp="1"/>
          </p:cNvSpPr>
          <p:nvPr userDrawn="1">
            <p:ph type="title"/>
          </p:nvPr>
        </p:nvSpPr>
        <p:spPr>
          <a:xfrm>
            <a:off x="5457956" y="2573757"/>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5459072" y="3469107"/>
            <a:ext cx="5419185" cy="1015623"/>
          </a:xfrm>
        </p:spPr>
        <p:txBody>
          <a:bodyPr anchor="t">
            <a:normAutofit/>
          </a:bodyPr>
          <a:lstStyle>
            <a:lvl1pPr marL="0" indent="0" algn="l">
              <a:lnSpc>
                <a:spcPct val="100000"/>
              </a:lnSpc>
              <a:buNone/>
              <a:defRPr sz="1100">
                <a:solidFill>
                  <a:schemeClr val="bg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5" name="组合 4">
            <a:extLst>
              <a:ext uri="{FF2B5EF4-FFF2-40B4-BE49-F238E27FC236}">
                <a16:creationId xmlns:a16="http://schemas.microsoft.com/office/drawing/2014/main" id="{EDFAD072-98A3-4A9A-A57D-A2BBD0C400AF}"/>
              </a:ext>
            </a:extLst>
          </p:cNvPr>
          <p:cNvGrpSpPr/>
          <p:nvPr userDrawn="1"/>
        </p:nvGrpSpPr>
        <p:grpSpPr>
          <a:xfrm flipH="1">
            <a:off x="347887" y="1993644"/>
            <a:ext cx="7140148" cy="3966548"/>
            <a:chOff x="4656138" y="2437995"/>
            <a:chExt cx="6846887" cy="3803634"/>
          </a:xfrm>
        </p:grpSpPr>
        <p:sp>
          <p:nvSpPr>
            <p:cNvPr id="6" name="椭圆 5">
              <a:extLst>
                <a:ext uri="{FF2B5EF4-FFF2-40B4-BE49-F238E27FC236}">
                  <a16:creationId xmlns:a16="http://schemas.microsoft.com/office/drawing/2014/main" id="{01FEC273-3D18-48A3-8E14-F2C2E0EA1388}"/>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5B24915-2C92-4794-B49D-726193F73647}"/>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23F1A1F-8473-4CAC-8B68-2ECBFEBF8864}"/>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4E18F4E0-9855-455A-9AB4-8E45971C61FF}"/>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a:extLst>
                <a:ext uri="{FF2B5EF4-FFF2-40B4-BE49-F238E27FC236}">
                  <a16:creationId xmlns:a16="http://schemas.microsoft.com/office/drawing/2014/main" id="{30A201A1-80D9-4DA8-A881-55B80110B5F8}"/>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1F3FC629-F814-44C8-848B-3A13EF052DA7}"/>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7">
              <a:extLst>
                <a:ext uri="{FF2B5EF4-FFF2-40B4-BE49-F238E27FC236}">
                  <a16:creationId xmlns:a16="http://schemas.microsoft.com/office/drawing/2014/main" id="{DC71528E-8757-4884-83C1-214745F9F21E}"/>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8">
              <a:extLst>
                <a:ext uri="{FF2B5EF4-FFF2-40B4-BE49-F238E27FC236}">
                  <a16:creationId xmlns:a16="http://schemas.microsoft.com/office/drawing/2014/main" id="{ED5565D2-665C-4D02-AF53-29AFF656BF65}"/>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9">
              <a:extLst>
                <a:ext uri="{FF2B5EF4-FFF2-40B4-BE49-F238E27FC236}">
                  <a16:creationId xmlns:a16="http://schemas.microsoft.com/office/drawing/2014/main" id="{8470F6EC-9358-4962-9498-35900AC547B7}"/>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55">
              <a:extLst>
                <a:ext uri="{FF2B5EF4-FFF2-40B4-BE49-F238E27FC236}">
                  <a16:creationId xmlns:a16="http://schemas.microsoft.com/office/drawing/2014/main" id="{1B8B1E90-E8E6-474C-A9F4-D613AE0CAB3F}"/>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56">
              <a:extLst>
                <a:ext uri="{FF2B5EF4-FFF2-40B4-BE49-F238E27FC236}">
                  <a16:creationId xmlns:a16="http://schemas.microsoft.com/office/drawing/2014/main" id="{069847D9-8534-4608-A15D-B6E42ACE98C6}"/>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57">
              <a:extLst>
                <a:ext uri="{FF2B5EF4-FFF2-40B4-BE49-F238E27FC236}">
                  <a16:creationId xmlns:a16="http://schemas.microsoft.com/office/drawing/2014/main" id="{48EC9D43-F746-48CA-9F08-8E6CB810795F}"/>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58">
              <a:extLst>
                <a:ext uri="{FF2B5EF4-FFF2-40B4-BE49-F238E27FC236}">
                  <a16:creationId xmlns:a16="http://schemas.microsoft.com/office/drawing/2014/main" id="{54203647-D14B-459B-A874-D5CE3FF3B553}"/>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9">
              <a:extLst>
                <a:ext uri="{FF2B5EF4-FFF2-40B4-BE49-F238E27FC236}">
                  <a16:creationId xmlns:a16="http://schemas.microsoft.com/office/drawing/2014/main" id="{08820E61-22DB-4B15-9C62-34AE5ADA757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60">
              <a:extLst>
                <a:ext uri="{FF2B5EF4-FFF2-40B4-BE49-F238E27FC236}">
                  <a16:creationId xmlns:a16="http://schemas.microsoft.com/office/drawing/2014/main" id="{AEDA835B-253D-49A4-AD92-D38F3FD8A549}"/>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1">
              <a:extLst>
                <a:ext uri="{FF2B5EF4-FFF2-40B4-BE49-F238E27FC236}">
                  <a16:creationId xmlns:a16="http://schemas.microsoft.com/office/drawing/2014/main" id="{EAAF6E4C-9F9A-49F1-8348-DF77685638D3}"/>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2">
              <a:extLst>
                <a:ext uri="{FF2B5EF4-FFF2-40B4-BE49-F238E27FC236}">
                  <a16:creationId xmlns:a16="http://schemas.microsoft.com/office/drawing/2014/main" id="{0347101B-1CD1-4977-A202-28F12251DDB3}"/>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3">
              <a:extLst>
                <a:ext uri="{FF2B5EF4-FFF2-40B4-BE49-F238E27FC236}">
                  <a16:creationId xmlns:a16="http://schemas.microsoft.com/office/drawing/2014/main" id="{A65CBAA9-9DF4-4F79-A533-CE5F4A3231C3}"/>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4">
              <a:extLst>
                <a:ext uri="{FF2B5EF4-FFF2-40B4-BE49-F238E27FC236}">
                  <a16:creationId xmlns:a16="http://schemas.microsoft.com/office/drawing/2014/main" id="{306AC6B0-8C0B-470D-9853-86D766DEA4FF}"/>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5">
              <a:extLst>
                <a:ext uri="{FF2B5EF4-FFF2-40B4-BE49-F238E27FC236}">
                  <a16:creationId xmlns:a16="http://schemas.microsoft.com/office/drawing/2014/main" id="{D8CA5445-3AAF-46BA-84D0-F11755E0E5ED}"/>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6">
              <a:extLst>
                <a:ext uri="{FF2B5EF4-FFF2-40B4-BE49-F238E27FC236}">
                  <a16:creationId xmlns:a16="http://schemas.microsoft.com/office/drawing/2014/main" id="{6E0F6EDD-9620-4A0A-9E52-85896B6B3E57}"/>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7">
              <a:extLst>
                <a:ext uri="{FF2B5EF4-FFF2-40B4-BE49-F238E27FC236}">
                  <a16:creationId xmlns:a16="http://schemas.microsoft.com/office/drawing/2014/main" id="{2B23DE40-FEA9-419A-A012-944D8879A75F}"/>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8">
              <a:extLst>
                <a:ext uri="{FF2B5EF4-FFF2-40B4-BE49-F238E27FC236}">
                  <a16:creationId xmlns:a16="http://schemas.microsoft.com/office/drawing/2014/main" id="{467CDEB9-2068-43B0-9F98-13F176B669A0}"/>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71">
              <a:extLst>
                <a:ext uri="{FF2B5EF4-FFF2-40B4-BE49-F238E27FC236}">
                  <a16:creationId xmlns:a16="http://schemas.microsoft.com/office/drawing/2014/main" id="{2BA56708-F51B-4820-B39A-C5A8772A9E01}"/>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2">
              <a:extLst>
                <a:ext uri="{FF2B5EF4-FFF2-40B4-BE49-F238E27FC236}">
                  <a16:creationId xmlns:a16="http://schemas.microsoft.com/office/drawing/2014/main" id="{3A242F8D-27D2-48B9-B89B-292D52ED3155}"/>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3">
              <a:extLst>
                <a:ext uri="{FF2B5EF4-FFF2-40B4-BE49-F238E27FC236}">
                  <a16:creationId xmlns:a16="http://schemas.microsoft.com/office/drawing/2014/main" id="{2B847F8F-E746-4ABE-9736-9BBD73E82FD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4">
              <a:extLst>
                <a:ext uri="{FF2B5EF4-FFF2-40B4-BE49-F238E27FC236}">
                  <a16:creationId xmlns:a16="http://schemas.microsoft.com/office/drawing/2014/main" id="{F9BFC2B0-E8DC-476C-8440-1E265F6C55F8}"/>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5">
              <a:extLst>
                <a:ext uri="{FF2B5EF4-FFF2-40B4-BE49-F238E27FC236}">
                  <a16:creationId xmlns:a16="http://schemas.microsoft.com/office/drawing/2014/main" id="{F68124A6-7643-4752-A093-522E178E22F0}"/>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7">
              <a:extLst>
                <a:ext uri="{FF2B5EF4-FFF2-40B4-BE49-F238E27FC236}">
                  <a16:creationId xmlns:a16="http://schemas.microsoft.com/office/drawing/2014/main" id="{7479CF2F-F825-4ED9-8980-9CDC581AD2B9}"/>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9">
              <a:extLst>
                <a:ext uri="{FF2B5EF4-FFF2-40B4-BE49-F238E27FC236}">
                  <a16:creationId xmlns:a16="http://schemas.microsoft.com/office/drawing/2014/main" id="{E2AC8F3E-E460-4D8E-A14F-DE4BCDA07A0F}"/>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80">
              <a:extLst>
                <a:ext uri="{FF2B5EF4-FFF2-40B4-BE49-F238E27FC236}">
                  <a16:creationId xmlns:a16="http://schemas.microsoft.com/office/drawing/2014/main" id="{877DA411-2751-44F2-A7EE-AA70CF8BCC61}"/>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1">
              <a:extLst>
                <a:ext uri="{FF2B5EF4-FFF2-40B4-BE49-F238E27FC236}">
                  <a16:creationId xmlns:a16="http://schemas.microsoft.com/office/drawing/2014/main" id="{08C14B30-69E1-436F-9656-9A670ED0AFFE}"/>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2">
              <a:extLst>
                <a:ext uri="{FF2B5EF4-FFF2-40B4-BE49-F238E27FC236}">
                  <a16:creationId xmlns:a16="http://schemas.microsoft.com/office/drawing/2014/main" id="{81AB594C-8CCA-4332-AD1F-2ABC1E930158}"/>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3">
              <a:extLst>
                <a:ext uri="{FF2B5EF4-FFF2-40B4-BE49-F238E27FC236}">
                  <a16:creationId xmlns:a16="http://schemas.microsoft.com/office/drawing/2014/main" id="{F5473C86-4E85-479B-A4DF-0AE3B70A98D6}"/>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4">
              <a:extLst>
                <a:ext uri="{FF2B5EF4-FFF2-40B4-BE49-F238E27FC236}">
                  <a16:creationId xmlns:a16="http://schemas.microsoft.com/office/drawing/2014/main" id="{939CD653-6F1F-4C21-B0AD-212B0C319E79}"/>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5">
              <a:extLst>
                <a:ext uri="{FF2B5EF4-FFF2-40B4-BE49-F238E27FC236}">
                  <a16:creationId xmlns:a16="http://schemas.microsoft.com/office/drawing/2014/main" id="{F3EE7AF8-F12B-4F2A-ADA4-D056575153A4}"/>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6">
              <a:extLst>
                <a:ext uri="{FF2B5EF4-FFF2-40B4-BE49-F238E27FC236}">
                  <a16:creationId xmlns:a16="http://schemas.microsoft.com/office/drawing/2014/main" id="{40F9DFFF-4CD4-43CD-AB17-5E0589E6083E}"/>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5" name="直接连接符 44">
              <a:extLst>
                <a:ext uri="{FF2B5EF4-FFF2-40B4-BE49-F238E27FC236}">
                  <a16:creationId xmlns:a16="http://schemas.microsoft.com/office/drawing/2014/main" id="{0A3D1317-FBA6-4CE2-896A-4E1EEC200D9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0039AA1-8B60-43A6-A6DB-294AF4C0BE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C686BC3-7823-4311-971E-CED47FEC2331}"/>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3AA01B2-BBA9-482C-AF61-FE5CC7143586}"/>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61B26D1D-08BE-425A-97B5-DD08D3807562}"/>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634BC058-D62E-4510-8D65-416300B44AC9}"/>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03276EA7-5327-40E5-8F85-64AF830B6CA1}"/>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a:extLst>
                <a:ext uri="{FF2B5EF4-FFF2-40B4-BE49-F238E27FC236}">
                  <a16:creationId xmlns:a16="http://schemas.microsoft.com/office/drawing/2014/main" id="{C9789196-78EC-4E5A-A04D-62DD88105C0B}"/>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E4B2A535-B781-4AF0-ADDC-76897951D9BB}"/>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28CECE6A-AC08-4EF9-B3FE-1D230C534BB0}"/>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737CB0B0-345F-4485-8D6F-9F7A19E99ABD}"/>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E066FF86-60CC-413B-A38C-5877DF3423BC}"/>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3418658E-3C78-4374-B2D3-E9F25A672F8D}"/>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F8A1BA54-6C50-42DD-9E37-F4BE9AAC50C3}"/>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9" name="椭圆 58">
              <a:extLst>
                <a:ext uri="{FF2B5EF4-FFF2-40B4-BE49-F238E27FC236}">
                  <a16:creationId xmlns:a16="http://schemas.microsoft.com/office/drawing/2014/main" id="{DC5D5A44-A1EF-4532-8AD3-E8823B57F81E}"/>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a:extLst>
                <a:ext uri="{FF2B5EF4-FFF2-40B4-BE49-F238E27FC236}">
                  <a16:creationId xmlns:a16="http://schemas.microsoft.com/office/drawing/2014/main" id="{055015E5-0B2E-46E6-A7AB-11C57440AE30}"/>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C463780-6B50-492E-8198-C64C39D9399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EB51A2E-F9D5-43AA-8F4D-C0E2739FFE05}"/>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3" name="Freeform 90">
              <a:extLst>
                <a:ext uri="{FF2B5EF4-FFF2-40B4-BE49-F238E27FC236}">
                  <a16:creationId xmlns:a16="http://schemas.microsoft.com/office/drawing/2014/main" id="{AF8EE743-B501-40A3-87A8-EE389C9346AF}"/>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91">
              <a:extLst>
                <a:ext uri="{FF2B5EF4-FFF2-40B4-BE49-F238E27FC236}">
                  <a16:creationId xmlns:a16="http://schemas.microsoft.com/office/drawing/2014/main" id="{434E1605-FC1A-45F6-A9B3-8B234DCB5A78}"/>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0">
              <a:extLst>
                <a:ext uri="{FF2B5EF4-FFF2-40B4-BE49-F238E27FC236}">
                  <a16:creationId xmlns:a16="http://schemas.microsoft.com/office/drawing/2014/main" id="{8CC5DB59-0C2F-44B5-9B7F-1F2AD177C773}"/>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任意多边形: 形状 65" hidden="1">
              <a:extLst>
                <a:ext uri="{FF2B5EF4-FFF2-40B4-BE49-F238E27FC236}">
                  <a16:creationId xmlns:a16="http://schemas.microsoft.com/office/drawing/2014/main" id="{CA81584A-65BF-4DB2-BCDC-906ECBF8F7F3}"/>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7" name="任意多边形: 形状 66" hidden="1">
              <a:extLst>
                <a:ext uri="{FF2B5EF4-FFF2-40B4-BE49-F238E27FC236}">
                  <a16:creationId xmlns:a16="http://schemas.microsoft.com/office/drawing/2014/main" id="{79F8DF02-08D3-40AF-8A42-A376AB444B65}"/>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hidden="1">
              <a:extLst>
                <a:ext uri="{FF2B5EF4-FFF2-40B4-BE49-F238E27FC236}">
                  <a16:creationId xmlns:a16="http://schemas.microsoft.com/office/drawing/2014/main" id="{2E910DF9-4B42-45E0-8930-43DB73025112}"/>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hidden="1">
              <a:extLst>
                <a:ext uri="{FF2B5EF4-FFF2-40B4-BE49-F238E27FC236}">
                  <a16:creationId xmlns:a16="http://schemas.microsoft.com/office/drawing/2014/main" id="{5EC3441C-AA60-434F-89C7-FAE737B82B0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hidden="1">
              <a:extLst>
                <a:ext uri="{FF2B5EF4-FFF2-40B4-BE49-F238E27FC236}">
                  <a16:creationId xmlns:a16="http://schemas.microsoft.com/office/drawing/2014/main" id="{E5982589-29D3-4142-AE6E-E82171962760}"/>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hidden="1">
              <a:extLst>
                <a:ext uri="{FF2B5EF4-FFF2-40B4-BE49-F238E27FC236}">
                  <a16:creationId xmlns:a16="http://schemas.microsoft.com/office/drawing/2014/main" id="{06FDC9FE-130B-4BB1-B7E7-2875335138B5}"/>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hidden="1">
              <a:extLst>
                <a:ext uri="{FF2B5EF4-FFF2-40B4-BE49-F238E27FC236}">
                  <a16:creationId xmlns:a16="http://schemas.microsoft.com/office/drawing/2014/main" id="{D0408D99-7102-4AE9-903E-0A3463396D8E}"/>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hidden="1">
              <a:extLst>
                <a:ext uri="{FF2B5EF4-FFF2-40B4-BE49-F238E27FC236}">
                  <a16:creationId xmlns:a16="http://schemas.microsoft.com/office/drawing/2014/main" id="{AEB11552-24CE-450D-BC4B-BD0B224E7CD7}"/>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Freeform 106">
              <a:extLst>
                <a:ext uri="{FF2B5EF4-FFF2-40B4-BE49-F238E27FC236}">
                  <a16:creationId xmlns:a16="http://schemas.microsoft.com/office/drawing/2014/main" id="{802652E2-13D5-4D4D-A1C1-D4A24DA69689}"/>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pPr/>
              <a:t>2026/6/15</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dirty="0"/>
              <a:t>www.islide.cc</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Date Placeholder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pPr/>
              <a:t>2026/6/15</a:t>
            </a:fld>
            <a:endParaRPr lang="zh-CN" altLang="en-US"/>
          </a:p>
        </p:txBody>
      </p:sp>
      <p:sp>
        <p:nvSpPr>
          <p:cNvPr id="4" name="Footer Placeholder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76" name="矩形 75">
            <a:extLst>
              <a:ext uri="{FF2B5EF4-FFF2-40B4-BE49-F238E27FC236}">
                <a16:creationId xmlns:a16="http://schemas.microsoft.com/office/drawing/2014/main" id="{818B7027-5C92-45CB-BBAA-AB7DCDF6E2E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1"/>
          <p:cNvSpPr>
            <a:spLocks noGrp="1"/>
          </p:cNvSpPr>
          <p:nvPr userDrawn="1">
            <p:ph type="ctrTitle" hasCustomPrompt="1"/>
          </p:nvPr>
        </p:nvSpPr>
        <p:spPr>
          <a:xfrm>
            <a:off x="6405683" y="1846467"/>
            <a:ext cx="5079462" cy="1621509"/>
          </a:xfr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405683" y="4152703"/>
            <a:ext cx="5079462" cy="310871"/>
          </a:xfr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6405685" y="3856432"/>
            <a:ext cx="5079462"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grpSp>
        <p:nvGrpSpPr>
          <p:cNvPr id="5" name="组合 4">
            <a:extLst>
              <a:ext uri="{FF2B5EF4-FFF2-40B4-BE49-F238E27FC236}">
                <a16:creationId xmlns:a16="http://schemas.microsoft.com/office/drawing/2014/main" id="{53383A2F-1BBF-442C-B637-EC75AFBB314F}"/>
              </a:ext>
            </a:extLst>
          </p:cNvPr>
          <p:cNvGrpSpPr/>
          <p:nvPr userDrawn="1"/>
        </p:nvGrpSpPr>
        <p:grpSpPr>
          <a:xfrm flipH="1">
            <a:off x="140435" y="835838"/>
            <a:ext cx="9680127" cy="5377577"/>
            <a:chOff x="4656138" y="2437995"/>
            <a:chExt cx="6846887" cy="3803634"/>
          </a:xfrm>
        </p:grpSpPr>
        <p:sp>
          <p:nvSpPr>
            <p:cNvPr id="7" name="椭圆 6">
              <a:extLst>
                <a:ext uri="{FF2B5EF4-FFF2-40B4-BE49-F238E27FC236}">
                  <a16:creationId xmlns:a16="http://schemas.microsoft.com/office/drawing/2014/main" id="{9C554A3D-024E-478A-AA3F-7C9AC070E6DE}"/>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CC78CBC-9FE1-4BEC-900F-4C15400789B4}"/>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2C2BE32-0DCF-4892-BE44-3D28A9D09EA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EE4A866-47D1-4299-A8BC-68ECE5F053D6}"/>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a:extLst>
                <a:ext uri="{FF2B5EF4-FFF2-40B4-BE49-F238E27FC236}">
                  <a16:creationId xmlns:a16="http://schemas.microsoft.com/office/drawing/2014/main" id="{368F80A6-5641-486A-AF6D-506CE3D7ECA5}"/>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EC823025-CC4D-448B-B923-ED6EE7BAFF8B}"/>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7">
              <a:extLst>
                <a:ext uri="{FF2B5EF4-FFF2-40B4-BE49-F238E27FC236}">
                  <a16:creationId xmlns:a16="http://schemas.microsoft.com/office/drawing/2014/main" id="{6DA1449B-9DF5-422D-8D4F-8ECFC57F0FC6}"/>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8">
              <a:extLst>
                <a:ext uri="{FF2B5EF4-FFF2-40B4-BE49-F238E27FC236}">
                  <a16:creationId xmlns:a16="http://schemas.microsoft.com/office/drawing/2014/main" id="{10B2BFE2-CBF3-401C-AE0A-ABD3A26EA64B}"/>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9">
              <a:extLst>
                <a:ext uri="{FF2B5EF4-FFF2-40B4-BE49-F238E27FC236}">
                  <a16:creationId xmlns:a16="http://schemas.microsoft.com/office/drawing/2014/main" id="{27BD26F7-83BE-43A6-ADDF-5050C8D1A582}"/>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55">
              <a:extLst>
                <a:ext uri="{FF2B5EF4-FFF2-40B4-BE49-F238E27FC236}">
                  <a16:creationId xmlns:a16="http://schemas.microsoft.com/office/drawing/2014/main" id="{6E07EA3C-1B70-4FDE-B7A1-5C2C57B1F92E}"/>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6">
              <a:extLst>
                <a:ext uri="{FF2B5EF4-FFF2-40B4-BE49-F238E27FC236}">
                  <a16:creationId xmlns:a16="http://schemas.microsoft.com/office/drawing/2014/main" id="{36A0F9D0-6FD0-4967-B8F9-B088C32BD0B9}"/>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57">
              <a:extLst>
                <a:ext uri="{FF2B5EF4-FFF2-40B4-BE49-F238E27FC236}">
                  <a16:creationId xmlns:a16="http://schemas.microsoft.com/office/drawing/2014/main" id="{9CE429ED-D423-4FF2-8997-F925A4EE3210}"/>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8">
              <a:extLst>
                <a:ext uri="{FF2B5EF4-FFF2-40B4-BE49-F238E27FC236}">
                  <a16:creationId xmlns:a16="http://schemas.microsoft.com/office/drawing/2014/main" id="{3AD1FA30-1A5F-45B7-8F47-0495666ED69B}"/>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9">
              <a:extLst>
                <a:ext uri="{FF2B5EF4-FFF2-40B4-BE49-F238E27FC236}">
                  <a16:creationId xmlns:a16="http://schemas.microsoft.com/office/drawing/2014/main" id="{5AF43635-36A7-45F9-A4B6-9FC4A785017A}"/>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0">
              <a:extLst>
                <a:ext uri="{FF2B5EF4-FFF2-40B4-BE49-F238E27FC236}">
                  <a16:creationId xmlns:a16="http://schemas.microsoft.com/office/drawing/2014/main" id="{2C941137-2484-49B8-AF1F-1BDF79181563}"/>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1">
              <a:extLst>
                <a:ext uri="{FF2B5EF4-FFF2-40B4-BE49-F238E27FC236}">
                  <a16:creationId xmlns:a16="http://schemas.microsoft.com/office/drawing/2014/main" id="{4035D36C-9987-492B-8D32-29DACD2F0BB7}"/>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2">
              <a:extLst>
                <a:ext uri="{FF2B5EF4-FFF2-40B4-BE49-F238E27FC236}">
                  <a16:creationId xmlns:a16="http://schemas.microsoft.com/office/drawing/2014/main" id="{3B4E7CED-FE5C-49BE-9362-C2587E4A946F}"/>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3">
              <a:extLst>
                <a:ext uri="{FF2B5EF4-FFF2-40B4-BE49-F238E27FC236}">
                  <a16:creationId xmlns:a16="http://schemas.microsoft.com/office/drawing/2014/main" id="{531F4641-AD0A-4223-9658-0A902DDBCEDB}"/>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4">
              <a:extLst>
                <a:ext uri="{FF2B5EF4-FFF2-40B4-BE49-F238E27FC236}">
                  <a16:creationId xmlns:a16="http://schemas.microsoft.com/office/drawing/2014/main" id="{05E0E6C8-D006-42F6-8C42-980DEB3AC5A4}"/>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5">
              <a:extLst>
                <a:ext uri="{FF2B5EF4-FFF2-40B4-BE49-F238E27FC236}">
                  <a16:creationId xmlns:a16="http://schemas.microsoft.com/office/drawing/2014/main" id="{E0F525E9-9A56-4973-AFFE-546EA914213A}"/>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6">
              <a:extLst>
                <a:ext uri="{FF2B5EF4-FFF2-40B4-BE49-F238E27FC236}">
                  <a16:creationId xmlns:a16="http://schemas.microsoft.com/office/drawing/2014/main" id="{BEAE6FF4-C501-4C1E-BE5C-FD002C74039B}"/>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7">
              <a:extLst>
                <a:ext uri="{FF2B5EF4-FFF2-40B4-BE49-F238E27FC236}">
                  <a16:creationId xmlns:a16="http://schemas.microsoft.com/office/drawing/2014/main" id="{220CDB65-2265-4F3C-900F-82CA48E66F56}"/>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8">
              <a:extLst>
                <a:ext uri="{FF2B5EF4-FFF2-40B4-BE49-F238E27FC236}">
                  <a16:creationId xmlns:a16="http://schemas.microsoft.com/office/drawing/2014/main" id="{ECAD736F-A86C-4A0E-9501-9B69D6915A4E}"/>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1">
              <a:extLst>
                <a:ext uri="{FF2B5EF4-FFF2-40B4-BE49-F238E27FC236}">
                  <a16:creationId xmlns:a16="http://schemas.microsoft.com/office/drawing/2014/main" id="{98532914-5A4F-4DDE-A3CD-6827FFEBCA26}"/>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2">
              <a:extLst>
                <a:ext uri="{FF2B5EF4-FFF2-40B4-BE49-F238E27FC236}">
                  <a16:creationId xmlns:a16="http://schemas.microsoft.com/office/drawing/2014/main" id="{A7BDCC71-1F86-4B47-B459-2477B26D2633}"/>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3">
              <a:extLst>
                <a:ext uri="{FF2B5EF4-FFF2-40B4-BE49-F238E27FC236}">
                  <a16:creationId xmlns:a16="http://schemas.microsoft.com/office/drawing/2014/main" id="{8EDB264D-3D4F-4F98-A42E-3355C4154F4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4">
              <a:extLst>
                <a:ext uri="{FF2B5EF4-FFF2-40B4-BE49-F238E27FC236}">
                  <a16:creationId xmlns:a16="http://schemas.microsoft.com/office/drawing/2014/main" id="{33638A6C-CE95-4C7E-B7B4-8FC32CD0D2D4}"/>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5">
              <a:extLst>
                <a:ext uri="{FF2B5EF4-FFF2-40B4-BE49-F238E27FC236}">
                  <a16:creationId xmlns:a16="http://schemas.microsoft.com/office/drawing/2014/main" id="{C23CA099-DAC1-432C-8C4E-11E19A22FD68}"/>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7">
              <a:extLst>
                <a:ext uri="{FF2B5EF4-FFF2-40B4-BE49-F238E27FC236}">
                  <a16:creationId xmlns:a16="http://schemas.microsoft.com/office/drawing/2014/main" id="{07FA81A5-EEEB-44AB-9090-766B35EE42EF}"/>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79">
              <a:extLst>
                <a:ext uri="{FF2B5EF4-FFF2-40B4-BE49-F238E27FC236}">
                  <a16:creationId xmlns:a16="http://schemas.microsoft.com/office/drawing/2014/main" id="{40C15D7D-C48E-4DE3-B760-B9144BDAA12E}"/>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0">
              <a:extLst>
                <a:ext uri="{FF2B5EF4-FFF2-40B4-BE49-F238E27FC236}">
                  <a16:creationId xmlns:a16="http://schemas.microsoft.com/office/drawing/2014/main" id="{6779B2B1-D922-4492-BD11-EBA2348D0B3D}"/>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1">
              <a:extLst>
                <a:ext uri="{FF2B5EF4-FFF2-40B4-BE49-F238E27FC236}">
                  <a16:creationId xmlns:a16="http://schemas.microsoft.com/office/drawing/2014/main" id="{8DC4648F-D8C5-4ED1-87D1-6178D01C917F}"/>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2">
              <a:extLst>
                <a:ext uri="{FF2B5EF4-FFF2-40B4-BE49-F238E27FC236}">
                  <a16:creationId xmlns:a16="http://schemas.microsoft.com/office/drawing/2014/main" id="{DAAB9D96-B8A7-4454-9A5F-02E1F41C2629}"/>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3">
              <a:extLst>
                <a:ext uri="{FF2B5EF4-FFF2-40B4-BE49-F238E27FC236}">
                  <a16:creationId xmlns:a16="http://schemas.microsoft.com/office/drawing/2014/main" id="{1B036E91-4C69-4222-A490-26DAD84EB320}"/>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4">
              <a:extLst>
                <a:ext uri="{FF2B5EF4-FFF2-40B4-BE49-F238E27FC236}">
                  <a16:creationId xmlns:a16="http://schemas.microsoft.com/office/drawing/2014/main" id="{B1B66889-09F0-4432-A227-802D35A64305}"/>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5">
              <a:extLst>
                <a:ext uri="{FF2B5EF4-FFF2-40B4-BE49-F238E27FC236}">
                  <a16:creationId xmlns:a16="http://schemas.microsoft.com/office/drawing/2014/main" id="{2F47A813-4EED-4E9B-B0F3-284D629F43D2}"/>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86">
              <a:extLst>
                <a:ext uri="{FF2B5EF4-FFF2-40B4-BE49-F238E27FC236}">
                  <a16:creationId xmlns:a16="http://schemas.microsoft.com/office/drawing/2014/main" id="{C6845FB4-EB66-4A79-B099-375E8788F065}"/>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6" name="直接连接符 45">
              <a:extLst>
                <a:ext uri="{FF2B5EF4-FFF2-40B4-BE49-F238E27FC236}">
                  <a16:creationId xmlns:a16="http://schemas.microsoft.com/office/drawing/2014/main" id="{AF1A2538-5051-469B-8640-A4CD17CE4FE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BC8B80E-FE5E-4E19-85A2-95C8DD2CB0A0}"/>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2B74C08-DAB2-4B60-BE63-31B1EF58C774}"/>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E0CA069-C0B0-4E7A-B11B-4ACD2B3E0552}"/>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535D6E5-49D9-45E0-A8B6-B2D1231A1859}"/>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316616A3-795D-402D-BC50-063C43F04365}"/>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DBFB945A-9C54-49A8-93AD-3E9D6BB6536C}"/>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8FCF84FC-3336-420C-9745-AFFA473676BA}"/>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7993B824-2430-4010-8ADC-F1F4A4D36729}"/>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E2BC9A81-D7DF-4CAF-8B08-A6DE7D5ACCB7}"/>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868605B-D722-4164-B21F-08BFE13E61E2}"/>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CEA79255-9C71-432C-B4D0-195CB612AB02}"/>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130C72F6-B790-4963-829E-CC6199EAA06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3C4643EB-2B36-4F72-BC7D-553950FDE150}"/>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BA2B3455-F5C8-4779-912D-30053B105227}"/>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07D7C74C-5DD7-4AF7-99FD-900C366926D2}"/>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6428A0B-65F9-46F4-9E1C-ABB7B30059FA}"/>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48627E4-D75D-4A0C-88BB-46A1C4837B9C}"/>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4" name="Freeform 90">
              <a:extLst>
                <a:ext uri="{FF2B5EF4-FFF2-40B4-BE49-F238E27FC236}">
                  <a16:creationId xmlns:a16="http://schemas.microsoft.com/office/drawing/2014/main" id="{40F9FBC8-FE03-45D5-BD33-637B1B60C5F8}"/>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1">
              <a:extLst>
                <a:ext uri="{FF2B5EF4-FFF2-40B4-BE49-F238E27FC236}">
                  <a16:creationId xmlns:a16="http://schemas.microsoft.com/office/drawing/2014/main" id="{4AD0337E-0914-4CCE-BFFF-D0311277ACF0}"/>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90">
              <a:extLst>
                <a:ext uri="{FF2B5EF4-FFF2-40B4-BE49-F238E27FC236}">
                  <a16:creationId xmlns:a16="http://schemas.microsoft.com/office/drawing/2014/main" id="{911FC156-5CDB-4E0E-92E9-AD223BC37F9C}"/>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7" name="任意多边形: 形状 66">
              <a:extLst>
                <a:ext uri="{FF2B5EF4-FFF2-40B4-BE49-F238E27FC236}">
                  <a16:creationId xmlns:a16="http://schemas.microsoft.com/office/drawing/2014/main" id="{5CB8E1C3-E366-4D22-9AF9-FBB35170BB67}"/>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a:extLst>
                <a:ext uri="{FF2B5EF4-FFF2-40B4-BE49-F238E27FC236}">
                  <a16:creationId xmlns:a16="http://schemas.microsoft.com/office/drawing/2014/main" id="{20E11BDB-3C31-439E-9DDB-16AA665E410A}"/>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F7AE4EF4-FD61-4FC6-8585-EC7A430BAE2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a:extLst>
                <a:ext uri="{FF2B5EF4-FFF2-40B4-BE49-F238E27FC236}">
                  <a16:creationId xmlns:a16="http://schemas.microsoft.com/office/drawing/2014/main" id="{95F02460-F328-4C7B-811F-E3D7D6C35355}"/>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a:extLst>
                <a:ext uri="{FF2B5EF4-FFF2-40B4-BE49-F238E27FC236}">
                  <a16:creationId xmlns:a16="http://schemas.microsoft.com/office/drawing/2014/main" id="{044DA748-443B-4276-8AB5-330D73460CE3}"/>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a:extLst>
                <a:ext uri="{FF2B5EF4-FFF2-40B4-BE49-F238E27FC236}">
                  <a16:creationId xmlns:a16="http://schemas.microsoft.com/office/drawing/2014/main" id="{8E6C05D2-B2A6-4C87-B0F6-6FB68429918C}"/>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a:extLst>
                <a:ext uri="{FF2B5EF4-FFF2-40B4-BE49-F238E27FC236}">
                  <a16:creationId xmlns:a16="http://schemas.microsoft.com/office/drawing/2014/main" id="{69418B36-BBFD-4077-8C67-A8378FA40868}"/>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任意多边形: 形状 73">
              <a:extLst>
                <a:ext uri="{FF2B5EF4-FFF2-40B4-BE49-F238E27FC236}">
                  <a16:creationId xmlns:a16="http://schemas.microsoft.com/office/drawing/2014/main" id="{EF0C0E3C-2AFE-47E6-B968-7228E9662A2B}"/>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5" name="Freeform 106">
              <a:extLst>
                <a:ext uri="{FF2B5EF4-FFF2-40B4-BE49-F238E27FC236}">
                  <a16:creationId xmlns:a16="http://schemas.microsoft.com/office/drawing/2014/main" id="{CCBE267B-8FF3-4D30-9A4A-1C1BC6BBDFF6}"/>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297" y="362660"/>
            <a:ext cx="6578349" cy="399957"/>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600623"/>
            <a:ext cx="10972800" cy="4570942"/>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ontent Placeholder 2"/>
          <p:cNvSpPr>
            <a:spLocks noGrp="1"/>
          </p:cNvSpPr>
          <p:nvPr>
            <p:ph idx="13" hasCustomPrompt="1"/>
          </p:nvPr>
        </p:nvSpPr>
        <p:spPr>
          <a:xfrm>
            <a:off x="840937" y="983909"/>
            <a:ext cx="10741463" cy="464350"/>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1784381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297" y="352343"/>
            <a:ext cx="5331223" cy="42932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143530"/>
            <a:ext cx="10972800" cy="5028036"/>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656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
        <p:nvSpPr>
          <p:cNvPr id="7" name="Freeform 3"/>
          <p:cNvSpPr/>
          <p:nvPr userDrawn="1"/>
        </p:nvSpPr>
        <p:spPr>
          <a:xfrm>
            <a:off x="-72987" y="0"/>
            <a:ext cx="12264987" cy="68580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TextBox 1"/>
          <p:cNvSpPr txBox="1"/>
          <p:nvPr userDrawn="1"/>
        </p:nvSpPr>
        <p:spPr>
          <a:xfrm>
            <a:off x="2171195" y="711200"/>
            <a:ext cx="1358638" cy="946215"/>
          </a:xfrm>
          <a:prstGeom prst="rect">
            <a:avLst/>
          </a:prstGeom>
          <a:noFill/>
        </p:spPr>
        <p:txBody>
          <a:bodyPr wrap="none" lIns="0" tIns="0" rIns="0" bIns="60949" rtlCol="0">
            <a:spAutoFit/>
          </a:bodyPr>
          <a:lstStyle/>
          <a:p>
            <a:pPr>
              <a:lnSpc>
                <a:spcPts val="6933"/>
              </a:lnSpc>
            </a:pPr>
            <a:r>
              <a:rPr lang="zh-CN" altLang="en-US" sz="5297" dirty="0">
                <a:solidFill>
                  <a:srgbClr val="4197DF"/>
                </a:solidFill>
                <a:latin typeface="Microsoft YaHei UI" pitchFamily="18" charset="0"/>
                <a:cs typeface="Microsoft YaHei UI" pitchFamily="18" charset="0"/>
              </a:rPr>
              <a:t>内容</a:t>
            </a:r>
            <a:endParaRPr lang="en-US" altLang="zh-CN" sz="5297" dirty="0">
              <a:solidFill>
                <a:srgbClr val="4197DF"/>
              </a:solidFill>
              <a:latin typeface="Microsoft YaHei UI" pitchFamily="18" charset="0"/>
              <a:cs typeface="Microsoft YaHei UI" pitchFamily="18" charset="0"/>
            </a:endParaRPr>
          </a:p>
        </p:txBody>
      </p:sp>
      <p:sp>
        <p:nvSpPr>
          <p:cNvPr id="11" name="TextBox 1"/>
          <p:cNvSpPr txBox="1"/>
          <p:nvPr userDrawn="1"/>
        </p:nvSpPr>
        <p:spPr>
          <a:xfrm>
            <a:off x="2232824" y="1642534"/>
            <a:ext cx="1273725" cy="266699"/>
          </a:xfrm>
          <a:prstGeom prst="rect">
            <a:avLst/>
          </a:prstGeom>
          <a:noFill/>
        </p:spPr>
        <p:txBody>
          <a:bodyPr wrap="none" lIns="0" tIns="0" rIns="0" bIns="60949" rtlCol="0">
            <a:spAutoFit/>
          </a:bodyPr>
          <a:lstStyle/>
          <a:p>
            <a:pPr>
              <a:lnSpc>
                <a:spcPts val="1600"/>
              </a:lnSpc>
            </a:pPr>
            <a:r>
              <a:rPr lang="en-US" altLang="zh-CN" sz="1899" dirty="0">
                <a:solidFill>
                  <a:srgbClr val="4197DF"/>
                </a:solidFill>
                <a:latin typeface="Times New Roman" pitchFamily="18" charset="0"/>
                <a:cs typeface="Times New Roman" pitchFamily="18" charset="0"/>
              </a:rPr>
              <a:t>CONTENTS</a:t>
            </a:r>
          </a:p>
        </p:txBody>
      </p:sp>
      <p:sp>
        <p:nvSpPr>
          <p:cNvPr id="12" name="TextBox 1"/>
          <p:cNvSpPr txBox="1"/>
          <p:nvPr userDrawn="1"/>
        </p:nvSpPr>
        <p:spPr>
          <a:xfrm>
            <a:off x="3565934" y="762617"/>
            <a:ext cx="717771" cy="946215"/>
          </a:xfrm>
          <a:prstGeom prst="rect">
            <a:avLst/>
          </a:prstGeom>
          <a:noFill/>
        </p:spPr>
        <p:txBody>
          <a:bodyPr wrap="none" lIns="0" tIns="0" rIns="0" bIns="60949" rtlCol="0">
            <a:spAutoFit/>
          </a:bodyPr>
          <a:lstStyle/>
          <a:p>
            <a:pPr>
              <a:lnSpc>
                <a:spcPts val="6933"/>
              </a:lnSpc>
            </a:pPr>
            <a:r>
              <a:rPr lang="zh-CN" altLang="en-US" sz="2799" dirty="0">
                <a:solidFill>
                  <a:srgbClr val="4197DF"/>
                </a:solidFill>
                <a:latin typeface="Microsoft YaHei UI" pitchFamily="18" charset="0"/>
                <a:cs typeface="Microsoft YaHei UI" pitchFamily="18" charset="0"/>
              </a:rPr>
              <a:t>导航</a:t>
            </a:r>
            <a:endParaRPr lang="en-US" altLang="zh-CN" sz="2799" dirty="0">
              <a:solidFill>
                <a:srgbClr val="4197DF"/>
              </a:solidFill>
              <a:latin typeface="Microsoft YaHei UI" pitchFamily="18" charset="0"/>
              <a:cs typeface="Microsoft YaHei UI" pitchFamily="18" charset="0"/>
            </a:endParaRPr>
          </a:p>
        </p:txBody>
      </p:sp>
      <p:sp>
        <p:nvSpPr>
          <p:cNvPr id="13" name="矩形 12"/>
          <p:cNvSpPr/>
          <p:nvPr userDrawn="1"/>
        </p:nvSpPr>
        <p:spPr>
          <a:xfrm>
            <a:off x="1570807" y="828483"/>
            <a:ext cx="488695" cy="985610"/>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Tree>
    <p:extLst>
      <p:ext uri="{BB962C8B-B14F-4D97-AF65-F5344CB8AC3E}">
        <p14:creationId xmlns:p14="http://schemas.microsoft.com/office/powerpoint/2010/main" val="3674597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mt="31000"/>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2026/6/15</a:t>
            </a:fld>
            <a:endParaRPr lang="zh-CN" altLang="en-US"/>
          </a:p>
        </p:txBody>
      </p:sp>
      <p:sp>
        <p:nvSpPr>
          <p:cNvPr id="9" name="页脚占位符 4">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 id="2147483670" r:id="rId7"/>
    <p:sldLayoutId id="2147483671" r:id="rId8"/>
    <p:sldLayoutId id="2147483672" r:id="rId9"/>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image" Target="../media/image26.png"/><Relationship Id="rId4" Type="http://schemas.openxmlformats.org/officeDocument/2006/relationships/image" Target="../media/image18.png"/><Relationship Id="rId9"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r>
              <a:rPr lang="zh-CN" altLang="en-US" sz="2800" b="1" kern="1800" dirty="0">
                <a:solidFill>
                  <a:schemeClr val="bg1"/>
                </a:solidFill>
                <a:cs typeface="+mn-ea"/>
                <a:sym typeface="+mn-lt"/>
              </a:rPr>
              <a:t>物联网操作系统</a:t>
            </a:r>
            <a:r>
              <a:rPr lang="zh-CN" altLang="zh-CN" sz="4000" b="1" dirty="0">
                <a:ln w="12700">
                  <a:solidFill>
                    <a:schemeClr val="accent5"/>
                  </a:solidFill>
                  <a:prstDash val="solid"/>
                </a:ln>
                <a:pattFill prst="ltDnDiag">
                  <a:fgClr>
                    <a:schemeClr val="accent5">
                      <a:lumMod val="60000"/>
                      <a:lumOff val="40000"/>
                    </a:schemeClr>
                  </a:fgClr>
                  <a:bgClr>
                    <a:schemeClr val="bg1"/>
                  </a:bgClr>
                </a:pattFill>
                <a:cs typeface="+mn-ea"/>
                <a:sym typeface="+mn-lt"/>
              </a:rPr>
              <a:t>——</a:t>
            </a:r>
            <a:endParaRPr lang="zh-CN" altLang="en-US" sz="4000" b="1" dirty="0">
              <a:ln w="12700">
                <a:solidFill>
                  <a:schemeClr val="accent5"/>
                </a:solidFill>
                <a:prstDash val="solid"/>
              </a:ln>
              <a:pattFill prst="ltDnDiag">
                <a:fgClr>
                  <a:schemeClr val="accent5">
                    <a:lumMod val="60000"/>
                    <a:lumOff val="40000"/>
                  </a:schemeClr>
                </a:fgClr>
                <a:bgClr>
                  <a:schemeClr val="bg1"/>
                </a:bgClr>
              </a:pattFill>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r>
              <a:rPr lang="en-US" altLang="zh-CN" sz="2800" b="1" dirty="0" err="1">
                <a:solidFill>
                  <a:srgbClr val="42E6E0"/>
                </a:solidFill>
                <a:cs typeface="+mn-ea"/>
                <a:sym typeface="+mn-lt"/>
              </a:rPr>
              <a:t>LiteOS</a:t>
            </a:r>
            <a:r>
              <a:rPr lang="zh-CN" altLang="en-US" sz="2800" b="1" dirty="0">
                <a:solidFill>
                  <a:srgbClr val="42E6E0"/>
                </a:solidFill>
                <a:cs typeface="+mn-ea"/>
                <a:sym typeface="+mn-lt"/>
              </a:rPr>
              <a:t>简介</a:t>
            </a:r>
            <a:endParaRPr lang="en-US" altLang="zh-CN" sz="2800" b="1" dirty="0">
              <a:solidFill>
                <a:srgbClr val="42E6E0"/>
              </a:solidFill>
              <a:cs typeface="+mn-ea"/>
              <a:sym typeface="+mn-lt"/>
            </a:endParaRPr>
          </a:p>
        </p:txBody>
      </p:sp>
    </p:spTree>
    <p:extLst>
      <p:ext uri="{BB962C8B-B14F-4D97-AF65-F5344CB8AC3E}">
        <p14:creationId xmlns:p14="http://schemas.microsoft.com/office/powerpoint/2010/main" val="201088128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目录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4000" b="1" dirty="0">
                <a:solidFill>
                  <a:srgbClr val="FF0000"/>
                </a:solidFill>
              </a:rPr>
              <a:t>操作系统</a:t>
            </a:r>
            <a:endParaRPr lang="en-US" altLang="zh-CN" sz="4000" b="1" dirty="0">
              <a:solidFill>
                <a:srgbClr val="FF0000"/>
              </a:solidFill>
            </a:endParaRPr>
          </a:p>
          <a:p>
            <a:r>
              <a:rPr lang="zh-CN" altLang="en-US" sz="4000" b="1" dirty="0">
                <a:solidFill>
                  <a:schemeClr val="tx1"/>
                </a:solidFill>
              </a:rPr>
              <a:t>嵌入式操作系统</a:t>
            </a:r>
            <a:endParaRPr lang="en-US" altLang="zh-CN" sz="4000" b="1" dirty="0">
              <a:solidFill>
                <a:schemeClr val="tx1"/>
              </a:solidFill>
            </a:endParaRPr>
          </a:p>
          <a:p>
            <a:r>
              <a:rPr lang="zh-CN" altLang="en-US" sz="4000" b="1" dirty="0">
                <a:solidFill>
                  <a:schemeClr val="tx1"/>
                </a:solidFill>
              </a:rPr>
              <a:t>物联网操作系统</a:t>
            </a:r>
            <a:endParaRPr lang="en-US" altLang="zh-CN" sz="4000" b="1" dirty="0">
              <a:solidFill>
                <a:schemeClr val="tx1"/>
              </a:solidFill>
            </a:endParaRPr>
          </a:p>
          <a:p>
            <a:r>
              <a:rPr lang="en-US" altLang="zh-CN" sz="4000" b="1" dirty="0" err="1">
                <a:solidFill>
                  <a:schemeClr val="tx1"/>
                </a:solidFill>
              </a:rPr>
              <a:t>LiteOS</a:t>
            </a:r>
            <a:r>
              <a:rPr lang="zh-CN" altLang="en-US" sz="4000" b="1" dirty="0">
                <a:solidFill>
                  <a:schemeClr val="tx1"/>
                </a:solidFill>
              </a:rPr>
              <a:t>基础</a:t>
            </a:r>
            <a:endParaRPr lang="en-US" altLang="zh-CN" sz="4000" b="1" dirty="0">
              <a:solidFill>
                <a:schemeClr val="tx1"/>
              </a:solidFill>
            </a:endParaRPr>
          </a:p>
          <a:p>
            <a:pPr lvl="1"/>
            <a:endParaRPr lang="zh-CN" altLang="en-US" sz="3600" dirty="0"/>
          </a:p>
        </p:txBody>
      </p:sp>
    </p:spTree>
    <p:extLst>
      <p:ext uri="{BB962C8B-B14F-4D97-AF65-F5344CB8AC3E}">
        <p14:creationId xmlns:p14="http://schemas.microsoft.com/office/powerpoint/2010/main" val="3404972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a:cs typeface="+mn-ea"/>
                <a:sym typeface="+mn-lt"/>
              </a:rPr>
              <a:t>       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7650" name="Picture 2" descr="https://img-blog.csdnimg.cn/20201119174214258.png?x-oss-process&amp;#61;image/watermark,type_ZmFuZ3poZW5naGVpdGk,shadow_10,text_aHR0cHM6Ly9ibG9nLmNzZG4ubmV0L3FxXzQ1NDk1ODk5,size_16,color_FFFFFF,t_70#pic_ce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738" y="3038926"/>
            <a:ext cx="8577070" cy="3291840"/>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a:extLst>
              <a:ext uri="{FF2B5EF4-FFF2-40B4-BE49-F238E27FC236}">
                <a16:creationId xmlns:a16="http://schemas.microsoft.com/office/drawing/2014/main" id="{2BAFE420-0D15-481E-8D84-5A4BD6DDE1D8}"/>
              </a:ext>
            </a:extLst>
          </p:cNvPr>
          <p:cNvSpPr txBox="1">
            <a:spLocks/>
          </p:cNvSpPr>
          <p:nvPr/>
        </p:nvSpPr>
        <p:spPr>
          <a:xfrm>
            <a:off x="222250" y="873209"/>
            <a:ext cx="6087110" cy="2087061"/>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563" lvl="1" indent="-182563">
              <a:lnSpc>
                <a:spcPct val="125000"/>
              </a:lnSpc>
              <a:spcBef>
                <a:spcPts val="0"/>
              </a:spcBef>
            </a:pPr>
            <a:r>
              <a:rPr lang="zh-CN" altLang="en-US" sz="2200" b="1" dirty="0">
                <a:solidFill>
                  <a:srgbClr val="C00000"/>
                </a:solidFill>
              </a:rPr>
              <a:t>一种专门用于管理硬件的软件</a:t>
            </a:r>
            <a:endParaRPr lang="en-US" altLang="zh-CN" sz="2200" b="1" dirty="0">
              <a:solidFill>
                <a:srgbClr val="C00000"/>
              </a:solidFill>
            </a:endParaRPr>
          </a:p>
          <a:p>
            <a:pPr lvl="1">
              <a:lnSpc>
                <a:spcPct val="125000"/>
              </a:lnSpc>
              <a:spcBef>
                <a:spcPts val="0"/>
              </a:spcBef>
            </a:pPr>
            <a:r>
              <a:rPr lang="zh-CN" altLang="en-US" sz="2200" dirty="0"/>
              <a:t>位于计算机用户与计算机硬件之间</a:t>
            </a:r>
            <a:endParaRPr lang="en-US" altLang="zh-CN" sz="2200" dirty="0"/>
          </a:p>
          <a:p>
            <a:pPr lvl="1">
              <a:lnSpc>
                <a:spcPct val="125000"/>
              </a:lnSpc>
              <a:spcBef>
                <a:spcPts val="0"/>
              </a:spcBef>
            </a:pPr>
            <a:r>
              <a:rPr lang="zh-CN" altLang="en-US" sz="2200" dirty="0"/>
              <a:t>管理计算机硬件资源，提供应用程序接口</a:t>
            </a:r>
            <a:endParaRPr lang="en-US" altLang="zh-CN" sz="2200" dirty="0"/>
          </a:p>
          <a:p>
            <a:pPr lvl="1">
              <a:lnSpc>
                <a:spcPct val="125000"/>
              </a:lnSpc>
              <a:spcBef>
                <a:spcPts val="0"/>
              </a:spcBef>
            </a:pPr>
            <a:r>
              <a:rPr lang="zh-CN" altLang="en-US" sz="2200" dirty="0"/>
              <a:t>提供用户能够便捷而且高效地执行程序的环境</a:t>
            </a:r>
            <a:endParaRPr lang="en-US" altLang="zh-CN" sz="2200" dirty="0"/>
          </a:p>
          <a:p>
            <a:pPr lvl="1">
              <a:lnSpc>
                <a:spcPct val="125000"/>
              </a:lnSpc>
              <a:spcBef>
                <a:spcPts val="0"/>
              </a:spcBef>
            </a:pPr>
            <a:endParaRPr lang="en-US" altLang="zh-CN" sz="2200" dirty="0"/>
          </a:p>
        </p:txBody>
      </p:sp>
      <p:sp>
        <p:nvSpPr>
          <p:cNvPr id="8" name="内容占位符 2">
            <a:extLst>
              <a:ext uri="{FF2B5EF4-FFF2-40B4-BE49-F238E27FC236}">
                <a16:creationId xmlns:a16="http://schemas.microsoft.com/office/drawing/2014/main" id="{2BAFE420-0D15-481E-8D84-5A4BD6DDE1D8}"/>
              </a:ext>
            </a:extLst>
          </p:cNvPr>
          <p:cNvSpPr txBox="1">
            <a:spLocks/>
          </p:cNvSpPr>
          <p:nvPr/>
        </p:nvSpPr>
        <p:spPr>
          <a:xfrm>
            <a:off x="6179877" y="862387"/>
            <a:ext cx="6012123" cy="2087061"/>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solidFill>
                  <a:srgbClr val="C00000"/>
                </a:solidFill>
              </a:rPr>
              <a:t>计算机系统可以划分为</a:t>
            </a:r>
            <a:r>
              <a:rPr lang="en-US" altLang="zh-CN" sz="2800" b="1" dirty="0">
                <a:solidFill>
                  <a:srgbClr val="C00000"/>
                </a:solidFill>
              </a:rPr>
              <a:t>4</a:t>
            </a:r>
            <a:r>
              <a:rPr lang="zh-CN" altLang="en-US" sz="2800" b="1" dirty="0">
                <a:solidFill>
                  <a:srgbClr val="C00000"/>
                </a:solidFill>
              </a:rPr>
              <a:t>个主要组成部分</a:t>
            </a:r>
            <a:endParaRPr lang="en-US" altLang="zh-CN" sz="2800" b="1" dirty="0">
              <a:solidFill>
                <a:srgbClr val="C00000"/>
              </a:solidFill>
            </a:endParaRPr>
          </a:p>
          <a:p>
            <a:pPr marL="457177" lvl="1" indent="0">
              <a:lnSpc>
                <a:spcPct val="125000"/>
              </a:lnSpc>
              <a:spcBef>
                <a:spcPts val="0"/>
              </a:spcBef>
              <a:buNone/>
            </a:pPr>
            <a:r>
              <a:rPr lang="zh-CN" altLang="en-US" sz="2400" dirty="0"/>
              <a:t>硬件</a:t>
            </a:r>
            <a:r>
              <a:rPr lang="en-US" altLang="zh-CN" sz="2400" dirty="0"/>
              <a:t>    </a:t>
            </a:r>
            <a:r>
              <a:rPr lang="zh-CN" altLang="en-US" sz="2400" dirty="0">
                <a:solidFill>
                  <a:srgbClr val="FF0000"/>
                </a:solidFill>
              </a:rPr>
              <a:t>操作系统</a:t>
            </a:r>
            <a:r>
              <a:rPr lang="en-US" altLang="zh-CN" sz="2400" dirty="0">
                <a:solidFill>
                  <a:srgbClr val="FF0000"/>
                </a:solidFill>
              </a:rPr>
              <a:t>     </a:t>
            </a:r>
            <a:r>
              <a:rPr lang="zh-CN" altLang="en-US" sz="2400" dirty="0"/>
              <a:t>应用程序</a:t>
            </a:r>
            <a:r>
              <a:rPr lang="en-US" altLang="zh-CN" sz="2400" dirty="0"/>
              <a:t>     </a:t>
            </a:r>
            <a:r>
              <a:rPr lang="zh-CN" altLang="en-US" sz="2400" dirty="0"/>
              <a:t>用户</a:t>
            </a:r>
          </a:p>
        </p:txBody>
      </p:sp>
    </p:spTree>
    <p:extLst>
      <p:ext uri="{BB962C8B-B14F-4D97-AF65-F5344CB8AC3E}">
        <p14:creationId xmlns:p14="http://schemas.microsoft.com/office/powerpoint/2010/main" val="3279791036"/>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目录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4800" b="1" dirty="0">
                <a:solidFill>
                  <a:schemeClr val="tx1"/>
                </a:solidFill>
              </a:rPr>
              <a:t>操作系统</a:t>
            </a:r>
            <a:endParaRPr lang="en-US" altLang="zh-CN" sz="4800" b="1" dirty="0">
              <a:solidFill>
                <a:schemeClr val="tx1"/>
              </a:solidFill>
            </a:endParaRPr>
          </a:p>
          <a:p>
            <a:r>
              <a:rPr lang="zh-CN" altLang="en-US" sz="4800" b="1" dirty="0">
                <a:solidFill>
                  <a:srgbClr val="FF0000"/>
                </a:solidFill>
              </a:rPr>
              <a:t>嵌入式操作系统</a:t>
            </a:r>
            <a:endParaRPr lang="en-US" altLang="zh-CN" sz="4800" b="1" dirty="0">
              <a:solidFill>
                <a:srgbClr val="FF0000"/>
              </a:solidFill>
            </a:endParaRPr>
          </a:p>
          <a:p>
            <a:r>
              <a:rPr lang="zh-CN" altLang="en-US" sz="4800" b="1" dirty="0">
                <a:solidFill>
                  <a:schemeClr val="tx1"/>
                </a:solidFill>
              </a:rPr>
              <a:t>物联网操作系统</a:t>
            </a:r>
            <a:endParaRPr lang="en-US" altLang="zh-CN" sz="4800" b="1" dirty="0">
              <a:solidFill>
                <a:schemeClr val="tx1"/>
              </a:solidFill>
            </a:endParaRPr>
          </a:p>
          <a:p>
            <a:r>
              <a:rPr lang="en-US" altLang="zh-CN" sz="4800" b="1" dirty="0" err="1">
                <a:solidFill>
                  <a:schemeClr val="tx1"/>
                </a:solidFill>
              </a:rPr>
              <a:t>LiteOS</a:t>
            </a:r>
            <a:r>
              <a:rPr lang="zh-CN" altLang="en-US" sz="4800" b="1" dirty="0">
                <a:solidFill>
                  <a:schemeClr val="tx1"/>
                </a:solidFill>
              </a:rPr>
              <a:t>基础</a:t>
            </a:r>
            <a:endParaRPr lang="en-US" altLang="zh-CN" sz="4800" b="1" dirty="0">
              <a:solidFill>
                <a:schemeClr val="tx1"/>
              </a:solidFill>
            </a:endParaRPr>
          </a:p>
          <a:p>
            <a:pPr lvl="1"/>
            <a:endParaRPr lang="zh-CN" altLang="en-US" sz="4400" dirty="0"/>
          </a:p>
        </p:txBody>
      </p:sp>
    </p:spTree>
    <p:extLst>
      <p:ext uri="{BB962C8B-B14F-4D97-AF65-F5344CB8AC3E}">
        <p14:creationId xmlns:p14="http://schemas.microsoft.com/office/powerpoint/2010/main" val="2467635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嵌入式操作系统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 name="图片 1"/>
          <p:cNvPicPr>
            <a:picLocks noChangeAspect="1"/>
          </p:cNvPicPr>
          <p:nvPr/>
        </p:nvPicPr>
        <p:blipFill>
          <a:blip r:embed="rId2"/>
          <a:stretch>
            <a:fillRect/>
          </a:stretch>
        </p:blipFill>
        <p:spPr>
          <a:xfrm>
            <a:off x="6685280" y="1105467"/>
            <a:ext cx="5326380" cy="3994785"/>
          </a:xfrm>
          <a:prstGeom prst="rect">
            <a:avLst/>
          </a:prstGeom>
        </p:spPr>
      </p:pic>
      <p:sp>
        <p:nvSpPr>
          <p:cNvPr id="7" name="内容占位符 2">
            <a:extLst>
              <a:ext uri="{FF2B5EF4-FFF2-40B4-BE49-F238E27FC236}">
                <a16:creationId xmlns:a16="http://schemas.microsoft.com/office/drawing/2014/main" id="{7DA173C6-5405-4A0E-A4A6-216B5A5F7C74}"/>
              </a:ext>
            </a:extLst>
          </p:cNvPr>
          <p:cNvSpPr txBox="1">
            <a:spLocks/>
          </p:cNvSpPr>
          <p:nvPr/>
        </p:nvSpPr>
        <p:spPr>
          <a:xfrm>
            <a:off x="425450" y="927191"/>
            <a:ext cx="6259830" cy="5575968"/>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563" lvl="1" indent="-182563">
              <a:lnSpc>
                <a:spcPct val="125000"/>
              </a:lnSpc>
            </a:pPr>
            <a:r>
              <a:rPr lang="zh-CN" altLang="en-US" sz="3200" b="1" dirty="0">
                <a:solidFill>
                  <a:srgbClr val="C00000"/>
                </a:solidFill>
              </a:rPr>
              <a:t>用于嵌入式系统的操作系统</a:t>
            </a:r>
            <a:endParaRPr lang="en-US" altLang="zh-CN" sz="3200" b="1" dirty="0">
              <a:solidFill>
                <a:srgbClr val="C00000"/>
              </a:solidFill>
            </a:endParaRPr>
          </a:p>
          <a:p>
            <a:pPr lvl="1">
              <a:lnSpc>
                <a:spcPct val="125000"/>
              </a:lnSpc>
            </a:pPr>
            <a:r>
              <a:rPr lang="zh-CN" altLang="en-US" sz="2800" dirty="0"/>
              <a:t>针对预先定义的任务裁剪</a:t>
            </a:r>
            <a:endParaRPr lang="en-US" altLang="zh-CN" sz="2800" dirty="0"/>
          </a:p>
          <a:p>
            <a:pPr lvl="1">
              <a:lnSpc>
                <a:spcPct val="125000"/>
              </a:lnSpc>
            </a:pPr>
            <a:r>
              <a:rPr lang="zh-CN" altLang="en-US" sz="2800" dirty="0"/>
              <a:t>可以进行优化，减小尺寸并降低成本</a:t>
            </a:r>
            <a:endParaRPr lang="en-US" altLang="zh-CN" sz="2800" dirty="0"/>
          </a:p>
          <a:p>
            <a:pPr lvl="1">
              <a:lnSpc>
                <a:spcPct val="125000"/>
              </a:lnSpc>
            </a:pPr>
            <a:r>
              <a:rPr lang="zh-CN" altLang="en-US" sz="2800" dirty="0"/>
              <a:t>依然是完整功能的操作系统</a:t>
            </a:r>
            <a:endParaRPr lang="en-US" altLang="zh-CN" sz="2800" dirty="0"/>
          </a:p>
          <a:p>
            <a:pPr lvl="1">
              <a:lnSpc>
                <a:spcPct val="125000"/>
              </a:lnSpc>
            </a:pPr>
            <a:endParaRPr lang="en-US" altLang="zh-CN" sz="2000" dirty="0"/>
          </a:p>
          <a:p>
            <a:pPr>
              <a:lnSpc>
                <a:spcPct val="125000"/>
              </a:lnSpc>
            </a:pPr>
            <a:r>
              <a:rPr lang="zh-CN" altLang="en-US" sz="3200" b="1" dirty="0">
                <a:solidFill>
                  <a:srgbClr val="C00000"/>
                </a:solidFill>
              </a:rPr>
              <a:t>物联网操作系统属于嵌入式操作系统的范畴</a:t>
            </a:r>
            <a:endParaRPr lang="en-US" altLang="zh-CN" sz="3200" b="1" dirty="0">
              <a:solidFill>
                <a:srgbClr val="C00000"/>
              </a:solidFill>
            </a:endParaRPr>
          </a:p>
          <a:p>
            <a:pPr lvl="1">
              <a:lnSpc>
                <a:spcPct val="125000"/>
              </a:lnSpc>
            </a:pPr>
            <a:r>
              <a:rPr lang="zh-CN" altLang="en-US" sz="2800" dirty="0"/>
              <a:t>物联网终端设备通常是嵌入式设备</a:t>
            </a:r>
          </a:p>
        </p:txBody>
      </p:sp>
    </p:spTree>
    <p:extLst>
      <p:ext uri="{BB962C8B-B14F-4D97-AF65-F5344CB8AC3E}">
        <p14:creationId xmlns:p14="http://schemas.microsoft.com/office/powerpoint/2010/main" val="440473263"/>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嵌入式操作系统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 name="图片 1"/>
          <p:cNvPicPr>
            <a:picLocks noChangeAspect="1"/>
          </p:cNvPicPr>
          <p:nvPr/>
        </p:nvPicPr>
        <p:blipFill>
          <a:blip r:embed="rId2"/>
          <a:stretch>
            <a:fillRect/>
          </a:stretch>
        </p:blipFill>
        <p:spPr>
          <a:xfrm>
            <a:off x="6604000" y="1105468"/>
            <a:ext cx="5326380" cy="3994785"/>
          </a:xfrm>
          <a:prstGeom prst="rect">
            <a:avLst/>
          </a:prstGeom>
        </p:spPr>
      </p:pic>
      <p:sp>
        <p:nvSpPr>
          <p:cNvPr id="6" name="内容占位符 2">
            <a:extLst>
              <a:ext uri="{FF2B5EF4-FFF2-40B4-BE49-F238E27FC236}">
                <a16:creationId xmlns:a16="http://schemas.microsoft.com/office/drawing/2014/main" id="{9236703E-BADB-40DD-BDC1-F5A8AD79AAD3}"/>
              </a:ext>
            </a:extLst>
          </p:cNvPr>
          <p:cNvSpPr txBox="1">
            <a:spLocks/>
          </p:cNvSpPr>
          <p:nvPr/>
        </p:nvSpPr>
        <p:spPr>
          <a:xfrm>
            <a:off x="313898" y="927190"/>
            <a:ext cx="6290102" cy="5322261"/>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嵌入式操作系统的特点</a:t>
            </a:r>
            <a:endParaRPr lang="en-US" altLang="zh-CN" sz="2800" b="1" dirty="0"/>
          </a:p>
          <a:p>
            <a:pPr lvl="1">
              <a:lnSpc>
                <a:spcPct val="125000"/>
              </a:lnSpc>
            </a:pPr>
            <a:r>
              <a:rPr lang="zh-CN" altLang="en-US" sz="2400" b="1" dirty="0">
                <a:solidFill>
                  <a:srgbClr val="C00000"/>
                </a:solidFill>
              </a:rPr>
              <a:t>系统内核小</a:t>
            </a:r>
            <a:endParaRPr lang="en-US" altLang="zh-CN" sz="2400" b="1" dirty="0">
              <a:solidFill>
                <a:srgbClr val="C00000"/>
              </a:solidFill>
            </a:endParaRPr>
          </a:p>
          <a:p>
            <a:pPr lvl="2">
              <a:lnSpc>
                <a:spcPct val="125000"/>
              </a:lnSpc>
            </a:pPr>
            <a:r>
              <a:rPr lang="zh-CN" altLang="en-US" sz="2000" dirty="0"/>
              <a:t>嵌入式系统一般是应用于小型电子装置，资源有限</a:t>
            </a:r>
            <a:endParaRPr lang="en-US" altLang="zh-CN" sz="2000" dirty="0"/>
          </a:p>
          <a:p>
            <a:pPr lvl="1">
              <a:lnSpc>
                <a:spcPct val="125000"/>
              </a:lnSpc>
            </a:pPr>
            <a:r>
              <a:rPr lang="zh-CN" altLang="en-US" sz="2400" b="1" dirty="0">
                <a:solidFill>
                  <a:srgbClr val="C00000"/>
                </a:solidFill>
              </a:rPr>
              <a:t>专用性强</a:t>
            </a:r>
            <a:endParaRPr lang="en-US" altLang="zh-CN" sz="2400" b="1" dirty="0">
              <a:solidFill>
                <a:srgbClr val="C00000"/>
              </a:solidFill>
            </a:endParaRPr>
          </a:p>
          <a:p>
            <a:pPr lvl="2">
              <a:lnSpc>
                <a:spcPct val="125000"/>
              </a:lnSpc>
            </a:pPr>
            <a:r>
              <a:rPr lang="zh-CN" altLang="en-US" sz="2000" dirty="0"/>
              <a:t>嵌入式系统的个性化很强</a:t>
            </a:r>
            <a:endParaRPr lang="en-US" altLang="zh-CN" sz="2000" dirty="0"/>
          </a:p>
          <a:p>
            <a:pPr lvl="2">
              <a:lnSpc>
                <a:spcPct val="125000"/>
              </a:lnSpc>
            </a:pPr>
            <a:r>
              <a:rPr lang="zh-CN" altLang="en-US" sz="2000" dirty="0"/>
              <a:t>软件系统和硬件的结合非常紧密</a:t>
            </a:r>
            <a:endParaRPr lang="en-US" altLang="zh-CN" sz="2000" dirty="0"/>
          </a:p>
          <a:p>
            <a:pPr lvl="2">
              <a:lnSpc>
                <a:spcPct val="125000"/>
              </a:lnSpc>
            </a:pPr>
            <a:r>
              <a:rPr lang="zh-CN" altLang="en-US" sz="2000" dirty="0"/>
              <a:t>程序的编译下载要和系统相结合</a:t>
            </a:r>
            <a:endParaRPr lang="en-US" altLang="zh-CN" sz="2000" dirty="0"/>
          </a:p>
          <a:p>
            <a:pPr lvl="1">
              <a:lnSpc>
                <a:spcPct val="125000"/>
              </a:lnSpc>
            </a:pPr>
            <a:r>
              <a:rPr lang="zh-CN" altLang="en-US" sz="2400" b="1" dirty="0">
                <a:solidFill>
                  <a:srgbClr val="C00000"/>
                </a:solidFill>
              </a:rPr>
              <a:t>系统精简</a:t>
            </a:r>
            <a:endParaRPr lang="en-US" altLang="zh-CN" sz="2400" b="1" dirty="0">
              <a:solidFill>
                <a:srgbClr val="C00000"/>
              </a:solidFill>
            </a:endParaRPr>
          </a:p>
          <a:p>
            <a:pPr lvl="2">
              <a:lnSpc>
                <a:spcPct val="125000"/>
              </a:lnSpc>
            </a:pPr>
            <a:r>
              <a:rPr lang="zh-CN" altLang="en-US" sz="2000" dirty="0"/>
              <a:t>没有系统软件和应用软件的明显区分</a:t>
            </a:r>
            <a:endParaRPr lang="en-US" altLang="zh-CN" sz="2000" dirty="0"/>
          </a:p>
          <a:p>
            <a:pPr lvl="2">
              <a:lnSpc>
                <a:spcPct val="125000"/>
              </a:lnSpc>
            </a:pPr>
            <a:r>
              <a:rPr lang="zh-CN" altLang="en-US" sz="2000" dirty="0"/>
              <a:t>既利于控制系统成本，又利于实现系统安全</a:t>
            </a:r>
            <a:endParaRPr lang="en-US" altLang="zh-CN" sz="2000" dirty="0"/>
          </a:p>
        </p:txBody>
      </p:sp>
    </p:spTree>
    <p:extLst>
      <p:ext uri="{BB962C8B-B14F-4D97-AF65-F5344CB8AC3E}">
        <p14:creationId xmlns:p14="http://schemas.microsoft.com/office/powerpoint/2010/main" val="179242858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嵌入式操作系统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 name="图片 1"/>
          <p:cNvPicPr>
            <a:picLocks noChangeAspect="1"/>
          </p:cNvPicPr>
          <p:nvPr/>
        </p:nvPicPr>
        <p:blipFill>
          <a:blip r:embed="rId2"/>
          <a:stretch>
            <a:fillRect/>
          </a:stretch>
        </p:blipFill>
        <p:spPr>
          <a:xfrm>
            <a:off x="6695440" y="1105468"/>
            <a:ext cx="5326380" cy="3994785"/>
          </a:xfrm>
          <a:prstGeom prst="rect">
            <a:avLst/>
          </a:prstGeom>
        </p:spPr>
      </p:pic>
      <p:sp>
        <p:nvSpPr>
          <p:cNvPr id="6" name="内容占位符 2">
            <a:extLst>
              <a:ext uri="{FF2B5EF4-FFF2-40B4-BE49-F238E27FC236}">
                <a16:creationId xmlns:a16="http://schemas.microsoft.com/office/drawing/2014/main" id="{9236703E-BADB-40DD-BDC1-F5A8AD79AAD3}"/>
              </a:ext>
            </a:extLst>
          </p:cNvPr>
          <p:cNvSpPr txBox="1">
            <a:spLocks/>
          </p:cNvSpPr>
          <p:nvPr/>
        </p:nvSpPr>
        <p:spPr>
          <a:xfrm>
            <a:off x="59898" y="927191"/>
            <a:ext cx="6838742" cy="5660422"/>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嵌入式操作系统的特点</a:t>
            </a:r>
            <a:endParaRPr lang="en-US" altLang="zh-CN" sz="2800" b="1" dirty="0"/>
          </a:p>
          <a:p>
            <a:pPr lvl="1">
              <a:lnSpc>
                <a:spcPct val="125000"/>
              </a:lnSpc>
            </a:pPr>
            <a:r>
              <a:rPr lang="zh-CN" altLang="en-US" sz="2400" b="1" dirty="0">
                <a:solidFill>
                  <a:srgbClr val="C00000"/>
                </a:solidFill>
              </a:rPr>
              <a:t>高实时性</a:t>
            </a:r>
            <a:endParaRPr lang="en-US" altLang="zh-CN" sz="2400" b="1" dirty="0">
              <a:solidFill>
                <a:srgbClr val="C00000"/>
              </a:solidFill>
            </a:endParaRPr>
          </a:p>
          <a:p>
            <a:pPr lvl="2">
              <a:lnSpc>
                <a:spcPct val="125000"/>
              </a:lnSpc>
            </a:pPr>
            <a:r>
              <a:rPr lang="zh-CN" altLang="en-US" sz="2000" dirty="0"/>
              <a:t>高实时性的系统软件是嵌入式软件的基本要求</a:t>
            </a:r>
            <a:endParaRPr lang="en-US" altLang="zh-CN" sz="2000" dirty="0"/>
          </a:p>
          <a:p>
            <a:pPr lvl="2">
              <a:lnSpc>
                <a:spcPct val="125000"/>
              </a:lnSpc>
            </a:pPr>
            <a:r>
              <a:rPr lang="zh-CN" altLang="en-US" sz="2000" dirty="0"/>
              <a:t>软件代码要求具有</a:t>
            </a:r>
            <a:r>
              <a:rPr lang="zh-CN" altLang="en-US" sz="2000" dirty="0">
                <a:solidFill>
                  <a:srgbClr val="FF0000"/>
                </a:solidFill>
              </a:rPr>
              <a:t>质量高</a:t>
            </a:r>
            <a:r>
              <a:rPr lang="zh-CN" altLang="en-US" sz="2000" dirty="0"/>
              <a:t>和</a:t>
            </a:r>
            <a:r>
              <a:rPr lang="zh-CN" altLang="en-US" sz="2000" dirty="0">
                <a:solidFill>
                  <a:srgbClr val="FF0000"/>
                </a:solidFill>
              </a:rPr>
              <a:t>可靠性高</a:t>
            </a:r>
            <a:r>
              <a:rPr lang="zh-CN" altLang="en-US" sz="2000" dirty="0"/>
              <a:t>的特点</a:t>
            </a:r>
            <a:endParaRPr lang="en-US" altLang="zh-CN" sz="2000" dirty="0"/>
          </a:p>
          <a:p>
            <a:pPr lvl="1">
              <a:lnSpc>
                <a:spcPct val="125000"/>
              </a:lnSpc>
            </a:pPr>
            <a:r>
              <a:rPr lang="zh-CN" altLang="en-US" sz="2400" b="1" dirty="0">
                <a:solidFill>
                  <a:srgbClr val="C00000"/>
                </a:solidFill>
              </a:rPr>
              <a:t>多任务的操作系统</a:t>
            </a:r>
            <a:endParaRPr lang="en-US" altLang="zh-CN" sz="2400" b="1" dirty="0">
              <a:solidFill>
                <a:srgbClr val="C00000"/>
              </a:solidFill>
            </a:endParaRPr>
          </a:p>
          <a:p>
            <a:pPr lvl="2">
              <a:lnSpc>
                <a:spcPct val="125000"/>
              </a:lnSpc>
            </a:pPr>
            <a:r>
              <a:rPr lang="zh-CN" altLang="en-US" sz="2000" dirty="0"/>
              <a:t>保证程序执行的实时性、可靠性</a:t>
            </a:r>
            <a:endParaRPr lang="en-US" altLang="zh-CN" sz="2000" dirty="0"/>
          </a:p>
          <a:p>
            <a:pPr lvl="2">
              <a:lnSpc>
                <a:spcPct val="125000"/>
              </a:lnSpc>
            </a:pPr>
            <a:r>
              <a:rPr lang="zh-CN" altLang="en-US" sz="2000" dirty="0"/>
              <a:t>减少开发时间，保障软件质量</a:t>
            </a:r>
            <a:endParaRPr lang="en-US" altLang="zh-CN" sz="2000" dirty="0"/>
          </a:p>
          <a:p>
            <a:pPr lvl="1">
              <a:lnSpc>
                <a:spcPct val="125000"/>
              </a:lnSpc>
            </a:pPr>
            <a:r>
              <a:rPr lang="zh-CN" altLang="en-US" sz="2400" b="1" dirty="0">
                <a:solidFill>
                  <a:srgbClr val="C00000"/>
                </a:solidFill>
              </a:rPr>
              <a:t>需要额外开发工具和系统</a:t>
            </a:r>
            <a:endParaRPr lang="en-US" altLang="zh-CN" sz="2400" b="1" dirty="0">
              <a:solidFill>
                <a:srgbClr val="C00000"/>
              </a:solidFill>
            </a:endParaRPr>
          </a:p>
          <a:p>
            <a:pPr lvl="2">
              <a:lnSpc>
                <a:spcPct val="125000"/>
              </a:lnSpc>
            </a:pPr>
            <a:r>
              <a:rPr lang="zh-CN" altLang="en-US" sz="2000" dirty="0"/>
              <a:t>本身不具备自主开发能力，不能对程序进行修改</a:t>
            </a:r>
            <a:endParaRPr lang="en-US" altLang="zh-CN" sz="2000" dirty="0"/>
          </a:p>
          <a:p>
            <a:pPr lvl="2">
              <a:lnSpc>
                <a:spcPct val="125000"/>
              </a:lnSpc>
            </a:pPr>
            <a:r>
              <a:rPr lang="zh-CN" altLang="en-US" sz="2000" dirty="0"/>
              <a:t>开发时往往有</a:t>
            </a:r>
            <a:r>
              <a:rPr lang="zh-CN" altLang="en-US" sz="2000" dirty="0">
                <a:solidFill>
                  <a:srgbClr val="FF0000"/>
                </a:solidFill>
              </a:rPr>
              <a:t>主机</a:t>
            </a:r>
            <a:r>
              <a:rPr lang="zh-CN" altLang="en-US" sz="2000" dirty="0"/>
              <a:t>和</a:t>
            </a:r>
            <a:r>
              <a:rPr lang="zh-CN" altLang="en-US" sz="2000" dirty="0">
                <a:solidFill>
                  <a:srgbClr val="FF0000"/>
                </a:solidFill>
              </a:rPr>
              <a:t>目标机</a:t>
            </a:r>
            <a:r>
              <a:rPr lang="zh-CN" altLang="en-US" sz="2000" dirty="0"/>
              <a:t>的概念</a:t>
            </a:r>
            <a:endParaRPr lang="en-US" altLang="zh-CN" sz="2000" dirty="0"/>
          </a:p>
          <a:p>
            <a:pPr lvl="3">
              <a:lnSpc>
                <a:spcPct val="125000"/>
              </a:lnSpc>
            </a:pPr>
            <a:r>
              <a:rPr lang="zh-CN" altLang="en-US" sz="1800" dirty="0"/>
              <a:t>主机用于程序的开发</a:t>
            </a:r>
            <a:endParaRPr lang="en-US" altLang="zh-CN" sz="1800" dirty="0"/>
          </a:p>
          <a:p>
            <a:pPr lvl="3">
              <a:lnSpc>
                <a:spcPct val="125000"/>
              </a:lnSpc>
            </a:pPr>
            <a:r>
              <a:rPr lang="zh-CN" altLang="en-US" sz="1800" dirty="0"/>
              <a:t>目标机作为最后的执行机</a:t>
            </a:r>
            <a:endParaRPr lang="en-US" altLang="zh-CN" sz="1800" dirty="0"/>
          </a:p>
        </p:txBody>
      </p:sp>
    </p:spTree>
    <p:extLst>
      <p:ext uri="{BB962C8B-B14F-4D97-AF65-F5344CB8AC3E}">
        <p14:creationId xmlns:p14="http://schemas.microsoft.com/office/powerpoint/2010/main" val="31838289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目录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lnSpcReduction="10000"/>
          </a:bodyPr>
          <a:lstStyle/>
          <a:p>
            <a:r>
              <a:rPr lang="zh-CN" altLang="en-US" sz="5400" b="1" dirty="0">
                <a:solidFill>
                  <a:schemeClr val="tx1"/>
                </a:solidFill>
              </a:rPr>
              <a:t>操作系统</a:t>
            </a:r>
            <a:endParaRPr lang="en-US" altLang="zh-CN" sz="5400" b="1" dirty="0">
              <a:solidFill>
                <a:schemeClr val="tx1"/>
              </a:solidFill>
            </a:endParaRPr>
          </a:p>
          <a:p>
            <a:r>
              <a:rPr lang="zh-CN" altLang="en-US" sz="5400" b="1" dirty="0">
                <a:solidFill>
                  <a:schemeClr val="tx1"/>
                </a:solidFill>
              </a:rPr>
              <a:t>嵌入式操作系统</a:t>
            </a:r>
            <a:endParaRPr lang="en-US" altLang="zh-CN" sz="5400" b="1" dirty="0">
              <a:solidFill>
                <a:schemeClr val="tx1"/>
              </a:solidFill>
            </a:endParaRPr>
          </a:p>
          <a:p>
            <a:r>
              <a:rPr lang="zh-CN" altLang="en-US" sz="5400" b="1" dirty="0">
                <a:solidFill>
                  <a:srgbClr val="FF0000"/>
                </a:solidFill>
              </a:rPr>
              <a:t>物联网操作系统</a:t>
            </a:r>
            <a:endParaRPr lang="en-US" altLang="zh-CN" sz="5400" b="1" dirty="0">
              <a:solidFill>
                <a:srgbClr val="FF0000"/>
              </a:solidFill>
            </a:endParaRPr>
          </a:p>
          <a:p>
            <a:r>
              <a:rPr lang="en-US" altLang="zh-CN" sz="5400" b="1" dirty="0" err="1">
                <a:solidFill>
                  <a:schemeClr val="tx1"/>
                </a:solidFill>
              </a:rPr>
              <a:t>LiteOS</a:t>
            </a:r>
            <a:r>
              <a:rPr lang="zh-CN" altLang="en-US" sz="5400" b="1" dirty="0">
                <a:solidFill>
                  <a:schemeClr val="tx1"/>
                </a:solidFill>
              </a:rPr>
              <a:t>基础</a:t>
            </a:r>
            <a:endParaRPr lang="en-US" altLang="zh-CN" sz="5400" b="1" dirty="0">
              <a:solidFill>
                <a:schemeClr val="tx1"/>
              </a:solidFill>
            </a:endParaRPr>
          </a:p>
          <a:p>
            <a:pPr lvl="1"/>
            <a:endParaRPr lang="zh-CN" altLang="en-US" sz="4800" dirty="0"/>
          </a:p>
        </p:txBody>
      </p:sp>
    </p:spTree>
    <p:extLst>
      <p:ext uri="{BB962C8B-B14F-4D97-AF65-F5344CB8AC3E}">
        <p14:creationId xmlns:p14="http://schemas.microsoft.com/office/powerpoint/2010/main" val="3125068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内容占位符 2">
            <a:extLst>
              <a:ext uri="{FF2B5EF4-FFF2-40B4-BE49-F238E27FC236}">
                <a16:creationId xmlns:a16="http://schemas.microsoft.com/office/drawing/2014/main" id="{3A0445EA-E2FE-4790-8CCA-643985F18B9A}"/>
              </a:ext>
            </a:extLst>
          </p:cNvPr>
          <p:cNvSpPr txBox="1">
            <a:spLocks/>
          </p:cNvSpPr>
          <p:nvPr/>
        </p:nvSpPr>
        <p:spPr>
          <a:xfrm>
            <a:off x="313898" y="927190"/>
            <a:ext cx="7430124" cy="5930809"/>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563" lvl="1" indent="-182563">
              <a:lnSpc>
                <a:spcPct val="125000"/>
              </a:lnSpc>
              <a:spcBef>
                <a:spcPts val="0"/>
              </a:spcBef>
            </a:pPr>
            <a:r>
              <a:rPr lang="zh-CN" altLang="en-US" sz="3200" b="1" dirty="0">
                <a:solidFill>
                  <a:srgbClr val="C00000"/>
                </a:solidFill>
              </a:rPr>
              <a:t>物联网主要包含</a:t>
            </a:r>
            <a:r>
              <a:rPr lang="en-US" altLang="zh-CN" sz="3200" b="1" dirty="0">
                <a:solidFill>
                  <a:srgbClr val="C00000"/>
                </a:solidFill>
              </a:rPr>
              <a:t>4</a:t>
            </a:r>
            <a:r>
              <a:rPr lang="zh-CN" altLang="en-US" sz="3200" b="1" dirty="0">
                <a:solidFill>
                  <a:srgbClr val="C00000"/>
                </a:solidFill>
              </a:rPr>
              <a:t>个层次</a:t>
            </a:r>
            <a:endParaRPr lang="en-US" altLang="zh-CN" sz="3200" b="1" dirty="0">
              <a:solidFill>
                <a:srgbClr val="C00000"/>
              </a:solidFill>
            </a:endParaRPr>
          </a:p>
          <a:p>
            <a:pPr lvl="1">
              <a:lnSpc>
                <a:spcPct val="125000"/>
              </a:lnSpc>
              <a:spcBef>
                <a:spcPts val="0"/>
              </a:spcBef>
            </a:pPr>
            <a:r>
              <a:rPr lang="zh-CN" altLang="en-US" sz="2800" dirty="0"/>
              <a:t>感知层</a:t>
            </a:r>
            <a:endParaRPr lang="en-US" altLang="zh-CN" sz="2800" dirty="0"/>
          </a:p>
          <a:p>
            <a:pPr lvl="1">
              <a:lnSpc>
                <a:spcPct val="125000"/>
              </a:lnSpc>
              <a:spcBef>
                <a:spcPts val="0"/>
              </a:spcBef>
            </a:pPr>
            <a:r>
              <a:rPr lang="zh-CN" altLang="en-US" sz="2800" dirty="0"/>
              <a:t>网络层</a:t>
            </a:r>
            <a:endParaRPr lang="en-US" altLang="zh-CN" sz="2800" dirty="0"/>
          </a:p>
          <a:p>
            <a:pPr lvl="1">
              <a:lnSpc>
                <a:spcPct val="125000"/>
              </a:lnSpc>
              <a:spcBef>
                <a:spcPts val="0"/>
              </a:spcBef>
            </a:pPr>
            <a:r>
              <a:rPr lang="zh-CN" altLang="en-US" sz="2800" dirty="0"/>
              <a:t>平台层</a:t>
            </a:r>
            <a:endParaRPr lang="en-US" altLang="zh-CN" sz="2800" dirty="0"/>
          </a:p>
          <a:p>
            <a:pPr lvl="1">
              <a:lnSpc>
                <a:spcPct val="125000"/>
              </a:lnSpc>
              <a:spcBef>
                <a:spcPts val="0"/>
              </a:spcBef>
            </a:pPr>
            <a:r>
              <a:rPr lang="zh-CN" altLang="en-US" sz="2800" dirty="0"/>
              <a:t>应用层</a:t>
            </a:r>
            <a:endParaRPr lang="en-US" altLang="zh-CN" sz="2800" dirty="0"/>
          </a:p>
          <a:p>
            <a:pPr lvl="1">
              <a:lnSpc>
                <a:spcPct val="125000"/>
              </a:lnSpc>
              <a:spcBef>
                <a:spcPts val="0"/>
              </a:spcBef>
            </a:pPr>
            <a:endParaRPr lang="en-US" altLang="zh-CN" sz="2000" dirty="0"/>
          </a:p>
          <a:p>
            <a:pPr marL="457177" lvl="1" indent="0">
              <a:lnSpc>
                <a:spcPct val="125000"/>
              </a:lnSpc>
              <a:spcBef>
                <a:spcPts val="0"/>
              </a:spcBef>
              <a:buNone/>
            </a:pPr>
            <a:endParaRPr lang="en-US" altLang="zh-CN" sz="2000" dirty="0"/>
          </a:p>
          <a:p>
            <a:pPr marL="457177" lvl="1" indent="0">
              <a:lnSpc>
                <a:spcPct val="125000"/>
              </a:lnSpc>
              <a:spcBef>
                <a:spcPts val="0"/>
              </a:spcBef>
              <a:buNone/>
            </a:pPr>
            <a:endParaRPr lang="en-US" altLang="zh-CN" sz="2000" dirty="0"/>
          </a:p>
          <a:p>
            <a:pPr marL="182563" lvl="1" indent="-182563">
              <a:lnSpc>
                <a:spcPct val="125000"/>
              </a:lnSpc>
              <a:spcBef>
                <a:spcPts val="0"/>
              </a:spcBef>
            </a:pPr>
            <a:r>
              <a:rPr lang="zh-CN" altLang="en-US" sz="3200" b="1" dirty="0">
                <a:solidFill>
                  <a:srgbClr val="C00000"/>
                </a:solidFill>
              </a:rPr>
              <a:t>物联网操作系统运行在物联网终端上</a:t>
            </a:r>
            <a:endParaRPr lang="en-US" altLang="zh-CN" sz="3200" b="1" dirty="0">
              <a:solidFill>
                <a:srgbClr val="C00000"/>
              </a:solidFill>
            </a:endParaRPr>
          </a:p>
          <a:p>
            <a:pPr lvl="1">
              <a:lnSpc>
                <a:spcPct val="125000"/>
              </a:lnSpc>
              <a:spcBef>
                <a:spcPts val="0"/>
              </a:spcBef>
            </a:pPr>
            <a:r>
              <a:rPr lang="zh-CN" altLang="en-US" sz="2800" dirty="0"/>
              <a:t>对终端进行控制和管理</a:t>
            </a:r>
            <a:endParaRPr lang="en-US" altLang="zh-CN" sz="2800" dirty="0"/>
          </a:p>
          <a:p>
            <a:pPr lvl="1">
              <a:lnSpc>
                <a:spcPct val="125000"/>
              </a:lnSpc>
              <a:spcBef>
                <a:spcPts val="0"/>
              </a:spcBef>
            </a:pPr>
            <a:r>
              <a:rPr lang="zh-CN" altLang="en-US" sz="2800" dirty="0"/>
              <a:t>支持终端的感、存、算、通功能</a:t>
            </a:r>
            <a:endParaRPr lang="en-US" altLang="zh-CN" sz="2800" dirty="0"/>
          </a:p>
          <a:p>
            <a:pPr>
              <a:lnSpc>
                <a:spcPct val="125000"/>
              </a:lnSpc>
              <a:spcBef>
                <a:spcPts val="0"/>
              </a:spcBef>
            </a:pPr>
            <a:endParaRPr lang="zh-CN" altLang="en-US" sz="2400" dirty="0"/>
          </a:p>
        </p:txBody>
      </p:sp>
      <p:pic>
        <p:nvPicPr>
          <p:cNvPr id="5" name="图片 4"/>
          <p:cNvPicPr>
            <a:picLocks noChangeAspect="1"/>
          </p:cNvPicPr>
          <p:nvPr/>
        </p:nvPicPr>
        <p:blipFill>
          <a:blip r:embed="rId2"/>
          <a:stretch>
            <a:fillRect/>
          </a:stretch>
        </p:blipFill>
        <p:spPr>
          <a:xfrm>
            <a:off x="5421474" y="868037"/>
            <a:ext cx="6770526" cy="3729187"/>
          </a:xfrm>
          <a:prstGeom prst="rect">
            <a:avLst/>
          </a:prstGeom>
        </p:spPr>
      </p:pic>
    </p:spTree>
    <p:extLst>
      <p:ext uri="{BB962C8B-B14F-4D97-AF65-F5344CB8AC3E}">
        <p14:creationId xmlns:p14="http://schemas.microsoft.com/office/powerpoint/2010/main" val="381230575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5" name="图片 4"/>
          <p:cNvPicPr>
            <a:picLocks noChangeAspect="1"/>
          </p:cNvPicPr>
          <p:nvPr/>
        </p:nvPicPr>
        <p:blipFill>
          <a:blip r:embed="rId2"/>
          <a:stretch>
            <a:fillRect/>
          </a:stretch>
        </p:blipFill>
        <p:spPr>
          <a:xfrm>
            <a:off x="5839460" y="1120286"/>
            <a:ext cx="6156084" cy="3390754"/>
          </a:xfrm>
          <a:prstGeom prst="rect">
            <a:avLst/>
          </a:prstGeom>
        </p:spPr>
      </p:pic>
      <p:sp>
        <p:nvSpPr>
          <p:cNvPr id="6" name="内容占位符 2">
            <a:extLst>
              <a:ext uri="{FF2B5EF4-FFF2-40B4-BE49-F238E27FC236}">
                <a16:creationId xmlns:a16="http://schemas.microsoft.com/office/drawing/2014/main" id="{AB361291-FCC6-4E99-8755-7EA04AF1A2DE}"/>
              </a:ext>
            </a:extLst>
          </p:cNvPr>
          <p:cNvSpPr txBox="1">
            <a:spLocks/>
          </p:cNvSpPr>
          <p:nvPr/>
        </p:nvSpPr>
        <p:spPr>
          <a:xfrm>
            <a:off x="133350" y="934085"/>
            <a:ext cx="5604510" cy="5876618"/>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内核需具备物联网应用的特点</a:t>
            </a:r>
            <a:endParaRPr lang="en-US" altLang="zh-CN" sz="2800" b="1" dirty="0"/>
          </a:p>
          <a:p>
            <a:pPr lvl="1">
              <a:lnSpc>
                <a:spcPct val="125000"/>
              </a:lnSpc>
            </a:pPr>
            <a:r>
              <a:rPr lang="zh-CN" altLang="en-US" sz="2400" b="1" dirty="0">
                <a:solidFill>
                  <a:srgbClr val="C00000"/>
                </a:solidFill>
              </a:rPr>
              <a:t>内核大小有较强的伸缩性</a:t>
            </a:r>
            <a:endParaRPr lang="en-US" altLang="zh-CN" sz="2400" b="1" dirty="0">
              <a:solidFill>
                <a:srgbClr val="C00000"/>
              </a:solidFill>
            </a:endParaRPr>
          </a:p>
          <a:p>
            <a:pPr lvl="2">
              <a:lnSpc>
                <a:spcPct val="125000"/>
              </a:lnSpc>
            </a:pPr>
            <a:r>
              <a:rPr lang="zh-CN" altLang="en-US" sz="2000" dirty="0"/>
              <a:t>能够适应不同配置的硬件平台</a:t>
            </a:r>
            <a:endParaRPr lang="en-US" altLang="zh-CN" sz="2000" dirty="0"/>
          </a:p>
          <a:p>
            <a:pPr lvl="2">
              <a:lnSpc>
                <a:spcPct val="125000"/>
              </a:lnSpc>
            </a:pPr>
            <a:r>
              <a:rPr lang="zh-CN" altLang="en-US" sz="2000" dirty="0"/>
              <a:t>支撑内存和</a:t>
            </a:r>
            <a:r>
              <a:rPr lang="en-US" altLang="zh-CN" sz="2000" dirty="0"/>
              <a:t>CPU</a:t>
            </a:r>
            <a:r>
              <a:rPr lang="zh-CN" altLang="en-US" sz="2000" dirty="0"/>
              <a:t>性能都很受限的设备</a:t>
            </a:r>
            <a:endParaRPr lang="en-US" altLang="zh-CN" sz="2000" dirty="0"/>
          </a:p>
          <a:p>
            <a:pPr lvl="1">
              <a:lnSpc>
                <a:spcPct val="125000"/>
              </a:lnSpc>
            </a:pPr>
            <a:r>
              <a:rPr lang="zh-CN" altLang="en-US" sz="2400" b="1" dirty="0">
                <a:solidFill>
                  <a:srgbClr val="C00000"/>
                </a:solidFill>
              </a:rPr>
              <a:t>内核实时性足够强</a:t>
            </a:r>
            <a:endParaRPr lang="en-US" altLang="zh-CN" sz="2400" b="1" dirty="0">
              <a:solidFill>
                <a:srgbClr val="C00000"/>
              </a:solidFill>
            </a:endParaRPr>
          </a:p>
          <a:p>
            <a:pPr lvl="2">
              <a:lnSpc>
                <a:spcPct val="125000"/>
              </a:lnSpc>
            </a:pPr>
            <a:r>
              <a:rPr lang="zh-CN" altLang="en-US" sz="2000" dirty="0"/>
              <a:t>中断响应的实时性</a:t>
            </a:r>
            <a:endParaRPr lang="en-US" altLang="zh-CN" sz="2000" dirty="0"/>
          </a:p>
          <a:p>
            <a:pPr lvl="2">
              <a:lnSpc>
                <a:spcPct val="125000"/>
              </a:lnSpc>
            </a:pPr>
            <a:r>
              <a:rPr lang="zh-CN" altLang="en-US" sz="2000" dirty="0"/>
              <a:t>线程或任务调度的实时性</a:t>
            </a:r>
            <a:endParaRPr lang="en-US" altLang="zh-CN" sz="2000" dirty="0"/>
          </a:p>
          <a:p>
            <a:pPr lvl="1">
              <a:lnSpc>
                <a:spcPct val="125000"/>
              </a:lnSpc>
            </a:pPr>
            <a:r>
              <a:rPr lang="zh-CN" altLang="en-US" sz="2400" b="1" dirty="0">
                <a:solidFill>
                  <a:srgbClr val="C00000"/>
                </a:solidFill>
              </a:rPr>
              <a:t>内核架构可扩展性强</a:t>
            </a:r>
            <a:endParaRPr lang="en-US" altLang="zh-CN" sz="2400" b="1" dirty="0">
              <a:solidFill>
                <a:srgbClr val="C00000"/>
              </a:solidFill>
            </a:endParaRPr>
          </a:p>
          <a:p>
            <a:pPr lvl="2">
              <a:lnSpc>
                <a:spcPct val="125000"/>
              </a:lnSpc>
            </a:pPr>
            <a:r>
              <a:rPr lang="zh-CN" altLang="en-US" sz="2000" dirty="0"/>
              <a:t>内核应该设计成一个框架</a:t>
            </a:r>
            <a:endParaRPr lang="en-US" altLang="zh-CN" sz="2000" dirty="0"/>
          </a:p>
          <a:p>
            <a:pPr lvl="2">
              <a:lnSpc>
                <a:spcPct val="125000"/>
              </a:lnSpc>
            </a:pPr>
            <a:r>
              <a:rPr lang="zh-CN" altLang="en-US" sz="2000" dirty="0"/>
              <a:t>很容易地在操作系统内核上增加新的功能和新的硬件支持</a:t>
            </a:r>
            <a:endParaRPr lang="en-US" altLang="zh-CN" sz="2000" dirty="0"/>
          </a:p>
        </p:txBody>
      </p:sp>
    </p:spTree>
    <p:extLst>
      <p:ext uri="{BB962C8B-B14F-4D97-AF65-F5344CB8AC3E}">
        <p14:creationId xmlns:p14="http://schemas.microsoft.com/office/powerpoint/2010/main" val="423174085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5" name="图片 4"/>
          <p:cNvPicPr>
            <a:picLocks noChangeAspect="1"/>
          </p:cNvPicPr>
          <p:nvPr/>
        </p:nvPicPr>
        <p:blipFill>
          <a:blip r:embed="rId2"/>
          <a:stretch>
            <a:fillRect/>
          </a:stretch>
        </p:blipFill>
        <p:spPr>
          <a:xfrm>
            <a:off x="5839460" y="1120286"/>
            <a:ext cx="6156084" cy="3390754"/>
          </a:xfrm>
          <a:prstGeom prst="rect">
            <a:avLst/>
          </a:prstGeom>
        </p:spPr>
      </p:pic>
      <p:sp>
        <p:nvSpPr>
          <p:cNvPr id="7" name="内容占位符 2">
            <a:extLst>
              <a:ext uri="{FF2B5EF4-FFF2-40B4-BE49-F238E27FC236}">
                <a16:creationId xmlns:a16="http://schemas.microsoft.com/office/drawing/2014/main" id="{AB361291-FCC6-4E99-8755-7EA04AF1A2DE}"/>
              </a:ext>
            </a:extLst>
          </p:cNvPr>
          <p:cNvSpPr txBox="1">
            <a:spLocks/>
          </p:cNvSpPr>
          <p:nvPr/>
        </p:nvSpPr>
        <p:spPr>
          <a:xfrm>
            <a:off x="125730" y="921933"/>
            <a:ext cx="5629910" cy="5649135"/>
          </a:xfrm>
          <a:prstGeom prst="rect">
            <a:avLst/>
          </a:prstGeom>
        </p:spPr>
        <p:txBody>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内核需具备物联网应用的特点</a:t>
            </a:r>
            <a:endParaRPr lang="en-US" altLang="zh-CN" sz="2800" b="1" dirty="0"/>
          </a:p>
          <a:p>
            <a:pPr lvl="1">
              <a:lnSpc>
                <a:spcPct val="125000"/>
              </a:lnSpc>
            </a:pPr>
            <a:r>
              <a:rPr lang="zh-CN" altLang="en-US" sz="2400" b="1" dirty="0">
                <a:solidFill>
                  <a:srgbClr val="C00000"/>
                </a:solidFill>
              </a:rPr>
              <a:t>内核足够安全和可靠</a:t>
            </a:r>
            <a:endParaRPr lang="en-US" altLang="zh-CN" sz="2400" b="1" dirty="0">
              <a:solidFill>
                <a:srgbClr val="C00000"/>
              </a:solidFill>
            </a:endParaRPr>
          </a:p>
          <a:p>
            <a:pPr lvl="2">
              <a:lnSpc>
                <a:spcPct val="125000"/>
              </a:lnSpc>
            </a:pPr>
            <a:r>
              <a:rPr lang="zh-CN" altLang="en-US" sz="2000" dirty="0"/>
              <a:t>物联网应用环境具备自动化程度高、人为干预少</a:t>
            </a:r>
            <a:endParaRPr lang="en-US" altLang="zh-CN" sz="2000" dirty="0"/>
          </a:p>
          <a:p>
            <a:pPr lvl="2">
              <a:lnSpc>
                <a:spcPct val="125000"/>
              </a:lnSpc>
            </a:pPr>
            <a:r>
              <a:rPr lang="zh-CN" altLang="en-US" sz="2000" dirty="0"/>
              <a:t>支持内存保护，具备</a:t>
            </a:r>
            <a:r>
              <a:rPr lang="en-US" altLang="zh-CN" sz="2000" dirty="0"/>
              <a:t>Virtual Machine Monitor, VMM</a:t>
            </a:r>
            <a:r>
              <a:rPr lang="zh-CN" altLang="en-US" sz="2000" dirty="0"/>
              <a:t>、异常管理等机制</a:t>
            </a:r>
            <a:endParaRPr lang="en-US" altLang="zh-CN" sz="2000" dirty="0"/>
          </a:p>
          <a:p>
            <a:pPr lvl="1">
              <a:lnSpc>
                <a:spcPct val="125000"/>
              </a:lnSpc>
            </a:pPr>
            <a:r>
              <a:rPr lang="zh-CN" altLang="en-US" sz="2400" b="1" dirty="0">
                <a:solidFill>
                  <a:srgbClr val="C00000"/>
                </a:solidFill>
              </a:rPr>
              <a:t>内核节能省电</a:t>
            </a:r>
            <a:endParaRPr lang="en-US" altLang="zh-CN" sz="2400" b="1" dirty="0">
              <a:solidFill>
                <a:srgbClr val="C00000"/>
              </a:solidFill>
            </a:endParaRPr>
          </a:p>
          <a:p>
            <a:pPr lvl="2">
              <a:lnSpc>
                <a:spcPct val="125000"/>
              </a:lnSpc>
            </a:pPr>
            <a:r>
              <a:rPr lang="zh-CN" altLang="en-US" sz="2000" dirty="0"/>
              <a:t>支持足够的电源续航能力</a:t>
            </a:r>
            <a:endParaRPr lang="en-US" altLang="zh-CN" sz="2000" dirty="0"/>
          </a:p>
          <a:p>
            <a:pPr lvl="2">
              <a:lnSpc>
                <a:spcPct val="125000"/>
              </a:lnSpc>
            </a:pPr>
            <a:r>
              <a:rPr lang="zh-CN" altLang="en-US" sz="2000" dirty="0"/>
              <a:t>在空闲的时候，进入省电模式</a:t>
            </a:r>
            <a:endParaRPr lang="en-US" altLang="zh-CN" sz="2000" dirty="0"/>
          </a:p>
          <a:p>
            <a:pPr marL="1371531" lvl="3" indent="0">
              <a:lnSpc>
                <a:spcPct val="125000"/>
              </a:lnSpc>
              <a:buNone/>
            </a:pPr>
            <a:r>
              <a:rPr lang="zh-CN" altLang="en-US" sz="1800" dirty="0"/>
              <a:t>降低</a:t>
            </a:r>
            <a:r>
              <a:rPr lang="en-US" altLang="zh-CN" sz="1800" dirty="0"/>
              <a:t>CPU</a:t>
            </a:r>
            <a:r>
              <a:rPr lang="zh-CN" altLang="en-US" sz="1800" dirty="0"/>
              <a:t>运行频率</a:t>
            </a:r>
            <a:endParaRPr lang="en-US" altLang="zh-CN" sz="1800" dirty="0"/>
          </a:p>
          <a:p>
            <a:pPr marL="1371531" lvl="3" indent="0">
              <a:lnSpc>
                <a:spcPct val="125000"/>
              </a:lnSpc>
              <a:buNone/>
            </a:pPr>
            <a:r>
              <a:rPr lang="zh-CN" altLang="en-US" sz="1800" dirty="0"/>
              <a:t>关闭</a:t>
            </a:r>
            <a:r>
              <a:rPr lang="en-US" altLang="zh-CN" sz="1800" dirty="0"/>
              <a:t>CPU</a:t>
            </a:r>
          </a:p>
          <a:p>
            <a:pPr lvl="2">
              <a:lnSpc>
                <a:spcPct val="125000"/>
              </a:lnSpc>
            </a:pPr>
            <a:r>
              <a:rPr lang="zh-CN" altLang="en-US" sz="2000" dirty="0"/>
              <a:t>最大程度地降低中断发生频率</a:t>
            </a:r>
            <a:endParaRPr lang="en-US" altLang="zh-CN" sz="2000" dirty="0"/>
          </a:p>
        </p:txBody>
      </p:sp>
    </p:spTree>
    <p:extLst>
      <p:ext uri="{BB962C8B-B14F-4D97-AF65-F5344CB8AC3E}">
        <p14:creationId xmlns:p14="http://schemas.microsoft.com/office/powerpoint/2010/main" val="123668102"/>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6" name="内容占位符 2">
            <a:extLst>
              <a:ext uri="{FF2B5EF4-FFF2-40B4-BE49-F238E27FC236}">
                <a16:creationId xmlns:a16="http://schemas.microsoft.com/office/drawing/2014/main" id="{21EAE0B8-947F-49F7-B18C-639D3BC929CB}"/>
              </a:ext>
            </a:extLst>
          </p:cNvPr>
          <p:cNvSpPr txBox="1">
            <a:spLocks/>
          </p:cNvSpPr>
          <p:nvPr/>
        </p:nvSpPr>
        <p:spPr>
          <a:xfrm>
            <a:off x="186689" y="903604"/>
            <a:ext cx="11668979" cy="5459359"/>
          </a:xfrm>
          <a:prstGeom prst="rect">
            <a:avLst/>
          </a:prstGeom>
        </p:spPr>
        <p:txBody>
          <a:bodyPr>
            <a:noAutofit/>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外围模块需具备物联网应用的特点</a:t>
            </a:r>
            <a:endParaRPr lang="en-US" altLang="zh-CN" sz="2800" b="1" dirty="0"/>
          </a:p>
          <a:p>
            <a:pPr lvl="1">
              <a:lnSpc>
                <a:spcPct val="125000"/>
              </a:lnSpc>
            </a:pPr>
            <a:r>
              <a:rPr lang="zh-CN" altLang="en-US" sz="2400" b="1" dirty="0">
                <a:solidFill>
                  <a:srgbClr val="C00000"/>
                </a:solidFill>
              </a:rPr>
              <a:t>支持远程升级</a:t>
            </a:r>
            <a:endParaRPr lang="en-US" altLang="zh-CN" sz="2400" b="1" dirty="0">
              <a:solidFill>
                <a:srgbClr val="C00000"/>
              </a:solidFill>
            </a:endParaRPr>
          </a:p>
          <a:p>
            <a:pPr lvl="2">
              <a:lnSpc>
                <a:spcPct val="125000"/>
              </a:lnSpc>
            </a:pPr>
            <a:r>
              <a:rPr lang="zh-CN" altLang="en-US" sz="2000" dirty="0"/>
              <a:t>大大</a:t>
            </a:r>
            <a:r>
              <a:rPr lang="zh-CN" altLang="en-US" sz="2000" dirty="0">
                <a:solidFill>
                  <a:srgbClr val="FF0000"/>
                </a:solidFill>
              </a:rPr>
              <a:t>降低维护成本</a:t>
            </a:r>
            <a:endParaRPr lang="en-US" altLang="zh-CN" sz="2000" dirty="0">
              <a:solidFill>
                <a:srgbClr val="FF0000"/>
              </a:solidFill>
            </a:endParaRPr>
          </a:p>
          <a:p>
            <a:pPr lvl="2">
              <a:lnSpc>
                <a:spcPct val="125000"/>
              </a:lnSpc>
            </a:pPr>
            <a:r>
              <a:rPr lang="zh-CN" altLang="en-US" sz="2000" dirty="0"/>
              <a:t>升级失败，操作系统也应该能够恢复原有的运行状态</a:t>
            </a:r>
            <a:endParaRPr lang="en-US" altLang="zh-CN" sz="2000" dirty="0"/>
          </a:p>
          <a:p>
            <a:pPr lvl="1">
              <a:lnSpc>
                <a:spcPct val="125000"/>
              </a:lnSpc>
            </a:pPr>
            <a:r>
              <a:rPr lang="zh-CN" altLang="en-US" sz="2400" b="1" dirty="0">
                <a:solidFill>
                  <a:srgbClr val="C00000"/>
                </a:solidFill>
              </a:rPr>
              <a:t>支持常用的文件系统和外部存储</a:t>
            </a:r>
            <a:endParaRPr lang="en-US" altLang="zh-CN" sz="2400" b="1" dirty="0">
              <a:solidFill>
                <a:srgbClr val="C00000"/>
              </a:solidFill>
            </a:endParaRPr>
          </a:p>
          <a:p>
            <a:pPr lvl="2">
              <a:lnSpc>
                <a:spcPct val="125000"/>
              </a:lnSpc>
            </a:pPr>
            <a:r>
              <a:rPr lang="zh-CN" altLang="en-US" sz="2000" dirty="0"/>
              <a:t>网络连接中断的情况下，外部存储功能会发挥重要作用</a:t>
            </a:r>
            <a:endParaRPr lang="en-US" altLang="zh-CN" sz="2000" dirty="0"/>
          </a:p>
          <a:p>
            <a:pPr lvl="1">
              <a:lnSpc>
                <a:spcPct val="125000"/>
              </a:lnSpc>
            </a:pPr>
            <a:r>
              <a:rPr lang="zh-CN" altLang="en-US" sz="2400" b="1" dirty="0">
                <a:solidFill>
                  <a:srgbClr val="C00000"/>
                </a:solidFill>
              </a:rPr>
              <a:t>支持远程配置、远程诊断、远程管理等维护功能</a:t>
            </a:r>
            <a:endParaRPr lang="en-US" altLang="zh-CN" sz="2400" b="1" dirty="0">
              <a:solidFill>
                <a:srgbClr val="C00000"/>
              </a:solidFill>
            </a:endParaRPr>
          </a:p>
          <a:p>
            <a:pPr lvl="2">
              <a:lnSpc>
                <a:spcPct val="125000"/>
              </a:lnSpc>
            </a:pPr>
            <a:r>
              <a:rPr lang="zh-CN" altLang="en-US" sz="2000" dirty="0"/>
              <a:t>远程修改设备参数、远程查看运行信息</a:t>
            </a:r>
            <a:endParaRPr lang="en-US" altLang="zh-CN" sz="2000" dirty="0"/>
          </a:p>
          <a:p>
            <a:pPr lvl="1">
              <a:lnSpc>
                <a:spcPct val="125000"/>
              </a:lnSpc>
            </a:pPr>
            <a:r>
              <a:rPr lang="zh-CN" altLang="en-US" sz="2400" b="1" dirty="0">
                <a:solidFill>
                  <a:srgbClr val="C00000"/>
                </a:solidFill>
              </a:rPr>
              <a:t>支持完善的网络功能</a:t>
            </a:r>
            <a:endParaRPr lang="en-US" altLang="zh-CN" sz="2400" b="1" dirty="0">
              <a:solidFill>
                <a:srgbClr val="C00000"/>
              </a:solidFill>
            </a:endParaRPr>
          </a:p>
          <a:p>
            <a:pPr lvl="2">
              <a:lnSpc>
                <a:spcPct val="125000"/>
              </a:lnSpc>
            </a:pPr>
            <a:r>
              <a:rPr lang="zh-CN" altLang="en-US" sz="2000" dirty="0"/>
              <a:t>支持完善的</a:t>
            </a:r>
            <a:r>
              <a:rPr lang="en-US" altLang="zh-CN" sz="2000" dirty="0"/>
              <a:t>TCP/IP</a:t>
            </a:r>
            <a:r>
              <a:rPr lang="zh-CN" altLang="en-US" sz="2000" dirty="0"/>
              <a:t>协议栈</a:t>
            </a:r>
            <a:endParaRPr lang="en-US" altLang="zh-CN" sz="2000" dirty="0"/>
          </a:p>
          <a:p>
            <a:pPr lvl="2">
              <a:lnSpc>
                <a:spcPct val="125000"/>
              </a:lnSpc>
            </a:pPr>
            <a:r>
              <a:rPr lang="zh-CN" altLang="en-US" sz="2000" dirty="0"/>
              <a:t>具备灵活的伸缩性，以适应裁剪需要</a:t>
            </a:r>
          </a:p>
        </p:txBody>
      </p:sp>
    </p:spTree>
    <p:extLst>
      <p:ext uri="{BB962C8B-B14F-4D97-AF65-F5344CB8AC3E}">
        <p14:creationId xmlns:p14="http://schemas.microsoft.com/office/powerpoint/2010/main" val="2250491052"/>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5" name="图片 4"/>
          <p:cNvPicPr>
            <a:picLocks noChangeAspect="1"/>
          </p:cNvPicPr>
          <p:nvPr/>
        </p:nvPicPr>
        <p:blipFill>
          <a:blip r:embed="rId2"/>
          <a:stretch>
            <a:fillRect/>
          </a:stretch>
        </p:blipFill>
        <p:spPr>
          <a:xfrm>
            <a:off x="5547415" y="811281"/>
            <a:ext cx="6644585" cy="3659819"/>
          </a:xfrm>
          <a:prstGeom prst="rect">
            <a:avLst/>
          </a:prstGeom>
        </p:spPr>
      </p:pic>
      <p:sp>
        <p:nvSpPr>
          <p:cNvPr id="7" name="内容占位符 2">
            <a:extLst>
              <a:ext uri="{FF2B5EF4-FFF2-40B4-BE49-F238E27FC236}">
                <a16:creationId xmlns:a16="http://schemas.microsoft.com/office/drawing/2014/main" id="{21EAE0B8-947F-49F7-B18C-639D3BC929CB}"/>
              </a:ext>
            </a:extLst>
          </p:cNvPr>
          <p:cNvSpPr txBox="1">
            <a:spLocks/>
          </p:cNvSpPr>
          <p:nvPr/>
        </p:nvSpPr>
        <p:spPr>
          <a:xfrm>
            <a:off x="163830" y="934084"/>
            <a:ext cx="5482590" cy="5098853"/>
          </a:xfrm>
          <a:prstGeom prst="rect">
            <a:avLst/>
          </a:prstGeom>
        </p:spPr>
        <p:txBody>
          <a:bodyPr>
            <a:noAutofit/>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5000"/>
              </a:lnSpc>
            </a:pPr>
            <a:r>
              <a:rPr lang="zh-CN" altLang="en-US" sz="2400" b="1" dirty="0"/>
              <a:t>外围模块需具备物联网应用的特点</a:t>
            </a:r>
            <a:endParaRPr lang="en-US" altLang="zh-CN" sz="2400" b="1" dirty="0"/>
          </a:p>
          <a:p>
            <a:pPr lvl="1">
              <a:lnSpc>
                <a:spcPct val="135000"/>
              </a:lnSpc>
            </a:pPr>
            <a:r>
              <a:rPr lang="zh-CN" altLang="en-US" sz="2000" b="1" dirty="0">
                <a:solidFill>
                  <a:srgbClr val="C00000"/>
                </a:solidFill>
              </a:rPr>
              <a:t>对物联网常用的无线通信功能要内置支持</a:t>
            </a:r>
            <a:endParaRPr lang="en-US" altLang="zh-CN" sz="2000" b="1" dirty="0">
              <a:solidFill>
                <a:srgbClr val="C00000"/>
              </a:solidFill>
            </a:endParaRPr>
          </a:p>
          <a:p>
            <a:pPr lvl="2">
              <a:lnSpc>
                <a:spcPct val="135000"/>
              </a:lnSpc>
            </a:pPr>
            <a:r>
              <a:rPr lang="zh-CN" altLang="en-US" sz="1800" dirty="0"/>
              <a:t>不同的协议之间要能够</a:t>
            </a:r>
            <a:r>
              <a:rPr lang="zh-CN" altLang="en-US" sz="1800" dirty="0">
                <a:solidFill>
                  <a:srgbClr val="FF0000"/>
                </a:solidFill>
              </a:rPr>
              <a:t>相互转换</a:t>
            </a:r>
            <a:endParaRPr lang="en-US" altLang="zh-CN" sz="1800" dirty="0">
              <a:solidFill>
                <a:srgbClr val="FF0000"/>
              </a:solidFill>
            </a:endParaRPr>
          </a:p>
          <a:p>
            <a:pPr lvl="1">
              <a:lnSpc>
                <a:spcPct val="135000"/>
              </a:lnSpc>
            </a:pPr>
            <a:r>
              <a:rPr lang="zh-CN" altLang="en-US" sz="2000" b="1" dirty="0">
                <a:solidFill>
                  <a:srgbClr val="C00000"/>
                </a:solidFill>
              </a:rPr>
              <a:t>内置支持</a:t>
            </a:r>
            <a:r>
              <a:rPr lang="en-US" altLang="zh-CN" sz="2000" b="1" dirty="0">
                <a:solidFill>
                  <a:srgbClr val="C00000"/>
                </a:solidFill>
              </a:rPr>
              <a:t>XML</a:t>
            </a:r>
            <a:r>
              <a:rPr lang="zh-CN" altLang="en-US" sz="2000" b="1" dirty="0">
                <a:solidFill>
                  <a:srgbClr val="C00000"/>
                </a:solidFill>
              </a:rPr>
              <a:t>文件解析功能</a:t>
            </a:r>
            <a:endParaRPr lang="en-US" altLang="zh-CN" sz="2000" b="1" dirty="0">
              <a:solidFill>
                <a:srgbClr val="C00000"/>
              </a:solidFill>
            </a:endParaRPr>
          </a:p>
          <a:p>
            <a:pPr lvl="2">
              <a:lnSpc>
                <a:spcPct val="135000"/>
              </a:lnSpc>
            </a:pPr>
            <a:r>
              <a:rPr lang="en-US" altLang="zh-CN" sz="1800" dirty="0"/>
              <a:t>XML</a:t>
            </a:r>
            <a:r>
              <a:rPr lang="zh-CN" altLang="en-US" sz="1800" dirty="0"/>
              <a:t>格式的数据打破信息共享壁垒</a:t>
            </a:r>
            <a:endParaRPr lang="en-US" altLang="zh-CN" sz="1800" dirty="0"/>
          </a:p>
          <a:p>
            <a:pPr lvl="2">
              <a:lnSpc>
                <a:spcPct val="135000"/>
              </a:lnSpc>
            </a:pPr>
            <a:r>
              <a:rPr lang="zh-CN" altLang="en-US" sz="1800" dirty="0"/>
              <a:t>对自定义的</a:t>
            </a:r>
            <a:r>
              <a:rPr lang="en-US" altLang="zh-CN" sz="1800" dirty="0"/>
              <a:t>XML</a:t>
            </a:r>
            <a:r>
              <a:rPr lang="zh-CN" altLang="en-US" sz="1800" dirty="0"/>
              <a:t>格式进行存储和解析</a:t>
            </a:r>
            <a:endParaRPr lang="en-US" altLang="zh-CN" sz="1800" dirty="0"/>
          </a:p>
          <a:p>
            <a:pPr lvl="1">
              <a:lnSpc>
                <a:spcPct val="135000"/>
              </a:lnSpc>
            </a:pPr>
            <a:r>
              <a:rPr lang="zh-CN" altLang="en-US" sz="2000" b="1" dirty="0">
                <a:solidFill>
                  <a:srgbClr val="C00000"/>
                </a:solidFill>
              </a:rPr>
              <a:t>可支持</a:t>
            </a:r>
            <a:r>
              <a:rPr lang="en-US" altLang="zh-CN" sz="2000" b="1" dirty="0">
                <a:solidFill>
                  <a:srgbClr val="C00000"/>
                </a:solidFill>
              </a:rPr>
              <a:t>GUI</a:t>
            </a:r>
            <a:r>
              <a:rPr lang="zh-CN" altLang="en-US" sz="2000" b="1" dirty="0">
                <a:solidFill>
                  <a:srgbClr val="C00000"/>
                </a:solidFill>
              </a:rPr>
              <a:t>功能</a:t>
            </a:r>
            <a:endParaRPr lang="en-US" altLang="zh-CN" sz="2000" b="1" dirty="0">
              <a:solidFill>
                <a:srgbClr val="C00000"/>
              </a:solidFill>
            </a:endParaRPr>
          </a:p>
          <a:p>
            <a:pPr lvl="2">
              <a:lnSpc>
                <a:spcPct val="135000"/>
              </a:lnSpc>
            </a:pPr>
            <a:r>
              <a:rPr lang="zh-CN" altLang="en-US" sz="1800" dirty="0"/>
              <a:t>提供用户和设备之间的人性化交互</a:t>
            </a:r>
            <a:endParaRPr lang="en-US" altLang="zh-CN" sz="1800" dirty="0"/>
          </a:p>
          <a:p>
            <a:pPr lvl="1">
              <a:lnSpc>
                <a:spcPct val="135000"/>
              </a:lnSpc>
            </a:pPr>
            <a:r>
              <a:rPr lang="zh-CN" altLang="en-US" sz="2000" b="1" dirty="0">
                <a:solidFill>
                  <a:srgbClr val="C00000"/>
                </a:solidFill>
              </a:rPr>
              <a:t>支持从外部存储介质中动态加载应用程序的功能</a:t>
            </a:r>
            <a:endParaRPr lang="en-US" altLang="zh-CN" sz="2000" b="1" dirty="0">
              <a:solidFill>
                <a:srgbClr val="C00000"/>
              </a:solidFill>
            </a:endParaRPr>
          </a:p>
          <a:p>
            <a:pPr lvl="2">
              <a:lnSpc>
                <a:spcPct val="135000"/>
              </a:lnSpc>
              <a:spcBef>
                <a:spcPts val="0"/>
              </a:spcBef>
            </a:pPr>
            <a:r>
              <a:rPr lang="zh-CN" altLang="en-US" sz="1800" dirty="0"/>
              <a:t>具备强大的扩展能力</a:t>
            </a:r>
          </a:p>
        </p:txBody>
      </p:sp>
    </p:spTree>
    <p:extLst>
      <p:ext uri="{BB962C8B-B14F-4D97-AF65-F5344CB8AC3E}">
        <p14:creationId xmlns:p14="http://schemas.microsoft.com/office/powerpoint/2010/main" val="341598111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物联网操作系统</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5" name="图片 4"/>
          <p:cNvPicPr>
            <a:picLocks noChangeAspect="1"/>
          </p:cNvPicPr>
          <p:nvPr/>
        </p:nvPicPr>
        <p:blipFill>
          <a:blip r:embed="rId2"/>
          <a:stretch>
            <a:fillRect/>
          </a:stretch>
        </p:blipFill>
        <p:spPr>
          <a:xfrm>
            <a:off x="6035916" y="3056292"/>
            <a:ext cx="6156084" cy="3390754"/>
          </a:xfrm>
          <a:prstGeom prst="rect">
            <a:avLst/>
          </a:prstGeom>
        </p:spPr>
      </p:pic>
      <p:sp>
        <p:nvSpPr>
          <p:cNvPr id="6" name="内容占位符 2">
            <a:extLst>
              <a:ext uri="{FF2B5EF4-FFF2-40B4-BE49-F238E27FC236}">
                <a16:creationId xmlns:a16="http://schemas.microsoft.com/office/drawing/2014/main" id="{21EAE0B8-947F-49F7-B18C-639D3BC929CB}"/>
              </a:ext>
            </a:extLst>
          </p:cNvPr>
          <p:cNvSpPr txBox="1">
            <a:spLocks/>
          </p:cNvSpPr>
          <p:nvPr/>
        </p:nvSpPr>
        <p:spPr>
          <a:xfrm>
            <a:off x="0" y="880623"/>
            <a:ext cx="9602908" cy="4351338"/>
          </a:xfrm>
          <a:prstGeom prst="rect">
            <a:avLst/>
          </a:prstGeom>
        </p:spPr>
        <p:txBody>
          <a:bodyPr>
            <a:noAutofit/>
          </a:bodyPr>
          <a:lst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800" b="1" dirty="0"/>
              <a:t>集成开发环境需具备物联网应用的特点</a:t>
            </a:r>
            <a:endParaRPr lang="en-US" altLang="zh-CN" sz="2800" b="1" dirty="0"/>
          </a:p>
          <a:p>
            <a:pPr lvl="1">
              <a:lnSpc>
                <a:spcPct val="125000"/>
              </a:lnSpc>
            </a:pPr>
            <a:r>
              <a:rPr lang="zh-CN" altLang="en-US" sz="2400" b="1" dirty="0">
                <a:solidFill>
                  <a:srgbClr val="C00000"/>
                </a:solidFill>
              </a:rPr>
              <a:t>物联网操作系统要提供丰富灵活的</a:t>
            </a:r>
            <a:r>
              <a:rPr lang="en-US" altLang="zh-CN" sz="2400" b="1" dirty="0">
                <a:solidFill>
                  <a:srgbClr val="C00000"/>
                </a:solidFill>
              </a:rPr>
              <a:t>API</a:t>
            </a:r>
          </a:p>
          <a:p>
            <a:pPr lvl="2">
              <a:lnSpc>
                <a:spcPct val="125000"/>
              </a:lnSpc>
            </a:pPr>
            <a:r>
              <a:rPr lang="zh-CN" altLang="en-US" sz="2000" dirty="0"/>
              <a:t>支持多种程序语言</a:t>
            </a:r>
            <a:endParaRPr lang="en-US" altLang="zh-CN" sz="2000" dirty="0"/>
          </a:p>
          <a:p>
            <a:pPr lvl="2">
              <a:lnSpc>
                <a:spcPct val="125000"/>
              </a:lnSpc>
            </a:pPr>
            <a:r>
              <a:rPr lang="en-US" altLang="zh-CN" sz="2000" dirty="0"/>
              <a:t>C/C++</a:t>
            </a:r>
            <a:r>
              <a:rPr lang="zh-CN" altLang="en-US" sz="2000" dirty="0"/>
              <a:t>、</a:t>
            </a:r>
            <a:r>
              <a:rPr lang="en-US" altLang="zh-CN" sz="2000" dirty="0"/>
              <a:t>Java</a:t>
            </a:r>
          </a:p>
          <a:p>
            <a:pPr lvl="1">
              <a:lnSpc>
                <a:spcPct val="125000"/>
              </a:lnSpc>
            </a:pPr>
            <a:r>
              <a:rPr lang="zh-CN" altLang="en-US" sz="2400" b="1" dirty="0">
                <a:solidFill>
                  <a:srgbClr val="C00000"/>
                </a:solidFill>
              </a:rPr>
              <a:t>充分利用已有的集成开发工具</a:t>
            </a:r>
            <a:endParaRPr lang="en-US" altLang="zh-CN" sz="2400" b="1" dirty="0">
              <a:solidFill>
                <a:srgbClr val="C00000"/>
              </a:solidFill>
            </a:endParaRPr>
          </a:p>
          <a:p>
            <a:pPr lvl="2">
              <a:lnSpc>
                <a:spcPct val="125000"/>
              </a:lnSpc>
            </a:pPr>
            <a:r>
              <a:rPr lang="zh-CN" altLang="en-US" sz="2000" dirty="0"/>
              <a:t>例如</a:t>
            </a:r>
            <a:r>
              <a:rPr lang="en-US" altLang="zh-CN" sz="2000" dirty="0"/>
              <a:t>Eclipse</a:t>
            </a:r>
            <a:r>
              <a:rPr lang="zh-CN" altLang="en-US" sz="2000" dirty="0"/>
              <a:t>、</a:t>
            </a:r>
            <a:r>
              <a:rPr lang="en-US" altLang="zh-CN" sz="2000" dirty="0"/>
              <a:t>Visual Studio</a:t>
            </a:r>
            <a:r>
              <a:rPr lang="zh-CN" altLang="en-US" sz="2000" dirty="0"/>
              <a:t>、</a:t>
            </a:r>
            <a:r>
              <a:rPr lang="en-US" altLang="zh-CN" sz="2000" dirty="0" err="1"/>
              <a:t>Keil</a:t>
            </a:r>
            <a:r>
              <a:rPr lang="zh-CN" altLang="en-US" sz="2000" dirty="0"/>
              <a:t>等</a:t>
            </a:r>
            <a:endParaRPr lang="en-US" altLang="zh-CN" sz="2000" dirty="0"/>
          </a:p>
          <a:p>
            <a:pPr lvl="2">
              <a:lnSpc>
                <a:spcPct val="125000"/>
              </a:lnSpc>
            </a:pPr>
            <a:r>
              <a:rPr lang="zh-CN" altLang="en-US" sz="2000" dirty="0"/>
              <a:t>具备广泛应用基础，可以获得良好技术支持</a:t>
            </a:r>
            <a:endParaRPr lang="en-US" altLang="zh-CN" sz="2000" dirty="0"/>
          </a:p>
          <a:p>
            <a:pPr lvl="1">
              <a:lnSpc>
                <a:spcPct val="125000"/>
              </a:lnSpc>
            </a:pPr>
            <a:r>
              <a:rPr lang="zh-CN" altLang="en-US" sz="2400" b="1" dirty="0">
                <a:solidFill>
                  <a:srgbClr val="C00000"/>
                </a:solidFill>
              </a:rPr>
              <a:t>方便应用程序的开发和调试</a:t>
            </a:r>
            <a:endParaRPr lang="en-US" altLang="zh-CN" sz="2400" b="1" dirty="0">
              <a:solidFill>
                <a:srgbClr val="C00000"/>
              </a:solidFill>
            </a:endParaRPr>
          </a:p>
          <a:p>
            <a:pPr lvl="2">
              <a:lnSpc>
                <a:spcPct val="125000"/>
              </a:lnSpc>
            </a:pPr>
            <a:r>
              <a:rPr lang="zh-CN" altLang="en-US" sz="2000" dirty="0"/>
              <a:t>提供应用程序下载工具、远程调试工具等</a:t>
            </a:r>
            <a:endParaRPr lang="en-US" altLang="zh-CN" sz="2000" dirty="0"/>
          </a:p>
          <a:p>
            <a:pPr lvl="2">
              <a:lnSpc>
                <a:spcPct val="125000"/>
              </a:lnSpc>
            </a:pPr>
            <a:r>
              <a:rPr lang="zh-CN" altLang="en-US" sz="2000" dirty="0"/>
              <a:t>支撑整个开发过程</a:t>
            </a:r>
          </a:p>
        </p:txBody>
      </p:sp>
    </p:spTree>
    <p:extLst>
      <p:ext uri="{BB962C8B-B14F-4D97-AF65-F5344CB8AC3E}">
        <p14:creationId xmlns:p14="http://schemas.microsoft.com/office/powerpoint/2010/main" val="347729023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目录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4400" b="1" dirty="0">
                <a:solidFill>
                  <a:schemeClr val="tx1"/>
                </a:solidFill>
              </a:rPr>
              <a:t>操作系统</a:t>
            </a:r>
            <a:endParaRPr lang="en-US" altLang="zh-CN" sz="4400" b="1" dirty="0">
              <a:solidFill>
                <a:schemeClr val="tx1"/>
              </a:solidFill>
            </a:endParaRPr>
          </a:p>
          <a:p>
            <a:r>
              <a:rPr lang="zh-CN" altLang="en-US" sz="4400" b="1" dirty="0">
                <a:solidFill>
                  <a:schemeClr val="tx1"/>
                </a:solidFill>
              </a:rPr>
              <a:t>嵌入式操作系统</a:t>
            </a:r>
            <a:endParaRPr lang="en-US" altLang="zh-CN" sz="4400" b="1" dirty="0">
              <a:solidFill>
                <a:schemeClr val="tx1"/>
              </a:solidFill>
            </a:endParaRPr>
          </a:p>
          <a:p>
            <a:r>
              <a:rPr lang="zh-CN" altLang="en-US" sz="4400" b="1" dirty="0">
                <a:solidFill>
                  <a:schemeClr val="tx1"/>
                </a:solidFill>
              </a:rPr>
              <a:t>物联网操作系统</a:t>
            </a:r>
            <a:endParaRPr lang="en-US" altLang="zh-CN" sz="4400" b="1" dirty="0">
              <a:solidFill>
                <a:schemeClr val="tx1"/>
              </a:solidFill>
            </a:endParaRPr>
          </a:p>
          <a:p>
            <a:r>
              <a:rPr lang="en-US" altLang="zh-CN" sz="4400" b="1" dirty="0" err="1">
                <a:solidFill>
                  <a:srgbClr val="FF0000"/>
                </a:solidFill>
              </a:rPr>
              <a:t>LiteOS</a:t>
            </a:r>
            <a:r>
              <a:rPr lang="zh-CN" altLang="en-US" sz="4400" b="1" dirty="0">
                <a:solidFill>
                  <a:srgbClr val="FF0000"/>
                </a:solidFill>
              </a:rPr>
              <a:t>基础</a:t>
            </a:r>
            <a:endParaRPr lang="en-US" altLang="zh-CN" sz="4400" b="1" dirty="0">
              <a:solidFill>
                <a:srgbClr val="FF0000"/>
              </a:solidFill>
            </a:endParaRPr>
          </a:p>
          <a:p>
            <a:pPr lvl="1"/>
            <a:endParaRPr lang="zh-CN" altLang="en-US" sz="4000" dirty="0"/>
          </a:p>
        </p:txBody>
      </p:sp>
    </p:spTree>
    <p:extLst>
      <p:ext uri="{BB962C8B-B14F-4D97-AF65-F5344CB8AC3E}">
        <p14:creationId xmlns:p14="http://schemas.microsoft.com/office/powerpoint/2010/main" val="3438750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概述</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7650" name="Picture 2" descr="https://i-blog.csdnimg.cn/direct/7df68131695e45fdad6e15f690fccf2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101" y="1599333"/>
            <a:ext cx="8816976" cy="505679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42473" y="1901751"/>
            <a:ext cx="2895600" cy="4154984"/>
          </a:xfrm>
          <a:prstGeom prst="rect">
            <a:avLst/>
          </a:prstGeom>
        </p:spPr>
        <p:txBody>
          <a:bodyPr wrap="square">
            <a:spAutoFit/>
          </a:bodyPr>
          <a:lstStyle/>
          <a:p>
            <a:pPr>
              <a:buFont typeface="Arial" panose="020B0604020202020204" pitchFamily="34" charset="0"/>
              <a:buChar char="•"/>
            </a:pPr>
            <a:r>
              <a:rPr lang="en-US" altLang="zh-CN" sz="2400" b="1" dirty="0" err="1">
                <a:solidFill>
                  <a:srgbClr val="FF0000"/>
                </a:solidFill>
                <a:latin typeface="+mn-ea"/>
              </a:rPr>
              <a:t>OpenHarmony</a:t>
            </a:r>
            <a:r>
              <a:rPr lang="zh-CN" altLang="en-US" sz="2400" b="1" dirty="0">
                <a:solidFill>
                  <a:srgbClr val="FF0000"/>
                </a:solidFill>
                <a:latin typeface="+mn-ea"/>
              </a:rPr>
              <a:t>：</a:t>
            </a:r>
            <a:endParaRPr lang="en-US" altLang="zh-CN" sz="2400" b="1" dirty="0">
              <a:solidFill>
                <a:srgbClr val="FF0000"/>
              </a:solidFill>
              <a:latin typeface="+mn-ea"/>
            </a:endParaRPr>
          </a:p>
          <a:p>
            <a:r>
              <a:rPr lang="zh-CN" altLang="en-US" sz="2400" b="1" dirty="0">
                <a:solidFill>
                  <a:srgbClr val="333333"/>
                </a:solidFill>
                <a:latin typeface="+mn-ea"/>
              </a:rPr>
              <a:t>开源底层。</a:t>
            </a:r>
            <a:endParaRPr lang="en-US" altLang="zh-CN" sz="2400" b="1" dirty="0">
              <a:solidFill>
                <a:srgbClr val="333333"/>
              </a:solidFill>
              <a:latin typeface="+mn-ea"/>
            </a:endParaRPr>
          </a:p>
          <a:p>
            <a:endParaRPr lang="zh-CN" altLang="en-US" sz="2400" b="1" dirty="0">
              <a:solidFill>
                <a:srgbClr val="333333"/>
              </a:solidFill>
              <a:latin typeface="+mn-ea"/>
            </a:endParaRPr>
          </a:p>
          <a:p>
            <a:pPr>
              <a:buFont typeface="Arial" panose="020B0604020202020204" pitchFamily="34" charset="0"/>
              <a:buChar char="•"/>
            </a:pPr>
            <a:r>
              <a:rPr lang="en-US" altLang="zh-CN" sz="2400" b="1" dirty="0" err="1">
                <a:solidFill>
                  <a:srgbClr val="FF0000"/>
                </a:solidFill>
                <a:latin typeface="+mn-ea"/>
              </a:rPr>
              <a:t>HarmonyOS</a:t>
            </a:r>
            <a:r>
              <a:rPr lang="zh-CN" altLang="en-US" sz="2400" b="1" dirty="0">
                <a:solidFill>
                  <a:srgbClr val="FF0000"/>
                </a:solidFill>
                <a:latin typeface="+mn-ea"/>
              </a:rPr>
              <a:t>：</a:t>
            </a:r>
            <a:endParaRPr lang="en-US" altLang="zh-CN" sz="2400" b="1" dirty="0">
              <a:solidFill>
                <a:srgbClr val="FF0000"/>
              </a:solidFill>
              <a:latin typeface="+mn-ea"/>
            </a:endParaRPr>
          </a:p>
          <a:p>
            <a:r>
              <a:rPr lang="zh-CN" altLang="en-US" sz="2400" b="1" dirty="0">
                <a:solidFill>
                  <a:srgbClr val="333333"/>
                </a:solidFill>
                <a:latin typeface="+mn-ea"/>
              </a:rPr>
              <a:t>闭源手机系统，兼容安卓生态。</a:t>
            </a:r>
            <a:endParaRPr lang="en-US" altLang="zh-CN" sz="2400" b="1" dirty="0">
              <a:solidFill>
                <a:srgbClr val="333333"/>
              </a:solidFill>
              <a:latin typeface="+mn-ea"/>
            </a:endParaRPr>
          </a:p>
          <a:p>
            <a:pPr>
              <a:buFont typeface="Arial" panose="020B0604020202020204" pitchFamily="34" charset="0"/>
              <a:buChar char="•"/>
            </a:pPr>
            <a:endParaRPr lang="zh-CN" altLang="en-US" sz="2400" b="1" dirty="0">
              <a:solidFill>
                <a:srgbClr val="333333"/>
              </a:solidFill>
              <a:latin typeface="+mn-ea"/>
            </a:endParaRPr>
          </a:p>
          <a:p>
            <a:pPr>
              <a:buFont typeface="Arial" panose="020B0604020202020204" pitchFamily="34" charset="0"/>
              <a:buChar char="•"/>
            </a:pPr>
            <a:r>
              <a:rPr lang="en-US" altLang="zh-CN" sz="2400" b="1" dirty="0" err="1">
                <a:solidFill>
                  <a:srgbClr val="FF0000"/>
                </a:solidFill>
                <a:latin typeface="+mn-ea"/>
              </a:rPr>
              <a:t>HarmonyOS</a:t>
            </a:r>
            <a:r>
              <a:rPr lang="en-US" altLang="zh-CN" sz="2400" b="1" dirty="0">
                <a:solidFill>
                  <a:srgbClr val="FF0000"/>
                </a:solidFill>
                <a:latin typeface="+mn-ea"/>
              </a:rPr>
              <a:t> NEXT</a:t>
            </a:r>
            <a:r>
              <a:rPr lang="zh-CN" altLang="en-US" sz="2400" b="1" dirty="0">
                <a:solidFill>
                  <a:srgbClr val="FF0000"/>
                </a:solidFill>
                <a:latin typeface="+mn-ea"/>
              </a:rPr>
              <a:t>：</a:t>
            </a:r>
            <a:endParaRPr lang="en-US" altLang="zh-CN" sz="2400" b="1" dirty="0">
              <a:solidFill>
                <a:srgbClr val="333333"/>
              </a:solidFill>
              <a:latin typeface="+mn-ea"/>
            </a:endParaRPr>
          </a:p>
          <a:p>
            <a:r>
              <a:rPr lang="zh-CN" altLang="en-US" sz="2400" b="1" dirty="0">
                <a:solidFill>
                  <a:srgbClr val="333333"/>
                </a:solidFill>
                <a:latin typeface="+mn-ea"/>
              </a:rPr>
              <a:t>纯血鸿蒙，不兼容安卓</a:t>
            </a:r>
            <a:endParaRPr lang="zh-CN" altLang="en-US" sz="2400" b="1" i="0" dirty="0">
              <a:solidFill>
                <a:srgbClr val="333333"/>
              </a:solidFill>
              <a:effectLst/>
              <a:latin typeface="+mn-ea"/>
            </a:endParaRPr>
          </a:p>
        </p:txBody>
      </p:sp>
      <p:sp>
        <p:nvSpPr>
          <p:cNvPr id="6" name="矩形 5"/>
          <p:cNvSpPr/>
          <p:nvPr/>
        </p:nvSpPr>
        <p:spPr>
          <a:xfrm>
            <a:off x="342473" y="985018"/>
            <a:ext cx="10192177" cy="400110"/>
          </a:xfrm>
          <a:prstGeom prst="rect">
            <a:avLst/>
          </a:prstGeom>
        </p:spPr>
        <p:txBody>
          <a:bodyPr wrap="square">
            <a:spAutoFit/>
          </a:bodyPr>
          <a:lstStyle/>
          <a:p>
            <a:r>
              <a:rPr lang="en-US" altLang="zh-CN" sz="2000" b="1" dirty="0">
                <a:solidFill>
                  <a:schemeClr val="accent2">
                    <a:lumMod val="75000"/>
                  </a:schemeClr>
                </a:solidFill>
              </a:rPr>
              <a:t>2024</a:t>
            </a:r>
            <a:r>
              <a:rPr lang="zh-CN" altLang="en-US" sz="2000" b="1" dirty="0">
                <a:solidFill>
                  <a:schemeClr val="accent2">
                    <a:lumMod val="75000"/>
                  </a:schemeClr>
                </a:solidFill>
              </a:rPr>
              <a:t>年</a:t>
            </a:r>
            <a:r>
              <a:rPr lang="en-US" altLang="zh-CN" sz="2000" b="1" dirty="0">
                <a:solidFill>
                  <a:schemeClr val="accent2">
                    <a:lumMod val="75000"/>
                  </a:schemeClr>
                </a:solidFill>
              </a:rPr>
              <a:t>10</a:t>
            </a:r>
            <a:r>
              <a:rPr lang="zh-CN" altLang="en-US" sz="2000" b="1" dirty="0">
                <a:solidFill>
                  <a:schemeClr val="accent2">
                    <a:lumMod val="75000"/>
                  </a:schemeClr>
                </a:solidFill>
              </a:rPr>
              <a:t>月</a:t>
            </a:r>
            <a:r>
              <a:rPr lang="en-US" altLang="zh-CN" sz="2000" b="1" dirty="0">
                <a:solidFill>
                  <a:schemeClr val="accent2">
                    <a:lumMod val="75000"/>
                  </a:schemeClr>
                </a:solidFill>
              </a:rPr>
              <a:t>22</a:t>
            </a:r>
            <a:r>
              <a:rPr lang="zh-CN" altLang="en-US" sz="2000" b="1" dirty="0">
                <a:solidFill>
                  <a:schemeClr val="accent2">
                    <a:lumMod val="75000"/>
                  </a:schemeClr>
                </a:solidFill>
              </a:rPr>
              <a:t>日 原生鸿蒙之夜，华为发布 </a:t>
            </a:r>
            <a:r>
              <a:rPr lang="en-US" altLang="zh-CN" sz="2000" b="1" dirty="0" err="1">
                <a:solidFill>
                  <a:schemeClr val="accent2">
                    <a:lumMod val="75000"/>
                  </a:schemeClr>
                </a:solidFill>
              </a:rPr>
              <a:t>Harmoney</a:t>
            </a:r>
            <a:r>
              <a:rPr lang="en-US" altLang="zh-CN" sz="2000" b="1" dirty="0">
                <a:solidFill>
                  <a:schemeClr val="accent2">
                    <a:lumMod val="75000"/>
                  </a:schemeClr>
                </a:solidFill>
              </a:rPr>
              <a:t> OS Next</a:t>
            </a:r>
            <a:r>
              <a:rPr lang="zh-CN" altLang="en-US" sz="2000" b="1" dirty="0">
                <a:solidFill>
                  <a:schemeClr val="accent2">
                    <a:lumMod val="75000"/>
                  </a:schemeClr>
                </a:solidFill>
              </a:rPr>
              <a:t> 称为纯血鸿蒙</a:t>
            </a:r>
          </a:p>
        </p:txBody>
      </p:sp>
    </p:spTree>
    <p:extLst>
      <p:ext uri="{BB962C8B-B14F-4D97-AF65-F5344CB8AC3E}">
        <p14:creationId xmlns:p14="http://schemas.microsoft.com/office/powerpoint/2010/main" val="147599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结构</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 name="图片 1"/>
          <p:cNvPicPr>
            <a:picLocks noChangeAspect="1"/>
          </p:cNvPicPr>
          <p:nvPr/>
        </p:nvPicPr>
        <p:blipFill>
          <a:blip r:embed="rId2"/>
          <a:stretch>
            <a:fillRect/>
          </a:stretch>
        </p:blipFill>
        <p:spPr>
          <a:xfrm>
            <a:off x="367210" y="960825"/>
            <a:ext cx="10536221" cy="5809159"/>
          </a:xfrm>
          <a:prstGeom prst="rect">
            <a:avLst/>
          </a:prstGeom>
        </p:spPr>
      </p:pic>
    </p:spTree>
    <p:extLst>
      <p:ext uri="{BB962C8B-B14F-4D97-AF65-F5344CB8AC3E}">
        <p14:creationId xmlns:p14="http://schemas.microsoft.com/office/powerpoint/2010/main" val="844965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内核结构</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 name="矩形 1"/>
          <p:cNvSpPr/>
          <p:nvPr/>
        </p:nvSpPr>
        <p:spPr>
          <a:xfrm>
            <a:off x="238125" y="989876"/>
            <a:ext cx="6096000" cy="2435410"/>
          </a:xfrm>
          <a:prstGeom prst="rect">
            <a:avLst/>
          </a:prstGeom>
        </p:spPr>
        <p:txBody>
          <a:bodyPr>
            <a:spAutoFit/>
          </a:bodyPr>
          <a:lstStyle/>
          <a:p>
            <a:pPr>
              <a:lnSpc>
                <a:spcPct val="125000"/>
              </a:lnSpc>
            </a:pPr>
            <a:r>
              <a:rPr lang="en-US" altLang="zh-CN" sz="2800" b="1" dirty="0" err="1">
                <a:solidFill>
                  <a:srgbClr val="C00000"/>
                </a:solidFill>
                <a:latin typeface="arial" panose="020B0604020202020204" pitchFamily="34" charset="0"/>
              </a:rPr>
              <a:t>LiteOS</a:t>
            </a:r>
            <a:r>
              <a:rPr lang="en-US" altLang="zh-CN" sz="2800" b="1" dirty="0">
                <a:solidFill>
                  <a:srgbClr val="C00000"/>
                </a:solidFill>
                <a:latin typeface="arial" panose="020B0604020202020204" pitchFamily="34" charset="0"/>
              </a:rPr>
              <a:t> Kernel</a:t>
            </a:r>
          </a:p>
          <a:p>
            <a:pPr>
              <a:lnSpc>
                <a:spcPct val="125000"/>
              </a:lnSpc>
            </a:pPr>
            <a:r>
              <a:rPr lang="zh-CN" altLang="en-US" sz="2400" dirty="0">
                <a:solidFill>
                  <a:srgbClr val="222222"/>
                </a:solidFill>
                <a:latin typeface="arial" panose="020B0604020202020204" pitchFamily="34" charset="0"/>
              </a:rPr>
              <a:t>是</a:t>
            </a:r>
            <a:r>
              <a:rPr lang="en-US" altLang="zh-CN" sz="2400" dirty="0">
                <a:solidFill>
                  <a:srgbClr val="222222"/>
                </a:solidFill>
                <a:latin typeface="arial" panose="020B0604020202020204" pitchFamily="34" charset="0"/>
              </a:rPr>
              <a:t>Huawei </a:t>
            </a:r>
            <a:r>
              <a:rPr lang="en-US" altLang="zh-CN" sz="2400" dirty="0" err="1">
                <a:solidFill>
                  <a:srgbClr val="222222"/>
                </a:solidFill>
                <a:latin typeface="arial" panose="020B0604020202020204" pitchFamily="34" charset="0"/>
              </a:rPr>
              <a:t>LiteOS</a:t>
            </a:r>
            <a:r>
              <a:rPr lang="en-US" altLang="zh-CN" sz="2400" dirty="0">
                <a:solidFill>
                  <a:srgbClr val="222222"/>
                </a:solidFill>
                <a:latin typeface="arial" panose="020B0604020202020204" pitchFamily="34" charset="0"/>
              </a:rPr>
              <a:t> </a:t>
            </a:r>
            <a:r>
              <a:rPr lang="zh-CN" altLang="en-US" sz="2400" dirty="0">
                <a:solidFill>
                  <a:srgbClr val="222222"/>
                </a:solidFill>
                <a:latin typeface="arial" panose="020B0604020202020204" pitchFamily="34" charset="0"/>
              </a:rPr>
              <a:t>操作系统基础内核，包括</a:t>
            </a:r>
            <a:r>
              <a:rPr lang="zh-CN" altLang="en-US" sz="2400" dirty="0">
                <a:solidFill>
                  <a:srgbClr val="C00000"/>
                </a:solidFill>
                <a:latin typeface="arial" panose="020B0604020202020204" pitchFamily="34" charset="0"/>
              </a:rPr>
              <a:t>任务管理、内存管理、时间管理、通信机制、中断管理、队列管理、事件管理、定时器</a:t>
            </a:r>
            <a:r>
              <a:rPr lang="zh-CN" altLang="en-US" sz="2400" dirty="0">
                <a:solidFill>
                  <a:srgbClr val="222222"/>
                </a:solidFill>
                <a:latin typeface="arial" panose="020B0604020202020204" pitchFamily="34" charset="0"/>
              </a:rPr>
              <a:t>等操作系统基础组件，可以单独运行。</a:t>
            </a:r>
            <a:endParaRPr lang="zh-CN" altLang="en-US" sz="2400" dirty="0"/>
          </a:p>
        </p:txBody>
      </p:sp>
      <p:sp>
        <p:nvSpPr>
          <p:cNvPr id="3" name="矩形 2"/>
          <p:cNvSpPr/>
          <p:nvPr/>
        </p:nvSpPr>
        <p:spPr>
          <a:xfrm>
            <a:off x="181369" y="3862596"/>
            <a:ext cx="6096000" cy="2897075"/>
          </a:xfrm>
          <a:prstGeom prst="rect">
            <a:avLst/>
          </a:prstGeom>
        </p:spPr>
        <p:txBody>
          <a:bodyPr>
            <a:spAutoFit/>
          </a:bodyPr>
          <a:lstStyle/>
          <a:p>
            <a:pPr>
              <a:lnSpc>
                <a:spcPct val="125000"/>
              </a:lnSpc>
            </a:pPr>
            <a:r>
              <a:rPr lang="en-US" altLang="zh-CN" sz="2800" b="1" dirty="0" err="1">
                <a:solidFill>
                  <a:srgbClr val="C00000"/>
                </a:solidFill>
                <a:latin typeface="arial" panose="020B0604020202020204" pitchFamily="34" charset="0"/>
              </a:rPr>
              <a:t>LiteOS</a:t>
            </a:r>
            <a:r>
              <a:rPr lang="en-US" altLang="zh-CN" sz="2800" b="1" dirty="0">
                <a:solidFill>
                  <a:srgbClr val="C00000"/>
                </a:solidFill>
                <a:latin typeface="arial" panose="020B0604020202020204" pitchFamily="34" charset="0"/>
              </a:rPr>
              <a:t> Kernel </a:t>
            </a:r>
            <a:r>
              <a:rPr lang="zh-CN" altLang="en-US" sz="2800" b="1" dirty="0">
                <a:solidFill>
                  <a:srgbClr val="C00000"/>
                </a:solidFill>
                <a:latin typeface="arial" panose="020B0604020202020204" pitchFamily="34" charset="0"/>
              </a:rPr>
              <a:t>特点</a:t>
            </a:r>
            <a:endParaRPr lang="en-US" altLang="zh-CN" sz="2800" b="1" dirty="0">
              <a:solidFill>
                <a:srgbClr val="C00000"/>
              </a:solidFill>
              <a:latin typeface="arial" panose="020B0604020202020204" pitchFamily="34" charset="0"/>
            </a:endParaRPr>
          </a:p>
          <a:p>
            <a:pPr>
              <a:lnSpc>
                <a:spcPct val="125000"/>
              </a:lnSpc>
            </a:pPr>
            <a:r>
              <a:rPr lang="zh-CN" altLang="en-US" sz="2400" dirty="0">
                <a:solidFill>
                  <a:srgbClr val="333333"/>
                </a:solidFill>
                <a:latin typeface="arial" panose="020B0604020202020204" pitchFamily="34" charset="0"/>
              </a:rPr>
              <a:t>高实时性，高稳定性</a:t>
            </a:r>
            <a:endParaRPr lang="en-US" altLang="zh-CN" sz="2400" dirty="0">
              <a:solidFill>
                <a:srgbClr val="333333"/>
              </a:solidFill>
              <a:latin typeface="arial" panose="020B0604020202020204" pitchFamily="34" charset="0"/>
            </a:endParaRPr>
          </a:p>
          <a:p>
            <a:pPr>
              <a:lnSpc>
                <a:spcPct val="125000"/>
              </a:lnSpc>
            </a:pPr>
            <a:r>
              <a:rPr lang="zh-CN" altLang="en-US" sz="2400" dirty="0">
                <a:solidFill>
                  <a:srgbClr val="333333"/>
                </a:solidFill>
                <a:latin typeface="arial" panose="020B0604020202020204" pitchFamily="34" charset="0"/>
              </a:rPr>
              <a:t>超小内核，基础内核体积可以裁剪至不到</a:t>
            </a:r>
            <a:r>
              <a:rPr lang="en-US" altLang="zh-CN" sz="2400" dirty="0">
                <a:solidFill>
                  <a:srgbClr val="333333"/>
                </a:solidFill>
                <a:latin typeface="arial" panose="020B0604020202020204" pitchFamily="34" charset="0"/>
              </a:rPr>
              <a:t>10K</a:t>
            </a:r>
          </a:p>
          <a:p>
            <a:pPr>
              <a:lnSpc>
                <a:spcPct val="125000"/>
              </a:lnSpc>
            </a:pPr>
            <a:r>
              <a:rPr lang="zh-CN" altLang="en-US" sz="2400" dirty="0">
                <a:solidFill>
                  <a:srgbClr val="333333"/>
                </a:solidFill>
                <a:latin typeface="arial" panose="020B0604020202020204" pitchFamily="34" charset="0"/>
              </a:rPr>
              <a:t>低功耗</a:t>
            </a:r>
            <a:endParaRPr lang="en-US" altLang="zh-CN" sz="2400" dirty="0">
              <a:solidFill>
                <a:srgbClr val="333333"/>
              </a:solidFill>
              <a:latin typeface="arial" panose="020B0604020202020204" pitchFamily="34" charset="0"/>
            </a:endParaRPr>
          </a:p>
          <a:p>
            <a:pPr>
              <a:lnSpc>
                <a:spcPct val="125000"/>
              </a:lnSpc>
            </a:pPr>
            <a:r>
              <a:rPr lang="zh-CN" altLang="en-US" sz="2400" dirty="0">
                <a:solidFill>
                  <a:srgbClr val="333333"/>
                </a:solidFill>
                <a:latin typeface="arial" panose="020B0604020202020204" pitchFamily="34" charset="0"/>
              </a:rPr>
              <a:t>支持功能静态裁剪</a:t>
            </a:r>
            <a:endParaRPr lang="zh-CN" altLang="en-US" sz="2400" dirty="0"/>
          </a:p>
        </p:txBody>
      </p:sp>
      <p:pic>
        <p:nvPicPr>
          <p:cNvPr id="4" name="图片 3"/>
          <p:cNvPicPr>
            <a:picLocks noChangeAspect="1"/>
          </p:cNvPicPr>
          <p:nvPr/>
        </p:nvPicPr>
        <p:blipFill>
          <a:blip r:embed="rId2"/>
          <a:stretch>
            <a:fillRect/>
          </a:stretch>
        </p:blipFill>
        <p:spPr>
          <a:xfrm>
            <a:off x="6400413" y="889291"/>
            <a:ext cx="5367915" cy="5946611"/>
          </a:xfrm>
          <a:prstGeom prst="rect">
            <a:avLst/>
          </a:prstGeom>
        </p:spPr>
      </p:pic>
    </p:spTree>
    <p:extLst>
      <p:ext uri="{BB962C8B-B14F-4D97-AF65-F5344CB8AC3E}">
        <p14:creationId xmlns:p14="http://schemas.microsoft.com/office/powerpoint/2010/main" val="3935679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文件</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graphicFrame>
        <p:nvGraphicFramePr>
          <p:cNvPr id="4" name="表格 3"/>
          <p:cNvGraphicFramePr>
            <a:graphicFrameLocks noGrp="1"/>
          </p:cNvGraphicFramePr>
          <p:nvPr>
            <p:extLst>
              <p:ext uri="{D42A27DB-BD31-4B8C-83A1-F6EECF244321}">
                <p14:modId xmlns:p14="http://schemas.microsoft.com/office/powerpoint/2010/main" val="2492244239"/>
              </p:ext>
            </p:extLst>
          </p:nvPr>
        </p:nvGraphicFramePr>
        <p:xfrm>
          <a:off x="171133" y="866467"/>
          <a:ext cx="11849735" cy="4815840"/>
        </p:xfrm>
        <a:graphic>
          <a:graphicData uri="http://schemas.openxmlformats.org/drawingml/2006/table">
            <a:tbl>
              <a:tblPr firstRow="1" firstCol="1" bandRow="1">
                <a:tableStyleId>{5C22544A-7EE6-4342-B048-85BDC9FD1C3A}</a:tableStyleId>
              </a:tblPr>
              <a:tblGrid>
                <a:gridCol w="1579008">
                  <a:extLst>
                    <a:ext uri="{9D8B030D-6E8A-4147-A177-3AD203B41FA5}">
                      <a16:colId xmlns:a16="http://schemas.microsoft.com/office/drawing/2014/main" val="3221180688"/>
                    </a:ext>
                  </a:extLst>
                </a:gridCol>
                <a:gridCol w="1238864">
                  <a:extLst>
                    <a:ext uri="{9D8B030D-6E8A-4147-A177-3AD203B41FA5}">
                      <a16:colId xmlns:a16="http://schemas.microsoft.com/office/drawing/2014/main" val="4232262690"/>
                    </a:ext>
                  </a:extLst>
                </a:gridCol>
                <a:gridCol w="1671485">
                  <a:extLst>
                    <a:ext uri="{9D8B030D-6E8A-4147-A177-3AD203B41FA5}">
                      <a16:colId xmlns:a16="http://schemas.microsoft.com/office/drawing/2014/main" val="1763792809"/>
                    </a:ext>
                  </a:extLst>
                </a:gridCol>
                <a:gridCol w="3323303">
                  <a:extLst>
                    <a:ext uri="{9D8B030D-6E8A-4147-A177-3AD203B41FA5}">
                      <a16:colId xmlns:a16="http://schemas.microsoft.com/office/drawing/2014/main" val="3356081252"/>
                    </a:ext>
                  </a:extLst>
                </a:gridCol>
                <a:gridCol w="4037075">
                  <a:extLst>
                    <a:ext uri="{9D8B030D-6E8A-4147-A177-3AD203B41FA5}">
                      <a16:colId xmlns:a16="http://schemas.microsoft.com/office/drawing/2014/main" val="2576116420"/>
                    </a:ext>
                  </a:extLst>
                </a:gridCol>
              </a:tblGrid>
              <a:tr h="0">
                <a:tc>
                  <a:txBody>
                    <a:bodyPr/>
                    <a:lstStyle/>
                    <a:p>
                      <a:pPr algn="just">
                        <a:spcAft>
                          <a:spcPts val="0"/>
                        </a:spcAft>
                      </a:pPr>
                      <a:r>
                        <a:rPr lang="zh-CN" sz="1600" b="1" kern="0" dirty="0">
                          <a:effectLst/>
                          <a:latin typeface="+mn-ea"/>
                          <a:ea typeface="+mn-ea"/>
                        </a:rPr>
                        <a:t>一级目录</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just">
                        <a:spcAft>
                          <a:spcPts val="0"/>
                        </a:spcAft>
                      </a:pPr>
                      <a:r>
                        <a:rPr lang="zh-CN" sz="1600" b="1" kern="0">
                          <a:effectLst/>
                          <a:latin typeface="+mn-ea"/>
                          <a:ea typeface="+mn-ea"/>
                        </a:rPr>
                        <a:t>二级目录</a:t>
                      </a:r>
                      <a:endParaRPr lang="zh-CN" sz="1600" b="1" kern="10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latin typeface="+mn-ea"/>
                          <a:ea typeface="+mn-ea"/>
                        </a:rPr>
                        <a:t>三级目录</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latin typeface="+mn-ea"/>
                          <a:ea typeface="+mn-ea"/>
                        </a:rPr>
                        <a:t>说明</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marL="0" algn="l" defTabSz="914354" rtl="0" eaLnBrk="1" latinLnBrk="0" hangingPunct="1">
                        <a:spcAft>
                          <a:spcPts val="0"/>
                        </a:spcAft>
                      </a:pPr>
                      <a:r>
                        <a:rPr lang="zh-CN" altLang="en-US" sz="1600" b="1" kern="0" dirty="0">
                          <a:solidFill>
                            <a:schemeClr val="lt1"/>
                          </a:solidFill>
                          <a:effectLst/>
                          <a:latin typeface="+mn-ea"/>
                          <a:ea typeface="+mn-ea"/>
                          <a:cs typeface="+mn-cs"/>
                        </a:rPr>
                        <a:t>重点文件及内容</a:t>
                      </a:r>
                      <a:endParaRPr lang="zh-CN" sz="1600" b="1" kern="0" dirty="0">
                        <a:solidFill>
                          <a:schemeClr val="lt1"/>
                        </a:solidFill>
                        <a:effectLst/>
                        <a:latin typeface="+mn-ea"/>
                        <a:ea typeface="+mn-ea"/>
                        <a:cs typeface="+mn-cs"/>
                      </a:endParaRPr>
                    </a:p>
                  </a:txBody>
                  <a:tcPr marL="123825" marR="123825" marT="57150" marB="57150" anchor="ctr"/>
                </a:tc>
                <a:extLst>
                  <a:ext uri="{0D108BD9-81ED-4DB2-BD59-A6C34878D82A}">
                    <a16:rowId xmlns:a16="http://schemas.microsoft.com/office/drawing/2014/main" val="3194769852"/>
                  </a:ext>
                </a:extLst>
              </a:tr>
              <a:tr h="0">
                <a:tc rowSpan="2">
                  <a:txBody>
                    <a:bodyPr/>
                    <a:lstStyle/>
                    <a:p>
                      <a:pPr algn="l">
                        <a:spcAft>
                          <a:spcPts val="0"/>
                        </a:spcAft>
                      </a:pPr>
                      <a:r>
                        <a:rPr lang="en-US" sz="1600" b="1" kern="0" dirty="0">
                          <a:effectLst/>
                          <a:latin typeface="+mn-ea"/>
                          <a:ea typeface="+mn-ea"/>
                        </a:rPr>
                        <a:t>arch</a:t>
                      </a:r>
                      <a:endParaRPr lang="zh-CN" sz="1600" b="1" kern="100" dirty="0">
                        <a:effectLst/>
                        <a:latin typeface="+mn-ea"/>
                        <a:ea typeface="+mn-ea"/>
                        <a:cs typeface="Times New Roman" panose="02020603050405020304" pitchFamily="18" charset="0"/>
                      </a:endParaRPr>
                    </a:p>
                  </a:txBody>
                  <a:tcPr marL="123825" marR="123825" marT="57150" marB="57150" anchor="ctr"/>
                </a:tc>
                <a:tc rowSpan="2">
                  <a:txBody>
                    <a:bodyPr/>
                    <a:lstStyle/>
                    <a:p>
                      <a:pPr algn="l">
                        <a:spcAft>
                          <a:spcPts val="0"/>
                        </a:spcAft>
                      </a:pPr>
                      <a:r>
                        <a:rPr lang="en-US" sz="1600" b="1" kern="0" dirty="0">
                          <a:effectLst/>
                          <a:latin typeface="+mn-ea"/>
                          <a:ea typeface="+mn-ea"/>
                        </a:rPr>
                        <a:t>arm</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latin typeface="+mn-ea"/>
                          <a:ea typeface="+mn-ea"/>
                        </a:rPr>
                        <a:t>arm-m</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latin typeface="+mn-ea"/>
                          <a:ea typeface="+mn-ea"/>
                        </a:rPr>
                        <a:t>M</a:t>
                      </a:r>
                      <a:r>
                        <a:rPr lang="zh-CN" sz="1600" b="1" kern="0" dirty="0">
                          <a:effectLst/>
                          <a:latin typeface="+mn-ea"/>
                          <a:ea typeface="+mn-ea"/>
                        </a:rPr>
                        <a:t>核中断、调度、</a:t>
                      </a:r>
                      <a:r>
                        <a:rPr lang="en-US" sz="1600" b="1" kern="0" dirty="0">
                          <a:effectLst/>
                          <a:latin typeface="+mn-ea"/>
                          <a:ea typeface="+mn-ea"/>
                        </a:rPr>
                        <a:t>tick</a:t>
                      </a:r>
                      <a:r>
                        <a:rPr lang="zh-CN" sz="1600" b="1" kern="0" dirty="0">
                          <a:effectLst/>
                          <a:latin typeface="+mn-ea"/>
                          <a:ea typeface="+mn-ea"/>
                        </a:rPr>
                        <a:t>相关代码</a:t>
                      </a:r>
                      <a:endParaRPr lang="en-US" altLang="zh-CN" sz="1600" b="1" kern="0" dirty="0">
                        <a:effectLst/>
                        <a:latin typeface="+mn-ea"/>
                        <a:ea typeface="+mn-ea"/>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0070C0"/>
                          </a:solidFill>
                          <a:effectLst/>
                          <a:latin typeface="+mn-ea"/>
                          <a:ea typeface="+mn-ea"/>
                          <a:cs typeface="+mn-cs"/>
                        </a:rPr>
                        <a:t>./cortex-m3/</a:t>
                      </a:r>
                      <a:r>
                        <a:rPr lang="en-US" altLang="zh-CN" sz="1600" b="1" kern="1200" dirty="0" err="1">
                          <a:solidFill>
                            <a:srgbClr val="0070C0"/>
                          </a:solidFill>
                          <a:effectLst/>
                          <a:latin typeface="+mn-ea"/>
                          <a:ea typeface="+mn-ea"/>
                          <a:cs typeface="+mn-cs"/>
                        </a:rPr>
                        <a:t>keil</a:t>
                      </a:r>
                      <a:r>
                        <a:rPr lang="en-US" altLang="zh-CN" sz="1600" b="1" kern="1200" dirty="0">
                          <a:solidFill>
                            <a:srgbClr val="0070C0"/>
                          </a:solidFill>
                          <a:effectLst/>
                          <a:latin typeface="+mn-ea"/>
                          <a:ea typeface="+mn-ea"/>
                          <a:cs typeface="+mn-cs"/>
                        </a:rPr>
                        <a:t>/ </a:t>
                      </a:r>
                      <a:r>
                        <a:rPr lang="en-US" altLang="zh-CN" sz="1600" b="1" kern="1200" dirty="0" err="1">
                          <a:solidFill>
                            <a:srgbClr val="0070C0"/>
                          </a:solidFill>
                          <a:effectLst/>
                          <a:latin typeface="+mn-ea"/>
                          <a:ea typeface="+mn-ea"/>
                          <a:cs typeface="+mn-cs"/>
                        </a:rPr>
                        <a:t>los_dispatch_keil.S</a:t>
                      </a:r>
                      <a:r>
                        <a:rPr lang="zh-CN" altLang="en-US" sz="1600" b="1" kern="1200" dirty="0">
                          <a:solidFill>
                            <a:srgbClr val="0070C0"/>
                          </a:solidFill>
                          <a:effectLst/>
                          <a:latin typeface="+mn-ea"/>
                          <a:ea typeface="+mn-ea"/>
                          <a:cs typeface="+mn-cs"/>
                        </a:rPr>
                        <a:t>：</a:t>
                      </a:r>
                      <a:r>
                        <a:rPr lang="zh-CN" altLang="en-US" sz="1600" b="1" kern="1200" dirty="0">
                          <a:solidFill>
                            <a:srgbClr val="C00000"/>
                          </a:solidFill>
                          <a:effectLst/>
                          <a:latin typeface="+mn-ea"/>
                          <a:ea typeface="+mn-ea"/>
                          <a:cs typeface="+mn-cs"/>
                        </a:rPr>
                        <a:t>定义了</a:t>
                      </a:r>
                      <a:r>
                        <a:rPr lang="en-US" altLang="zh-CN" sz="1600" b="1" kern="1200" dirty="0" err="1">
                          <a:solidFill>
                            <a:srgbClr val="C00000"/>
                          </a:solidFill>
                          <a:effectLst/>
                          <a:latin typeface="+mn-ea"/>
                          <a:ea typeface="+mn-ea"/>
                          <a:cs typeface="+mn-cs"/>
                        </a:rPr>
                        <a:t>LOS_StartToRun</a:t>
                      </a:r>
                      <a:r>
                        <a:rPr lang="en-US" altLang="zh-CN" sz="1600" b="1" kern="1200" dirty="0">
                          <a:solidFill>
                            <a:srgbClr val="C00000"/>
                          </a:solidFill>
                          <a:effectLst/>
                          <a:latin typeface="+mn-ea"/>
                          <a:ea typeface="+mn-ea"/>
                          <a:cs typeface="+mn-cs"/>
                        </a:rPr>
                        <a:t>()</a:t>
                      </a:r>
                      <a:r>
                        <a:rPr lang="zh-CN" altLang="en-US" sz="1600" b="1" kern="1200" dirty="0">
                          <a:solidFill>
                            <a:srgbClr val="C00000"/>
                          </a:solidFill>
                          <a:effectLst/>
                          <a:latin typeface="+mn-ea"/>
                          <a:ea typeface="+mn-ea"/>
                          <a:cs typeface="+mn-cs"/>
                        </a:rPr>
                        <a:t>函数</a:t>
                      </a:r>
                      <a:endParaRPr lang="en-US" altLang="zh-CN" sz="1600" b="1" kern="1200" dirty="0">
                        <a:solidFill>
                          <a:srgbClr val="C00000"/>
                        </a:solidFill>
                        <a:effectLst/>
                        <a:latin typeface="+mn-ea"/>
                        <a:ea typeface="+mn-ea"/>
                        <a:cs typeface="+mn-cs"/>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1600" b="1" kern="1200" dirty="0">
                          <a:solidFill>
                            <a:srgbClr val="C00000"/>
                          </a:solidFill>
                          <a:effectLst/>
                          <a:latin typeface="+mn-ea"/>
                          <a:ea typeface="+mn-ea"/>
                          <a:cs typeface="+mn-cs"/>
                        </a:rPr>
                        <a:t>该函数在</a:t>
                      </a:r>
                      <a:r>
                        <a:rPr lang="en-US" altLang="zh-CN" sz="1600" b="1" kern="1200" dirty="0" err="1">
                          <a:solidFill>
                            <a:srgbClr val="C00000"/>
                          </a:solidFill>
                          <a:effectLst/>
                          <a:latin typeface="+mn-ea"/>
                          <a:ea typeface="+mn-ea"/>
                          <a:cs typeface="+mn-cs"/>
                        </a:rPr>
                        <a:t>LOS_Start</a:t>
                      </a:r>
                      <a:r>
                        <a:rPr lang="en-US" altLang="zh-CN" sz="1600" b="1" kern="1200" dirty="0">
                          <a:solidFill>
                            <a:srgbClr val="C00000"/>
                          </a:solidFill>
                          <a:effectLst/>
                          <a:latin typeface="+mn-ea"/>
                          <a:ea typeface="+mn-ea"/>
                          <a:cs typeface="+mn-cs"/>
                        </a:rPr>
                        <a:t>()</a:t>
                      </a:r>
                      <a:r>
                        <a:rPr lang="zh-CN" altLang="en-US" sz="1600" b="1" kern="1200" dirty="0">
                          <a:solidFill>
                            <a:srgbClr val="C00000"/>
                          </a:solidFill>
                          <a:effectLst/>
                          <a:latin typeface="+mn-ea"/>
                          <a:ea typeface="+mn-ea"/>
                          <a:cs typeface="+mn-cs"/>
                        </a:rPr>
                        <a:t>中调用</a:t>
                      </a:r>
                      <a:endParaRPr lang="zh-CN" altLang="zh-CN" sz="1600" b="1" kern="1200" dirty="0">
                        <a:solidFill>
                          <a:srgbClr val="C00000"/>
                        </a:solidFill>
                        <a:effectLst/>
                        <a:latin typeface="+mn-ea"/>
                        <a:ea typeface="+mn-ea"/>
                        <a:cs typeface="+mn-cs"/>
                      </a:endParaRPr>
                    </a:p>
                  </a:txBody>
                  <a:tcPr marL="123825" marR="123825" marT="57150" marB="57150" anchor="ctr"/>
                </a:tc>
                <a:extLst>
                  <a:ext uri="{0D108BD9-81ED-4DB2-BD59-A6C34878D82A}">
                    <a16:rowId xmlns:a16="http://schemas.microsoft.com/office/drawing/2014/main" val="1758253181"/>
                  </a:ext>
                </a:extLst>
              </a:tr>
              <a:tr h="0">
                <a:tc vMerge="1">
                  <a:txBody>
                    <a:bodyPr/>
                    <a:lstStyle/>
                    <a:p>
                      <a:endParaRPr lang="zh-CN" sz="1600" b="1" kern="100" dirty="0">
                        <a:effectLst/>
                        <a:latin typeface="+mn-ea"/>
                        <a:ea typeface="+mn-ea"/>
                      </a:endParaRPr>
                    </a:p>
                  </a:txBody>
                  <a:tcPr marL="123825" marR="123825" marT="57150" marB="57150" anchor="ctr"/>
                </a:tc>
                <a:tc vMerge="1">
                  <a:txBody>
                    <a:bodyPr/>
                    <a:lstStyle/>
                    <a:p>
                      <a:endParaRPr lang="zh-CN" sz="1600" b="1" kern="100" dirty="0">
                        <a:effectLst/>
                        <a:latin typeface="+mn-ea"/>
                        <a:ea typeface="+mn-ea"/>
                      </a:endParaRPr>
                    </a:p>
                  </a:txBody>
                  <a:tcPr marL="123825" marR="123825" marT="57150" marB="57150" anchor="ctr"/>
                </a:tc>
                <a:tc>
                  <a:txBody>
                    <a:bodyPr/>
                    <a:lstStyle/>
                    <a:p>
                      <a:pPr algn="l">
                        <a:spcAft>
                          <a:spcPts val="0"/>
                        </a:spcAft>
                      </a:pPr>
                      <a:r>
                        <a:rPr lang="en-US" sz="1600" b="1" kern="0" dirty="0">
                          <a:effectLst/>
                          <a:latin typeface="+mn-ea"/>
                          <a:ea typeface="+mn-ea"/>
                        </a:rPr>
                        <a:t>Common</a:t>
                      </a:r>
                      <a:endParaRPr lang="zh-CN" sz="1600" b="1" kern="100" dirty="0">
                        <a:effectLst/>
                        <a:latin typeface="+mn-ea"/>
                        <a:ea typeface="+mn-ea"/>
                      </a:endParaRPr>
                    </a:p>
                    <a:p>
                      <a:pPr algn="l">
                        <a:spcAft>
                          <a:spcPts val="0"/>
                        </a:spcAft>
                      </a:pPr>
                      <a:r>
                        <a:rPr lang="zh-CN" sz="1600" b="1" kern="0" dirty="0">
                          <a:effectLst/>
                          <a:latin typeface="+mn-ea"/>
                          <a:ea typeface="+mn-ea"/>
                        </a:rPr>
                        <a:t>（下有</a:t>
                      </a:r>
                      <a:r>
                        <a:rPr lang="en-US" sz="1600" b="1" kern="0" dirty="0">
                          <a:effectLst/>
                          <a:latin typeface="+mn-ea"/>
                          <a:ea typeface="+mn-ea"/>
                        </a:rPr>
                        <a:t>CMSIS</a:t>
                      </a:r>
                      <a:r>
                        <a:rPr lang="zh-CN" sz="1600" b="1" kern="0" dirty="0">
                          <a:effectLst/>
                          <a:latin typeface="+mn-ea"/>
                          <a:ea typeface="+mn-ea"/>
                        </a:rPr>
                        <a:t>目录）</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latin typeface="+mn-ea"/>
                          <a:ea typeface="+mn-ea"/>
                        </a:rPr>
                        <a:t>arm</a:t>
                      </a:r>
                      <a:r>
                        <a:rPr lang="zh-CN" sz="1600" b="1" kern="0" dirty="0">
                          <a:effectLst/>
                          <a:latin typeface="+mn-ea"/>
                          <a:ea typeface="+mn-ea"/>
                        </a:rPr>
                        <a:t>核公用的</a:t>
                      </a:r>
                      <a:r>
                        <a:rPr lang="en-US" sz="1600" b="1" kern="0" dirty="0" err="1">
                          <a:effectLst/>
                          <a:latin typeface="+mn-ea"/>
                          <a:ea typeface="+mn-ea"/>
                        </a:rPr>
                        <a:t>cmsis</a:t>
                      </a:r>
                      <a:r>
                        <a:rPr lang="en-US" sz="1600" b="1" kern="0" dirty="0">
                          <a:effectLst/>
                          <a:latin typeface="+mn-ea"/>
                          <a:ea typeface="+mn-ea"/>
                        </a:rPr>
                        <a:t> core</a:t>
                      </a:r>
                      <a:r>
                        <a:rPr lang="zh-CN" sz="1600" b="1" kern="0" dirty="0">
                          <a:effectLst/>
                          <a:latin typeface="+mn-ea"/>
                          <a:ea typeface="+mn-ea"/>
                        </a:rPr>
                        <a:t>接口</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4268080643"/>
                  </a:ext>
                </a:extLst>
              </a:tr>
              <a:tr h="0">
                <a:tc rowSpan="5">
                  <a:txBody>
                    <a:bodyPr/>
                    <a:lstStyle/>
                    <a:p>
                      <a:pPr algn="l">
                        <a:spcAft>
                          <a:spcPts val="0"/>
                        </a:spcAft>
                      </a:pPr>
                      <a:r>
                        <a:rPr lang="en-US" sz="1600" b="1" kern="0" dirty="0">
                          <a:effectLst/>
                          <a:latin typeface="+mn-ea"/>
                          <a:ea typeface="+mn-ea"/>
                        </a:rPr>
                        <a:t>components</a:t>
                      </a:r>
                      <a:endParaRPr lang="zh-CN" sz="1600" b="1" kern="100" dirty="0">
                        <a:effectLst/>
                        <a:latin typeface="+mn-ea"/>
                        <a:ea typeface="+mn-ea"/>
                        <a:cs typeface="Times New Roman" panose="02020603050405020304" pitchFamily="18" charset="0"/>
                      </a:endParaRPr>
                    </a:p>
                  </a:txBody>
                  <a:tcPr marL="123825" marR="123825" marT="57150" marB="57150" anchor="ctr"/>
                </a:tc>
                <a:tc rowSpan="5">
                  <a:txBody>
                    <a:bodyPr/>
                    <a:lstStyle/>
                    <a:p>
                      <a:pPr algn="l">
                        <a:spcAft>
                          <a:spcPts val="0"/>
                        </a:spcAft>
                      </a:pPr>
                      <a:r>
                        <a:rPr lang="en-US" sz="1600" b="1" kern="0" dirty="0">
                          <a:effectLst/>
                          <a:latin typeface="+mn-ea"/>
                          <a:ea typeface="+mn-ea"/>
                        </a:rPr>
                        <a:t>connectivity</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latin typeface="+mn-ea"/>
                          <a:ea typeface="+mn-ea"/>
                        </a:rPr>
                        <a:t>agent_tiny</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latin typeface="+mn-ea"/>
                          <a:ea typeface="+mn-ea"/>
                        </a:rPr>
                        <a:t>agent_tiny</a:t>
                      </a:r>
                      <a:r>
                        <a:rPr lang="zh-CN" sz="1600" b="1" kern="0" dirty="0">
                          <a:effectLst/>
                          <a:latin typeface="+mn-ea"/>
                          <a:ea typeface="+mn-ea"/>
                        </a:rPr>
                        <a:t>端云互通组件，包括公共头文件、示例代码、客户端实现代码、操作系统适配层代码</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3820307987"/>
                  </a:ext>
                </a:extLst>
              </a:tr>
              <a:tr h="0">
                <a:tc vMerge="1">
                  <a:txBody>
                    <a:bodyPr/>
                    <a:lstStyle/>
                    <a:p>
                      <a:endParaRPr lang="zh-CN" sz="1600" b="1" kern="100" dirty="0">
                        <a:effectLst/>
                        <a:latin typeface="+mn-ea"/>
                        <a:ea typeface="+mn-ea"/>
                      </a:endParaRPr>
                    </a:p>
                  </a:txBody>
                  <a:tcPr marL="123825" marR="123825" marT="57150" marB="57150" anchor="ctr"/>
                </a:tc>
                <a:tc vMerge="1">
                  <a:txBody>
                    <a:bodyPr/>
                    <a:lstStyle/>
                    <a:p>
                      <a:endParaRPr lang="zh-CN" sz="1600" b="1" kern="100" dirty="0">
                        <a:effectLst/>
                        <a:latin typeface="+mn-ea"/>
                        <a:ea typeface="+mn-ea"/>
                      </a:endParaRPr>
                    </a:p>
                  </a:txBody>
                  <a:tcPr marL="123825" marR="123825" marT="57150" marB="57150" anchor="ctr"/>
                </a:tc>
                <a:tc>
                  <a:txBody>
                    <a:bodyPr/>
                    <a:lstStyle/>
                    <a:p>
                      <a:pPr algn="l">
                        <a:spcAft>
                          <a:spcPts val="0"/>
                        </a:spcAft>
                      </a:pPr>
                      <a:r>
                        <a:rPr lang="en-US" sz="1600" b="1" kern="0" dirty="0" err="1">
                          <a:effectLst/>
                          <a:latin typeface="+mn-ea"/>
                          <a:ea typeface="+mn-ea"/>
                        </a:rPr>
                        <a:t>at_frame</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latin typeface="+mn-ea"/>
                          <a:ea typeface="+mn-ea"/>
                        </a:rPr>
                        <a:t>LiteOS</a:t>
                      </a:r>
                      <a:r>
                        <a:rPr lang="en-US" sz="1600" b="1" kern="0" dirty="0">
                          <a:effectLst/>
                          <a:latin typeface="+mn-ea"/>
                          <a:ea typeface="+mn-ea"/>
                        </a:rPr>
                        <a:t> AT</a:t>
                      </a:r>
                      <a:r>
                        <a:rPr lang="zh-CN" sz="1600" b="1" kern="0" dirty="0">
                          <a:effectLst/>
                          <a:latin typeface="+mn-ea"/>
                          <a:ea typeface="+mn-ea"/>
                        </a:rPr>
                        <a:t>框架实现</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827587986"/>
                  </a:ext>
                </a:extLst>
              </a:tr>
              <a:tr h="0">
                <a:tc vMerge="1">
                  <a:txBody>
                    <a:bodyPr/>
                    <a:lstStyle/>
                    <a:p>
                      <a:endParaRPr lang="zh-CN" sz="1600" b="1" kern="100" dirty="0">
                        <a:effectLst/>
                        <a:latin typeface="+mn-ea"/>
                        <a:ea typeface="+mn-ea"/>
                      </a:endParaRPr>
                    </a:p>
                  </a:txBody>
                  <a:tcPr marL="123825" marR="123825" marT="57150" marB="57150" anchor="ctr"/>
                </a:tc>
                <a:tc vMerge="1">
                  <a:txBody>
                    <a:bodyPr/>
                    <a:lstStyle/>
                    <a:p>
                      <a:endParaRPr lang="zh-CN" sz="1600" b="1" kern="100" dirty="0">
                        <a:effectLst/>
                        <a:latin typeface="+mn-ea"/>
                        <a:ea typeface="+mn-ea"/>
                      </a:endParaRPr>
                    </a:p>
                  </a:txBody>
                  <a:tcPr marL="123825" marR="123825" marT="57150" marB="57150" anchor="ctr"/>
                </a:tc>
                <a:tc>
                  <a:txBody>
                    <a:bodyPr/>
                    <a:lstStyle/>
                    <a:p>
                      <a:pPr algn="l">
                        <a:spcAft>
                          <a:spcPts val="0"/>
                        </a:spcAft>
                      </a:pPr>
                      <a:r>
                        <a:rPr lang="en-US" sz="1600" b="1" kern="0" dirty="0">
                          <a:effectLst/>
                          <a:latin typeface="+mn-ea"/>
                          <a:ea typeface="+mn-ea"/>
                        </a:rPr>
                        <a:t>lwm2m</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latin typeface="+mn-ea"/>
                          <a:ea typeface="+mn-ea"/>
                        </a:rPr>
                        <a:t>lwm2m</a:t>
                      </a:r>
                      <a:r>
                        <a:rPr lang="zh-CN" sz="1600" b="1" kern="0" dirty="0">
                          <a:effectLst/>
                          <a:latin typeface="+mn-ea"/>
                          <a:ea typeface="+mn-ea"/>
                        </a:rPr>
                        <a:t>协议实现</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2816838026"/>
                  </a:ext>
                </a:extLst>
              </a:tr>
              <a:tr h="0">
                <a:tc vMerge="1">
                  <a:txBody>
                    <a:bodyPr/>
                    <a:lstStyle/>
                    <a:p>
                      <a:endParaRPr lang="zh-CN" sz="1600" b="1" kern="100" dirty="0">
                        <a:effectLst/>
                        <a:latin typeface="+mn-ea"/>
                        <a:ea typeface="+mn-ea"/>
                      </a:endParaRPr>
                    </a:p>
                  </a:txBody>
                  <a:tcPr marL="123825" marR="123825" marT="57150" marB="57150" anchor="ctr"/>
                </a:tc>
                <a:tc vMerge="1">
                  <a:txBody>
                    <a:bodyPr/>
                    <a:lstStyle/>
                    <a:p>
                      <a:endParaRPr lang="zh-CN" sz="1600" b="1" kern="100" dirty="0">
                        <a:effectLst/>
                        <a:latin typeface="+mn-ea"/>
                        <a:ea typeface="+mn-ea"/>
                      </a:endParaRPr>
                    </a:p>
                  </a:txBody>
                  <a:tcPr marL="123825" marR="123825" marT="57150" marB="57150" anchor="ctr"/>
                </a:tc>
                <a:tc>
                  <a:txBody>
                    <a:bodyPr/>
                    <a:lstStyle/>
                    <a:p>
                      <a:pPr algn="l">
                        <a:spcAft>
                          <a:spcPts val="0"/>
                        </a:spcAft>
                      </a:pPr>
                      <a:r>
                        <a:rPr lang="en-US" sz="1600" b="1" kern="0" dirty="0" err="1">
                          <a:effectLst/>
                          <a:latin typeface="+mn-ea"/>
                          <a:ea typeface="+mn-ea"/>
                        </a:rPr>
                        <a:t>nbiot</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latin typeface="+mn-ea"/>
                          <a:ea typeface="+mn-ea"/>
                        </a:rPr>
                        <a:t>LiteOS</a:t>
                      </a:r>
                      <a:r>
                        <a:rPr lang="en-US" sz="1600" b="1" kern="0" dirty="0">
                          <a:effectLst/>
                          <a:latin typeface="+mn-ea"/>
                          <a:ea typeface="+mn-ea"/>
                        </a:rPr>
                        <a:t> NB-</a:t>
                      </a:r>
                      <a:r>
                        <a:rPr lang="en-US" sz="1600" b="1" kern="0" dirty="0" err="1">
                          <a:effectLst/>
                          <a:latin typeface="+mn-ea"/>
                          <a:ea typeface="+mn-ea"/>
                        </a:rPr>
                        <a:t>IoT</a:t>
                      </a:r>
                      <a:r>
                        <a:rPr lang="en-US" sz="1600" b="1" kern="0" dirty="0">
                          <a:effectLst/>
                          <a:latin typeface="+mn-ea"/>
                          <a:ea typeface="+mn-ea"/>
                        </a:rPr>
                        <a:t> API</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204289302"/>
                  </a:ext>
                </a:extLst>
              </a:tr>
              <a:tr h="0">
                <a:tc vMerge="1">
                  <a:txBody>
                    <a:bodyPr/>
                    <a:lstStyle/>
                    <a:p>
                      <a:endParaRPr lang="zh-CN" sz="1600" b="1" kern="100" dirty="0">
                        <a:effectLst/>
                        <a:latin typeface="+mn-ea"/>
                        <a:ea typeface="+mn-ea"/>
                      </a:endParaRPr>
                    </a:p>
                  </a:txBody>
                  <a:tcPr marL="123825" marR="123825" marT="57150" marB="57150" anchor="ctr"/>
                </a:tc>
                <a:tc vMerge="1">
                  <a:txBody>
                    <a:bodyPr/>
                    <a:lstStyle/>
                    <a:p>
                      <a:endParaRPr lang="zh-CN" sz="1600" b="1" kern="100" dirty="0">
                        <a:effectLst/>
                        <a:latin typeface="+mn-ea"/>
                        <a:ea typeface="+mn-ea"/>
                      </a:endParaRPr>
                    </a:p>
                  </a:txBody>
                  <a:tcPr marL="123825" marR="123825" marT="57150" marB="57150" anchor="ctr"/>
                </a:tc>
                <a:tc>
                  <a:txBody>
                    <a:bodyPr/>
                    <a:lstStyle/>
                    <a:p>
                      <a:pPr algn="l">
                        <a:spcAft>
                          <a:spcPts val="0"/>
                        </a:spcAft>
                      </a:pPr>
                      <a:r>
                        <a:rPr lang="en-US" sz="1600" b="1" kern="0" dirty="0">
                          <a:effectLst/>
                          <a:latin typeface="+mn-ea"/>
                          <a:ea typeface="+mn-ea"/>
                        </a:rPr>
                        <a:t>paho.mqtt.embedded-c-1.1.0</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latin typeface="+mn-ea"/>
                          <a:ea typeface="+mn-ea"/>
                        </a:rPr>
                        <a:t>MQTT</a:t>
                      </a:r>
                      <a:r>
                        <a:rPr lang="zh-CN" sz="1600" b="1" kern="0" dirty="0">
                          <a:effectLst/>
                          <a:latin typeface="+mn-ea"/>
                          <a:ea typeface="+mn-ea"/>
                        </a:rPr>
                        <a:t>开源协议实现</a:t>
                      </a:r>
                      <a:endParaRPr lang="zh-CN" sz="1600" b="1" kern="100" dirty="0">
                        <a:effectLst/>
                        <a:latin typeface="+mn-ea"/>
                        <a:ea typeface="+mn-ea"/>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mn-ea"/>
                        <a:ea typeface="+mn-ea"/>
                        <a:cs typeface="Times New Roman" panose="02020603050405020304" pitchFamily="18" charset="0"/>
                      </a:endParaRPr>
                    </a:p>
                  </a:txBody>
                  <a:tcPr marL="123825" marR="123825" marT="57150" marB="57150" anchor="ctr"/>
                </a:tc>
                <a:extLst>
                  <a:ext uri="{0D108BD9-81ED-4DB2-BD59-A6C34878D82A}">
                    <a16:rowId xmlns:a16="http://schemas.microsoft.com/office/drawing/2014/main" val="151205865"/>
                  </a:ext>
                </a:extLst>
              </a:tr>
            </a:tbl>
          </a:graphicData>
        </a:graphic>
      </p:graphicFrame>
    </p:spTree>
    <p:extLst>
      <p:ext uri="{BB962C8B-B14F-4D97-AF65-F5344CB8AC3E}">
        <p14:creationId xmlns:p14="http://schemas.microsoft.com/office/powerpoint/2010/main" val="457794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文件</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graphicFrame>
        <p:nvGraphicFramePr>
          <p:cNvPr id="4" name="表格 3"/>
          <p:cNvGraphicFramePr>
            <a:graphicFrameLocks noGrp="1"/>
          </p:cNvGraphicFramePr>
          <p:nvPr>
            <p:extLst>
              <p:ext uri="{D42A27DB-BD31-4B8C-83A1-F6EECF244321}">
                <p14:modId xmlns:p14="http://schemas.microsoft.com/office/powerpoint/2010/main" val="1062599087"/>
              </p:ext>
            </p:extLst>
          </p:nvPr>
        </p:nvGraphicFramePr>
        <p:xfrm>
          <a:off x="171133" y="854832"/>
          <a:ext cx="11849735" cy="3843675"/>
        </p:xfrm>
        <a:graphic>
          <a:graphicData uri="http://schemas.openxmlformats.org/drawingml/2006/table">
            <a:tbl>
              <a:tblPr firstRow="1" firstCol="1" bandRow="1">
                <a:tableStyleId>{5C22544A-7EE6-4342-B048-85BDC9FD1C3A}</a:tableStyleId>
              </a:tblPr>
              <a:tblGrid>
                <a:gridCol w="1126724">
                  <a:extLst>
                    <a:ext uri="{9D8B030D-6E8A-4147-A177-3AD203B41FA5}">
                      <a16:colId xmlns:a16="http://schemas.microsoft.com/office/drawing/2014/main" val="3221180688"/>
                    </a:ext>
                  </a:extLst>
                </a:gridCol>
                <a:gridCol w="1071716">
                  <a:extLst>
                    <a:ext uri="{9D8B030D-6E8A-4147-A177-3AD203B41FA5}">
                      <a16:colId xmlns:a16="http://schemas.microsoft.com/office/drawing/2014/main" val="4232262690"/>
                    </a:ext>
                  </a:extLst>
                </a:gridCol>
                <a:gridCol w="2754877">
                  <a:extLst>
                    <a:ext uri="{9D8B030D-6E8A-4147-A177-3AD203B41FA5}">
                      <a16:colId xmlns:a16="http://schemas.microsoft.com/office/drawing/2014/main" val="1763792809"/>
                    </a:ext>
                  </a:extLst>
                </a:gridCol>
                <a:gridCol w="3223136">
                  <a:extLst>
                    <a:ext uri="{9D8B030D-6E8A-4147-A177-3AD203B41FA5}">
                      <a16:colId xmlns:a16="http://schemas.microsoft.com/office/drawing/2014/main" val="3356081252"/>
                    </a:ext>
                  </a:extLst>
                </a:gridCol>
                <a:gridCol w="3673282">
                  <a:extLst>
                    <a:ext uri="{9D8B030D-6E8A-4147-A177-3AD203B41FA5}">
                      <a16:colId xmlns:a16="http://schemas.microsoft.com/office/drawing/2014/main" val="2665520369"/>
                    </a:ext>
                  </a:extLst>
                </a:gridCol>
              </a:tblGrid>
              <a:tr h="0">
                <a:tc>
                  <a:txBody>
                    <a:bodyPr/>
                    <a:lstStyle/>
                    <a:p>
                      <a:pPr algn="just">
                        <a:spcAft>
                          <a:spcPts val="0"/>
                        </a:spcAft>
                      </a:pPr>
                      <a:r>
                        <a:rPr lang="zh-CN" sz="1600" b="1" kern="0" dirty="0">
                          <a:effectLst/>
                        </a:rPr>
                        <a:t>一级目录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just">
                        <a:spcAft>
                          <a:spcPts val="0"/>
                        </a:spcAft>
                      </a:pPr>
                      <a:r>
                        <a:rPr lang="zh-CN" sz="1600" b="1" kern="0">
                          <a:effectLst/>
                        </a:rPr>
                        <a:t>二级目录</a:t>
                      </a:r>
                      <a:endParaRPr lang="zh-CN" sz="1600" b="1" kern="10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三级目录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说明</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1600" b="1" kern="0" dirty="0">
                          <a:solidFill>
                            <a:schemeClr val="lt1"/>
                          </a:solidFill>
                          <a:effectLst/>
                          <a:latin typeface="+mn-ea"/>
                          <a:ea typeface="+mn-ea"/>
                          <a:cs typeface="+mn-cs"/>
                        </a:rPr>
                        <a:t>重点文件及内容</a:t>
                      </a:r>
                      <a:endParaRPr lang="zh-CN" altLang="zh-CN" sz="1600" b="1" kern="0" dirty="0">
                        <a:solidFill>
                          <a:schemeClr val="lt1"/>
                        </a:solidFill>
                        <a:effectLst/>
                        <a:latin typeface="+mn-ea"/>
                        <a:ea typeface="+mn-ea"/>
                        <a:cs typeface="+mn-cs"/>
                      </a:endParaRPr>
                    </a:p>
                  </a:txBody>
                  <a:tcPr marL="123825" marR="123825" marT="57150" marB="57150" anchor="ctr"/>
                </a:tc>
                <a:extLst>
                  <a:ext uri="{0D108BD9-81ED-4DB2-BD59-A6C34878D82A}">
                    <a16:rowId xmlns:a16="http://schemas.microsoft.com/office/drawing/2014/main" val="3194769852"/>
                  </a:ext>
                </a:extLst>
              </a:tr>
              <a:tr h="0">
                <a:tc rowSpan="7">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err="1">
                          <a:effectLst/>
                        </a:rPr>
                        <a:t>ota</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endParaRPr lang="zh-CN" sz="1600" b="1" kern="100">
                        <a:effectLst/>
                        <a:latin typeface="等线" panose="02010600030101010101" pitchFamily="2" charset="-122"/>
                        <a:ea typeface="等线" panose="02010600030101010101" pitchFamily="2" charset="-122"/>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zh-CN" sz="1600" b="1" kern="0" dirty="0">
                          <a:effectLst/>
                        </a:rPr>
                        <a:t>固件升级代码</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algn="l" defTabSz="914354" rtl="0" eaLnBrk="1" latinLnBrk="0" hangingPunct="1">
                        <a:spcAft>
                          <a:spcPts val="0"/>
                        </a:spcAft>
                      </a:pPr>
                      <a:endParaRPr lang="zh-CN" sz="1600" b="1" kern="0" dirty="0">
                        <a:solidFill>
                          <a:schemeClr val="dk1"/>
                        </a:solidFill>
                        <a:effectLst/>
                        <a:latin typeface="+mn-lt"/>
                        <a:ea typeface="+mn-ea"/>
                        <a:cs typeface="+mn-cs"/>
                      </a:endParaRPr>
                    </a:p>
                  </a:txBody>
                  <a:tcPr marL="123825" marR="123825" marT="57150" marB="57150" anchor="ctr"/>
                </a:tc>
                <a:extLst>
                  <a:ext uri="{0D108BD9-81ED-4DB2-BD59-A6C34878D82A}">
                    <a16:rowId xmlns:a16="http://schemas.microsoft.com/office/drawing/2014/main" val="2154532675"/>
                  </a:ext>
                </a:extLst>
              </a:tr>
              <a:tr h="0">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fs</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zh-CN" sz="1600" b="1" kern="0" dirty="0">
                          <a:effectLst/>
                        </a:rPr>
                        <a:t>文件系统，含</a:t>
                      </a:r>
                      <a:r>
                        <a:rPr lang="en-US" sz="1600" b="1" kern="0" dirty="0">
                          <a:effectLst/>
                        </a:rPr>
                        <a:t>VFS</a:t>
                      </a:r>
                      <a:r>
                        <a:rPr lang="zh-CN" sz="1600" b="1" kern="0" dirty="0">
                          <a:effectLst/>
                        </a:rPr>
                        <a:t>、</a:t>
                      </a:r>
                      <a:r>
                        <a:rPr lang="en-US" sz="1600" b="1" kern="0" dirty="0">
                          <a:effectLst/>
                        </a:rPr>
                        <a:t>spiffs</a:t>
                      </a:r>
                      <a:r>
                        <a:rPr lang="zh-CN" sz="1600" b="1" kern="0" dirty="0">
                          <a:effectLst/>
                        </a:rPr>
                        <a:t>、</a:t>
                      </a:r>
                      <a:r>
                        <a:rPr lang="en-US" sz="1600" b="1" kern="0" dirty="0" err="1">
                          <a:effectLst/>
                        </a:rPr>
                        <a:t>ramfs</a:t>
                      </a:r>
                      <a:r>
                        <a:rPr lang="zh-CN" sz="1600" b="1" kern="0" dirty="0">
                          <a:effectLst/>
                        </a:rPr>
                        <a:t>、</a:t>
                      </a:r>
                      <a:r>
                        <a:rPr lang="en-US" sz="1600" b="1" kern="0" dirty="0" err="1">
                          <a:effectLst/>
                        </a:rPr>
                        <a:t>kifs</a:t>
                      </a:r>
                      <a:r>
                        <a:rPr lang="zh-CN" sz="1600" b="1" kern="0" dirty="0">
                          <a:effectLst/>
                        </a:rPr>
                        <a:t>、</a:t>
                      </a:r>
                      <a:r>
                        <a:rPr lang="en-US" sz="1600" b="1" kern="0" dirty="0" err="1">
                          <a:effectLst/>
                        </a:rPr>
                        <a:t>devfs</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159090787"/>
                  </a:ext>
                </a:extLst>
              </a:tr>
              <a:tr h="489646">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lib</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1" kern="0" dirty="0" err="1">
                          <a:effectLst/>
                        </a:rPr>
                        <a:t>libc</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LiteOS</a:t>
                      </a:r>
                      <a:r>
                        <a:rPr lang="en-US" sz="1600" b="1" kern="0" dirty="0">
                          <a:effectLst/>
                        </a:rPr>
                        <a:t> </a:t>
                      </a:r>
                      <a:r>
                        <a:rPr lang="en-US" sz="1600" b="1" kern="0" dirty="0" err="1">
                          <a:effectLst/>
                        </a:rPr>
                        <a:t>libc</a:t>
                      </a:r>
                      <a:r>
                        <a:rPr lang="zh-CN" sz="1600" b="1" kern="0" dirty="0">
                          <a:effectLst/>
                        </a:rPr>
                        <a:t>优化</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2362857724"/>
                  </a:ext>
                </a:extLst>
              </a:tr>
              <a:tr h="0">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rowSpan="2">
                  <a:txBody>
                    <a:bodyPr/>
                    <a:lstStyle/>
                    <a:p>
                      <a:pPr algn="l">
                        <a:spcAft>
                          <a:spcPts val="0"/>
                        </a:spcAft>
                      </a:pPr>
                      <a:r>
                        <a:rPr lang="en-US" sz="1600" b="1" kern="0" dirty="0">
                          <a:effectLst/>
                        </a:rPr>
                        <a:t>net</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lwip_port</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lwip</a:t>
                      </a:r>
                      <a:r>
                        <a:rPr lang="zh-CN" sz="1600" b="1" kern="0" dirty="0">
                          <a:effectLst/>
                        </a:rPr>
                        <a:t>驱动及</a:t>
                      </a:r>
                      <a:r>
                        <a:rPr lang="en-US" sz="1600" b="1" kern="0" dirty="0">
                          <a:effectLst/>
                        </a:rPr>
                        <a:t>OS</a:t>
                      </a:r>
                      <a:r>
                        <a:rPr lang="zh-CN" sz="1600" b="1" kern="0" dirty="0">
                          <a:effectLst/>
                        </a:rPr>
                        <a:t>适配代码</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502508964"/>
                  </a:ext>
                </a:extLst>
              </a:tr>
              <a:tr h="961349">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lwip-2.0.3</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lwip</a:t>
                      </a:r>
                      <a:r>
                        <a:rPr lang="zh-CN" sz="1600" b="1" kern="0" dirty="0">
                          <a:effectLst/>
                        </a:rPr>
                        <a:t>协议实现</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069624739"/>
                  </a:ext>
                </a:extLst>
              </a:tr>
              <a:tr h="0">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rowSpan="2">
                  <a:txBody>
                    <a:bodyPr/>
                    <a:lstStyle/>
                    <a:p>
                      <a:pPr algn="l">
                        <a:spcAft>
                          <a:spcPts val="0"/>
                        </a:spcAft>
                      </a:pPr>
                      <a:r>
                        <a:rPr lang="en-US" sz="1600" b="1" kern="0" dirty="0">
                          <a:effectLst/>
                        </a:rPr>
                        <a:t>security</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mbedtls</a:t>
                      </a:r>
                      <a:r>
                        <a:rPr lang="en-US" sz="1600" b="1" kern="0" dirty="0">
                          <a:effectLst/>
                        </a:rPr>
                        <a:t>/</a:t>
                      </a:r>
                      <a:r>
                        <a:rPr lang="en-US" sz="1600" b="1" kern="0" dirty="0" err="1">
                          <a:effectLst/>
                        </a:rPr>
                        <a:t>mbedtls_port</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rPr>
                        <a:t>MBEDTLS</a:t>
                      </a:r>
                      <a:r>
                        <a:rPr lang="zh-CN" sz="1600" b="1" kern="0" dirty="0">
                          <a:effectLst/>
                        </a:rPr>
                        <a:t>的</a:t>
                      </a:r>
                      <a:r>
                        <a:rPr lang="en-US" sz="1600" b="1" kern="0" dirty="0">
                          <a:effectLst/>
                        </a:rPr>
                        <a:t>OS</a:t>
                      </a:r>
                      <a:r>
                        <a:rPr lang="zh-CN" sz="1600" b="1" kern="0" dirty="0">
                          <a:effectLst/>
                        </a:rPr>
                        <a:t>适配代码</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820943485"/>
                  </a:ext>
                </a:extLst>
              </a:tr>
              <a:tr h="0">
                <a:tc vMerge="1">
                  <a:txBody>
                    <a:bodyPr/>
                    <a:lstStyle/>
                    <a:p>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vMerge="1">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0" dirty="0" err="1">
                          <a:effectLst/>
                        </a:rPr>
                        <a:t>mbedtls</a:t>
                      </a:r>
                      <a:r>
                        <a:rPr lang="en-US" altLang="zh-CN" sz="1600" b="1" kern="0" dirty="0">
                          <a:effectLst/>
                        </a:rPr>
                        <a:t>/mbedtl-2.6.0</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0" dirty="0">
                          <a:effectLst/>
                        </a:rPr>
                        <a:t>MBEDTLS</a:t>
                      </a:r>
                      <a:r>
                        <a:rPr lang="zh-CN" altLang="zh-CN" sz="1600" b="1" kern="0" dirty="0">
                          <a:effectLst/>
                        </a:rPr>
                        <a:t>协议实现</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70765673"/>
                  </a:ext>
                </a:extLst>
              </a:tr>
            </a:tbl>
          </a:graphicData>
        </a:graphic>
      </p:graphicFrame>
    </p:spTree>
    <p:extLst>
      <p:ext uri="{BB962C8B-B14F-4D97-AF65-F5344CB8AC3E}">
        <p14:creationId xmlns:p14="http://schemas.microsoft.com/office/powerpoint/2010/main" val="2723783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文件</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graphicFrame>
        <p:nvGraphicFramePr>
          <p:cNvPr id="2" name="表格 1"/>
          <p:cNvGraphicFramePr>
            <a:graphicFrameLocks noGrp="1"/>
          </p:cNvGraphicFramePr>
          <p:nvPr>
            <p:extLst>
              <p:ext uri="{D42A27DB-BD31-4B8C-83A1-F6EECF244321}">
                <p14:modId xmlns:p14="http://schemas.microsoft.com/office/powerpoint/2010/main" val="3426515539"/>
              </p:ext>
            </p:extLst>
          </p:nvPr>
        </p:nvGraphicFramePr>
        <p:xfrm>
          <a:off x="175261" y="946601"/>
          <a:ext cx="11841479" cy="4572000"/>
        </p:xfrm>
        <a:graphic>
          <a:graphicData uri="http://schemas.openxmlformats.org/drawingml/2006/table">
            <a:tbl>
              <a:tblPr firstRow="1" firstCol="1" bandRow="1">
                <a:tableStyleId>{5C22544A-7EE6-4342-B048-85BDC9FD1C3A}</a:tableStyleId>
              </a:tblPr>
              <a:tblGrid>
                <a:gridCol w="1073436">
                  <a:extLst>
                    <a:ext uri="{9D8B030D-6E8A-4147-A177-3AD203B41FA5}">
                      <a16:colId xmlns:a16="http://schemas.microsoft.com/office/drawing/2014/main" val="3744323411"/>
                    </a:ext>
                  </a:extLst>
                </a:gridCol>
                <a:gridCol w="1091380">
                  <a:extLst>
                    <a:ext uri="{9D8B030D-6E8A-4147-A177-3AD203B41FA5}">
                      <a16:colId xmlns:a16="http://schemas.microsoft.com/office/drawing/2014/main" val="1362270285"/>
                    </a:ext>
                  </a:extLst>
                </a:gridCol>
                <a:gridCol w="1146073">
                  <a:extLst>
                    <a:ext uri="{9D8B030D-6E8A-4147-A177-3AD203B41FA5}">
                      <a16:colId xmlns:a16="http://schemas.microsoft.com/office/drawing/2014/main" val="1074433353"/>
                    </a:ext>
                  </a:extLst>
                </a:gridCol>
                <a:gridCol w="4333875">
                  <a:extLst>
                    <a:ext uri="{9D8B030D-6E8A-4147-A177-3AD203B41FA5}">
                      <a16:colId xmlns:a16="http://schemas.microsoft.com/office/drawing/2014/main" val="3267663267"/>
                    </a:ext>
                  </a:extLst>
                </a:gridCol>
                <a:gridCol w="4196715">
                  <a:extLst>
                    <a:ext uri="{9D8B030D-6E8A-4147-A177-3AD203B41FA5}">
                      <a16:colId xmlns:a16="http://schemas.microsoft.com/office/drawing/2014/main" val="2246615212"/>
                    </a:ext>
                  </a:extLst>
                </a:gridCol>
              </a:tblGrid>
              <a:tr h="0">
                <a:tc>
                  <a:txBody>
                    <a:bodyPr/>
                    <a:lstStyle/>
                    <a:p>
                      <a:pPr algn="just">
                        <a:spcAft>
                          <a:spcPts val="0"/>
                        </a:spcAft>
                      </a:pPr>
                      <a:r>
                        <a:rPr lang="zh-CN" sz="1600" b="1" kern="0" dirty="0">
                          <a:effectLst/>
                        </a:rPr>
                        <a:t>一级目录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just">
                        <a:spcAft>
                          <a:spcPts val="0"/>
                        </a:spcAft>
                      </a:pPr>
                      <a:r>
                        <a:rPr lang="zh-CN" sz="1600" b="1" kern="0">
                          <a:effectLst/>
                        </a:rPr>
                        <a:t>二级目录</a:t>
                      </a:r>
                      <a:endParaRPr lang="zh-CN" sz="1600" b="1" kern="10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三级目录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说明</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1600" b="1" kern="0" dirty="0">
                          <a:solidFill>
                            <a:schemeClr val="lt1"/>
                          </a:solidFill>
                          <a:effectLst/>
                          <a:latin typeface="+mn-ea"/>
                          <a:ea typeface="+mn-ea"/>
                          <a:cs typeface="+mn-cs"/>
                        </a:rPr>
                        <a:t>重点文件及内容</a:t>
                      </a:r>
                      <a:endParaRPr lang="zh-CN" altLang="zh-CN" sz="1600" b="1" kern="0" dirty="0">
                        <a:solidFill>
                          <a:schemeClr val="lt1"/>
                        </a:solidFill>
                        <a:effectLst/>
                        <a:latin typeface="+mn-ea"/>
                        <a:ea typeface="+mn-ea"/>
                        <a:cs typeface="+mn-cs"/>
                      </a:endParaRPr>
                    </a:p>
                  </a:txBody>
                  <a:tcPr marL="123825" marR="123825" marT="57150" marB="57150" anchor="ctr"/>
                </a:tc>
                <a:extLst>
                  <a:ext uri="{0D108BD9-81ED-4DB2-BD59-A6C34878D82A}">
                    <a16:rowId xmlns:a16="http://schemas.microsoft.com/office/drawing/2014/main" val="1930330990"/>
                  </a:ext>
                </a:extLst>
              </a:tr>
              <a:tr h="0">
                <a:tc>
                  <a:txBody>
                    <a:bodyPr/>
                    <a:lstStyle/>
                    <a:p>
                      <a:pPr algn="l">
                        <a:spcAft>
                          <a:spcPts val="0"/>
                        </a:spcAft>
                      </a:pPr>
                      <a:r>
                        <a:rPr lang="en-US" sz="1600" b="1" kern="0" dirty="0">
                          <a:effectLst/>
                        </a:rPr>
                        <a:t>doc</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endParaRPr lang="zh-CN" sz="1600" b="1" kern="100">
                        <a:effectLst/>
                        <a:latin typeface="等线" panose="02010600030101010101" pitchFamily="2" charset="-122"/>
                        <a:ea typeface="等线" panose="02010600030101010101" pitchFamily="2" charset="-122"/>
                      </a:endParaRPr>
                    </a:p>
                  </a:txBody>
                  <a:tcPr marL="123825" marR="123825" marT="57150" marB="57150" anchor="ctr"/>
                </a:tc>
                <a:tc>
                  <a:txBody>
                    <a:bodyPr/>
                    <a:lstStyle/>
                    <a:p>
                      <a:endParaRPr lang="zh-CN" sz="1600" b="1" kern="10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zh-CN" sz="1600" b="1" kern="0" dirty="0">
                          <a:effectLst/>
                        </a:rPr>
                        <a:t>此目录存放的是</a:t>
                      </a:r>
                      <a:r>
                        <a:rPr lang="en-US" sz="1600" b="1" kern="0" dirty="0" err="1">
                          <a:effectLst/>
                        </a:rPr>
                        <a:t>LiteOS</a:t>
                      </a:r>
                      <a:r>
                        <a:rPr lang="zh-CN" sz="1600" b="1" kern="0" dirty="0">
                          <a:effectLst/>
                        </a:rPr>
                        <a:t>的使用文档和</a:t>
                      </a:r>
                      <a:r>
                        <a:rPr lang="en-US" sz="1600" b="1" kern="0" dirty="0">
                          <a:effectLst/>
                        </a:rPr>
                        <a:t>API</a:t>
                      </a:r>
                      <a:r>
                        <a:rPr lang="zh-CN" sz="1600" b="1" kern="0" dirty="0">
                          <a:effectLst/>
                        </a:rPr>
                        <a:t>说明等文档</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191304708"/>
                  </a:ext>
                </a:extLst>
              </a:tr>
              <a:tr h="0">
                <a:tc>
                  <a:txBody>
                    <a:bodyPr/>
                    <a:lstStyle/>
                    <a:p>
                      <a:pPr algn="l">
                        <a:spcAft>
                          <a:spcPts val="0"/>
                        </a:spcAft>
                      </a:pPr>
                      <a:r>
                        <a:rPr lang="en-US" altLang="zh-CN" sz="1600" b="1" kern="0" dirty="0">
                          <a:effectLst/>
                        </a:rPr>
                        <a:t>demo</a:t>
                      </a:r>
                      <a:r>
                        <a:rPr lang="en-US" sz="1600" b="1" kern="0" dirty="0">
                          <a:effectLst/>
                        </a:rPr>
                        <a:t>s</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endParaRPr lang="zh-CN" sz="1600" b="1" kern="10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zh-CN" sz="1600" b="1" kern="0" dirty="0">
                          <a:effectLst/>
                        </a:rPr>
                        <a:t>供开发者测试</a:t>
                      </a:r>
                      <a:r>
                        <a:rPr lang="en-US" sz="1600" b="1" kern="0" dirty="0" err="1">
                          <a:effectLst/>
                        </a:rPr>
                        <a:t>LiteOS</a:t>
                      </a:r>
                      <a:r>
                        <a:rPr lang="zh-CN" sz="1600" b="1" kern="0" dirty="0">
                          <a:effectLst/>
                        </a:rPr>
                        <a:t>内核的</a:t>
                      </a:r>
                      <a:r>
                        <a:rPr lang="en-US" sz="1600" b="1" kern="0" dirty="0">
                          <a:effectLst/>
                        </a:rPr>
                        <a:t>demo</a:t>
                      </a:r>
                      <a:r>
                        <a:rPr lang="zh-CN" sz="1600" b="1" kern="0" dirty="0">
                          <a:effectLst/>
                        </a:rPr>
                        <a:t>示例，此目录存放的是内核功能测试用的相关用例的代码</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542656495"/>
                  </a:ext>
                </a:extLst>
              </a:tr>
              <a:tr h="0">
                <a:tc rowSpan="5">
                  <a:txBody>
                    <a:bodyPr/>
                    <a:lstStyle/>
                    <a:p>
                      <a:pPr algn="l">
                        <a:spcAft>
                          <a:spcPts val="0"/>
                        </a:spcAft>
                      </a:pPr>
                      <a:r>
                        <a:rPr lang="en-US" sz="1600" b="1" kern="0" dirty="0">
                          <a:effectLst/>
                        </a:rPr>
                        <a:t>kernel</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zh-CN" sz="1600" b="1" kern="1200" dirty="0">
                        <a:solidFill>
                          <a:srgbClr val="C00000"/>
                        </a:solidFill>
                        <a:effectLst/>
                        <a:latin typeface="+mn-lt"/>
                        <a:ea typeface="+mn-ea"/>
                        <a:cs typeface="+mn-cs"/>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0070C0"/>
                          </a:solidFill>
                          <a:effectLst/>
                          <a:latin typeface="+mn-lt"/>
                          <a:ea typeface="+mn-ea"/>
                          <a:cs typeface="+mn-cs"/>
                        </a:rPr>
                        <a:t>los_init.c</a:t>
                      </a:r>
                      <a:r>
                        <a:rPr lang="zh-CN" altLang="en-US" sz="1600" b="1" kern="1200" dirty="0">
                          <a:solidFill>
                            <a:srgbClr val="0070C0"/>
                          </a:solidFill>
                          <a:effectLst/>
                          <a:latin typeface="+mn-lt"/>
                          <a:ea typeface="+mn-ea"/>
                          <a:cs typeface="+mn-cs"/>
                        </a:rPr>
                        <a:t>文件</a:t>
                      </a:r>
                      <a:r>
                        <a:rPr lang="en-US" altLang="zh-CN" sz="1600" b="1" kern="1200" dirty="0">
                          <a:solidFill>
                            <a:srgbClr val="0070C0"/>
                          </a:solidFill>
                          <a:effectLst/>
                          <a:latin typeface="+mn-lt"/>
                          <a:ea typeface="+mn-ea"/>
                          <a:cs typeface="+mn-cs"/>
                        </a:rPr>
                        <a:t>: </a:t>
                      </a: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C00000"/>
                          </a:solidFill>
                          <a:effectLst/>
                          <a:latin typeface="+mn-lt"/>
                          <a:ea typeface="+mn-ea"/>
                          <a:cs typeface="+mn-cs"/>
                        </a:rPr>
                        <a:t>LOS_KernelInit</a:t>
                      </a:r>
                      <a:r>
                        <a:rPr lang="en-US" altLang="zh-CN" sz="1600" b="1" kern="1200" dirty="0">
                          <a:solidFill>
                            <a:srgbClr val="C00000"/>
                          </a:solidFill>
                          <a:effectLst/>
                          <a:latin typeface="+mn-lt"/>
                          <a:ea typeface="+mn-ea"/>
                          <a:cs typeface="+mn-cs"/>
                        </a:rPr>
                        <a:t>(), </a:t>
                      </a:r>
                      <a:r>
                        <a:rPr lang="en-US" altLang="zh-CN" sz="1600" b="1" kern="1200" dirty="0" err="1">
                          <a:solidFill>
                            <a:srgbClr val="C00000"/>
                          </a:solidFill>
                          <a:effectLst/>
                          <a:latin typeface="+mn-lt"/>
                          <a:ea typeface="+mn-ea"/>
                          <a:cs typeface="+mn-cs"/>
                        </a:rPr>
                        <a:t>LOS_Start</a:t>
                      </a:r>
                      <a:r>
                        <a:rPr lang="en-US" altLang="zh-CN" sz="1600" b="1" kern="1200" dirty="0">
                          <a:solidFill>
                            <a:srgbClr val="C00000"/>
                          </a:solidFill>
                          <a:effectLst/>
                          <a:latin typeface="+mn-lt"/>
                          <a:ea typeface="+mn-ea"/>
                          <a:cs typeface="+mn-cs"/>
                        </a:rPr>
                        <a:t>()</a:t>
                      </a:r>
                      <a:endParaRPr lang="zh-CN" altLang="zh-CN" sz="1600" b="1" kern="1200" dirty="0">
                        <a:solidFill>
                          <a:srgbClr val="C00000"/>
                        </a:solidFill>
                        <a:effectLst/>
                        <a:latin typeface="+mn-lt"/>
                        <a:ea typeface="+mn-ea"/>
                        <a:cs typeface="+mn-cs"/>
                      </a:endParaRPr>
                    </a:p>
                  </a:txBody>
                  <a:tcPr marL="123825" marR="123825" marT="57150" marB="57150" anchor="ctr"/>
                </a:tc>
                <a:extLst>
                  <a:ext uri="{0D108BD9-81ED-4DB2-BD59-A6C34878D82A}">
                    <a16:rowId xmlns:a16="http://schemas.microsoft.com/office/drawing/2014/main" val="4028618964"/>
                  </a:ext>
                </a:extLst>
              </a:tr>
              <a:tr h="0">
                <a:tc vMerge="1">
                  <a:txBody>
                    <a:bodyPr/>
                    <a:lstStyle/>
                    <a:p>
                      <a:pPr algn="l">
                        <a:spcAft>
                          <a:spcPts val="0"/>
                        </a:spcAft>
                      </a:pPr>
                      <a:endParaRPr lang="zh-CN" sz="1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rowSpan="4">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0" dirty="0">
                          <a:effectLst/>
                        </a:rPr>
                        <a:t>base</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0" dirty="0">
                          <a:effectLst/>
                        </a:rPr>
                        <a:t>core</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altLang="zh-CN" sz="1600" b="1" kern="0" dirty="0" err="1">
                          <a:effectLst/>
                        </a:rPr>
                        <a:t>LiteOS</a:t>
                      </a:r>
                      <a:r>
                        <a:rPr lang="zh-CN" altLang="zh-CN" sz="1600" b="1" kern="0" dirty="0">
                          <a:effectLst/>
                        </a:rPr>
                        <a:t>基础内核代码，包括队列、</a:t>
                      </a:r>
                      <a:r>
                        <a:rPr lang="en-US" altLang="zh-CN" sz="1600" b="1" kern="0" dirty="0">
                          <a:effectLst/>
                        </a:rPr>
                        <a:t>task</a:t>
                      </a:r>
                      <a:r>
                        <a:rPr lang="zh-CN" altLang="zh-CN" sz="1600" b="1" kern="0" dirty="0">
                          <a:effectLst/>
                        </a:rPr>
                        <a:t>调度、软</a:t>
                      </a:r>
                      <a:r>
                        <a:rPr lang="en-US" altLang="zh-CN" sz="1600" b="1" kern="0" dirty="0">
                          <a:effectLst/>
                        </a:rPr>
                        <a:t>timer</a:t>
                      </a:r>
                      <a:r>
                        <a:rPr lang="zh-CN" altLang="zh-CN" sz="1600" b="1" kern="0" dirty="0">
                          <a:effectLst/>
                        </a:rPr>
                        <a:t>、时间片计算等功能</a:t>
                      </a:r>
                      <a:endParaRPr lang="zh-CN" sz="1600" b="1" kern="1200" dirty="0">
                        <a:solidFill>
                          <a:srgbClr val="C00000"/>
                        </a:solidFill>
                        <a:effectLst/>
                        <a:latin typeface="+mn-lt"/>
                        <a:ea typeface="+mn-ea"/>
                        <a:cs typeface="+mn-cs"/>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0070C0"/>
                          </a:solidFill>
                          <a:effectLst/>
                          <a:latin typeface="+mn-lt"/>
                          <a:ea typeface="+mn-ea"/>
                          <a:cs typeface="+mn-cs"/>
                        </a:rPr>
                        <a:t>los_task.c</a:t>
                      </a:r>
                      <a:r>
                        <a:rPr lang="zh-CN" altLang="en-US" sz="1600" b="1" kern="1200" dirty="0">
                          <a:solidFill>
                            <a:srgbClr val="0070C0"/>
                          </a:solidFill>
                          <a:effectLst/>
                          <a:latin typeface="+mn-lt"/>
                          <a:ea typeface="+mn-ea"/>
                          <a:cs typeface="+mn-cs"/>
                        </a:rPr>
                        <a:t>文件：</a:t>
                      </a:r>
                      <a:endParaRPr lang="en-US" altLang="zh-CN" sz="1600" b="1" kern="1200" dirty="0">
                        <a:solidFill>
                          <a:srgbClr val="0070C0"/>
                        </a:solidFill>
                        <a:effectLst/>
                        <a:latin typeface="+mn-lt"/>
                        <a:ea typeface="+mn-ea"/>
                        <a:cs typeface="+mn-cs"/>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C00000"/>
                          </a:solidFill>
                          <a:effectLst/>
                          <a:latin typeface="+mn-lt"/>
                          <a:ea typeface="+mn-ea"/>
                          <a:cs typeface="+mn-cs"/>
                        </a:rPr>
                        <a:t>LOS_TaskDelay</a:t>
                      </a:r>
                      <a:r>
                        <a:rPr lang="en-US" altLang="zh-CN" sz="1600" b="1" kern="1200" dirty="0">
                          <a:solidFill>
                            <a:srgbClr val="C00000"/>
                          </a:solidFill>
                          <a:effectLst/>
                          <a:latin typeface="+mn-lt"/>
                          <a:ea typeface="+mn-ea"/>
                          <a:cs typeface="+mn-cs"/>
                        </a:rPr>
                        <a:t>(),</a:t>
                      </a:r>
                      <a:r>
                        <a:rPr lang="en-US" altLang="zh-CN" sz="1600" kern="1200" dirty="0">
                          <a:solidFill>
                            <a:schemeClr val="dk1"/>
                          </a:solidFill>
                          <a:effectLst/>
                          <a:latin typeface="+mn-lt"/>
                          <a:ea typeface="+mn-ea"/>
                          <a:cs typeface="+mn-cs"/>
                        </a:rPr>
                        <a:t> </a:t>
                      </a:r>
                      <a:r>
                        <a:rPr lang="en-US" altLang="zh-CN" sz="1600" b="1" kern="1200" dirty="0" err="1">
                          <a:solidFill>
                            <a:srgbClr val="C00000"/>
                          </a:solidFill>
                          <a:effectLst/>
                          <a:latin typeface="+mn-lt"/>
                          <a:ea typeface="+mn-ea"/>
                          <a:cs typeface="+mn-cs"/>
                        </a:rPr>
                        <a:t>LOS_TaskCreate</a:t>
                      </a:r>
                      <a:r>
                        <a:rPr lang="en-US" altLang="zh-CN" sz="1600" b="1" kern="1200" dirty="0">
                          <a:solidFill>
                            <a:srgbClr val="C00000"/>
                          </a:solidFill>
                          <a:effectLst/>
                          <a:latin typeface="+mn-lt"/>
                          <a:ea typeface="+mn-ea"/>
                          <a:cs typeface="+mn-cs"/>
                        </a:rPr>
                        <a:t>()</a:t>
                      </a:r>
                      <a:endParaRPr lang="zh-CN" altLang="zh-CN" sz="1600" b="1" kern="1200" dirty="0">
                        <a:solidFill>
                          <a:srgbClr val="C00000"/>
                        </a:solidFill>
                        <a:effectLst/>
                        <a:latin typeface="+mn-lt"/>
                        <a:ea typeface="+mn-ea"/>
                        <a:cs typeface="+mn-cs"/>
                      </a:endParaRPr>
                    </a:p>
                  </a:txBody>
                  <a:tcPr marL="123825" marR="123825" marT="57150" marB="57150" anchor="ctr"/>
                </a:tc>
                <a:extLst>
                  <a:ext uri="{0D108BD9-81ED-4DB2-BD59-A6C34878D82A}">
                    <a16:rowId xmlns:a16="http://schemas.microsoft.com/office/drawing/2014/main" val="397429403"/>
                  </a:ext>
                </a:extLst>
              </a:tr>
              <a:tr h="0">
                <a:tc vMerge="1">
                  <a:txBody>
                    <a:bodyPr/>
                    <a:lstStyle/>
                    <a:p>
                      <a:endParaRPr lang="zh-CN" sz="1400" b="1" kern="1200" dirty="0">
                        <a:solidFill>
                          <a:srgbClr val="C00000"/>
                        </a:solidFill>
                        <a:effectLst/>
                        <a:latin typeface="+mn-lt"/>
                        <a:ea typeface="+mn-ea"/>
                        <a:cs typeface="+mn-cs"/>
                      </a:endParaRPr>
                    </a:p>
                  </a:txBody>
                  <a:tcPr marL="123825" marR="123825" marT="57150" marB="57150" anchor="ctr"/>
                </a:tc>
                <a:tc vMerge="1">
                  <a:txBody>
                    <a:bodyPr/>
                    <a:lstStyle/>
                    <a:p>
                      <a:endParaRPr lang="zh-CN" sz="1600" b="1" kern="1200" dirty="0">
                        <a:solidFill>
                          <a:srgbClr val="C00000"/>
                        </a:solidFill>
                        <a:effectLst/>
                        <a:latin typeface="+mn-lt"/>
                        <a:ea typeface="+mn-ea"/>
                        <a:cs typeface="+mn-cs"/>
                      </a:endParaRPr>
                    </a:p>
                  </a:txBody>
                  <a:tcPr marL="123825" marR="123825" marT="57150" marB="57150" anchor="ctr"/>
                </a:tc>
                <a:tc>
                  <a:txBody>
                    <a:bodyPr/>
                    <a:lstStyle/>
                    <a:p>
                      <a:pPr algn="l">
                        <a:spcAft>
                          <a:spcPts val="0"/>
                        </a:spcAft>
                      </a:pPr>
                      <a:r>
                        <a:rPr lang="en-US" sz="1600" b="1" kern="0" dirty="0">
                          <a:effectLst/>
                        </a:rPr>
                        <a:t>OM</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与错误处理相关的文件</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2858578545"/>
                  </a:ext>
                </a:extLst>
              </a:tr>
              <a:tr h="0">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include</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LiteOS</a:t>
                      </a:r>
                      <a:r>
                        <a:rPr lang="zh-CN" sz="1600" b="1" kern="0" dirty="0">
                          <a:effectLst/>
                        </a:rPr>
                        <a:t>内核内部使用的头文件</a:t>
                      </a:r>
                      <a:endParaRPr lang="en-US" altLang="zh-CN" sz="1600" b="1" kern="0" dirty="0">
                        <a:effectLst/>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0070C0"/>
                          </a:solidFill>
                          <a:effectLst/>
                          <a:latin typeface="+mn-lt"/>
                          <a:ea typeface="+mn-ea"/>
                          <a:cs typeface="+mn-cs"/>
                        </a:rPr>
                        <a:t>los_task.ph</a:t>
                      </a:r>
                      <a:r>
                        <a:rPr lang="zh-CN" altLang="en-US" sz="1600" b="1" kern="1200" dirty="0">
                          <a:solidFill>
                            <a:srgbClr val="0070C0"/>
                          </a:solidFill>
                          <a:effectLst/>
                          <a:latin typeface="+mn-lt"/>
                          <a:ea typeface="+mn-ea"/>
                          <a:cs typeface="+mn-cs"/>
                        </a:rPr>
                        <a:t>文件：</a:t>
                      </a:r>
                      <a:endParaRPr lang="en-US" altLang="zh-CN" sz="1600" b="1" kern="1200" dirty="0">
                        <a:solidFill>
                          <a:srgbClr val="0070C0"/>
                        </a:solidFill>
                        <a:effectLst/>
                        <a:latin typeface="+mn-lt"/>
                        <a:ea typeface="+mn-ea"/>
                        <a:cs typeface="+mn-cs"/>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C00000"/>
                          </a:solidFill>
                          <a:effectLst/>
                          <a:latin typeface="+mn-lt"/>
                          <a:ea typeface="+mn-ea"/>
                          <a:cs typeface="+mn-cs"/>
                        </a:rPr>
                        <a:t>typedef</a:t>
                      </a:r>
                      <a:r>
                        <a:rPr lang="en-US" altLang="zh-CN" sz="1600" b="1" kern="1200" dirty="0">
                          <a:solidFill>
                            <a:srgbClr val="C00000"/>
                          </a:solidFill>
                          <a:effectLst/>
                          <a:latin typeface="+mn-lt"/>
                          <a:ea typeface="+mn-ea"/>
                          <a:cs typeface="+mn-cs"/>
                        </a:rPr>
                        <a:t> </a:t>
                      </a:r>
                      <a:r>
                        <a:rPr lang="en-US" altLang="zh-CN" sz="1600" b="1" kern="1200" dirty="0" err="1">
                          <a:solidFill>
                            <a:srgbClr val="C00000"/>
                          </a:solidFill>
                          <a:effectLst/>
                          <a:latin typeface="+mn-lt"/>
                          <a:ea typeface="+mn-ea"/>
                          <a:cs typeface="+mn-cs"/>
                        </a:rPr>
                        <a:t>struct</a:t>
                      </a:r>
                      <a:r>
                        <a:rPr lang="en-US" altLang="zh-CN" sz="1600" b="1" kern="1200" dirty="0">
                          <a:solidFill>
                            <a:srgbClr val="C00000"/>
                          </a:solidFill>
                          <a:effectLst/>
                          <a:latin typeface="+mn-lt"/>
                          <a:ea typeface="+mn-ea"/>
                          <a:cs typeface="+mn-cs"/>
                        </a:rPr>
                        <a:t> </a:t>
                      </a:r>
                      <a:r>
                        <a:rPr lang="en-US" altLang="zh-CN" sz="1600" b="1" kern="1200" dirty="0" err="1">
                          <a:solidFill>
                            <a:srgbClr val="C00000"/>
                          </a:solidFill>
                          <a:effectLst/>
                          <a:latin typeface="+mn-lt"/>
                          <a:ea typeface="+mn-ea"/>
                          <a:cs typeface="+mn-cs"/>
                        </a:rPr>
                        <a:t>TagtaskCB</a:t>
                      </a:r>
                      <a:r>
                        <a:rPr lang="en-US" altLang="zh-CN" sz="1600" b="1" kern="1200" dirty="0">
                          <a:solidFill>
                            <a:srgbClr val="C00000"/>
                          </a:solidFill>
                          <a:effectLst/>
                          <a:latin typeface="+mn-lt"/>
                          <a:ea typeface="+mn-ea"/>
                          <a:cs typeface="+mn-cs"/>
                        </a:rPr>
                        <a:t>{ } </a:t>
                      </a:r>
                      <a:r>
                        <a:rPr lang="zh-CN" altLang="en-US" sz="1600" b="1" kern="1200" dirty="0">
                          <a:solidFill>
                            <a:srgbClr val="C00000"/>
                          </a:solidFill>
                          <a:effectLst/>
                          <a:latin typeface="+mn-lt"/>
                          <a:ea typeface="+mn-ea"/>
                          <a:cs typeface="+mn-cs"/>
                        </a:rPr>
                        <a:t>任务控制块</a:t>
                      </a:r>
                      <a:r>
                        <a:rPr lang="en-US" altLang="zh-CN" sz="1600" kern="1200" dirty="0">
                          <a:solidFill>
                            <a:srgbClr val="C00000"/>
                          </a:solidFill>
                          <a:effectLst/>
                          <a:latin typeface="+mn-lt"/>
                          <a:ea typeface="+mn-ea"/>
                          <a:cs typeface="+mn-cs"/>
                        </a:rPr>
                        <a:t> </a:t>
                      </a:r>
                      <a:endParaRPr lang="zh-CN" altLang="zh-CN" sz="1600" b="1"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934384400"/>
                  </a:ext>
                </a:extLst>
              </a:tr>
              <a:tr h="0">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err="1">
                          <a:effectLst/>
                        </a:rPr>
                        <a:t>ipc</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LiteOS</a:t>
                      </a:r>
                      <a:r>
                        <a:rPr lang="zh-CN" sz="1600" b="1" kern="0" dirty="0">
                          <a:effectLst/>
                        </a:rPr>
                        <a:t>中</a:t>
                      </a:r>
                      <a:r>
                        <a:rPr lang="en-US" sz="1600" b="1" kern="0" dirty="0">
                          <a:effectLst/>
                        </a:rPr>
                        <a:t>task</a:t>
                      </a:r>
                      <a:r>
                        <a:rPr lang="zh-CN" sz="1600" b="1" kern="0" dirty="0">
                          <a:effectLst/>
                        </a:rPr>
                        <a:t>间通讯的相关接口，包括事件、信号量、消息队列、互斥锁等</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2766198901"/>
                  </a:ext>
                </a:extLst>
              </a:tr>
            </a:tbl>
          </a:graphicData>
        </a:graphic>
      </p:graphicFrame>
    </p:spTree>
    <p:extLst>
      <p:ext uri="{BB962C8B-B14F-4D97-AF65-F5344CB8AC3E}">
        <p14:creationId xmlns:p14="http://schemas.microsoft.com/office/powerpoint/2010/main" val="2990896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err="1">
                <a:cs typeface="+mn-ea"/>
                <a:sym typeface="+mn-lt"/>
              </a:rPr>
              <a:t>LiteOS</a:t>
            </a:r>
            <a:r>
              <a:rPr lang="zh-CN" altLang="en-US" sz="2800" b="1" dirty="0">
                <a:cs typeface="+mn-ea"/>
                <a:sym typeface="+mn-lt"/>
              </a:rPr>
              <a:t>文件</a:t>
            </a:r>
            <a:endParaRPr lang="zh-CN" altLang="en-US" sz="2800" b="1" dirty="0">
              <a:solidFill>
                <a:schemeClr val="bg1"/>
              </a:solidFill>
              <a:cs typeface="+mn-ea"/>
              <a:sym typeface="+mn-lt"/>
            </a:endParaRPr>
          </a:p>
        </p:txBody>
      </p:sp>
      <p:sp>
        <p:nvSpPr>
          <p:cNvPr id="3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graphicFrame>
        <p:nvGraphicFramePr>
          <p:cNvPr id="2" name="表格 1"/>
          <p:cNvGraphicFramePr>
            <a:graphicFrameLocks noGrp="1"/>
          </p:cNvGraphicFramePr>
          <p:nvPr>
            <p:extLst>
              <p:ext uri="{D42A27DB-BD31-4B8C-83A1-F6EECF244321}">
                <p14:modId xmlns:p14="http://schemas.microsoft.com/office/powerpoint/2010/main" val="1070238633"/>
              </p:ext>
            </p:extLst>
          </p:nvPr>
        </p:nvGraphicFramePr>
        <p:xfrm>
          <a:off x="175261" y="828614"/>
          <a:ext cx="11841479" cy="4343400"/>
        </p:xfrm>
        <a:graphic>
          <a:graphicData uri="http://schemas.openxmlformats.org/drawingml/2006/table">
            <a:tbl>
              <a:tblPr firstRow="1" firstCol="1" bandRow="1">
                <a:tableStyleId>{5C22544A-7EE6-4342-B048-85BDC9FD1C3A}</a:tableStyleId>
              </a:tblPr>
              <a:tblGrid>
                <a:gridCol w="1063604">
                  <a:extLst>
                    <a:ext uri="{9D8B030D-6E8A-4147-A177-3AD203B41FA5}">
                      <a16:colId xmlns:a16="http://schemas.microsoft.com/office/drawing/2014/main" val="3744323411"/>
                    </a:ext>
                  </a:extLst>
                </a:gridCol>
                <a:gridCol w="1428135">
                  <a:extLst>
                    <a:ext uri="{9D8B030D-6E8A-4147-A177-3AD203B41FA5}">
                      <a16:colId xmlns:a16="http://schemas.microsoft.com/office/drawing/2014/main" val="1362270285"/>
                    </a:ext>
                  </a:extLst>
                </a:gridCol>
                <a:gridCol w="1695450">
                  <a:extLst>
                    <a:ext uri="{9D8B030D-6E8A-4147-A177-3AD203B41FA5}">
                      <a16:colId xmlns:a16="http://schemas.microsoft.com/office/drawing/2014/main" val="1074433353"/>
                    </a:ext>
                  </a:extLst>
                </a:gridCol>
                <a:gridCol w="2913421">
                  <a:extLst>
                    <a:ext uri="{9D8B030D-6E8A-4147-A177-3AD203B41FA5}">
                      <a16:colId xmlns:a16="http://schemas.microsoft.com/office/drawing/2014/main" val="3267663267"/>
                    </a:ext>
                  </a:extLst>
                </a:gridCol>
                <a:gridCol w="4740869">
                  <a:extLst>
                    <a:ext uri="{9D8B030D-6E8A-4147-A177-3AD203B41FA5}">
                      <a16:colId xmlns:a16="http://schemas.microsoft.com/office/drawing/2014/main" val="3448523516"/>
                    </a:ext>
                  </a:extLst>
                </a:gridCol>
              </a:tblGrid>
              <a:tr h="0">
                <a:tc>
                  <a:txBody>
                    <a:bodyPr/>
                    <a:lstStyle/>
                    <a:p>
                      <a:pPr algn="just">
                        <a:spcAft>
                          <a:spcPts val="0"/>
                        </a:spcAft>
                      </a:pPr>
                      <a:r>
                        <a:rPr lang="zh-CN" sz="1600" b="1" kern="0" dirty="0">
                          <a:effectLst/>
                        </a:rPr>
                        <a:t>一级目录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just">
                        <a:spcAft>
                          <a:spcPts val="0"/>
                        </a:spcAft>
                      </a:pPr>
                      <a:r>
                        <a:rPr lang="zh-CN" sz="1600" b="1" kern="0">
                          <a:effectLst/>
                        </a:rPr>
                        <a:t>二级目录</a:t>
                      </a:r>
                      <a:endParaRPr lang="zh-CN" sz="1600" b="1" kern="10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三级目录</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说明</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1600" b="1" kern="0" dirty="0">
                          <a:solidFill>
                            <a:schemeClr val="lt1"/>
                          </a:solidFill>
                          <a:effectLst/>
                          <a:latin typeface="+mn-ea"/>
                          <a:ea typeface="+mn-ea"/>
                          <a:cs typeface="+mn-cs"/>
                        </a:rPr>
                        <a:t>重点文件及内容</a:t>
                      </a:r>
                      <a:endParaRPr lang="zh-CN" altLang="zh-CN" sz="1600" b="1" kern="0" dirty="0">
                        <a:solidFill>
                          <a:schemeClr val="lt1"/>
                        </a:solidFill>
                        <a:effectLst/>
                        <a:latin typeface="+mn-ea"/>
                        <a:ea typeface="+mn-ea"/>
                        <a:cs typeface="+mn-cs"/>
                      </a:endParaRPr>
                    </a:p>
                  </a:txBody>
                  <a:tcPr marL="123825" marR="123825" marT="57150" marB="57150" anchor="ctr"/>
                </a:tc>
                <a:extLst>
                  <a:ext uri="{0D108BD9-81ED-4DB2-BD59-A6C34878D82A}">
                    <a16:rowId xmlns:a16="http://schemas.microsoft.com/office/drawing/2014/main" val="1464052707"/>
                  </a:ext>
                </a:extLst>
              </a:tr>
              <a:tr h="0">
                <a:tc rowSpan="4">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rowSpan="2">
                  <a:txBody>
                    <a:bodyPr/>
                    <a:lstStyle/>
                    <a:p>
                      <a:endParaRPr lang="zh-CN" sz="1600" b="1" kern="1200" dirty="0">
                        <a:solidFill>
                          <a:srgbClr val="C00000"/>
                        </a:solidFill>
                        <a:effectLst/>
                        <a:latin typeface="+mn-lt"/>
                        <a:ea typeface="+mn-ea"/>
                        <a:cs typeface="+mn-cs"/>
                      </a:endParaRPr>
                    </a:p>
                  </a:txBody>
                  <a:tcPr marL="123825" marR="123825" marT="57150" marB="57150" anchor="ctr"/>
                </a:tc>
                <a:tc>
                  <a:txBody>
                    <a:bodyPr/>
                    <a:lstStyle/>
                    <a:p>
                      <a:pPr algn="l">
                        <a:spcAft>
                          <a:spcPts val="0"/>
                        </a:spcAft>
                      </a:pPr>
                      <a:r>
                        <a:rPr lang="en-US" sz="1600" b="1" kern="0" dirty="0">
                          <a:effectLst/>
                        </a:rPr>
                        <a:t>mem</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LiteOS</a:t>
                      </a:r>
                      <a:r>
                        <a:rPr lang="zh-CN" sz="1600" b="1" kern="0" dirty="0">
                          <a:effectLst/>
                        </a:rPr>
                        <a:t>中的内核内存管理的相关代码</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668145158"/>
                  </a:ext>
                </a:extLst>
              </a:tr>
              <a:tr h="0">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err="1">
                          <a:effectLst/>
                        </a:rPr>
                        <a:t>misc</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内存对齐功能以及毫秒级休眠</a:t>
                      </a:r>
                      <a:r>
                        <a:rPr lang="en-US" sz="1600" b="1" kern="0" dirty="0">
                          <a:effectLst/>
                        </a:rPr>
                        <a:t>sleep</a:t>
                      </a:r>
                      <a:r>
                        <a:rPr lang="zh-CN" sz="1600" b="1" kern="0" dirty="0">
                          <a:effectLst/>
                        </a:rPr>
                        <a:t>功能</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2283478949"/>
                  </a:ext>
                </a:extLst>
              </a:tr>
              <a:tr h="0">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include</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endParaRPr lang="zh-CN" sz="1600" b="1" kern="1200" dirty="0">
                        <a:solidFill>
                          <a:srgbClr val="0070C0"/>
                        </a:solidFill>
                        <a:effectLst/>
                        <a:latin typeface="+mn-lt"/>
                        <a:ea typeface="+mn-ea"/>
                        <a:cs typeface="+mn-cs"/>
                      </a:endParaRPr>
                    </a:p>
                  </a:txBody>
                  <a:tcPr marL="123825" marR="123825" marT="57150" marB="57150" anchor="ctr"/>
                </a:tc>
                <a:tc>
                  <a:txBody>
                    <a:bodyPr/>
                    <a:lstStyle/>
                    <a:p>
                      <a:pPr algn="l">
                        <a:spcAft>
                          <a:spcPts val="0"/>
                        </a:spcAft>
                      </a:pPr>
                      <a:r>
                        <a:rPr lang="en-US" sz="1600" b="1" kern="0" dirty="0" err="1">
                          <a:effectLst/>
                        </a:rPr>
                        <a:t>LiteOS</a:t>
                      </a:r>
                      <a:r>
                        <a:rPr lang="zh-CN" sz="1600" b="1" kern="0" dirty="0">
                          <a:effectLst/>
                        </a:rPr>
                        <a:t>开源内核头文件</a:t>
                      </a:r>
                      <a:endParaRPr lang="en-US" altLang="zh-CN" sz="1600" b="1" kern="0" dirty="0">
                        <a:effectLst/>
                      </a:endParaRPr>
                    </a:p>
                  </a:txBody>
                  <a:tcPr marL="123825" marR="123825" marT="57150" marB="57150" anchor="ct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err="1">
                          <a:solidFill>
                            <a:srgbClr val="0070C0"/>
                          </a:solidFill>
                          <a:effectLst/>
                          <a:latin typeface="+mn-lt"/>
                          <a:ea typeface="+mn-ea"/>
                          <a:cs typeface="+mn-cs"/>
                        </a:rPr>
                        <a:t>los_config.h</a:t>
                      </a:r>
                      <a:r>
                        <a:rPr lang="zh-CN" altLang="en-US" sz="1600" b="1" kern="1200" dirty="0">
                          <a:solidFill>
                            <a:srgbClr val="0070C0"/>
                          </a:solidFill>
                          <a:effectLst/>
                          <a:latin typeface="+mn-lt"/>
                          <a:ea typeface="+mn-ea"/>
                          <a:cs typeface="+mn-cs"/>
                        </a:rPr>
                        <a:t>配置文件</a:t>
                      </a:r>
                      <a:endParaRPr lang="zh-CN" altLang="zh-CN" sz="1600" b="1" kern="1200" dirty="0">
                        <a:solidFill>
                          <a:srgbClr val="0070C0"/>
                        </a:solidFill>
                        <a:effectLst/>
                        <a:latin typeface="+mn-lt"/>
                        <a:ea typeface="+mn-ea"/>
                        <a:cs typeface="+mn-cs"/>
                      </a:endParaRPr>
                    </a:p>
                  </a:txBody>
                  <a:tcPr marL="123825" marR="123825" marT="57150" marB="57150" anchor="ctr"/>
                </a:tc>
                <a:extLst>
                  <a:ext uri="{0D108BD9-81ED-4DB2-BD59-A6C34878D82A}">
                    <a16:rowId xmlns:a16="http://schemas.microsoft.com/office/drawing/2014/main" val="1789601448"/>
                  </a:ext>
                </a:extLst>
              </a:tr>
              <a:tr h="0">
                <a:tc vMerge="1">
                  <a:txBody>
                    <a:bodyPr/>
                    <a:lstStyle/>
                    <a:p>
                      <a:endParaRPr lang="zh-CN" sz="14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r>
                        <a:rPr lang="en-US" sz="1600" b="1" kern="0" dirty="0">
                          <a:effectLst/>
                        </a:rPr>
                        <a:t>extended</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err="1">
                          <a:effectLst/>
                        </a:rPr>
                        <a:t>tickless</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zh-CN" sz="1600" b="1" kern="0" dirty="0">
                          <a:effectLst/>
                        </a:rPr>
                        <a:t>低功耗框架代码</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extLst>
                  <a:ext uri="{0D108BD9-81ED-4DB2-BD59-A6C34878D82A}">
                    <a16:rowId xmlns:a16="http://schemas.microsoft.com/office/drawing/2014/main" val="3535674934"/>
                  </a:ext>
                </a:extLst>
              </a:tr>
              <a:tr h="0">
                <a:tc>
                  <a:txBody>
                    <a:bodyPr/>
                    <a:lstStyle/>
                    <a:p>
                      <a:pPr algn="l">
                        <a:spcAft>
                          <a:spcPts val="0"/>
                        </a:spcAft>
                      </a:pPr>
                      <a:r>
                        <a:rPr lang="en-US" sz="1600" b="1" kern="0" dirty="0">
                          <a:effectLst/>
                        </a:rPr>
                        <a:t>targets</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pPr algn="l">
                        <a:spcAft>
                          <a:spcPts val="0"/>
                        </a:spcAft>
                      </a:pPr>
                      <a:r>
                        <a:rPr lang="en-US" sz="1600" b="1" kern="0" dirty="0">
                          <a:effectLst/>
                        </a:rPr>
                        <a:t>STM32F103VET6_NB_GCC</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3825" marR="123825" marT="57150" marB="57150" anchor="ctr"/>
                </a:tc>
                <a:tc>
                  <a:txBody>
                    <a:bodyPr/>
                    <a:lstStyle/>
                    <a:p>
                      <a:r>
                        <a:rPr lang="en-US" altLang="zh-CN" sz="1600" b="1" kern="100" dirty="0">
                          <a:effectLst/>
                          <a:latin typeface="等线" panose="02010600030101010101" pitchFamily="2" charset="-122"/>
                          <a:ea typeface="等线" panose="02010600030101010101" pitchFamily="2" charset="-122"/>
                        </a:rPr>
                        <a:t>OS_CONFIG</a:t>
                      </a:r>
                      <a:endParaRPr lang="zh-CN" sz="1600" b="1" kern="100" dirty="0">
                        <a:effectLst/>
                        <a:latin typeface="等线" panose="02010600030101010101" pitchFamily="2" charset="-122"/>
                        <a:ea typeface="等线" panose="02010600030101010101" pitchFamily="2" charset="-122"/>
                      </a:endParaRPr>
                    </a:p>
                  </a:txBody>
                  <a:tcPr marL="123825" marR="123825" marT="57150" marB="57150" anchor="ctr"/>
                </a:tc>
                <a:tc>
                  <a:txBody>
                    <a:bodyPr/>
                    <a:lstStyle/>
                    <a:p>
                      <a:pPr algn="l">
                        <a:spcAft>
                          <a:spcPts val="0"/>
                        </a:spcAft>
                      </a:pPr>
                      <a:endParaRPr lang="zh-CN" sz="1600" b="1" kern="1200" dirty="0">
                        <a:solidFill>
                          <a:srgbClr val="C00000"/>
                        </a:solidFill>
                        <a:effectLst/>
                        <a:latin typeface="+mn-lt"/>
                        <a:ea typeface="+mn-ea"/>
                        <a:cs typeface="+mn-cs"/>
                      </a:endParaRPr>
                    </a:p>
                  </a:txBody>
                  <a:tcPr marL="123825" marR="123825" marT="57150" marB="57150" anchor="ctr"/>
                </a:tc>
                <a:tc>
                  <a:txBody>
                    <a:bodyPr/>
                    <a:lstStyle/>
                    <a:p>
                      <a:pPr algn="l">
                        <a:spcAft>
                          <a:spcPts val="0"/>
                        </a:spcAft>
                      </a:pPr>
                      <a:r>
                        <a:rPr lang="en-US" altLang="zh-CN" sz="1600" b="1" kern="1200" dirty="0" err="1">
                          <a:solidFill>
                            <a:srgbClr val="0070C0"/>
                          </a:solidFill>
                          <a:effectLst/>
                          <a:latin typeface="+mn-lt"/>
                          <a:ea typeface="+mn-ea"/>
                          <a:cs typeface="+mn-cs"/>
                        </a:rPr>
                        <a:t>target_config.h</a:t>
                      </a:r>
                      <a:r>
                        <a:rPr lang="zh-CN" altLang="en-US" sz="1600" b="1" kern="1200" dirty="0">
                          <a:solidFill>
                            <a:srgbClr val="0070C0"/>
                          </a:solidFill>
                          <a:effectLst/>
                          <a:latin typeface="+mn-lt"/>
                          <a:ea typeface="+mn-ea"/>
                          <a:cs typeface="+mn-cs"/>
                        </a:rPr>
                        <a:t>时钟配置文件：</a:t>
                      </a:r>
                      <a:endParaRPr lang="en-US" altLang="zh-CN" sz="1600" b="1" kern="1200" dirty="0">
                        <a:solidFill>
                          <a:srgbClr val="0070C0"/>
                        </a:solidFill>
                        <a:effectLst/>
                        <a:latin typeface="+mn-lt"/>
                        <a:ea typeface="+mn-ea"/>
                        <a:cs typeface="+mn-cs"/>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C00000"/>
                          </a:solidFill>
                          <a:effectLst/>
                          <a:latin typeface="+mn-lt"/>
                          <a:ea typeface="+mn-ea"/>
                          <a:cs typeface="+mn-cs"/>
                        </a:rPr>
                        <a:t>#define LOSCFG_BASE_CORE_TICK_PER_SECOND 1000UL</a:t>
                      </a: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C00000"/>
                          </a:solidFill>
                          <a:effectLst/>
                          <a:latin typeface="+mn-lt"/>
                          <a:ea typeface="+mn-ea"/>
                          <a:cs typeface="+mn-cs"/>
                        </a:rPr>
                        <a:t>#define </a:t>
                      </a:r>
                      <a:r>
                        <a:rPr lang="en-US" altLang="zh-CN" sz="1600" b="1" kern="1200" dirty="0" err="1">
                          <a:solidFill>
                            <a:srgbClr val="C00000"/>
                          </a:solidFill>
                          <a:effectLst/>
                          <a:latin typeface="+mn-lt"/>
                          <a:ea typeface="+mn-ea"/>
                          <a:cs typeface="+mn-cs"/>
                        </a:rPr>
                        <a:t>SystemCoreClock</a:t>
                      </a:r>
                      <a:r>
                        <a:rPr lang="en-US" altLang="zh-CN" sz="1600" b="1" kern="1200" dirty="0">
                          <a:solidFill>
                            <a:srgbClr val="C00000"/>
                          </a:solidFill>
                          <a:effectLst/>
                          <a:latin typeface="+mn-lt"/>
                          <a:ea typeface="+mn-ea"/>
                          <a:cs typeface="+mn-cs"/>
                        </a:rPr>
                        <a:t>      (72000000ul)</a:t>
                      </a: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C00000"/>
                          </a:solidFill>
                          <a:effectLst/>
                          <a:latin typeface="+mn-lt"/>
                          <a:ea typeface="+mn-ea"/>
                          <a:cs typeface="+mn-cs"/>
                        </a:rPr>
                        <a:t>#define OS_SYS_CLOCK     (</a:t>
                      </a:r>
                      <a:r>
                        <a:rPr lang="en-US" altLang="zh-CN" sz="1600" b="1" kern="1200" dirty="0" err="1">
                          <a:solidFill>
                            <a:srgbClr val="C00000"/>
                          </a:solidFill>
                          <a:effectLst/>
                          <a:latin typeface="+mn-lt"/>
                          <a:ea typeface="+mn-ea"/>
                          <a:cs typeface="+mn-cs"/>
                        </a:rPr>
                        <a:t>SystemCoreClock</a:t>
                      </a:r>
                      <a:r>
                        <a:rPr lang="en-US" altLang="zh-CN" sz="1600" b="1" kern="1200" dirty="0">
                          <a:solidFill>
                            <a:srgbClr val="C00000"/>
                          </a:solidFill>
                          <a:effectLst/>
                          <a:latin typeface="+mn-lt"/>
                          <a:ea typeface="+mn-ea"/>
                          <a:cs typeface="+mn-cs"/>
                        </a:rPr>
                        <a:t>)</a:t>
                      </a: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600" b="1" kern="1200" dirty="0">
                          <a:solidFill>
                            <a:srgbClr val="C00000"/>
                          </a:solidFill>
                          <a:effectLst/>
                          <a:latin typeface="+mn-lt"/>
                          <a:ea typeface="+mn-ea"/>
                          <a:cs typeface="+mn-cs"/>
                        </a:rPr>
                        <a:t>#define LOSCFG_PLATFORM_HWI         NO</a:t>
                      </a:r>
                      <a:endParaRPr lang="zh-CN" altLang="zh-CN" sz="1600" b="1" kern="1200" dirty="0">
                        <a:solidFill>
                          <a:srgbClr val="C00000"/>
                        </a:solidFill>
                        <a:effectLst/>
                        <a:latin typeface="+mn-lt"/>
                        <a:ea typeface="+mn-ea"/>
                        <a:cs typeface="+mn-cs"/>
                      </a:endParaRPr>
                    </a:p>
                  </a:txBody>
                  <a:tcPr marL="123825" marR="123825" marT="57150" marB="57150" anchor="ctr"/>
                </a:tc>
                <a:extLst>
                  <a:ext uri="{0D108BD9-81ED-4DB2-BD59-A6C34878D82A}">
                    <a16:rowId xmlns:a16="http://schemas.microsoft.com/office/drawing/2014/main" val="527581963"/>
                  </a:ext>
                </a:extLst>
              </a:tr>
            </a:tbl>
          </a:graphicData>
        </a:graphic>
      </p:graphicFrame>
    </p:spTree>
    <p:extLst>
      <p:ext uri="{BB962C8B-B14F-4D97-AF65-F5344CB8AC3E}">
        <p14:creationId xmlns:p14="http://schemas.microsoft.com/office/powerpoint/2010/main" val="2179899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852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A6A819F1-33AF-45D7-8BF6-2B0A9769CA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5" name="标题 4"/>
          <p:cNvSpPr>
            <a:spLocks noGrp="1"/>
          </p:cNvSpPr>
          <p:nvPr>
            <p:ph type="ctrTitle"/>
          </p:nvPr>
        </p:nvSpPr>
        <p:spPr>
          <a:xfrm>
            <a:off x="6558083" y="2341767"/>
            <a:ext cx="5079462" cy="1621509"/>
          </a:xfrm>
        </p:spPr>
        <p:txBody>
          <a:bodyPr/>
          <a:lstStyle/>
          <a:p>
            <a:r>
              <a:rPr lang="en-US" altLang="zh-CN" sz="4000" dirty="0">
                <a:latin typeface="+mn-lt"/>
                <a:ea typeface="+mn-ea"/>
                <a:cs typeface="+mn-ea"/>
                <a:sym typeface="+mn-lt"/>
              </a:rPr>
              <a:t>Thanks</a:t>
            </a:r>
            <a:br>
              <a:rPr lang="en-US" altLang="zh-CN" dirty="0">
                <a:latin typeface="+mn-lt"/>
                <a:ea typeface="+mn-ea"/>
                <a:cs typeface="+mn-ea"/>
                <a:sym typeface="+mn-lt"/>
              </a:rPr>
            </a:br>
            <a:endParaRPr lang="zh-CN" altLang="en-US" dirty="0">
              <a:latin typeface="+mn-lt"/>
              <a:ea typeface="+mn-ea"/>
              <a:cs typeface="+mn-ea"/>
              <a:sym typeface="+mn-lt"/>
            </a:endParaRPr>
          </a:p>
        </p:txBody>
      </p:sp>
    </p:spTree>
    <p:extLst>
      <p:ext uri="{BB962C8B-B14F-4D97-AF65-F5344CB8AC3E}">
        <p14:creationId xmlns:p14="http://schemas.microsoft.com/office/powerpoint/2010/main" val="256098446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3C326D0B-7DAB-41B6-8030-2E4A18CC94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altLang="zh-CN" sz="4000" b="1" i="0" u="none" strike="noStrike" kern="1200" cap="none" spc="0" normalizeH="0" baseline="0" noProof="0" dirty="0">
              <a:ln>
                <a:noFill/>
              </a:ln>
              <a:solidFill>
                <a:srgbClr val="FFFFFF"/>
              </a:solidFill>
              <a:effectLst/>
              <a:uLnTx/>
              <a:uFillTx/>
              <a:latin typeface="Microsoft YaHei"/>
              <a:ea typeface="Microsoft YaHei"/>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800" cap="none" spc="0" normalizeH="0" baseline="0" noProof="0" dirty="0">
                <a:ln>
                  <a:noFill/>
                </a:ln>
                <a:solidFill>
                  <a:srgbClr val="FFFFFF"/>
                </a:solidFill>
                <a:effectLst/>
                <a:uLnTx/>
                <a:uFillTx/>
                <a:latin typeface="Microsoft YaHei"/>
                <a:ea typeface="Microsoft YaHei"/>
                <a:cs typeface="+mn-ea"/>
                <a:sym typeface="+mn-lt"/>
              </a:rPr>
              <a:t>物联网操作系统</a:t>
            </a:r>
            <a:r>
              <a:rPr kumimoji="0" lang="zh-CN" altLang="zh-CN" sz="4000" b="1" i="0" u="none" strike="noStrike" kern="1200" cap="none" spc="0" normalizeH="0" baseline="0" noProof="0" dirty="0">
                <a:ln w="12700">
                  <a:solidFill>
                    <a:srgbClr val="757579"/>
                  </a:solidFill>
                  <a:prstDash val="solid"/>
                </a:ln>
                <a:pattFill prst="ltDnDiag">
                  <a:fgClr>
                    <a:srgbClr val="757579">
                      <a:lumMod val="60000"/>
                      <a:lumOff val="40000"/>
                    </a:srgbClr>
                  </a:fgClr>
                  <a:bgClr>
                    <a:srgbClr val="FFFFFF"/>
                  </a:bgClr>
                </a:pattFill>
                <a:effectLst/>
                <a:uLnTx/>
                <a:uFillTx/>
                <a:latin typeface="Microsoft YaHei"/>
                <a:ea typeface="Microsoft YaHei"/>
                <a:cs typeface="+mn-ea"/>
                <a:sym typeface="+mn-lt"/>
              </a:rPr>
              <a:t>——</a:t>
            </a:r>
            <a:endParaRPr kumimoji="0" lang="zh-CN" altLang="en-US" sz="4000" b="1" i="0" u="none" strike="noStrike" kern="1200" cap="none" spc="0" normalizeH="0" baseline="0" noProof="0" dirty="0">
              <a:ln w="12700">
                <a:solidFill>
                  <a:srgbClr val="757579"/>
                </a:solidFill>
                <a:prstDash val="solid"/>
              </a:ln>
              <a:pattFill prst="ltDnDiag">
                <a:fgClr>
                  <a:srgbClr val="757579">
                    <a:lumMod val="60000"/>
                    <a:lumOff val="40000"/>
                  </a:srgbClr>
                </a:fgClr>
                <a:bgClr>
                  <a:srgbClr val="FFFFFF"/>
                </a:bgClr>
              </a:pattFill>
              <a:effectLst/>
              <a:uLnTx/>
              <a:uFillTx/>
              <a:latin typeface="Microsoft YaHei"/>
              <a:ea typeface="Microsoft YaHei"/>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err="1">
                <a:ln>
                  <a:noFill/>
                </a:ln>
                <a:solidFill>
                  <a:srgbClr val="42E6E0"/>
                </a:solidFill>
                <a:effectLst/>
                <a:uLnTx/>
                <a:uFillTx/>
                <a:latin typeface="Microsoft YaHei"/>
                <a:ea typeface="Microsoft YaHei"/>
                <a:cs typeface="+mn-ea"/>
                <a:sym typeface="+mn-lt"/>
              </a:rPr>
              <a:t>LiteOS</a:t>
            </a:r>
            <a:r>
              <a:rPr kumimoji="0" lang="zh-CN" altLang="en-US" sz="2800" b="1" i="0" u="none" strike="noStrike" kern="1200" cap="none" spc="0" normalizeH="0" baseline="0" noProof="0">
                <a:ln>
                  <a:noFill/>
                </a:ln>
                <a:solidFill>
                  <a:srgbClr val="42E6E0"/>
                </a:solidFill>
                <a:effectLst/>
                <a:uLnTx/>
                <a:uFillTx/>
                <a:latin typeface="Microsoft YaHei"/>
                <a:ea typeface="Microsoft YaHei"/>
                <a:cs typeface="+mn-ea"/>
                <a:sym typeface="+mn-lt"/>
              </a:rPr>
              <a:t>任务概述</a:t>
            </a:r>
            <a:endParaRPr kumimoji="0" lang="en-US" altLang="zh-CN" sz="2800" b="1" i="0" u="none" strike="noStrike" kern="1200" cap="none" spc="0" normalizeH="0" baseline="0" noProof="0" dirty="0">
              <a:ln>
                <a:noFill/>
              </a:ln>
              <a:solidFill>
                <a:srgbClr val="42E6E0"/>
              </a:solidFill>
              <a:effectLst/>
              <a:uLnTx/>
              <a:uFillTx/>
              <a:latin typeface="Microsoft YaHei"/>
              <a:ea typeface="Microsoft YaHei"/>
              <a:cs typeface="+mn-ea"/>
              <a:sym typeface="+mn-lt"/>
            </a:endParaRPr>
          </a:p>
        </p:txBody>
      </p:sp>
    </p:spTree>
    <p:extLst>
      <p:ext uri="{BB962C8B-B14F-4D97-AF65-F5344CB8AC3E}">
        <p14:creationId xmlns:p14="http://schemas.microsoft.com/office/powerpoint/2010/main" val="2150637373"/>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目录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3200" b="1" dirty="0">
                <a:solidFill>
                  <a:schemeClr val="tx1"/>
                </a:solidFill>
              </a:rPr>
              <a:t>基础概念</a:t>
            </a:r>
            <a:endParaRPr lang="en-US" altLang="zh-CN" sz="3200" b="1" dirty="0">
              <a:solidFill>
                <a:schemeClr val="tx1"/>
              </a:solidFill>
            </a:endParaRPr>
          </a:p>
          <a:p>
            <a:r>
              <a:rPr lang="zh-CN" altLang="en-US" sz="3200" b="1" dirty="0">
                <a:solidFill>
                  <a:schemeClr val="tx1"/>
                </a:solidFill>
              </a:rPr>
              <a:t>任务管理</a:t>
            </a:r>
            <a:endParaRPr lang="en-US" altLang="zh-CN" sz="3200" b="1" dirty="0">
              <a:solidFill>
                <a:schemeClr val="tx1"/>
              </a:solidFill>
            </a:endParaRPr>
          </a:p>
          <a:p>
            <a:pPr lvl="1"/>
            <a:r>
              <a:rPr lang="zh-CN" altLang="en-US" sz="2800" dirty="0"/>
              <a:t>任务信息</a:t>
            </a:r>
            <a:endParaRPr lang="en-US" altLang="zh-CN" sz="2800" dirty="0"/>
          </a:p>
          <a:p>
            <a:pPr lvl="1"/>
            <a:r>
              <a:rPr lang="zh-CN" altLang="en-US" sz="2800" dirty="0"/>
              <a:t>任务状态</a:t>
            </a:r>
            <a:endParaRPr lang="en-US" altLang="zh-CN" sz="2800" dirty="0"/>
          </a:p>
          <a:p>
            <a:r>
              <a:rPr lang="zh-CN" altLang="en-US" sz="3200" b="1" dirty="0">
                <a:solidFill>
                  <a:schemeClr val="tx1"/>
                </a:solidFill>
              </a:rPr>
              <a:t>任务调度</a:t>
            </a:r>
            <a:endParaRPr lang="en-US" altLang="zh-CN" sz="3200" b="1" dirty="0">
              <a:solidFill>
                <a:schemeClr val="tx1"/>
              </a:solidFill>
            </a:endParaRPr>
          </a:p>
          <a:p>
            <a:pPr lvl="1"/>
            <a:r>
              <a:rPr lang="zh-CN" altLang="en-US" sz="2800" dirty="0"/>
              <a:t>任务上下文</a:t>
            </a:r>
            <a:endParaRPr lang="en-US" altLang="zh-CN" sz="2800" dirty="0"/>
          </a:p>
          <a:p>
            <a:pPr lvl="1"/>
            <a:r>
              <a:rPr lang="zh-CN" altLang="en-US" sz="2800" dirty="0"/>
              <a:t>调度算法</a:t>
            </a:r>
            <a:endParaRPr lang="en-US" altLang="zh-CN" sz="2800" dirty="0"/>
          </a:p>
        </p:txBody>
      </p:sp>
    </p:spTree>
    <p:extLst>
      <p:ext uri="{BB962C8B-B14F-4D97-AF65-F5344CB8AC3E}">
        <p14:creationId xmlns:p14="http://schemas.microsoft.com/office/powerpoint/2010/main" val="712534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基础概念</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内容占位符 2">
            <a:extLst>
              <a:ext uri="{FF2B5EF4-FFF2-40B4-BE49-F238E27FC236}">
                <a16:creationId xmlns:a16="http://schemas.microsoft.com/office/drawing/2014/main" id="{A3A221BB-75CD-43B8-98EF-22F235229ABF}"/>
              </a:ext>
            </a:extLst>
          </p:cNvPr>
          <p:cNvSpPr>
            <a:spLocks noGrp="1"/>
          </p:cNvSpPr>
          <p:nvPr>
            <p:ph idx="1"/>
          </p:nvPr>
        </p:nvSpPr>
        <p:spPr>
          <a:xfrm>
            <a:off x="227746" y="1134006"/>
            <a:ext cx="7458929" cy="3516652"/>
          </a:xfrm>
        </p:spPr>
        <p:txBody>
          <a:bodyPr>
            <a:normAutofit fontScale="92500" lnSpcReduction="10000"/>
          </a:bodyPr>
          <a:lstStyle/>
          <a:p>
            <a:r>
              <a:rPr lang="zh-CN" altLang="en-US" sz="2400" b="1" dirty="0">
                <a:solidFill>
                  <a:srgbClr val="C00000"/>
                </a:solidFill>
              </a:rPr>
              <a:t>进程与线程：</a:t>
            </a:r>
            <a:r>
              <a:rPr lang="zh-CN" altLang="en-US" sz="2400" b="1" dirty="0">
                <a:solidFill>
                  <a:schemeClr val="tx1"/>
                </a:solidFill>
              </a:rPr>
              <a:t>软件运行及资源占用为出发点</a:t>
            </a:r>
            <a:endParaRPr lang="en-US" altLang="zh-CN" sz="2400" b="1" dirty="0">
              <a:solidFill>
                <a:schemeClr val="tx1"/>
              </a:solidFill>
            </a:endParaRPr>
          </a:p>
          <a:p>
            <a:pPr lvl="1"/>
            <a:r>
              <a:rPr lang="zh-CN" altLang="en-US" sz="2000" dirty="0"/>
              <a:t>进程是运行程序的实例，</a:t>
            </a:r>
            <a:r>
              <a:rPr lang="zh-CN" altLang="en-US" sz="2000" dirty="0">
                <a:solidFill>
                  <a:srgbClr val="FF0000"/>
                </a:solidFill>
              </a:rPr>
              <a:t>资源分配的最小单位</a:t>
            </a:r>
            <a:endParaRPr lang="en-US" altLang="zh-CN" sz="2000" dirty="0">
              <a:solidFill>
                <a:srgbClr val="FF0000"/>
              </a:solidFill>
            </a:endParaRPr>
          </a:p>
          <a:p>
            <a:pPr lvl="1"/>
            <a:r>
              <a:rPr lang="zh-CN" altLang="en-US" sz="2000" dirty="0"/>
              <a:t>线程是系统调度的基本单位，</a:t>
            </a:r>
            <a:r>
              <a:rPr lang="zh-CN" altLang="en-US" sz="2000" dirty="0">
                <a:solidFill>
                  <a:srgbClr val="FF0000"/>
                </a:solidFill>
              </a:rPr>
              <a:t>程序执行的最小单位</a:t>
            </a:r>
            <a:endParaRPr lang="en-US" altLang="zh-CN" sz="2000" dirty="0">
              <a:solidFill>
                <a:srgbClr val="FF0000"/>
              </a:solidFill>
            </a:endParaRPr>
          </a:p>
          <a:p>
            <a:pPr lvl="1"/>
            <a:r>
              <a:rPr lang="zh-CN" altLang="en-US" sz="2000" dirty="0"/>
              <a:t>一个进程包含</a:t>
            </a:r>
            <a:r>
              <a:rPr lang="zh-CN" altLang="en-US" sz="2000" dirty="0">
                <a:solidFill>
                  <a:srgbClr val="FF0000"/>
                </a:solidFill>
              </a:rPr>
              <a:t>多个线程</a:t>
            </a:r>
            <a:endParaRPr lang="en-US" altLang="zh-CN" sz="2000" dirty="0">
              <a:solidFill>
                <a:srgbClr val="FF0000"/>
              </a:solidFill>
            </a:endParaRPr>
          </a:p>
          <a:p>
            <a:pPr lvl="1"/>
            <a:r>
              <a:rPr lang="zh-CN" altLang="en-US" sz="2000" dirty="0"/>
              <a:t>进程之间相互独立，同一进程中的</a:t>
            </a:r>
            <a:r>
              <a:rPr lang="zh-CN" altLang="en-US" sz="2000" dirty="0">
                <a:solidFill>
                  <a:srgbClr val="FF0000"/>
                </a:solidFill>
              </a:rPr>
              <a:t>线程共享</a:t>
            </a:r>
            <a:r>
              <a:rPr lang="zh-CN" altLang="en-US" sz="2000" dirty="0"/>
              <a:t>内存空间</a:t>
            </a:r>
            <a:endParaRPr lang="en-US" altLang="zh-CN" sz="2000" dirty="0"/>
          </a:p>
          <a:p>
            <a:r>
              <a:rPr lang="zh-CN" altLang="en-US" sz="2400" b="1" dirty="0">
                <a:solidFill>
                  <a:srgbClr val="C00000"/>
                </a:solidFill>
              </a:rPr>
              <a:t>任务：</a:t>
            </a:r>
            <a:r>
              <a:rPr lang="zh-CN" altLang="en-US" sz="2400" b="1" dirty="0">
                <a:solidFill>
                  <a:schemeClr val="tx1"/>
                </a:solidFill>
              </a:rPr>
              <a:t>以功能、业务为出发点</a:t>
            </a:r>
            <a:endParaRPr lang="en-US" altLang="zh-CN" sz="2400" b="1" dirty="0">
              <a:solidFill>
                <a:schemeClr val="tx1"/>
              </a:solidFill>
            </a:endParaRPr>
          </a:p>
          <a:p>
            <a:pPr lvl="1"/>
            <a:r>
              <a:rPr lang="zh-CN" altLang="en-US" sz="2000" dirty="0"/>
              <a:t>竞争系统资源的最小单位</a:t>
            </a:r>
            <a:endParaRPr lang="en-US" altLang="zh-CN" sz="2000" dirty="0"/>
          </a:p>
          <a:p>
            <a:pPr lvl="1"/>
            <a:r>
              <a:rPr lang="zh-CN" altLang="en-US" sz="2000" dirty="0"/>
              <a:t>多任务并发执行</a:t>
            </a:r>
            <a:endParaRPr lang="en-US" altLang="zh-CN" sz="2000" dirty="0"/>
          </a:p>
          <a:p>
            <a:pPr lvl="1"/>
            <a:r>
              <a:rPr lang="zh-CN" altLang="en-US" sz="2000" dirty="0"/>
              <a:t>通过任务管理实现任务调度，管理业务流程</a:t>
            </a:r>
            <a:endParaRPr lang="en-US" altLang="zh-CN" sz="2000" dirty="0"/>
          </a:p>
          <a:p>
            <a:pPr lvl="1"/>
            <a:r>
              <a:rPr lang="zh-CN" altLang="en-US" sz="2000" dirty="0"/>
              <a:t>一个任务可以是一个进程，也可以是一个线程</a:t>
            </a:r>
          </a:p>
        </p:txBody>
      </p:sp>
      <p:pic>
        <p:nvPicPr>
          <p:cNvPr id="27650" name="Picture 2" descr="https://pic1.zhimg.com/v2-868dadb4181974b1fb4e078164e99cf0_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237" y="1134005"/>
            <a:ext cx="4589506" cy="3210766"/>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a:extLst>
              <a:ext uri="{FF2B5EF4-FFF2-40B4-BE49-F238E27FC236}">
                <a16:creationId xmlns:a16="http://schemas.microsoft.com/office/drawing/2014/main" id="{A3A221BB-75CD-43B8-98EF-22F235229ABF}"/>
              </a:ext>
            </a:extLst>
          </p:cNvPr>
          <p:cNvSpPr txBox="1">
            <a:spLocks/>
          </p:cNvSpPr>
          <p:nvPr/>
        </p:nvSpPr>
        <p:spPr>
          <a:xfrm>
            <a:off x="627796" y="4777310"/>
            <a:ext cx="5716247" cy="1509978"/>
          </a:xfrm>
          <a:prstGeom prst="rect">
            <a:avLst/>
          </a:prstGeom>
        </p:spPr>
        <p:txBody>
          <a:bodyPr vert="horz" lIns="91440" tIns="45720" rIns="91440" bIns="45720" rtlCol="0">
            <a:normAutofit fontScale="92500" lnSpcReduction="20000"/>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4" rtl="0" eaLnBrk="1" fontAlgn="auto" latinLnBrk="0" hangingPunct="1">
              <a:lnSpc>
                <a:spcPct val="120000"/>
              </a:lnSpc>
              <a:spcBef>
                <a:spcPts val="0"/>
              </a:spcBef>
              <a:spcAft>
                <a:spcPts val="0"/>
              </a:spcAft>
              <a:buClrTx/>
              <a:buSzPct val="80000"/>
              <a:buFont typeface="Wingdings" pitchFamily="2" charset="2"/>
              <a:buNone/>
              <a:tabLst/>
              <a:defRPr/>
            </a:pPr>
            <a:r>
              <a:rPr kumimoji="0" lang="zh-CN" altLang="en-US" sz="2400" b="0" i="0" u="none" strike="noStrike" kern="1200" cap="none" spc="0" normalizeH="0" baseline="0" noProof="0" dirty="0">
                <a:ln>
                  <a:noFill/>
                </a:ln>
                <a:solidFill>
                  <a:srgbClr val="C00000"/>
                </a:solidFill>
                <a:effectLst/>
                <a:uLnTx/>
                <a:uFillTx/>
                <a:latin typeface="Microsoft YaHei"/>
                <a:ea typeface="Microsoft YaHei"/>
                <a:cs typeface="+mn-cs"/>
              </a:rPr>
              <a:t>实例：</a:t>
            </a:r>
            <a:endParaRPr kumimoji="0" lang="en-US" altLang="zh-CN" sz="2400" b="0"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354" rtl="0" eaLnBrk="1" fontAlgn="auto" latinLnBrk="0" hangingPunct="1">
              <a:lnSpc>
                <a:spcPct val="120000"/>
              </a:lnSpc>
              <a:spcBef>
                <a:spcPts val="0"/>
              </a:spcBef>
              <a:spcAft>
                <a:spcPts val="0"/>
              </a:spcAft>
              <a:buClrTx/>
              <a:buSzPct val="80000"/>
              <a:buFont typeface="Wingdings" pitchFamily="2" charset="2"/>
              <a:buNone/>
              <a:tabLst/>
              <a:defRPr/>
            </a:pPr>
            <a:r>
              <a:rPr kumimoji="0" lang="zh-CN" altLang="en-US" sz="2400" b="0" i="0" u="none" strike="noStrike" kern="1200" cap="none" spc="0" normalizeH="0" baseline="0" noProof="0" dirty="0">
                <a:ln>
                  <a:noFill/>
                </a:ln>
                <a:solidFill>
                  <a:srgbClr val="C00000"/>
                </a:solidFill>
                <a:effectLst/>
                <a:uLnTx/>
                <a:uFillTx/>
                <a:latin typeface="Microsoft YaHei"/>
                <a:ea typeface="Microsoft YaHei"/>
                <a:cs typeface="+mn-cs"/>
              </a:rPr>
              <a:t>一个运行的</a:t>
            </a:r>
            <a:r>
              <a:rPr kumimoji="0" lang="en-US" altLang="zh-CN" sz="2400" b="0" i="0" u="none" strike="noStrike" kern="1200" cap="none" spc="0" normalizeH="0" baseline="0" noProof="0" dirty="0">
                <a:ln>
                  <a:noFill/>
                </a:ln>
                <a:solidFill>
                  <a:srgbClr val="C00000"/>
                </a:solidFill>
                <a:effectLst/>
                <a:uLnTx/>
                <a:uFillTx/>
                <a:latin typeface="Microsoft YaHei"/>
                <a:ea typeface="Microsoft YaHei"/>
                <a:cs typeface="+mn-cs"/>
              </a:rPr>
              <a:t>WORD</a:t>
            </a:r>
            <a:r>
              <a:rPr kumimoji="0" lang="zh-CN" altLang="en-US" sz="2400" b="0" i="0" u="none" strike="noStrike" kern="1200" cap="none" spc="0" normalizeH="0" baseline="0" noProof="0" dirty="0">
                <a:ln>
                  <a:noFill/>
                </a:ln>
                <a:solidFill>
                  <a:srgbClr val="C00000"/>
                </a:solidFill>
                <a:effectLst/>
                <a:uLnTx/>
                <a:uFillTx/>
                <a:latin typeface="Microsoft YaHei"/>
                <a:ea typeface="Microsoft YaHei"/>
                <a:cs typeface="+mn-cs"/>
              </a:rPr>
              <a:t>是一个进程</a:t>
            </a:r>
            <a:endParaRPr kumimoji="0" lang="en-US" altLang="zh-CN" sz="2400" b="0"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354" rtl="0" eaLnBrk="1" fontAlgn="auto" latinLnBrk="0" hangingPunct="1">
              <a:lnSpc>
                <a:spcPct val="120000"/>
              </a:lnSpc>
              <a:spcBef>
                <a:spcPts val="0"/>
              </a:spcBef>
              <a:spcAft>
                <a:spcPts val="0"/>
              </a:spcAft>
              <a:buClrTx/>
              <a:buSzPct val="80000"/>
              <a:buFont typeface="Wingdings" pitchFamily="2" charset="2"/>
              <a:buNone/>
              <a:tabLst/>
              <a:defRPr/>
            </a:pPr>
            <a:r>
              <a:rPr kumimoji="0" lang="zh-CN" altLang="en-US" sz="2400" b="0" i="0" u="none" strike="noStrike" kern="1200" cap="none" spc="0" normalizeH="0" baseline="0" noProof="0" dirty="0">
                <a:ln>
                  <a:noFill/>
                </a:ln>
                <a:solidFill>
                  <a:srgbClr val="C00000"/>
                </a:solidFill>
                <a:effectLst/>
                <a:uLnTx/>
                <a:uFillTx/>
                <a:latin typeface="Microsoft YaHei"/>
                <a:ea typeface="Microsoft YaHei"/>
                <a:cs typeface="+mn-cs"/>
              </a:rPr>
              <a:t>其中文字输入、拼写检查、自动保存就是三个线程</a:t>
            </a:r>
            <a:endParaRPr kumimoji="0" lang="zh-CN" altLang="en-US" sz="24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p:txBody>
      </p:sp>
    </p:spTree>
    <p:extLst>
      <p:ext uri="{BB962C8B-B14F-4D97-AF65-F5344CB8AC3E}">
        <p14:creationId xmlns:p14="http://schemas.microsoft.com/office/powerpoint/2010/main" val="1877831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任务管理原理</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内容占位符 2">
            <a:extLst>
              <a:ext uri="{FF2B5EF4-FFF2-40B4-BE49-F238E27FC236}">
                <a16:creationId xmlns:a16="http://schemas.microsoft.com/office/drawing/2014/main" id="{A3A221BB-75CD-43B8-98EF-22F235229ABF}"/>
              </a:ext>
            </a:extLst>
          </p:cNvPr>
          <p:cNvSpPr txBox="1">
            <a:spLocks/>
          </p:cNvSpPr>
          <p:nvPr/>
        </p:nvSpPr>
        <p:spPr>
          <a:xfrm>
            <a:off x="627797" y="1102970"/>
            <a:ext cx="7886700" cy="4351338"/>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4000" b="1" i="0" u="none" strike="noStrike" kern="1200" cap="none" spc="0" normalizeH="0" baseline="0" noProof="0" dirty="0">
                <a:ln>
                  <a:noFill/>
                </a:ln>
                <a:solidFill>
                  <a:srgbClr val="C00000"/>
                </a:solidFill>
                <a:effectLst/>
                <a:uLnTx/>
                <a:uFillTx/>
                <a:latin typeface="Microsoft YaHei"/>
                <a:ea typeface="Microsoft YaHei"/>
                <a:cs typeface="+mn-cs"/>
              </a:rPr>
              <a:t>任务信息</a:t>
            </a:r>
            <a:endParaRPr kumimoji="0" lang="en-US" altLang="zh-CN" sz="4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4000" b="1" i="0" u="none" strike="noStrike" kern="1200" cap="none" spc="0" normalizeH="0" baseline="0" noProof="0" dirty="0">
                <a:ln>
                  <a:noFill/>
                </a:ln>
                <a:solidFill>
                  <a:srgbClr val="C00000"/>
                </a:solidFill>
                <a:effectLst/>
                <a:uLnTx/>
                <a:uFillTx/>
                <a:latin typeface="Microsoft YaHei"/>
                <a:ea typeface="Microsoft YaHei"/>
                <a:cs typeface="+mn-cs"/>
              </a:rPr>
              <a:t>任务状态</a:t>
            </a:r>
            <a:endParaRPr kumimoji="0" lang="en-US" altLang="zh-CN" sz="4000" b="1" i="0" u="none" strike="noStrike" kern="1200" cap="none" spc="0" normalizeH="0" baseline="0" noProof="0" dirty="0">
              <a:ln>
                <a:noFill/>
              </a:ln>
              <a:solidFill>
                <a:srgbClr val="C0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36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任务状态迁移</a:t>
            </a:r>
            <a:endParaRPr kumimoji="0" lang="en-US" altLang="zh-CN" sz="36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4000" b="1" i="0" u="none" strike="noStrike" kern="1200" cap="none" spc="0" normalizeH="0" baseline="0" noProof="0" dirty="0">
                <a:ln>
                  <a:noFill/>
                </a:ln>
                <a:solidFill>
                  <a:srgbClr val="C00000"/>
                </a:solidFill>
                <a:effectLst/>
                <a:uLnTx/>
                <a:uFillTx/>
                <a:latin typeface="Microsoft YaHei"/>
                <a:ea typeface="Microsoft YaHei"/>
                <a:cs typeface="+mn-cs"/>
              </a:rPr>
              <a:t>任务栈</a:t>
            </a:r>
            <a:endParaRPr kumimoji="0" lang="en-US" altLang="zh-CN" sz="4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4000" b="1" i="0" u="none" strike="noStrike" kern="1200" cap="none" spc="0" normalizeH="0" baseline="0" noProof="0" dirty="0">
                <a:ln>
                  <a:noFill/>
                </a:ln>
                <a:solidFill>
                  <a:srgbClr val="C00000"/>
                </a:solidFill>
                <a:effectLst/>
                <a:uLnTx/>
                <a:uFillTx/>
                <a:latin typeface="Microsoft YaHei"/>
                <a:ea typeface="Microsoft YaHei"/>
                <a:cs typeface="+mn-cs"/>
              </a:rPr>
              <a:t>任务优先级</a:t>
            </a:r>
          </a:p>
        </p:txBody>
      </p:sp>
    </p:spTree>
    <p:extLst>
      <p:ext uri="{BB962C8B-B14F-4D97-AF65-F5344CB8AC3E}">
        <p14:creationId xmlns:p14="http://schemas.microsoft.com/office/powerpoint/2010/main" val="3406541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任务信息</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6" name="内容占位符 2">
            <a:extLst>
              <a:ext uri="{FF2B5EF4-FFF2-40B4-BE49-F238E27FC236}">
                <a16:creationId xmlns:a16="http://schemas.microsoft.com/office/drawing/2014/main" id="{ABE6EB6A-F530-41A6-8CD6-17E5BFB335B4}"/>
              </a:ext>
            </a:extLst>
          </p:cNvPr>
          <p:cNvSpPr>
            <a:spLocks noGrp="1"/>
          </p:cNvSpPr>
          <p:nvPr>
            <p:ph idx="1"/>
          </p:nvPr>
        </p:nvSpPr>
        <p:spPr>
          <a:xfrm>
            <a:off x="138303" y="899794"/>
            <a:ext cx="4528947" cy="5716905"/>
          </a:xfrm>
        </p:spPr>
        <p:txBody>
          <a:bodyPr>
            <a:noAutofit/>
          </a:bodyPr>
          <a:lstStyle/>
          <a:p>
            <a:pPr marL="357188" indent="-357188">
              <a:lnSpc>
                <a:spcPct val="114000"/>
              </a:lnSpc>
            </a:pPr>
            <a:r>
              <a:rPr lang="zh-CN" altLang="en-US" sz="2400" b="1" dirty="0">
                <a:solidFill>
                  <a:srgbClr val="C00000"/>
                </a:solidFill>
              </a:rPr>
              <a:t>任务包含多个信息</a:t>
            </a:r>
            <a:endParaRPr lang="en-US" altLang="zh-CN" sz="2400" b="1" dirty="0">
              <a:solidFill>
                <a:srgbClr val="C00000"/>
              </a:solidFill>
            </a:endParaRPr>
          </a:p>
          <a:p>
            <a:pPr marL="357188" lvl="1" indent="-227013">
              <a:lnSpc>
                <a:spcPct val="114000"/>
              </a:lnSpc>
            </a:pPr>
            <a:r>
              <a:rPr lang="zh-CN" altLang="en-US" sz="2100" b="1" dirty="0">
                <a:solidFill>
                  <a:srgbClr val="C00000"/>
                </a:solidFill>
              </a:rPr>
              <a:t>上下文栈指针：</a:t>
            </a:r>
            <a:r>
              <a:rPr lang="zh-CN" altLang="en-US" sz="2100" dirty="0"/>
              <a:t>任务上下文“书签”，决定任务切换时的状态保存与恢复</a:t>
            </a:r>
          </a:p>
          <a:p>
            <a:pPr marL="357188" lvl="1" indent="-227013">
              <a:lnSpc>
                <a:spcPct val="114000"/>
              </a:lnSpc>
            </a:pPr>
            <a:r>
              <a:rPr lang="zh-CN" altLang="en-US" sz="2100" b="1" dirty="0">
                <a:solidFill>
                  <a:srgbClr val="C00000"/>
                </a:solidFill>
              </a:rPr>
              <a:t>任务状态：</a:t>
            </a:r>
            <a:r>
              <a:rPr lang="zh-CN" altLang="en-US" sz="2100" dirty="0"/>
              <a:t>用于表示任务当前正在执行或在等待</a:t>
            </a:r>
          </a:p>
          <a:p>
            <a:pPr marL="357188" lvl="1" indent="-227013">
              <a:lnSpc>
                <a:spcPct val="114000"/>
              </a:lnSpc>
            </a:pPr>
            <a:r>
              <a:rPr lang="zh-CN" altLang="en-US" sz="2100" b="1" dirty="0">
                <a:solidFill>
                  <a:srgbClr val="C00000"/>
                </a:solidFill>
              </a:rPr>
              <a:t>优先级：</a:t>
            </a:r>
            <a:r>
              <a:rPr lang="zh-CN" altLang="en-US" sz="2100" dirty="0"/>
              <a:t>任务的优先级代表着任务执行的优先顺序</a:t>
            </a:r>
            <a:endParaRPr lang="en-US" altLang="zh-CN" sz="2100" dirty="0"/>
          </a:p>
          <a:p>
            <a:pPr marL="357188" lvl="1" indent="-227013">
              <a:lnSpc>
                <a:spcPct val="114000"/>
              </a:lnSpc>
            </a:pPr>
            <a:r>
              <a:rPr lang="zh-CN" altLang="en-US" sz="2100" b="1" dirty="0">
                <a:solidFill>
                  <a:srgbClr val="C00000"/>
                </a:solidFill>
              </a:rPr>
              <a:t>标识符</a:t>
            </a:r>
            <a:r>
              <a:rPr lang="zh-CN" altLang="en-US" sz="2100" dirty="0"/>
              <a:t>：和任务相关的唯一标识符，用于区别于其他任务</a:t>
            </a:r>
          </a:p>
          <a:p>
            <a:pPr marL="357188" lvl="1" indent="-227013">
              <a:lnSpc>
                <a:spcPct val="114000"/>
              </a:lnSpc>
            </a:pPr>
            <a:r>
              <a:rPr lang="zh-CN" altLang="en-US" sz="2100" b="1" dirty="0">
                <a:solidFill>
                  <a:srgbClr val="C00000"/>
                </a:solidFill>
              </a:rPr>
              <a:t>任务名：</a:t>
            </a:r>
            <a:r>
              <a:rPr lang="zh-CN" altLang="en-US" sz="2100" dirty="0"/>
              <a:t>任务的名称，便于用户对任务进行区分</a:t>
            </a:r>
            <a:endParaRPr lang="en-US" altLang="zh-CN" sz="2100" dirty="0"/>
          </a:p>
          <a:p>
            <a:pPr marL="357188" indent="-357188">
              <a:lnSpc>
                <a:spcPct val="114000"/>
              </a:lnSpc>
            </a:pPr>
            <a:r>
              <a:rPr lang="zh-CN" altLang="en-US" sz="2400" b="1" dirty="0">
                <a:solidFill>
                  <a:srgbClr val="C00000"/>
                </a:solidFill>
              </a:rPr>
              <a:t>任务控制块</a:t>
            </a:r>
            <a:endParaRPr lang="en-US" altLang="zh-CN" sz="2400" b="1" dirty="0">
              <a:solidFill>
                <a:srgbClr val="C00000"/>
              </a:solidFill>
            </a:endParaRPr>
          </a:p>
          <a:p>
            <a:pPr marL="130175" lvl="1" indent="0">
              <a:lnSpc>
                <a:spcPct val="114000"/>
              </a:lnSpc>
              <a:buNone/>
            </a:pPr>
            <a:r>
              <a:rPr lang="zh-CN" altLang="en-US" sz="2100" dirty="0"/>
              <a:t>   存放任务信息的数据结构</a:t>
            </a:r>
          </a:p>
          <a:p>
            <a:pPr lvl="1">
              <a:lnSpc>
                <a:spcPct val="114000"/>
              </a:lnSpc>
            </a:pPr>
            <a:endParaRPr lang="zh-CN" altLang="en-US" dirty="0"/>
          </a:p>
        </p:txBody>
      </p:sp>
      <p:pic>
        <p:nvPicPr>
          <p:cNvPr id="3" name="图片 2"/>
          <p:cNvPicPr>
            <a:picLocks noChangeAspect="1"/>
          </p:cNvPicPr>
          <p:nvPr/>
        </p:nvPicPr>
        <p:blipFill>
          <a:blip r:embed="rId2"/>
          <a:stretch>
            <a:fillRect/>
          </a:stretch>
        </p:blipFill>
        <p:spPr>
          <a:xfrm>
            <a:off x="4513718" y="1205206"/>
            <a:ext cx="7574199" cy="4881269"/>
          </a:xfrm>
          <a:prstGeom prst="rect">
            <a:avLst/>
          </a:prstGeom>
        </p:spPr>
      </p:pic>
    </p:spTree>
    <p:extLst>
      <p:ext uri="{BB962C8B-B14F-4D97-AF65-F5344CB8AC3E}">
        <p14:creationId xmlns:p14="http://schemas.microsoft.com/office/powerpoint/2010/main" val="2280097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任务状态</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矩形 3"/>
          <p:cNvSpPr/>
          <p:nvPr/>
        </p:nvSpPr>
        <p:spPr>
          <a:xfrm>
            <a:off x="444917" y="1025327"/>
            <a:ext cx="6815420" cy="5446812"/>
          </a:xfrm>
          <a:prstGeom prst="rect">
            <a:avLst/>
          </a:prstGeom>
        </p:spPr>
        <p:txBody>
          <a:bodyPr wrap="square">
            <a:spAutoFit/>
          </a:bodyPr>
          <a:lstStyle/>
          <a:p>
            <a:pPr marL="357188" marR="0" lvl="0" indent="-357188" algn="l" defTabSz="914354" rtl="0" eaLnBrk="1" fontAlgn="auto" latinLnBrk="0" hangingPunct="1">
              <a:lnSpc>
                <a:spcPct val="125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就绪态（</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Ready</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200" marR="0" lvl="1"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该任务处于就绪列表中，就绪的任务已经</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具备执行的能力</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，只等待调度器进行调度，新创建的任务会被初始化为该状态</a:t>
            </a:r>
          </a:p>
          <a:p>
            <a:pPr marL="357188" marR="0" lvl="0" indent="-357188" algn="l" defTabSz="914354" rtl="0" eaLnBrk="1" fontAlgn="auto" latinLnBrk="0" hangingPunct="1">
              <a:lnSpc>
                <a:spcPct val="125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运行态（</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Running</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200" marR="0" lvl="1"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该状态表明任务正在执行，此时它占用处理器，</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LiteOS</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调度器选择运行的永远是</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处于最高优先级的就绪态任务</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，当任务被运行的一刻，它的任务状态就变成了运行态。</a:t>
            </a:r>
          </a:p>
          <a:p>
            <a:pPr marL="357188" marR="0" lvl="0" indent="-357188" algn="l" defTabSz="914354" rtl="0" eaLnBrk="1" fontAlgn="auto" latinLnBrk="0" hangingPunct="1">
              <a:lnSpc>
                <a:spcPct val="125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阻塞态（</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Blocked</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200" marR="0" lvl="1"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如果任务当前正在等待某个时序或外部中断，那么该任务处于阻塞状态，它</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不处于就绪列表</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中，无法得到调度器的调度。阻塞态包含</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任务被挂起、任务被延时、任务正在等待信号量、读写队列</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或者</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等待读写事件</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等。</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357188" marR="0" lvl="1" indent="-357188" algn="l" defTabSz="914354" rtl="0" eaLnBrk="1" fontAlgn="auto" latinLnBrk="0" hangingPunct="1">
              <a:lnSpc>
                <a:spcPct val="125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退出态（</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Dead</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200" marR="0" lvl="1"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该任务</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运行结束</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，等待系统回收资源</a:t>
            </a:r>
          </a:p>
        </p:txBody>
      </p:sp>
      <p:pic>
        <p:nvPicPr>
          <p:cNvPr id="7" name="图片 6"/>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1704650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任务状态迁移</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3" name="矩形 2"/>
          <p:cNvSpPr/>
          <p:nvPr/>
        </p:nvSpPr>
        <p:spPr>
          <a:xfrm>
            <a:off x="402336" y="982162"/>
            <a:ext cx="6775704" cy="539205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创建任务→就绪态：</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任务</a:t>
            </a:r>
            <a:r>
              <a:rPr kumimoji="0" lang="zh-CN" altLang="en-US" sz="2000" b="0" i="0" u="none" strike="noStrike" kern="1200" cap="none" spc="0" normalizeH="0" baseline="0" noProof="0" dirty="0">
                <a:ln>
                  <a:noFill/>
                </a:ln>
                <a:solidFill>
                  <a:srgbClr val="FF0000"/>
                </a:solidFill>
                <a:effectLst/>
                <a:uLnTx/>
                <a:uFillTx/>
                <a:latin typeface="Lato"/>
                <a:ea typeface="Microsoft YaHei"/>
                <a:cs typeface="+mn-cs"/>
              </a:rPr>
              <a:t>创建完成后进入就绪态</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，表明任务已准备就绪，随时可以运行，只等待调度器进行调度。</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就绪态→运行态：</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任务创建后进入就绪态，发生任务切换时，就绪列表中最高优先级的任务被执行，从而进入</a:t>
            </a:r>
            <a:r>
              <a:rPr kumimoji="0" lang="zh-CN" altLang="en-US" sz="2000" b="0" i="0" u="none" strike="noStrike" kern="1200" cap="none" spc="0" normalizeH="0" baseline="0" noProof="0" dirty="0">
                <a:ln>
                  <a:noFill/>
                </a:ln>
                <a:solidFill>
                  <a:srgbClr val="FF0000"/>
                </a:solidFill>
                <a:effectLst/>
                <a:uLnTx/>
                <a:uFillTx/>
                <a:latin typeface="Lato"/>
                <a:ea typeface="Microsoft YaHei"/>
                <a:cs typeface="+mn-cs"/>
              </a:rPr>
              <a:t>运行态，但此刻该任务依旧在就绪列表中。</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运行态→就绪态：</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有更高优先级任务创建或者恢复后，会发生任务调度，此刻就绪列表中最高优先级任务变为运行态，而</a:t>
            </a:r>
            <a:r>
              <a:rPr kumimoji="0" lang="zh-CN" altLang="en-US" sz="2000" b="0" i="0" u="none" strike="noStrike" kern="1200" cap="none" spc="0" normalizeH="0" baseline="0" noProof="0" dirty="0">
                <a:ln>
                  <a:noFill/>
                </a:ln>
                <a:solidFill>
                  <a:srgbClr val="FF0000"/>
                </a:solidFill>
                <a:effectLst/>
                <a:uLnTx/>
                <a:uFillTx/>
                <a:latin typeface="Lato"/>
                <a:ea typeface="Microsoft YaHei"/>
                <a:cs typeface="+mn-cs"/>
              </a:rPr>
              <a:t>原先运行的任务由运行态变为就绪态，仍处于就绪列表中</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，等待最高优先级的任务运行完毕后继续运行（</a:t>
            </a:r>
            <a:r>
              <a:rPr kumimoji="0" lang="en-US" altLang="zh-CN" sz="2000" b="0" i="0" u="none" strike="noStrike" kern="1200" cap="none" spc="0" normalizeH="0" baseline="0" noProof="0" dirty="0">
                <a:ln>
                  <a:noFill/>
                </a:ln>
                <a:solidFill>
                  <a:srgbClr val="FF0000"/>
                </a:solidFill>
                <a:effectLst/>
                <a:uLnTx/>
                <a:uFillTx/>
                <a:latin typeface="Lato"/>
                <a:ea typeface="Microsoft YaHei"/>
                <a:cs typeface="+mn-cs"/>
              </a:rPr>
              <a:t>CPU</a:t>
            </a:r>
            <a:r>
              <a:rPr kumimoji="0" lang="zh-CN" altLang="en-US" sz="2000" b="0" i="0" u="none" strike="noStrike" kern="1200" cap="none" spc="0" normalizeH="0" baseline="0" noProof="0" dirty="0">
                <a:ln>
                  <a:noFill/>
                </a:ln>
                <a:solidFill>
                  <a:srgbClr val="FF0000"/>
                </a:solidFill>
                <a:effectLst/>
                <a:uLnTx/>
                <a:uFillTx/>
                <a:latin typeface="Lato"/>
                <a:ea typeface="Microsoft YaHei"/>
                <a:cs typeface="+mn-cs"/>
              </a:rPr>
              <a:t>使用权被更高优先级的任务抢占了</a:t>
            </a:r>
            <a:r>
              <a:rPr kumimoji="0" lang="zh-CN" altLang="en-US" sz="2000" b="0" i="0" u="none" strike="noStrike" kern="1200" cap="none" spc="0" normalizeH="0" baseline="0" noProof="0" dirty="0">
                <a:ln>
                  <a:noFill/>
                </a:ln>
                <a:solidFill>
                  <a:srgbClr val="404040"/>
                </a:solidFill>
                <a:effectLst/>
                <a:uLnTx/>
                <a:uFillTx/>
                <a:latin typeface="Lato"/>
                <a:ea typeface="Microsoft YaHei"/>
                <a:cs typeface="+mn-cs"/>
              </a:rPr>
              <a:t>）。</a:t>
            </a: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501199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任务状态迁移</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3" name="矩形 2"/>
          <p:cNvSpPr/>
          <p:nvPr/>
        </p:nvSpPr>
        <p:spPr>
          <a:xfrm>
            <a:off x="306230" y="869984"/>
            <a:ext cx="7167132" cy="56323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运行态→阻塞态：</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正在运行的任务发生阻塞（</a:t>
            </a:r>
            <a:r>
              <a:rPr kumimoji="0" lang="zh-CN" altLang="en-US" sz="1800" b="0" i="0" u="none" strike="noStrike" kern="1200" cap="none" spc="0" normalizeH="0" baseline="0" noProof="0" dirty="0">
                <a:ln>
                  <a:noFill/>
                </a:ln>
                <a:solidFill>
                  <a:srgbClr val="FF0000"/>
                </a:solidFill>
                <a:effectLst/>
                <a:uLnTx/>
                <a:uFillTx/>
                <a:latin typeface="Lato"/>
                <a:ea typeface="Microsoft YaHei"/>
                <a:cs typeface="+mn-cs"/>
              </a:rPr>
              <a:t>挂起、延时、读信号量等待</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）时，该任务会从就绪列表中删除。任务状态由运行态变成阻塞态， 然后发生任务切换，系统运行就绪列表中最高优先级任务。</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阻塞态→就绪态（阻塞态→运行态）：</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阻塞的任务被恢复后（</a:t>
            </a:r>
            <a:r>
              <a:rPr kumimoji="0" lang="zh-CN" altLang="en-US" sz="1800" b="0" i="0" u="none" strike="noStrike" kern="1200" cap="none" spc="0" normalizeH="0" baseline="0" noProof="0" dirty="0">
                <a:ln>
                  <a:noFill/>
                </a:ln>
                <a:solidFill>
                  <a:srgbClr val="FF0000"/>
                </a:solidFill>
                <a:effectLst/>
                <a:uLnTx/>
                <a:uFillTx/>
                <a:latin typeface="Lato"/>
                <a:ea typeface="Microsoft YaHei"/>
                <a:cs typeface="+mn-cs"/>
              </a:rPr>
              <a:t>任务恢复、延时时间超时、读信号量超时或读到信号量等</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），此时被恢复的任务会被加入就绪列表，从而由阻塞态变成就绪态；如果此时被恢复任务的优先级高于正在运行任务的优先级，则会发生任务切换，该任务将再次转换任务状态，由就绪态变成运行态。</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就绪态→阻塞态：</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任务也有可能在</a:t>
            </a:r>
            <a:r>
              <a:rPr kumimoji="0" lang="zh-CN" altLang="en-US" sz="1800" b="0" i="0" u="none" strike="noStrike" kern="1200" cap="none" spc="0" normalizeH="0" baseline="0" noProof="0" dirty="0">
                <a:ln>
                  <a:noFill/>
                </a:ln>
                <a:solidFill>
                  <a:srgbClr val="FF0000"/>
                </a:solidFill>
                <a:effectLst/>
                <a:uLnTx/>
                <a:uFillTx/>
                <a:latin typeface="Lato"/>
                <a:ea typeface="Microsoft YaHei"/>
                <a:cs typeface="+mn-cs"/>
              </a:rPr>
              <a:t>就绪态时被阻塞（挂起</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），此时任务状态会由就绪态变为阻塞态，该任务从就绪列表中删除，不会参与系统调度，直到该任务被恢复就绪态。</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运行态、阻塞态、就绪态→退出态：</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调用系统中</a:t>
            </a:r>
            <a:r>
              <a:rPr kumimoji="0" lang="zh-CN" altLang="en-US" sz="1800" b="0" i="0" u="none" strike="noStrike" kern="1200" cap="none" spc="0" normalizeH="0" baseline="0" noProof="0" dirty="0">
                <a:ln>
                  <a:noFill/>
                </a:ln>
                <a:solidFill>
                  <a:srgbClr val="FF0000"/>
                </a:solidFill>
                <a:effectLst/>
                <a:uLnTx/>
                <a:uFillTx/>
                <a:latin typeface="Lato"/>
                <a:ea typeface="Microsoft YaHei"/>
                <a:cs typeface="+mn-cs"/>
              </a:rPr>
              <a:t>删除任务的函数</a:t>
            </a:r>
            <a:r>
              <a:rPr kumimoji="0" lang="zh-CN" altLang="en-US" sz="1800" b="0" i="0" u="none" strike="noStrike" kern="1200" cap="none" spc="0" normalizeH="0" baseline="0" noProof="0" dirty="0">
                <a:ln>
                  <a:noFill/>
                </a:ln>
                <a:solidFill>
                  <a:srgbClr val="000000"/>
                </a:solidFill>
                <a:effectLst/>
                <a:uLnTx/>
                <a:uFillTx/>
                <a:latin typeface="Lato"/>
                <a:ea typeface="Microsoft YaHei"/>
                <a:cs typeface="+mn-cs"/>
              </a:rPr>
              <a:t>，无论是处于何种状态的任务都将变为退出态。</a:t>
            </a: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2259437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任务栈</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609602" y="1143529"/>
            <a:ext cx="6048374" cy="5359629"/>
          </a:xfrm>
        </p:spPr>
        <p:txBody>
          <a:bodyPr>
            <a:normAutofit fontScale="92500" lnSpcReduction="10000"/>
          </a:bodyPr>
          <a:lstStyle/>
          <a:p>
            <a:pPr marL="357188" indent="-357188">
              <a:lnSpc>
                <a:spcPct val="125000"/>
              </a:lnSpc>
            </a:pPr>
            <a:r>
              <a:rPr lang="zh-CN" altLang="en-US" sz="2800" b="1" dirty="0">
                <a:solidFill>
                  <a:srgbClr val="C00000"/>
                </a:solidFill>
              </a:rPr>
              <a:t>每个任务拥有一个独立的任务栈，保存任务信息</a:t>
            </a:r>
            <a:endParaRPr lang="en-US" altLang="zh-CN" sz="2800" b="1" dirty="0">
              <a:solidFill>
                <a:srgbClr val="C00000"/>
              </a:solidFill>
            </a:endParaRPr>
          </a:p>
          <a:p>
            <a:pPr lvl="1">
              <a:lnSpc>
                <a:spcPct val="125000"/>
              </a:lnSpc>
            </a:pPr>
            <a:r>
              <a:rPr lang="zh-CN" altLang="en-US" sz="2400" dirty="0"/>
              <a:t>局部变量</a:t>
            </a:r>
            <a:endParaRPr lang="en-US" altLang="zh-CN" sz="2400" dirty="0"/>
          </a:p>
          <a:p>
            <a:pPr lvl="1">
              <a:lnSpc>
                <a:spcPct val="125000"/>
              </a:lnSpc>
            </a:pPr>
            <a:r>
              <a:rPr lang="en-US" altLang="zh-CN" sz="2400" dirty="0"/>
              <a:t>CPU</a:t>
            </a:r>
            <a:r>
              <a:rPr lang="zh-CN" altLang="en-US" sz="2400" dirty="0"/>
              <a:t>寄存器内容</a:t>
            </a:r>
            <a:endParaRPr lang="en-US" altLang="zh-CN" sz="2400" dirty="0"/>
          </a:p>
          <a:p>
            <a:pPr lvl="1">
              <a:lnSpc>
                <a:spcPct val="125000"/>
              </a:lnSpc>
            </a:pPr>
            <a:r>
              <a:rPr lang="zh-CN" altLang="en-US" sz="2400" dirty="0"/>
              <a:t>函数参数</a:t>
            </a:r>
            <a:endParaRPr lang="en-US" altLang="zh-CN" sz="2400" dirty="0"/>
          </a:p>
          <a:p>
            <a:pPr lvl="1">
              <a:lnSpc>
                <a:spcPct val="125000"/>
              </a:lnSpc>
            </a:pPr>
            <a:r>
              <a:rPr lang="zh-CN" altLang="en-US" sz="2400" dirty="0"/>
              <a:t>函数返回地址</a:t>
            </a:r>
            <a:endParaRPr lang="en-US" altLang="zh-CN" sz="2400" dirty="0"/>
          </a:p>
          <a:p>
            <a:pPr lvl="1">
              <a:lnSpc>
                <a:spcPct val="125000"/>
              </a:lnSpc>
            </a:pPr>
            <a:endParaRPr lang="en-US" altLang="zh-CN" sz="2000" dirty="0"/>
          </a:p>
          <a:p>
            <a:pPr marL="357188" indent="-357188">
              <a:lnSpc>
                <a:spcPct val="125000"/>
              </a:lnSpc>
            </a:pPr>
            <a:r>
              <a:rPr lang="zh-CN" altLang="en-US" sz="2800" b="1" dirty="0">
                <a:solidFill>
                  <a:srgbClr val="C00000"/>
                </a:solidFill>
              </a:rPr>
              <a:t>任务运行时，保存局部变量、函数参数等</a:t>
            </a:r>
            <a:endParaRPr lang="en-US" altLang="zh-CN" sz="2800" b="1" dirty="0">
              <a:solidFill>
                <a:srgbClr val="C00000"/>
              </a:solidFill>
            </a:endParaRPr>
          </a:p>
          <a:p>
            <a:pPr marL="357188" indent="-357188">
              <a:lnSpc>
                <a:spcPct val="125000"/>
              </a:lnSpc>
            </a:pPr>
            <a:r>
              <a:rPr lang="zh-CN" altLang="en-US" sz="2800" b="1" dirty="0">
                <a:solidFill>
                  <a:srgbClr val="C00000"/>
                </a:solidFill>
              </a:rPr>
              <a:t>任务切换时，将</a:t>
            </a:r>
            <a:r>
              <a:rPr lang="en-US" altLang="zh-CN" sz="2800" b="1" dirty="0">
                <a:solidFill>
                  <a:srgbClr val="C00000"/>
                </a:solidFill>
              </a:rPr>
              <a:t>CPU</a:t>
            </a:r>
            <a:r>
              <a:rPr lang="zh-CN" altLang="en-US" sz="2800" b="1" dirty="0">
                <a:solidFill>
                  <a:srgbClr val="C00000"/>
                </a:solidFill>
              </a:rPr>
              <a:t>寄存器内容压入栈内，等任务恢复时再弹出</a:t>
            </a:r>
            <a:endParaRPr lang="en-US" altLang="zh-CN" sz="2800" b="1" dirty="0">
              <a:solidFill>
                <a:srgbClr val="C00000"/>
              </a:solidFill>
            </a:endParaRP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1403661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任务优先级</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445770" y="1102969"/>
            <a:ext cx="7886700" cy="5400189"/>
          </a:xfrm>
        </p:spPr>
        <p:txBody>
          <a:bodyPr>
            <a:normAutofit/>
          </a:bodyPr>
          <a:lstStyle/>
          <a:p>
            <a:pPr marL="357188" indent="-357188">
              <a:lnSpc>
                <a:spcPct val="125000"/>
              </a:lnSpc>
            </a:pPr>
            <a:r>
              <a:rPr lang="zh-CN" altLang="en-US" sz="2800" b="1" dirty="0">
                <a:solidFill>
                  <a:srgbClr val="C00000"/>
                </a:solidFill>
              </a:rPr>
              <a:t>任务执行的优先顺序</a:t>
            </a:r>
            <a:endParaRPr lang="en-US" altLang="zh-CN" sz="2800" b="1" dirty="0">
              <a:solidFill>
                <a:srgbClr val="C00000"/>
              </a:solidFill>
            </a:endParaRPr>
          </a:p>
          <a:p>
            <a:pPr marL="357188" indent="-357188">
              <a:lnSpc>
                <a:spcPct val="125000"/>
              </a:lnSpc>
            </a:pPr>
            <a:r>
              <a:rPr lang="zh-CN" altLang="en-US" sz="2800" b="1" dirty="0">
                <a:solidFill>
                  <a:srgbClr val="C00000"/>
                </a:solidFill>
              </a:rPr>
              <a:t>就绪列表中的最高优先级任务优先执行</a:t>
            </a:r>
            <a:endParaRPr lang="en-US" altLang="zh-CN" sz="2800" b="1" dirty="0">
              <a:solidFill>
                <a:srgbClr val="C00000"/>
              </a:solidFill>
            </a:endParaRPr>
          </a:p>
          <a:p>
            <a:pPr>
              <a:lnSpc>
                <a:spcPct val="125000"/>
              </a:lnSpc>
            </a:pPr>
            <a:endParaRPr lang="en-US" altLang="zh-CN" sz="2400" dirty="0"/>
          </a:p>
          <a:p>
            <a:pPr marL="0" indent="0">
              <a:lnSpc>
                <a:spcPct val="125000"/>
              </a:lnSpc>
              <a:buNone/>
            </a:pPr>
            <a:endParaRPr lang="en-US" altLang="zh-CN" sz="2400" dirty="0"/>
          </a:p>
          <a:p>
            <a:pPr marL="0" indent="0">
              <a:lnSpc>
                <a:spcPct val="125000"/>
              </a:lnSpc>
              <a:buNone/>
            </a:pPr>
            <a:endParaRPr lang="en-US" altLang="zh-CN" sz="2400" dirty="0"/>
          </a:p>
          <a:p>
            <a:pPr marL="357188" indent="-357188">
              <a:lnSpc>
                <a:spcPct val="125000"/>
              </a:lnSpc>
            </a:pPr>
            <a:r>
              <a:rPr lang="en-US" altLang="zh-CN" sz="2800" b="1" dirty="0">
                <a:solidFill>
                  <a:srgbClr val="C00000"/>
                </a:solidFill>
              </a:rPr>
              <a:t>Huawei </a:t>
            </a:r>
            <a:r>
              <a:rPr lang="en-US" altLang="zh-CN" sz="2800" b="1" dirty="0" err="1">
                <a:solidFill>
                  <a:srgbClr val="C00000"/>
                </a:solidFill>
              </a:rPr>
              <a:t>LiteOS</a:t>
            </a:r>
            <a:r>
              <a:rPr lang="zh-CN" altLang="en-US" sz="2800" b="1" dirty="0">
                <a:solidFill>
                  <a:srgbClr val="C00000"/>
                </a:solidFill>
              </a:rPr>
              <a:t>中有</a:t>
            </a:r>
            <a:r>
              <a:rPr lang="en-US" altLang="zh-CN" sz="2800" b="1" dirty="0">
                <a:solidFill>
                  <a:srgbClr val="C00000"/>
                </a:solidFill>
              </a:rPr>
              <a:t>32</a:t>
            </a:r>
            <a:r>
              <a:rPr lang="zh-CN" altLang="en-US" sz="2800" b="1" dirty="0">
                <a:solidFill>
                  <a:srgbClr val="C00000"/>
                </a:solidFill>
              </a:rPr>
              <a:t>个优先级（</a:t>
            </a:r>
            <a:r>
              <a:rPr lang="en-US" altLang="zh-CN" sz="2800" b="1" dirty="0">
                <a:solidFill>
                  <a:srgbClr val="C00000"/>
                </a:solidFill>
              </a:rPr>
              <a:t>0~31</a:t>
            </a:r>
            <a:r>
              <a:rPr lang="zh-CN" altLang="en-US" sz="2800" b="1" dirty="0">
                <a:solidFill>
                  <a:srgbClr val="C00000"/>
                </a:solidFill>
              </a:rPr>
              <a:t>）</a:t>
            </a:r>
            <a:endParaRPr lang="en-US" altLang="zh-CN" sz="2800" b="1" dirty="0">
              <a:solidFill>
                <a:srgbClr val="C00000"/>
              </a:solidFill>
            </a:endParaRPr>
          </a:p>
          <a:p>
            <a:pPr lvl="1">
              <a:lnSpc>
                <a:spcPct val="125000"/>
              </a:lnSpc>
            </a:pPr>
            <a:r>
              <a:rPr lang="zh-CN" altLang="en-US" sz="2400" dirty="0"/>
              <a:t>最高优先级为</a:t>
            </a:r>
            <a:r>
              <a:rPr lang="en-US" altLang="zh-CN" sz="2400" dirty="0"/>
              <a:t>0</a:t>
            </a:r>
          </a:p>
          <a:p>
            <a:pPr lvl="1">
              <a:lnSpc>
                <a:spcPct val="125000"/>
              </a:lnSpc>
            </a:pPr>
            <a:r>
              <a:rPr lang="zh-CN" altLang="en-US" sz="2400" dirty="0"/>
              <a:t>最低优先级为</a:t>
            </a:r>
            <a:r>
              <a:rPr lang="en-US" altLang="zh-CN" sz="2400" dirty="0"/>
              <a:t>31</a:t>
            </a:r>
          </a:p>
          <a:p>
            <a:pPr lvl="1">
              <a:lnSpc>
                <a:spcPct val="125000"/>
              </a:lnSpc>
            </a:pPr>
            <a:r>
              <a:rPr lang="zh-CN" altLang="en-US" sz="2400" dirty="0"/>
              <a:t>在任务创建时给定，可动态调整</a:t>
            </a:r>
            <a:endParaRPr lang="en-US" altLang="zh-CN" sz="2400" dirty="0"/>
          </a:p>
        </p:txBody>
      </p:sp>
      <p:pic>
        <p:nvPicPr>
          <p:cNvPr id="9" name="图片 8"/>
          <p:cNvPicPr>
            <a:picLocks noChangeAspect="1"/>
          </p:cNvPicPr>
          <p:nvPr/>
        </p:nvPicPr>
        <p:blipFill>
          <a:blip r:embed="rId2"/>
          <a:stretch>
            <a:fillRect/>
          </a:stretch>
        </p:blipFill>
        <p:spPr>
          <a:xfrm>
            <a:off x="6728724" y="833604"/>
            <a:ext cx="5359502" cy="4404973"/>
          </a:xfrm>
          <a:prstGeom prst="rect">
            <a:avLst/>
          </a:prstGeom>
        </p:spPr>
      </p:pic>
    </p:spTree>
    <p:extLst>
      <p:ext uri="{BB962C8B-B14F-4D97-AF65-F5344CB8AC3E}">
        <p14:creationId xmlns:p14="http://schemas.microsoft.com/office/powerpoint/2010/main" val="12026898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任务调度</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1125357" y="2189664"/>
            <a:ext cx="3761323" cy="3798137"/>
          </a:xfrm>
        </p:spPr>
        <p:txBody>
          <a:bodyPr>
            <a:normAutofit/>
          </a:bodyPr>
          <a:lstStyle/>
          <a:p>
            <a:r>
              <a:rPr lang="zh-CN" altLang="en-US" sz="3200" dirty="0">
                <a:solidFill>
                  <a:schemeClr val="tx1"/>
                </a:solidFill>
              </a:rPr>
              <a:t>任务上下文</a:t>
            </a:r>
            <a:endParaRPr lang="en-US" altLang="zh-CN" sz="3200" dirty="0">
              <a:solidFill>
                <a:schemeClr val="tx1"/>
              </a:solidFill>
            </a:endParaRPr>
          </a:p>
          <a:p>
            <a:r>
              <a:rPr lang="zh-CN" altLang="en-US" sz="3200" dirty="0">
                <a:solidFill>
                  <a:schemeClr val="tx1"/>
                </a:solidFill>
              </a:rPr>
              <a:t>任务切换</a:t>
            </a:r>
            <a:endParaRPr lang="en-US" altLang="zh-CN" sz="3200" dirty="0">
              <a:solidFill>
                <a:schemeClr val="tx1"/>
              </a:solidFill>
            </a:endParaRPr>
          </a:p>
          <a:p>
            <a:r>
              <a:rPr lang="zh-CN" altLang="en-US" sz="3200" dirty="0">
                <a:solidFill>
                  <a:schemeClr val="tx1"/>
                </a:solidFill>
              </a:rPr>
              <a:t>调度算法</a:t>
            </a:r>
            <a:endParaRPr lang="en-US" altLang="zh-CN" sz="3200" dirty="0">
              <a:solidFill>
                <a:schemeClr val="tx1"/>
              </a:solidFill>
            </a:endParaRPr>
          </a:p>
          <a:p>
            <a:r>
              <a:rPr lang="zh-CN" altLang="en-US" sz="3200" dirty="0">
                <a:solidFill>
                  <a:schemeClr val="tx1"/>
                </a:solidFill>
              </a:rPr>
              <a:t>任务创建</a:t>
            </a:r>
            <a:endParaRPr lang="en-US" altLang="zh-CN" sz="3200" dirty="0">
              <a:solidFill>
                <a:schemeClr val="tx1"/>
              </a:solidFill>
            </a:endParaRPr>
          </a:p>
          <a:p>
            <a:r>
              <a:rPr lang="zh-CN" altLang="en-US" sz="3200" dirty="0">
                <a:solidFill>
                  <a:schemeClr val="tx1"/>
                </a:solidFill>
              </a:rPr>
              <a:t>任务终止</a:t>
            </a:r>
            <a:endParaRPr lang="en-US" altLang="zh-CN" sz="3200" dirty="0">
              <a:solidFill>
                <a:schemeClr val="tx1"/>
              </a:solidFill>
            </a:endParaRPr>
          </a:p>
        </p:txBody>
      </p:sp>
      <p:sp>
        <p:nvSpPr>
          <p:cNvPr id="3" name="文本框 2"/>
          <p:cNvSpPr txBox="1"/>
          <p:nvPr/>
        </p:nvSpPr>
        <p:spPr>
          <a:xfrm>
            <a:off x="627797" y="982162"/>
            <a:ext cx="292890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C00000"/>
                </a:solidFill>
                <a:effectLst/>
                <a:uLnTx/>
                <a:uFillTx/>
                <a:latin typeface="Microsoft YaHei"/>
                <a:ea typeface="Microsoft YaHei"/>
                <a:cs typeface="+mn-cs"/>
              </a:rPr>
              <a:t>主要内容</a:t>
            </a:r>
          </a:p>
        </p:txBody>
      </p:sp>
      <p:pic>
        <p:nvPicPr>
          <p:cNvPr id="8" name="图片 7"/>
          <p:cNvPicPr>
            <a:picLocks noChangeAspect="1"/>
          </p:cNvPicPr>
          <p:nvPr/>
        </p:nvPicPr>
        <p:blipFill>
          <a:blip r:embed="rId2"/>
          <a:stretch>
            <a:fillRect/>
          </a:stretch>
        </p:blipFill>
        <p:spPr>
          <a:xfrm>
            <a:off x="4886680" y="484879"/>
            <a:ext cx="7207852" cy="5924131"/>
          </a:xfrm>
          <a:prstGeom prst="rect">
            <a:avLst/>
          </a:prstGeom>
        </p:spPr>
      </p:pic>
    </p:spTree>
    <p:extLst>
      <p:ext uri="{BB962C8B-B14F-4D97-AF65-F5344CB8AC3E}">
        <p14:creationId xmlns:p14="http://schemas.microsoft.com/office/powerpoint/2010/main" val="1903275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任务上下文</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609601" y="1143529"/>
            <a:ext cx="5857874" cy="5359629"/>
          </a:xfrm>
        </p:spPr>
        <p:txBody>
          <a:bodyPr>
            <a:normAutofit/>
          </a:bodyPr>
          <a:lstStyle/>
          <a:p>
            <a:pPr>
              <a:lnSpc>
                <a:spcPct val="125000"/>
              </a:lnSpc>
            </a:pPr>
            <a:r>
              <a:rPr lang="zh-CN" altLang="en-US" sz="2800" b="1" dirty="0">
                <a:solidFill>
                  <a:srgbClr val="C00000"/>
                </a:solidFill>
              </a:rPr>
              <a:t>任务在运行过程中使用的资源</a:t>
            </a:r>
            <a:endParaRPr lang="en-US" altLang="zh-CN" sz="2800" b="1" dirty="0">
              <a:solidFill>
                <a:srgbClr val="C00000"/>
              </a:solidFill>
            </a:endParaRPr>
          </a:p>
          <a:p>
            <a:pPr lvl="1">
              <a:lnSpc>
                <a:spcPct val="125000"/>
              </a:lnSpc>
            </a:pPr>
            <a:r>
              <a:rPr lang="zh-CN" altLang="en-US" sz="2400" dirty="0"/>
              <a:t>寄存器</a:t>
            </a:r>
            <a:endParaRPr lang="en-US" altLang="zh-CN" sz="2400" dirty="0"/>
          </a:p>
          <a:p>
            <a:pPr lvl="1">
              <a:lnSpc>
                <a:spcPct val="125000"/>
              </a:lnSpc>
            </a:pPr>
            <a:r>
              <a:rPr lang="zh-CN" altLang="en-US" sz="2400" dirty="0"/>
              <a:t>内存</a:t>
            </a:r>
            <a:endParaRPr lang="en-US" altLang="zh-CN" sz="2000" dirty="0"/>
          </a:p>
          <a:p>
            <a:pPr>
              <a:lnSpc>
                <a:spcPct val="125000"/>
              </a:lnSpc>
            </a:pPr>
            <a:r>
              <a:rPr lang="zh-CN" altLang="en-US" sz="2800" b="1" dirty="0">
                <a:solidFill>
                  <a:srgbClr val="C00000"/>
                </a:solidFill>
              </a:rPr>
              <a:t>任务挂起时</a:t>
            </a:r>
            <a:endParaRPr lang="en-US" altLang="zh-CN" sz="2800" b="1" dirty="0">
              <a:solidFill>
                <a:srgbClr val="C00000"/>
              </a:solidFill>
            </a:endParaRPr>
          </a:p>
          <a:p>
            <a:pPr lvl="1">
              <a:lnSpc>
                <a:spcPct val="125000"/>
              </a:lnSpc>
            </a:pPr>
            <a:r>
              <a:rPr lang="zh-CN" altLang="en-US" sz="2400" dirty="0"/>
              <a:t>将任务的上下文保存在任务栈中</a:t>
            </a:r>
            <a:endParaRPr lang="en-US" altLang="zh-CN" sz="2400" dirty="0"/>
          </a:p>
          <a:p>
            <a:pPr lvl="1">
              <a:lnSpc>
                <a:spcPct val="125000"/>
              </a:lnSpc>
            </a:pPr>
            <a:endParaRPr lang="en-US" altLang="zh-CN" sz="2000" dirty="0"/>
          </a:p>
          <a:p>
            <a:pPr>
              <a:lnSpc>
                <a:spcPct val="125000"/>
              </a:lnSpc>
            </a:pPr>
            <a:r>
              <a:rPr lang="zh-CN" altLang="en-US" sz="2800" b="1" dirty="0">
                <a:solidFill>
                  <a:srgbClr val="C00000"/>
                </a:solidFill>
              </a:rPr>
              <a:t>任务恢复时</a:t>
            </a:r>
            <a:endParaRPr lang="en-US" altLang="zh-CN" sz="2800" b="1" dirty="0">
              <a:solidFill>
                <a:srgbClr val="C00000"/>
              </a:solidFill>
            </a:endParaRPr>
          </a:p>
          <a:p>
            <a:pPr lvl="1">
              <a:lnSpc>
                <a:spcPct val="125000"/>
              </a:lnSpc>
            </a:pPr>
            <a:r>
              <a:rPr lang="zh-CN" altLang="en-US" sz="2400" dirty="0"/>
              <a:t>读取任务栈中的上下文信息</a:t>
            </a:r>
            <a:endParaRPr lang="en-US" altLang="zh-CN" sz="2400" dirty="0"/>
          </a:p>
          <a:p>
            <a:pPr lvl="1">
              <a:lnSpc>
                <a:spcPct val="125000"/>
              </a:lnSpc>
            </a:pPr>
            <a:r>
              <a:rPr lang="zh-CN" altLang="en-US" sz="2400" dirty="0"/>
              <a:t>恢复任务上下文，继续执行任务</a:t>
            </a:r>
            <a:endParaRPr lang="en-US" altLang="zh-CN" sz="2400" dirty="0"/>
          </a:p>
        </p:txBody>
      </p:sp>
      <p:pic>
        <p:nvPicPr>
          <p:cNvPr id="9" name="图片 8"/>
          <p:cNvPicPr>
            <a:picLocks noChangeAspect="1"/>
          </p:cNvPicPr>
          <p:nvPr/>
        </p:nvPicPr>
        <p:blipFill>
          <a:blip r:embed="rId2"/>
          <a:stretch>
            <a:fillRect/>
          </a:stretch>
        </p:blipFill>
        <p:spPr>
          <a:xfrm>
            <a:off x="6042196" y="1293957"/>
            <a:ext cx="6052336" cy="4974413"/>
          </a:xfrm>
          <a:prstGeom prst="rect">
            <a:avLst/>
          </a:prstGeom>
        </p:spPr>
      </p:pic>
    </p:spTree>
    <p:extLst>
      <p:ext uri="{BB962C8B-B14F-4D97-AF65-F5344CB8AC3E}">
        <p14:creationId xmlns:p14="http://schemas.microsoft.com/office/powerpoint/2010/main" val="3976199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任务切换流程</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390906" y="781662"/>
            <a:ext cx="6805422" cy="5728865"/>
          </a:xfrm>
        </p:spPr>
        <p:txBody>
          <a:bodyPr>
            <a:noAutofit/>
          </a:bodyPr>
          <a:lstStyle/>
          <a:p>
            <a:pPr marL="514350" indent="-514350">
              <a:buFont typeface="+mj-lt"/>
              <a:buAutoNum type="arabicPeriod"/>
            </a:pPr>
            <a:r>
              <a:rPr lang="zh-CN" altLang="en-US" sz="2000" b="1" dirty="0">
                <a:solidFill>
                  <a:srgbClr val="C00000"/>
                </a:solidFill>
              </a:rPr>
              <a:t>保存任务上下文环境，包括程序计数器和其他寄存器</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更新当前处于运行态任务的任务控制块</a:t>
            </a:r>
            <a:endParaRPr lang="en-US" altLang="zh-CN" sz="2000" b="1" dirty="0">
              <a:solidFill>
                <a:srgbClr val="C00000"/>
              </a:solidFill>
            </a:endParaRPr>
          </a:p>
          <a:p>
            <a:pPr lvl="1">
              <a:lnSpc>
                <a:spcPct val="120000"/>
              </a:lnSpc>
            </a:pPr>
            <a:r>
              <a:rPr lang="zh-CN" altLang="en-US" sz="1800" dirty="0"/>
              <a:t>包括将任务的状态改变到另一个状态（就绪态、阻塞态或退出态）</a:t>
            </a:r>
            <a:endParaRPr lang="en-US" altLang="zh-CN" sz="1800" dirty="0"/>
          </a:p>
          <a:p>
            <a:pPr lvl="1"/>
            <a:r>
              <a:rPr lang="zh-CN" altLang="en-US" sz="1800" dirty="0"/>
              <a:t>更新其他相关域，包括离开运行态的原因和记账信息</a:t>
            </a:r>
            <a:endParaRPr lang="en-US" altLang="zh-CN" sz="1800" dirty="0"/>
          </a:p>
          <a:p>
            <a:pPr marL="514350" indent="-514350">
              <a:lnSpc>
                <a:spcPct val="130000"/>
              </a:lnSpc>
              <a:buFont typeface="+mj-lt"/>
              <a:buAutoNum type="arabicPeriod"/>
            </a:pPr>
            <a:r>
              <a:rPr lang="zh-CN" altLang="en-US" sz="2000" b="1" dirty="0">
                <a:solidFill>
                  <a:srgbClr val="C00000"/>
                </a:solidFill>
              </a:rPr>
              <a:t>将任务的任务控制块移到相应的队列中</a:t>
            </a:r>
            <a:endParaRPr lang="en-US" altLang="zh-CN" sz="2000" b="1" dirty="0">
              <a:solidFill>
                <a:srgbClr val="C00000"/>
              </a:solidFill>
            </a:endParaRPr>
          </a:p>
          <a:p>
            <a:pPr marL="514350" indent="-514350">
              <a:lnSpc>
                <a:spcPct val="130000"/>
              </a:lnSpc>
              <a:buFont typeface="+mj-lt"/>
              <a:buAutoNum type="arabicPeriod"/>
            </a:pPr>
            <a:r>
              <a:rPr lang="zh-CN" altLang="en-US" sz="2000" b="1" dirty="0">
                <a:solidFill>
                  <a:srgbClr val="C00000"/>
                </a:solidFill>
              </a:rPr>
              <a:t>从就绪列表中获取最高优先级的任务并执行</a:t>
            </a:r>
            <a:endParaRPr lang="en-US" altLang="zh-CN" sz="2000" b="1" dirty="0">
              <a:solidFill>
                <a:srgbClr val="C00000"/>
              </a:solidFill>
            </a:endParaRPr>
          </a:p>
          <a:p>
            <a:pPr marL="514350" indent="-514350">
              <a:lnSpc>
                <a:spcPct val="130000"/>
              </a:lnSpc>
              <a:buFont typeface="+mj-lt"/>
              <a:buAutoNum type="arabicPeriod"/>
            </a:pPr>
            <a:r>
              <a:rPr lang="zh-CN" altLang="en-US" sz="2000" b="1" dirty="0">
                <a:solidFill>
                  <a:srgbClr val="C00000"/>
                </a:solidFill>
              </a:rPr>
              <a:t>更新所选择任务的任务控制块</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更新内存管理的数据结构</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恢复处理器在被选择的任务最近一次切换出运行状态时的上下文环境</a:t>
            </a:r>
            <a:endParaRPr lang="en-US" altLang="zh-CN" sz="2000" b="1" dirty="0">
              <a:solidFill>
                <a:srgbClr val="C00000"/>
              </a:solidFill>
            </a:endParaRPr>
          </a:p>
          <a:p>
            <a:pPr lvl="1">
              <a:lnSpc>
                <a:spcPct val="120000"/>
              </a:lnSpc>
            </a:pPr>
            <a:r>
              <a:rPr lang="zh-CN" altLang="en-US" sz="1800" dirty="0"/>
              <a:t>可以通过载入程序计数器和其他寄存器以前的值来实现</a:t>
            </a:r>
          </a:p>
          <a:p>
            <a:endParaRPr lang="en-US" altLang="zh-CN" sz="2000" b="1" dirty="0"/>
          </a:p>
        </p:txBody>
      </p:sp>
      <p:pic>
        <p:nvPicPr>
          <p:cNvPr id="8" name="图片 7"/>
          <p:cNvPicPr>
            <a:picLocks noChangeAspect="1"/>
          </p:cNvPicPr>
          <p:nvPr/>
        </p:nvPicPr>
        <p:blipFill>
          <a:blip r:embed="rId2"/>
          <a:stretch>
            <a:fillRect/>
          </a:stretch>
        </p:blipFill>
        <p:spPr>
          <a:xfrm>
            <a:off x="6464196" y="1293957"/>
            <a:ext cx="5630336" cy="4627571"/>
          </a:xfrm>
          <a:prstGeom prst="rect">
            <a:avLst/>
          </a:prstGeom>
        </p:spPr>
      </p:pic>
    </p:spTree>
    <p:extLst>
      <p:ext uri="{BB962C8B-B14F-4D97-AF65-F5344CB8AC3E}">
        <p14:creationId xmlns:p14="http://schemas.microsoft.com/office/powerpoint/2010/main" val="3634436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调度算法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168297" y="1036402"/>
            <a:ext cx="6970014" cy="5307641"/>
          </a:xfrm>
        </p:spPr>
        <p:txBody>
          <a:bodyPr>
            <a:normAutofit lnSpcReduction="10000"/>
          </a:bodyPr>
          <a:lstStyle/>
          <a:p>
            <a:pPr marL="514350" indent="-514350">
              <a:lnSpc>
                <a:spcPct val="125000"/>
              </a:lnSpc>
              <a:buFont typeface="+mj-lt"/>
              <a:buAutoNum type="arabicPeriod"/>
            </a:pPr>
            <a:r>
              <a:rPr lang="zh-CN" altLang="en-US" sz="2800" b="1" dirty="0">
                <a:solidFill>
                  <a:srgbClr val="C00000"/>
                </a:solidFill>
              </a:rPr>
              <a:t>抢占式调度</a:t>
            </a:r>
            <a:endParaRPr lang="en-US" altLang="zh-CN" sz="2800" b="1" dirty="0">
              <a:solidFill>
                <a:srgbClr val="C00000"/>
              </a:solidFill>
            </a:endParaRPr>
          </a:p>
          <a:p>
            <a:pPr lvl="1">
              <a:lnSpc>
                <a:spcPct val="125000"/>
              </a:lnSpc>
            </a:pPr>
            <a:r>
              <a:rPr lang="zh-CN" altLang="en-US" sz="2400" dirty="0"/>
              <a:t>任务一直运行至被阻塞或更高优先级任务出现为止</a:t>
            </a:r>
            <a:endParaRPr lang="en-US" altLang="zh-CN" sz="2400" dirty="0"/>
          </a:p>
          <a:p>
            <a:pPr lvl="1">
              <a:lnSpc>
                <a:spcPct val="125000"/>
              </a:lnSpc>
              <a:spcBef>
                <a:spcPts val="0"/>
              </a:spcBef>
            </a:pPr>
            <a:r>
              <a:rPr lang="zh-CN" altLang="en-US" sz="2400" dirty="0"/>
              <a:t>任务可能会长时间被同优先级任务阻塞，缺少公平性</a:t>
            </a:r>
            <a:endParaRPr lang="en-US" altLang="zh-CN" sz="2400" dirty="0"/>
          </a:p>
          <a:p>
            <a:pPr lvl="1">
              <a:lnSpc>
                <a:spcPct val="125000"/>
              </a:lnSpc>
            </a:pPr>
            <a:endParaRPr lang="en-US" altLang="zh-CN" sz="2000" dirty="0"/>
          </a:p>
          <a:p>
            <a:pPr marL="514350" indent="-514350">
              <a:lnSpc>
                <a:spcPct val="125000"/>
              </a:lnSpc>
              <a:buFont typeface="+mj-lt"/>
              <a:buAutoNum type="arabicPeriod"/>
            </a:pPr>
            <a:r>
              <a:rPr lang="zh-CN" altLang="en-US" sz="2800" b="1" dirty="0">
                <a:solidFill>
                  <a:srgbClr val="C00000"/>
                </a:solidFill>
              </a:rPr>
              <a:t>时间片轮转调度</a:t>
            </a:r>
            <a:endParaRPr lang="en-US" altLang="zh-CN" sz="2800" b="1" dirty="0">
              <a:solidFill>
                <a:srgbClr val="C00000"/>
              </a:solidFill>
            </a:endParaRPr>
          </a:p>
          <a:p>
            <a:pPr lvl="1">
              <a:lnSpc>
                <a:spcPct val="125000"/>
              </a:lnSpc>
            </a:pPr>
            <a:r>
              <a:rPr lang="zh-CN" altLang="en-US" sz="2400" dirty="0"/>
              <a:t>每个任务被分配一个时间段（时间片）</a:t>
            </a:r>
            <a:endParaRPr lang="en-US" altLang="zh-CN" sz="2400" dirty="0"/>
          </a:p>
          <a:p>
            <a:pPr lvl="1">
              <a:lnSpc>
                <a:spcPct val="125000"/>
              </a:lnSpc>
            </a:pPr>
            <a:r>
              <a:rPr lang="zh-CN" altLang="en-US" sz="2400" dirty="0"/>
              <a:t>时间片结束时，任务强制阻塞，让出</a:t>
            </a:r>
            <a:r>
              <a:rPr lang="en-US" altLang="zh-CN" sz="2400" dirty="0"/>
              <a:t>CPU</a:t>
            </a:r>
            <a:r>
              <a:rPr lang="zh-CN" altLang="en-US" sz="2400" dirty="0"/>
              <a:t>资源</a:t>
            </a:r>
            <a:endParaRPr lang="en-US" altLang="zh-CN" sz="2400" dirty="0"/>
          </a:p>
          <a:p>
            <a:pPr lvl="1">
              <a:lnSpc>
                <a:spcPct val="125000"/>
              </a:lnSpc>
            </a:pPr>
            <a:r>
              <a:rPr lang="zh-CN" altLang="en-US" sz="2400" dirty="0"/>
              <a:t>同优先级任务会轮流执行，更具公平性</a:t>
            </a:r>
            <a:endParaRPr lang="en-US" altLang="zh-CN" sz="2400" dirty="0"/>
          </a:p>
          <a:p>
            <a:pPr lvl="1">
              <a:lnSpc>
                <a:spcPct val="125000"/>
              </a:lnSpc>
            </a:pPr>
            <a:endParaRPr lang="en-US" altLang="zh-CN" sz="2000" dirty="0"/>
          </a:p>
        </p:txBody>
      </p:sp>
      <p:pic>
        <p:nvPicPr>
          <p:cNvPr id="9" name="图片 8"/>
          <p:cNvPicPr>
            <a:picLocks noChangeAspect="1"/>
          </p:cNvPicPr>
          <p:nvPr/>
        </p:nvPicPr>
        <p:blipFill>
          <a:blip r:embed="rId2"/>
          <a:stretch>
            <a:fillRect/>
          </a:stretch>
        </p:blipFill>
        <p:spPr>
          <a:xfrm>
            <a:off x="6608202" y="1621879"/>
            <a:ext cx="5415501" cy="4450998"/>
          </a:xfrm>
          <a:prstGeom prst="rect">
            <a:avLst/>
          </a:prstGeom>
        </p:spPr>
      </p:pic>
    </p:spTree>
    <p:extLst>
      <p:ext uri="{BB962C8B-B14F-4D97-AF65-F5344CB8AC3E}">
        <p14:creationId xmlns:p14="http://schemas.microsoft.com/office/powerpoint/2010/main" val="2088870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任务创建</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103775" y="895090"/>
            <a:ext cx="7886700" cy="2533910"/>
          </a:xfrm>
        </p:spPr>
        <p:txBody>
          <a:bodyPr>
            <a:normAutofit/>
          </a:bodyPr>
          <a:lstStyle/>
          <a:p>
            <a:pPr>
              <a:lnSpc>
                <a:spcPct val="125000"/>
              </a:lnSpc>
            </a:pPr>
            <a:r>
              <a:rPr lang="zh-CN" altLang="en-US" sz="2400" b="1" dirty="0">
                <a:solidFill>
                  <a:srgbClr val="C00000"/>
                </a:solidFill>
              </a:rPr>
              <a:t>用户配置任务信息，并调用接口创建任务</a:t>
            </a:r>
            <a:endParaRPr lang="en-US" altLang="zh-CN" sz="2400" b="1" dirty="0">
              <a:solidFill>
                <a:srgbClr val="C00000"/>
              </a:solidFill>
            </a:endParaRPr>
          </a:p>
          <a:p>
            <a:pPr lvl="1">
              <a:lnSpc>
                <a:spcPct val="125000"/>
              </a:lnSpc>
            </a:pPr>
            <a:r>
              <a:rPr lang="zh-CN" altLang="en-US" sz="2000" dirty="0"/>
              <a:t>系统对任务栈进行初始化</a:t>
            </a:r>
            <a:endParaRPr lang="en-US" altLang="zh-CN" sz="2000" dirty="0"/>
          </a:p>
          <a:p>
            <a:pPr lvl="1">
              <a:lnSpc>
                <a:spcPct val="125000"/>
              </a:lnSpc>
            </a:pPr>
            <a:r>
              <a:rPr lang="zh-CN" altLang="en-US" sz="2000" dirty="0"/>
              <a:t>预置任务上下文</a:t>
            </a:r>
            <a:endParaRPr lang="en-US" altLang="zh-CN" sz="2000" dirty="0"/>
          </a:p>
          <a:p>
            <a:pPr lvl="1">
              <a:lnSpc>
                <a:spcPct val="125000"/>
              </a:lnSpc>
            </a:pPr>
            <a:r>
              <a:rPr lang="zh-CN" altLang="en-US" sz="2000" dirty="0"/>
              <a:t>准备任务入口函数地址</a:t>
            </a:r>
            <a:endParaRPr lang="en-US" altLang="zh-CN" sz="2000" dirty="0"/>
          </a:p>
          <a:p>
            <a:pPr>
              <a:lnSpc>
                <a:spcPct val="125000"/>
              </a:lnSpc>
            </a:pPr>
            <a:r>
              <a:rPr lang="zh-CN" altLang="en-US" sz="2400" b="1" dirty="0">
                <a:solidFill>
                  <a:srgbClr val="C00000"/>
                </a:solidFill>
              </a:rPr>
              <a:t>创建新任务时，会对删除的任务进行资源回收</a:t>
            </a:r>
            <a:endParaRPr lang="en-US" altLang="zh-CN" sz="2400" b="1" dirty="0">
              <a:solidFill>
                <a:srgbClr val="C00000"/>
              </a:solidFill>
            </a:endParaRPr>
          </a:p>
          <a:p>
            <a:pPr marL="0" indent="0">
              <a:lnSpc>
                <a:spcPct val="125000"/>
              </a:lnSpc>
              <a:buNone/>
            </a:pPr>
            <a:endParaRPr lang="en-US" altLang="zh-CN" sz="2000" dirty="0"/>
          </a:p>
        </p:txBody>
      </p:sp>
      <p:sp>
        <p:nvSpPr>
          <p:cNvPr id="10" name="文本框 9">
            <a:extLst>
              <a:ext uri="{FF2B5EF4-FFF2-40B4-BE49-F238E27FC236}">
                <a16:creationId xmlns:a16="http://schemas.microsoft.com/office/drawing/2014/main" id="{000F36C4-F8EE-43CE-9CD7-AF19E99ADD8B}"/>
              </a:ext>
            </a:extLst>
          </p:cNvPr>
          <p:cNvSpPr txBox="1"/>
          <p:nvPr/>
        </p:nvSpPr>
        <p:spPr>
          <a:xfrm>
            <a:off x="509542" y="3635731"/>
            <a:ext cx="8256085" cy="3221395"/>
          </a:xfrm>
          <a:prstGeom prst="rect">
            <a:avLst/>
          </a:prstGeom>
          <a:noFill/>
        </p:spPr>
        <p:txBody>
          <a:bodyPr wrap="square" rtlCol="0">
            <a:spAutoFit/>
          </a:bodyPr>
          <a:lstStyle/>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Function :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LOS_TaskCreate</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Description : Create a task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Input       :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pstInitParam</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r>
              <a:rPr kumimoji="0" lang="zh-CN" altLang="zh-CN" sz="1800" b="1" i="0" u="none" strike="noStrike" kern="100" cap="none" spc="-30" normalizeH="0" baseline="0" noProof="0" dirty="0">
                <a:ln>
                  <a:noFill/>
                </a:ln>
                <a:solidFill>
                  <a:srgbClr val="000000"/>
                </a:solidFill>
                <a:effectLst/>
                <a:uLnTx/>
                <a:uFillTx/>
                <a:latin typeface="Courier New" panose="02070309020205020404" pitchFamily="49" charset="0"/>
                <a:ea typeface="方正书宋简体"/>
                <a:cs typeface="+mn-cs"/>
              </a:rPr>
              <a:t>—</a:t>
            </a:r>
            <a:r>
              <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Task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init</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parameters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Output      :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puwTaskID</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r>
              <a:rPr kumimoji="0" lang="zh-CN" altLang="zh-CN" sz="1800" b="1" i="0" u="none" strike="noStrike" kern="100" cap="none" spc="-30" normalizeH="0" baseline="0" noProof="0" dirty="0">
                <a:ln>
                  <a:noFill/>
                </a:ln>
                <a:solidFill>
                  <a:srgbClr val="000000"/>
                </a:solidFill>
                <a:effectLst/>
                <a:uLnTx/>
                <a:uFillTx/>
                <a:latin typeface="Courier New" panose="02070309020205020404" pitchFamily="49" charset="0"/>
                <a:ea typeface="方正书宋简体"/>
                <a:cs typeface="+mn-cs"/>
              </a:rPr>
              <a:t>—</a:t>
            </a:r>
            <a:r>
              <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Save task ID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Return      : LOS_OK on success or error code on failure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a:p>
            <a:pPr marL="127000" marR="0" lvl="0" indent="250190" algn="just" defTabSz="914400" rtl="0" eaLnBrk="1" fontAlgn="auto" latinLnBrk="0" hangingPunct="1">
              <a:lnSpc>
                <a:spcPct val="100000"/>
              </a:lnSpc>
              <a:spcBef>
                <a:spcPts val="155"/>
              </a:spcBef>
              <a:spcAft>
                <a:spcPts val="155"/>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LITE_OS_SEC_TEXT_INIT UINT32 </a:t>
            </a:r>
            <a:r>
              <a:rPr kumimoji="0" lang="en-US" altLang="zh-CN" sz="1800" b="1" i="0" u="none" strike="noStrike" kern="100" cap="none" spc="0" normalizeH="0" baseline="0" noProof="0" dirty="0" err="1">
                <a:ln>
                  <a:noFill/>
                </a:ln>
                <a:solidFill>
                  <a:srgbClr val="C00000"/>
                </a:solidFill>
                <a:effectLst/>
                <a:uLnTx/>
                <a:uFillTx/>
                <a:latin typeface="Courier New" panose="02070309020205020404" pitchFamily="49" charset="0"/>
                <a:ea typeface="方正书宋简体"/>
                <a:cs typeface="+mn-cs"/>
              </a:rPr>
              <a:t>LOS_TaskCreate</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(UINT32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puwTaskID</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TSK_INIT_PARAM_S *</a:t>
            </a:r>
            <a:r>
              <a:rPr kumimoji="0" lang="en-US" altLang="zh-CN" sz="18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pstInitParam</a:t>
            </a:r>
            <a:r>
              <a:rPr kumimoji="0" lang="en-US"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a:t>
            </a:r>
            <a:endParaRPr kumimoji="0" lang="zh-CN" altLang="zh-CN" sz="18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p:txBody>
      </p:sp>
      <p:pic>
        <p:nvPicPr>
          <p:cNvPr id="8" name="图片 7"/>
          <p:cNvPicPr>
            <a:picLocks noChangeAspect="1"/>
          </p:cNvPicPr>
          <p:nvPr/>
        </p:nvPicPr>
        <p:blipFill>
          <a:blip r:embed="rId2"/>
          <a:stretch>
            <a:fillRect/>
          </a:stretch>
        </p:blipFill>
        <p:spPr>
          <a:xfrm>
            <a:off x="6879816" y="631805"/>
            <a:ext cx="5208409" cy="4280789"/>
          </a:xfrm>
          <a:prstGeom prst="rect">
            <a:avLst/>
          </a:prstGeom>
        </p:spPr>
      </p:pic>
    </p:spTree>
    <p:extLst>
      <p:ext uri="{BB962C8B-B14F-4D97-AF65-F5344CB8AC3E}">
        <p14:creationId xmlns:p14="http://schemas.microsoft.com/office/powerpoint/2010/main" val="2161630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任务终止</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1" name="内容占位符 2">
            <a:extLst>
              <a:ext uri="{FF2B5EF4-FFF2-40B4-BE49-F238E27FC236}">
                <a16:creationId xmlns:a16="http://schemas.microsoft.com/office/drawing/2014/main" id="{ABE6EB6A-F530-41A6-8CD6-17E5BFB335B4}"/>
              </a:ext>
            </a:extLst>
          </p:cNvPr>
          <p:cNvSpPr>
            <a:spLocks noGrp="1"/>
          </p:cNvSpPr>
          <p:nvPr>
            <p:ph idx="1"/>
          </p:nvPr>
        </p:nvSpPr>
        <p:spPr>
          <a:xfrm>
            <a:off x="97469" y="1134006"/>
            <a:ext cx="7016204" cy="1590275"/>
          </a:xfrm>
        </p:spPr>
        <p:txBody>
          <a:bodyPr>
            <a:normAutofit/>
          </a:bodyPr>
          <a:lstStyle/>
          <a:p>
            <a:pPr>
              <a:lnSpc>
                <a:spcPct val="125000"/>
              </a:lnSpc>
            </a:pPr>
            <a:r>
              <a:rPr lang="zh-CN" altLang="en-US" sz="2800" b="1" dirty="0">
                <a:solidFill>
                  <a:srgbClr val="C00000"/>
                </a:solidFill>
              </a:rPr>
              <a:t>用户调用接口提前终止指定</a:t>
            </a:r>
            <a:r>
              <a:rPr lang="en-US" altLang="zh-CN" sz="2800" b="1" dirty="0">
                <a:solidFill>
                  <a:srgbClr val="C00000"/>
                </a:solidFill>
              </a:rPr>
              <a:t>ID</a:t>
            </a:r>
            <a:r>
              <a:rPr lang="zh-CN" altLang="en-US" sz="2800" b="1" dirty="0">
                <a:solidFill>
                  <a:srgbClr val="C00000"/>
                </a:solidFill>
              </a:rPr>
              <a:t>的任务</a:t>
            </a:r>
            <a:endParaRPr lang="en-US" altLang="zh-CN" sz="2800" b="1" dirty="0">
              <a:solidFill>
                <a:srgbClr val="C00000"/>
              </a:solidFill>
            </a:endParaRPr>
          </a:p>
          <a:p>
            <a:pPr lvl="1">
              <a:lnSpc>
                <a:spcPct val="125000"/>
              </a:lnSpc>
            </a:pPr>
            <a:r>
              <a:rPr lang="zh-CN" altLang="en-US" sz="2400" dirty="0"/>
              <a:t>删除任务时，指定任务控制块会被移除，但任务占据的空间不会立即释放</a:t>
            </a:r>
            <a:endParaRPr lang="en-US" altLang="zh-CN" sz="2400" dirty="0"/>
          </a:p>
        </p:txBody>
      </p:sp>
      <p:sp>
        <p:nvSpPr>
          <p:cNvPr id="12" name="文本框 11">
            <a:extLst>
              <a:ext uri="{FF2B5EF4-FFF2-40B4-BE49-F238E27FC236}">
                <a16:creationId xmlns:a16="http://schemas.microsoft.com/office/drawing/2014/main" id="{000F36C4-F8EE-43CE-9CD7-AF19E99ADD8B}"/>
              </a:ext>
            </a:extLst>
          </p:cNvPr>
          <p:cNvSpPr txBox="1"/>
          <p:nvPr/>
        </p:nvSpPr>
        <p:spPr>
          <a:xfrm>
            <a:off x="97469" y="3328829"/>
            <a:ext cx="8470333" cy="3529171"/>
          </a:xfrm>
          <a:prstGeom prst="rect">
            <a:avLst/>
          </a:prstGeom>
          <a:noFill/>
        </p:spPr>
        <p:txBody>
          <a:bodyPr wrap="square" rtlCol="0">
            <a:spAutoFit/>
          </a:bodyPr>
          <a:lstStyle/>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Function : </a:t>
            </a:r>
            <a:r>
              <a:rPr kumimoji="0" lang="en-US" altLang="zh-CN" sz="20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LOS_TaskDelete</a:t>
            </a: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Description : Delete a task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Input       : </a:t>
            </a:r>
            <a:r>
              <a:rPr kumimoji="0" lang="en-US" altLang="zh-CN" sz="20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uwTaskID</a:t>
            </a: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 Task ID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Output      : None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Return    : LOS_OK on success or error code on failure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p>
          <a:p>
            <a:pPr marL="254000" marR="0" lvl="0" indent="0" algn="just" defTabSz="914400" rtl="0" eaLnBrk="1" fontAlgn="auto" latinLnBrk="0" hangingPunct="1">
              <a:lnSpc>
                <a:spcPct val="100000"/>
              </a:lnSpc>
              <a:spcBef>
                <a:spcPts val="155"/>
              </a:spcBef>
              <a:spcAft>
                <a:spcPts val="155"/>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LITE_OS_SEC_TEXT_INIT UINT32 </a:t>
            </a:r>
            <a:r>
              <a:rPr kumimoji="0" lang="en-US" altLang="zh-CN" sz="2000" b="1" i="0" u="none" strike="noStrike" kern="100" cap="none" spc="0" normalizeH="0" baseline="0" noProof="0" dirty="0" err="1">
                <a:ln>
                  <a:noFill/>
                </a:ln>
                <a:solidFill>
                  <a:srgbClr val="C00000"/>
                </a:solidFill>
                <a:effectLst/>
                <a:uLnTx/>
                <a:uFillTx/>
                <a:latin typeface="Courier New" panose="02070309020205020404" pitchFamily="49" charset="0"/>
                <a:ea typeface="方正书宋简体"/>
                <a:cs typeface="+mn-cs"/>
              </a:rPr>
              <a:t>LOS_TaskDelete</a:t>
            </a: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(UINT32 </a:t>
            </a:r>
            <a:r>
              <a:rPr kumimoji="0" lang="en-US" altLang="zh-CN" sz="2000" b="1" i="0" u="none" strike="noStrike" kern="100" cap="none" spc="0" normalizeH="0" baseline="0" noProof="0" dirty="0" err="1">
                <a:ln>
                  <a:noFill/>
                </a:ln>
                <a:solidFill>
                  <a:srgbClr val="000000"/>
                </a:solidFill>
                <a:effectLst/>
                <a:uLnTx/>
                <a:uFillTx/>
                <a:latin typeface="Courier New" panose="02070309020205020404" pitchFamily="49" charset="0"/>
                <a:ea typeface="方正书宋简体"/>
                <a:cs typeface="+mn-cs"/>
              </a:rPr>
              <a:t>uwTaskID</a:t>
            </a:r>
            <a:r>
              <a:rPr kumimoji="0" lang="en-US"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rPr>
              <a:t>) </a:t>
            </a:r>
            <a:endParaRPr kumimoji="0" lang="zh-CN" altLang="zh-CN" sz="2000" b="1" i="0" u="none" strike="noStrike" kern="100" cap="none" spc="0" normalizeH="0" baseline="0" noProof="0" dirty="0">
              <a:ln>
                <a:noFill/>
              </a:ln>
              <a:solidFill>
                <a:srgbClr val="000000"/>
              </a:solidFill>
              <a:effectLst/>
              <a:uLnTx/>
              <a:uFillTx/>
              <a:latin typeface="Courier New" panose="02070309020205020404" pitchFamily="49" charset="0"/>
              <a:ea typeface="方正书宋简体"/>
              <a:cs typeface="+mn-cs"/>
            </a:endParaRPr>
          </a:p>
        </p:txBody>
      </p:sp>
      <p:pic>
        <p:nvPicPr>
          <p:cNvPr id="8" name="图片 7"/>
          <p:cNvPicPr>
            <a:picLocks noChangeAspect="1"/>
          </p:cNvPicPr>
          <p:nvPr/>
        </p:nvPicPr>
        <p:blipFill>
          <a:blip r:embed="rId2"/>
          <a:stretch>
            <a:fillRect/>
          </a:stretch>
        </p:blipFill>
        <p:spPr>
          <a:xfrm>
            <a:off x="7006196" y="552734"/>
            <a:ext cx="5088335" cy="4182101"/>
          </a:xfrm>
          <a:prstGeom prst="rect">
            <a:avLst/>
          </a:prstGeom>
        </p:spPr>
      </p:pic>
    </p:spTree>
    <p:extLst>
      <p:ext uri="{BB962C8B-B14F-4D97-AF65-F5344CB8AC3E}">
        <p14:creationId xmlns:p14="http://schemas.microsoft.com/office/powerpoint/2010/main" val="946548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3C326D0B-7DAB-41B6-8030-2E4A18CC94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r>
              <a:rPr lang="zh-CN" altLang="en-US" sz="2800" b="1" kern="1800" dirty="0">
                <a:solidFill>
                  <a:schemeClr val="bg1"/>
                </a:solidFill>
                <a:cs typeface="+mn-ea"/>
                <a:sym typeface="+mn-lt"/>
              </a:rPr>
              <a:t>物联网操作系统</a:t>
            </a:r>
            <a:r>
              <a:rPr lang="zh-CN" altLang="zh-CN" sz="4000" b="1" dirty="0">
                <a:ln w="12700">
                  <a:solidFill>
                    <a:schemeClr val="accent5"/>
                  </a:solidFill>
                  <a:prstDash val="solid"/>
                </a:ln>
                <a:pattFill prst="ltDnDiag">
                  <a:fgClr>
                    <a:schemeClr val="accent5">
                      <a:lumMod val="60000"/>
                      <a:lumOff val="40000"/>
                    </a:schemeClr>
                  </a:fgClr>
                  <a:bgClr>
                    <a:schemeClr val="bg1"/>
                  </a:bgClr>
                </a:pattFill>
                <a:cs typeface="+mn-ea"/>
                <a:sym typeface="+mn-lt"/>
              </a:rPr>
              <a:t>——</a:t>
            </a:r>
            <a:endParaRPr lang="zh-CN" altLang="en-US" sz="4000" b="1" dirty="0">
              <a:ln w="12700">
                <a:solidFill>
                  <a:schemeClr val="accent5"/>
                </a:solidFill>
                <a:prstDash val="solid"/>
              </a:ln>
              <a:pattFill prst="ltDnDiag">
                <a:fgClr>
                  <a:schemeClr val="accent5">
                    <a:lumMod val="60000"/>
                    <a:lumOff val="40000"/>
                  </a:schemeClr>
                </a:fgClr>
                <a:bgClr>
                  <a:schemeClr val="bg1"/>
                </a:bgClr>
              </a:pattFill>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r>
              <a:rPr lang="en-US" altLang="zh-CN" sz="2800" b="1" dirty="0" err="1">
                <a:solidFill>
                  <a:srgbClr val="42E6E0"/>
                </a:solidFill>
                <a:cs typeface="+mn-ea"/>
                <a:sym typeface="+mn-lt"/>
              </a:rPr>
              <a:t>LiteOS</a:t>
            </a:r>
            <a:r>
              <a:rPr lang="zh-CN" altLang="en-US" sz="2800" b="1" dirty="0">
                <a:solidFill>
                  <a:srgbClr val="42E6E0"/>
                </a:solidFill>
                <a:cs typeface="+mn-ea"/>
                <a:sym typeface="+mn-lt"/>
              </a:rPr>
              <a:t>任务创建</a:t>
            </a:r>
            <a:endParaRPr lang="en-US" altLang="zh-CN" sz="2800" b="1" dirty="0">
              <a:solidFill>
                <a:srgbClr val="42E6E0"/>
              </a:solidFill>
              <a:cs typeface="+mn-ea"/>
              <a:sym typeface="+mn-lt"/>
            </a:endParaRPr>
          </a:p>
        </p:txBody>
      </p:sp>
    </p:spTree>
    <p:extLst>
      <p:ext uri="{BB962C8B-B14F-4D97-AF65-F5344CB8AC3E}">
        <p14:creationId xmlns:p14="http://schemas.microsoft.com/office/powerpoint/2010/main" val="1555996397"/>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Freeform 3"/>
          <p:cNvSpPr/>
          <p:nvPr/>
        </p:nvSpPr>
        <p:spPr>
          <a:xfrm>
            <a:off x="-72988" y="992"/>
            <a:ext cx="12337975" cy="6856017"/>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301" name="Rectangle 3"/>
          <p:cNvSpPr txBox="1">
            <a:spLocks noRot="1" noChangeArrowheads="1"/>
          </p:cNvSpPr>
          <p:nvPr/>
        </p:nvSpPr>
        <p:spPr>
          <a:xfrm>
            <a:off x="-85681" y="1643051"/>
            <a:ext cx="5794531" cy="4268152"/>
          </a:xfrm>
          <a:prstGeom prst="rect">
            <a:avLst/>
          </a:prstGeom>
        </p:spPr>
        <p:txBody>
          <a:bodyPr vert="horz" lIns="121854" tIns="60926" rIns="121854" bIns="60926" rtlCol="0">
            <a:normAutofit/>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zh-CN" altLang="en-US" sz="1999" dirty="0"/>
          </a:p>
        </p:txBody>
      </p:sp>
      <p:sp>
        <p:nvSpPr>
          <p:cNvPr id="302" name="Freeform 706"/>
          <p:cNvSpPr>
            <a:spLocks/>
          </p:cNvSpPr>
          <p:nvPr/>
        </p:nvSpPr>
        <p:spPr bwMode="auto">
          <a:xfrm>
            <a:off x="2925511" y="1125919"/>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3" name="Freeform 707"/>
          <p:cNvSpPr>
            <a:spLocks/>
          </p:cNvSpPr>
          <p:nvPr/>
        </p:nvSpPr>
        <p:spPr bwMode="auto">
          <a:xfrm>
            <a:off x="2925511" y="2110607"/>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4" name="Freeform 708"/>
          <p:cNvSpPr>
            <a:spLocks/>
          </p:cNvSpPr>
          <p:nvPr/>
        </p:nvSpPr>
        <p:spPr bwMode="auto">
          <a:xfrm>
            <a:off x="2925511" y="3071888"/>
            <a:ext cx="181877" cy="582310"/>
          </a:xfrm>
          <a:custGeom>
            <a:avLst/>
            <a:gdLst>
              <a:gd name="T0" fmla="*/ 187 w 187"/>
              <a:gd name="T1" fmla="*/ 60 h 103"/>
              <a:gd name="T2" fmla="*/ 145 w 187"/>
              <a:gd name="T3" fmla="*/ 103 h 103"/>
              <a:gd name="T4" fmla="*/ 43 w 187"/>
              <a:gd name="T5" fmla="*/ 103 h 103"/>
              <a:gd name="T6" fmla="*/ 0 w 187"/>
              <a:gd name="T7" fmla="*/ 60 h 103"/>
              <a:gd name="T8" fmla="*/ 0 w 187"/>
              <a:gd name="T9" fmla="*/ 42 h 103"/>
              <a:gd name="T10" fmla="*/ 43 w 187"/>
              <a:gd name="T11" fmla="*/ 0 h 103"/>
              <a:gd name="T12" fmla="*/ 145 w 187"/>
              <a:gd name="T13" fmla="*/ 0 h 103"/>
              <a:gd name="T14" fmla="*/ 187 w 187"/>
              <a:gd name="T15" fmla="*/ 42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2"/>
                  <a:pt x="0" y="42"/>
                  <a:pt x="0" y="42"/>
                </a:cubicBezTo>
                <a:cubicBezTo>
                  <a:pt x="0" y="19"/>
                  <a:pt x="20" y="0"/>
                  <a:pt x="43" y="0"/>
                </a:cubicBezTo>
                <a:cubicBezTo>
                  <a:pt x="145" y="0"/>
                  <a:pt x="145" y="0"/>
                  <a:pt x="145" y="0"/>
                </a:cubicBezTo>
                <a:cubicBezTo>
                  <a:pt x="168" y="0"/>
                  <a:pt x="187" y="19"/>
                  <a:pt x="187" y="42"/>
                </a:cubicBezTo>
                <a:lnTo>
                  <a:pt x="187" y="60"/>
                </a:lnTo>
                <a:close/>
              </a:path>
            </a:pathLst>
          </a:custGeom>
          <a:solidFill>
            <a:srgbClr val="A2B932"/>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6" name="文本框 335"/>
          <p:cNvSpPr txBox="1"/>
          <p:nvPr/>
        </p:nvSpPr>
        <p:spPr>
          <a:xfrm>
            <a:off x="3555921" y="1112494"/>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的基本使用方式。</a:t>
            </a:r>
          </a:p>
        </p:txBody>
      </p:sp>
      <p:sp>
        <p:nvSpPr>
          <p:cNvPr id="310" name="文本框 335"/>
          <p:cNvSpPr txBox="1"/>
          <p:nvPr/>
        </p:nvSpPr>
        <p:spPr>
          <a:xfrm>
            <a:off x="3555921" y="1998522"/>
            <a:ext cx="4645780" cy="830308"/>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创建任务的基本参数及其作用，如任务栈、任务控制块等。</a:t>
            </a:r>
          </a:p>
        </p:txBody>
      </p:sp>
      <p:sp>
        <p:nvSpPr>
          <p:cNvPr id="311" name="文本框 335"/>
          <p:cNvSpPr txBox="1"/>
          <p:nvPr/>
        </p:nvSpPr>
        <p:spPr>
          <a:xfrm>
            <a:off x="3555921" y="3173405"/>
            <a:ext cx="4341139"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的启动流程。</a:t>
            </a:r>
          </a:p>
        </p:txBody>
      </p:sp>
      <p:sp>
        <p:nvSpPr>
          <p:cNvPr id="25" name="Freeform 706"/>
          <p:cNvSpPr>
            <a:spLocks/>
          </p:cNvSpPr>
          <p:nvPr/>
        </p:nvSpPr>
        <p:spPr bwMode="auto">
          <a:xfrm>
            <a:off x="2925511" y="4026967"/>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26" name="Freeform 707"/>
          <p:cNvSpPr>
            <a:spLocks/>
          </p:cNvSpPr>
          <p:nvPr/>
        </p:nvSpPr>
        <p:spPr bwMode="auto">
          <a:xfrm>
            <a:off x="2925511" y="4884748"/>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27" name="文本框 335"/>
          <p:cNvSpPr txBox="1"/>
          <p:nvPr/>
        </p:nvSpPr>
        <p:spPr>
          <a:xfrm>
            <a:off x="3555921" y="4096172"/>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掌握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创建任务的过程。</a:t>
            </a:r>
          </a:p>
        </p:txBody>
      </p:sp>
      <p:sp>
        <p:nvSpPr>
          <p:cNvPr id="28" name="文本框 335"/>
          <p:cNvSpPr txBox="1"/>
          <p:nvPr/>
        </p:nvSpPr>
        <p:spPr>
          <a:xfrm>
            <a:off x="3555921" y="4960747"/>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学会使用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创建任务函数。</a:t>
            </a:r>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学习目标</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358192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6" y="2032404"/>
            <a:ext cx="2612500"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3.1 </a:t>
            </a:r>
            <a:r>
              <a:rPr lang="zh-CN" altLang="en-US" sz="1899" dirty="0">
                <a:solidFill>
                  <a:schemeClr val="bg1"/>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147495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1979359"/>
            <a:ext cx="11652531" cy="42107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70922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616787"/>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869951"/>
            <a:ext cx="11500210" cy="990084"/>
          </a:xfrm>
        </p:spPr>
        <p:txBody>
          <a:bodyPr>
            <a:normAutofit/>
          </a:bodyPr>
          <a:lstStyle/>
          <a:p>
            <a:pPr marL="0" indent="456971">
              <a:lnSpc>
                <a:spcPct val="135000"/>
              </a:lnSpc>
              <a:buClr>
                <a:schemeClr val="tx2">
                  <a:lumMod val="75000"/>
                </a:schemeClr>
              </a:buClr>
              <a:buNone/>
            </a:pPr>
            <a:r>
              <a:rPr lang="zh-CN" altLang="en-US" dirty="0"/>
              <a:t>创建的任务需要用到</a:t>
            </a:r>
            <a:r>
              <a:rPr lang="zh-CN" altLang="en-US" dirty="0">
                <a:solidFill>
                  <a:srgbClr val="C00000"/>
                </a:solidFill>
              </a:rPr>
              <a:t>开发板搭载的硬件</a:t>
            </a:r>
            <a:r>
              <a:rPr lang="zh-CN" altLang="en-US" dirty="0"/>
              <a:t>，因此需要对硬件部分进行初始化，具体处理是在 </a:t>
            </a:r>
            <a:r>
              <a:rPr lang="en-US" altLang="zh-CN" dirty="0" err="1"/>
              <a:t>main.c</a:t>
            </a:r>
            <a:r>
              <a:rPr lang="en-US" altLang="zh-CN" dirty="0"/>
              <a:t> </a:t>
            </a:r>
            <a:r>
              <a:rPr lang="zh-CN" altLang="en-US" dirty="0"/>
              <a:t>文件的 </a:t>
            </a:r>
            <a:r>
              <a:rPr lang="en-US" altLang="zh-CN" dirty="0" err="1">
                <a:solidFill>
                  <a:srgbClr val="C00000"/>
                </a:solidFill>
              </a:rPr>
              <a:t>BSP_Init</a:t>
            </a:r>
            <a:r>
              <a:rPr lang="en-US" altLang="zh-CN" dirty="0">
                <a:solidFill>
                  <a:srgbClr val="C00000"/>
                </a:solidFill>
              </a:rPr>
              <a:t> </a:t>
            </a:r>
            <a:r>
              <a:rPr lang="zh-CN" altLang="en-US" dirty="0">
                <a:solidFill>
                  <a:srgbClr val="C00000"/>
                </a:solidFill>
              </a:rPr>
              <a:t>函数</a:t>
            </a:r>
            <a:r>
              <a:rPr lang="zh-CN" altLang="en-US" dirty="0"/>
              <a:t>中对硬件进行初始化，如代码清单所示。</a:t>
            </a:r>
          </a:p>
        </p:txBody>
      </p:sp>
      <p:sp>
        <p:nvSpPr>
          <p:cNvPr id="20" name="内容占位符 2"/>
          <p:cNvSpPr>
            <a:spLocks noGrp="1"/>
          </p:cNvSpPr>
          <p:nvPr>
            <p:ph idx="1"/>
          </p:nvPr>
        </p:nvSpPr>
        <p:spPr>
          <a:xfrm>
            <a:off x="309401" y="1979359"/>
            <a:ext cx="6016667" cy="4694767"/>
          </a:xfrm>
        </p:spPr>
        <p:txBody>
          <a:bodyPr>
            <a:noAutofit/>
          </a:bodyPr>
          <a:lstStyle/>
          <a:p>
            <a:pPr marL="0" indent="456971">
              <a:lnSpc>
                <a:spcPct val="110000"/>
              </a:lnSpc>
              <a:spcBef>
                <a:spcPts val="0"/>
              </a:spcBef>
              <a:buClr>
                <a:schemeClr val="tx2">
                  <a:lumMod val="75000"/>
                </a:schemeClr>
              </a:buClr>
              <a:buNone/>
            </a:pPr>
            <a:r>
              <a:rPr lang="en-US" altLang="zh-CN" sz="1400" b="1" dirty="0"/>
              <a:t>1 /************************************************************ </a:t>
            </a:r>
          </a:p>
          <a:p>
            <a:pPr marL="0" indent="456971">
              <a:lnSpc>
                <a:spcPct val="110000"/>
              </a:lnSpc>
              <a:spcBef>
                <a:spcPts val="0"/>
              </a:spcBef>
              <a:buClr>
                <a:schemeClr val="tx2">
                  <a:lumMod val="75000"/>
                </a:schemeClr>
              </a:buClr>
              <a:buNone/>
            </a:pPr>
            <a:r>
              <a:rPr lang="en-US" altLang="zh-CN" sz="1400" b="1" dirty="0"/>
              <a:t> 2   * @ </a:t>
            </a:r>
            <a:r>
              <a:rPr lang="zh-CN" altLang="en-US" sz="1400" b="1" dirty="0"/>
              <a:t>函数名  ： </a:t>
            </a:r>
            <a:r>
              <a:rPr lang="en-US" altLang="zh-CN" sz="1400" b="1" dirty="0" err="1"/>
              <a:t>BSP_Init</a:t>
            </a:r>
            <a:endParaRPr lang="en-US" altLang="zh-CN" sz="1400" b="1" dirty="0"/>
          </a:p>
          <a:p>
            <a:pPr marL="0" indent="456971">
              <a:lnSpc>
                <a:spcPct val="110000"/>
              </a:lnSpc>
              <a:spcBef>
                <a:spcPts val="0"/>
              </a:spcBef>
              <a:buClr>
                <a:schemeClr val="tx2">
                  <a:lumMod val="75000"/>
                </a:schemeClr>
              </a:buClr>
              <a:buNone/>
            </a:pPr>
            <a:r>
              <a:rPr lang="en-US" altLang="zh-CN" sz="1400" b="1" dirty="0"/>
              <a:t> 3   * @ </a:t>
            </a:r>
            <a:r>
              <a:rPr lang="zh-CN" altLang="en-US" sz="1400" b="1" dirty="0"/>
              <a:t>功能说明 ： 板级外设初始化，所有开发板上的初始化均可放在这个函数中</a:t>
            </a:r>
          </a:p>
          <a:p>
            <a:pPr marL="0" indent="456971">
              <a:lnSpc>
                <a:spcPct val="110000"/>
              </a:lnSpc>
              <a:spcBef>
                <a:spcPts val="0"/>
              </a:spcBef>
              <a:buClr>
                <a:schemeClr val="tx2">
                  <a:lumMod val="75000"/>
                </a:schemeClr>
              </a:buClr>
              <a:buNone/>
            </a:pPr>
            <a:r>
              <a:rPr lang="zh-CN" altLang="en-US" sz="1400" b="1" dirty="0"/>
              <a:t> </a:t>
            </a:r>
            <a:r>
              <a:rPr lang="en-US" altLang="zh-CN" sz="1400" b="1" dirty="0"/>
              <a:t>4   * @ </a:t>
            </a:r>
            <a:r>
              <a:rPr lang="zh-CN" altLang="en-US" sz="1400" b="1" dirty="0"/>
              <a:t>参数    ：</a:t>
            </a:r>
          </a:p>
          <a:p>
            <a:pPr marL="0" indent="456971">
              <a:lnSpc>
                <a:spcPct val="110000"/>
              </a:lnSpc>
              <a:spcBef>
                <a:spcPts val="0"/>
              </a:spcBef>
              <a:buClr>
                <a:schemeClr val="tx2">
                  <a:lumMod val="75000"/>
                </a:schemeClr>
              </a:buClr>
              <a:buNone/>
            </a:pPr>
            <a:r>
              <a:rPr lang="zh-CN" altLang="en-US" sz="1400" b="1" dirty="0"/>
              <a:t> </a:t>
            </a:r>
            <a:r>
              <a:rPr lang="en-US" altLang="zh-CN" sz="1400" b="1" dirty="0"/>
              <a:t>5   * @ </a:t>
            </a:r>
            <a:r>
              <a:rPr lang="zh-CN" altLang="en-US" sz="1400" b="1" dirty="0"/>
              <a:t>返回值  ： 无</a:t>
            </a:r>
          </a:p>
          <a:p>
            <a:pPr marL="0" indent="456971">
              <a:lnSpc>
                <a:spcPct val="110000"/>
              </a:lnSpc>
              <a:spcBef>
                <a:spcPts val="0"/>
              </a:spcBef>
              <a:buClr>
                <a:schemeClr val="tx2">
                  <a:lumMod val="75000"/>
                </a:schemeClr>
              </a:buClr>
              <a:buNone/>
            </a:pPr>
            <a:r>
              <a:rPr lang="zh-CN" altLang="en-US" sz="1400" b="1" dirty="0"/>
              <a:t> </a:t>
            </a:r>
            <a:r>
              <a:rPr lang="en-US" altLang="zh-CN" sz="1400" b="1" dirty="0"/>
              <a:t>6   ******************************************************** /</a:t>
            </a:r>
          </a:p>
          <a:p>
            <a:pPr marL="0" indent="456971">
              <a:lnSpc>
                <a:spcPct val="110000"/>
              </a:lnSpc>
              <a:spcBef>
                <a:spcPts val="0"/>
              </a:spcBef>
              <a:buClr>
                <a:schemeClr val="tx2">
                  <a:lumMod val="75000"/>
                </a:schemeClr>
              </a:buClr>
              <a:buNone/>
            </a:pPr>
            <a:r>
              <a:rPr lang="en-US" altLang="zh-CN" sz="1400" b="1" dirty="0"/>
              <a:t> 7 static void </a:t>
            </a:r>
            <a:r>
              <a:rPr lang="en-US" altLang="zh-CN" sz="1400" b="1" dirty="0" err="1"/>
              <a:t>BSP_Init</a:t>
            </a:r>
            <a:r>
              <a:rPr lang="en-US" altLang="zh-CN" sz="1400" b="1" dirty="0"/>
              <a:t>(void)</a:t>
            </a:r>
          </a:p>
          <a:p>
            <a:pPr marL="0" indent="456971">
              <a:lnSpc>
                <a:spcPct val="110000"/>
              </a:lnSpc>
              <a:spcBef>
                <a:spcPts val="0"/>
              </a:spcBef>
              <a:buClr>
                <a:schemeClr val="tx2">
                  <a:lumMod val="75000"/>
                </a:schemeClr>
              </a:buClr>
              <a:buNone/>
            </a:pPr>
            <a:r>
              <a:rPr lang="en-US" altLang="zh-CN" sz="1400" b="1" dirty="0"/>
              <a:t> 8 {</a:t>
            </a:r>
          </a:p>
          <a:p>
            <a:pPr marL="0" indent="456971">
              <a:lnSpc>
                <a:spcPct val="110000"/>
              </a:lnSpc>
              <a:spcBef>
                <a:spcPts val="0"/>
              </a:spcBef>
              <a:buClr>
                <a:schemeClr val="tx2">
                  <a:lumMod val="75000"/>
                </a:schemeClr>
              </a:buClr>
              <a:buNone/>
            </a:pPr>
            <a:r>
              <a:rPr lang="en-US" altLang="zh-CN" sz="1400" b="1" dirty="0"/>
              <a:t> 9     /*</a:t>
            </a:r>
          </a:p>
          <a:p>
            <a:pPr marL="0" indent="456971">
              <a:lnSpc>
                <a:spcPct val="110000"/>
              </a:lnSpc>
              <a:spcBef>
                <a:spcPts val="0"/>
              </a:spcBef>
              <a:buClr>
                <a:schemeClr val="tx2">
                  <a:lumMod val="75000"/>
                </a:schemeClr>
              </a:buClr>
              <a:buNone/>
            </a:pPr>
            <a:r>
              <a:rPr lang="en-US" altLang="zh-CN" sz="1400" b="1" dirty="0"/>
              <a:t>10      * STM32</a:t>
            </a:r>
            <a:r>
              <a:rPr lang="zh-CN" altLang="en-US" sz="1400" b="1" dirty="0"/>
              <a:t>中断优先级分组为</a:t>
            </a:r>
            <a:r>
              <a:rPr lang="en-US" altLang="zh-CN" sz="1400" b="1" dirty="0"/>
              <a:t>4</a:t>
            </a:r>
            <a:r>
              <a:rPr lang="zh-CN" altLang="en-US" sz="1400" b="1" dirty="0"/>
              <a:t>，即</a:t>
            </a:r>
            <a:r>
              <a:rPr lang="en-US" altLang="zh-CN" sz="1400" b="1" dirty="0"/>
              <a:t>4bit</a:t>
            </a:r>
            <a:r>
              <a:rPr lang="zh-CN" altLang="en-US" sz="1400" b="1" dirty="0"/>
              <a:t>都用来表示抢占优先级，范围为</a:t>
            </a:r>
            <a:r>
              <a:rPr lang="en-US" altLang="zh-CN" sz="1400" b="1" dirty="0"/>
              <a:t>0</a:t>
            </a:r>
            <a:r>
              <a:rPr lang="zh-CN" altLang="en-US" sz="1400" b="1" dirty="0"/>
              <a:t>～</a:t>
            </a:r>
            <a:r>
              <a:rPr lang="en-US" altLang="zh-CN" sz="1400" b="1" dirty="0"/>
              <a:t>15</a:t>
            </a:r>
          </a:p>
          <a:p>
            <a:pPr marL="0" indent="456971">
              <a:lnSpc>
                <a:spcPct val="110000"/>
              </a:lnSpc>
              <a:spcBef>
                <a:spcPts val="0"/>
              </a:spcBef>
              <a:buClr>
                <a:schemeClr val="tx2">
                  <a:lumMod val="75000"/>
                </a:schemeClr>
              </a:buClr>
              <a:buNone/>
            </a:pPr>
            <a:r>
              <a:rPr lang="en-US" altLang="zh-CN" sz="1400" b="1" dirty="0"/>
              <a:t>11      * </a:t>
            </a:r>
            <a:r>
              <a:rPr lang="zh-CN" altLang="en-US" sz="1400" b="1" dirty="0"/>
              <a:t>优先级分组只需要分组一次，以后如果有其他任务需要用到中断，</a:t>
            </a:r>
          </a:p>
          <a:p>
            <a:pPr marL="0" indent="456971">
              <a:lnSpc>
                <a:spcPct val="110000"/>
              </a:lnSpc>
              <a:spcBef>
                <a:spcPts val="0"/>
              </a:spcBef>
              <a:buClr>
                <a:schemeClr val="tx2">
                  <a:lumMod val="75000"/>
                </a:schemeClr>
              </a:buClr>
              <a:buNone/>
            </a:pPr>
            <a:r>
              <a:rPr lang="en-US" altLang="zh-CN" sz="1400" b="1" dirty="0"/>
              <a:t>12      * </a:t>
            </a:r>
            <a:r>
              <a:rPr lang="zh-CN" altLang="en-US" sz="1400" b="1" dirty="0"/>
              <a:t>则统一使用这个优先级分组，不要再分组，切记</a:t>
            </a:r>
          </a:p>
          <a:p>
            <a:pPr marL="0" indent="456971">
              <a:lnSpc>
                <a:spcPct val="110000"/>
              </a:lnSpc>
              <a:spcBef>
                <a:spcPts val="0"/>
              </a:spcBef>
              <a:buClr>
                <a:schemeClr val="tx2">
                  <a:lumMod val="75000"/>
                </a:schemeClr>
              </a:buClr>
              <a:buNone/>
            </a:pPr>
            <a:r>
              <a:rPr lang="en-US" altLang="zh-CN" sz="1400" b="1" dirty="0"/>
              <a:t>13      */</a:t>
            </a:r>
          </a:p>
        </p:txBody>
      </p:sp>
      <p:sp>
        <p:nvSpPr>
          <p:cNvPr id="22" name="内容占位符 2"/>
          <p:cNvSpPr>
            <a:spLocks noGrp="1"/>
          </p:cNvSpPr>
          <p:nvPr>
            <p:ph idx="1"/>
          </p:nvPr>
        </p:nvSpPr>
        <p:spPr>
          <a:xfrm>
            <a:off x="6326068" y="2060564"/>
            <a:ext cx="5480371" cy="3246286"/>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t>14     </a:t>
            </a:r>
            <a:r>
              <a:rPr lang="en-US" altLang="zh-CN" sz="1400" b="1" dirty="0" err="1"/>
              <a:t>NVIC_PriorityGroupConfig</a:t>
            </a:r>
            <a:r>
              <a:rPr lang="en-US" altLang="zh-CN" sz="1400" b="1" dirty="0"/>
              <a:t>( NVIC_PriorityGroup_4 );</a:t>
            </a:r>
          </a:p>
          <a:p>
            <a:pPr marL="0" indent="456971">
              <a:lnSpc>
                <a:spcPct val="110000"/>
              </a:lnSpc>
              <a:spcBef>
                <a:spcPts val="0"/>
              </a:spcBef>
              <a:buClr>
                <a:schemeClr val="tx2">
                  <a:lumMod val="75000"/>
                </a:schemeClr>
              </a:buClr>
              <a:buNone/>
            </a:pPr>
            <a:r>
              <a:rPr lang="en-US" altLang="zh-CN" sz="1400" b="1" dirty="0"/>
              <a:t>15 </a:t>
            </a:r>
          </a:p>
          <a:p>
            <a:pPr marL="0" indent="456971">
              <a:lnSpc>
                <a:spcPct val="110000"/>
              </a:lnSpc>
              <a:spcBef>
                <a:spcPts val="0"/>
              </a:spcBef>
              <a:buClr>
                <a:schemeClr val="tx2">
                  <a:lumMod val="75000"/>
                </a:schemeClr>
              </a:buClr>
              <a:buNone/>
            </a:pPr>
            <a:r>
              <a:rPr lang="en-US" altLang="zh-CN" sz="1400" b="1" dirty="0"/>
              <a:t>16     /* LED </a:t>
            </a:r>
            <a:r>
              <a:rPr lang="zh-CN" altLang="en-US" sz="1400" b="1" dirty="0"/>
              <a:t>初始化 *</a:t>
            </a:r>
            <a:r>
              <a:rPr lang="en-US" altLang="zh-CN" sz="1400" b="1" dirty="0"/>
              <a:t>/</a:t>
            </a:r>
          </a:p>
          <a:p>
            <a:pPr marL="0" indent="456971">
              <a:lnSpc>
                <a:spcPct val="110000"/>
              </a:lnSpc>
              <a:spcBef>
                <a:spcPts val="0"/>
              </a:spcBef>
              <a:buClr>
                <a:schemeClr val="tx2">
                  <a:lumMod val="75000"/>
                </a:schemeClr>
              </a:buClr>
              <a:buNone/>
            </a:pPr>
            <a:r>
              <a:rPr lang="en-US" altLang="zh-CN" sz="1400" b="1" dirty="0"/>
              <a:t>17     </a:t>
            </a:r>
            <a:r>
              <a:rPr lang="en-US" altLang="zh-CN" sz="1400" b="1" dirty="0" err="1"/>
              <a:t>LED_GPIO_Config</a:t>
            </a:r>
            <a:r>
              <a:rPr lang="en-US" altLang="zh-CN" sz="1400" b="1" dirty="0"/>
              <a:t>();</a:t>
            </a:r>
          </a:p>
          <a:p>
            <a:pPr marL="0" indent="456971">
              <a:lnSpc>
                <a:spcPct val="110000"/>
              </a:lnSpc>
              <a:spcBef>
                <a:spcPts val="0"/>
              </a:spcBef>
              <a:buClr>
                <a:schemeClr val="tx2">
                  <a:lumMod val="75000"/>
                </a:schemeClr>
              </a:buClr>
              <a:buNone/>
            </a:pPr>
            <a:r>
              <a:rPr lang="en-US" altLang="zh-CN" sz="1400" b="1" dirty="0"/>
              <a:t>18 } </a:t>
            </a:r>
          </a:p>
        </p:txBody>
      </p:sp>
      <p:sp>
        <p:nvSpPr>
          <p:cNvPr id="113" name="内容占位符 2"/>
          <p:cNvSpPr>
            <a:spLocks noGrp="1"/>
          </p:cNvSpPr>
          <p:nvPr>
            <p:ph idx="1"/>
          </p:nvPr>
        </p:nvSpPr>
        <p:spPr>
          <a:xfrm>
            <a:off x="7009924" y="3825827"/>
            <a:ext cx="4569620" cy="2023920"/>
          </a:xfrm>
          <a:solidFill>
            <a:srgbClr val="3A4187"/>
          </a:solidFill>
        </p:spPr>
        <p:txBody>
          <a:bodyPr>
            <a:normAutofit fontScale="92500" lnSpcReduction="10000"/>
          </a:bodyPr>
          <a:lstStyle/>
          <a:p>
            <a:pPr marL="0" indent="456971">
              <a:lnSpc>
                <a:spcPct val="135000"/>
              </a:lnSpc>
              <a:buClr>
                <a:schemeClr val="tx2">
                  <a:lumMod val="75000"/>
                </a:schemeClr>
              </a:buClr>
              <a:buNone/>
            </a:pPr>
            <a:r>
              <a:rPr lang="en-US" altLang="zh-CN" b="1" dirty="0">
                <a:solidFill>
                  <a:schemeClr val="bg1"/>
                </a:solidFill>
              </a:rPr>
              <a:t>main</a:t>
            </a:r>
            <a:r>
              <a:rPr lang="zh-CN" altLang="en-US" b="1" dirty="0">
                <a:solidFill>
                  <a:schemeClr val="bg1"/>
                </a:solidFill>
              </a:rPr>
              <a:t>函数中调用了</a:t>
            </a:r>
            <a:r>
              <a:rPr lang="en-US" altLang="zh-CN" b="1" dirty="0" err="1">
                <a:solidFill>
                  <a:schemeClr val="bg1"/>
                </a:solidFill>
              </a:rPr>
              <a:t>BSP_Init</a:t>
            </a:r>
            <a:r>
              <a:rPr lang="zh-CN" altLang="en-US" b="1" dirty="0">
                <a:solidFill>
                  <a:schemeClr val="bg1"/>
                </a:solidFill>
              </a:rPr>
              <a:t>，当代码执行到</a:t>
            </a:r>
            <a:r>
              <a:rPr lang="en-US" altLang="zh-CN" b="1" dirty="0" err="1">
                <a:solidFill>
                  <a:schemeClr val="bg1"/>
                </a:solidFill>
              </a:rPr>
              <a:t>BSP_Init</a:t>
            </a:r>
            <a:r>
              <a:rPr lang="zh-CN" altLang="en-US" b="1" dirty="0">
                <a:solidFill>
                  <a:schemeClr val="bg1"/>
                </a:solidFill>
              </a:rPr>
              <a:t>函数时，操作系统的内容完全未涉及，即</a:t>
            </a:r>
            <a:r>
              <a:rPr lang="en-US" altLang="zh-CN" b="1" dirty="0" err="1">
                <a:solidFill>
                  <a:schemeClr val="bg1"/>
                </a:solidFill>
              </a:rPr>
              <a:t>BSP_Init</a:t>
            </a:r>
            <a:r>
              <a:rPr lang="zh-CN" altLang="en-US" b="1" dirty="0">
                <a:solidFill>
                  <a:schemeClr val="bg1"/>
                </a:solidFill>
              </a:rPr>
              <a:t>函数所做的处理与裸机工程中的硬件初始化是一样的。当执行完</a:t>
            </a:r>
            <a:r>
              <a:rPr lang="en-US" altLang="zh-CN" b="1" dirty="0" err="1">
                <a:solidFill>
                  <a:schemeClr val="bg1"/>
                </a:solidFill>
              </a:rPr>
              <a:t>BSP_Init</a:t>
            </a:r>
            <a:r>
              <a:rPr lang="zh-CN" altLang="en-US" b="1" dirty="0">
                <a:solidFill>
                  <a:schemeClr val="bg1"/>
                </a:solidFill>
              </a:rPr>
              <a:t>函数后，</a:t>
            </a:r>
            <a:r>
              <a:rPr lang="en-US" altLang="zh-CN" b="1" dirty="0">
                <a:solidFill>
                  <a:schemeClr val="bg1"/>
                </a:solidFill>
              </a:rPr>
              <a:t>CPU</a:t>
            </a:r>
            <a:r>
              <a:rPr lang="zh-CN" altLang="en-US" b="1" dirty="0">
                <a:solidFill>
                  <a:schemeClr val="bg1"/>
                </a:solidFill>
              </a:rPr>
              <a:t>才会启动操作系统去运行用户创建的任务。</a:t>
            </a:r>
          </a:p>
        </p:txBody>
      </p:sp>
      <p:sp>
        <p:nvSpPr>
          <p:cNvPr id="10" name="矩形 9">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3.1</a:t>
            </a:r>
            <a:r>
              <a:rPr lang="zh-CN" altLang="en-US" sz="2800" b="1" dirty="0">
                <a:cs typeface="+mn-ea"/>
                <a:sym typeface="+mn-lt"/>
              </a:rPr>
              <a:t>硬件初始化</a:t>
            </a:r>
            <a:endParaRPr lang="zh-CN" altLang="en-US" sz="2800" b="1" dirty="0">
              <a:solidFill>
                <a:schemeClr val="bg1"/>
              </a:solidFill>
              <a:cs typeface="+mn-ea"/>
              <a:sym typeface="+mn-lt"/>
            </a:endParaRPr>
          </a:p>
        </p:txBody>
      </p:sp>
      <p:sp>
        <p:nvSpPr>
          <p:cNvPr id="11"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550341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2287287"/>
            <a:ext cx="11652531" cy="41881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915716"/>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475414"/>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37870"/>
            <a:ext cx="11500210" cy="1016783"/>
          </a:xfrm>
        </p:spPr>
        <p:txBody>
          <a:bodyPr>
            <a:normAutofit/>
          </a:bodyPr>
          <a:lstStyle/>
          <a:p>
            <a:pPr marL="0" indent="456971">
              <a:lnSpc>
                <a:spcPct val="135000"/>
              </a:lnSpc>
              <a:buClr>
                <a:schemeClr val="tx2">
                  <a:lumMod val="75000"/>
                </a:schemeClr>
              </a:buClr>
              <a:buNone/>
            </a:pPr>
            <a:r>
              <a:rPr lang="zh-CN" altLang="en-US" dirty="0"/>
              <a:t>在硬件初始化完成后，立即测试硬件是否能正常工作，保证在尚未涉及操作系统的情况下，硬件是正常工作的，具体实现如代码清单所示。</a:t>
            </a:r>
          </a:p>
        </p:txBody>
      </p:sp>
      <p:sp>
        <p:nvSpPr>
          <p:cNvPr id="20" name="内容占位符 2"/>
          <p:cNvSpPr>
            <a:spLocks noGrp="1"/>
          </p:cNvSpPr>
          <p:nvPr>
            <p:ph idx="1"/>
          </p:nvPr>
        </p:nvSpPr>
        <p:spPr>
          <a:xfrm>
            <a:off x="383975" y="2127658"/>
            <a:ext cx="6702109" cy="4218705"/>
          </a:xfrm>
        </p:spPr>
        <p:txBody>
          <a:bodyPr>
            <a:noAutofit/>
          </a:bodyPr>
          <a:lstStyle/>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2   * @brief  </a:t>
            </a:r>
            <a:r>
              <a:rPr lang="zh-CN" altLang="en-US" sz="1400" b="1" dirty="0"/>
              <a:t>主函数</a:t>
            </a:r>
          </a:p>
          <a:p>
            <a:pPr marL="0" indent="456971">
              <a:lnSpc>
                <a:spcPct val="125000"/>
              </a:lnSpc>
              <a:spcBef>
                <a:spcPts val="0"/>
              </a:spcBef>
              <a:buClr>
                <a:schemeClr val="tx2">
                  <a:lumMod val="75000"/>
                </a:schemeClr>
              </a:buClr>
              <a:buNone/>
            </a:pPr>
            <a:r>
              <a:rPr lang="zh-CN" altLang="en-US" sz="1400" b="1" dirty="0"/>
              <a:t> </a:t>
            </a:r>
            <a:r>
              <a:rPr lang="en-US" altLang="zh-CN" sz="1400" b="1" dirty="0"/>
              <a:t>3   * @</a:t>
            </a:r>
            <a:r>
              <a:rPr lang="en-US" altLang="zh-CN" sz="1400" b="1" dirty="0" err="1"/>
              <a:t>param</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4   * @</a:t>
            </a:r>
            <a:r>
              <a:rPr lang="en-US" altLang="zh-CN" sz="1400" b="1" dirty="0" err="1"/>
              <a:t>retval</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5   * @note   </a:t>
            </a:r>
            <a:r>
              <a:rPr lang="zh-CN" altLang="en-US" sz="1400" b="1" dirty="0"/>
              <a:t>第一步：开发板硬件初始化</a:t>
            </a:r>
          </a:p>
          <a:p>
            <a:pPr marL="0" indent="456971">
              <a:lnSpc>
                <a:spcPct val="125000"/>
              </a:lnSpc>
              <a:spcBef>
                <a:spcPts val="0"/>
              </a:spcBef>
              <a:buClr>
                <a:schemeClr val="tx2">
                  <a:lumMod val="75000"/>
                </a:schemeClr>
              </a:buClr>
              <a:buNone/>
            </a:pPr>
            <a:r>
              <a:rPr lang="zh-CN" altLang="en-US" sz="1400" b="1" dirty="0"/>
              <a:t> </a:t>
            </a:r>
            <a:r>
              <a:rPr lang="en-US" altLang="zh-CN" sz="1400" b="1" dirty="0"/>
              <a:t>6 	  </a:t>
            </a:r>
            <a:r>
              <a:rPr lang="zh-CN" altLang="en-US" sz="1400" b="1" dirty="0"/>
              <a:t>第二步：创建</a:t>
            </a:r>
            <a:r>
              <a:rPr lang="en-US" altLang="zh-CN" sz="1400" b="1" dirty="0"/>
              <a:t>App</a:t>
            </a:r>
            <a:r>
              <a:rPr lang="zh-CN" altLang="en-US" sz="1400" b="1" dirty="0"/>
              <a:t>应用任务</a:t>
            </a:r>
          </a:p>
          <a:p>
            <a:pPr marL="0" indent="456971">
              <a:lnSpc>
                <a:spcPct val="125000"/>
              </a:lnSpc>
              <a:spcBef>
                <a:spcPts val="0"/>
              </a:spcBef>
              <a:buClr>
                <a:schemeClr val="tx2">
                  <a:lumMod val="75000"/>
                </a:schemeClr>
              </a:buClr>
              <a:buNone/>
            </a:pPr>
            <a:r>
              <a:rPr lang="zh-CN" altLang="en-US" sz="1400" b="1" dirty="0"/>
              <a:t> </a:t>
            </a:r>
            <a:r>
              <a:rPr lang="en-US" altLang="zh-CN" sz="1400" b="1" dirty="0"/>
              <a:t>7 	  </a:t>
            </a:r>
            <a:r>
              <a:rPr lang="zh-CN" altLang="en-US" sz="1400" b="1" dirty="0"/>
              <a:t>第三步：启动</a:t>
            </a:r>
            <a:r>
              <a:rPr lang="en-US" altLang="zh-CN" sz="1400" b="1" dirty="0"/>
              <a:t>LiteOS</a:t>
            </a:r>
            <a:r>
              <a:rPr lang="zh-CN" altLang="en-US" sz="1400" b="1" dirty="0"/>
              <a:t>，开始多任务调度，启动失败时输出错误信息</a:t>
            </a:r>
          </a:p>
          <a:p>
            <a:pPr marL="0" indent="456971">
              <a:lnSpc>
                <a:spcPct val="125000"/>
              </a:lnSpc>
              <a:spcBef>
                <a:spcPts val="0"/>
              </a:spcBef>
              <a:buClr>
                <a:schemeClr val="tx2">
                  <a:lumMod val="75000"/>
                </a:schemeClr>
              </a:buClr>
              <a:buNone/>
            </a:pPr>
            <a:r>
              <a:rPr lang="zh-CN" altLang="en-US" sz="1400" b="1" dirty="0"/>
              <a:t> </a:t>
            </a:r>
            <a:r>
              <a:rPr lang="en-US" altLang="zh-CN" sz="1400" b="1" dirty="0"/>
              <a:t>8   *******************************************************************/</a:t>
            </a:r>
          </a:p>
          <a:p>
            <a:pPr marL="0" indent="456971">
              <a:lnSpc>
                <a:spcPct val="125000"/>
              </a:lnSpc>
              <a:spcBef>
                <a:spcPts val="0"/>
              </a:spcBef>
              <a:buClr>
                <a:schemeClr val="tx2">
                  <a:lumMod val="75000"/>
                </a:schemeClr>
              </a:buClr>
              <a:buNone/>
            </a:pPr>
            <a:r>
              <a:rPr lang="en-US" altLang="zh-CN" sz="1400" b="1" dirty="0"/>
              <a:t> 9 int main(void)</a:t>
            </a:r>
          </a:p>
          <a:p>
            <a:pPr marL="0" indent="456971">
              <a:lnSpc>
                <a:spcPct val="125000"/>
              </a:lnSpc>
              <a:spcBef>
                <a:spcPts val="0"/>
              </a:spcBef>
              <a:buClr>
                <a:schemeClr val="tx2">
                  <a:lumMod val="75000"/>
                </a:schemeClr>
              </a:buClr>
              <a:buNone/>
            </a:pPr>
            <a:r>
              <a:rPr lang="en-US" altLang="zh-CN" sz="1400" b="1" dirty="0"/>
              <a:t>10 {</a:t>
            </a:r>
          </a:p>
          <a:p>
            <a:pPr marL="0" indent="456971">
              <a:lnSpc>
                <a:spcPct val="125000"/>
              </a:lnSpc>
              <a:spcBef>
                <a:spcPts val="0"/>
              </a:spcBef>
              <a:buClr>
                <a:schemeClr val="tx2">
                  <a:lumMod val="75000"/>
                </a:schemeClr>
              </a:buClr>
              <a:buNone/>
            </a:pPr>
            <a:r>
              <a:rPr lang="en-US" altLang="zh-CN" sz="1400" b="1" dirty="0"/>
              <a:t>11     /* </a:t>
            </a:r>
            <a:r>
              <a:rPr lang="zh-CN" altLang="en-US" sz="1400" b="1" dirty="0"/>
              <a:t>板级硬件初始化 *</a:t>
            </a:r>
            <a:r>
              <a:rPr lang="en-US" altLang="zh-CN" sz="1400" b="1" dirty="0"/>
              <a:t>/</a:t>
            </a:r>
          </a:p>
          <a:p>
            <a:pPr marL="0" indent="456971">
              <a:lnSpc>
                <a:spcPct val="125000"/>
              </a:lnSpc>
              <a:spcBef>
                <a:spcPts val="0"/>
              </a:spcBef>
              <a:buClr>
                <a:schemeClr val="tx2">
                  <a:lumMod val="75000"/>
                </a:schemeClr>
              </a:buClr>
              <a:buNone/>
            </a:pPr>
            <a:r>
              <a:rPr lang="en-US" altLang="zh-CN" sz="1400" b="1" dirty="0"/>
              <a:t>12     </a:t>
            </a:r>
            <a:r>
              <a:rPr lang="en-US" altLang="zh-CN" sz="1400" b="1" dirty="0" err="1"/>
              <a:t>BSP_Init</a:t>
            </a:r>
            <a:r>
              <a:rPr lang="en-US" altLang="zh-CN" sz="1400" b="1" dirty="0"/>
              <a:t>();	(1)</a:t>
            </a:r>
          </a:p>
          <a:p>
            <a:pPr marL="0" indent="456971">
              <a:lnSpc>
                <a:spcPct val="125000"/>
              </a:lnSpc>
              <a:spcBef>
                <a:spcPts val="0"/>
              </a:spcBef>
              <a:buClr>
                <a:schemeClr val="tx2">
                  <a:lumMod val="75000"/>
                </a:schemeClr>
              </a:buClr>
              <a:buNone/>
            </a:pPr>
            <a:r>
              <a:rPr lang="en-US" altLang="zh-CN" sz="1400" b="1" dirty="0"/>
              <a:t>13     LED1_ON;	 	(2)</a:t>
            </a:r>
          </a:p>
          <a:p>
            <a:pPr marL="0" indent="456971">
              <a:lnSpc>
                <a:spcPct val="125000"/>
              </a:lnSpc>
              <a:spcBef>
                <a:spcPts val="0"/>
              </a:spcBef>
              <a:buClr>
                <a:schemeClr val="tx2">
                  <a:lumMod val="75000"/>
                </a:schemeClr>
              </a:buClr>
              <a:buNone/>
            </a:pPr>
            <a:r>
              <a:rPr lang="en-US" altLang="zh-CN" sz="1400" b="1" dirty="0"/>
              <a:t>14     while (1);	 	(3)</a:t>
            </a:r>
          </a:p>
          <a:p>
            <a:pPr marL="0" indent="456971">
              <a:lnSpc>
                <a:spcPct val="125000"/>
              </a:lnSpc>
              <a:spcBef>
                <a:spcPts val="0"/>
              </a:spcBef>
              <a:buClr>
                <a:schemeClr val="tx2">
                  <a:lumMod val="75000"/>
                </a:schemeClr>
              </a:buClr>
              <a:buNone/>
            </a:pPr>
            <a:r>
              <a:rPr lang="en-US" altLang="zh-CN" sz="1400" b="1" dirty="0"/>
              <a:t>15 }</a:t>
            </a:r>
          </a:p>
        </p:txBody>
      </p:sp>
      <p:sp>
        <p:nvSpPr>
          <p:cNvPr id="85" name="内容占位符 2"/>
          <p:cNvSpPr>
            <a:spLocks noGrp="1"/>
          </p:cNvSpPr>
          <p:nvPr>
            <p:ph idx="1"/>
          </p:nvPr>
        </p:nvSpPr>
        <p:spPr>
          <a:xfrm>
            <a:off x="3936357" y="1533091"/>
            <a:ext cx="4847288" cy="443123"/>
          </a:xfrm>
        </p:spPr>
        <p:txBody>
          <a:bodyPr>
            <a:normAutofit fontScale="92500"/>
          </a:bodyPr>
          <a:lstStyle/>
          <a:p>
            <a:pPr marL="0" indent="456971">
              <a:lnSpc>
                <a:spcPct val="135000"/>
              </a:lnSpc>
              <a:buClr>
                <a:schemeClr val="tx2">
                  <a:lumMod val="75000"/>
                </a:schemeClr>
              </a:buClr>
              <a:buNone/>
            </a:pPr>
            <a:r>
              <a:rPr lang="zh-CN" altLang="en-US" b="1" dirty="0"/>
              <a:t>代码清单：在</a:t>
            </a:r>
            <a:r>
              <a:rPr lang="en-US" altLang="zh-CN" b="1" dirty="0" err="1"/>
              <a:t>BSP_Init</a:t>
            </a:r>
            <a:r>
              <a:rPr lang="zh-CN" altLang="en-US" b="1" dirty="0"/>
              <a:t>中添加硬件测试函数</a:t>
            </a:r>
          </a:p>
        </p:txBody>
      </p:sp>
      <p:sp>
        <p:nvSpPr>
          <p:cNvPr id="15" name="内容占位符 2"/>
          <p:cNvSpPr>
            <a:spLocks noGrp="1"/>
          </p:cNvSpPr>
          <p:nvPr>
            <p:ph idx="1"/>
          </p:nvPr>
        </p:nvSpPr>
        <p:spPr>
          <a:xfrm>
            <a:off x="7086084" y="2692260"/>
            <a:ext cx="4569620" cy="3629320"/>
          </a:xfrm>
          <a:solidFill>
            <a:srgbClr val="3A4187"/>
          </a:solidFill>
        </p:spPr>
        <p:txBody>
          <a:bodyPr>
            <a:noAutofit/>
          </a:bodyPr>
          <a:lstStyle/>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1</a:t>
            </a:r>
            <a:r>
              <a:rPr lang="zh-CN" altLang="en-US" b="1" dirty="0">
                <a:solidFill>
                  <a:schemeClr val="bg1"/>
                </a:solidFill>
              </a:rPr>
              <a:t>）：硬件初始化。</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2</a:t>
            </a:r>
            <a:r>
              <a:rPr lang="zh-CN" altLang="en-US" b="1" dirty="0">
                <a:solidFill>
                  <a:schemeClr val="bg1"/>
                </a:solidFill>
              </a:rPr>
              <a:t>）：测试点亮</a:t>
            </a:r>
            <a:r>
              <a:rPr lang="en-US" altLang="zh-CN" b="1" dirty="0">
                <a:solidFill>
                  <a:schemeClr val="bg1"/>
                </a:solidFill>
              </a:rPr>
              <a:t>LED</a:t>
            </a:r>
            <a:r>
              <a:rPr lang="zh-CN" altLang="en-US" b="1" dirty="0">
                <a:solidFill>
                  <a:schemeClr val="bg1"/>
                </a:solidFill>
              </a:rPr>
              <a:t>灯，可以继续添加其他硬件初始化和测试代码。在确认硬件能正常工作之后，这部分硬件测试的代码可删可不删，因为</a:t>
            </a:r>
            <a:r>
              <a:rPr lang="en-US" altLang="zh-CN" b="1" dirty="0" err="1">
                <a:solidFill>
                  <a:schemeClr val="bg1"/>
                </a:solidFill>
              </a:rPr>
              <a:t>BSP_Init</a:t>
            </a:r>
            <a:r>
              <a:rPr lang="zh-CN" altLang="en-US" b="1" dirty="0">
                <a:solidFill>
                  <a:schemeClr val="bg1"/>
                </a:solidFill>
              </a:rPr>
              <a:t>函数只执行一次。</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3</a:t>
            </a:r>
            <a:r>
              <a:rPr lang="zh-CN" altLang="en-US" b="1" dirty="0">
                <a:solidFill>
                  <a:schemeClr val="bg1"/>
                </a:solidFill>
              </a:rPr>
              <a:t>）：为了测试硬件是否正常工作，添加一个死循环，使程序停在这里，不再继续向下执行，当测试完毕后，语句“</a:t>
            </a:r>
            <a:r>
              <a:rPr lang="en-US" altLang="zh-CN" b="1" dirty="0">
                <a:solidFill>
                  <a:schemeClr val="bg1"/>
                </a:solidFill>
              </a:rPr>
              <a:t>while(1);”</a:t>
            </a:r>
            <a:r>
              <a:rPr lang="zh-CN" altLang="en-US" b="1" dirty="0">
                <a:solidFill>
                  <a:schemeClr val="bg1"/>
                </a:solidFill>
              </a:rPr>
              <a:t>必须删除。</a:t>
            </a:r>
          </a:p>
        </p:txBody>
      </p:sp>
      <p:sp>
        <p:nvSpPr>
          <p:cNvPr id="11" name="矩形 10">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3.1</a:t>
            </a:r>
            <a:r>
              <a:rPr lang="zh-CN" altLang="en-US" sz="2800" b="1" dirty="0">
                <a:cs typeface="+mn-ea"/>
                <a:sym typeface="+mn-lt"/>
              </a:rPr>
              <a:t>硬件初始化</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832800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6" y="2755198"/>
            <a:ext cx="2612500"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3.2 </a:t>
            </a:r>
            <a:r>
              <a:rPr lang="zh-CN" altLang="en-US" sz="1899" dirty="0">
                <a:solidFill>
                  <a:schemeClr val="bg1"/>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842491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073928"/>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58338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231654" y="655957"/>
            <a:ext cx="11500210" cy="533122"/>
          </a:xfrm>
        </p:spPr>
        <p:txBody>
          <a:bodyPr>
            <a:normAutofit/>
          </a:bodyPr>
          <a:lstStyle/>
          <a:p>
            <a:pPr marL="0" indent="456971">
              <a:lnSpc>
                <a:spcPct val="135000"/>
              </a:lnSpc>
              <a:buClr>
                <a:schemeClr val="tx2">
                  <a:lumMod val="75000"/>
                </a:schemeClr>
              </a:buClr>
              <a:buNone/>
            </a:pPr>
            <a:r>
              <a:rPr lang="zh-CN" altLang="en-US" b="1" dirty="0"/>
              <a:t>动态内存空间的堆</a:t>
            </a:r>
          </a:p>
        </p:txBody>
      </p:sp>
      <p:sp>
        <p:nvSpPr>
          <p:cNvPr id="20" name="内容占位符 2"/>
          <p:cNvSpPr>
            <a:spLocks noGrp="1"/>
          </p:cNvSpPr>
          <p:nvPr>
            <p:ph idx="1"/>
          </p:nvPr>
        </p:nvSpPr>
        <p:spPr>
          <a:xfrm>
            <a:off x="245918" y="2345470"/>
            <a:ext cx="5638055" cy="4195941"/>
          </a:xfrm>
        </p:spPr>
        <p:txBody>
          <a:bodyPr>
            <a:noAutofit/>
          </a:bodyPr>
          <a:lstStyle/>
          <a:p>
            <a:pPr marL="0" indent="0">
              <a:lnSpc>
                <a:spcPct val="110000"/>
              </a:lnSpc>
              <a:spcBef>
                <a:spcPts val="0"/>
              </a:spcBef>
              <a:buClr>
                <a:schemeClr val="tx2">
                  <a:lumMod val="75000"/>
                </a:schemeClr>
              </a:buClr>
              <a:buNone/>
            </a:pPr>
            <a:r>
              <a:rPr lang="en-US" altLang="zh-CN" sz="1400" b="1" dirty="0"/>
              <a:t>LITE_OS_SEC_TEXT VOID *</a:t>
            </a:r>
            <a:r>
              <a:rPr lang="en-US" altLang="zh-CN" sz="1400" b="1" dirty="0" err="1"/>
              <a:t>LOS_MemAllocAlign</a:t>
            </a:r>
            <a:r>
              <a:rPr lang="en-US" altLang="zh-CN" sz="1400" b="1" dirty="0"/>
              <a:t>(VOID *pPool, </a:t>
            </a:r>
          </a:p>
          <a:p>
            <a:pPr marL="0" indent="456971">
              <a:lnSpc>
                <a:spcPct val="110000"/>
              </a:lnSpc>
              <a:spcBef>
                <a:spcPts val="0"/>
              </a:spcBef>
              <a:buClr>
                <a:schemeClr val="tx2">
                  <a:lumMod val="75000"/>
                </a:schemeClr>
              </a:buClr>
              <a:buNone/>
            </a:pPr>
            <a:r>
              <a:rPr lang="en-US" altLang="zh-CN" sz="1400" b="1" dirty="0"/>
              <a:t> 			 UINT32 </a:t>
            </a:r>
            <a:r>
              <a:rPr lang="en-US" altLang="zh-CN" sz="1400" b="1" dirty="0" err="1"/>
              <a:t>uwSize</a:t>
            </a:r>
            <a:r>
              <a:rPr lang="en-US" altLang="zh-CN" sz="1400" b="1" dirty="0"/>
              <a:t>, </a:t>
            </a:r>
          </a:p>
          <a:p>
            <a:pPr marL="0" indent="456971">
              <a:lnSpc>
                <a:spcPct val="110000"/>
              </a:lnSpc>
              <a:spcBef>
                <a:spcPts val="0"/>
              </a:spcBef>
              <a:buClr>
                <a:schemeClr val="tx2">
                  <a:lumMod val="75000"/>
                </a:schemeClr>
              </a:buClr>
              <a:buNone/>
            </a:pPr>
            <a:r>
              <a:rPr lang="en-US" altLang="zh-CN" sz="1400" b="1" dirty="0"/>
              <a:t>     			UINT32 </a:t>
            </a:r>
            <a:r>
              <a:rPr lang="en-US" altLang="zh-CN" sz="1400" b="1" dirty="0" err="1"/>
              <a:t>uwBoundary</a:t>
            </a:r>
            <a:r>
              <a:rPr lang="en-US" altLang="zh-CN" sz="1400" b="1" dirty="0"/>
              <a:t>){</a:t>
            </a:r>
          </a:p>
          <a:p>
            <a:pPr marL="0" indent="456971">
              <a:lnSpc>
                <a:spcPct val="110000"/>
              </a:lnSpc>
              <a:spcBef>
                <a:spcPts val="0"/>
              </a:spcBef>
              <a:buClr>
                <a:schemeClr val="tx2">
                  <a:lumMod val="75000"/>
                </a:schemeClr>
              </a:buClr>
              <a:buNone/>
            </a:pPr>
            <a:r>
              <a:rPr lang="en-US" altLang="zh-CN" sz="1400" b="1" dirty="0"/>
              <a:t>VOID *</a:t>
            </a:r>
            <a:r>
              <a:rPr lang="en-US" altLang="zh-CN" sz="1400" b="1" dirty="0" err="1"/>
              <a:t>pRet</a:t>
            </a:r>
            <a:r>
              <a:rPr lang="en-US" altLang="zh-CN" sz="1400" b="1" dirty="0"/>
              <a:t> = NULL;</a:t>
            </a:r>
          </a:p>
          <a:p>
            <a:pPr marL="0" indent="456971">
              <a:lnSpc>
                <a:spcPct val="110000"/>
              </a:lnSpc>
              <a:spcBef>
                <a:spcPts val="0"/>
              </a:spcBef>
              <a:buClr>
                <a:schemeClr val="tx2">
                  <a:lumMod val="75000"/>
                </a:schemeClr>
              </a:buClr>
              <a:buNone/>
            </a:pPr>
            <a:r>
              <a:rPr lang="en-US" altLang="zh-CN" sz="1400" b="1" dirty="0"/>
              <a:t>UINT32 </a:t>
            </a:r>
            <a:r>
              <a:rPr lang="en-US" altLang="zh-CN" sz="1400" b="1" dirty="0" err="1"/>
              <a:t>uwUseSize</a:t>
            </a:r>
            <a:r>
              <a:rPr lang="en-US" altLang="zh-CN" sz="1400" b="1" dirty="0"/>
              <a:t>;</a:t>
            </a:r>
          </a:p>
          <a:p>
            <a:pPr marL="0" indent="456971">
              <a:lnSpc>
                <a:spcPct val="110000"/>
              </a:lnSpc>
              <a:spcBef>
                <a:spcPts val="0"/>
              </a:spcBef>
              <a:buClr>
                <a:schemeClr val="tx2">
                  <a:lumMod val="75000"/>
                </a:schemeClr>
              </a:buClr>
              <a:buNone/>
            </a:pPr>
            <a:r>
              <a:rPr lang="en-US" altLang="zh-CN" sz="1400" b="1" dirty="0"/>
              <a:t>UINT32 </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a:t>VOID *</a:t>
            </a:r>
            <a:r>
              <a:rPr lang="en-US" altLang="zh-CN" sz="1400" b="1" dirty="0" err="1"/>
              <a:t>pAlignedPtr</a:t>
            </a:r>
            <a:r>
              <a:rPr lang="en-US" altLang="zh-CN" sz="1400" b="1" dirty="0"/>
              <a:t>;</a:t>
            </a:r>
          </a:p>
          <a:p>
            <a:pPr marL="0" indent="456971">
              <a:lnSpc>
                <a:spcPct val="110000"/>
              </a:lnSpc>
              <a:spcBef>
                <a:spcPts val="0"/>
              </a:spcBef>
              <a:buClr>
                <a:schemeClr val="tx2">
                  <a:lumMod val="75000"/>
                </a:schemeClr>
              </a:buClr>
              <a:buNone/>
            </a:pPr>
            <a:r>
              <a:rPr lang="en-US" altLang="zh-CN" sz="1400" b="1" dirty="0">
                <a:solidFill>
                  <a:schemeClr val="accent2">
                    <a:lumMod val="75000"/>
                  </a:schemeClr>
                </a:solidFill>
              </a:rPr>
              <a:t>do {</a:t>
            </a:r>
          </a:p>
          <a:p>
            <a:pPr marL="0" indent="456971">
              <a:lnSpc>
                <a:spcPct val="110000"/>
              </a:lnSpc>
              <a:spcBef>
                <a:spcPts val="0"/>
              </a:spcBef>
              <a:buClr>
                <a:schemeClr val="tx2">
                  <a:lumMod val="75000"/>
                </a:schemeClr>
              </a:buClr>
              <a:buNone/>
            </a:pPr>
            <a:r>
              <a:rPr lang="en-US" altLang="zh-CN" sz="1400" b="1" dirty="0"/>
              <a:t>    if ((NULL == pPool) || (0 == </a:t>
            </a:r>
            <a:r>
              <a:rPr lang="en-US" altLang="zh-CN" sz="1400" b="1" dirty="0" err="1"/>
              <a:t>uwSize</a:t>
            </a:r>
            <a:r>
              <a:rPr lang="en-US" altLang="zh-CN" sz="1400" b="1" dirty="0"/>
              <a:t>) || (0 == </a:t>
            </a:r>
            <a:r>
              <a:rPr lang="en-US" altLang="zh-CN" sz="1400" b="1" dirty="0" err="1"/>
              <a:t>uwBoundary</a:t>
            </a:r>
            <a:r>
              <a:rPr lang="en-US" altLang="zh-CN" sz="1400" b="1" dirty="0"/>
              <a:t>) || !IS_ALIGNED(</a:t>
            </a:r>
            <a:r>
              <a:rPr lang="en-US" altLang="zh-CN" sz="1400" b="1" dirty="0" err="1"/>
              <a:t>uwBoundary</a:t>
            </a:r>
            <a:r>
              <a:rPr lang="en-US" altLang="zh-CN" sz="1400" b="1" dirty="0"/>
              <a:t>, </a:t>
            </a:r>
            <a:r>
              <a:rPr lang="en-US" altLang="zh-CN" sz="1400" b="1" dirty="0" err="1"/>
              <a:t>sizeof</a:t>
            </a:r>
            <a:r>
              <a:rPr lang="en-US" altLang="zh-CN" sz="1400" b="1" dirty="0"/>
              <a:t>(VOID *))) {</a:t>
            </a:r>
          </a:p>
          <a:p>
            <a:pPr marL="0" indent="456971">
              <a:lnSpc>
                <a:spcPct val="110000"/>
              </a:lnSpc>
              <a:spcBef>
                <a:spcPts val="0"/>
              </a:spcBef>
              <a:buClr>
                <a:schemeClr val="tx2">
                  <a:lumMod val="75000"/>
                </a:schemeClr>
              </a:buClr>
              <a:buNone/>
            </a:pPr>
            <a:r>
              <a:rPr lang="en-US" altLang="zh-CN" sz="1400" b="1" dirty="0"/>
              <a:t>               break;				 (1)</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a:t>uwUseSize</a:t>
            </a:r>
            <a:r>
              <a:rPr lang="en-US" altLang="zh-CN" sz="1400" b="1" dirty="0"/>
              <a:t> = </a:t>
            </a:r>
            <a:r>
              <a:rPr lang="en-US" altLang="zh-CN" sz="1400" b="1" dirty="0" err="1"/>
              <a:t>uwSize</a:t>
            </a:r>
            <a:r>
              <a:rPr lang="en-US" altLang="zh-CN" sz="1400" b="1" dirty="0"/>
              <a:t> + </a:t>
            </a:r>
            <a:r>
              <a:rPr lang="en-US" altLang="zh-CN" sz="1400" b="1" dirty="0" err="1"/>
              <a:t>uwBoundary</a:t>
            </a:r>
            <a:r>
              <a:rPr lang="en-US" altLang="zh-CN" sz="1400" b="1" dirty="0"/>
              <a:t> + 4;</a:t>
            </a:r>
          </a:p>
          <a:p>
            <a:pPr marL="0" indent="456971">
              <a:lnSpc>
                <a:spcPct val="110000"/>
              </a:lnSpc>
              <a:spcBef>
                <a:spcPts val="0"/>
              </a:spcBef>
              <a:buClr>
                <a:schemeClr val="tx2">
                  <a:lumMod val="75000"/>
                </a:schemeClr>
              </a:buClr>
              <a:buNone/>
            </a:pPr>
            <a:r>
              <a:rPr lang="en-US" altLang="zh-CN" sz="1400" b="1" dirty="0"/>
              <a:t>    </a:t>
            </a:r>
            <a:r>
              <a:rPr lang="en-US" altLang="zh-CN" sz="1400" b="1" dirty="0" err="1"/>
              <a:t>pRet</a:t>
            </a:r>
            <a:r>
              <a:rPr lang="en-US" altLang="zh-CN" sz="1400" b="1" dirty="0"/>
              <a:t> = </a:t>
            </a:r>
            <a:r>
              <a:rPr lang="en-US" altLang="zh-CN" sz="1400" b="1" dirty="0" err="1"/>
              <a:t>osHeapAlloc</a:t>
            </a:r>
            <a:r>
              <a:rPr lang="en-US" altLang="zh-CN" sz="1400" b="1" dirty="0"/>
              <a:t>(pPool, </a:t>
            </a:r>
            <a:r>
              <a:rPr lang="en-US" altLang="zh-CN" sz="1400" b="1" dirty="0" err="1"/>
              <a:t>uwUseSize</a:t>
            </a:r>
            <a:r>
              <a:rPr lang="en-US" altLang="zh-CN" sz="1400" b="1" dirty="0"/>
              <a:t>);	 (2)</a:t>
            </a:r>
          </a:p>
        </p:txBody>
      </p:sp>
      <p:sp>
        <p:nvSpPr>
          <p:cNvPr id="102" name="内容占位符 2"/>
          <p:cNvSpPr>
            <a:spLocks noGrp="1"/>
          </p:cNvSpPr>
          <p:nvPr>
            <p:ph idx="1"/>
          </p:nvPr>
        </p:nvSpPr>
        <p:spPr>
          <a:xfrm>
            <a:off x="231655" y="1206919"/>
            <a:ext cx="11500210" cy="1008950"/>
          </a:xfrm>
        </p:spPr>
        <p:txBody>
          <a:bodyPr>
            <a:noAutofit/>
          </a:bodyPr>
          <a:lstStyle/>
          <a:p>
            <a:pPr marL="0" indent="456971">
              <a:lnSpc>
                <a:spcPct val="135000"/>
              </a:lnSpc>
              <a:buClr>
                <a:schemeClr val="tx2">
                  <a:lumMod val="75000"/>
                </a:schemeClr>
              </a:buClr>
              <a:buNone/>
            </a:pPr>
            <a:r>
              <a:rPr lang="zh-CN" altLang="en-US" sz="1600" b="1" dirty="0">
                <a:solidFill>
                  <a:srgbClr val="C00000"/>
                </a:solidFill>
              </a:rPr>
              <a:t>任务控制块</a:t>
            </a:r>
            <a:r>
              <a:rPr lang="zh-CN" altLang="en-US" sz="1600" b="1" dirty="0"/>
              <a:t>和</a:t>
            </a:r>
            <a:r>
              <a:rPr lang="zh-CN" altLang="en-US" sz="1600" b="1" dirty="0">
                <a:solidFill>
                  <a:srgbClr val="C00000"/>
                </a:solidFill>
              </a:rPr>
              <a:t>任务栈</a:t>
            </a:r>
            <a:r>
              <a:rPr lang="zh-CN" altLang="en-US" sz="1600" b="1" dirty="0"/>
              <a:t>的内存空间都是从</a:t>
            </a:r>
            <a:r>
              <a:rPr lang="en-US" altLang="zh-CN" sz="1600" b="1" dirty="0"/>
              <a:t>SRAM</a:t>
            </a:r>
            <a:r>
              <a:rPr lang="zh-CN" altLang="en-US" sz="1600" b="1" dirty="0"/>
              <a:t>分配的，具体分配到哪个地址由编译器决定。</a:t>
            </a:r>
            <a:r>
              <a:rPr lang="en-US" altLang="zh-CN" sz="1600" b="1" dirty="0"/>
              <a:t>LiteOS</a:t>
            </a:r>
            <a:r>
              <a:rPr lang="zh-CN" altLang="en-US" sz="1600" b="1" dirty="0"/>
              <a:t>支持动态内存分配，</a:t>
            </a:r>
            <a:r>
              <a:rPr lang="en-US" altLang="zh-CN" sz="1600" b="1" dirty="0" err="1"/>
              <a:t>LiteOS</a:t>
            </a:r>
            <a:r>
              <a:rPr lang="zh-CN" altLang="en-US" sz="1600" b="1" dirty="0"/>
              <a:t>中定义了一个</a:t>
            </a:r>
            <a:r>
              <a:rPr lang="en-US" altLang="zh-CN" sz="1600" b="1" dirty="0">
                <a:solidFill>
                  <a:srgbClr val="C00000"/>
                </a:solidFill>
              </a:rPr>
              <a:t>OS_SYS_MEM_SIZE</a:t>
            </a:r>
            <a:r>
              <a:rPr lang="zh-CN" altLang="en-US" sz="1600" b="1" dirty="0">
                <a:solidFill>
                  <a:srgbClr val="C00000"/>
                </a:solidFill>
              </a:rPr>
              <a:t>宏指定系统可以管理的内存大小</a:t>
            </a:r>
            <a:r>
              <a:rPr lang="zh-CN" altLang="en-US" sz="1600" b="1" dirty="0"/>
              <a:t>，这个宏定义在</a:t>
            </a:r>
            <a:r>
              <a:rPr lang="en-US" altLang="zh-CN" sz="1600" b="1" dirty="0" err="1"/>
              <a:t>target_config.h</a:t>
            </a:r>
            <a:r>
              <a:rPr lang="zh-CN" altLang="en-US" sz="1600" b="1" dirty="0"/>
              <a:t>中由用户配置。在创建任务的时候，系统使用</a:t>
            </a:r>
            <a:r>
              <a:rPr lang="en-US" altLang="zh-CN" sz="1600" b="1" dirty="0" err="1">
                <a:solidFill>
                  <a:srgbClr val="C00000"/>
                </a:solidFill>
              </a:rPr>
              <a:t>LOS_MemAllocAlign</a:t>
            </a:r>
            <a:r>
              <a:rPr lang="zh-CN" altLang="en-US" sz="1600" b="1" dirty="0">
                <a:solidFill>
                  <a:srgbClr val="C00000"/>
                </a:solidFill>
              </a:rPr>
              <a:t>函数从内存池中分配需要的内存</a:t>
            </a:r>
            <a:r>
              <a:rPr lang="zh-CN" altLang="en-US" sz="1600" b="1" dirty="0"/>
              <a:t>，如代码清单所示。</a:t>
            </a:r>
          </a:p>
        </p:txBody>
      </p:sp>
      <p:sp>
        <p:nvSpPr>
          <p:cNvPr id="103" name="内容占位符 2"/>
          <p:cNvSpPr>
            <a:spLocks noGrp="1"/>
          </p:cNvSpPr>
          <p:nvPr>
            <p:ph idx="1"/>
          </p:nvPr>
        </p:nvSpPr>
        <p:spPr>
          <a:xfrm>
            <a:off x="6096000" y="2416224"/>
            <a:ext cx="6016666" cy="3612036"/>
          </a:xfrm>
        </p:spPr>
        <p:txBody>
          <a:bodyPr>
            <a:noAutofit/>
          </a:bodyPr>
          <a:lstStyle/>
          <a:p>
            <a:pPr marL="0" indent="456971">
              <a:lnSpc>
                <a:spcPct val="110000"/>
              </a:lnSpc>
              <a:spcBef>
                <a:spcPts val="0"/>
              </a:spcBef>
              <a:buClr>
                <a:schemeClr val="tx2">
                  <a:lumMod val="75000"/>
                </a:schemeClr>
              </a:buClr>
              <a:buNone/>
            </a:pPr>
            <a:r>
              <a:rPr lang="en-US" altLang="zh-CN" sz="1400" b="1" dirty="0"/>
              <a:t>           if (</a:t>
            </a:r>
            <a:r>
              <a:rPr lang="en-US" altLang="zh-CN" sz="1400" b="1" dirty="0" err="1"/>
              <a:t>pRet</a:t>
            </a: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a:t>pAlignedPtr</a:t>
            </a:r>
            <a:r>
              <a:rPr lang="en-US" altLang="zh-CN" sz="1400" b="1" dirty="0"/>
              <a:t> = (VOID *)OS_MEM_ALIGN(</a:t>
            </a:r>
            <a:r>
              <a:rPr lang="en-US" altLang="zh-CN" sz="1400" b="1" dirty="0" err="1"/>
              <a:t>pRet</a:t>
            </a:r>
            <a:r>
              <a:rPr lang="en-US" altLang="zh-CN" sz="1400" b="1" dirty="0"/>
              <a:t>, </a:t>
            </a:r>
            <a:r>
              <a:rPr lang="en-US" altLang="zh-CN" sz="1400" b="1" dirty="0" err="1"/>
              <a:t>uwBoundary</a:t>
            </a:r>
            <a:r>
              <a:rPr lang="en-US" altLang="zh-CN" sz="1400" b="1" dirty="0"/>
              <a:t>);      		 (3)</a:t>
            </a:r>
          </a:p>
          <a:p>
            <a:pPr marL="0" indent="456971">
              <a:lnSpc>
                <a:spcPct val="110000"/>
              </a:lnSpc>
              <a:spcBef>
                <a:spcPts val="0"/>
              </a:spcBef>
              <a:buClr>
                <a:schemeClr val="tx2">
                  <a:lumMod val="75000"/>
                </a:schemeClr>
              </a:buClr>
              <a:buNone/>
            </a:pPr>
            <a:r>
              <a:rPr lang="en-US" altLang="zh-CN" sz="1400" b="1" dirty="0"/>
              <a:t>                if (</a:t>
            </a:r>
            <a:r>
              <a:rPr lang="en-US" altLang="zh-CN" sz="1400" b="1" dirty="0" err="1"/>
              <a:t>pRet</a:t>
            </a:r>
            <a:r>
              <a:rPr lang="en-US" altLang="zh-CN" sz="1400" b="1" dirty="0"/>
              <a:t> == </a:t>
            </a:r>
            <a:r>
              <a:rPr lang="en-US" altLang="zh-CN" sz="1400" b="1" dirty="0" err="1"/>
              <a:t>pAlignedPtr</a:t>
            </a:r>
            <a:r>
              <a:rPr lang="en-US" altLang="zh-CN" sz="1400" b="1" dirty="0"/>
              <a:t>) {</a:t>
            </a:r>
          </a:p>
          <a:p>
            <a:pPr marL="0" indent="456971">
              <a:lnSpc>
                <a:spcPct val="110000"/>
              </a:lnSpc>
              <a:spcBef>
                <a:spcPts val="0"/>
              </a:spcBef>
              <a:buClr>
                <a:schemeClr val="tx2">
                  <a:lumMod val="75000"/>
                </a:schemeClr>
              </a:buClr>
              <a:buNone/>
            </a:pPr>
            <a:r>
              <a:rPr lang="en-US" altLang="zh-CN" sz="1400" b="1" dirty="0"/>
              <a:t>                     break;</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a:t>uwGapSize</a:t>
            </a:r>
            <a:r>
              <a:rPr lang="en-US" altLang="zh-CN" sz="1400" b="1" dirty="0"/>
              <a:t> = (UINT32)</a:t>
            </a:r>
            <a:r>
              <a:rPr lang="en-US" altLang="zh-CN" sz="1400" b="1" dirty="0" err="1"/>
              <a:t>pAlignedPtr</a:t>
            </a:r>
            <a:r>
              <a:rPr lang="en-US" altLang="zh-CN" sz="1400" b="1" dirty="0"/>
              <a:t> - (UINT32)</a:t>
            </a:r>
            <a:r>
              <a:rPr lang="en-US" altLang="zh-CN" sz="1400" b="1" dirty="0" err="1"/>
              <a:t>pRet</a:t>
            </a:r>
            <a:r>
              <a:rPr lang="en-US" altLang="zh-CN" sz="1400" b="1" dirty="0"/>
              <a:t>;</a:t>
            </a:r>
          </a:p>
          <a:p>
            <a:pPr marL="0" indent="456971">
              <a:lnSpc>
                <a:spcPct val="110000"/>
              </a:lnSpc>
              <a:spcBef>
                <a:spcPts val="0"/>
              </a:spcBef>
              <a:buClr>
                <a:schemeClr val="tx2">
                  <a:lumMod val="75000"/>
                </a:schemeClr>
              </a:buClr>
              <a:buNone/>
            </a:pPr>
            <a:r>
              <a:rPr lang="en-US" altLang="zh-CN" sz="1400" b="1" dirty="0"/>
              <a:t>                OS_MEM_SET_ALIGN_FLAG(</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a:t>                *((UINT32 *)((UINT32)</a:t>
            </a:r>
            <a:r>
              <a:rPr lang="en-US" altLang="zh-CN" sz="1400" b="1" dirty="0" err="1"/>
              <a:t>pAlignedPtr</a:t>
            </a:r>
            <a:r>
              <a:rPr lang="en-US" altLang="zh-CN" sz="1400" b="1" dirty="0"/>
              <a:t> - 4)) = </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r>
              <a:rPr lang="en-US" altLang="zh-CN" sz="1400" b="1" dirty="0" err="1"/>
              <a:t>pRet</a:t>
            </a:r>
            <a:r>
              <a:rPr lang="en-US" altLang="zh-CN" sz="1400" b="1" dirty="0"/>
              <a:t> = </a:t>
            </a:r>
            <a:r>
              <a:rPr lang="en-US" altLang="zh-CN" sz="1400" b="1" dirty="0" err="1"/>
              <a:t>pAlignedPtr</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a:solidFill>
                  <a:schemeClr val="accent2">
                    <a:lumMod val="75000"/>
                  </a:schemeClr>
                </a:solidFill>
              </a:rPr>
              <a:t>} while (0);</a:t>
            </a:r>
          </a:p>
          <a:p>
            <a:pPr marL="0" indent="456971">
              <a:lnSpc>
                <a:spcPct val="110000"/>
              </a:lnSpc>
              <a:spcBef>
                <a:spcPts val="0"/>
              </a:spcBef>
              <a:buClr>
                <a:schemeClr val="tx2">
                  <a:lumMod val="75000"/>
                </a:schemeClr>
              </a:buClr>
              <a:buNone/>
            </a:pPr>
            <a:r>
              <a:rPr lang="en-US" altLang="zh-CN" sz="1400" b="1" dirty="0"/>
              <a:t>      return </a:t>
            </a:r>
            <a:r>
              <a:rPr lang="en-US" altLang="zh-CN" sz="1400" b="1" dirty="0" err="1"/>
              <a:t>pRet</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p>
        </p:txBody>
      </p:sp>
      <p:cxnSp>
        <p:nvCxnSpPr>
          <p:cNvPr id="9" name="直接连接符 8"/>
          <p:cNvCxnSpPr>
            <a:stCxn id="5" idx="0"/>
          </p:cNvCxnSpPr>
          <p:nvPr/>
        </p:nvCxnSpPr>
        <p:spPr>
          <a:xfrm>
            <a:off x="6057920" y="2667397"/>
            <a:ext cx="38080" cy="3763667"/>
          </a:xfrm>
          <a:prstGeom prst="line">
            <a:avLst/>
          </a:prstGeom>
        </p:spPr>
        <p:style>
          <a:lnRef idx="1">
            <a:schemeClr val="accent1"/>
          </a:lnRef>
          <a:fillRef idx="0">
            <a:schemeClr val="accent1"/>
          </a:fillRef>
          <a:effectRef idx="0">
            <a:schemeClr val="accent1"/>
          </a:effectRef>
          <a:fontRef idx="minor">
            <a:schemeClr val="tx1"/>
          </a:fontRef>
        </p:style>
      </p:cxnSp>
      <p:sp>
        <p:nvSpPr>
          <p:cNvPr id="10" name="下弧形箭头 9"/>
          <p:cNvSpPr/>
          <p:nvPr/>
        </p:nvSpPr>
        <p:spPr>
          <a:xfrm>
            <a:off x="5677118" y="6301463"/>
            <a:ext cx="837764" cy="15232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1" name="圆角矩形标注 10"/>
          <p:cNvSpPr/>
          <p:nvPr/>
        </p:nvSpPr>
        <p:spPr>
          <a:xfrm>
            <a:off x="1503658" y="3395252"/>
            <a:ext cx="3122574" cy="560733"/>
          </a:xfrm>
          <a:prstGeom prst="wedgeRoundRectCallout">
            <a:avLst>
              <a:gd name="adj1" fmla="val -42508"/>
              <a:gd name="adj2" fmla="val 89569"/>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199" b="1" dirty="0">
                <a:solidFill>
                  <a:srgbClr val="C00000"/>
                </a:solidFill>
              </a:rPr>
              <a:t>如果传入的参数是非法的，则跳出循环不再继续分配内存。</a:t>
            </a:r>
            <a:endParaRPr lang="zh-CN" altLang="en-US" sz="1199" b="1" dirty="0">
              <a:solidFill>
                <a:srgbClr val="C00000"/>
              </a:solidFill>
            </a:endParaRPr>
          </a:p>
        </p:txBody>
      </p:sp>
      <p:sp>
        <p:nvSpPr>
          <p:cNvPr id="104" name="圆角矩形标注 103"/>
          <p:cNvSpPr/>
          <p:nvPr/>
        </p:nvSpPr>
        <p:spPr>
          <a:xfrm>
            <a:off x="1832049" y="4511604"/>
            <a:ext cx="4263951" cy="879463"/>
          </a:xfrm>
          <a:prstGeom prst="wedgeRoundRectCallout">
            <a:avLst>
              <a:gd name="adj1" fmla="val -46630"/>
              <a:gd name="adj2" fmla="val 7120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进行内存分配，从系统可管理的</a:t>
            </a:r>
            <a:r>
              <a:rPr lang="en-US" altLang="zh-CN" sz="1199" b="1" dirty="0">
                <a:solidFill>
                  <a:srgbClr val="C00000"/>
                </a:solidFill>
              </a:rPr>
              <a:t>OS_SYS_MEM_SIZE</a:t>
            </a:r>
            <a:r>
              <a:rPr lang="zh-CN" altLang="en-US" sz="1199" b="1" dirty="0">
                <a:solidFill>
                  <a:srgbClr val="C00000"/>
                </a:solidFill>
              </a:rPr>
              <a:t>大小的内存中进行分配，分配的内存大小为</a:t>
            </a:r>
            <a:r>
              <a:rPr lang="en-US" altLang="zh-CN" sz="1199" b="1" dirty="0" err="1">
                <a:solidFill>
                  <a:srgbClr val="C00000"/>
                </a:solidFill>
              </a:rPr>
              <a:t>uwUseSize</a:t>
            </a:r>
            <a:r>
              <a:rPr lang="zh-CN" altLang="en-US" sz="1199" b="1" dirty="0">
                <a:solidFill>
                  <a:srgbClr val="C00000"/>
                </a:solidFill>
              </a:rPr>
              <a:t>，如果内存分配成功，则返回指向内存地址的指针</a:t>
            </a:r>
            <a:r>
              <a:rPr lang="en-US" altLang="zh-CN" sz="1199" b="1" dirty="0" err="1">
                <a:solidFill>
                  <a:srgbClr val="C00000"/>
                </a:solidFill>
              </a:rPr>
              <a:t>pRet</a:t>
            </a:r>
            <a:r>
              <a:rPr lang="zh-CN" altLang="en-US" sz="1199" b="1" dirty="0">
                <a:solidFill>
                  <a:srgbClr val="C00000"/>
                </a:solidFill>
              </a:rPr>
              <a:t>。</a:t>
            </a:r>
          </a:p>
        </p:txBody>
      </p:sp>
      <p:sp>
        <p:nvSpPr>
          <p:cNvPr id="105" name="圆角矩形标注 104"/>
          <p:cNvSpPr/>
          <p:nvPr/>
        </p:nvSpPr>
        <p:spPr>
          <a:xfrm>
            <a:off x="7140103" y="3167872"/>
            <a:ext cx="3504405" cy="624165"/>
          </a:xfrm>
          <a:prstGeom prst="wedgeRoundRectCallout">
            <a:avLst>
              <a:gd name="adj1" fmla="val -416"/>
              <a:gd name="adj2" fmla="val -8963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如果内存分配成功，则对已经分配的内存进行对齐操作。在</a:t>
            </a:r>
            <a:r>
              <a:rPr lang="en-US" altLang="zh-CN" sz="1199" b="1" dirty="0">
                <a:solidFill>
                  <a:srgbClr val="C00000"/>
                </a:solidFill>
              </a:rPr>
              <a:t>LiteOS</a:t>
            </a:r>
            <a:r>
              <a:rPr lang="zh-CN" altLang="en-US" sz="1199" b="1" dirty="0">
                <a:solidFill>
                  <a:srgbClr val="C00000"/>
                </a:solidFill>
              </a:rPr>
              <a:t>中，内存按</a:t>
            </a:r>
            <a:r>
              <a:rPr lang="en-US" altLang="zh-CN" sz="1199" b="1" dirty="0">
                <a:solidFill>
                  <a:srgbClr val="C00000"/>
                </a:solidFill>
              </a:rPr>
              <a:t>8</a:t>
            </a:r>
            <a:r>
              <a:rPr lang="zh-CN" altLang="en-US" sz="1199" b="1" dirty="0">
                <a:solidFill>
                  <a:srgbClr val="C00000"/>
                </a:solidFill>
              </a:rPr>
              <a:t>字节对齐。</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7" name="圆角矩形标注 16"/>
          <p:cNvSpPr/>
          <p:nvPr/>
        </p:nvSpPr>
        <p:spPr>
          <a:xfrm>
            <a:off x="10569677" y="5166867"/>
            <a:ext cx="1542989" cy="389728"/>
          </a:xfrm>
          <a:prstGeom prst="wedgeRoundRectCallout">
            <a:avLst>
              <a:gd name="adj1" fmla="val -46652"/>
              <a:gd name="adj2" fmla="val -28095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在高位作对齐标志</a:t>
            </a:r>
          </a:p>
        </p:txBody>
      </p:sp>
      <p:sp>
        <p:nvSpPr>
          <p:cNvPr id="21" name="圆角矩形标注 20"/>
          <p:cNvSpPr/>
          <p:nvPr/>
        </p:nvSpPr>
        <p:spPr>
          <a:xfrm>
            <a:off x="9483212" y="5969998"/>
            <a:ext cx="1542989" cy="389728"/>
          </a:xfrm>
          <a:prstGeom prst="wedgeRoundRectCallout">
            <a:avLst>
              <a:gd name="adj1" fmla="val -29447"/>
              <a:gd name="adj2" fmla="val -40962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存在覆盖非用户分配内存的风险</a:t>
            </a:r>
          </a:p>
        </p:txBody>
      </p:sp>
    </p:spTree>
    <p:extLst>
      <p:ext uri="{BB962C8B-B14F-4D97-AF65-F5344CB8AC3E}">
        <p14:creationId xmlns:p14="http://schemas.microsoft.com/office/powerpoint/2010/main" val="244906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4" grpId="0" animBg="1"/>
      <p:bldP spid="105" grpId="0" animBg="1"/>
      <p:bldP spid="17" grpId="0" animBg="1"/>
      <p:bldP spid="2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073928"/>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58338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231654" y="655957"/>
            <a:ext cx="11500210" cy="533122"/>
          </a:xfrm>
        </p:spPr>
        <p:txBody>
          <a:bodyPr>
            <a:normAutofit/>
          </a:bodyPr>
          <a:lstStyle/>
          <a:p>
            <a:pPr marL="0" indent="456971">
              <a:lnSpc>
                <a:spcPct val="135000"/>
              </a:lnSpc>
              <a:buClr>
                <a:schemeClr val="tx2">
                  <a:lumMod val="75000"/>
                </a:schemeClr>
              </a:buClr>
              <a:buNone/>
            </a:pPr>
            <a:r>
              <a:rPr lang="zh-CN" altLang="en-US" b="1" dirty="0"/>
              <a:t>动态内存空间的堆</a:t>
            </a:r>
          </a:p>
        </p:txBody>
      </p:sp>
      <p:sp>
        <p:nvSpPr>
          <p:cNvPr id="102" name="内容占位符 2"/>
          <p:cNvSpPr>
            <a:spLocks noGrp="1"/>
          </p:cNvSpPr>
          <p:nvPr>
            <p:ph idx="1"/>
          </p:nvPr>
        </p:nvSpPr>
        <p:spPr>
          <a:xfrm>
            <a:off x="231655" y="1206919"/>
            <a:ext cx="11500210" cy="1008950"/>
          </a:xfrm>
        </p:spPr>
        <p:txBody>
          <a:bodyPr>
            <a:noAutofit/>
          </a:bodyPr>
          <a:lstStyle/>
          <a:p>
            <a:pPr marL="0" indent="456971">
              <a:lnSpc>
                <a:spcPct val="135000"/>
              </a:lnSpc>
              <a:buClr>
                <a:schemeClr val="tx2">
                  <a:lumMod val="75000"/>
                </a:schemeClr>
              </a:buClr>
              <a:buNone/>
            </a:pPr>
            <a:r>
              <a:rPr lang="zh-CN" altLang="en-US" sz="1600" b="1" dirty="0">
                <a:solidFill>
                  <a:srgbClr val="C00000"/>
                </a:solidFill>
              </a:rPr>
              <a:t>任务控制块</a:t>
            </a:r>
            <a:r>
              <a:rPr lang="zh-CN" altLang="en-US" sz="1600" b="1" dirty="0"/>
              <a:t>和</a:t>
            </a:r>
            <a:r>
              <a:rPr lang="zh-CN" altLang="en-US" sz="1600" b="1" dirty="0">
                <a:solidFill>
                  <a:srgbClr val="C00000"/>
                </a:solidFill>
              </a:rPr>
              <a:t>任务栈</a:t>
            </a:r>
            <a:r>
              <a:rPr lang="zh-CN" altLang="en-US" sz="1600" b="1" dirty="0"/>
              <a:t>的内存空间都是从</a:t>
            </a:r>
            <a:r>
              <a:rPr lang="en-US" altLang="zh-CN" sz="1600" b="1" dirty="0"/>
              <a:t>SRAM</a:t>
            </a:r>
            <a:r>
              <a:rPr lang="zh-CN" altLang="en-US" sz="1600" b="1" dirty="0"/>
              <a:t>分配的，具体分配到哪个地址由编译器决定。</a:t>
            </a:r>
            <a:r>
              <a:rPr lang="en-US" altLang="zh-CN" sz="1600" b="1" dirty="0"/>
              <a:t>LiteOS</a:t>
            </a:r>
            <a:r>
              <a:rPr lang="zh-CN" altLang="en-US" sz="1600" b="1" dirty="0"/>
              <a:t>支持动态内存分配，</a:t>
            </a:r>
            <a:r>
              <a:rPr lang="en-US" altLang="zh-CN" sz="1600" b="1" dirty="0" err="1"/>
              <a:t>LiteOS</a:t>
            </a:r>
            <a:r>
              <a:rPr lang="zh-CN" altLang="en-US" sz="1600" b="1" dirty="0"/>
              <a:t>中定义了一个</a:t>
            </a:r>
            <a:r>
              <a:rPr lang="en-US" altLang="zh-CN" sz="1600" b="1" dirty="0">
                <a:solidFill>
                  <a:srgbClr val="C00000"/>
                </a:solidFill>
              </a:rPr>
              <a:t>OS_SYS_MEM_SIZE</a:t>
            </a:r>
            <a:r>
              <a:rPr lang="zh-CN" altLang="en-US" sz="1600" b="1" dirty="0">
                <a:solidFill>
                  <a:srgbClr val="C00000"/>
                </a:solidFill>
              </a:rPr>
              <a:t>宏指定系统可以管理的内存大小</a:t>
            </a:r>
            <a:r>
              <a:rPr lang="zh-CN" altLang="en-US" sz="1600" b="1" dirty="0"/>
              <a:t>，这个宏定义在</a:t>
            </a:r>
            <a:r>
              <a:rPr lang="en-US" altLang="zh-CN" sz="1600" b="1" dirty="0" err="1"/>
              <a:t>target_config.h</a:t>
            </a:r>
            <a:r>
              <a:rPr lang="zh-CN" altLang="en-US" sz="1600" b="1" dirty="0"/>
              <a:t>中由用户配置。在创建任务的时候，系统使用</a:t>
            </a:r>
            <a:r>
              <a:rPr lang="en-US" altLang="zh-CN" sz="1600" b="1" dirty="0" err="1">
                <a:solidFill>
                  <a:srgbClr val="C00000"/>
                </a:solidFill>
              </a:rPr>
              <a:t>LOS_MemAllocAlign</a:t>
            </a:r>
            <a:r>
              <a:rPr lang="zh-CN" altLang="en-US" sz="1600" b="1" dirty="0">
                <a:solidFill>
                  <a:srgbClr val="C00000"/>
                </a:solidFill>
              </a:rPr>
              <a:t>函数从内存池中分配需要的内存</a:t>
            </a:r>
            <a:r>
              <a:rPr lang="zh-CN" altLang="en-US" sz="1600" b="1" dirty="0"/>
              <a:t>，如代码清单所示。</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5" name="矩形 4"/>
          <p:cNvSpPr/>
          <p:nvPr/>
        </p:nvSpPr>
        <p:spPr>
          <a:xfrm>
            <a:off x="741145" y="3086403"/>
            <a:ext cx="11143040" cy="2862322"/>
          </a:xfrm>
          <a:prstGeom prst="rect">
            <a:avLst/>
          </a:prstGeom>
        </p:spPr>
        <p:txBody>
          <a:bodyPr wrap="square">
            <a:spAutoFit/>
          </a:bodyPr>
          <a:lstStyle/>
          <a:p>
            <a:r>
              <a:rPr lang="zh-CN" altLang="en-US" b="1" dirty="0">
                <a:solidFill>
                  <a:srgbClr val="C00000"/>
                </a:solidFill>
              </a:rPr>
              <a:t>1. uwSize：</a:t>
            </a:r>
            <a:r>
              <a:rPr lang="zh-CN" altLang="en-US" b="1" dirty="0"/>
              <a:t>表示用户实际需要分配的内存大小，是核心的内存需求值；</a:t>
            </a:r>
          </a:p>
          <a:p>
            <a:endParaRPr lang="zh-CN" altLang="en-US" b="1" dirty="0">
              <a:solidFill>
                <a:srgbClr val="C00000"/>
              </a:solidFill>
            </a:endParaRPr>
          </a:p>
          <a:p>
            <a:r>
              <a:rPr lang="zh-CN" altLang="en-US" b="1" dirty="0">
                <a:solidFill>
                  <a:srgbClr val="C00000"/>
                </a:solidFill>
              </a:rPr>
              <a:t>2. uwBoundary：</a:t>
            </a:r>
            <a:r>
              <a:rPr lang="zh-CN" altLang="en-US" b="1" dirty="0"/>
              <a:t>指内存对齐边界值，用于保证分配的内存起始地址是该值的整数倍，适配硬件或系统对内存对齐的要求；</a:t>
            </a:r>
          </a:p>
          <a:p>
            <a:endParaRPr lang="zh-CN" altLang="en-US" b="1" dirty="0"/>
          </a:p>
          <a:p>
            <a:r>
              <a:rPr lang="zh-CN" altLang="en-US" b="1" dirty="0">
                <a:solidFill>
                  <a:srgbClr val="C00000"/>
                </a:solidFill>
              </a:rPr>
              <a:t>3. +4：</a:t>
            </a:r>
            <a:r>
              <a:rPr lang="zh-CN" altLang="en-US" b="1" dirty="0"/>
              <a:t>预留4字节空间，用于存储内存对齐时产生的偏移量等管理信息，方便后续内存释放和回收时的校验与计算。</a:t>
            </a:r>
          </a:p>
          <a:p>
            <a:r>
              <a:rPr lang="zh-CN" altLang="en-US" b="1" dirty="0"/>
              <a:t> </a:t>
            </a:r>
          </a:p>
          <a:p>
            <a:r>
              <a:rPr lang="zh-CN" altLang="en-US" b="1" dirty="0"/>
              <a:t>整体来看， </a:t>
            </a:r>
            <a:r>
              <a:rPr lang="zh-CN" altLang="en-US" b="1" dirty="0">
                <a:solidFill>
                  <a:srgbClr val="C00000"/>
                </a:solidFill>
              </a:rPr>
              <a:t>uwSize + uwBoundary + 4 </a:t>
            </a:r>
            <a:r>
              <a:rPr lang="zh-CN" altLang="en-US" b="1" dirty="0"/>
              <a:t>算出的是最终要向内存池申请的总内存大小，这样能确保分配后既满足用户的内存使用需求，又符合对齐规则，还能兼容系统的内存管理逻辑。</a:t>
            </a:r>
          </a:p>
        </p:txBody>
      </p:sp>
      <p:sp>
        <p:nvSpPr>
          <p:cNvPr id="6" name="矩形 5"/>
          <p:cNvSpPr/>
          <p:nvPr/>
        </p:nvSpPr>
        <p:spPr>
          <a:xfrm>
            <a:off x="2127183" y="2524216"/>
            <a:ext cx="5322611" cy="397032"/>
          </a:xfrm>
          <a:prstGeom prst="rect">
            <a:avLst/>
          </a:prstGeom>
        </p:spPr>
        <p:txBody>
          <a:bodyPr wrap="none">
            <a:spAutoFit/>
          </a:bodyPr>
          <a:lstStyle/>
          <a:p>
            <a:pPr indent="456971">
              <a:lnSpc>
                <a:spcPct val="110000"/>
              </a:lnSpc>
              <a:buClr>
                <a:schemeClr val="tx2">
                  <a:lumMod val="75000"/>
                </a:schemeClr>
              </a:buClr>
            </a:pPr>
            <a:r>
              <a:rPr lang="en-US" altLang="zh-CN" b="1" dirty="0" err="1"/>
              <a:t>uwUseSize</a:t>
            </a:r>
            <a:r>
              <a:rPr lang="en-US" altLang="zh-CN" b="1" dirty="0"/>
              <a:t> = </a:t>
            </a:r>
            <a:r>
              <a:rPr lang="en-US" altLang="zh-CN" b="1" dirty="0" err="1"/>
              <a:t>uwSize</a:t>
            </a:r>
            <a:r>
              <a:rPr lang="en-US" altLang="zh-CN" b="1" dirty="0"/>
              <a:t> + </a:t>
            </a:r>
            <a:r>
              <a:rPr lang="en-US" altLang="zh-CN" b="1" dirty="0" err="1"/>
              <a:t>uwBoundary</a:t>
            </a:r>
            <a:r>
              <a:rPr lang="en-US" altLang="zh-CN" b="1" dirty="0"/>
              <a:t> + 4;</a:t>
            </a:r>
          </a:p>
        </p:txBody>
      </p:sp>
    </p:spTree>
    <p:extLst>
      <p:ext uri="{BB962C8B-B14F-4D97-AF65-F5344CB8AC3E}">
        <p14:creationId xmlns:p14="http://schemas.microsoft.com/office/powerpoint/2010/main" val="39981191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02" name="内容占位符 2"/>
          <p:cNvSpPr>
            <a:spLocks noGrp="1"/>
          </p:cNvSpPr>
          <p:nvPr>
            <p:ph idx="1"/>
          </p:nvPr>
        </p:nvSpPr>
        <p:spPr>
          <a:xfrm>
            <a:off x="307815" y="1928473"/>
            <a:ext cx="11652531" cy="662764"/>
          </a:xfrm>
        </p:spPr>
        <p:txBody>
          <a:bodyPr>
            <a:normAutofit/>
          </a:bodyPr>
          <a:lstStyle/>
          <a:p>
            <a:pPr marL="0" indent="456971">
              <a:lnSpc>
                <a:spcPct val="135000"/>
              </a:lnSpc>
              <a:buClr>
                <a:schemeClr val="tx2">
                  <a:lumMod val="75000"/>
                </a:schemeClr>
              </a:buClr>
              <a:buNone/>
            </a:pPr>
            <a:r>
              <a:rPr lang="zh-CN" altLang="en-US" b="1" dirty="0"/>
              <a:t>核心初始化函数</a:t>
            </a:r>
            <a:r>
              <a:rPr lang="en-US" altLang="zh-CN" b="1" dirty="0" err="1">
                <a:solidFill>
                  <a:srgbClr val="C00000"/>
                </a:solidFill>
              </a:rPr>
              <a:t>LOS_KernelInit</a:t>
            </a:r>
            <a:r>
              <a:rPr lang="zh-CN" altLang="en-US" b="1" dirty="0"/>
              <a:t>主要做了以下几件事。</a:t>
            </a:r>
          </a:p>
        </p:txBody>
      </p:sp>
      <p:sp>
        <p:nvSpPr>
          <p:cNvPr id="16" name="内容占位符 2"/>
          <p:cNvSpPr>
            <a:spLocks noGrp="1"/>
          </p:cNvSpPr>
          <p:nvPr>
            <p:ph idx="1"/>
          </p:nvPr>
        </p:nvSpPr>
        <p:spPr>
          <a:xfrm>
            <a:off x="774297" y="2583465"/>
            <a:ext cx="10957568" cy="3434321"/>
          </a:xfrm>
        </p:spPr>
        <p:txBody>
          <a:bodyPr>
            <a:noAutofit/>
          </a:bodyPr>
          <a:lstStyle/>
          <a:p>
            <a:pPr>
              <a:lnSpc>
                <a:spcPct val="135000"/>
              </a:lnSpc>
              <a:buClr>
                <a:schemeClr val="tx2"/>
              </a:buClr>
              <a:buFont typeface="Wingdings" panose="05000000000000000000" pitchFamily="2" charset="2"/>
              <a:buChar char="u"/>
            </a:pPr>
            <a:r>
              <a:rPr lang="zh-CN" altLang="en-US" sz="1799" b="1" dirty="0">
                <a:solidFill>
                  <a:srgbClr val="C00000"/>
                </a:solidFill>
              </a:rPr>
              <a:t>系统内存的初始化</a:t>
            </a:r>
            <a:r>
              <a:rPr lang="zh-CN" altLang="en-US" sz="1799" b="1" dirty="0"/>
              <a:t>，因为</a:t>
            </a:r>
            <a:r>
              <a:rPr lang="en-US" altLang="zh-CN" sz="1799" b="1" dirty="0"/>
              <a:t>LiteOS</a:t>
            </a:r>
            <a:r>
              <a:rPr lang="zh-CN" altLang="en-US" sz="1799" b="1" dirty="0"/>
              <a:t>所管理的内存只是一块内存区域，所以</a:t>
            </a:r>
            <a:r>
              <a:rPr lang="en-US" altLang="zh-CN" sz="1799" b="1" dirty="0"/>
              <a:t>LiteOS</a:t>
            </a:r>
            <a:r>
              <a:rPr lang="zh-CN" altLang="en-US" sz="1799" b="1" dirty="0"/>
              <a:t>将其管理的内存初始化一遍，目的是使后续能够正常管理。</a:t>
            </a:r>
          </a:p>
          <a:p>
            <a:pPr>
              <a:lnSpc>
                <a:spcPct val="135000"/>
              </a:lnSpc>
              <a:buClr>
                <a:schemeClr val="tx2"/>
              </a:buClr>
              <a:buFont typeface="Wingdings" panose="05000000000000000000" pitchFamily="2" charset="2"/>
              <a:buChar char="u"/>
            </a:pPr>
            <a:r>
              <a:rPr lang="zh-CN" altLang="en-US" sz="1799" b="1" dirty="0">
                <a:solidFill>
                  <a:srgbClr val="C00000"/>
                </a:solidFill>
              </a:rPr>
              <a:t>如果系统接管中断</a:t>
            </a:r>
            <a:r>
              <a:rPr lang="zh-CN" altLang="en-US" sz="1799" b="1" dirty="0"/>
              <a:t>，那么</a:t>
            </a:r>
            <a:r>
              <a:rPr lang="en-US" altLang="zh-CN" sz="1799" b="1" dirty="0"/>
              <a:t>LiteOS</a:t>
            </a:r>
            <a:r>
              <a:rPr lang="zh-CN" altLang="en-US" sz="1799" b="1" dirty="0"/>
              <a:t>会将所有的中断入口函数通过</a:t>
            </a:r>
            <a:r>
              <a:rPr lang="zh-CN" altLang="en-US" sz="1799" b="1" dirty="0">
                <a:solidFill>
                  <a:srgbClr val="C00000"/>
                </a:solidFill>
              </a:rPr>
              <a:t>一个指针数组存储</a:t>
            </a:r>
            <a:r>
              <a:rPr lang="zh-CN" altLang="en-US" sz="1799" b="1" dirty="0"/>
              <a:t>，系统最大支持管理</a:t>
            </a:r>
            <a:r>
              <a:rPr lang="en-US" altLang="zh-CN" sz="1799" b="1" dirty="0"/>
              <a:t>OS_VECTOR_CNT</a:t>
            </a:r>
            <a:r>
              <a:rPr lang="zh-CN" altLang="en-US" sz="1799" b="1" dirty="0"/>
              <a:t>即</a:t>
            </a:r>
            <a:r>
              <a:rPr lang="en-US" altLang="zh-CN" sz="1799" b="1" dirty="0"/>
              <a:t>OS_SYS_VECTOR_CNT+OS_HWI_MAX_NUM</a:t>
            </a:r>
            <a:r>
              <a:rPr lang="zh-CN" altLang="en-US" sz="1799" b="1" dirty="0"/>
              <a:t>个中断。而系统</a:t>
            </a:r>
            <a:r>
              <a:rPr lang="zh-CN" altLang="en-US" sz="1799" b="1" dirty="0">
                <a:solidFill>
                  <a:srgbClr val="C00000"/>
                </a:solidFill>
              </a:rPr>
              <a:t>不接管中断</a:t>
            </a:r>
            <a:r>
              <a:rPr lang="zh-CN" altLang="en-US" sz="1799" b="1" dirty="0"/>
              <a:t>就不会对中断入口函数进行处理，可以通过</a:t>
            </a:r>
            <a:r>
              <a:rPr lang="en-US" altLang="zh-CN" sz="1799" b="1" dirty="0">
                <a:solidFill>
                  <a:srgbClr val="C00000"/>
                </a:solidFill>
              </a:rPr>
              <a:t>LOSCFG_PLATFORM_HWI</a:t>
            </a:r>
            <a:r>
              <a:rPr lang="zh-CN" altLang="en-US" sz="1799" b="1" dirty="0">
                <a:solidFill>
                  <a:srgbClr val="C00000"/>
                </a:solidFill>
              </a:rPr>
              <a:t>宏定义</a:t>
            </a:r>
            <a:r>
              <a:rPr lang="zh-CN" altLang="en-US" sz="1799" b="1" dirty="0"/>
              <a:t>配置是否由系统接管中断。</a:t>
            </a:r>
          </a:p>
          <a:p>
            <a:pPr>
              <a:lnSpc>
                <a:spcPct val="135000"/>
              </a:lnSpc>
              <a:buClr>
                <a:schemeClr val="tx2"/>
              </a:buClr>
              <a:buFont typeface="Wingdings" panose="05000000000000000000" pitchFamily="2" charset="2"/>
              <a:buChar char="u"/>
            </a:pPr>
            <a:r>
              <a:rPr lang="zh-CN" altLang="en-US" sz="1799" b="1" dirty="0">
                <a:solidFill>
                  <a:srgbClr val="C00000"/>
                </a:solidFill>
              </a:rPr>
              <a:t>任务基本的底层初始化</a:t>
            </a:r>
            <a:r>
              <a:rPr lang="zh-CN" altLang="en-US" sz="1799" b="1" dirty="0"/>
              <a:t>，</a:t>
            </a:r>
            <a:r>
              <a:rPr lang="en-US" altLang="zh-CN" sz="1799" b="1" dirty="0" err="1"/>
              <a:t>LiteOS</a:t>
            </a:r>
            <a:r>
              <a:rPr lang="zh-CN" altLang="en-US" sz="1799" b="1" dirty="0"/>
              <a:t>采用一块内存来管理所有的</a:t>
            </a:r>
            <a:r>
              <a:rPr lang="zh-CN" altLang="en-US" sz="1799" b="1" dirty="0">
                <a:solidFill>
                  <a:srgbClr val="FF0000"/>
                </a:solidFill>
              </a:rPr>
              <a:t>任务控制块信息</a:t>
            </a:r>
            <a:r>
              <a:rPr lang="zh-CN" altLang="en-US" sz="1799" b="1" dirty="0"/>
              <a:t>，系统最大支持</a:t>
            </a:r>
            <a:r>
              <a:rPr lang="en-US" altLang="zh-CN" sz="1799" b="1" dirty="0">
                <a:solidFill>
                  <a:srgbClr val="C00000"/>
                </a:solidFill>
              </a:rPr>
              <a:t>LOSCFG_BASE_CORE_TSK_LIMIT+1</a:t>
            </a:r>
            <a:r>
              <a:rPr lang="zh-CN" altLang="en-US" sz="1799" b="1" dirty="0">
                <a:solidFill>
                  <a:srgbClr val="C00000"/>
                </a:solidFill>
              </a:rPr>
              <a:t>个任务</a:t>
            </a:r>
            <a:r>
              <a:rPr lang="zh-CN" altLang="en-US" sz="1799" b="1" dirty="0"/>
              <a:t>（包括空闲任务），该宏定义的值是由用户指定的，用户可以根据系统需求进行裁剪，以减少系统的内存开销，并初始化系统必要的链表等。</a:t>
            </a:r>
          </a:p>
        </p:txBody>
      </p:sp>
      <p:sp>
        <p:nvSpPr>
          <p:cNvPr id="17" name="矩形 16">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2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7446835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29651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6" name="内容占位符 2"/>
          <p:cNvSpPr>
            <a:spLocks noGrp="1"/>
          </p:cNvSpPr>
          <p:nvPr>
            <p:ph idx="1"/>
          </p:nvPr>
        </p:nvSpPr>
        <p:spPr>
          <a:xfrm>
            <a:off x="231654" y="1582132"/>
            <a:ext cx="11512671" cy="4711931"/>
          </a:xfrm>
        </p:spPr>
        <p:txBody>
          <a:bodyPr>
            <a:noAutofit/>
          </a:bodyPr>
          <a:lstStyle/>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任务监视功能</a:t>
            </a:r>
            <a:r>
              <a:rPr lang="zh-CN" altLang="en-US" sz="1799" b="1" dirty="0"/>
              <a:t>，那么系统会初始化对应的监视功能。</a:t>
            </a:r>
          </a:p>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信号量、互斥锁、消息队列</a:t>
            </a:r>
            <a:r>
              <a:rPr lang="zh-CN" altLang="en-US" sz="1799" b="1" dirty="0"/>
              <a:t>等</a:t>
            </a:r>
            <a:r>
              <a:rPr lang="en-US" altLang="zh-CN" sz="1799" b="1" dirty="0"/>
              <a:t>IPC</a:t>
            </a:r>
            <a:r>
              <a:rPr lang="zh-CN" altLang="en-US" sz="1799" b="1" dirty="0"/>
              <a:t>通信机制，那么在系统运行前会将这些内核资源初始化。系统支持的</a:t>
            </a:r>
            <a:r>
              <a:rPr lang="zh-CN" altLang="en-US" sz="1799" b="1" dirty="0">
                <a:solidFill>
                  <a:srgbClr val="C00000"/>
                </a:solidFill>
              </a:rPr>
              <a:t>最大的信号量、互斥锁、消息队列个数</a:t>
            </a:r>
            <a:r>
              <a:rPr lang="zh-CN" altLang="en-US" sz="1799" b="1" dirty="0"/>
              <a:t>由用户决定，当不需要那么多任务时可以进行裁剪，以减少系统的内存开销。</a:t>
            </a:r>
            <a:endParaRPr lang="en-US" altLang="zh-CN" sz="1799" b="1" dirty="0"/>
          </a:p>
          <a:p>
            <a:pPr>
              <a:lnSpc>
                <a:spcPct val="135000"/>
              </a:lnSpc>
              <a:buClr>
                <a:schemeClr val="tx2"/>
              </a:buClr>
              <a:buFont typeface="Wingdings" panose="05000000000000000000" pitchFamily="2" charset="2"/>
              <a:buChar char="u"/>
            </a:pPr>
            <a:r>
              <a:rPr lang="zh-CN" altLang="zh-CN" sz="1799" b="1" dirty="0">
                <a:solidFill>
                  <a:srgbClr val="C00000"/>
                </a:solidFill>
              </a:rPr>
              <a:t>软件定时器</a:t>
            </a:r>
            <a:r>
              <a:rPr lang="zh-CN" altLang="zh-CN" sz="1799" b="1" dirty="0"/>
              <a:t>（Software Timer）是基于系统</a:t>
            </a:r>
            <a:r>
              <a:rPr lang="en-US" altLang="zh-CN" sz="1799" b="1" dirty="0">
                <a:solidFill>
                  <a:srgbClr val="C00000"/>
                </a:solidFill>
              </a:rPr>
              <a:t>sys</a:t>
            </a:r>
            <a:r>
              <a:rPr lang="zh-CN" altLang="zh-CN" sz="1799" b="1" dirty="0">
                <a:solidFill>
                  <a:srgbClr val="C00000"/>
                </a:solidFill>
              </a:rPr>
              <a:t>Tick时钟中断且由软件来模拟的定时器</a:t>
            </a:r>
            <a:r>
              <a:rPr lang="zh-CN" altLang="zh-CN" sz="1799" b="1" dirty="0"/>
              <a:t>。当经过设定的Tick数后，会触发</a:t>
            </a:r>
            <a:r>
              <a:rPr lang="zh-CN" altLang="zh-CN" sz="1799" b="1" dirty="0">
                <a:solidFill>
                  <a:srgbClr val="C00000"/>
                </a:solidFill>
              </a:rPr>
              <a:t>用户自定义的回调函数</a:t>
            </a:r>
            <a:r>
              <a:rPr lang="zh-CN" altLang="zh-CN" sz="1799" b="1" dirty="0"/>
              <a:t>。</a:t>
            </a:r>
            <a:r>
              <a:rPr lang="zh-CN" altLang="en-US" sz="1799" b="1" dirty="0"/>
              <a:t>如果系统使用了</a:t>
            </a:r>
            <a:r>
              <a:rPr lang="zh-CN" altLang="en-US" sz="1799" b="1" dirty="0">
                <a:solidFill>
                  <a:srgbClr val="C00000"/>
                </a:solidFill>
              </a:rPr>
              <a:t>软件定时器</a:t>
            </a:r>
            <a:r>
              <a:rPr lang="zh-CN" altLang="en-US" sz="1799" b="1" dirty="0"/>
              <a:t>，则必须使用消息队列（因为软件定时器依赖消息队列进行管理），并初始化相关的功能。除此之外，系统还会</a:t>
            </a:r>
            <a:r>
              <a:rPr lang="zh-CN" altLang="en-US" sz="1799" b="1" dirty="0">
                <a:solidFill>
                  <a:srgbClr val="C00000"/>
                </a:solidFill>
              </a:rPr>
              <a:t>创建一个软件定时器任务</a:t>
            </a:r>
            <a:r>
              <a:rPr lang="zh-CN" altLang="en-US" sz="1799" b="1" dirty="0"/>
              <a:t>。</a:t>
            </a:r>
          </a:p>
          <a:p>
            <a:pPr>
              <a:lnSpc>
                <a:spcPct val="135000"/>
              </a:lnSpc>
              <a:buClr>
                <a:schemeClr val="tx2"/>
              </a:buClr>
              <a:buFont typeface="Wingdings" panose="05000000000000000000" pitchFamily="2" charset="2"/>
              <a:buChar char="u"/>
            </a:pPr>
            <a:r>
              <a:rPr lang="en-US" altLang="zh-CN" sz="1799" b="1" dirty="0">
                <a:solidFill>
                  <a:srgbClr val="C00000"/>
                </a:solidFill>
              </a:rPr>
              <a:t>LiteOS</a:t>
            </a:r>
            <a:r>
              <a:rPr lang="zh-CN" altLang="en-US" sz="1799" b="1" dirty="0">
                <a:solidFill>
                  <a:srgbClr val="C00000"/>
                </a:solidFill>
              </a:rPr>
              <a:t>会创建一个空闲任务</a:t>
            </a:r>
            <a:r>
              <a:rPr lang="zh-CN" altLang="en-US" sz="1799" b="1" dirty="0"/>
              <a:t>，空闲任务在系统中是必须存在的，因为处理器是一直在运行的，当整个系统都没有就绪任务的时候，</a:t>
            </a:r>
            <a:r>
              <a:rPr lang="zh-CN" altLang="en-US" sz="1799" b="1" dirty="0">
                <a:solidFill>
                  <a:srgbClr val="FF0000"/>
                </a:solidFill>
              </a:rPr>
              <a:t>系统必须保证有一个任务在运行，空闲任务就是为这个目的而设计的</a:t>
            </a:r>
            <a:r>
              <a:rPr lang="zh-CN" altLang="en-US" sz="1799" b="1" dirty="0"/>
              <a:t>。</a:t>
            </a:r>
            <a:r>
              <a:rPr lang="zh-CN" altLang="en-US" sz="1799" b="1" dirty="0">
                <a:solidFill>
                  <a:srgbClr val="C00000"/>
                </a:solidFill>
              </a:rPr>
              <a:t>空闲任务的优先级最低</a:t>
            </a:r>
            <a:r>
              <a:rPr lang="zh-CN" altLang="en-US" sz="1799" b="1" dirty="0"/>
              <a:t>，当用户创建的任务进入就绪态时，它可以抢占空闲任务的</a:t>
            </a:r>
            <a:r>
              <a:rPr lang="en-US" altLang="zh-CN" sz="1799" b="1" dirty="0"/>
              <a:t>CPU</a:t>
            </a:r>
            <a:r>
              <a:rPr lang="zh-CN" altLang="en-US" sz="1799" b="1" dirty="0"/>
              <a:t>使用权，从而执行用户创建的任务。空闲任务默认的任务栈大小是</a:t>
            </a:r>
            <a:r>
              <a:rPr lang="en-US" altLang="zh-CN" sz="1799" b="1" dirty="0"/>
              <a:t>LOSCFG_BASE_ CORE_TSK_ IDLE_STACK_SIZE</a:t>
            </a:r>
            <a:r>
              <a:rPr lang="zh-CN" altLang="en-US" sz="1799" b="1" dirty="0"/>
              <a:t>，用户可以进行修改。</a:t>
            </a: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7" name="内容占位符 2"/>
          <p:cNvSpPr>
            <a:spLocks noGrp="1"/>
          </p:cNvSpPr>
          <p:nvPr>
            <p:ph idx="1"/>
          </p:nvPr>
        </p:nvSpPr>
        <p:spPr>
          <a:xfrm>
            <a:off x="383975" y="829822"/>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spTree>
    <p:extLst>
      <p:ext uri="{BB962C8B-B14F-4D97-AF65-F5344CB8AC3E}">
        <p14:creationId xmlns:p14="http://schemas.microsoft.com/office/powerpoint/2010/main" val="38393258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定义任务函数</a:t>
            </a:r>
          </a:p>
        </p:txBody>
      </p:sp>
      <p:sp>
        <p:nvSpPr>
          <p:cNvPr id="102" name="内容占位符 2"/>
          <p:cNvSpPr>
            <a:spLocks noGrp="1"/>
          </p:cNvSpPr>
          <p:nvPr>
            <p:ph idx="1"/>
          </p:nvPr>
        </p:nvSpPr>
        <p:spPr>
          <a:xfrm>
            <a:off x="307815" y="1753473"/>
            <a:ext cx="11652531" cy="1195886"/>
          </a:xfrm>
        </p:spPr>
        <p:txBody>
          <a:bodyPr>
            <a:normAutofit/>
          </a:bodyPr>
          <a:lstStyle/>
          <a:p>
            <a:pPr marL="0" indent="456971">
              <a:lnSpc>
                <a:spcPct val="135000"/>
              </a:lnSpc>
              <a:buClr>
                <a:schemeClr val="tx2">
                  <a:lumMod val="75000"/>
                </a:schemeClr>
              </a:buClr>
              <a:buNone/>
            </a:pPr>
            <a:r>
              <a:rPr lang="zh-CN" altLang="en-US" b="1" dirty="0"/>
              <a:t>在创建任务时，需要指定任务函数（或者称之为任务主体），它应该是一个</a:t>
            </a:r>
            <a:r>
              <a:rPr lang="zh-CN" altLang="en-US" b="1" dirty="0">
                <a:solidFill>
                  <a:srgbClr val="C00000"/>
                </a:solidFill>
              </a:rPr>
              <a:t>无限的死循环，不能返回</a:t>
            </a:r>
            <a:r>
              <a:rPr lang="zh-CN" altLang="en-US" b="1" dirty="0"/>
              <a:t>，如代码清单所示。</a:t>
            </a:r>
          </a:p>
        </p:txBody>
      </p:sp>
      <p:sp>
        <p:nvSpPr>
          <p:cNvPr id="17" name="矩形 16"/>
          <p:cNvSpPr/>
          <p:nvPr/>
        </p:nvSpPr>
        <p:spPr>
          <a:xfrm>
            <a:off x="231654" y="2549155"/>
            <a:ext cx="11652531" cy="4110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31654" y="665954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267544" y="2605115"/>
            <a:ext cx="5866536" cy="3794246"/>
          </a:xfrm>
        </p:spPr>
        <p:txBody>
          <a:bodyPr>
            <a:noAutofit/>
          </a:bodyPr>
          <a:lstStyle/>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 @ </a:t>
            </a:r>
            <a:r>
              <a:rPr lang="zh-CN" altLang="en-US" sz="1400" b="1" dirty="0"/>
              <a:t>函数名  ： </a:t>
            </a:r>
            <a:r>
              <a:rPr lang="en-US" altLang="zh-CN" sz="1400" b="1" dirty="0"/>
              <a:t>Test1_Task</a:t>
            </a:r>
          </a:p>
          <a:p>
            <a:pPr marL="0" indent="456971">
              <a:lnSpc>
                <a:spcPct val="125000"/>
              </a:lnSpc>
              <a:spcBef>
                <a:spcPts val="0"/>
              </a:spcBef>
              <a:buClr>
                <a:schemeClr val="tx2">
                  <a:lumMod val="75000"/>
                </a:schemeClr>
              </a:buClr>
              <a:buNone/>
            </a:pPr>
            <a:r>
              <a:rPr lang="en-US" altLang="zh-CN" sz="1400" b="1" dirty="0"/>
              <a:t>      * @ </a:t>
            </a:r>
            <a:r>
              <a:rPr lang="zh-CN" altLang="en-US" sz="1400" b="1" dirty="0"/>
              <a:t>功能说明： </a:t>
            </a:r>
            <a:r>
              <a:rPr lang="en-US" altLang="zh-CN" sz="1400" b="1" dirty="0"/>
              <a:t>Test1_Task</a:t>
            </a:r>
            <a:r>
              <a:rPr lang="zh-CN" altLang="en-US" sz="1400" b="1" dirty="0"/>
              <a:t>任务实现</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参数    ：</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返回值  ： 无</a:t>
            </a:r>
          </a:p>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static void Test1_Task(void)</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 </a:t>
            </a:r>
            <a:r>
              <a:rPr lang="zh-CN" altLang="en-US" sz="1400" b="1" dirty="0"/>
              <a:t>每个任务都是一个无限循环，不能返回 *</a:t>
            </a:r>
            <a:r>
              <a:rPr lang="en-US" altLang="zh-CN" sz="1400" b="1" dirty="0"/>
              <a:t>/</a:t>
            </a:r>
          </a:p>
          <a:p>
            <a:pPr marL="0" indent="456971">
              <a:lnSpc>
                <a:spcPct val="125000"/>
              </a:lnSpc>
              <a:spcBef>
                <a:spcPts val="0"/>
              </a:spcBef>
              <a:buClr>
                <a:schemeClr val="tx2">
                  <a:lumMod val="75000"/>
                </a:schemeClr>
              </a:buClr>
              <a:buNone/>
            </a:pPr>
            <a:r>
              <a:rPr lang="en-US" altLang="zh-CN" sz="1400" b="1" dirty="0"/>
              <a:t>       while (1) {	 		 (1)</a:t>
            </a:r>
          </a:p>
          <a:p>
            <a:pPr marL="0" indent="456971">
              <a:lnSpc>
                <a:spcPct val="125000"/>
              </a:lnSpc>
              <a:spcBef>
                <a:spcPts val="0"/>
              </a:spcBef>
              <a:buClr>
                <a:schemeClr val="tx2">
                  <a:lumMod val="75000"/>
                </a:schemeClr>
              </a:buClr>
              <a:buNone/>
            </a:pPr>
            <a:r>
              <a:rPr lang="en-US" altLang="zh-CN" sz="1400" b="1" dirty="0"/>
              <a:t>            LED2_TOGGLE;	 		 (2)</a:t>
            </a:r>
          </a:p>
          <a:p>
            <a:pPr marL="0" indent="456971">
              <a:lnSpc>
                <a:spcPct val="125000"/>
              </a:lnSpc>
              <a:spcBef>
                <a:spcPts val="0"/>
              </a:spcBef>
              <a:buClr>
                <a:schemeClr val="tx2">
                  <a:lumMod val="75000"/>
                </a:schemeClr>
              </a:buClr>
              <a:buNone/>
            </a:pPr>
            <a:r>
              <a:rPr lang="en-US" altLang="zh-CN" sz="1400" b="1" dirty="0"/>
              <a:t>            </a:t>
            </a:r>
            <a:r>
              <a:rPr lang="en-US" altLang="zh-CN" sz="1400" b="1" dirty="0" err="1"/>
              <a:t>LOS_TaskDelay</a:t>
            </a:r>
            <a:r>
              <a:rPr lang="en-US" altLang="zh-CN" sz="1400" b="1" dirty="0"/>
              <a:t>(1000); /*</a:t>
            </a:r>
            <a:r>
              <a:rPr lang="zh-CN" altLang="en-US" sz="1400" b="1" dirty="0"/>
              <a:t>延时</a:t>
            </a:r>
            <a:r>
              <a:rPr lang="en-US" altLang="zh-CN" sz="1400" b="1" dirty="0"/>
              <a:t>1000</a:t>
            </a:r>
            <a:r>
              <a:rPr lang="zh-CN" altLang="en-US" sz="1400" b="1" dirty="0"/>
              <a:t>个</a:t>
            </a:r>
            <a:r>
              <a:rPr lang="en-US" altLang="zh-CN" sz="1400" b="1" dirty="0"/>
              <a:t>Tick*/       (3)</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a:t>
            </a:r>
          </a:p>
        </p:txBody>
      </p:sp>
      <p:sp>
        <p:nvSpPr>
          <p:cNvPr id="28" name="内容占位符 2"/>
          <p:cNvSpPr>
            <a:spLocks noGrp="1"/>
          </p:cNvSpPr>
          <p:nvPr>
            <p:ph idx="1"/>
          </p:nvPr>
        </p:nvSpPr>
        <p:spPr>
          <a:xfrm>
            <a:off x="6286401" y="2949359"/>
            <a:ext cx="5407383" cy="3297574"/>
          </a:xfrm>
          <a:solidFill>
            <a:srgbClr val="3A4187"/>
          </a:solidFill>
        </p:spPr>
        <p:txBody>
          <a:bodyPr>
            <a:normAutofit/>
          </a:bodyPr>
          <a:lstStyle/>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1</a:t>
            </a:r>
            <a:r>
              <a:rPr lang="zh-CN" altLang="en-US" b="1" dirty="0">
                <a:solidFill>
                  <a:schemeClr val="bg1"/>
                </a:solidFill>
              </a:rPr>
              <a:t>）：每个独立的任务都是一个无限循环，不能返回。</a:t>
            </a: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2</a:t>
            </a:r>
            <a:r>
              <a:rPr lang="zh-CN" altLang="en-US" b="1" dirty="0">
                <a:solidFill>
                  <a:schemeClr val="bg1"/>
                </a:solidFill>
              </a:rPr>
              <a:t>）：任务点灯测试，翻转</a:t>
            </a:r>
            <a:r>
              <a:rPr lang="en-US" altLang="zh-CN" b="1" dirty="0">
                <a:solidFill>
                  <a:schemeClr val="bg1"/>
                </a:solidFill>
              </a:rPr>
              <a:t>LED</a:t>
            </a:r>
            <a:r>
              <a:rPr lang="zh-CN" altLang="en-US" b="1" dirty="0">
                <a:solidFill>
                  <a:schemeClr val="bg1"/>
                </a:solidFill>
              </a:rPr>
              <a:t>。</a:t>
            </a:r>
            <a:endParaRPr lang="en-US" altLang="zh-CN" b="1" dirty="0">
              <a:solidFill>
                <a:schemeClr val="bg1"/>
              </a:solidFill>
            </a:endParaRP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3</a:t>
            </a:r>
            <a:r>
              <a:rPr lang="zh-CN" altLang="en-US" b="1" dirty="0">
                <a:solidFill>
                  <a:schemeClr val="bg1"/>
                </a:solidFill>
              </a:rPr>
              <a:t>）：调用系统延时函数，保证任务得以切换，延时</a:t>
            </a:r>
            <a:r>
              <a:rPr lang="en-US" altLang="zh-CN" b="1" dirty="0">
                <a:solidFill>
                  <a:schemeClr val="bg1"/>
                </a:solidFill>
              </a:rPr>
              <a:t>1000</a:t>
            </a:r>
            <a:r>
              <a:rPr lang="zh-CN" altLang="en-US" b="1" dirty="0">
                <a:solidFill>
                  <a:schemeClr val="bg1"/>
                </a:solidFill>
              </a:rPr>
              <a:t>个</a:t>
            </a:r>
            <a:r>
              <a:rPr lang="en-US" altLang="zh-CN" b="1" dirty="0">
                <a:solidFill>
                  <a:schemeClr val="bg1"/>
                </a:solidFill>
              </a:rPr>
              <a:t>Tick</a:t>
            </a:r>
            <a:r>
              <a:rPr lang="zh-CN" altLang="en-US" b="1" dirty="0">
                <a:solidFill>
                  <a:schemeClr val="bg1"/>
                </a:solidFill>
              </a:rPr>
              <a:t>。</a:t>
            </a:r>
          </a:p>
        </p:txBody>
      </p:sp>
      <p:sp>
        <p:nvSpPr>
          <p:cNvPr id="7" name="矩形 6"/>
          <p:cNvSpPr/>
          <p:nvPr/>
        </p:nvSpPr>
        <p:spPr>
          <a:xfrm>
            <a:off x="6324481" y="5942291"/>
            <a:ext cx="5331223" cy="76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44057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a:t>
            </a:r>
            <a:r>
              <a:rPr lang="en-US" altLang="zh-CN" b="1" dirty="0"/>
              <a:t>ID</a:t>
            </a:r>
            <a:r>
              <a:rPr lang="zh-CN" altLang="en-US" b="1" dirty="0"/>
              <a:t>变量</a:t>
            </a:r>
          </a:p>
        </p:txBody>
      </p:sp>
      <p:sp>
        <p:nvSpPr>
          <p:cNvPr id="102" name="内容占位符 2"/>
          <p:cNvSpPr>
            <a:spLocks noGrp="1"/>
          </p:cNvSpPr>
          <p:nvPr>
            <p:ph idx="1"/>
          </p:nvPr>
        </p:nvSpPr>
        <p:spPr>
          <a:xfrm>
            <a:off x="299636" y="1979849"/>
            <a:ext cx="11652531" cy="1415526"/>
          </a:xfrm>
        </p:spPr>
        <p:txBody>
          <a:bodyPr>
            <a:normAutofit/>
          </a:bodyPr>
          <a:lstStyle/>
          <a:p>
            <a:pPr marL="0" indent="456971">
              <a:lnSpc>
                <a:spcPct val="135000"/>
              </a:lnSpc>
              <a:buClr>
                <a:schemeClr val="tx2">
                  <a:lumMod val="75000"/>
                </a:schemeClr>
              </a:buClr>
              <a:buNone/>
            </a:pPr>
            <a:r>
              <a:rPr lang="zh-CN" altLang="en-US" dirty="0"/>
              <a:t>在任务创建成功后，系统会返回一个</a:t>
            </a:r>
            <a:r>
              <a:rPr lang="zh-CN" altLang="en-US" dirty="0">
                <a:solidFill>
                  <a:srgbClr val="C00000"/>
                </a:solidFill>
              </a:rPr>
              <a:t>任务</a:t>
            </a:r>
            <a:r>
              <a:rPr lang="en-US" altLang="zh-CN" dirty="0">
                <a:solidFill>
                  <a:srgbClr val="C00000"/>
                </a:solidFill>
              </a:rPr>
              <a:t>ID</a:t>
            </a:r>
            <a:r>
              <a:rPr lang="zh-CN" altLang="en-US" dirty="0">
                <a:solidFill>
                  <a:srgbClr val="C00000"/>
                </a:solidFill>
              </a:rPr>
              <a:t>给用户</a:t>
            </a:r>
            <a:r>
              <a:rPr lang="zh-CN" altLang="en-US" dirty="0"/>
              <a:t>，用户可以通过任务</a:t>
            </a:r>
            <a:r>
              <a:rPr lang="en-US" altLang="zh-CN" dirty="0"/>
              <a:t>ID</a:t>
            </a:r>
            <a:r>
              <a:rPr lang="zh-CN" altLang="en-US" dirty="0"/>
              <a:t>对任务进行</a:t>
            </a:r>
            <a:r>
              <a:rPr lang="zh-CN" altLang="en-US" dirty="0">
                <a:solidFill>
                  <a:srgbClr val="C00000"/>
                </a:solidFill>
              </a:rPr>
              <a:t>挂起、恢复、查询</a:t>
            </a:r>
            <a:r>
              <a:rPr lang="zh-CN" altLang="en-US" dirty="0"/>
              <a:t>信息等操作，在此之前，用户需要定义</a:t>
            </a:r>
            <a:r>
              <a:rPr lang="zh-CN" altLang="en-US" dirty="0">
                <a:solidFill>
                  <a:srgbClr val="C00000"/>
                </a:solidFill>
              </a:rPr>
              <a:t>一个任务</a:t>
            </a:r>
            <a:r>
              <a:rPr lang="en-US" altLang="zh-CN" dirty="0">
                <a:solidFill>
                  <a:srgbClr val="C00000"/>
                </a:solidFill>
              </a:rPr>
              <a:t>ID</a:t>
            </a:r>
            <a:r>
              <a:rPr lang="zh-CN" altLang="en-US" dirty="0">
                <a:solidFill>
                  <a:srgbClr val="C00000"/>
                </a:solidFill>
              </a:rPr>
              <a:t>变量</a:t>
            </a:r>
            <a:r>
              <a:rPr lang="zh-CN" altLang="en-US" dirty="0"/>
              <a:t>，用来存储返回的任务</a:t>
            </a:r>
            <a:r>
              <a:rPr lang="en-US" altLang="zh-CN" dirty="0"/>
              <a:t>ID</a:t>
            </a:r>
            <a:r>
              <a:rPr lang="zh-CN" altLang="en-US" dirty="0"/>
              <a:t>。任务</a:t>
            </a:r>
            <a:r>
              <a:rPr lang="en-US" altLang="zh-CN" dirty="0"/>
              <a:t>ID</a:t>
            </a:r>
            <a:r>
              <a:rPr lang="zh-CN" altLang="en-US" dirty="0"/>
              <a:t>变量定义如代码清单</a:t>
            </a:r>
            <a:r>
              <a:rPr lang="en-US" altLang="zh-CN" dirty="0"/>
              <a:t>3~5</a:t>
            </a:r>
            <a:r>
              <a:rPr lang="zh-CN" altLang="en-US" dirty="0"/>
              <a:t>所示。</a:t>
            </a:r>
          </a:p>
        </p:txBody>
      </p:sp>
      <p:sp>
        <p:nvSpPr>
          <p:cNvPr id="17" name="矩形 16"/>
          <p:cNvSpPr/>
          <p:nvPr/>
        </p:nvSpPr>
        <p:spPr>
          <a:xfrm>
            <a:off x="273445" y="4168642"/>
            <a:ext cx="11652531" cy="15232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99636" y="5942292"/>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309335" y="4397123"/>
            <a:ext cx="5866536" cy="1433276"/>
          </a:xfrm>
        </p:spPr>
        <p:txBody>
          <a:bodyPr>
            <a:noAutofit/>
          </a:bodyPr>
          <a:lstStyle/>
          <a:p>
            <a:pPr marL="0" indent="456971">
              <a:lnSpc>
                <a:spcPct val="135000"/>
              </a:lnSpc>
              <a:buClr>
                <a:schemeClr val="tx2">
                  <a:lumMod val="75000"/>
                </a:schemeClr>
              </a:buClr>
              <a:buNone/>
            </a:pPr>
            <a:r>
              <a:rPr lang="zh-CN" altLang="en-US" dirty="0"/>
              <a:t> </a:t>
            </a:r>
            <a:r>
              <a:rPr lang="en-US" altLang="zh-CN" dirty="0"/>
              <a:t>1 /* </a:t>
            </a:r>
            <a:r>
              <a:rPr lang="zh-CN" altLang="en-US" dirty="0"/>
              <a:t>定义任务</a:t>
            </a:r>
            <a:r>
              <a:rPr lang="en-US" altLang="zh-CN" dirty="0"/>
              <a:t>ID</a:t>
            </a:r>
            <a:r>
              <a:rPr lang="zh-CN" altLang="en-US" dirty="0"/>
              <a:t>变量 *</a:t>
            </a:r>
            <a:r>
              <a:rPr lang="en-US" altLang="zh-CN" dirty="0"/>
              <a:t>/</a:t>
            </a:r>
          </a:p>
          <a:p>
            <a:pPr marL="0" indent="456971">
              <a:lnSpc>
                <a:spcPct val="135000"/>
              </a:lnSpc>
              <a:buClr>
                <a:schemeClr val="tx2">
                  <a:lumMod val="75000"/>
                </a:schemeClr>
              </a:buClr>
              <a:buNone/>
            </a:pPr>
            <a:r>
              <a:rPr lang="en-US" altLang="zh-CN" dirty="0"/>
              <a:t> 2 UINT32 Test1_Task_Handle;</a:t>
            </a:r>
          </a:p>
        </p:txBody>
      </p:sp>
      <p:sp>
        <p:nvSpPr>
          <p:cNvPr id="13" name="内容占位符 2"/>
          <p:cNvSpPr>
            <a:spLocks noGrp="1"/>
          </p:cNvSpPr>
          <p:nvPr>
            <p:ph idx="1"/>
          </p:nvPr>
        </p:nvSpPr>
        <p:spPr>
          <a:xfrm>
            <a:off x="3735030" y="3655085"/>
            <a:ext cx="4264980" cy="500405"/>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a:t>3~5  </a:t>
            </a:r>
            <a:r>
              <a:rPr lang="zh-CN" altLang="en-US" b="1" dirty="0"/>
              <a:t>定义任务</a:t>
            </a:r>
            <a:r>
              <a:rPr lang="en-US" altLang="zh-CN" b="1" dirty="0"/>
              <a:t>ID</a:t>
            </a:r>
            <a:r>
              <a:rPr lang="zh-CN" altLang="en-US" b="1" dirty="0"/>
              <a:t>变量</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5187647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151993"/>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26695"/>
            <a:ext cx="11500210" cy="533122"/>
          </a:xfrm>
        </p:spPr>
        <p:txBody>
          <a:bodyPr>
            <a:normAutofit/>
          </a:bodyPr>
          <a:lstStyle/>
          <a:p>
            <a:pPr marL="0" indent="456971">
              <a:lnSpc>
                <a:spcPct val="135000"/>
              </a:lnSpc>
              <a:buClr>
                <a:schemeClr val="tx2">
                  <a:lumMod val="75000"/>
                </a:schemeClr>
              </a:buClr>
              <a:buNone/>
            </a:pPr>
            <a:r>
              <a:rPr lang="zh-CN" altLang="en-US" b="1" dirty="0"/>
              <a:t>任务控制块</a:t>
            </a:r>
          </a:p>
        </p:txBody>
      </p:sp>
      <p:sp>
        <p:nvSpPr>
          <p:cNvPr id="102" name="内容占位符 2"/>
          <p:cNvSpPr>
            <a:spLocks noGrp="1"/>
          </p:cNvSpPr>
          <p:nvPr>
            <p:ph idx="1"/>
          </p:nvPr>
        </p:nvSpPr>
        <p:spPr>
          <a:xfrm>
            <a:off x="299637" y="1351137"/>
            <a:ext cx="11584549" cy="990084"/>
          </a:xfrm>
        </p:spPr>
        <p:txBody>
          <a:bodyPr>
            <a:noAutofit/>
          </a:bodyPr>
          <a:lstStyle/>
          <a:p>
            <a:pPr marL="0" indent="456971">
              <a:lnSpc>
                <a:spcPct val="130000"/>
              </a:lnSpc>
              <a:buClr>
                <a:schemeClr val="tx2">
                  <a:lumMod val="75000"/>
                </a:schemeClr>
              </a:buClr>
              <a:buNone/>
            </a:pPr>
            <a:r>
              <a:rPr lang="zh-CN" altLang="en-US" sz="1599" dirty="0"/>
              <a:t>每一个任务都含有一个</a:t>
            </a:r>
            <a:r>
              <a:rPr lang="zh-CN" altLang="en-US" sz="1599" b="1" dirty="0">
                <a:solidFill>
                  <a:srgbClr val="C00000"/>
                </a:solidFill>
              </a:rPr>
              <a:t>任务控制块（</a:t>
            </a:r>
            <a:r>
              <a:rPr lang="en-US" altLang="zh-CN" sz="1599" b="1" dirty="0">
                <a:solidFill>
                  <a:srgbClr val="C00000"/>
                </a:solidFill>
              </a:rPr>
              <a:t>Task Control Block</a:t>
            </a:r>
            <a:r>
              <a:rPr lang="zh-CN" altLang="en-US" sz="1599" b="1" dirty="0">
                <a:solidFill>
                  <a:srgbClr val="C00000"/>
                </a:solidFill>
              </a:rPr>
              <a:t>，</a:t>
            </a:r>
            <a:r>
              <a:rPr lang="en-US" altLang="zh-CN" sz="1599" b="1" dirty="0">
                <a:solidFill>
                  <a:srgbClr val="C00000"/>
                </a:solidFill>
              </a:rPr>
              <a:t>TCB</a:t>
            </a:r>
            <a:r>
              <a:rPr lang="zh-CN" altLang="en-US" sz="1599" b="1" dirty="0">
                <a:solidFill>
                  <a:srgbClr val="C00000"/>
                </a:solidFill>
              </a:rPr>
              <a:t>）</a:t>
            </a:r>
            <a:r>
              <a:rPr lang="zh-CN" altLang="en-US" sz="1599" dirty="0"/>
              <a:t>。</a:t>
            </a:r>
            <a:r>
              <a:rPr lang="en-US" altLang="zh-CN" sz="1599" dirty="0"/>
              <a:t>TCB</a:t>
            </a:r>
            <a:r>
              <a:rPr lang="zh-CN" altLang="en-US" sz="1599" dirty="0"/>
              <a:t>包含了</a:t>
            </a:r>
            <a:r>
              <a:rPr lang="zh-CN" altLang="en-US" sz="1599" b="1" dirty="0">
                <a:solidFill>
                  <a:srgbClr val="FF0000"/>
                </a:solidFill>
              </a:rPr>
              <a:t>任务栈指针（</a:t>
            </a:r>
            <a:r>
              <a:rPr lang="en-US" altLang="zh-CN" sz="1599" b="1" dirty="0">
                <a:solidFill>
                  <a:srgbClr val="FF0000"/>
                </a:solidFill>
              </a:rPr>
              <a:t>Stack Pointer</a:t>
            </a:r>
            <a:r>
              <a:rPr lang="zh-CN" altLang="en-US" sz="1599" b="1" dirty="0">
                <a:solidFill>
                  <a:srgbClr val="FF0000"/>
                </a:solidFill>
              </a:rPr>
              <a:t>）、任务状态、任务优先级、任务</a:t>
            </a:r>
            <a:r>
              <a:rPr lang="en-US" altLang="zh-CN" sz="1599" b="1" dirty="0">
                <a:solidFill>
                  <a:srgbClr val="FF0000"/>
                </a:solidFill>
              </a:rPr>
              <a:t>ID</a:t>
            </a:r>
            <a:r>
              <a:rPr lang="zh-CN" altLang="en-US" sz="1599" b="1" dirty="0">
                <a:solidFill>
                  <a:srgbClr val="FF0000"/>
                </a:solidFill>
              </a:rPr>
              <a:t>、任务名及任务栈大小</a:t>
            </a:r>
            <a:r>
              <a:rPr lang="zh-CN" altLang="en-US" sz="1599" dirty="0"/>
              <a:t>等信息，还可以反映出每个任务的运行情况。任务控制块的内容如代码清单</a:t>
            </a:r>
            <a:r>
              <a:rPr lang="en-US" altLang="zh-CN" sz="1599" dirty="0"/>
              <a:t>3~6</a:t>
            </a:r>
            <a:r>
              <a:rPr lang="zh-CN" altLang="en-US" sz="1599" dirty="0"/>
              <a:t>所示，相关概念说明如下。</a:t>
            </a:r>
          </a:p>
        </p:txBody>
      </p:sp>
      <p:sp>
        <p:nvSpPr>
          <p:cNvPr id="17" name="矩形 16"/>
          <p:cNvSpPr/>
          <p:nvPr/>
        </p:nvSpPr>
        <p:spPr>
          <a:xfrm>
            <a:off x="0" y="2665441"/>
            <a:ext cx="12192000" cy="40392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19353" y="2615303"/>
            <a:ext cx="6039193" cy="4242697"/>
          </a:xfrm>
        </p:spPr>
        <p:txBody>
          <a:bodyPr>
            <a:noAutofit/>
          </a:bodyPr>
          <a:lstStyle/>
          <a:p>
            <a:pPr marL="0" indent="456971">
              <a:lnSpc>
                <a:spcPct val="110000"/>
              </a:lnSpc>
              <a:spcBef>
                <a:spcPts val="0"/>
              </a:spcBef>
              <a:buClr>
                <a:schemeClr val="tx2">
                  <a:lumMod val="75000"/>
                </a:schemeClr>
              </a:buClr>
              <a:buNone/>
            </a:pPr>
            <a:r>
              <a:rPr lang="en-US" altLang="zh-CN" sz="1400" b="1" dirty="0"/>
              <a:t>typedef </a:t>
            </a:r>
            <a:r>
              <a:rPr lang="en-US" altLang="zh-CN" sz="1400" b="1" dirty="0" err="1"/>
              <a:t>struct</a:t>
            </a:r>
            <a:r>
              <a:rPr lang="en-US" altLang="zh-CN" sz="1400" b="1" dirty="0"/>
              <a:t> </a:t>
            </a:r>
            <a:r>
              <a:rPr lang="en-US" altLang="zh-CN" sz="1400" b="1" dirty="0" err="1"/>
              <a:t>tagTaskCB</a:t>
            </a:r>
            <a:r>
              <a:rPr lang="en-US" altLang="zh-CN" sz="1400" b="1" dirty="0"/>
              <a:t> {</a:t>
            </a:r>
          </a:p>
          <a:p>
            <a:pPr marL="0" indent="456971">
              <a:lnSpc>
                <a:spcPct val="110000"/>
              </a:lnSpc>
              <a:buClr>
                <a:schemeClr val="tx2">
                  <a:lumMod val="75000"/>
                </a:schemeClr>
              </a:buClr>
              <a:buNone/>
            </a:pPr>
            <a:r>
              <a:rPr lang="en-US" altLang="zh-CN" sz="1400" b="1" dirty="0"/>
              <a:t>VOID               *</a:t>
            </a:r>
            <a:r>
              <a:rPr lang="en-US" altLang="zh-CN" sz="1400" b="1" dirty="0" err="1"/>
              <a:t>pStackPointer</a:t>
            </a:r>
            <a:r>
              <a:rPr lang="en-US" altLang="zh-CN" sz="1400" b="1" dirty="0"/>
              <a:t>; 	/**&lt;</a:t>
            </a:r>
            <a:r>
              <a:rPr lang="zh-CN" altLang="en-US" sz="1400" b="1" dirty="0"/>
              <a:t>任务栈指针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usTaskStatus</a:t>
            </a:r>
            <a:r>
              <a:rPr lang="en-US" altLang="zh-CN" sz="1400" b="1" dirty="0"/>
              <a:t>;	/**&lt;</a:t>
            </a:r>
            <a:r>
              <a:rPr lang="zh-CN" altLang="en-US" sz="1400" b="1" dirty="0"/>
              <a:t>任务状态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usPriority</a:t>
            </a:r>
            <a:r>
              <a:rPr lang="en-US" altLang="zh-CN" sz="1400" b="1" dirty="0"/>
              <a:t>;		/**&lt;</a:t>
            </a:r>
            <a:r>
              <a:rPr lang="zh-CN" altLang="en-US" sz="1400" b="1" dirty="0"/>
              <a:t>任务优先级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uwStackSize</a:t>
            </a:r>
            <a:r>
              <a:rPr lang="en-US" altLang="zh-CN" sz="1400" b="1" dirty="0"/>
              <a:t>;    	/**&lt;</a:t>
            </a:r>
            <a:r>
              <a:rPr lang="zh-CN" altLang="en-US" sz="1400" b="1" dirty="0"/>
              <a:t>任务栈大小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uwTopOfStack</a:t>
            </a:r>
            <a:r>
              <a:rPr lang="en-US" altLang="zh-CN" sz="1400" b="1" dirty="0"/>
              <a:t>;   	/**&lt;</a:t>
            </a:r>
            <a:r>
              <a:rPr lang="zh-CN" altLang="en-US" sz="1400" b="1" dirty="0"/>
              <a:t>任务栈顶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uwTaskID</a:t>
            </a:r>
            <a:r>
              <a:rPr lang="en-US" altLang="zh-CN" sz="1400" b="1" dirty="0"/>
              <a:t>;       	/**&lt;</a:t>
            </a:r>
            <a:r>
              <a:rPr lang="zh-CN" altLang="en-US" sz="1400" b="1" dirty="0"/>
              <a:t>任务</a:t>
            </a:r>
            <a:r>
              <a:rPr lang="en-US" altLang="zh-CN" sz="1400" b="1" dirty="0"/>
              <a:t>ID         */</a:t>
            </a:r>
          </a:p>
          <a:p>
            <a:pPr marL="0" indent="456971">
              <a:lnSpc>
                <a:spcPct val="110000"/>
              </a:lnSpc>
              <a:buClr>
                <a:schemeClr val="tx2">
                  <a:lumMod val="75000"/>
                </a:schemeClr>
              </a:buClr>
              <a:buNone/>
            </a:pPr>
            <a:r>
              <a:rPr lang="en-US" altLang="zh-CN" sz="1400" b="1" dirty="0"/>
              <a:t>TSK_ENTRY_FUNC   </a:t>
            </a:r>
            <a:r>
              <a:rPr lang="en-US" altLang="zh-CN" sz="1400" b="1" dirty="0" err="1"/>
              <a:t>pfnTaskEntry</a:t>
            </a:r>
            <a:r>
              <a:rPr lang="en-US" altLang="zh-CN" sz="1400" b="1" dirty="0"/>
              <a:t>;   	/**&lt;</a:t>
            </a:r>
            <a:r>
              <a:rPr lang="zh-CN" altLang="en-US" sz="1400" b="1" dirty="0"/>
              <a:t>任务入口函数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pTaskSem</a:t>
            </a:r>
            <a:r>
              <a:rPr lang="en-US" altLang="zh-CN" sz="1400" b="1" dirty="0"/>
              <a:t>;      /**&lt;</a:t>
            </a:r>
            <a:r>
              <a:rPr lang="zh-CN" altLang="en-US" sz="1400" b="1" dirty="0"/>
              <a:t>任务阻塞在哪个信号量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pTaskMux</a:t>
            </a:r>
            <a:r>
              <a:rPr lang="en-US" altLang="zh-CN" sz="1400" b="1" dirty="0"/>
              <a:t>;     /**&lt;</a:t>
            </a:r>
            <a:r>
              <a:rPr lang="zh-CN" altLang="en-US" sz="1400" b="1" dirty="0"/>
              <a:t>任务阻塞在哪个互斥锁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uwArg</a:t>
            </a:r>
            <a:r>
              <a:rPr lang="en-US" altLang="zh-CN" sz="1400" b="1" dirty="0"/>
              <a:t>;          	/**&lt;</a:t>
            </a:r>
            <a:r>
              <a:rPr lang="zh-CN" altLang="en-US" sz="1400" b="1" dirty="0"/>
              <a:t>参数            *</a:t>
            </a:r>
            <a:r>
              <a:rPr lang="en-US" altLang="zh-CN" sz="1400" b="1" dirty="0"/>
              <a:t>/</a:t>
            </a:r>
          </a:p>
          <a:p>
            <a:pPr marL="0" indent="456971">
              <a:lnSpc>
                <a:spcPct val="110000"/>
              </a:lnSpc>
              <a:buClr>
                <a:schemeClr val="tx2">
                  <a:lumMod val="75000"/>
                </a:schemeClr>
              </a:buClr>
              <a:buNone/>
            </a:pPr>
            <a:r>
              <a:rPr lang="en-US" altLang="zh-CN" sz="1400" b="1" dirty="0"/>
              <a:t>CHAR               *</a:t>
            </a:r>
            <a:r>
              <a:rPr lang="en-US" altLang="zh-CN" sz="1400" b="1" dirty="0" err="1"/>
              <a:t>pcTaskName</a:t>
            </a:r>
            <a:r>
              <a:rPr lang="en-US" altLang="zh-CN" sz="1400" b="1" dirty="0"/>
              <a:t>;    	/**&lt;</a:t>
            </a:r>
            <a:r>
              <a:rPr lang="zh-CN" altLang="en-US" sz="1400" b="1" dirty="0"/>
              <a:t>任务名称         *</a:t>
            </a:r>
            <a:r>
              <a:rPr lang="en-US" altLang="zh-CN" sz="1400" b="1" dirty="0"/>
              <a:t>/</a:t>
            </a:r>
          </a:p>
        </p:txBody>
      </p:sp>
      <p:sp>
        <p:nvSpPr>
          <p:cNvPr id="13" name="内容占位符 2"/>
          <p:cNvSpPr>
            <a:spLocks noGrp="1"/>
          </p:cNvSpPr>
          <p:nvPr>
            <p:ph idx="1"/>
          </p:nvPr>
        </p:nvSpPr>
        <p:spPr>
          <a:xfrm>
            <a:off x="2785685" y="2161650"/>
            <a:ext cx="6092827" cy="503791"/>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a:t>3~6  </a:t>
            </a:r>
            <a:r>
              <a:rPr lang="zh-CN" altLang="en-US" b="1" dirty="0"/>
              <a:t>任务控制块（</a:t>
            </a:r>
            <a:r>
              <a:rPr lang="en-US" altLang="zh-CN" b="1" dirty="0"/>
              <a:t>los_tack.ph</a:t>
            </a:r>
            <a:r>
              <a:rPr lang="zh-CN" altLang="en-US" b="1" dirty="0"/>
              <a:t>）内容</a:t>
            </a:r>
          </a:p>
        </p:txBody>
      </p:sp>
      <p:sp>
        <p:nvSpPr>
          <p:cNvPr id="10" name="内容占位符 2"/>
          <p:cNvSpPr>
            <a:spLocks noGrp="1"/>
          </p:cNvSpPr>
          <p:nvPr>
            <p:ph idx="1"/>
          </p:nvPr>
        </p:nvSpPr>
        <p:spPr>
          <a:xfrm>
            <a:off x="6324481" y="2746328"/>
            <a:ext cx="5886872" cy="2439189"/>
          </a:xfrm>
        </p:spPr>
        <p:txBody>
          <a:bodyPr>
            <a:noAutofit/>
          </a:bodyPr>
          <a:lstStyle/>
          <a:p>
            <a:pPr marL="0" indent="456971">
              <a:lnSpc>
                <a:spcPct val="110000"/>
              </a:lnSpc>
              <a:buClr>
                <a:schemeClr val="tx2">
                  <a:lumMod val="75000"/>
                </a:schemeClr>
              </a:buClr>
              <a:buNone/>
            </a:pPr>
            <a:r>
              <a:rPr lang="en-US" altLang="zh-CN" sz="1400" b="1" dirty="0"/>
              <a:t>LOS_DL_LIST       </a:t>
            </a:r>
            <a:r>
              <a:rPr lang="en-US" altLang="zh-CN" sz="1400" b="1" dirty="0" err="1"/>
              <a:t>stPendList</a:t>
            </a:r>
            <a:r>
              <a:rPr lang="en-US" altLang="zh-CN" sz="1400" b="1" dirty="0"/>
              <a:t>;	/**&lt;</a:t>
            </a:r>
            <a:r>
              <a:rPr lang="zh-CN" altLang="en-US" sz="1400" b="1" dirty="0"/>
              <a:t>挂起列表         *</a:t>
            </a:r>
            <a:r>
              <a:rPr lang="en-US" altLang="zh-CN" sz="1400" b="1" dirty="0"/>
              <a:t>/</a:t>
            </a:r>
          </a:p>
          <a:p>
            <a:pPr marL="0" indent="456971">
              <a:lnSpc>
                <a:spcPct val="110000"/>
              </a:lnSpc>
              <a:buClr>
                <a:schemeClr val="tx2">
                  <a:lumMod val="75000"/>
                </a:schemeClr>
              </a:buClr>
              <a:buNone/>
            </a:pPr>
            <a:r>
              <a:rPr lang="en-US" altLang="zh-CN" sz="1400" b="1" dirty="0"/>
              <a:t>LOS_DL_LIST       </a:t>
            </a:r>
            <a:r>
              <a:rPr lang="en-US" altLang="zh-CN" sz="1400" b="1" dirty="0" err="1"/>
              <a:t>stTimerList</a:t>
            </a:r>
            <a:r>
              <a:rPr lang="en-US" altLang="zh-CN" sz="1400" b="1" dirty="0"/>
              <a:t>;    	/**&lt;</a:t>
            </a:r>
            <a:r>
              <a:rPr lang="zh-CN" altLang="en-US" sz="1400" b="1" dirty="0"/>
              <a:t>时间相关列表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uwIdxRollNum</a:t>
            </a:r>
            <a:r>
              <a:rPr lang="en-US" altLang="zh-CN" sz="1400" b="1" dirty="0"/>
              <a:t>;</a:t>
            </a:r>
          </a:p>
          <a:p>
            <a:pPr marL="0" indent="456971">
              <a:lnSpc>
                <a:spcPct val="110000"/>
              </a:lnSpc>
              <a:buClr>
                <a:schemeClr val="tx2">
                  <a:lumMod val="75000"/>
                </a:schemeClr>
              </a:buClr>
              <a:buNone/>
            </a:pPr>
            <a:r>
              <a:rPr lang="en-US" altLang="zh-CN" sz="1400" b="1" dirty="0"/>
              <a:t>EVENT_CB_S        </a:t>
            </a:r>
            <a:r>
              <a:rPr lang="en-US" altLang="zh-CN" sz="1400" b="1" dirty="0" err="1"/>
              <a:t>uwEvent</a:t>
            </a:r>
            <a:r>
              <a:rPr lang="en-US" altLang="zh-CN" sz="1400" b="1" dirty="0"/>
              <a:t>;	/**&lt;</a:t>
            </a:r>
            <a:r>
              <a:rPr lang="zh-CN" altLang="en-US" sz="1400" b="1" dirty="0"/>
              <a:t>事件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uwEventMask</a:t>
            </a:r>
            <a:r>
              <a:rPr lang="en-US" altLang="zh-CN" sz="1400" b="1" dirty="0"/>
              <a:t>;    	/**&lt;</a:t>
            </a:r>
            <a:r>
              <a:rPr lang="zh-CN" altLang="en-US" sz="1400" b="1" dirty="0"/>
              <a:t>事件掩码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uwEventMode</a:t>
            </a:r>
            <a:r>
              <a:rPr lang="en-US" altLang="zh-CN" sz="1400" b="1" dirty="0"/>
              <a:t>;    	/**&lt;</a:t>
            </a:r>
            <a:r>
              <a:rPr lang="zh-CN" altLang="en-US" sz="1400" b="1" dirty="0"/>
              <a:t>事件模式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puwMsg</a:t>
            </a:r>
            <a:r>
              <a:rPr lang="en-US" altLang="zh-CN" sz="1400" b="1" dirty="0"/>
              <a:t>;        	/**&lt;</a:t>
            </a:r>
            <a:r>
              <a:rPr lang="zh-CN" altLang="en-US" sz="1400" b="1" dirty="0"/>
              <a:t>内存分配给队列    *</a:t>
            </a:r>
            <a:r>
              <a:rPr lang="en-US" altLang="zh-CN" sz="1400" b="1" dirty="0"/>
              <a:t>/</a:t>
            </a:r>
          </a:p>
          <a:p>
            <a:pPr marL="0" indent="456971">
              <a:lnSpc>
                <a:spcPct val="110000"/>
              </a:lnSpc>
              <a:buClr>
                <a:schemeClr val="tx2">
                  <a:lumMod val="75000"/>
                </a:schemeClr>
              </a:buClr>
              <a:buNone/>
            </a:pPr>
            <a:r>
              <a:rPr lang="en-US" altLang="zh-CN" sz="1400" b="1" dirty="0"/>
              <a:t>} LOS_TASK_CB;</a:t>
            </a:r>
          </a:p>
        </p:txBody>
      </p:sp>
      <p:cxnSp>
        <p:nvCxnSpPr>
          <p:cNvPr id="5" name="直接连接符 4"/>
          <p:cNvCxnSpPr>
            <a:endCxn id="17" idx="2"/>
          </p:cNvCxnSpPr>
          <p:nvPr/>
        </p:nvCxnSpPr>
        <p:spPr>
          <a:xfrm>
            <a:off x="6096000" y="3352840"/>
            <a:ext cx="0" cy="3351847"/>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677118" y="6387790"/>
            <a:ext cx="837764" cy="25220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007952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sz="2000" b="1" dirty="0"/>
              <a:t>任务控制块</a:t>
            </a:r>
          </a:p>
        </p:txBody>
      </p:sp>
      <p:sp>
        <p:nvSpPr>
          <p:cNvPr id="102" name="内容占位符 2"/>
          <p:cNvSpPr>
            <a:spLocks noGrp="1"/>
          </p:cNvSpPr>
          <p:nvPr>
            <p:ph idx="1"/>
          </p:nvPr>
        </p:nvSpPr>
        <p:spPr>
          <a:xfrm>
            <a:off x="341806" y="1981954"/>
            <a:ext cx="11584549" cy="2360970"/>
          </a:xfrm>
        </p:spPr>
        <p:txBody>
          <a:bodyPr>
            <a:noAutofit/>
          </a:bodyPr>
          <a:lstStyle/>
          <a:p>
            <a:pPr>
              <a:lnSpc>
                <a:spcPct val="130000"/>
              </a:lnSpc>
              <a:buClr>
                <a:srgbClr val="69A12B"/>
              </a:buClr>
              <a:buFont typeface="Wingdings" panose="05000000000000000000" pitchFamily="2" charset="2"/>
              <a:buChar char="u"/>
            </a:pPr>
            <a:r>
              <a:rPr lang="zh-CN" altLang="en-US" b="1" dirty="0">
                <a:solidFill>
                  <a:srgbClr val="C00000"/>
                </a:solidFill>
              </a:rPr>
              <a:t>任务入口函数</a:t>
            </a:r>
            <a:r>
              <a:rPr lang="zh-CN" altLang="en-US" dirty="0"/>
              <a:t>：每个新任务得到调度后都将执行的函数。</a:t>
            </a:r>
            <a:endParaRPr lang="en-US" altLang="zh-CN" dirty="0"/>
          </a:p>
          <a:p>
            <a:pPr>
              <a:lnSpc>
                <a:spcPct val="130000"/>
              </a:lnSpc>
              <a:buClr>
                <a:srgbClr val="69A12B"/>
              </a:buClr>
              <a:buFont typeface="Wingdings" panose="05000000000000000000" pitchFamily="2" charset="2"/>
              <a:buChar char="u"/>
            </a:pPr>
            <a:r>
              <a:rPr lang="zh-CN" altLang="en-US" b="1" dirty="0">
                <a:solidFill>
                  <a:srgbClr val="C00000"/>
                </a:solidFill>
              </a:rPr>
              <a:t>任务优先级</a:t>
            </a:r>
            <a:r>
              <a:rPr lang="zh-CN" altLang="en-US" dirty="0"/>
              <a:t>：优先级表示任务执行的优先顺序。</a:t>
            </a:r>
          </a:p>
          <a:p>
            <a:pPr>
              <a:lnSpc>
                <a:spcPct val="130000"/>
              </a:lnSpc>
              <a:buClr>
                <a:srgbClr val="69A12B"/>
              </a:buClr>
              <a:buFont typeface="Wingdings" panose="05000000000000000000" pitchFamily="2" charset="2"/>
              <a:buChar char="u"/>
            </a:pPr>
            <a:r>
              <a:rPr lang="zh-CN" altLang="en-US" b="1" dirty="0">
                <a:solidFill>
                  <a:srgbClr val="C00000"/>
                </a:solidFill>
              </a:rPr>
              <a:t>任务栈</a:t>
            </a:r>
            <a:r>
              <a:rPr lang="zh-CN" altLang="en-US" dirty="0"/>
              <a:t>：每一个任务都拥有一个独立的栈空间，称为任务栈。</a:t>
            </a:r>
          </a:p>
          <a:p>
            <a:pPr>
              <a:lnSpc>
                <a:spcPct val="130000"/>
              </a:lnSpc>
              <a:buClr>
                <a:srgbClr val="69A12B"/>
              </a:buClr>
              <a:buFont typeface="Wingdings" panose="05000000000000000000" pitchFamily="2" charset="2"/>
              <a:buChar char="u"/>
            </a:pPr>
            <a:r>
              <a:rPr lang="zh-CN" altLang="en-US" b="1" dirty="0">
                <a:solidFill>
                  <a:srgbClr val="C00000"/>
                </a:solidFill>
              </a:rPr>
              <a:t>任务上下文</a:t>
            </a:r>
            <a:r>
              <a:rPr lang="zh-CN" altLang="en-US" dirty="0"/>
              <a:t>：任务在运行过程中使用到的一些资源，如寄存器等。</a:t>
            </a:r>
          </a:p>
        </p:txBody>
      </p:sp>
      <p:sp>
        <p:nvSpPr>
          <p:cNvPr id="15" name="等腰三角形 14"/>
          <p:cNvSpPr/>
          <p:nvPr/>
        </p:nvSpPr>
        <p:spPr>
          <a:xfrm>
            <a:off x="155494"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椭圆 15"/>
          <p:cNvSpPr/>
          <p:nvPr/>
        </p:nvSpPr>
        <p:spPr>
          <a:xfrm>
            <a:off x="15549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椭圆 17"/>
          <p:cNvSpPr/>
          <p:nvPr/>
        </p:nvSpPr>
        <p:spPr>
          <a:xfrm>
            <a:off x="51090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椭圆 19"/>
          <p:cNvSpPr/>
          <p:nvPr/>
        </p:nvSpPr>
        <p:spPr>
          <a:xfrm>
            <a:off x="89171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椭圆 21"/>
          <p:cNvSpPr/>
          <p:nvPr/>
        </p:nvSpPr>
        <p:spPr>
          <a:xfrm>
            <a:off x="124712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椭圆 22"/>
          <p:cNvSpPr/>
          <p:nvPr/>
        </p:nvSpPr>
        <p:spPr>
          <a:xfrm>
            <a:off x="161206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4" name="椭圆 23"/>
          <p:cNvSpPr/>
          <p:nvPr/>
        </p:nvSpPr>
        <p:spPr>
          <a:xfrm>
            <a:off x="196747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5" name="椭圆 24"/>
          <p:cNvSpPr/>
          <p:nvPr/>
        </p:nvSpPr>
        <p:spPr>
          <a:xfrm>
            <a:off x="2348278"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椭圆 25"/>
          <p:cNvSpPr/>
          <p:nvPr/>
        </p:nvSpPr>
        <p:spPr>
          <a:xfrm>
            <a:off x="270369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7" name="椭圆 26"/>
          <p:cNvSpPr/>
          <p:nvPr/>
        </p:nvSpPr>
        <p:spPr>
          <a:xfrm>
            <a:off x="3074974"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8" name="椭圆 27"/>
          <p:cNvSpPr/>
          <p:nvPr/>
        </p:nvSpPr>
        <p:spPr>
          <a:xfrm>
            <a:off x="343038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9" name="椭圆 28"/>
          <p:cNvSpPr/>
          <p:nvPr/>
        </p:nvSpPr>
        <p:spPr>
          <a:xfrm>
            <a:off x="381119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0" name="椭圆 29"/>
          <p:cNvSpPr/>
          <p:nvPr/>
        </p:nvSpPr>
        <p:spPr>
          <a:xfrm>
            <a:off x="416660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1" name="椭圆 30"/>
          <p:cNvSpPr/>
          <p:nvPr/>
        </p:nvSpPr>
        <p:spPr>
          <a:xfrm>
            <a:off x="453154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2" name="椭圆 31"/>
          <p:cNvSpPr/>
          <p:nvPr/>
        </p:nvSpPr>
        <p:spPr>
          <a:xfrm>
            <a:off x="488695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3" name="椭圆 32"/>
          <p:cNvSpPr/>
          <p:nvPr/>
        </p:nvSpPr>
        <p:spPr>
          <a:xfrm>
            <a:off x="526775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4" name="椭圆 33"/>
          <p:cNvSpPr/>
          <p:nvPr/>
        </p:nvSpPr>
        <p:spPr>
          <a:xfrm>
            <a:off x="562317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5" name="椭圆 34"/>
          <p:cNvSpPr/>
          <p:nvPr/>
        </p:nvSpPr>
        <p:spPr>
          <a:xfrm>
            <a:off x="15549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6" name="椭圆 35"/>
          <p:cNvSpPr/>
          <p:nvPr/>
        </p:nvSpPr>
        <p:spPr>
          <a:xfrm>
            <a:off x="51090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7" name="椭圆 36"/>
          <p:cNvSpPr/>
          <p:nvPr/>
        </p:nvSpPr>
        <p:spPr>
          <a:xfrm>
            <a:off x="89171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8" name="椭圆 37"/>
          <p:cNvSpPr/>
          <p:nvPr/>
        </p:nvSpPr>
        <p:spPr>
          <a:xfrm>
            <a:off x="124712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9" name="椭圆 38"/>
          <p:cNvSpPr/>
          <p:nvPr/>
        </p:nvSpPr>
        <p:spPr>
          <a:xfrm>
            <a:off x="161206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0" name="椭圆 39"/>
          <p:cNvSpPr/>
          <p:nvPr/>
        </p:nvSpPr>
        <p:spPr>
          <a:xfrm>
            <a:off x="196747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1" name="椭圆 40"/>
          <p:cNvSpPr/>
          <p:nvPr/>
        </p:nvSpPr>
        <p:spPr>
          <a:xfrm>
            <a:off x="2348278"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2" name="椭圆 41"/>
          <p:cNvSpPr/>
          <p:nvPr/>
        </p:nvSpPr>
        <p:spPr>
          <a:xfrm>
            <a:off x="270369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3" name="椭圆 42"/>
          <p:cNvSpPr/>
          <p:nvPr/>
        </p:nvSpPr>
        <p:spPr>
          <a:xfrm>
            <a:off x="3074974"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4" name="椭圆 43"/>
          <p:cNvSpPr/>
          <p:nvPr/>
        </p:nvSpPr>
        <p:spPr>
          <a:xfrm>
            <a:off x="343038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5" name="椭圆 44"/>
          <p:cNvSpPr/>
          <p:nvPr/>
        </p:nvSpPr>
        <p:spPr>
          <a:xfrm>
            <a:off x="381119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6" name="椭圆 45"/>
          <p:cNvSpPr/>
          <p:nvPr/>
        </p:nvSpPr>
        <p:spPr>
          <a:xfrm>
            <a:off x="416660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7" name="椭圆 46"/>
          <p:cNvSpPr/>
          <p:nvPr/>
        </p:nvSpPr>
        <p:spPr>
          <a:xfrm>
            <a:off x="453154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8" name="椭圆 47"/>
          <p:cNvSpPr/>
          <p:nvPr/>
        </p:nvSpPr>
        <p:spPr>
          <a:xfrm>
            <a:off x="488695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9" name="椭圆 48"/>
          <p:cNvSpPr/>
          <p:nvPr/>
        </p:nvSpPr>
        <p:spPr>
          <a:xfrm>
            <a:off x="526775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0" name="椭圆 49"/>
          <p:cNvSpPr/>
          <p:nvPr/>
        </p:nvSpPr>
        <p:spPr>
          <a:xfrm>
            <a:off x="562317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1" name="椭圆 50"/>
          <p:cNvSpPr/>
          <p:nvPr/>
        </p:nvSpPr>
        <p:spPr>
          <a:xfrm>
            <a:off x="15549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2" name="椭圆 51"/>
          <p:cNvSpPr/>
          <p:nvPr/>
        </p:nvSpPr>
        <p:spPr>
          <a:xfrm>
            <a:off x="51090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3" name="椭圆 52"/>
          <p:cNvSpPr/>
          <p:nvPr/>
        </p:nvSpPr>
        <p:spPr>
          <a:xfrm>
            <a:off x="89171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4" name="椭圆 53"/>
          <p:cNvSpPr/>
          <p:nvPr/>
        </p:nvSpPr>
        <p:spPr>
          <a:xfrm>
            <a:off x="124712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5" name="椭圆 54"/>
          <p:cNvSpPr/>
          <p:nvPr/>
        </p:nvSpPr>
        <p:spPr>
          <a:xfrm>
            <a:off x="161206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6" name="椭圆 55"/>
          <p:cNvSpPr/>
          <p:nvPr/>
        </p:nvSpPr>
        <p:spPr>
          <a:xfrm>
            <a:off x="196747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7" name="椭圆 56"/>
          <p:cNvSpPr/>
          <p:nvPr/>
        </p:nvSpPr>
        <p:spPr>
          <a:xfrm>
            <a:off x="2348278"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8" name="椭圆 57"/>
          <p:cNvSpPr/>
          <p:nvPr/>
        </p:nvSpPr>
        <p:spPr>
          <a:xfrm>
            <a:off x="270369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9" name="椭圆 58"/>
          <p:cNvSpPr/>
          <p:nvPr/>
        </p:nvSpPr>
        <p:spPr>
          <a:xfrm>
            <a:off x="3074974"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0" name="椭圆 59"/>
          <p:cNvSpPr/>
          <p:nvPr/>
        </p:nvSpPr>
        <p:spPr>
          <a:xfrm>
            <a:off x="343038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1" name="椭圆 60"/>
          <p:cNvSpPr/>
          <p:nvPr/>
        </p:nvSpPr>
        <p:spPr>
          <a:xfrm>
            <a:off x="381119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2" name="椭圆 61"/>
          <p:cNvSpPr/>
          <p:nvPr/>
        </p:nvSpPr>
        <p:spPr>
          <a:xfrm>
            <a:off x="416660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3" name="椭圆 62"/>
          <p:cNvSpPr/>
          <p:nvPr/>
        </p:nvSpPr>
        <p:spPr>
          <a:xfrm>
            <a:off x="453154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4" name="椭圆 63"/>
          <p:cNvSpPr/>
          <p:nvPr/>
        </p:nvSpPr>
        <p:spPr>
          <a:xfrm>
            <a:off x="488695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5" name="椭圆 64"/>
          <p:cNvSpPr/>
          <p:nvPr/>
        </p:nvSpPr>
        <p:spPr>
          <a:xfrm>
            <a:off x="526775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6" name="椭圆 65"/>
          <p:cNvSpPr/>
          <p:nvPr/>
        </p:nvSpPr>
        <p:spPr>
          <a:xfrm>
            <a:off x="562317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7" name="椭圆 66"/>
          <p:cNvSpPr/>
          <p:nvPr/>
        </p:nvSpPr>
        <p:spPr>
          <a:xfrm>
            <a:off x="15549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8" name="椭圆 67"/>
          <p:cNvSpPr/>
          <p:nvPr/>
        </p:nvSpPr>
        <p:spPr>
          <a:xfrm>
            <a:off x="51090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9" name="椭圆 68"/>
          <p:cNvSpPr/>
          <p:nvPr/>
        </p:nvSpPr>
        <p:spPr>
          <a:xfrm>
            <a:off x="89171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0" name="椭圆 69"/>
          <p:cNvSpPr/>
          <p:nvPr/>
        </p:nvSpPr>
        <p:spPr>
          <a:xfrm>
            <a:off x="124712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1" name="椭圆 70"/>
          <p:cNvSpPr/>
          <p:nvPr/>
        </p:nvSpPr>
        <p:spPr>
          <a:xfrm>
            <a:off x="161206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2" name="椭圆 71"/>
          <p:cNvSpPr/>
          <p:nvPr/>
        </p:nvSpPr>
        <p:spPr>
          <a:xfrm>
            <a:off x="196747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3" name="椭圆 72"/>
          <p:cNvSpPr/>
          <p:nvPr/>
        </p:nvSpPr>
        <p:spPr>
          <a:xfrm>
            <a:off x="2348278"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4" name="椭圆 73"/>
          <p:cNvSpPr/>
          <p:nvPr/>
        </p:nvSpPr>
        <p:spPr>
          <a:xfrm>
            <a:off x="270369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5" name="椭圆 74"/>
          <p:cNvSpPr/>
          <p:nvPr/>
        </p:nvSpPr>
        <p:spPr>
          <a:xfrm>
            <a:off x="3074974"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6" name="椭圆 75"/>
          <p:cNvSpPr/>
          <p:nvPr/>
        </p:nvSpPr>
        <p:spPr>
          <a:xfrm>
            <a:off x="343038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7" name="椭圆 76"/>
          <p:cNvSpPr/>
          <p:nvPr/>
        </p:nvSpPr>
        <p:spPr>
          <a:xfrm>
            <a:off x="381119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8" name="椭圆 77"/>
          <p:cNvSpPr/>
          <p:nvPr/>
        </p:nvSpPr>
        <p:spPr>
          <a:xfrm>
            <a:off x="416660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9" name="椭圆 78"/>
          <p:cNvSpPr/>
          <p:nvPr/>
        </p:nvSpPr>
        <p:spPr>
          <a:xfrm>
            <a:off x="453154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0" name="椭圆 79"/>
          <p:cNvSpPr/>
          <p:nvPr/>
        </p:nvSpPr>
        <p:spPr>
          <a:xfrm>
            <a:off x="488695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1" name="椭圆 80"/>
          <p:cNvSpPr/>
          <p:nvPr/>
        </p:nvSpPr>
        <p:spPr>
          <a:xfrm>
            <a:off x="526775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2" name="椭圆 81"/>
          <p:cNvSpPr/>
          <p:nvPr/>
        </p:nvSpPr>
        <p:spPr>
          <a:xfrm>
            <a:off x="562317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3" name="等腰三角形 82"/>
          <p:cNvSpPr/>
          <p:nvPr/>
        </p:nvSpPr>
        <p:spPr>
          <a:xfrm>
            <a:off x="56961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4" name="等腰三角形 83"/>
          <p:cNvSpPr/>
          <p:nvPr/>
        </p:nvSpPr>
        <p:spPr>
          <a:xfrm>
            <a:off x="986911"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5" name="等腰三角形 84"/>
          <p:cNvSpPr/>
          <p:nvPr/>
        </p:nvSpPr>
        <p:spPr>
          <a:xfrm>
            <a:off x="140103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6" name="等腰三角形 85"/>
          <p:cNvSpPr/>
          <p:nvPr/>
        </p:nvSpPr>
        <p:spPr>
          <a:xfrm>
            <a:off x="182626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等腰三角形 86"/>
          <p:cNvSpPr/>
          <p:nvPr/>
        </p:nvSpPr>
        <p:spPr>
          <a:xfrm>
            <a:off x="2240383"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8" name="等腰三角形 87"/>
          <p:cNvSpPr/>
          <p:nvPr/>
        </p:nvSpPr>
        <p:spPr>
          <a:xfrm>
            <a:off x="265767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9" name="等腰三角形 88"/>
          <p:cNvSpPr/>
          <p:nvPr/>
        </p:nvSpPr>
        <p:spPr>
          <a:xfrm>
            <a:off x="307180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0" name="等腰三角形 89"/>
          <p:cNvSpPr/>
          <p:nvPr/>
        </p:nvSpPr>
        <p:spPr>
          <a:xfrm>
            <a:off x="349702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1" name="等腰三角形 90"/>
          <p:cNvSpPr/>
          <p:nvPr/>
        </p:nvSpPr>
        <p:spPr>
          <a:xfrm>
            <a:off x="391115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2" name="等腰三角形 91"/>
          <p:cNvSpPr/>
          <p:nvPr/>
        </p:nvSpPr>
        <p:spPr>
          <a:xfrm>
            <a:off x="432844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3" name="等腰三角形 92"/>
          <p:cNvSpPr/>
          <p:nvPr/>
        </p:nvSpPr>
        <p:spPr>
          <a:xfrm>
            <a:off x="474256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4" name="等腰三角形 93"/>
          <p:cNvSpPr/>
          <p:nvPr/>
        </p:nvSpPr>
        <p:spPr>
          <a:xfrm>
            <a:off x="516779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5" name="等腰三角形 94"/>
          <p:cNvSpPr/>
          <p:nvPr/>
        </p:nvSpPr>
        <p:spPr>
          <a:xfrm>
            <a:off x="55819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6" name="椭圆 95"/>
          <p:cNvSpPr/>
          <p:nvPr/>
        </p:nvSpPr>
        <p:spPr>
          <a:xfrm>
            <a:off x="602936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7" name="椭圆 96"/>
          <p:cNvSpPr/>
          <p:nvPr/>
        </p:nvSpPr>
        <p:spPr>
          <a:xfrm>
            <a:off x="641016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椭圆 97"/>
          <p:cNvSpPr/>
          <p:nvPr/>
        </p:nvSpPr>
        <p:spPr>
          <a:xfrm>
            <a:off x="676557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椭圆 98"/>
          <p:cNvSpPr/>
          <p:nvPr/>
        </p:nvSpPr>
        <p:spPr>
          <a:xfrm>
            <a:off x="602936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椭圆 99"/>
          <p:cNvSpPr/>
          <p:nvPr/>
        </p:nvSpPr>
        <p:spPr>
          <a:xfrm>
            <a:off x="641016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椭圆 100"/>
          <p:cNvSpPr/>
          <p:nvPr/>
        </p:nvSpPr>
        <p:spPr>
          <a:xfrm>
            <a:off x="676557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3" name="椭圆 102"/>
          <p:cNvSpPr/>
          <p:nvPr/>
        </p:nvSpPr>
        <p:spPr>
          <a:xfrm>
            <a:off x="602936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4" name="椭圆 103"/>
          <p:cNvSpPr/>
          <p:nvPr/>
        </p:nvSpPr>
        <p:spPr>
          <a:xfrm>
            <a:off x="641016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5" name="椭圆 104"/>
          <p:cNvSpPr/>
          <p:nvPr/>
        </p:nvSpPr>
        <p:spPr>
          <a:xfrm>
            <a:off x="676557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6" name="椭圆 105"/>
          <p:cNvSpPr/>
          <p:nvPr/>
        </p:nvSpPr>
        <p:spPr>
          <a:xfrm>
            <a:off x="602936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7" name="椭圆 106"/>
          <p:cNvSpPr/>
          <p:nvPr/>
        </p:nvSpPr>
        <p:spPr>
          <a:xfrm>
            <a:off x="641016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8" name="椭圆 107"/>
          <p:cNvSpPr/>
          <p:nvPr/>
        </p:nvSpPr>
        <p:spPr>
          <a:xfrm>
            <a:off x="676557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0" name="等腰三角形 109"/>
          <p:cNvSpPr/>
          <p:nvPr/>
        </p:nvSpPr>
        <p:spPr>
          <a:xfrm>
            <a:off x="72130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1" name="椭圆 110"/>
          <p:cNvSpPr/>
          <p:nvPr/>
        </p:nvSpPr>
        <p:spPr>
          <a:xfrm>
            <a:off x="714745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2" name="椭圆 111"/>
          <p:cNvSpPr/>
          <p:nvPr/>
        </p:nvSpPr>
        <p:spPr>
          <a:xfrm>
            <a:off x="750286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3" name="椭圆 112"/>
          <p:cNvSpPr/>
          <p:nvPr/>
        </p:nvSpPr>
        <p:spPr>
          <a:xfrm>
            <a:off x="788366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椭圆 113"/>
          <p:cNvSpPr/>
          <p:nvPr/>
        </p:nvSpPr>
        <p:spPr>
          <a:xfrm>
            <a:off x="823908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椭圆 114"/>
          <p:cNvSpPr/>
          <p:nvPr/>
        </p:nvSpPr>
        <p:spPr>
          <a:xfrm>
            <a:off x="860401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椭圆 115"/>
          <p:cNvSpPr/>
          <p:nvPr/>
        </p:nvSpPr>
        <p:spPr>
          <a:xfrm>
            <a:off x="895943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7" name="椭圆 116"/>
          <p:cNvSpPr/>
          <p:nvPr/>
        </p:nvSpPr>
        <p:spPr>
          <a:xfrm>
            <a:off x="9340234"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8" name="椭圆 117"/>
          <p:cNvSpPr/>
          <p:nvPr/>
        </p:nvSpPr>
        <p:spPr>
          <a:xfrm>
            <a:off x="969564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9" name="椭圆 118"/>
          <p:cNvSpPr/>
          <p:nvPr/>
        </p:nvSpPr>
        <p:spPr>
          <a:xfrm>
            <a:off x="1006693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0" name="椭圆 119"/>
          <p:cNvSpPr/>
          <p:nvPr/>
        </p:nvSpPr>
        <p:spPr>
          <a:xfrm>
            <a:off x="1042234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1" name="椭圆 120"/>
          <p:cNvSpPr/>
          <p:nvPr/>
        </p:nvSpPr>
        <p:spPr>
          <a:xfrm>
            <a:off x="1080314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2" name="椭圆 121"/>
          <p:cNvSpPr/>
          <p:nvPr/>
        </p:nvSpPr>
        <p:spPr>
          <a:xfrm>
            <a:off x="1115856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3" name="椭圆 122"/>
          <p:cNvSpPr/>
          <p:nvPr/>
        </p:nvSpPr>
        <p:spPr>
          <a:xfrm>
            <a:off x="1152349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4" name="椭圆 123"/>
          <p:cNvSpPr/>
          <p:nvPr/>
        </p:nvSpPr>
        <p:spPr>
          <a:xfrm>
            <a:off x="1187891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6" name="椭圆 125"/>
          <p:cNvSpPr/>
          <p:nvPr/>
        </p:nvSpPr>
        <p:spPr>
          <a:xfrm>
            <a:off x="714745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7" name="椭圆 126"/>
          <p:cNvSpPr/>
          <p:nvPr/>
        </p:nvSpPr>
        <p:spPr>
          <a:xfrm>
            <a:off x="750286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8" name="椭圆 127"/>
          <p:cNvSpPr/>
          <p:nvPr/>
        </p:nvSpPr>
        <p:spPr>
          <a:xfrm>
            <a:off x="788366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9" name="椭圆 128"/>
          <p:cNvSpPr/>
          <p:nvPr/>
        </p:nvSpPr>
        <p:spPr>
          <a:xfrm>
            <a:off x="823908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0" name="椭圆 129"/>
          <p:cNvSpPr/>
          <p:nvPr/>
        </p:nvSpPr>
        <p:spPr>
          <a:xfrm>
            <a:off x="860401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1" name="椭圆 130"/>
          <p:cNvSpPr/>
          <p:nvPr/>
        </p:nvSpPr>
        <p:spPr>
          <a:xfrm>
            <a:off x="895943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2" name="椭圆 131"/>
          <p:cNvSpPr/>
          <p:nvPr/>
        </p:nvSpPr>
        <p:spPr>
          <a:xfrm>
            <a:off x="9340234"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3" name="椭圆 132"/>
          <p:cNvSpPr/>
          <p:nvPr/>
        </p:nvSpPr>
        <p:spPr>
          <a:xfrm>
            <a:off x="969564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4" name="椭圆 133"/>
          <p:cNvSpPr/>
          <p:nvPr/>
        </p:nvSpPr>
        <p:spPr>
          <a:xfrm>
            <a:off x="1006693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5" name="椭圆 134"/>
          <p:cNvSpPr/>
          <p:nvPr/>
        </p:nvSpPr>
        <p:spPr>
          <a:xfrm>
            <a:off x="1042234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6" name="椭圆 135"/>
          <p:cNvSpPr/>
          <p:nvPr/>
        </p:nvSpPr>
        <p:spPr>
          <a:xfrm>
            <a:off x="1080314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7" name="椭圆 136"/>
          <p:cNvSpPr/>
          <p:nvPr/>
        </p:nvSpPr>
        <p:spPr>
          <a:xfrm>
            <a:off x="1115856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8" name="椭圆 137"/>
          <p:cNvSpPr/>
          <p:nvPr/>
        </p:nvSpPr>
        <p:spPr>
          <a:xfrm>
            <a:off x="1152349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9" name="椭圆 138"/>
          <p:cNvSpPr/>
          <p:nvPr/>
        </p:nvSpPr>
        <p:spPr>
          <a:xfrm>
            <a:off x="1187891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1" name="椭圆 140"/>
          <p:cNvSpPr/>
          <p:nvPr/>
        </p:nvSpPr>
        <p:spPr>
          <a:xfrm>
            <a:off x="714745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2" name="椭圆 141"/>
          <p:cNvSpPr/>
          <p:nvPr/>
        </p:nvSpPr>
        <p:spPr>
          <a:xfrm>
            <a:off x="750286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3" name="椭圆 142"/>
          <p:cNvSpPr/>
          <p:nvPr/>
        </p:nvSpPr>
        <p:spPr>
          <a:xfrm>
            <a:off x="788366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4" name="椭圆 143"/>
          <p:cNvSpPr/>
          <p:nvPr/>
        </p:nvSpPr>
        <p:spPr>
          <a:xfrm>
            <a:off x="823908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5" name="椭圆 144"/>
          <p:cNvSpPr/>
          <p:nvPr/>
        </p:nvSpPr>
        <p:spPr>
          <a:xfrm>
            <a:off x="860401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6" name="椭圆 145"/>
          <p:cNvSpPr/>
          <p:nvPr/>
        </p:nvSpPr>
        <p:spPr>
          <a:xfrm>
            <a:off x="895943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7" name="椭圆 146"/>
          <p:cNvSpPr/>
          <p:nvPr/>
        </p:nvSpPr>
        <p:spPr>
          <a:xfrm>
            <a:off x="9340234"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8" name="椭圆 147"/>
          <p:cNvSpPr/>
          <p:nvPr/>
        </p:nvSpPr>
        <p:spPr>
          <a:xfrm>
            <a:off x="969564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9" name="椭圆 148"/>
          <p:cNvSpPr/>
          <p:nvPr/>
        </p:nvSpPr>
        <p:spPr>
          <a:xfrm>
            <a:off x="1006693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0" name="椭圆 149"/>
          <p:cNvSpPr/>
          <p:nvPr/>
        </p:nvSpPr>
        <p:spPr>
          <a:xfrm>
            <a:off x="1042234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1" name="椭圆 150"/>
          <p:cNvSpPr/>
          <p:nvPr/>
        </p:nvSpPr>
        <p:spPr>
          <a:xfrm>
            <a:off x="1080314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2" name="椭圆 151"/>
          <p:cNvSpPr/>
          <p:nvPr/>
        </p:nvSpPr>
        <p:spPr>
          <a:xfrm>
            <a:off x="1115856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3" name="椭圆 152"/>
          <p:cNvSpPr/>
          <p:nvPr/>
        </p:nvSpPr>
        <p:spPr>
          <a:xfrm>
            <a:off x="1152349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4" name="椭圆 153"/>
          <p:cNvSpPr/>
          <p:nvPr/>
        </p:nvSpPr>
        <p:spPr>
          <a:xfrm>
            <a:off x="1187891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6" name="椭圆 155"/>
          <p:cNvSpPr/>
          <p:nvPr/>
        </p:nvSpPr>
        <p:spPr>
          <a:xfrm>
            <a:off x="714745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7" name="椭圆 156"/>
          <p:cNvSpPr/>
          <p:nvPr/>
        </p:nvSpPr>
        <p:spPr>
          <a:xfrm>
            <a:off x="750286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8" name="椭圆 157"/>
          <p:cNvSpPr/>
          <p:nvPr/>
        </p:nvSpPr>
        <p:spPr>
          <a:xfrm>
            <a:off x="788366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9" name="椭圆 158"/>
          <p:cNvSpPr/>
          <p:nvPr/>
        </p:nvSpPr>
        <p:spPr>
          <a:xfrm>
            <a:off x="823908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0" name="椭圆 159"/>
          <p:cNvSpPr/>
          <p:nvPr/>
        </p:nvSpPr>
        <p:spPr>
          <a:xfrm>
            <a:off x="860401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1" name="椭圆 160"/>
          <p:cNvSpPr/>
          <p:nvPr/>
        </p:nvSpPr>
        <p:spPr>
          <a:xfrm>
            <a:off x="895943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2" name="椭圆 161"/>
          <p:cNvSpPr/>
          <p:nvPr/>
        </p:nvSpPr>
        <p:spPr>
          <a:xfrm>
            <a:off x="9340234"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3" name="椭圆 162"/>
          <p:cNvSpPr/>
          <p:nvPr/>
        </p:nvSpPr>
        <p:spPr>
          <a:xfrm>
            <a:off x="969564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4" name="椭圆 163"/>
          <p:cNvSpPr/>
          <p:nvPr/>
        </p:nvSpPr>
        <p:spPr>
          <a:xfrm>
            <a:off x="1006693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5" name="椭圆 164"/>
          <p:cNvSpPr/>
          <p:nvPr/>
        </p:nvSpPr>
        <p:spPr>
          <a:xfrm>
            <a:off x="1042234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6" name="椭圆 165"/>
          <p:cNvSpPr/>
          <p:nvPr/>
        </p:nvSpPr>
        <p:spPr>
          <a:xfrm>
            <a:off x="1080314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7" name="椭圆 166"/>
          <p:cNvSpPr/>
          <p:nvPr/>
        </p:nvSpPr>
        <p:spPr>
          <a:xfrm>
            <a:off x="1115856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8" name="椭圆 167"/>
          <p:cNvSpPr/>
          <p:nvPr/>
        </p:nvSpPr>
        <p:spPr>
          <a:xfrm>
            <a:off x="1152349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9" name="椭圆 168"/>
          <p:cNvSpPr/>
          <p:nvPr/>
        </p:nvSpPr>
        <p:spPr>
          <a:xfrm>
            <a:off x="1187891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1" name="等腰三角形 170"/>
          <p:cNvSpPr/>
          <p:nvPr/>
        </p:nvSpPr>
        <p:spPr>
          <a:xfrm>
            <a:off x="756157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2" name="等腰三角形 171"/>
          <p:cNvSpPr/>
          <p:nvPr/>
        </p:nvSpPr>
        <p:spPr>
          <a:xfrm>
            <a:off x="797886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3" name="等腰三角形 172"/>
          <p:cNvSpPr/>
          <p:nvPr/>
        </p:nvSpPr>
        <p:spPr>
          <a:xfrm>
            <a:off x="839298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4" name="等腰三角形 173"/>
          <p:cNvSpPr/>
          <p:nvPr/>
        </p:nvSpPr>
        <p:spPr>
          <a:xfrm>
            <a:off x="88182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5" name="等腰三角形 174"/>
          <p:cNvSpPr/>
          <p:nvPr/>
        </p:nvSpPr>
        <p:spPr>
          <a:xfrm>
            <a:off x="923234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6" name="等腰三角形 175"/>
          <p:cNvSpPr/>
          <p:nvPr/>
        </p:nvSpPr>
        <p:spPr>
          <a:xfrm>
            <a:off x="964963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7" name="等腰三角形 176"/>
          <p:cNvSpPr/>
          <p:nvPr/>
        </p:nvSpPr>
        <p:spPr>
          <a:xfrm>
            <a:off x="1006375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8" name="等腰三角形 177"/>
          <p:cNvSpPr/>
          <p:nvPr/>
        </p:nvSpPr>
        <p:spPr>
          <a:xfrm>
            <a:off x="1048898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9" name="等腰三角形 178"/>
          <p:cNvSpPr/>
          <p:nvPr/>
        </p:nvSpPr>
        <p:spPr>
          <a:xfrm>
            <a:off x="1090310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0" name="等腰三角形 179"/>
          <p:cNvSpPr/>
          <p:nvPr/>
        </p:nvSpPr>
        <p:spPr>
          <a:xfrm>
            <a:off x="1132040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1" name="等腰三角形 180"/>
          <p:cNvSpPr/>
          <p:nvPr/>
        </p:nvSpPr>
        <p:spPr>
          <a:xfrm>
            <a:off x="11734523"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3" name="等腰三角形 182"/>
          <p:cNvSpPr/>
          <p:nvPr/>
        </p:nvSpPr>
        <p:spPr>
          <a:xfrm>
            <a:off x="6025774"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4" name="等腰三角形 183"/>
          <p:cNvSpPr/>
          <p:nvPr/>
        </p:nvSpPr>
        <p:spPr>
          <a:xfrm>
            <a:off x="6439895"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5" name="等腰三角形 184"/>
          <p:cNvSpPr/>
          <p:nvPr/>
        </p:nvSpPr>
        <p:spPr>
          <a:xfrm>
            <a:off x="6857191"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0" name="矩形 169">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8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888925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sz="2000" b="1" dirty="0"/>
              <a:t>创建具体任务</a:t>
            </a:r>
          </a:p>
        </p:txBody>
      </p:sp>
      <p:sp>
        <p:nvSpPr>
          <p:cNvPr id="170" name="内容占位符 2"/>
          <p:cNvSpPr>
            <a:spLocks noGrp="1"/>
          </p:cNvSpPr>
          <p:nvPr>
            <p:ph idx="1"/>
          </p:nvPr>
        </p:nvSpPr>
        <p:spPr>
          <a:xfrm>
            <a:off x="383975" y="2346983"/>
            <a:ext cx="3112600" cy="2536032"/>
          </a:xfrm>
        </p:spPr>
        <p:txBody>
          <a:bodyPr>
            <a:noAutofit/>
          </a:bodyPr>
          <a:lstStyle/>
          <a:p>
            <a:pPr marL="0" indent="456971">
              <a:lnSpc>
                <a:spcPct val="130000"/>
              </a:lnSpc>
              <a:buClr>
                <a:schemeClr val="tx2">
                  <a:lumMod val="75000"/>
                </a:schemeClr>
              </a:buClr>
              <a:buNone/>
            </a:pPr>
            <a:r>
              <a:rPr lang="zh-CN" altLang="en-US" dirty="0"/>
              <a:t>创建具体任务的时候，可使用</a:t>
            </a:r>
            <a:r>
              <a:rPr lang="en-US" altLang="zh-CN" dirty="0" err="1">
                <a:solidFill>
                  <a:srgbClr val="C00000"/>
                </a:solidFill>
              </a:rPr>
              <a:t>LOS_TaskCreate</a:t>
            </a:r>
            <a:r>
              <a:rPr lang="zh-CN" altLang="en-US" dirty="0"/>
              <a:t>函数，每个任务的</a:t>
            </a:r>
            <a:r>
              <a:rPr lang="zh-CN" altLang="en-US" dirty="0">
                <a:solidFill>
                  <a:srgbClr val="FF0000"/>
                </a:solidFill>
              </a:rPr>
              <a:t>具体配置</a:t>
            </a:r>
            <a:r>
              <a:rPr lang="zh-CN" altLang="en-US" dirty="0"/>
              <a:t>是需要</a:t>
            </a:r>
            <a:r>
              <a:rPr lang="zh-CN" altLang="en-US" dirty="0">
                <a:solidFill>
                  <a:srgbClr val="C00000"/>
                </a:solidFill>
              </a:rPr>
              <a:t>用户定义</a:t>
            </a:r>
            <a:r>
              <a:rPr lang="zh-CN" altLang="en-US" dirty="0"/>
              <a:t>的，不同的任务之间参数是不一样的，如代码清单所示。</a:t>
            </a:r>
          </a:p>
        </p:txBody>
      </p:sp>
      <p:sp>
        <p:nvSpPr>
          <p:cNvPr id="182" name="矩形 181"/>
          <p:cNvSpPr/>
          <p:nvPr/>
        </p:nvSpPr>
        <p:spPr>
          <a:xfrm>
            <a:off x="3589102" y="1783125"/>
            <a:ext cx="8602898" cy="4628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6" name="内容占位符 2"/>
          <p:cNvSpPr>
            <a:spLocks noGrp="1"/>
          </p:cNvSpPr>
          <p:nvPr>
            <p:ph idx="1"/>
          </p:nvPr>
        </p:nvSpPr>
        <p:spPr>
          <a:xfrm>
            <a:off x="3589101" y="1863700"/>
            <a:ext cx="8324003" cy="4628604"/>
          </a:xfrm>
        </p:spPr>
        <p:txBody>
          <a:bodyPr>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 {</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定义一个创建任务的返回类型，默认为创建成功的返回值 </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 /*</a:t>
            </a:r>
            <a:r>
              <a:rPr lang="zh-CN" altLang="en-US" sz="1400" b="1" dirty="0">
                <a:solidFill>
                  <a:schemeClr val="tx1"/>
                </a:solidFill>
              </a:rPr>
              <a:t>定义一个局部变量 *</a:t>
            </a:r>
            <a:r>
              <a:rPr lang="en-US" altLang="zh-CN" sz="1400" b="1" dirty="0">
                <a:solidFill>
                  <a:schemeClr val="tx1"/>
                </a:solidFill>
              </a:rPr>
              <a:t>/		  (1)</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a:t>
            </a:r>
            <a:r>
              <a:rPr lang="en-US" altLang="zh-CN" sz="1400" b="1" dirty="0">
                <a:solidFill>
                  <a:schemeClr val="tx1"/>
                </a:solidFill>
              </a:rPr>
              <a:t>/           (2)</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任务名称 *</a:t>
            </a:r>
            <a:r>
              <a:rPr lang="en-US" altLang="zh-CN" sz="1400" b="1" dirty="0">
                <a:solidFill>
                  <a:schemeClr val="tx1"/>
                </a:solidFill>
              </a:rPr>
              <a:t>/		  (3)</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		  (4)</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0x1000;	/* </a:t>
            </a:r>
            <a:r>
              <a:rPr lang="zh-CN" altLang="en-US" sz="1400" b="1" dirty="0">
                <a:solidFill>
                  <a:schemeClr val="tx1"/>
                </a:solidFill>
              </a:rPr>
              <a:t>任务栈大小 *</a:t>
            </a:r>
            <a:r>
              <a:rPr lang="en-US" altLang="zh-CN" sz="1400" b="1" dirty="0">
                <a:solidFill>
                  <a:schemeClr val="tx1"/>
                </a:solidFill>
              </a:rPr>
              <a:t>/		  (5)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 	 (6)</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					  (7)</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 name="Rectangle 1"/>
          <p:cNvSpPr>
            <a:spLocks noChangeArrowheads="1"/>
          </p:cNvSpPr>
          <p:nvPr/>
        </p:nvSpPr>
        <p:spPr bwMode="auto">
          <a:xfrm>
            <a:off x="724838" y="4883015"/>
            <a:ext cx="2585367"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mn-ea"/>
              </a:rPr>
              <a:t>TSK_INIT_PARAM_S </a:t>
            </a:r>
            <a:r>
              <a:rPr kumimoji="0" lang="zh-CN" altLang="zh-CN" i="0" u="none" strike="noStrike" cap="none" normalizeH="0" baseline="0" dirty="0">
                <a:ln>
                  <a:noFill/>
                </a:ln>
                <a:effectLst/>
                <a:latin typeface="+mn-ea"/>
              </a:rPr>
              <a:t>是任务创建时的初始化参数结构体</a:t>
            </a:r>
            <a:r>
              <a:rPr kumimoji="0" lang="zh-CN" altLang="en-US" i="0" u="none" strike="noStrike" cap="none" normalizeH="0" baseline="0" dirty="0">
                <a:ln>
                  <a:noFill/>
                </a:ln>
                <a:effectLst/>
                <a:latin typeface="+mn-ea"/>
              </a:rPr>
              <a:t>，与任务控制块结构体不同</a:t>
            </a:r>
            <a:r>
              <a:rPr kumimoji="0" lang="zh-CN" altLang="zh-CN" i="0" u="none" strike="noStrike" cap="none" normalizeH="0" baseline="0" dirty="0">
                <a:ln>
                  <a:noFill/>
                </a:ln>
                <a:effectLst/>
                <a:latin typeface="+mn-ea"/>
              </a:rPr>
              <a:t> </a:t>
            </a:r>
          </a:p>
        </p:txBody>
      </p:sp>
    </p:spTree>
    <p:extLst>
      <p:ext uri="{BB962C8B-B14F-4D97-AF65-F5344CB8AC3E}">
        <p14:creationId xmlns:p14="http://schemas.microsoft.com/office/powerpoint/2010/main" val="188126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9407725" cy="533122"/>
          </a:xfrm>
        </p:spPr>
        <p:txBody>
          <a:bodyPr>
            <a:normAutofit/>
          </a:bodyPr>
          <a:lstStyle/>
          <a:p>
            <a:pPr marL="0" indent="266700">
              <a:lnSpc>
                <a:spcPct val="135000"/>
              </a:lnSpc>
              <a:buClr>
                <a:schemeClr val="tx2">
                  <a:lumMod val="75000"/>
                </a:schemeClr>
              </a:buClr>
              <a:buNone/>
            </a:pPr>
            <a:r>
              <a:rPr lang="zh-CN" altLang="en-US" sz="2000" b="1" dirty="0"/>
              <a:t>创建具体任务</a:t>
            </a:r>
          </a:p>
        </p:txBody>
      </p:sp>
      <p:sp>
        <p:nvSpPr>
          <p:cNvPr id="170" name="内容占位符 2"/>
          <p:cNvSpPr>
            <a:spLocks noGrp="1"/>
          </p:cNvSpPr>
          <p:nvPr>
            <p:ph idx="1"/>
          </p:nvPr>
        </p:nvSpPr>
        <p:spPr>
          <a:xfrm>
            <a:off x="269735" y="1830749"/>
            <a:ext cx="11652530" cy="3960337"/>
          </a:xfrm>
        </p:spPr>
        <p:txBody>
          <a:bodyPr>
            <a:noAutofit/>
          </a:bodyPr>
          <a:lstStyle/>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1</a:t>
            </a:r>
            <a:r>
              <a:rPr lang="zh-CN" altLang="en-US" sz="1599" b="1" dirty="0"/>
              <a:t>）：定义一个局部的</a:t>
            </a:r>
            <a:r>
              <a:rPr lang="zh-CN" altLang="en-US" sz="1599" b="1" dirty="0">
                <a:solidFill>
                  <a:srgbClr val="C00000"/>
                </a:solidFill>
              </a:rPr>
              <a:t>任务参数结构体变量</a:t>
            </a:r>
            <a:r>
              <a:rPr lang="zh-CN" altLang="en-US" sz="1599" b="1" dirty="0"/>
              <a:t>，用于配置任务的参数，如任务优先级、任务入口函数、任务名称、任务栈大小等。</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2</a:t>
            </a:r>
            <a:r>
              <a:rPr lang="zh-CN" altLang="en-US" sz="1599" b="1" dirty="0"/>
              <a:t>）：任务优先级范围由</a:t>
            </a:r>
            <a:r>
              <a:rPr lang="en-US" altLang="zh-CN" sz="1599" b="1" dirty="0" err="1"/>
              <a:t>target_config.h</a:t>
            </a:r>
            <a:r>
              <a:rPr lang="zh-CN" altLang="en-US" sz="1599" b="1" dirty="0"/>
              <a:t>中的宏决定，其中最高优先级为</a:t>
            </a:r>
            <a:r>
              <a:rPr lang="en-US" altLang="zh-CN" sz="1599" b="1" dirty="0">
                <a:solidFill>
                  <a:srgbClr val="C00000"/>
                </a:solidFill>
              </a:rPr>
              <a:t>LOS_TASK_ PRIORITY_HIGHEST</a:t>
            </a:r>
            <a:r>
              <a:rPr lang="zh-CN" altLang="en-US" sz="1599" b="1" dirty="0"/>
              <a:t>，最低优先级为</a:t>
            </a:r>
            <a:r>
              <a:rPr lang="en-US" altLang="zh-CN" sz="1599" b="1" dirty="0">
                <a:solidFill>
                  <a:srgbClr val="C00000"/>
                </a:solidFill>
              </a:rPr>
              <a:t>LOS_TASK_PRIORITY_LOWEST</a:t>
            </a:r>
            <a:r>
              <a:rPr lang="zh-CN" altLang="en-US" sz="1599" b="1" dirty="0"/>
              <a:t>。在</a:t>
            </a:r>
            <a:r>
              <a:rPr lang="en-US" altLang="zh-CN" sz="1599" b="1" dirty="0" err="1"/>
              <a:t>LiteOS</a:t>
            </a:r>
            <a:r>
              <a:rPr lang="zh-CN" altLang="en-US" sz="1599" b="1" dirty="0"/>
              <a:t>中，优先级数值越小，任务优先级越高，</a:t>
            </a:r>
            <a:r>
              <a:rPr lang="en-US" altLang="zh-CN" sz="1599" b="1" dirty="0"/>
              <a:t>0</a:t>
            </a:r>
            <a:r>
              <a:rPr lang="zh-CN" altLang="en-US" sz="1599" b="1" dirty="0"/>
              <a:t>代表最高优先级。</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3</a:t>
            </a:r>
            <a:r>
              <a:rPr lang="zh-CN" altLang="en-US" sz="1599" b="1" dirty="0"/>
              <a:t>）：任务名称为</a:t>
            </a:r>
            <a:r>
              <a:rPr lang="zh-CN" altLang="en-US" sz="1599" b="1" dirty="0">
                <a:solidFill>
                  <a:srgbClr val="C00000"/>
                </a:solidFill>
              </a:rPr>
              <a:t>字符串</a:t>
            </a:r>
            <a:r>
              <a:rPr lang="zh-CN" altLang="en-US" sz="1599" b="1" dirty="0"/>
              <a:t>形式。</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4</a:t>
            </a:r>
            <a:r>
              <a:rPr lang="zh-CN" altLang="en-US" sz="1599" b="1" dirty="0"/>
              <a:t>）：任务入口函数即任务的具体</a:t>
            </a:r>
            <a:r>
              <a:rPr lang="zh-CN" altLang="en-US" sz="1599" b="1" dirty="0">
                <a:solidFill>
                  <a:srgbClr val="C00000"/>
                </a:solidFill>
              </a:rPr>
              <a:t>实现函数</a:t>
            </a:r>
            <a:r>
              <a:rPr lang="zh-CN" altLang="en-US" sz="1599" b="1" dirty="0"/>
              <a:t>。</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5</a:t>
            </a:r>
            <a:r>
              <a:rPr lang="zh-CN" altLang="en-US" sz="1599" b="1" dirty="0"/>
              <a:t>）：任务栈大小单位为字节。</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6</a:t>
            </a:r>
            <a:r>
              <a:rPr lang="zh-CN" altLang="en-US" sz="1599" b="1" dirty="0"/>
              <a:t>）：使用</a:t>
            </a:r>
            <a:r>
              <a:rPr lang="en-US" altLang="zh-CN" sz="1599" b="1" dirty="0" err="1">
                <a:solidFill>
                  <a:srgbClr val="C00000"/>
                </a:solidFill>
              </a:rPr>
              <a:t>LOS_TaskCreate</a:t>
            </a:r>
            <a:r>
              <a:rPr lang="zh-CN" altLang="en-US" sz="1599" b="1" dirty="0"/>
              <a:t>函数创建一个任务需要传递用户定义的任务</a:t>
            </a:r>
            <a:r>
              <a:rPr lang="en-US" altLang="zh-CN" sz="1599" b="1" dirty="0"/>
              <a:t>ID</a:t>
            </a:r>
            <a:r>
              <a:rPr lang="zh-CN" altLang="en-US" sz="1599" b="1" dirty="0"/>
              <a:t>变量</a:t>
            </a:r>
            <a:r>
              <a:rPr lang="en-US" altLang="zh-CN" sz="1599" b="1" dirty="0"/>
              <a:t>Test1_Task_Handle</a:t>
            </a:r>
            <a:r>
              <a:rPr lang="zh-CN" altLang="en-US" sz="1599" b="1" dirty="0"/>
              <a:t>的地址，在创建任务完成后，系统将返回一个任务</a:t>
            </a:r>
            <a:r>
              <a:rPr lang="en-US" altLang="zh-CN" sz="1599" b="1" dirty="0"/>
              <a:t>ID</a:t>
            </a:r>
            <a:r>
              <a:rPr lang="zh-CN" altLang="en-US" sz="1599" b="1" dirty="0"/>
              <a:t>，任务参数结构体</a:t>
            </a:r>
            <a:r>
              <a:rPr lang="en-US" altLang="zh-CN" sz="1599" b="1" dirty="0" err="1"/>
              <a:t>task_init_param</a:t>
            </a:r>
            <a:r>
              <a:rPr lang="zh-CN" altLang="en-US" sz="1599" b="1" dirty="0"/>
              <a:t>配置的参数作为创建任务所需的参数使用。</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7</a:t>
            </a:r>
            <a:r>
              <a:rPr lang="zh-CN" altLang="en-US" sz="1599" b="1" dirty="0"/>
              <a:t>）：返回任务创建的结果，如果是</a:t>
            </a:r>
            <a:r>
              <a:rPr lang="en-US" altLang="zh-CN" sz="1599" b="1" dirty="0">
                <a:solidFill>
                  <a:srgbClr val="C00000"/>
                </a:solidFill>
              </a:rPr>
              <a:t>LOS_OK</a:t>
            </a:r>
            <a:r>
              <a:rPr lang="zh-CN" altLang="en-US" sz="1599" b="1" dirty="0">
                <a:solidFill>
                  <a:srgbClr val="C00000"/>
                </a:solidFill>
              </a:rPr>
              <a:t>，则表示任务创建成功</a:t>
            </a:r>
            <a:r>
              <a:rPr lang="zh-CN" altLang="en-US" sz="1599" b="1" dirty="0"/>
              <a:t>，否则表示任务创建失败，并且返回错误代码。</a:t>
            </a:r>
          </a:p>
        </p:txBody>
      </p:sp>
      <p:sp>
        <p:nvSpPr>
          <p:cNvPr id="9" name="矩形 8"/>
          <p:cNvSpPr/>
          <p:nvPr/>
        </p:nvSpPr>
        <p:spPr>
          <a:xfrm>
            <a:off x="231654" y="6243172"/>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 name="矩形 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8658546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3516802"/>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3.3 </a:t>
            </a:r>
            <a:r>
              <a:rPr lang="en-US" altLang="zh-CN" sz="1899" dirty="0" err="1">
                <a:solidFill>
                  <a:schemeClr val="bg1"/>
                </a:solidFill>
                <a:latin typeface="Microsoft YaHei UI" pitchFamily="18" charset="0"/>
                <a:cs typeface="Microsoft YaHei UI" pitchFamily="18" charset="0"/>
              </a:rPr>
              <a:t>main.c</a:t>
            </a:r>
            <a:r>
              <a:rPr lang="en-US" altLang="zh-CN" sz="1899" dirty="0">
                <a:solidFill>
                  <a:schemeClr val="bg1"/>
                </a:solidFill>
                <a:latin typeface="Microsoft YaHei UI" pitchFamily="18" charset="0"/>
                <a:cs typeface="Microsoft YaHei UI" pitchFamily="18" charset="0"/>
              </a:rPr>
              <a:t> </a:t>
            </a:r>
            <a:r>
              <a:rPr lang="zh-CN" altLang="en-US" sz="1899" dirty="0">
                <a:solidFill>
                  <a:schemeClr val="bg1"/>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5729411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内容占位符 2"/>
          <p:cNvSpPr>
            <a:spLocks noGrp="1"/>
          </p:cNvSpPr>
          <p:nvPr>
            <p:ph idx="1"/>
          </p:nvPr>
        </p:nvSpPr>
        <p:spPr>
          <a:xfrm>
            <a:off x="383975" y="900430"/>
            <a:ext cx="11652530" cy="761603"/>
          </a:xfrm>
        </p:spPr>
        <p:txBody>
          <a:bodyPr>
            <a:noAutofit/>
          </a:bodyPr>
          <a:lstStyle/>
          <a:p>
            <a:pPr marL="0" indent="456971">
              <a:lnSpc>
                <a:spcPct val="130000"/>
              </a:lnSpc>
              <a:buClr>
                <a:schemeClr val="tx2">
                  <a:lumMod val="75000"/>
                </a:schemeClr>
              </a:buClr>
              <a:buNone/>
            </a:pPr>
            <a:r>
              <a:rPr lang="zh-CN" altLang="en-US" dirty="0"/>
              <a:t>把任务主体、任务</a:t>
            </a:r>
            <a:r>
              <a:rPr lang="en-US" altLang="zh-CN" dirty="0"/>
              <a:t>ID</a:t>
            </a:r>
            <a:r>
              <a:rPr lang="zh-CN" altLang="en-US" dirty="0"/>
              <a:t>变量、任务控制块这三部分的代码统一放到</a:t>
            </a:r>
            <a:r>
              <a:rPr lang="en-US" altLang="zh-CN" dirty="0" err="1"/>
              <a:t>main.c</a:t>
            </a:r>
            <a:r>
              <a:rPr lang="zh-CN" altLang="en-US" dirty="0"/>
              <a:t>中，就能组成一个系统可以运行的任务，并且可以使用串口输出调试信息以便观察，如代码清单所示。</a:t>
            </a:r>
          </a:p>
        </p:txBody>
      </p:sp>
      <p:sp>
        <p:nvSpPr>
          <p:cNvPr id="10" name="矩形 9"/>
          <p:cNvSpPr/>
          <p:nvPr/>
        </p:nvSpPr>
        <p:spPr>
          <a:xfrm>
            <a:off x="1" y="1636776"/>
            <a:ext cx="12191999" cy="5075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55498" y="1860185"/>
            <a:ext cx="5102742" cy="4628604"/>
          </a:xfrm>
        </p:spPr>
        <p:txBody>
          <a:bodyPr>
            <a:noAutofit/>
          </a:bodyPr>
          <a:lstStyle/>
          <a:p>
            <a:pPr marL="0" indent="456971">
              <a:lnSpc>
                <a:spcPct val="125000"/>
              </a:lnSpc>
              <a:spcBef>
                <a:spcPts val="0"/>
              </a:spcBef>
              <a:buClr>
                <a:schemeClr val="tx2">
                  <a:lumMod val="75000"/>
                </a:schemeClr>
              </a:buClr>
              <a:buNone/>
            </a:pPr>
            <a:r>
              <a:rPr lang="en-US" altLang="zh-CN" sz="1199" dirty="0"/>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@author  	fire</a:t>
            </a:r>
          </a:p>
          <a:p>
            <a:pPr marL="0" indent="456971">
              <a:lnSpc>
                <a:spcPct val="125000"/>
              </a:lnSpc>
              <a:spcBef>
                <a:spcPts val="0"/>
              </a:spcBef>
              <a:buClr>
                <a:schemeClr val="tx2">
                  <a:lumMod val="75000"/>
                </a:schemeClr>
              </a:buClr>
              <a:buNone/>
            </a:pPr>
            <a:r>
              <a:rPr lang="en-US" altLang="zh-CN" sz="1400" b="1" dirty="0">
                <a:solidFill>
                  <a:schemeClr val="tx1"/>
                </a:solidFill>
              </a:rPr>
              <a:t>* @version 	V1.0</a:t>
            </a:r>
          </a:p>
          <a:p>
            <a:pPr marL="0" indent="456971">
              <a:lnSpc>
                <a:spcPct val="125000"/>
              </a:lnSpc>
              <a:spcBef>
                <a:spcPts val="0"/>
              </a:spcBef>
              <a:buClr>
                <a:schemeClr val="tx2">
                  <a:lumMod val="75000"/>
                </a:schemeClr>
              </a:buClr>
              <a:buNone/>
            </a:pPr>
            <a:r>
              <a:rPr lang="en-US" altLang="zh-CN" sz="1400" b="1" dirty="0">
                <a:solidFill>
                  <a:schemeClr val="tx1"/>
                </a:solidFill>
              </a:rPr>
              <a:t>* @date    	2023-xx-xx</a:t>
            </a:r>
          </a:p>
          <a:p>
            <a:pPr marL="0" indent="456971">
              <a:lnSpc>
                <a:spcPct val="125000"/>
              </a:lnSpc>
              <a:spcBef>
                <a:spcPts val="0"/>
              </a:spcBef>
              <a:buClr>
                <a:schemeClr val="tx2">
                  <a:lumMod val="75000"/>
                </a:schemeClr>
              </a:buClr>
              <a:buNone/>
            </a:pPr>
            <a:r>
              <a:rPr lang="en-US" altLang="zh-CN" sz="1400" b="1" dirty="0">
                <a:solidFill>
                  <a:schemeClr val="tx1"/>
                </a:solidFill>
              </a:rPr>
              <a:t>*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@attention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"los_task.ph"</a:t>
            </a:r>
          </a:p>
        </p:txBody>
      </p:sp>
      <p:sp>
        <p:nvSpPr>
          <p:cNvPr id="12" name="内容占位符 2"/>
          <p:cNvSpPr>
            <a:spLocks noGrp="1"/>
          </p:cNvSpPr>
          <p:nvPr>
            <p:ph idx="1"/>
          </p:nvPr>
        </p:nvSpPr>
        <p:spPr>
          <a:xfrm>
            <a:off x="6362700" y="1676962"/>
            <a:ext cx="5425259" cy="4899316"/>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 </a:t>
            </a:r>
            <a:r>
              <a:rPr lang="zh-CN" altLang="en-US" sz="1400" b="1" dirty="0">
                <a:solidFill>
                  <a:srgbClr val="C00000"/>
                </a:solidFill>
              </a:rPr>
              <a:t>定义任务</a:t>
            </a:r>
            <a:r>
              <a:rPr lang="en-US" altLang="zh-CN" sz="1400" b="1" dirty="0">
                <a:solidFill>
                  <a:srgbClr val="C00000"/>
                </a:solidFill>
              </a:rPr>
              <a:t>ID</a:t>
            </a:r>
            <a:r>
              <a:rPr lang="zh-CN" altLang="en-US" sz="1400" b="1" dirty="0">
                <a:solidFill>
                  <a:srgbClr val="C00000"/>
                </a:solidFill>
              </a:rPr>
              <a:t>变量 *</a:t>
            </a:r>
            <a:r>
              <a:rPr lang="en-US" altLang="zh-CN" sz="1400" b="1" dirty="0">
                <a:solidFill>
                  <a:srgbClr val="C00000"/>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UINT32 Test1_Task_Handle;</a:t>
            </a:r>
          </a:p>
          <a:p>
            <a:pPr marL="0" indent="456971">
              <a:lnSpc>
                <a:spcPct val="125000"/>
              </a:lnSpc>
              <a:spcBef>
                <a:spcPts val="0"/>
              </a:spcBef>
              <a:buClr>
                <a:schemeClr val="tx2">
                  <a:lumMod val="75000"/>
                </a:schemeClr>
              </a:buClr>
              <a:buNone/>
            </a:pPr>
            <a:r>
              <a:rPr lang="en-US" altLang="zh-CN" sz="1400" b="1" dirty="0">
                <a:solidFill>
                  <a:srgbClr val="C00000"/>
                </a:solidFill>
              </a:rPr>
              <a:t>/* </a:t>
            </a:r>
            <a:r>
              <a:rPr lang="zh-CN" altLang="en-US" sz="1400" b="1" dirty="0">
                <a:solidFill>
                  <a:srgbClr val="C00000"/>
                </a:solidFill>
              </a:rPr>
              <a:t>函数声明 *</a:t>
            </a:r>
            <a:r>
              <a:rPr lang="en-US" altLang="zh-CN" sz="1400" b="1" dirty="0">
                <a:solidFill>
                  <a:srgbClr val="C00000"/>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static UINT32 </a:t>
            </a:r>
            <a:r>
              <a:rPr lang="en-US" altLang="zh-CN" sz="1400" b="1" dirty="0" err="1">
                <a:solidFill>
                  <a:srgbClr val="C00000"/>
                </a:solidFill>
              </a:rPr>
              <a:t>AppTaskCreate</a:t>
            </a:r>
            <a:r>
              <a:rPr lang="en-US" altLang="zh-CN" sz="1400" b="1" dirty="0">
                <a:solidFill>
                  <a:srgbClr val="C00000"/>
                </a:solidFill>
              </a:rPr>
              <a:t>(void);</a:t>
            </a:r>
          </a:p>
          <a:p>
            <a:pPr marL="0" indent="456971">
              <a:lnSpc>
                <a:spcPct val="125000"/>
              </a:lnSpc>
              <a:spcBef>
                <a:spcPts val="0"/>
              </a:spcBef>
              <a:buClr>
                <a:schemeClr val="tx2">
                  <a:lumMod val="75000"/>
                </a:schemeClr>
              </a:buClr>
              <a:buNone/>
            </a:pPr>
            <a:r>
              <a:rPr lang="en-US" altLang="zh-CN" sz="1400" b="1" dirty="0">
                <a:solidFill>
                  <a:srgbClr val="C00000"/>
                </a:solidFill>
              </a:rPr>
              <a:t>static UINT32 Creat_Test1_Task(void);</a:t>
            </a:r>
          </a:p>
          <a:p>
            <a:pPr marL="0" indent="456971">
              <a:lnSpc>
                <a:spcPct val="125000"/>
              </a:lnSpc>
              <a:spcBef>
                <a:spcPts val="0"/>
              </a:spcBef>
              <a:buClr>
                <a:schemeClr val="tx2">
                  <a:lumMod val="75000"/>
                </a:schemeClr>
              </a:buClr>
              <a:buNone/>
            </a:pPr>
            <a:r>
              <a:rPr lang="en-US" altLang="zh-CN" sz="1400" b="1" dirty="0">
                <a:solidFill>
                  <a:srgbClr val="C00000"/>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zh-CN" altLang="en-US" sz="1400" b="1" dirty="0">
                <a:solidFill>
                  <a:schemeClr val="tx1"/>
                </a:solidFill>
              </a:rPr>
              <a:t>                 第二步：创建</a:t>
            </a:r>
            <a:r>
              <a:rPr lang="en-US" altLang="zh-CN" sz="1400" b="1" dirty="0">
                <a:solidFill>
                  <a:schemeClr val="tx1"/>
                </a:solidFill>
              </a:rPr>
              <a:t>App</a:t>
            </a:r>
            <a:r>
              <a:rPr lang="zh-CN" altLang="en-US" sz="1400" b="1" dirty="0">
                <a:solidFill>
                  <a:schemeClr val="tx1"/>
                </a:solidFill>
              </a:rPr>
              <a:t>应用任务</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zh-CN" altLang="en-US" sz="1400" b="1" dirty="0">
                <a:solidFill>
                  <a:schemeClr val="tx1"/>
                </a:solidFill>
              </a:rPr>
              <a:t>                 第三步：启动</a:t>
            </a:r>
            <a:r>
              <a:rPr lang="en-US" altLang="zh-CN" sz="1400" b="1" dirty="0" err="1">
                <a:solidFill>
                  <a:schemeClr val="tx1"/>
                </a:solidFill>
              </a:rPr>
              <a:t>LiteOS</a:t>
            </a:r>
            <a:r>
              <a:rPr lang="zh-CN" altLang="en-US" sz="1400" b="1" dirty="0">
                <a:solidFill>
                  <a:schemeClr val="tx1"/>
                </a:solidFill>
              </a:rPr>
              <a:t>，开始多任务调度，启动失败时输出错误信息</a:t>
            </a:r>
          </a:p>
          <a:p>
            <a:pPr marL="0" indent="456971">
              <a:lnSpc>
                <a:spcPct val="125000"/>
              </a:lnSpc>
              <a:spcBef>
                <a:spcPts val="0"/>
              </a:spcBef>
              <a:buClr>
                <a:schemeClr val="tx2">
                  <a:lumMod val="75000"/>
                </a:schemeClr>
              </a:buClr>
              <a:buNone/>
            </a:pPr>
            <a:endParaRPr lang="zh-CN" altLang="en-US" sz="1400" b="1" dirty="0">
              <a:solidFill>
                <a:schemeClr val="tx1"/>
              </a:solidFill>
            </a:endParaRPr>
          </a:p>
        </p:txBody>
      </p:sp>
      <p:cxnSp>
        <p:nvCxnSpPr>
          <p:cNvPr id="7" name="直接连接符 6"/>
          <p:cNvCxnSpPr>
            <a:stCxn id="10" idx="0"/>
            <a:endCxn id="10" idx="2"/>
          </p:cNvCxnSpPr>
          <p:nvPr/>
        </p:nvCxnSpPr>
        <p:spPr>
          <a:xfrm>
            <a:off x="6096001" y="1636776"/>
            <a:ext cx="0" cy="507542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258240" y="5832102"/>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765729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96112"/>
            <a:ext cx="12191999" cy="5282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57118" y="1105468"/>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int main(void)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BSP_Init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printf("</a:t>
            </a:r>
            <a:r>
              <a:rPr lang="zh-CN" altLang="en-US" sz="1400" b="1" dirty="0">
                <a:solidFill>
                  <a:schemeClr val="tx1"/>
                </a:solidFill>
              </a:rPr>
              <a:t>这是一个</a:t>
            </a:r>
            <a:r>
              <a:rPr lang="en-US" altLang="zh-CN" sz="1400" b="1" dirty="0">
                <a:solidFill>
                  <a:schemeClr val="tx1"/>
                </a:solidFill>
              </a:rPr>
              <a:t>STM32</a:t>
            </a:r>
            <a:r>
              <a:rPr lang="zh-CN" altLang="en-US" sz="1400" b="1" dirty="0">
                <a:solidFill>
                  <a:schemeClr val="tx1"/>
                </a:solidFill>
              </a:rPr>
              <a:t>开发板</a:t>
            </a:r>
            <a:r>
              <a:rPr lang="en-US" altLang="zh-CN" sz="1400" b="1" dirty="0">
                <a:solidFill>
                  <a:schemeClr val="tx1"/>
                </a:solidFill>
              </a:rPr>
              <a:t>-</a:t>
            </a:r>
            <a:r>
              <a:rPr lang="en-US" altLang="zh-CN" sz="1400" b="1" dirty="0" err="1">
                <a:solidFill>
                  <a:schemeClr val="tx1"/>
                </a:solidFill>
              </a:rPr>
              <a:t>LiteOS</a:t>
            </a:r>
            <a:r>
              <a:rPr lang="en-US" altLang="zh-CN" sz="1400" b="1" dirty="0">
                <a:solidFill>
                  <a:schemeClr val="tx1"/>
                </a:solidFill>
              </a:rPr>
              <a:t>-SRAM</a:t>
            </a:r>
            <a:r>
              <a:rPr lang="zh-CN" altLang="en-US" sz="1400" b="1" dirty="0">
                <a:solidFill>
                  <a:schemeClr val="tx1"/>
                </a:solidFill>
              </a:rPr>
              <a:t>动态创建单任务实验！</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LOS_KernelInit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LOS_NOK;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AppTaskCreate</a:t>
            </a:r>
            <a:r>
              <a:rPr lang="en-US" altLang="zh-CN" sz="1400" b="1" dirty="0">
                <a:solidFill>
                  <a:schemeClr val="tx1"/>
                </a:solidFill>
              </a:rPr>
              <a:t>();</a:t>
            </a:r>
          </a:p>
        </p:txBody>
      </p:sp>
      <p:sp>
        <p:nvSpPr>
          <p:cNvPr id="12" name="内容占位符 2"/>
          <p:cNvSpPr>
            <a:spLocks noGrp="1"/>
          </p:cNvSpPr>
          <p:nvPr>
            <p:ph idx="1"/>
          </p:nvPr>
        </p:nvSpPr>
        <p:spPr>
          <a:xfrm>
            <a:off x="6249906" y="1173556"/>
            <a:ext cx="5673948"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AppTaskCreate</a:t>
            </a:r>
            <a:r>
              <a:rPr lang="zh-CN" altLang="en-US" sz="1400" b="1" dirty="0">
                <a:solidFill>
                  <a:schemeClr val="tx1"/>
                </a:solidFill>
              </a:rPr>
              <a:t>创建任务失败！失败代码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LOS_NOK;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LOS_Start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正常情况下不会执行到这里</a:t>
            </a:r>
          </a:p>
          <a:p>
            <a:pPr marL="0" indent="456971">
              <a:lnSpc>
                <a:spcPct val="125000"/>
              </a:lnSpc>
              <a:spcBef>
                <a:spcPts val="0"/>
              </a:spcBef>
              <a:buClr>
                <a:schemeClr val="tx2">
                  <a:lumMod val="75000"/>
                </a:schemeClr>
              </a:buClr>
              <a:buNone/>
            </a:pPr>
            <a:r>
              <a:rPr lang="en-US" altLang="zh-CN" sz="1400" b="1" dirty="0">
                <a:solidFill>
                  <a:schemeClr val="tx1"/>
                </a:solidFill>
              </a:rPr>
              <a:t>while (1);</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功能说明：任务创建，为了方便管理，所有的任务创建函数都可以放在这个函数中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：无</a:t>
            </a:r>
            <a:r>
              <a:rPr lang="en-US" altLang="zh-CN" sz="1400" b="1" dirty="0">
                <a:solidFill>
                  <a:schemeClr val="tx1"/>
                </a:solidFill>
              </a:rPr>
              <a:t>   ********************************************************/</a:t>
            </a:r>
          </a:p>
        </p:txBody>
      </p:sp>
      <p:cxnSp>
        <p:nvCxnSpPr>
          <p:cNvPr id="7" name="直接连接符 6"/>
          <p:cNvCxnSpPr/>
          <p:nvPr/>
        </p:nvCxnSpPr>
        <p:spPr>
          <a:xfrm>
            <a:off x="6096000" y="1153215"/>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0304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579686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59536"/>
            <a:ext cx="12191999" cy="5395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 y="1211088"/>
            <a:ext cx="6095999" cy="5043408"/>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printf("Test1_Task</a:t>
            </a:r>
            <a:r>
              <a:rPr lang="zh-CN" altLang="en-US" sz="1400" b="1" dirty="0">
                <a:solidFill>
                  <a:schemeClr val="tx1"/>
                </a:solidFill>
              </a:rPr>
              <a:t>任务创建失败！失败代码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a:solidFill>
                  <a:schemeClr val="tx1"/>
                </a:solidFill>
              </a:rPr>
              <a:t>**************************************************</a:t>
            </a:r>
            <a:r>
              <a:rPr lang="en-US" altLang="zh-CN" sz="1400" b="1" dirty="0">
                <a:solidFill>
                  <a:schemeClr val="tx1"/>
                </a:solidFill>
              </a:rPr>
              <a:t>/</a:t>
            </a:r>
          </a:p>
        </p:txBody>
      </p:sp>
      <p:sp>
        <p:nvSpPr>
          <p:cNvPr id="12" name="内容占位符 2"/>
          <p:cNvSpPr>
            <a:spLocks noGrp="1"/>
          </p:cNvSpPr>
          <p:nvPr>
            <p:ph idx="1"/>
          </p:nvPr>
        </p:nvSpPr>
        <p:spPr>
          <a:xfrm>
            <a:off x="6230866" y="1050601"/>
            <a:ext cx="5826267" cy="4628604"/>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p:txBody>
      </p:sp>
      <p:cxnSp>
        <p:nvCxnSpPr>
          <p:cNvPr id="7" name="直接连接符 6"/>
          <p:cNvCxnSpPr/>
          <p:nvPr/>
        </p:nvCxnSpPr>
        <p:spPr>
          <a:xfrm>
            <a:off x="6096000" y="1064784"/>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7920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9414769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42319"/>
            <a:ext cx="12191999" cy="4951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 y="787456"/>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返回值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while (1) {</a:t>
            </a:r>
          </a:p>
          <a:p>
            <a:pPr marL="0" indent="456971">
              <a:lnSpc>
                <a:spcPct val="125000"/>
              </a:lnSpc>
              <a:spcBef>
                <a:spcPts val="0"/>
              </a:spcBef>
              <a:buClr>
                <a:schemeClr val="tx2">
                  <a:lumMod val="75000"/>
                </a:schemeClr>
              </a:buClr>
              <a:buNone/>
            </a:pPr>
            <a:r>
              <a:rPr lang="en-US" altLang="zh-CN" sz="1400" b="1" dirty="0">
                <a:solidFill>
                  <a:schemeClr val="tx1"/>
                </a:solidFill>
              </a:rPr>
              <a:t>	LED2_TOGGLE;</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返回值  ： 无</a:t>
            </a:r>
          </a:p>
        </p:txBody>
      </p:sp>
      <p:sp>
        <p:nvSpPr>
          <p:cNvPr id="12" name="内容占位符 2"/>
          <p:cNvSpPr>
            <a:spLocks noGrp="1"/>
          </p:cNvSpPr>
          <p:nvPr>
            <p:ph idx="1"/>
          </p:nvPr>
        </p:nvSpPr>
        <p:spPr>
          <a:xfrm>
            <a:off x="6210239" y="942904"/>
            <a:ext cx="5826267"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USART_Config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*************************END OF FILE******************/ </a:t>
            </a: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7" name="直接连接符 6"/>
          <p:cNvCxnSpPr/>
          <p:nvPr/>
        </p:nvCxnSpPr>
        <p:spPr>
          <a:xfrm>
            <a:off x="6096000" y="952047"/>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052434"/>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857932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内容占位符 2"/>
          <p:cNvSpPr>
            <a:spLocks noGrp="1"/>
          </p:cNvSpPr>
          <p:nvPr>
            <p:ph idx="1"/>
          </p:nvPr>
        </p:nvSpPr>
        <p:spPr>
          <a:xfrm>
            <a:off x="774297" y="1123530"/>
            <a:ext cx="3427214" cy="3781845"/>
          </a:xfrm>
        </p:spPr>
        <p:txBody>
          <a:bodyPr>
            <a:noAutofit/>
          </a:bodyPr>
          <a:lstStyle/>
          <a:p>
            <a:pPr marL="0" indent="456971">
              <a:lnSpc>
                <a:spcPct val="130000"/>
              </a:lnSpc>
              <a:buClr>
                <a:schemeClr val="tx2">
                  <a:lumMod val="75000"/>
                </a:schemeClr>
              </a:buClr>
              <a:buNone/>
            </a:pPr>
            <a:r>
              <a:rPr lang="zh-CN" altLang="en-US" dirty="0"/>
              <a:t>将程序编译好，使用</a:t>
            </a:r>
            <a:r>
              <a:rPr lang="en-US" altLang="zh-CN" dirty="0"/>
              <a:t>DAP</a:t>
            </a:r>
            <a:r>
              <a:rPr lang="zh-CN" altLang="en-US" dirty="0"/>
              <a:t>仿真器把程序下载到</a:t>
            </a:r>
            <a:r>
              <a:rPr lang="en-US" altLang="zh-CN" dirty="0"/>
              <a:t>STM32</a:t>
            </a:r>
            <a:r>
              <a:rPr lang="zh-CN" altLang="en-US" dirty="0"/>
              <a:t>开发板（具体型号根据读者使用的开发板而定，每个型号的开发板都配套有对应的程序）中，可以看到开发板的</a:t>
            </a:r>
            <a:r>
              <a:rPr lang="en-US" altLang="zh-CN" dirty="0"/>
              <a:t>LED</a:t>
            </a:r>
            <a:r>
              <a:rPr lang="zh-CN" altLang="en-US" dirty="0"/>
              <a:t>灯在闪烁，并且串口调试助手输出了任务运行信息，具体如图所示，说明创建的任务已经在开发板上正常运行。</a:t>
            </a:r>
          </a:p>
        </p:txBody>
      </p:sp>
      <p:pic>
        <p:nvPicPr>
          <p:cNvPr id="2050" name="图片 1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954" y="1289990"/>
            <a:ext cx="6625949" cy="5185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97575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4202245"/>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3.4 </a:t>
            </a:r>
            <a:r>
              <a:rPr lang="zh-CN" altLang="en-US" sz="1899" dirty="0">
                <a:solidFill>
                  <a:schemeClr val="bg1"/>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703406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7555" y="1816450"/>
            <a:ext cx="12193050" cy="48819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95102" y="1816450"/>
            <a:ext cx="5178903" cy="4501505"/>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@author  fire</a:t>
            </a:r>
          </a:p>
          <a:p>
            <a:pPr marL="0" indent="456971">
              <a:lnSpc>
                <a:spcPct val="125000"/>
              </a:lnSpc>
              <a:spcBef>
                <a:spcPts val="0"/>
              </a:spcBef>
              <a:buClr>
                <a:schemeClr val="tx2">
                  <a:lumMod val="75000"/>
                </a:schemeClr>
              </a:buClr>
              <a:buNone/>
            </a:pPr>
            <a:r>
              <a:rPr lang="en-US" altLang="zh-CN" sz="1400" b="1" dirty="0">
                <a:solidFill>
                  <a:schemeClr val="tx1"/>
                </a:solidFill>
              </a:rPr>
              <a:t>   * @version V1.0</a:t>
            </a:r>
          </a:p>
          <a:p>
            <a:pPr marL="0" indent="456971">
              <a:lnSpc>
                <a:spcPct val="125000"/>
              </a:lnSpc>
              <a:spcBef>
                <a:spcPts val="0"/>
              </a:spcBef>
              <a:buClr>
                <a:schemeClr val="tx2">
                  <a:lumMod val="75000"/>
                </a:schemeClr>
              </a:buClr>
              <a:buNone/>
            </a:pPr>
            <a:r>
              <a:rPr lang="en-US" altLang="zh-CN" sz="1400" b="1" dirty="0">
                <a:solidFill>
                  <a:schemeClr val="tx1"/>
                </a:solidFill>
              </a:rPr>
              <a:t>   * @date    2018-xx-xx</a:t>
            </a:r>
          </a:p>
          <a:p>
            <a:pPr marL="0" indent="456971">
              <a:lnSpc>
                <a:spcPct val="125000"/>
              </a:lnSpc>
              <a:spcBef>
                <a:spcPts val="0"/>
              </a:spcBef>
              <a:buClr>
                <a:schemeClr val="tx2">
                  <a:lumMod val="75000"/>
                </a:schemeClr>
              </a:buClr>
              <a:buNone/>
            </a:pPr>
            <a:r>
              <a:rPr lang="en-US" altLang="zh-CN" sz="1400" b="1" dirty="0">
                <a:solidFill>
                  <a:schemeClr val="tx1"/>
                </a:solidFill>
              </a:rPr>
              <a:t>   *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@attention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"los_task.ph"</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p:txBody>
      </p:sp>
      <p:sp>
        <p:nvSpPr>
          <p:cNvPr id="4" name="内容占位符 3"/>
          <p:cNvSpPr>
            <a:spLocks noGrp="1"/>
          </p:cNvSpPr>
          <p:nvPr>
            <p:ph idx="13"/>
          </p:nvPr>
        </p:nvSpPr>
        <p:spPr>
          <a:xfrm>
            <a:off x="495102" y="747701"/>
            <a:ext cx="11465244" cy="914252"/>
          </a:xfrm>
        </p:spPr>
        <p:txBody>
          <a:bodyPr>
            <a:normAutofit/>
          </a:bodyPr>
          <a:lstStyle/>
          <a:p>
            <a:pPr indent="456971"/>
            <a:r>
              <a:rPr lang="zh-CN" altLang="en-US" dirty="0"/>
              <a:t>创建两个任务，两个任务的优先级不同，任务</a:t>
            </a:r>
            <a:r>
              <a:rPr lang="en-US" altLang="zh-CN" dirty="0"/>
              <a:t>1</a:t>
            </a:r>
            <a:r>
              <a:rPr lang="zh-CN" altLang="en-US" dirty="0"/>
              <a:t>实现</a:t>
            </a:r>
            <a:r>
              <a:rPr lang="en-US" altLang="zh-CN" dirty="0">
                <a:solidFill>
                  <a:srgbClr val="C00000"/>
                </a:solidFill>
              </a:rPr>
              <a:t>LED1</a:t>
            </a:r>
            <a:r>
              <a:rPr lang="zh-CN" altLang="en-US" dirty="0">
                <a:solidFill>
                  <a:srgbClr val="C00000"/>
                </a:solidFill>
              </a:rPr>
              <a:t>灯闪烁</a:t>
            </a:r>
            <a:r>
              <a:rPr lang="zh-CN" altLang="en-US" dirty="0"/>
              <a:t>，任务</a:t>
            </a:r>
            <a:r>
              <a:rPr lang="en-US" altLang="zh-CN" dirty="0"/>
              <a:t>2</a:t>
            </a:r>
            <a:r>
              <a:rPr lang="zh-CN" altLang="en-US" dirty="0"/>
              <a:t>实现</a:t>
            </a:r>
            <a:r>
              <a:rPr lang="en-US" altLang="zh-CN" dirty="0">
                <a:solidFill>
                  <a:srgbClr val="C00000"/>
                </a:solidFill>
              </a:rPr>
              <a:t>LED2</a:t>
            </a:r>
            <a:r>
              <a:rPr lang="zh-CN" altLang="en-US" dirty="0">
                <a:solidFill>
                  <a:srgbClr val="C00000"/>
                </a:solidFill>
              </a:rPr>
              <a:t>灯闪烁</a:t>
            </a:r>
            <a:r>
              <a:rPr lang="zh-CN" altLang="en-US" dirty="0"/>
              <a:t>，两个</a:t>
            </a:r>
            <a:r>
              <a:rPr lang="en-US" altLang="zh-CN" dirty="0"/>
              <a:t>LED</a:t>
            </a:r>
            <a:r>
              <a:rPr lang="zh-CN" altLang="en-US" dirty="0"/>
              <a:t>灯闪烁的频率不一样，并且在</a:t>
            </a:r>
            <a:r>
              <a:rPr lang="zh-CN" altLang="en-US" dirty="0">
                <a:solidFill>
                  <a:srgbClr val="C00000"/>
                </a:solidFill>
              </a:rPr>
              <a:t>串口中输出相应的调试信息</a:t>
            </a:r>
            <a:r>
              <a:rPr lang="zh-CN" altLang="en-US" dirty="0"/>
              <a:t>，具体实现如代码清单加粗部分所示。</a:t>
            </a:r>
          </a:p>
        </p:txBody>
      </p:sp>
      <p:sp>
        <p:nvSpPr>
          <p:cNvPr id="10" name="矩形 9"/>
          <p:cNvSpPr/>
          <p:nvPr/>
        </p:nvSpPr>
        <p:spPr>
          <a:xfrm>
            <a:off x="0" y="1502729"/>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内容占位符 2"/>
          <p:cNvSpPr txBox="1">
            <a:spLocks/>
          </p:cNvSpPr>
          <p:nvPr/>
        </p:nvSpPr>
        <p:spPr>
          <a:xfrm>
            <a:off x="6444682" y="2672020"/>
            <a:ext cx="5515664" cy="4539750"/>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a:t>
            </a:r>
            <a:r>
              <a:rPr lang="zh-CN" altLang="en-US" dirty="0"/>
              <a:t>定义任务</a:t>
            </a:r>
            <a:r>
              <a:rPr lang="en-US" altLang="zh-CN" dirty="0"/>
              <a:t>ID</a:t>
            </a:r>
            <a:r>
              <a:rPr lang="zh-CN" altLang="en-US" dirty="0"/>
              <a:t>变量 *</a:t>
            </a:r>
            <a:r>
              <a:rPr lang="en-US" altLang="zh-CN" dirty="0"/>
              <a:t>/</a:t>
            </a:r>
          </a:p>
          <a:p>
            <a:r>
              <a:rPr lang="en-US" altLang="zh-CN" dirty="0"/>
              <a:t> UINT32 Test1_Task_Handle;</a:t>
            </a:r>
          </a:p>
          <a:p>
            <a:r>
              <a:rPr lang="en-US" altLang="zh-CN" dirty="0"/>
              <a:t>UINT32 Test2_Task_Handle;</a:t>
            </a:r>
          </a:p>
          <a:p>
            <a:r>
              <a:rPr lang="en-US" altLang="zh-CN" dirty="0"/>
              <a:t> /* </a:t>
            </a:r>
            <a:r>
              <a:rPr lang="zh-CN" altLang="en-US" dirty="0"/>
              <a:t>函数声明 *</a:t>
            </a:r>
            <a:r>
              <a:rPr lang="en-US" altLang="zh-CN" dirty="0"/>
              <a:t>/</a:t>
            </a:r>
          </a:p>
          <a:p>
            <a:r>
              <a:rPr lang="en-US" altLang="zh-CN" dirty="0"/>
              <a:t>static UINT32 </a:t>
            </a:r>
            <a:r>
              <a:rPr lang="en-US" altLang="zh-CN" dirty="0" err="1"/>
              <a:t>AppTaskCreate</a:t>
            </a:r>
            <a:r>
              <a:rPr lang="en-US" altLang="zh-CN" dirty="0"/>
              <a:t>(void);</a:t>
            </a:r>
          </a:p>
          <a:p>
            <a:r>
              <a:rPr lang="en-US" altLang="zh-CN" dirty="0"/>
              <a:t>static UINT32 Creat_Test1_Task(void);</a:t>
            </a:r>
          </a:p>
          <a:p>
            <a:r>
              <a:rPr lang="en-US" altLang="zh-CN" dirty="0"/>
              <a:t>static UINT32 Creat_Test2_Task(void);</a:t>
            </a:r>
          </a:p>
          <a:p>
            <a:r>
              <a:rPr lang="en-US" altLang="zh-CN" dirty="0"/>
              <a:t> static void Test1_Task(void);</a:t>
            </a:r>
          </a:p>
          <a:p>
            <a:r>
              <a:rPr lang="en-US" altLang="zh-CN" dirty="0"/>
              <a:t> static void Test2_Task(void);</a:t>
            </a:r>
          </a:p>
          <a:p>
            <a:r>
              <a:rPr lang="en-US" altLang="zh-CN" dirty="0"/>
              <a:t> static void </a:t>
            </a:r>
            <a:r>
              <a:rPr lang="en-US" altLang="zh-CN" dirty="0" err="1"/>
              <a:t>BSP_Init</a:t>
            </a:r>
            <a:r>
              <a:rPr lang="en-US" altLang="zh-CN" dirty="0"/>
              <a:t>(void);</a:t>
            </a:r>
          </a:p>
        </p:txBody>
      </p:sp>
      <p:cxnSp>
        <p:nvCxnSpPr>
          <p:cNvPr id="14" name="直接连接符 13"/>
          <p:cNvCxnSpPr/>
          <p:nvPr/>
        </p:nvCxnSpPr>
        <p:spPr>
          <a:xfrm flipH="1">
            <a:off x="5943679" y="2411783"/>
            <a:ext cx="40807"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096000" y="2411783"/>
            <a:ext cx="76160" cy="4215951"/>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701577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105468"/>
            <a:ext cx="12193050" cy="56753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1" y="1032316"/>
            <a:ext cx="5919703" cy="5331551"/>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第二步：创建</a:t>
            </a:r>
            <a:r>
              <a:rPr lang="en-US" altLang="zh-CN" sz="1400" b="1" dirty="0">
                <a:solidFill>
                  <a:schemeClr val="tx1"/>
                </a:solidFill>
              </a:rPr>
              <a:t>App</a:t>
            </a:r>
            <a:r>
              <a:rPr lang="zh-CN" altLang="en-US" sz="1400" b="1" dirty="0">
                <a:solidFill>
                  <a:schemeClr val="tx1"/>
                </a:solidFill>
              </a:rPr>
              <a:t>应用任务</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第三步：启动</a:t>
            </a:r>
            <a:r>
              <a:rPr lang="en-US" altLang="zh-CN" sz="1400" b="1" dirty="0" err="1">
                <a:solidFill>
                  <a:schemeClr val="tx1"/>
                </a:solidFill>
              </a:rPr>
              <a:t>LiteOS</a:t>
            </a:r>
            <a:r>
              <a:rPr lang="zh-CN" altLang="en-US" sz="1400" b="1" dirty="0">
                <a:solidFill>
                  <a:schemeClr val="tx1"/>
                </a:solidFill>
              </a:rPr>
              <a:t>，开始多任务调度，启动失败时输出错误信息</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int main(void)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err="1">
                <a:solidFill>
                  <a:schemeClr val="tx1"/>
                </a:solidFill>
              </a:rPr>
              <a:t>BSP_Init</a:t>
            </a:r>
            <a:r>
              <a:rPr lang="en-US" altLang="zh-CN" sz="1400" b="1" dirty="0">
                <a:solidFill>
                  <a:schemeClr val="tx1"/>
                </a:solidFill>
              </a:rPr>
              <a:t>(); /*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en-US" altLang="zh-CN" sz="1400" b="1" dirty="0" err="1">
                <a:solidFill>
                  <a:schemeClr val="tx1"/>
                </a:solidFill>
              </a:rPr>
              <a:t>LiteOS</a:t>
            </a:r>
            <a:r>
              <a:rPr lang="en-US" altLang="zh-CN" sz="1400" b="1" dirty="0">
                <a:solidFill>
                  <a:schemeClr val="tx1"/>
                </a:solidFill>
              </a:rPr>
              <a:t>-SRAM</a:t>
            </a:r>
            <a:r>
              <a:rPr lang="zh-CN" altLang="en-US" sz="1400" b="1" dirty="0">
                <a:solidFill>
                  <a:schemeClr val="tx1"/>
                </a:solidFill>
              </a:rPr>
              <a:t>动态创建多任务！</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LOS_KernelInit</a:t>
            </a: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LOS_NOK;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AppTaskCreate</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en-US" altLang="zh-CN" sz="1400" b="1" dirty="0" err="1">
                <a:solidFill>
                  <a:schemeClr val="tx1"/>
                </a:solidFill>
              </a:rPr>
              <a:t>AppTaskCreate</a:t>
            </a:r>
            <a:r>
              <a:rPr lang="zh-CN" altLang="en-US" sz="1400" b="1" dirty="0">
                <a:solidFill>
                  <a:schemeClr val="tx1"/>
                </a:solidFill>
              </a:rPr>
              <a:t>创建任务失败！代码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LOS_NOK;      }</a:t>
            </a:r>
          </a:p>
        </p:txBody>
      </p:sp>
      <p:sp>
        <p:nvSpPr>
          <p:cNvPr id="10" name="矩形 9"/>
          <p:cNvSpPr/>
          <p:nvPr/>
        </p:nvSpPr>
        <p:spPr>
          <a:xfrm>
            <a:off x="-4224" y="820086"/>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13" name="直接连接符 12"/>
          <p:cNvCxnSpPr/>
          <p:nvPr/>
        </p:nvCxnSpPr>
        <p:spPr>
          <a:xfrm>
            <a:off x="6391616" y="1982186"/>
            <a:ext cx="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533084" y="939567"/>
            <a:ext cx="5674917" cy="5484665"/>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LOS_Start</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正常情况下不会执行到这里</a:t>
            </a:r>
          </a:p>
          <a:p>
            <a:pPr marL="0" indent="456971">
              <a:lnSpc>
                <a:spcPct val="110000"/>
              </a:lnSpc>
              <a:spcBef>
                <a:spcPts val="0"/>
              </a:spcBef>
              <a:buClr>
                <a:schemeClr val="tx2">
                  <a:lumMod val="75000"/>
                </a:schemeClr>
              </a:buClr>
              <a:buNone/>
            </a:pPr>
            <a:r>
              <a:rPr lang="en-US" altLang="zh-CN" sz="1400" b="1" dirty="0">
                <a:solidFill>
                  <a:schemeClr val="tx1"/>
                </a:solidFill>
              </a:rPr>
              <a:t>      while (1);</a:t>
            </a:r>
          </a:p>
          <a:p>
            <a:pPr marL="0" indent="456971">
              <a:lnSpc>
                <a:spcPct val="110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073070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838884"/>
            <a:ext cx="12193050" cy="59185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00154" y="750627"/>
            <a:ext cx="5472817"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任务创建，为了方便管理，所有的任务创建函数都可以放在这个函数中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参数    ：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("Test1_Task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Creat_Test2_Task();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("Test2_Task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return LOS_OK;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359834" y="817568"/>
            <a:ext cx="5832166"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30998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2" y="695687"/>
            <a:ext cx="5604734" cy="5856214"/>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Test2_Task</a:t>
            </a:r>
            <a:r>
              <a:rPr lang="zh-CN" altLang="en-US" sz="1400" b="1" dirty="0">
                <a:solidFill>
                  <a:schemeClr val="tx1"/>
                </a:solidFill>
              </a:rPr>
              <a:t>任务</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static UINT32 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定义一个创建任务的返回类型，初始化为创建成功的返回值</a:t>
            </a:r>
          </a:p>
          <a:p>
            <a:pPr marL="0" indent="456971">
              <a:lnSpc>
                <a:spcPct val="100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00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4;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"Test2_Task";/* </a:t>
            </a:r>
            <a:r>
              <a:rPr lang="zh-CN" altLang="en-US" sz="1400" b="1" dirty="0">
                <a:solidFill>
                  <a:schemeClr val="tx1"/>
                </a:solidFill>
              </a:rPr>
              <a:t>任务名*</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 </a:t>
            </a:r>
            <a:r>
              <a:rPr lang="zh-CN" altLang="en-US" sz="1400" b="1" dirty="0">
                <a:solidFill>
                  <a:schemeClr val="tx1"/>
                </a:solidFill>
              </a:rPr>
              <a:t>栈大小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(&amp;Test2_Task_Handle,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a:t>
            </a: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628597" y="1372343"/>
            <a:ext cx="5183126" cy="5255719"/>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a:solidFill>
                  <a:schemeClr val="tx1"/>
                </a:solidFill>
              </a:rPr>
              <a:t> static void Test1_Task(void)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a:solidFill>
                  <a:schemeClr val="tx1"/>
                </a:solidFill>
              </a:rPr>
              <a:t>           LED2_TOGGLE;</a:t>
            </a:r>
          </a:p>
          <a:p>
            <a:pPr marL="0" indent="456971">
              <a:lnSpc>
                <a:spcPct val="100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Test2_Task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static void Test2_Task(void)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a:solidFill>
                  <a:schemeClr val="tx1"/>
                </a:solidFill>
              </a:rPr>
              <a:t>LED1_TOGGLE;</a:t>
            </a:r>
          </a:p>
          <a:p>
            <a:pPr marL="0" indent="456971">
              <a:lnSpc>
                <a:spcPct val="100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zh-CN" altLang="en-US" sz="1400" b="1" dirty="0">
                <a:solidFill>
                  <a:schemeClr val="tx1"/>
                </a:solidFill>
              </a:rPr>
              <a:t>任务</a:t>
            </a:r>
            <a:r>
              <a:rPr lang="en-US" altLang="zh-CN" sz="1400" b="1" dirty="0">
                <a:solidFill>
                  <a:schemeClr val="tx1"/>
                </a:solidFill>
              </a:rPr>
              <a:t>2</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500ticks</a:t>
            </a:r>
            <a:r>
              <a:rPr lang="zh-CN" altLang="en-US" sz="1400" b="1" dirty="0">
                <a:solidFill>
                  <a:schemeClr val="tx1"/>
                </a:solidFill>
              </a:rPr>
              <a:t>打印一次信息</a:t>
            </a:r>
            <a:r>
              <a:rPr lang="en-US" altLang="zh-CN" sz="1400" b="1" dirty="0">
                <a:solidFill>
                  <a:schemeClr val="tx1"/>
                </a:solidFill>
              </a:rPr>
              <a:t>\n");</a:t>
            </a:r>
          </a:p>
          <a:p>
            <a:pPr marL="0" indent="456971">
              <a:lnSpc>
                <a:spcPct val="100000"/>
              </a:lnSpc>
              <a:spcBef>
                <a:spcPts val="0"/>
              </a:spcBef>
              <a:buClr>
                <a:schemeClr val="tx2">
                  <a:lumMod val="75000"/>
                </a:schemeClr>
              </a:buClr>
              <a:buNone/>
            </a:pPr>
            <a:r>
              <a:rPr lang="en-US" altLang="zh-CN" sz="1400" b="1" dirty="0" err="1">
                <a:solidFill>
                  <a:schemeClr val="tx1"/>
                </a:solidFill>
              </a:rPr>
              <a:t>LOS_TaskDelay</a:t>
            </a:r>
            <a:r>
              <a:rPr lang="en-US" altLang="zh-CN" sz="1400" b="1" dirty="0">
                <a:solidFill>
                  <a:schemeClr val="tx1"/>
                </a:solidFill>
              </a:rPr>
              <a:t>(500);    }</a:t>
            </a:r>
          </a:p>
          <a:p>
            <a:pPr marL="0" indent="456971">
              <a:lnSpc>
                <a:spcPct val="100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42093714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209550" y="1372343"/>
            <a:ext cx="7143097" cy="5026910"/>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USART_Config</a:t>
            </a:r>
            <a:r>
              <a:rPr lang="en-US" altLang="zh-CN" sz="1400" b="1" dirty="0">
                <a:solidFill>
                  <a:schemeClr val="tx1"/>
                </a:solidFill>
              </a:rPr>
              <a:t>(); 200 }</a:t>
            </a:r>
          </a:p>
          <a:p>
            <a:pPr marL="0" indent="456971">
              <a:lnSpc>
                <a:spcPct val="125000"/>
              </a:lnSpc>
              <a:spcBef>
                <a:spcPts val="0"/>
              </a:spcBef>
              <a:buClr>
                <a:schemeClr val="tx2">
                  <a:lumMod val="75000"/>
                </a:schemeClr>
              </a:buClr>
              <a:buNone/>
            </a:pPr>
            <a:r>
              <a:rPr lang="en-US" altLang="zh-CN" sz="1400" b="1" dirty="0">
                <a:solidFill>
                  <a:schemeClr val="tx1"/>
                </a:solidFill>
              </a:rPr>
              <a:t> /************************END OF FILE**********************/</a:t>
            </a:r>
          </a:p>
        </p:txBody>
      </p:sp>
      <p:sp>
        <p:nvSpPr>
          <p:cNvPr id="10" name="矩形 9"/>
          <p:cNvSpPr/>
          <p:nvPr/>
        </p:nvSpPr>
        <p:spPr>
          <a:xfrm>
            <a:off x="-4224"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p:cNvSpPr/>
          <p:nvPr/>
        </p:nvSpPr>
        <p:spPr>
          <a:xfrm>
            <a:off x="7352647" y="3811485"/>
            <a:ext cx="4670117" cy="248297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b="1" dirty="0"/>
          </a:p>
        </p:txBody>
      </p:sp>
      <p:sp>
        <p:nvSpPr>
          <p:cNvPr id="16" name="内容占位符 2"/>
          <p:cNvSpPr txBox="1">
            <a:spLocks/>
          </p:cNvSpPr>
          <p:nvPr/>
        </p:nvSpPr>
        <p:spPr>
          <a:xfrm>
            <a:off x="7429501" y="3885962"/>
            <a:ext cx="4524374" cy="2331300"/>
          </a:xfrm>
          <a:prstGeom prst="rect">
            <a:avLst/>
          </a:prstGeom>
          <a:solidFill>
            <a:srgbClr val="2B6C95"/>
          </a:solidFill>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800" b="1" dirty="0">
                <a:solidFill>
                  <a:schemeClr val="bg1"/>
                </a:solidFill>
              </a:rPr>
              <a:t>本例程只创建了两个任务，如果想要创建</a:t>
            </a:r>
            <a:r>
              <a:rPr lang="en-US" altLang="zh-CN" sz="1800" b="1" dirty="0">
                <a:solidFill>
                  <a:schemeClr val="bg1"/>
                </a:solidFill>
              </a:rPr>
              <a:t>3</a:t>
            </a:r>
            <a:r>
              <a:rPr lang="zh-CN" altLang="en-US" sz="1800" b="1" dirty="0">
                <a:solidFill>
                  <a:schemeClr val="bg1"/>
                </a:solidFill>
              </a:rPr>
              <a:t>个、</a:t>
            </a:r>
            <a:r>
              <a:rPr lang="en-US" altLang="zh-CN" sz="1800" b="1" dirty="0">
                <a:solidFill>
                  <a:schemeClr val="bg1"/>
                </a:solidFill>
              </a:rPr>
              <a:t>4</a:t>
            </a:r>
            <a:r>
              <a:rPr lang="zh-CN" altLang="en-US" sz="1800" b="1" dirty="0">
                <a:solidFill>
                  <a:schemeClr val="bg1"/>
                </a:solidFill>
              </a:rPr>
              <a:t>个甚至更多个任务，其过程也是一样的，容易忽略的地方是任务栈的大小、优先级等，读者可以根据创建任务的重要性与复杂度等配置不同的任务栈空间及任务优先级。</a:t>
            </a:r>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0437431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矩形 9"/>
          <p:cNvSpPr/>
          <p:nvPr/>
        </p:nvSpPr>
        <p:spPr>
          <a:xfrm>
            <a:off x="-4224"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矩形 10"/>
          <p:cNvSpPr/>
          <p:nvPr/>
        </p:nvSpPr>
        <p:spPr>
          <a:xfrm>
            <a:off x="-4224" y="655190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内容占位符 2"/>
          <p:cNvSpPr txBox="1">
            <a:spLocks/>
          </p:cNvSpPr>
          <p:nvPr/>
        </p:nvSpPr>
        <p:spPr>
          <a:xfrm>
            <a:off x="474521" y="1492702"/>
            <a:ext cx="4707555" cy="2913949"/>
          </a:xfrm>
          <a:prstGeom prst="rect">
            <a:avLst/>
          </a:prstGeom>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40000"/>
              </a:lnSpc>
              <a:buNone/>
            </a:pPr>
            <a:r>
              <a:rPr lang="zh-CN" altLang="en-US" sz="1800" dirty="0">
                <a:solidFill>
                  <a:schemeClr val="tx1"/>
                </a:solidFill>
              </a:rPr>
              <a:t>将程序编译好，使用</a:t>
            </a:r>
            <a:r>
              <a:rPr lang="en-US" altLang="zh-CN" sz="1800" dirty="0">
                <a:solidFill>
                  <a:schemeClr val="tx1"/>
                </a:solidFill>
              </a:rPr>
              <a:t>DAP</a:t>
            </a:r>
            <a:r>
              <a:rPr lang="zh-CN" altLang="en-US" sz="1800" dirty="0">
                <a:solidFill>
                  <a:schemeClr val="tx1"/>
                </a:solidFill>
              </a:rPr>
              <a:t>仿真器把程序下载到</a:t>
            </a:r>
            <a:r>
              <a:rPr lang="en-US" altLang="zh-CN" sz="1800" dirty="0">
                <a:solidFill>
                  <a:schemeClr val="tx1"/>
                </a:solidFill>
              </a:rPr>
              <a:t>STM32</a:t>
            </a:r>
            <a:r>
              <a:rPr lang="zh-CN" altLang="en-US" sz="1800" dirty="0">
                <a:solidFill>
                  <a:schemeClr val="tx1"/>
                </a:solidFill>
              </a:rPr>
              <a:t>开发板（具体型号根据读者使用的开发板而定，每个型号的开发板都配套有对应的程序）中，可以看到开发板中的两个</a:t>
            </a:r>
            <a:r>
              <a:rPr lang="en-US" altLang="zh-CN" sz="1800" dirty="0">
                <a:solidFill>
                  <a:schemeClr val="tx1"/>
                </a:solidFill>
              </a:rPr>
              <a:t>LED</a:t>
            </a:r>
            <a:r>
              <a:rPr lang="zh-CN" altLang="en-US" sz="1800" dirty="0">
                <a:solidFill>
                  <a:schemeClr val="tx1"/>
                </a:solidFill>
              </a:rPr>
              <a:t>灯以不同的频率在闪烁，而且串口输出对应的运行信息，具体如图所示，说明创建的两个任务能够正常运行。</a:t>
            </a:r>
          </a:p>
        </p:txBody>
      </p:sp>
      <p:pic>
        <p:nvPicPr>
          <p:cNvPr id="3074" name="图片 1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638" y="1662761"/>
            <a:ext cx="6083559" cy="48162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矩形 11"/>
          <p:cNvSpPr/>
          <p:nvPr/>
        </p:nvSpPr>
        <p:spPr>
          <a:xfrm>
            <a:off x="914945" y="5781061"/>
            <a:ext cx="380802" cy="770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矩形 12"/>
          <p:cNvSpPr/>
          <p:nvPr/>
        </p:nvSpPr>
        <p:spPr>
          <a:xfrm>
            <a:off x="1524228" y="5307254"/>
            <a:ext cx="380802" cy="124544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矩形 13"/>
          <p:cNvSpPr/>
          <p:nvPr/>
        </p:nvSpPr>
        <p:spPr>
          <a:xfrm>
            <a:off x="2133511" y="5603493"/>
            <a:ext cx="380802" cy="94920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矩形 16"/>
          <p:cNvSpPr/>
          <p:nvPr/>
        </p:nvSpPr>
        <p:spPr>
          <a:xfrm>
            <a:off x="2818954" y="5932030"/>
            <a:ext cx="380802" cy="62066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3474058" y="5721195"/>
            <a:ext cx="380802" cy="83070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矩形 18"/>
          <p:cNvSpPr/>
          <p:nvPr/>
        </p:nvSpPr>
        <p:spPr>
          <a:xfrm>
            <a:off x="4245296" y="4952207"/>
            <a:ext cx="380802" cy="1599695"/>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2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6922435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4838503"/>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3.5 LiteOS </a:t>
            </a:r>
            <a:r>
              <a:rPr lang="zh-CN" altLang="en-US" sz="1899" dirty="0">
                <a:solidFill>
                  <a:schemeClr val="bg1"/>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5750941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0" name="Picture 2" descr="zh-cn_image_0308599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226" y="750627"/>
            <a:ext cx="9516110" cy="5758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614007" y="4587359"/>
            <a:ext cx="3211135" cy="369332"/>
          </a:xfrm>
          <a:prstGeom prst="rect">
            <a:avLst/>
          </a:prstGeom>
        </p:spPr>
        <p:txBody>
          <a:bodyPr wrap="none">
            <a:spAutoFit/>
          </a:bodyPr>
          <a:lstStyle/>
          <a:p>
            <a:r>
              <a:rPr lang="en-US" altLang="zh-CN" dirty="0" err="1">
                <a:solidFill>
                  <a:srgbClr val="C00000"/>
                </a:solidFill>
                <a:latin typeface="Arial" panose="020B0604020202020204" pitchFamily="34" charset="0"/>
              </a:rPr>
              <a:t>InterProcess</a:t>
            </a:r>
            <a:r>
              <a:rPr lang="en-US" altLang="zh-CN" dirty="0">
                <a:solidFill>
                  <a:srgbClr val="C00000"/>
                </a:solidFill>
                <a:latin typeface="Arial" panose="020B0604020202020204" pitchFamily="34" charset="0"/>
              </a:rPr>
              <a:t> Communication</a:t>
            </a:r>
            <a:endParaRPr lang="zh-CN" altLang="en-US" dirty="0">
              <a:solidFill>
                <a:srgbClr val="C00000"/>
              </a:solidFill>
            </a:endParaRPr>
          </a:p>
        </p:txBody>
      </p:sp>
    </p:spTree>
    <p:extLst>
      <p:ext uri="{BB962C8B-B14F-4D97-AF65-F5344CB8AC3E}">
        <p14:creationId xmlns:p14="http://schemas.microsoft.com/office/powerpoint/2010/main" val="30781484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174" y="1369108"/>
            <a:ext cx="12193050" cy="52441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60136" y="1505468"/>
            <a:ext cx="11274585" cy="837764"/>
          </a:xfrm>
        </p:spPr>
        <p:txBody>
          <a:bodyPr>
            <a:normAutofit/>
          </a:bodyPr>
          <a:lstStyle/>
          <a:p>
            <a:pPr marL="0" indent="456971">
              <a:lnSpc>
                <a:spcPct val="140000"/>
              </a:lnSpc>
              <a:buNone/>
            </a:pPr>
            <a:r>
              <a:rPr lang="zh-CN" altLang="en-US" b="1" dirty="0"/>
              <a:t>在</a:t>
            </a:r>
            <a:r>
              <a:rPr lang="en-US" altLang="zh-CN" b="1" dirty="0"/>
              <a:t>main</a:t>
            </a:r>
            <a:r>
              <a:rPr lang="zh-CN" altLang="en-US" b="1" dirty="0"/>
              <a:t>函数中将系统</a:t>
            </a:r>
            <a:r>
              <a:rPr lang="zh-CN" altLang="en-US" b="1" dirty="0">
                <a:solidFill>
                  <a:srgbClr val="C00000"/>
                </a:solidFill>
              </a:rPr>
              <a:t>硬件初始化</a:t>
            </a:r>
            <a:r>
              <a:rPr lang="zh-CN" altLang="en-US" b="1" dirty="0"/>
              <a:t>完成，将</a:t>
            </a:r>
            <a:r>
              <a:rPr lang="en-US" altLang="zh-CN" b="1" dirty="0"/>
              <a:t>RTOS</a:t>
            </a:r>
            <a:r>
              <a:rPr lang="zh-CN" altLang="en-US" b="1" dirty="0">
                <a:solidFill>
                  <a:srgbClr val="C00000"/>
                </a:solidFill>
              </a:rPr>
              <a:t>内核初始化</a:t>
            </a:r>
            <a:r>
              <a:rPr lang="zh-CN" altLang="en-US" b="1" dirty="0"/>
              <a:t>完成，将系统的所有</a:t>
            </a:r>
            <a:r>
              <a:rPr lang="zh-CN" altLang="en-US" b="1" dirty="0">
                <a:solidFill>
                  <a:srgbClr val="C00000"/>
                </a:solidFill>
              </a:rPr>
              <a:t>任务创建</a:t>
            </a:r>
            <a:r>
              <a:rPr lang="zh-CN" altLang="en-US" b="1" dirty="0"/>
              <a:t>完成，这样整个系统万事俱备，只需要</a:t>
            </a:r>
            <a:r>
              <a:rPr lang="zh-CN" altLang="en-US" b="1" dirty="0">
                <a:solidFill>
                  <a:srgbClr val="C00000"/>
                </a:solidFill>
              </a:rPr>
              <a:t>启动</a:t>
            </a:r>
            <a:r>
              <a:rPr lang="en-US" altLang="zh-CN" b="1" dirty="0">
                <a:solidFill>
                  <a:srgbClr val="C00000"/>
                </a:solidFill>
              </a:rPr>
              <a:t>RTOS</a:t>
            </a:r>
            <a:r>
              <a:rPr lang="zh-CN" altLang="en-US" b="1" dirty="0">
                <a:solidFill>
                  <a:srgbClr val="C00000"/>
                </a:solidFill>
              </a:rPr>
              <a:t>的调度器</a:t>
            </a:r>
            <a:r>
              <a:rPr lang="zh-CN" altLang="en-US" b="1" dirty="0"/>
              <a:t>，就可以开启多任务的调度。其伪代码实现如代码清单</a:t>
            </a:r>
            <a:r>
              <a:rPr lang="en-US" altLang="zh-CN" b="1" dirty="0"/>
              <a:t>3~10</a:t>
            </a:r>
            <a:r>
              <a:rPr lang="zh-CN" altLang="en-US" b="1" dirty="0"/>
              <a:t>所示。</a:t>
            </a:r>
          </a:p>
        </p:txBody>
      </p:sp>
      <p:sp>
        <p:nvSpPr>
          <p:cNvPr id="4" name="内容占位符 3"/>
          <p:cNvSpPr>
            <a:spLocks noGrp="1"/>
          </p:cNvSpPr>
          <p:nvPr>
            <p:ph idx="13"/>
          </p:nvPr>
        </p:nvSpPr>
        <p:spPr>
          <a:xfrm>
            <a:off x="495103" y="796548"/>
            <a:ext cx="10741463" cy="464216"/>
          </a:xfrm>
        </p:spPr>
        <p:txBody>
          <a:bodyPr>
            <a:normAutofit/>
          </a:bodyPr>
          <a:lstStyle/>
          <a:p>
            <a:r>
              <a:rPr lang="zh-CN" altLang="en-US" b="1" dirty="0"/>
              <a:t>第一种启动方式</a:t>
            </a:r>
          </a:p>
        </p:txBody>
      </p:sp>
      <p:sp>
        <p:nvSpPr>
          <p:cNvPr id="5" name="内容占位符 2"/>
          <p:cNvSpPr txBox="1">
            <a:spLocks/>
          </p:cNvSpPr>
          <p:nvPr/>
        </p:nvSpPr>
        <p:spPr>
          <a:xfrm>
            <a:off x="495103" y="2507825"/>
            <a:ext cx="6134019" cy="3846523"/>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int main (void) {</a:t>
            </a:r>
          </a:p>
          <a:p>
            <a:r>
              <a:rPr lang="en-US" altLang="zh-CN" dirty="0"/>
              <a:t>       /* </a:t>
            </a:r>
            <a:r>
              <a:rPr lang="zh-CN" altLang="en-US" dirty="0"/>
              <a:t>硬件初始化 *</a:t>
            </a:r>
            <a:r>
              <a:rPr lang="en-US" altLang="zh-CN" dirty="0"/>
              <a:t>/</a:t>
            </a:r>
          </a:p>
          <a:p>
            <a:r>
              <a:rPr lang="en-US" altLang="zh-CN" dirty="0"/>
              <a:t>       </a:t>
            </a:r>
            <a:r>
              <a:rPr lang="en-US" altLang="zh-CN" dirty="0" err="1"/>
              <a:t>BSP_Init</a:t>
            </a:r>
            <a:r>
              <a:rPr lang="en-US" altLang="zh-CN" dirty="0"/>
              <a:t>(); 				(1)</a:t>
            </a:r>
          </a:p>
          <a:p>
            <a:r>
              <a:rPr lang="en-US" altLang="zh-CN" dirty="0"/>
              <a:t>      /* RTOS</a:t>
            </a:r>
            <a:r>
              <a:rPr lang="zh-CN" altLang="en-US" dirty="0"/>
              <a:t>初始化 *</a:t>
            </a:r>
            <a:r>
              <a:rPr lang="en-US" altLang="zh-CN" dirty="0"/>
              <a:t>/</a:t>
            </a:r>
          </a:p>
          <a:p>
            <a:r>
              <a:rPr lang="en-US" altLang="zh-CN" dirty="0"/>
              <a:t>      </a:t>
            </a:r>
            <a:r>
              <a:rPr lang="en-US" altLang="zh-CN" dirty="0" err="1"/>
              <a:t>LOS_KernelInit</a:t>
            </a:r>
            <a:r>
              <a:rPr lang="en-US" altLang="zh-CN" dirty="0"/>
              <a:t>(); 			(2)</a:t>
            </a:r>
          </a:p>
          <a:p>
            <a:r>
              <a:rPr lang="en-US" altLang="zh-CN" dirty="0"/>
              <a:t>      /* </a:t>
            </a:r>
            <a:r>
              <a:rPr lang="zh-CN" altLang="en-US" dirty="0"/>
              <a:t>创建任务</a:t>
            </a:r>
            <a:r>
              <a:rPr lang="en-US" altLang="zh-CN" dirty="0"/>
              <a:t>1</a:t>
            </a:r>
            <a:r>
              <a:rPr lang="zh-CN" altLang="en-US" dirty="0"/>
              <a:t>，但任务</a:t>
            </a:r>
            <a:r>
              <a:rPr lang="en-US" altLang="zh-CN" dirty="0"/>
              <a:t>1</a:t>
            </a:r>
            <a:r>
              <a:rPr lang="zh-CN" altLang="en-US" dirty="0"/>
              <a:t>不会执行，因为调度器还没有开启 *</a:t>
            </a:r>
            <a:r>
              <a:rPr lang="en-US" altLang="zh-CN" dirty="0"/>
              <a:t>/    	(3)</a:t>
            </a:r>
          </a:p>
          <a:p>
            <a:r>
              <a:rPr lang="en-US" altLang="zh-CN" dirty="0"/>
              <a:t>      Creat_Test1_Task();</a:t>
            </a:r>
          </a:p>
          <a:p>
            <a:r>
              <a:rPr lang="en-US" altLang="zh-CN" dirty="0"/>
              <a:t>      /* </a:t>
            </a:r>
            <a:r>
              <a:rPr lang="zh-CN" altLang="en-US" dirty="0"/>
              <a:t>创建任务</a:t>
            </a:r>
            <a:r>
              <a:rPr lang="en-US" altLang="zh-CN" dirty="0"/>
              <a:t>2</a:t>
            </a:r>
            <a:r>
              <a:rPr lang="zh-CN" altLang="en-US" dirty="0"/>
              <a:t>，但任务</a:t>
            </a:r>
            <a:r>
              <a:rPr lang="en-US" altLang="zh-CN" dirty="0"/>
              <a:t>2</a:t>
            </a:r>
            <a:r>
              <a:rPr lang="zh-CN" altLang="en-US" dirty="0"/>
              <a:t>不会执行，因为调度器还没有开启 *</a:t>
            </a:r>
            <a:r>
              <a:rPr lang="en-US" altLang="zh-CN" dirty="0"/>
              <a:t>/</a:t>
            </a:r>
          </a:p>
          <a:p>
            <a:r>
              <a:rPr lang="en-US" altLang="zh-CN" dirty="0"/>
              <a:t>      Creat_Test2_Task();</a:t>
            </a:r>
          </a:p>
          <a:p>
            <a:r>
              <a:rPr lang="en-US" altLang="zh-CN" dirty="0"/>
              <a:t>      /* </a:t>
            </a:r>
            <a:r>
              <a:rPr lang="zh-CN" altLang="en-US" dirty="0"/>
              <a:t>继续创建各种任务 *</a:t>
            </a:r>
            <a:r>
              <a:rPr lang="en-US" altLang="zh-CN" dirty="0"/>
              <a:t>/</a:t>
            </a:r>
          </a:p>
          <a:p>
            <a:r>
              <a:rPr lang="en-US" altLang="zh-CN" dirty="0"/>
              <a:t>      /* </a:t>
            </a:r>
            <a:r>
              <a:rPr lang="zh-CN" altLang="en-US" dirty="0"/>
              <a:t>启动</a:t>
            </a:r>
            <a:r>
              <a:rPr lang="en-US" altLang="zh-CN" dirty="0"/>
              <a:t>RTOS</a:t>
            </a:r>
            <a:r>
              <a:rPr lang="zh-CN" altLang="en-US" dirty="0"/>
              <a:t>，开始调度 *</a:t>
            </a:r>
            <a:r>
              <a:rPr lang="en-US" altLang="zh-CN" dirty="0"/>
              <a:t>/</a:t>
            </a:r>
          </a:p>
          <a:p>
            <a:r>
              <a:rPr lang="en-US" altLang="zh-CN" dirty="0"/>
              <a:t>      </a:t>
            </a:r>
            <a:r>
              <a:rPr lang="en-US" altLang="zh-CN" dirty="0" err="1"/>
              <a:t>LOS_Start</a:t>
            </a:r>
            <a:r>
              <a:rPr lang="en-US" altLang="zh-CN" dirty="0"/>
              <a:t>();                                      		(4)</a:t>
            </a:r>
          </a:p>
          <a:p>
            <a:r>
              <a:rPr lang="en-US" altLang="zh-CN" dirty="0"/>
              <a:t> }</a:t>
            </a:r>
          </a:p>
        </p:txBody>
      </p:sp>
      <p:sp>
        <p:nvSpPr>
          <p:cNvPr id="10" name="矩形 9"/>
          <p:cNvSpPr/>
          <p:nvPr/>
        </p:nvSpPr>
        <p:spPr>
          <a:xfrm>
            <a:off x="0" y="1188883"/>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矩形 10"/>
          <p:cNvSpPr/>
          <p:nvPr/>
        </p:nvSpPr>
        <p:spPr>
          <a:xfrm>
            <a:off x="0" y="650138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内容占位符 2"/>
          <p:cNvSpPr txBox="1">
            <a:spLocks/>
          </p:cNvSpPr>
          <p:nvPr/>
        </p:nvSpPr>
        <p:spPr>
          <a:xfrm>
            <a:off x="6916235" y="2521674"/>
            <a:ext cx="5252063" cy="2659014"/>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void Test1_Task ( void *</a:t>
            </a:r>
            <a:r>
              <a:rPr lang="en-US" altLang="zh-CN" dirty="0" err="1"/>
              <a:t>arg</a:t>
            </a:r>
            <a:r>
              <a:rPr lang="en-US" altLang="zh-CN" dirty="0"/>
              <a:t> ) { 		(5)</a:t>
            </a:r>
          </a:p>
          <a:p>
            <a:r>
              <a:rPr lang="en-US" altLang="zh-CN" dirty="0"/>
              <a:t> while (1) {</a:t>
            </a:r>
          </a:p>
          <a:p>
            <a:r>
              <a:rPr lang="en-US" altLang="zh-CN" dirty="0"/>
              <a:t>           /* </a:t>
            </a:r>
            <a:r>
              <a:rPr lang="zh-CN" altLang="en-US" dirty="0"/>
              <a:t>任务主体，必须有阻塞的情况出现 *</a:t>
            </a:r>
            <a:r>
              <a:rPr lang="en-US" altLang="zh-CN" dirty="0"/>
              <a:t>/</a:t>
            </a:r>
          </a:p>
          <a:p>
            <a:r>
              <a:rPr lang="en-US" altLang="zh-CN" dirty="0"/>
              <a:t>      }</a:t>
            </a:r>
          </a:p>
          <a:p>
            <a:r>
              <a:rPr lang="en-US" altLang="zh-CN" dirty="0"/>
              <a:t> }</a:t>
            </a:r>
          </a:p>
          <a:p>
            <a:r>
              <a:rPr lang="en-US" altLang="zh-CN" dirty="0"/>
              <a:t> void Test2_Task ( void *</a:t>
            </a:r>
            <a:r>
              <a:rPr lang="en-US" altLang="zh-CN" dirty="0" err="1"/>
              <a:t>arg</a:t>
            </a:r>
            <a:r>
              <a:rPr lang="en-US" altLang="zh-CN" dirty="0"/>
              <a:t> ) {              		(6)</a:t>
            </a:r>
          </a:p>
          <a:p>
            <a:r>
              <a:rPr lang="en-US" altLang="zh-CN" dirty="0"/>
              <a:t>while (1) {</a:t>
            </a:r>
          </a:p>
          <a:p>
            <a:r>
              <a:rPr lang="en-US" altLang="zh-CN" dirty="0"/>
              <a:t>           /* </a:t>
            </a:r>
            <a:r>
              <a:rPr lang="zh-CN" altLang="en-US" dirty="0"/>
              <a:t>任务主体，必须有阻塞的情况出现 *</a:t>
            </a:r>
            <a:r>
              <a:rPr lang="en-US" altLang="zh-CN" dirty="0"/>
              <a:t>/</a:t>
            </a:r>
          </a:p>
          <a:p>
            <a:r>
              <a:rPr lang="en-US" altLang="zh-CN" dirty="0"/>
              <a:t>      }</a:t>
            </a:r>
          </a:p>
          <a:p>
            <a:r>
              <a:rPr lang="en-US" altLang="zh-CN" dirty="0"/>
              <a:t> }</a:t>
            </a:r>
          </a:p>
        </p:txBody>
      </p:sp>
      <p:cxnSp>
        <p:nvCxnSpPr>
          <p:cNvPr id="22" name="直接连接符 21"/>
          <p:cNvCxnSpPr/>
          <p:nvPr/>
        </p:nvCxnSpPr>
        <p:spPr>
          <a:xfrm>
            <a:off x="6096000" y="2493976"/>
            <a:ext cx="76160" cy="3860372"/>
          </a:xfrm>
          <a:prstGeom prst="line">
            <a:avLst/>
          </a:prstGeom>
        </p:spPr>
        <p:style>
          <a:lnRef idx="1">
            <a:schemeClr val="accent1"/>
          </a:lnRef>
          <a:fillRef idx="0">
            <a:schemeClr val="accent1"/>
          </a:fillRef>
          <a:effectRef idx="0">
            <a:schemeClr val="accent1"/>
          </a:effectRef>
          <a:fontRef idx="minor">
            <a:schemeClr val="tx1"/>
          </a:fontRef>
        </p:style>
      </p:cxnSp>
      <p:sp>
        <p:nvSpPr>
          <p:cNvPr id="24" name="圆角矩形标注 23"/>
          <p:cNvSpPr/>
          <p:nvPr/>
        </p:nvSpPr>
        <p:spPr>
          <a:xfrm>
            <a:off x="2364144" y="2493975"/>
            <a:ext cx="4090587" cy="558489"/>
          </a:xfrm>
          <a:prstGeom prst="wedgeRoundRectCallout">
            <a:avLst>
              <a:gd name="adj1" fmla="val -67090"/>
              <a:gd name="adj2" fmla="val 6062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199" b="1" dirty="0">
                <a:solidFill>
                  <a:srgbClr val="C00000"/>
                </a:solidFill>
              </a:rPr>
              <a:t>硬件初始化，属于裸机的范畴，读者可以把需要使用到的硬件都初始化完成并进行测试，确保硬件能够正常工作。</a:t>
            </a:r>
            <a:endParaRPr lang="zh-CN" altLang="en-US" sz="1199" b="1" dirty="0">
              <a:solidFill>
                <a:srgbClr val="C00000"/>
              </a:solidFill>
            </a:endParaRPr>
          </a:p>
        </p:txBody>
      </p:sp>
      <p:sp>
        <p:nvSpPr>
          <p:cNvPr id="25" name="圆角矩形标注 24"/>
          <p:cNvSpPr/>
          <p:nvPr/>
        </p:nvSpPr>
        <p:spPr>
          <a:xfrm>
            <a:off x="2989133" y="3152309"/>
            <a:ext cx="3456972" cy="899769"/>
          </a:xfrm>
          <a:prstGeom prst="wedgeRoundRectCallout">
            <a:avLst>
              <a:gd name="adj1" fmla="val -78633"/>
              <a:gd name="adj2" fmla="val 1951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99" b="1" dirty="0">
                <a:solidFill>
                  <a:srgbClr val="C00000"/>
                </a:solidFill>
              </a:rPr>
              <a:t>RTOS</a:t>
            </a:r>
            <a:r>
              <a:rPr lang="zh-CN" altLang="en-US" sz="1199" b="1" dirty="0">
                <a:solidFill>
                  <a:srgbClr val="C00000"/>
                </a:solidFill>
              </a:rPr>
              <a:t>初始化。不同的系统初始化所完成的工作是不一样的，在</a:t>
            </a:r>
            <a:r>
              <a:rPr lang="en-US" altLang="zh-CN" sz="1199" b="1" dirty="0" err="1">
                <a:solidFill>
                  <a:srgbClr val="C00000"/>
                </a:solidFill>
              </a:rPr>
              <a:t>LiteOS</a:t>
            </a:r>
            <a:r>
              <a:rPr lang="zh-CN" altLang="en-US" sz="1199" b="1" dirty="0">
                <a:solidFill>
                  <a:srgbClr val="C00000"/>
                </a:solidFill>
              </a:rPr>
              <a:t>中，需要对系统内存、内核资源等进行初始化；此外，需要创建一个空闲任务以保证系统的正常运行。</a:t>
            </a:r>
          </a:p>
        </p:txBody>
      </p:sp>
      <p:sp>
        <p:nvSpPr>
          <p:cNvPr id="26" name="圆角矩形标注 25"/>
          <p:cNvSpPr/>
          <p:nvPr/>
        </p:nvSpPr>
        <p:spPr>
          <a:xfrm>
            <a:off x="2637761" y="4787253"/>
            <a:ext cx="3929640" cy="560652"/>
          </a:xfrm>
          <a:prstGeom prst="wedgeRoundRectCallout">
            <a:avLst>
              <a:gd name="adj1" fmla="val -57918"/>
              <a:gd name="adj2" fmla="val -7943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创建各种用户任务。此处用户需要把所有系统中的所有任务都创建完成，但此时系统还未开始调度。</a:t>
            </a:r>
          </a:p>
        </p:txBody>
      </p:sp>
      <p:sp>
        <p:nvSpPr>
          <p:cNvPr id="27" name="圆角矩形标注 26"/>
          <p:cNvSpPr/>
          <p:nvPr/>
        </p:nvSpPr>
        <p:spPr>
          <a:xfrm>
            <a:off x="2516464" y="5587864"/>
            <a:ext cx="4569620" cy="526525"/>
          </a:xfrm>
          <a:prstGeom prst="wedgeRoundRectCallout">
            <a:avLst>
              <a:gd name="adj1" fmla="val -56199"/>
              <a:gd name="adj2" fmla="val 1048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启动</a:t>
            </a:r>
            <a:r>
              <a:rPr lang="en-US" altLang="zh-CN" sz="1199" b="1" dirty="0">
                <a:solidFill>
                  <a:srgbClr val="C00000"/>
                </a:solidFill>
              </a:rPr>
              <a:t>RTOS</a:t>
            </a:r>
            <a:r>
              <a:rPr lang="zh-CN" altLang="en-US" sz="1199" b="1" dirty="0">
                <a:solidFill>
                  <a:srgbClr val="C00000"/>
                </a:solidFill>
              </a:rPr>
              <a:t>调度器，系统开始任务调度。此时，调度器会从已经创建完成的就绪任务中选择一个优先级最高的任务开始运行。</a:t>
            </a:r>
          </a:p>
        </p:txBody>
      </p:sp>
      <p:sp>
        <p:nvSpPr>
          <p:cNvPr id="28" name="圆角矩形标注 27"/>
          <p:cNvSpPr/>
          <p:nvPr/>
        </p:nvSpPr>
        <p:spPr>
          <a:xfrm>
            <a:off x="7720058" y="3428404"/>
            <a:ext cx="3665828" cy="1375443"/>
          </a:xfrm>
          <a:prstGeom prst="wedgeRoundRectCallout">
            <a:avLst>
              <a:gd name="adj1" fmla="val -35915"/>
              <a:gd name="adj2" fmla="val -8446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199" b="1" dirty="0">
                <a:solidFill>
                  <a:srgbClr val="C00000"/>
                </a:solidFill>
              </a:rPr>
              <a:t>（</a:t>
            </a:r>
            <a:r>
              <a:rPr lang="en-US" altLang="zh-CN" sz="1199" b="1" dirty="0">
                <a:solidFill>
                  <a:srgbClr val="C00000"/>
                </a:solidFill>
              </a:rPr>
              <a:t>5</a:t>
            </a:r>
            <a:r>
              <a:rPr lang="zh-CN" altLang="en-US" sz="1199" b="1" dirty="0">
                <a:solidFill>
                  <a:srgbClr val="C00000"/>
                </a:solidFill>
              </a:rPr>
              <a:t>）和（</a:t>
            </a:r>
            <a:r>
              <a:rPr lang="en-US" altLang="zh-CN" sz="1199" b="1" dirty="0">
                <a:solidFill>
                  <a:srgbClr val="C00000"/>
                </a:solidFill>
              </a:rPr>
              <a:t>6</a:t>
            </a:r>
            <a:r>
              <a:rPr lang="zh-CN" altLang="en-US" sz="1199" b="1" dirty="0">
                <a:solidFill>
                  <a:srgbClr val="C00000"/>
                </a:solidFill>
              </a:rPr>
              <a:t>）：任务主体通常是一个不带返回值并无限循环的</a:t>
            </a:r>
            <a:r>
              <a:rPr lang="en-US" altLang="zh-CN" sz="1199" b="1" dirty="0">
                <a:solidFill>
                  <a:srgbClr val="C00000"/>
                </a:solidFill>
              </a:rPr>
              <a:t>C</a:t>
            </a:r>
            <a:r>
              <a:rPr lang="zh-CN" altLang="en-US" sz="1199" b="1" dirty="0">
                <a:solidFill>
                  <a:srgbClr val="C00000"/>
                </a:solidFill>
              </a:rPr>
              <a:t>函数，函数体中必须有阻塞的情况出现，否则该任务会一直在</a:t>
            </a:r>
            <a:r>
              <a:rPr lang="en-US" altLang="zh-CN" sz="1199" b="1" dirty="0">
                <a:solidFill>
                  <a:srgbClr val="C00000"/>
                </a:solidFill>
              </a:rPr>
              <a:t>while</a:t>
            </a:r>
            <a:r>
              <a:rPr lang="zh-CN" altLang="en-US" sz="1199" b="1" dirty="0">
                <a:solidFill>
                  <a:srgbClr val="C00000"/>
                </a:solidFill>
              </a:rPr>
              <a:t>循环中占有</a:t>
            </a:r>
            <a:r>
              <a:rPr lang="en-US" altLang="zh-CN" sz="1199" b="1" dirty="0">
                <a:solidFill>
                  <a:srgbClr val="C00000"/>
                </a:solidFill>
              </a:rPr>
              <a:t>CPU</a:t>
            </a:r>
            <a:r>
              <a:rPr lang="zh-CN" altLang="en-US" sz="1199" b="1" dirty="0">
                <a:solidFill>
                  <a:srgbClr val="C00000"/>
                </a:solidFill>
              </a:rPr>
              <a:t>，导致系统中优先级比它低的任务无法获得</a:t>
            </a:r>
            <a:r>
              <a:rPr lang="en-US" altLang="zh-CN" sz="1199" b="1" dirty="0">
                <a:solidFill>
                  <a:srgbClr val="C00000"/>
                </a:solidFill>
              </a:rPr>
              <a:t>CPU</a:t>
            </a:r>
            <a:r>
              <a:rPr lang="zh-CN" altLang="en-US" sz="1199" b="1" dirty="0">
                <a:solidFill>
                  <a:srgbClr val="C00000"/>
                </a:solidFill>
              </a:rPr>
              <a:t>的使用权。</a:t>
            </a:r>
          </a:p>
        </p:txBody>
      </p:sp>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6729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arn(inVertic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arn(inVertic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arn(inVertical)">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矩形 114"/>
          <p:cNvSpPr/>
          <p:nvPr/>
        </p:nvSpPr>
        <p:spPr>
          <a:xfrm>
            <a:off x="6248321" y="1306559"/>
            <a:ext cx="5947903" cy="54325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60136" y="1923598"/>
            <a:ext cx="5410239" cy="2589452"/>
          </a:xfrm>
        </p:spPr>
        <p:txBody>
          <a:bodyPr>
            <a:normAutofit/>
          </a:bodyPr>
          <a:lstStyle/>
          <a:p>
            <a:pPr marL="0" indent="456971">
              <a:lnSpc>
                <a:spcPct val="145000"/>
              </a:lnSpc>
              <a:buClr>
                <a:schemeClr val="tx2">
                  <a:lumMod val="75000"/>
                </a:schemeClr>
              </a:buClr>
              <a:buNone/>
            </a:pPr>
            <a:r>
              <a:rPr lang="zh-CN" altLang="en-US" dirty="0">
                <a:solidFill>
                  <a:schemeClr val="tx1"/>
                </a:solidFill>
              </a:rPr>
              <a:t>这种启动方式的过程：在</a:t>
            </a:r>
            <a:r>
              <a:rPr lang="en-US" altLang="zh-CN" dirty="0">
                <a:solidFill>
                  <a:schemeClr val="tx1"/>
                </a:solidFill>
              </a:rPr>
              <a:t>main</a:t>
            </a:r>
            <a:r>
              <a:rPr lang="zh-CN" altLang="en-US" dirty="0">
                <a:solidFill>
                  <a:schemeClr val="tx1"/>
                </a:solidFill>
              </a:rPr>
              <a:t>函数中将系统硬件与</a:t>
            </a:r>
            <a:r>
              <a:rPr lang="en-US" altLang="zh-CN" dirty="0">
                <a:solidFill>
                  <a:schemeClr val="tx1"/>
                </a:solidFill>
              </a:rPr>
              <a:t>RTOS</a:t>
            </a:r>
            <a:r>
              <a:rPr lang="zh-CN" altLang="en-US" dirty="0">
                <a:solidFill>
                  <a:schemeClr val="tx1"/>
                </a:solidFill>
              </a:rPr>
              <a:t>内核初始化完成，再创建一个启动任务（或者称之为</a:t>
            </a:r>
            <a:r>
              <a:rPr lang="en-US" altLang="zh-CN" dirty="0">
                <a:solidFill>
                  <a:schemeClr val="tx1"/>
                </a:solidFill>
              </a:rPr>
              <a:t>App</a:t>
            </a:r>
            <a:r>
              <a:rPr lang="zh-CN" altLang="en-US" dirty="0">
                <a:solidFill>
                  <a:schemeClr val="tx1"/>
                </a:solidFill>
              </a:rPr>
              <a:t>任务）后立即启动调度器，在启动任务中创建各种应用任务，当系统的所有任务都创建成功后，启动任务会把自己删除，具体的伪代码实现如代码清单所示。</a:t>
            </a:r>
          </a:p>
        </p:txBody>
      </p:sp>
      <p:sp>
        <p:nvSpPr>
          <p:cNvPr id="4" name="内容占位符 3"/>
          <p:cNvSpPr>
            <a:spLocks noGrp="1"/>
          </p:cNvSpPr>
          <p:nvPr>
            <p:ph idx="13"/>
          </p:nvPr>
        </p:nvSpPr>
        <p:spPr>
          <a:xfrm>
            <a:off x="725268" y="743162"/>
            <a:ext cx="10741463" cy="464216"/>
          </a:xfrm>
        </p:spPr>
        <p:txBody>
          <a:bodyPr>
            <a:normAutofit/>
          </a:bodyPr>
          <a:lstStyle/>
          <a:p>
            <a:r>
              <a:rPr lang="zh-CN" altLang="en-US" b="1" dirty="0"/>
              <a:t>第二种启动方式</a:t>
            </a:r>
          </a:p>
        </p:txBody>
      </p:sp>
      <p:sp>
        <p:nvSpPr>
          <p:cNvPr id="99" name="矩形 98"/>
          <p:cNvSpPr/>
          <p:nvPr/>
        </p:nvSpPr>
        <p:spPr>
          <a:xfrm>
            <a:off x="460136" y="5263772"/>
            <a:ext cx="5410239" cy="1066245"/>
          </a:xfrm>
          <a:prstGeom prst="rect">
            <a:avLst/>
          </a:prstGeom>
          <a:solidFill>
            <a:srgbClr val="255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799" dirty="0">
                <a:solidFill>
                  <a:schemeClr val="bg1"/>
                </a:solidFill>
              </a:rPr>
              <a:t>注意：此处提供的是伪代码，实际中不一定可用，仅作举例使用。</a:t>
            </a:r>
          </a:p>
        </p:txBody>
      </p:sp>
      <p:sp>
        <p:nvSpPr>
          <p:cNvPr id="100" name="矩形 99"/>
          <p:cNvSpPr/>
          <p:nvPr/>
        </p:nvSpPr>
        <p:spPr>
          <a:xfrm>
            <a:off x="0" y="1145232"/>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内容占位符 2"/>
          <p:cNvSpPr txBox="1">
            <a:spLocks/>
          </p:cNvSpPr>
          <p:nvPr/>
        </p:nvSpPr>
        <p:spPr>
          <a:xfrm>
            <a:off x="6396875" y="1306559"/>
            <a:ext cx="5310566" cy="5124967"/>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int main (void) {</a:t>
            </a:r>
          </a:p>
          <a:p>
            <a:r>
              <a:rPr lang="en-US" altLang="zh-CN" dirty="0"/>
              <a:t>       /* </a:t>
            </a:r>
            <a:r>
              <a:rPr lang="zh-CN" altLang="en-US" dirty="0"/>
              <a:t>硬件初始化 *</a:t>
            </a:r>
            <a:r>
              <a:rPr lang="en-US" altLang="zh-CN" dirty="0"/>
              <a:t>/</a:t>
            </a:r>
          </a:p>
          <a:p>
            <a:r>
              <a:rPr lang="en-US" altLang="zh-CN" dirty="0"/>
              <a:t>       </a:t>
            </a:r>
            <a:r>
              <a:rPr lang="en-US" altLang="zh-CN" dirty="0" err="1"/>
              <a:t>BSP_Init</a:t>
            </a:r>
            <a:r>
              <a:rPr lang="en-US" altLang="zh-CN" dirty="0"/>
              <a:t>();                          		 (1)</a:t>
            </a:r>
          </a:p>
          <a:p>
            <a:r>
              <a:rPr lang="en-US" altLang="zh-CN" dirty="0"/>
              <a:t>       /* RTOS </a:t>
            </a:r>
            <a:r>
              <a:rPr lang="zh-CN" altLang="en-US" dirty="0"/>
              <a:t>初始化 *</a:t>
            </a:r>
            <a:r>
              <a:rPr lang="en-US" altLang="zh-CN" dirty="0"/>
              <a:t>/</a:t>
            </a:r>
          </a:p>
          <a:p>
            <a:r>
              <a:rPr lang="en-US" altLang="zh-CN" dirty="0"/>
              <a:t>       </a:t>
            </a:r>
            <a:r>
              <a:rPr lang="en-US" altLang="zh-CN" dirty="0" err="1"/>
              <a:t>LOS_KernelInit</a:t>
            </a:r>
            <a:r>
              <a:rPr lang="en-US" altLang="zh-CN" dirty="0"/>
              <a:t>(); 		(2)</a:t>
            </a:r>
          </a:p>
          <a:p>
            <a:r>
              <a:rPr lang="en-US" altLang="zh-CN" dirty="0"/>
              <a:t>       /* </a:t>
            </a:r>
            <a:r>
              <a:rPr lang="zh-CN" altLang="en-US" dirty="0"/>
              <a:t>创建一个启动任务 *</a:t>
            </a:r>
            <a:r>
              <a:rPr lang="en-US" altLang="zh-CN" dirty="0"/>
              <a:t>/</a:t>
            </a:r>
          </a:p>
          <a:p>
            <a:r>
              <a:rPr lang="en-US" altLang="zh-CN" dirty="0"/>
              <a:t>      </a:t>
            </a:r>
            <a:r>
              <a:rPr lang="en-US" altLang="zh-CN" dirty="0" err="1"/>
              <a:t>Creat_App_Task</a:t>
            </a:r>
            <a:r>
              <a:rPr lang="en-US" altLang="zh-CN" dirty="0"/>
              <a:t>();		 (3)</a:t>
            </a:r>
          </a:p>
          <a:p>
            <a:r>
              <a:rPr lang="en-US" altLang="zh-CN" dirty="0"/>
              <a:t>       /* </a:t>
            </a:r>
            <a:r>
              <a:rPr lang="zh-CN" altLang="en-US" dirty="0"/>
              <a:t>启动</a:t>
            </a:r>
            <a:r>
              <a:rPr lang="en-US" altLang="zh-CN" dirty="0"/>
              <a:t>RTOS</a:t>
            </a:r>
            <a:r>
              <a:rPr lang="zh-CN" altLang="en-US" dirty="0"/>
              <a:t>，开始调度 *</a:t>
            </a:r>
            <a:r>
              <a:rPr lang="en-US" altLang="zh-CN" dirty="0"/>
              <a:t>/</a:t>
            </a:r>
          </a:p>
          <a:p>
            <a:r>
              <a:rPr lang="en-US" altLang="zh-CN" dirty="0"/>
              <a:t>       </a:t>
            </a:r>
            <a:r>
              <a:rPr lang="en-US" altLang="zh-CN" dirty="0" err="1"/>
              <a:t>RTOS_Start</a:t>
            </a:r>
            <a:r>
              <a:rPr lang="en-US" altLang="zh-CN" dirty="0"/>
              <a:t>(); 			(4)</a:t>
            </a:r>
          </a:p>
          <a:p>
            <a:r>
              <a:rPr lang="en-US" altLang="zh-CN" dirty="0"/>
              <a:t> }</a:t>
            </a:r>
          </a:p>
          <a:p>
            <a:r>
              <a:rPr lang="en-US" altLang="zh-CN" dirty="0"/>
              <a:t> /* </a:t>
            </a:r>
            <a:r>
              <a:rPr lang="zh-CN" altLang="en-US" dirty="0"/>
              <a:t>启动任务，在其中创建任务 *</a:t>
            </a:r>
            <a:r>
              <a:rPr lang="en-US" altLang="zh-CN" dirty="0"/>
              <a:t>/</a:t>
            </a:r>
          </a:p>
          <a:p>
            <a:r>
              <a:rPr lang="en-US" altLang="zh-CN" dirty="0"/>
              <a:t> void </a:t>
            </a:r>
            <a:r>
              <a:rPr lang="en-US" altLang="zh-CN" dirty="0" err="1"/>
              <a:t>App_Task_Start</a:t>
            </a:r>
            <a:r>
              <a:rPr lang="en-US" altLang="zh-CN" dirty="0"/>
              <a:t>( void *</a:t>
            </a:r>
            <a:r>
              <a:rPr lang="en-US" altLang="zh-CN" dirty="0" err="1"/>
              <a:t>arg</a:t>
            </a:r>
            <a:r>
              <a:rPr lang="en-US" altLang="zh-CN" dirty="0"/>
              <a:t> )                     	 (5)</a:t>
            </a:r>
          </a:p>
          <a:p>
            <a:r>
              <a:rPr lang="en-US" altLang="zh-CN" dirty="0"/>
              <a:t> {      /* </a:t>
            </a:r>
            <a:r>
              <a:rPr lang="zh-CN" altLang="en-US" dirty="0"/>
              <a:t>创建任务</a:t>
            </a:r>
            <a:r>
              <a:rPr lang="en-US" altLang="zh-CN" dirty="0"/>
              <a:t>1</a:t>
            </a:r>
            <a:r>
              <a:rPr lang="zh-CN" altLang="en-US" dirty="0"/>
              <a:t>并执行 *</a:t>
            </a:r>
            <a:r>
              <a:rPr lang="en-US" altLang="zh-CN" dirty="0"/>
              <a:t>/	</a:t>
            </a:r>
          </a:p>
          <a:p>
            <a:r>
              <a:rPr lang="en-US" altLang="zh-CN" dirty="0"/>
              <a:t>      Creat_Test1_Task();                                  	 (6)</a:t>
            </a:r>
          </a:p>
          <a:p>
            <a:r>
              <a:rPr lang="en-US" altLang="zh-CN" dirty="0"/>
              <a:t>      /* </a:t>
            </a:r>
            <a:r>
              <a:rPr lang="zh-CN" altLang="en-US" dirty="0"/>
              <a:t>当任务</a:t>
            </a:r>
            <a:r>
              <a:rPr lang="en-US" altLang="zh-CN" dirty="0"/>
              <a:t>1</a:t>
            </a:r>
            <a:r>
              <a:rPr lang="zh-CN" altLang="en-US" dirty="0"/>
              <a:t>阻塞时，继续创建任务</a:t>
            </a:r>
            <a:r>
              <a:rPr lang="en-US" altLang="zh-CN" dirty="0"/>
              <a:t>2</a:t>
            </a:r>
            <a:r>
              <a:rPr lang="zh-CN" altLang="en-US" dirty="0"/>
              <a:t>并执行 *</a:t>
            </a:r>
            <a:r>
              <a:rPr lang="en-US" altLang="zh-CN" dirty="0"/>
              <a:t>/</a:t>
            </a:r>
          </a:p>
          <a:p>
            <a:r>
              <a:rPr lang="en-US" altLang="zh-CN" dirty="0"/>
              <a:t>      Creat_Test2_Task();</a:t>
            </a:r>
          </a:p>
          <a:p>
            <a:r>
              <a:rPr lang="en-US" altLang="zh-CN" dirty="0"/>
              <a:t>      /* </a:t>
            </a:r>
            <a:r>
              <a:rPr lang="zh-CN" altLang="en-US" dirty="0"/>
              <a:t>继续创建各种任务 *</a:t>
            </a:r>
            <a:r>
              <a:rPr lang="en-US" altLang="zh-CN" dirty="0"/>
              <a:t>/</a:t>
            </a:r>
          </a:p>
          <a:p>
            <a:r>
              <a:rPr lang="en-US" altLang="zh-CN" dirty="0"/>
              <a:t>      /* </a:t>
            </a:r>
            <a:r>
              <a:rPr lang="zh-CN" altLang="en-US" dirty="0"/>
              <a:t>当任务创建完成后，删除启动任务 *</a:t>
            </a:r>
            <a:r>
              <a:rPr lang="en-US" altLang="zh-CN" dirty="0"/>
              <a:t>/</a:t>
            </a:r>
          </a:p>
          <a:p>
            <a:r>
              <a:rPr lang="en-US" altLang="zh-CN" dirty="0"/>
              <a:t>      </a:t>
            </a:r>
            <a:r>
              <a:rPr lang="en-US" altLang="zh-CN" dirty="0" err="1"/>
              <a:t>Delete_App_Task</a:t>
            </a:r>
            <a:r>
              <a:rPr lang="en-US" altLang="zh-CN" dirty="0"/>
              <a:t>();                                   	 (7)</a:t>
            </a:r>
          </a:p>
          <a:p>
            <a:r>
              <a:rPr lang="en-US" altLang="zh-CN" dirty="0"/>
              <a:t> }</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7499202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矩形 114"/>
          <p:cNvSpPr/>
          <p:nvPr/>
        </p:nvSpPr>
        <p:spPr>
          <a:xfrm>
            <a:off x="0" y="991869"/>
            <a:ext cx="5105916" cy="56358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内容占位符 2"/>
          <p:cNvSpPr txBox="1">
            <a:spLocks/>
          </p:cNvSpPr>
          <p:nvPr/>
        </p:nvSpPr>
        <p:spPr>
          <a:xfrm>
            <a:off x="249139" y="1191994"/>
            <a:ext cx="4628296" cy="4750297"/>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void Test1_Task( void *</a:t>
            </a:r>
            <a:r>
              <a:rPr lang="en-US" altLang="zh-CN" dirty="0" err="1"/>
              <a:t>arg</a:t>
            </a:r>
            <a:r>
              <a:rPr lang="en-US" altLang="zh-CN" dirty="0"/>
              <a:t> ) 	(8)</a:t>
            </a:r>
          </a:p>
          <a:p>
            <a:r>
              <a:rPr lang="en-US" altLang="zh-CN" dirty="0"/>
              <a:t> {</a:t>
            </a:r>
          </a:p>
          <a:p>
            <a:r>
              <a:rPr lang="en-US" altLang="zh-CN" dirty="0"/>
              <a:t>      while (1)</a:t>
            </a:r>
          </a:p>
          <a:p>
            <a:r>
              <a:rPr lang="en-US" altLang="zh-CN" dirty="0"/>
              <a:t>      {</a:t>
            </a:r>
          </a:p>
          <a:p>
            <a:r>
              <a:rPr lang="en-US" altLang="zh-CN" dirty="0"/>
              <a:t>           /* </a:t>
            </a:r>
            <a:r>
              <a:rPr lang="zh-CN" altLang="en-US" dirty="0"/>
              <a:t>任务实体，必须有阻塞的情况出现 *</a:t>
            </a:r>
            <a:r>
              <a:rPr lang="en-US" altLang="zh-CN" dirty="0"/>
              <a:t>/</a:t>
            </a:r>
          </a:p>
          <a:p>
            <a:r>
              <a:rPr lang="en-US" altLang="zh-CN" dirty="0"/>
              <a:t>      }</a:t>
            </a:r>
          </a:p>
          <a:p>
            <a:r>
              <a:rPr lang="en-US" altLang="zh-CN" dirty="0"/>
              <a:t> }</a:t>
            </a:r>
          </a:p>
          <a:p>
            <a:r>
              <a:rPr lang="en-US" altLang="zh-CN" dirty="0"/>
              <a:t> void Test2_Task( void *</a:t>
            </a:r>
            <a:r>
              <a:rPr lang="en-US" altLang="zh-CN" dirty="0" err="1"/>
              <a:t>arg</a:t>
            </a:r>
            <a:r>
              <a:rPr lang="en-US" altLang="zh-CN" dirty="0"/>
              <a:t> ) 	(9)</a:t>
            </a:r>
          </a:p>
          <a:p>
            <a:r>
              <a:rPr lang="en-US" altLang="zh-CN" dirty="0"/>
              <a:t> {</a:t>
            </a:r>
          </a:p>
          <a:p>
            <a:r>
              <a:rPr lang="en-US" altLang="zh-CN" dirty="0"/>
              <a:t>      while (1)</a:t>
            </a:r>
          </a:p>
          <a:p>
            <a:r>
              <a:rPr lang="en-US" altLang="zh-CN" dirty="0"/>
              <a:t>      {</a:t>
            </a:r>
          </a:p>
          <a:p>
            <a:r>
              <a:rPr lang="en-US" altLang="zh-CN" dirty="0"/>
              <a:t>           /* </a:t>
            </a:r>
            <a:r>
              <a:rPr lang="zh-CN" altLang="en-US" dirty="0"/>
              <a:t>任务实体，必须有阻塞的情况出现 *</a:t>
            </a:r>
            <a:r>
              <a:rPr lang="en-US" altLang="zh-CN" dirty="0"/>
              <a:t>/</a:t>
            </a:r>
          </a:p>
          <a:p>
            <a:r>
              <a:rPr lang="en-US" altLang="zh-CN" dirty="0"/>
              <a:t>      }</a:t>
            </a:r>
          </a:p>
          <a:p>
            <a:r>
              <a:rPr lang="en-US" altLang="zh-CN" dirty="0"/>
              <a:t> }</a:t>
            </a:r>
          </a:p>
        </p:txBody>
      </p:sp>
      <p:sp>
        <p:nvSpPr>
          <p:cNvPr id="11" name="内容占位符 2"/>
          <p:cNvSpPr>
            <a:spLocks noGrp="1"/>
          </p:cNvSpPr>
          <p:nvPr>
            <p:ph idx="1"/>
          </p:nvPr>
        </p:nvSpPr>
        <p:spPr>
          <a:xfrm>
            <a:off x="5357155" y="764242"/>
            <a:ext cx="6679351" cy="5635071"/>
          </a:xfrm>
        </p:spPr>
        <p:txBody>
          <a:bodyPr>
            <a:normAutofit fontScale="92500" lnSpcReduction="20000"/>
          </a:bodyPr>
          <a:lstStyle/>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1</a:t>
            </a:r>
            <a:r>
              <a:rPr lang="zh-CN" altLang="en-US" b="1" dirty="0">
                <a:solidFill>
                  <a:schemeClr val="tx1"/>
                </a:solidFill>
              </a:rPr>
              <a:t>）：硬件初始化。</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2</a:t>
            </a:r>
            <a:r>
              <a:rPr lang="zh-CN" altLang="en-US" b="1" dirty="0">
                <a:solidFill>
                  <a:schemeClr val="tx1"/>
                </a:solidFill>
              </a:rPr>
              <a:t>）：</a:t>
            </a:r>
            <a:r>
              <a:rPr lang="en-US" altLang="zh-CN" b="1" dirty="0">
                <a:solidFill>
                  <a:schemeClr val="tx1"/>
                </a:solidFill>
              </a:rPr>
              <a:t>RTOS</a:t>
            </a:r>
            <a:r>
              <a:rPr lang="zh-CN" altLang="en-US" b="1" dirty="0">
                <a:solidFill>
                  <a:schemeClr val="tx1"/>
                </a:solidFill>
              </a:rPr>
              <a:t>初始化。</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3</a:t>
            </a:r>
            <a:r>
              <a:rPr lang="zh-CN" altLang="en-US" b="1" dirty="0">
                <a:solidFill>
                  <a:schemeClr val="tx1"/>
                </a:solidFill>
              </a:rPr>
              <a:t>）：创建一个启动任务，需要在该任务中创建系统需要的应用任务。</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4</a:t>
            </a:r>
            <a:r>
              <a:rPr lang="zh-CN" altLang="en-US" b="1" dirty="0">
                <a:solidFill>
                  <a:schemeClr val="tx1"/>
                </a:solidFill>
              </a:rPr>
              <a:t>）：启动</a:t>
            </a:r>
            <a:r>
              <a:rPr lang="en-US" altLang="zh-CN" b="1" dirty="0">
                <a:solidFill>
                  <a:schemeClr val="tx1"/>
                </a:solidFill>
              </a:rPr>
              <a:t>RTOS</a:t>
            </a:r>
            <a:r>
              <a:rPr lang="zh-CN" altLang="en-US" b="1" dirty="0">
                <a:solidFill>
                  <a:schemeClr val="tx1"/>
                </a:solidFill>
              </a:rPr>
              <a:t>调度器，开始任务调度。</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5</a:t>
            </a:r>
            <a:r>
              <a:rPr lang="zh-CN" altLang="en-US" b="1" dirty="0">
                <a:solidFill>
                  <a:schemeClr val="tx1"/>
                </a:solidFill>
              </a:rPr>
              <a:t>）：其实任务本应该是一个不带返回值且无限循环的</a:t>
            </a:r>
            <a:r>
              <a:rPr lang="en-US" altLang="zh-CN" b="1" dirty="0">
                <a:solidFill>
                  <a:schemeClr val="tx1"/>
                </a:solidFill>
              </a:rPr>
              <a:t>C</a:t>
            </a:r>
            <a:r>
              <a:rPr lang="zh-CN" altLang="en-US" b="1" dirty="0">
                <a:solidFill>
                  <a:schemeClr val="tx1"/>
                </a:solidFill>
              </a:rPr>
              <a:t>函数，但因为启动任务的特殊性，它只需执行一次就要被删除，因此，其需要在退出之前显式地把自己删除。同时，在启动任务中，它会把系统需要的所有应用任务都创建完成。</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6</a:t>
            </a:r>
            <a:r>
              <a:rPr lang="zh-CN" altLang="en-US" b="1" dirty="0">
                <a:solidFill>
                  <a:schemeClr val="tx1"/>
                </a:solidFill>
              </a:rPr>
              <a:t>）：创建任务。</a:t>
            </a:r>
            <a:endParaRPr lang="en-US" altLang="zh-CN" b="1" dirty="0">
              <a:solidFill>
                <a:schemeClr val="tx1"/>
              </a:solidFill>
            </a:endParaRP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7</a:t>
            </a:r>
            <a:r>
              <a:rPr lang="zh-CN" altLang="en-US" b="1" dirty="0">
                <a:solidFill>
                  <a:schemeClr val="tx1"/>
                </a:solidFill>
              </a:rPr>
              <a:t>）：在系统所有应用任务创建完成后，启动任务完成使命，删除自己，从此系统将再无启动任务。</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a:solidFill>
                  <a:schemeClr val="tx1"/>
                </a:solidFill>
              </a:rPr>
              <a:t>3~11</a:t>
            </a:r>
            <a:r>
              <a:rPr lang="zh-CN" altLang="en-US" b="1" dirty="0">
                <a:solidFill>
                  <a:schemeClr val="tx1"/>
                </a:solidFill>
              </a:rPr>
              <a:t>（</a:t>
            </a:r>
            <a:r>
              <a:rPr lang="en-US" altLang="zh-CN" b="1" dirty="0">
                <a:solidFill>
                  <a:schemeClr val="tx1"/>
                </a:solidFill>
              </a:rPr>
              <a:t>8</a:t>
            </a:r>
            <a:r>
              <a:rPr lang="zh-CN" altLang="en-US" b="1" dirty="0">
                <a:solidFill>
                  <a:schemeClr val="tx1"/>
                </a:solidFill>
              </a:rPr>
              <a:t>）、（</a:t>
            </a:r>
            <a:r>
              <a:rPr lang="en-US" altLang="zh-CN" b="1" dirty="0">
                <a:solidFill>
                  <a:schemeClr val="tx1"/>
                </a:solidFill>
              </a:rPr>
              <a:t>9</a:t>
            </a:r>
            <a:r>
              <a:rPr lang="zh-CN" altLang="en-US" b="1" dirty="0">
                <a:solidFill>
                  <a:schemeClr val="tx1"/>
                </a:solidFill>
              </a:rPr>
              <a:t>）：任务主体通常是一个不带返回值并无限循环的</a:t>
            </a:r>
            <a:r>
              <a:rPr lang="en-US" altLang="zh-CN" b="1" dirty="0">
                <a:solidFill>
                  <a:schemeClr val="tx1"/>
                </a:solidFill>
              </a:rPr>
              <a:t>C</a:t>
            </a:r>
            <a:r>
              <a:rPr lang="zh-CN" altLang="en-US" b="1" dirty="0">
                <a:solidFill>
                  <a:schemeClr val="tx1"/>
                </a:solidFill>
              </a:rPr>
              <a:t>函数，函数体中必须有阻塞的情况出现，否则该任务会一直在</a:t>
            </a:r>
            <a:r>
              <a:rPr lang="en-US" altLang="zh-CN" b="1" dirty="0">
                <a:solidFill>
                  <a:schemeClr val="tx1"/>
                </a:solidFill>
              </a:rPr>
              <a:t>while</a:t>
            </a:r>
            <a:r>
              <a:rPr lang="zh-CN" altLang="en-US" b="1" dirty="0">
                <a:solidFill>
                  <a:schemeClr val="tx1"/>
                </a:solidFill>
              </a:rPr>
              <a:t>循环中占用</a:t>
            </a:r>
            <a:r>
              <a:rPr lang="en-US" altLang="zh-CN" b="1" dirty="0">
                <a:solidFill>
                  <a:schemeClr val="tx1"/>
                </a:solidFill>
              </a:rPr>
              <a:t>CPU</a:t>
            </a:r>
            <a:r>
              <a:rPr lang="zh-CN" altLang="en-US" b="1" dirty="0">
                <a:solidFill>
                  <a:schemeClr val="tx1"/>
                </a:solidFill>
              </a:rPr>
              <a:t>，导致系统中优先级比它低的任务无法获得</a:t>
            </a:r>
            <a:r>
              <a:rPr lang="en-US" altLang="zh-CN" b="1" dirty="0">
                <a:solidFill>
                  <a:schemeClr val="tx1"/>
                </a:solidFill>
              </a:rPr>
              <a:t>CPU</a:t>
            </a:r>
            <a:r>
              <a:rPr lang="zh-CN" altLang="en-US" b="1" dirty="0">
                <a:solidFill>
                  <a:schemeClr val="tx1"/>
                </a:solidFill>
              </a:rPr>
              <a:t>的使用权。</a:t>
            </a:r>
          </a:p>
          <a:p>
            <a:pPr marL="0" indent="456971">
              <a:lnSpc>
                <a:spcPct val="145000"/>
              </a:lnSpc>
              <a:spcBef>
                <a:spcPts val="0"/>
              </a:spcBef>
              <a:buClr>
                <a:schemeClr val="tx2">
                  <a:lumMod val="75000"/>
                </a:schemeClr>
              </a:buClr>
              <a:buNone/>
            </a:pPr>
            <a:endParaRPr lang="zh-CN" altLang="en-US" b="1" dirty="0">
              <a:solidFill>
                <a:schemeClr val="tx1"/>
              </a:solidFill>
            </a:endParaRPr>
          </a:p>
        </p:txBody>
      </p:sp>
      <p:sp>
        <p:nvSpPr>
          <p:cNvPr id="12" name="等腰三角形 11"/>
          <p:cNvSpPr/>
          <p:nvPr/>
        </p:nvSpPr>
        <p:spPr>
          <a:xfrm>
            <a:off x="6401178"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等腰三角形 12"/>
          <p:cNvSpPr/>
          <p:nvPr/>
        </p:nvSpPr>
        <p:spPr>
          <a:xfrm>
            <a:off x="6815299"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等腰三角形 13"/>
          <p:cNvSpPr/>
          <p:nvPr/>
        </p:nvSpPr>
        <p:spPr>
          <a:xfrm>
            <a:off x="7232595"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等腰三角形 14"/>
          <p:cNvSpPr/>
          <p:nvPr/>
        </p:nvSpPr>
        <p:spPr>
          <a:xfrm>
            <a:off x="7646716"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等腰三角形 15"/>
          <p:cNvSpPr/>
          <p:nvPr/>
        </p:nvSpPr>
        <p:spPr>
          <a:xfrm>
            <a:off x="8071946"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等腰三角形 16"/>
          <p:cNvSpPr/>
          <p:nvPr/>
        </p:nvSpPr>
        <p:spPr>
          <a:xfrm>
            <a:off x="8486067"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等腰三角形 17"/>
          <p:cNvSpPr/>
          <p:nvPr/>
        </p:nvSpPr>
        <p:spPr>
          <a:xfrm>
            <a:off x="8903363"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等腰三角形 18"/>
          <p:cNvSpPr/>
          <p:nvPr/>
        </p:nvSpPr>
        <p:spPr>
          <a:xfrm>
            <a:off x="9317484"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等腰三角形 19"/>
          <p:cNvSpPr/>
          <p:nvPr/>
        </p:nvSpPr>
        <p:spPr>
          <a:xfrm>
            <a:off x="9742713"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等腰三角形 20"/>
          <p:cNvSpPr/>
          <p:nvPr/>
        </p:nvSpPr>
        <p:spPr>
          <a:xfrm>
            <a:off x="10156834"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等腰三角形 21"/>
          <p:cNvSpPr/>
          <p:nvPr/>
        </p:nvSpPr>
        <p:spPr>
          <a:xfrm>
            <a:off x="10574130"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等腰三角形 22"/>
          <p:cNvSpPr/>
          <p:nvPr/>
        </p:nvSpPr>
        <p:spPr>
          <a:xfrm>
            <a:off x="10988251"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4" name="等腰三角形 23"/>
          <p:cNvSpPr/>
          <p:nvPr/>
        </p:nvSpPr>
        <p:spPr>
          <a:xfrm>
            <a:off x="11413481"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5" name="等腰三角形 24"/>
          <p:cNvSpPr/>
          <p:nvPr/>
        </p:nvSpPr>
        <p:spPr>
          <a:xfrm>
            <a:off x="11827602"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矩形 2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2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8" name="圆角矩形标注 27"/>
          <p:cNvSpPr/>
          <p:nvPr/>
        </p:nvSpPr>
        <p:spPr>
          <a:xfrm>
            <a:off x="1442720" y="5027987"/>
            <a:ext cx="3434715" cy="1371326"/>
          </a:xfrm>
          <a:prstGeom prst="wedgeRoundRectCallout">
            <a:avLst>
              <a:gd name="adj1" fmla="val -41492"/>
              <a:gd name="adj2" fmla="val -172017"/>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rPr>
              <a:t>任务主体通常是一个不带返回值并无限循环的</a:t>
            </a:r>
            <a:r>
              <a:rPr lang="en-US" altLang="zh-CN" sz="1400" b="1" dirty="0">
                <a:solidFill>
                  <a:srgbClr val="C00000"/>
                </a:solidFill>
              </a:rPr>
              <a:t>C</a:t>
            </a:r>
            <a:r>
              <a:rPr lang="zh-CN" altLang="en-US" sz="1400" b="1" dirty="0">
                <a:solidFill>
                  <a:srgbClr val="C00000"/>
                </a:solidFill>
              </a:rPr>
              <a:t>函数，函数体中必须有阻塞的情况出现，否则该任务会一直在</a:t>
            </a:r>
            <a:r>
              <a:rPr lang="en-US" altLang="zh-CN" sz="1400" b="1" dirty="0">
                <a:solidFill>
                  <a:srgbClr val="C00000"/>
                </a:solidFill>
              </a:rPr>
              <a:t>while</a:t>
            </a:r>
            <a:r>
              <a:rPr lang="zh-CN" altLang="en-US" sz="1400" b="1" dirty="0">
                <a:solidFill>
                  <a:srgbClr val="C00000"/>
                </a:solidFill>
              </a:rPr>
              <a:t>循环中占有</a:t>
            </a:r>
            <a:r>
              <a:rPr lang="en-US" altLang="zh-CN" sz="1400" b="1" dirty="0">
                <a:solidFill>
                  <a:srgbClr val="C00000"/>
                </a:solidFill>
              </a:rPr>
              <a:t>CPU</a:t>
            </a:r>
            <a:r>
              <a:rPr lang="zh-CN" altLang="en-US" sz="1400" b="1" dirty="0">
                <a:solidFill>
                  <a:srgbClr val="C00000"/>
                </a:solidFill>
              </a:rPr>
              <a:t>，导致系统中优先级比它低的任务无法获得</a:t>
            </a:r>
            <a:r>
              <a:rPr lang="en-US" altLang="zh-CN" sz="1400" b="1" dirty="0">
                <a:solidFill>
                  <a:srgbClr val="C00000"/>
                </a:solidFill>
              </a:rPr>
              <a:t>CPU</a:t>
            </a:r>
            <a:r>
              <a:rPr lang="zh-CN" altLang="en-US" sz="1400" b="1" dirty="0">
                <a:solidFill>
                  <a:srgbClr val="C00000"/>
                </a:solidFill>
              </a:rPr>
              <a:t>的使用权。</a:t>
            </a:r>
          </a:p>
        </p:txBody>
      </p:sp>
    </p:spTree>
    <p:extLst>
      <p:ext uri="{BB962C8B-B14F-4D97-AF65-F5344CB8AC3E}">
        <p14:creationId xmlns:p14="http://schemas.microsoft.com/office/powerpoint/2010/main" val="183233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1460506"/>
            <a:ext cx="12192000" cy="509106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627797" y="851222"/>
            <a:ext cx="6199777" cy="609284"/>
          </a:xfrm>
        </p:spPr>
        <p:txBody>
          <a:bodyPr>
            <a:normAutofit/>
          </a:bodyPr>
          <a:lstStyle/>
          <a:p>
            <a:pPr marL="0" indent="0">
              <a:buClr>
                <a:schemeClr val="tx2">
                  <a:lumMod val="75000"/>
                </a:schemeClr>
              </a:buClr>
              <a:buNone/>
            </a:pPr>
            <a:r>
              <a:rPr lang="en-US" altLang="zh-CN" b="1" dirty="0">
                <a:solidFill>
                  <a:srgbClr val="C00000"/>
                </a:solidFill>
              </a:rPr>
              <a:t>1</a:t>
            </a:r>
            <a:r>
              <a:rPr lang="zh-CN" altLang="en-US" b="1" dirty="0">
                <a:solidFill>
                  <a:srgbClr val="C00000"/>
                </a:solidFill>
              </a:rPr>
              <a:t>．启动文件</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88286"/>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27797" y="1757761"/>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在系统上电的时候，系统第一个执行的是启动文件中由汇编语言编写的复位函数</a:t>
            </a:r>
            <a:r>
              <a:rPr lang="en-US" altLang="zh-CN" sz="1799" b="1" dirty="0" err="1"/>
              <a:t>Reset_Handler</a:t>
            </a:r>
            <a:r>
              <a:rPr lang="zh-CN" altLang="en-US" sz="1799" b="1" dirty="0"/>
              <a:t>，如代码清单</a:t>
            </a:r>
            <a:r>
              <a:rPr lang="en-US" altLang="zh-CN" sz="1799" b="1" dirty="0"/>
              <a:t>3~12</a:t>
            </a:r>
            <a:r>
              <a:rPr lang="zh-CN" altLang="en-US" sz="1799" b="1" dirty="0"/>
              <a:t>所示。</a:t>
            </a:r>
          </a:p>
        </p:txBody>
      </p:sp>
      <p:sp>
        <p:nvSpPr>
          <p:cNvPr id="115" name="内容占位符 2"/>
          <p:cNvSpPr txBox="1">
            <a:spLocks/>
          </p:cNvSpPr>
          <p:nvPr/>
        </p:nvSpPr>
        <p:spPr>
          <a:xfrm>
            <a:off x="647055" y="2844925"/>
            <a:ext cx="5309452" cy="389704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err="1"/>
              <a:t>Reset_Handler</a:t>
            </a:r>
            <a:endParaRPr lang="en-US" altLang="zh-CN" dirty="0"/>
          </a:p>
          <a:p>
            <a:r>
              <a:rPr lang="en-US" altLang="zh-CN" dirty="0"/>
              <a:t>	IMPORT  </a:t>
            </a:r>
            <a:r>
              <a:rPr lang="en-US" altLang="zh-CN" dirty="0" err="1"/>
              <a:t>SystemInit</a:t>
            </a:r>
            <a:endParaRPr lang="en-US" altLang="zh-CN" dirty="0"/>
          </a:p>
          <a:p>
            <a:r>
              <a:rPr lang="en-US" altLang="zh-CN" dirty="0"/>
              <a:t>                 	IMPORT  __main</a:t>
            </a:r>
          </a:p>
          <a:p>
            <a:r>
              <a:rPr lang="en-US" altLang="zh-CN" dirty="0"/>
              <a:t>                 	LDR     R0, =</a:t>
            </a:r>
            <a:r>
              <a:rPr lang="en-US" altLang="zh-CN" dirty="0" err="1"/>
              <a:t>SystemInit</a:t>
            </a:r>
            <a:endParaRPr lang="en-US" altLang="zh-CN" dirty="0"/>
          </a:p>
          <a:p>
            <a:r>
              <a:rPr lang="en-US" altLang="zh-CN" dirty="0"/>
              <a:t>                 	BLX     R0</a:t>
            </a:r>
          </a:p>
          <a:p>
            <a:r>
              <a:rPr lang="en-US" altLang="zh-CN" dirty="0"/>
              <a:t>                 	LDR     R0, =__main</a:t>
            </a:r>
          </a:p>
          <a:p>
            <a:r>
              <a:rPr lang="en-US" altLang="zh-CN" dirty="0"/>
              <a:t>                 	BX      R0</a:t>
            </a:r>
          </a:p>
          <a:p>
            <a:r>
              <a:rPr lang="en-US" altLang="zh-CN" dirty="0"/>
              <a:t>                	ALIGN</a:t>
            </a:r>
          </a:p>
          <a:p>
            <a:r>
              <a:rPr lang="en-US" altLang="zh-CN" dirty="0"/>
              <a:t>                 	END</a:t>
            </a:r>
          </a:p>
        </p:txBody>
      </p:sp>
      <p:sp>
        <p:nvSpPr>
          <p:cNvPr id="116" name="矩形 115"/>
          <p:cNvSpPr/>
          <p:nvPr/>
        </p:nvSpPr>
        <p:spPr>
          <a:xfrm>
            <a:off x="9523215" y="5716651"/>
            <a:ext cx="380802" cy="770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7" name="矩形 116"/>
          <p:cNvSpPr/>
          <p:nvPr/>
        </p:nvSpPr>
        <p:spPr>
          <a:xfrm>
            <a:off x="10132497" y="5242844"/>
            <a:ext cx="380802" cy="124544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8" name="矩形 117"/>
          <p:cNvSpPr/>
          <p:nvPr/>
        </p:nvSpPr>
        <p:spPr>
          <a:xfrm>
            <a:off x="10741780" y="5539084"/>
            <a:ext cx="380802" cy="94920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9" name="矩形 118"/>
          <p:cNvSpPr/>
          <p:nvPr/>
        </p:nvSpPr>
        <p:spPr>
          <a:xfrm>
            <a:off x="11427223" y="5867621"/>
            <a:ext cx="380802" cy="62066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5468224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3230484"/>
            <a:ext cx="12192000" cy="332108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609601" y="915380"/>
            <a:ext cx="6199777" cy="609284"/>
          </a:xfrm>
        </p:spPr>
        <p:txBody>
          <a:bodyPr>
            <a:normAutofit/>
          </a:bodyPr>
          <a:lstStyle/>
          <a:p>
            <a:pPr marL="0" indent="0">
              <a:buClr>
                <a:schemeClr val="tx2">
                  <a:lumMod val="75000"/>
                </a:schemeClr>
              </a:buClr>
              <a:buNone/>
            </a:pPr>
            <a:r>
              <a:rPr lang="en-US" altLang="zh-CN" b="1" dirty="0">
                <a:solidFill>
                  <a:srgbClr val="C00000"/>
                </a:solidFill>
              </a:rPr>
              <a:t>2</a:t>
            </a:r>
            <a:r>
              <a:rPr lang="zh-CN" altLang="en-US" b="1" dirty="0">
                <a:solidFill>
                  <a:srgbClr val="C00000"/>
                </a:solidFill>
              </a:rPr>
              <a:t>．</a:t>
            </a:r>
            <a:r>
              <a:rPr lang="en-US" altLang="zh-CN" b="1" dirty="0" err="1">
                <a:solidFill>
                  <a:srgbClr val="C00000"/>
                </a:solidFill>
              </a:rPr>
              <a:t>LiteOS</a:t>
            </a:r>
            <a:r>
              <a:rPr lang="zh-CN" altLang="en-US" b="1" dirty="0">
                <a:solidFill>
                  <a:srgbClr val="C00000"/>
                </a:solidFill>
              </a:rPr>
              <a:t>初始化</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55190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09601" y="1722762"/>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solidFill>
                  <a:schemeClr val="tx1"/>
                </a:solidFill>
              </a:rPr>
              <a:t>在</a:t>
            </a:r>
            <a:r>
              <a:rPr lang="en-US" altLang="zh-CN" sz="1799" b="1" dirty="0">
                <a:solidFill>
                  <a:schemeClr val="tx1"/>
                </a:solidFill>
              </a:rPr>
              <a:t>main</a:t>
            </a:r>
            <a:r>
              <a:rPr lang="zh-CN" altLang="en-US" sz="1799" b="1" dirty="0">
                <a:solidFill>
                  <a:schemeClr val="tx1"/>
                </a:solidFill>
              </a:rPr>
              <a:t>函数中，用户必须对</a:t>
            </a:r>
            <a:r>
              <a:rPr lang="en-US" altLang="zh-CN" sz="1799" b="1" dirty="0" err="1">
                <a:solidFill>
                  <a:schemeClr val="tx1"/>
                </a:solidFill>
              </a:rPr>
              <a:t>LiteOS</a:t>
            </a:r>
            <a:r>
              <a:rPr lang="zh-CN" altLang="en-US" sz="1799" b="1" dirty="0">
                <a:solidFill>
                  <a:schemeClr val="tx1"/>
                </a:solidFill>
              </a:rPr>
              <a:t>核心部分（内核）进行初始化，因为只有在</a:t>
            </a:r>
            <a:r>
              <a:rPr lang="en-US" altLang="zh-CN" sz="1799" b="1" dirty="0" err="1">
                <a:solidFill>
                  <a:schemeClr val="tx1"/>
                </a:solidFill>
              </a:rPr>
              <a:t>LiteOS</a:t>
            </a:r>
            <a:r>
              <a:rPr lang="zh-CN" altLang="en-US" sz="1799" b="1" dirty="0">
                <a:solidFill>
                  <a:schemeClr val="tx1"/>
                </a:solidFill>
              </a:rPr>
              <a:t>内核初始化完成之后，用户才能调用系统相关的函数进行创建任务、消息队列、信号量等操作。如果</a:t>
            </a:r>
            <a:r>
              <a:rPr lang="en-US" altLang="zh-CN" sz="1799" b="1" dirty="0" err="1">
                <a:solidFill>
                  <a:schemeClr val="tx1"/>
                </a:solidFill>
              </a:rPr>
              <a:t>LiteOS</a:t>
            </a:r>
            <a:r>
              <a:rPr lang="zh-CN" altLang="en-US" sz="1799" b="1" dirty="0">
                <a:solidFill>
                  <a:schemeClr val="tx1"/>
                </a:solidFill>
              </a:rPr>
              <a:t>内核初始化失败，则返回错误代码。</a:t>
            </a:r>
            <a:r>
              <a:rPr lang="en-US" altLang="zh-CN" sz="1799" b="1" dirty="0" err="1">
                <a:solidFill>
                  <a:schemeClr val="tx1"/>
                </a:solidFill>
              </a:rPr>
              <a:t>LiteOS</a:t>
            </a:r>
            <a:r>
              <a:rPr lang="zh-CN" altLang="en-US" sz="1799" b="1" dirty="0">
                <a:solidFill>
                  <a:schemeClr val="tx1"/>
                </a:solidFill>
              </a:rPr>
              <a:t>内核初始化的实现如代码清单</a:t>
            </a:r>
            <a:r>
              <a:rPr lang="en-US" altLang="zh-CN" sz="1799" b="1" dirty="0">
                <a:solidFill>
                  <a:schemeClr val="tx1"/>
                </a:solidFill>
              </a:rPr>
              <a:t>3~13</a:t>
            </a:r>
            <a:r>
              <a:rPr lang="zh-CN" altLang="en-US" sz="1799" b="1" dirty="0">
                <a:solidFill>
                  <a:schemeClr val="tx1"/>
                </a:solidFill>
              </a:rPr>
              <a:t>所示。</a:t>
            </a:r>
          </a:p>
        </p:txBody>
      </p:sp>
      <p:sp>
        <p:nvSpPr>
          <p:cNvPr id="115" name="内容占位符 2"/>
          <p:cNvSpPr txBox="1">
            <a:spLocks/>
          </p:cNvSpPr>
          <p:nvPr/>
        </p:nvSpPr>
        <p:spPr>
          <a:xfrm>
            <a:off x="631010" y="3200520"/>
            <a:ext cx="6607396" cy="33210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LITE_OS_SEC_TEXT_INIT UINT32 </a:t>
            </a:r>
            <a:r>
              <a:rPr lang="en-US" altLang="zh-CN" dirty="0" err="1"/>
              <a:t>LOS_KernelInit</a:t>
            </a:r>
            <a:r>
              <a:rPr lang="en-US" altLang="zh-CN" dirty="0"/>
              <a:t>(VOID)</a:t>
            </a:r>
          </a:p>
          <a:p>
            <a:r>
              <a:rPr lang="en-US" altLang="zh-CN" sz="1600" dirty="0">
                <a:solidFill>
                  <a:srgbClr val="C00000"/>
                </a:solidFill>
              </a:rPr>
              <a:t>  {</a:t>
            </a:r>
          </a:p>
          <a:p>
            <a:r>
              <a:rPr lang="en-US" altLang="zh-CN" dirty="0"/>
              <a:t>        UINT32 </a:t>
            </a:r>
            <a:r>
              <a:rPr lang="en-US" altLang="zh-CN" dirty="0" err="1"/>
              <a:t>uwRet</a:t>
            </a:r>
            <a:r>
              <a:rPr lang="en-US" altLang="zh-CN" dirty="0"/>
              <a:t>;</a:t>
            </a:r>
          </a:p>
          <a:p>
            <a:r>
              <a:rPr lang="en-US" altLang="zh-CN" dirty="0"/>
              <a:t>        </a:t>
            </a:r>
            <a:r>
              <a:rPr lang="en-US" altLang="zh-CN" dirty="0" err="1"/>
              <a:t>osRegister</a:t>
            </a:r>
            <a:r>
              <a:rPr lang="en-US" altLang="zh-CN" dirty="0"/>
              <a:t>();		 (1)</a:t>
            </a:r>
          </a:p>
          <a:p>
            <a:r>
              <a:rPr lang="en-US" altLang="zh-CN" dirty="0"/>
              <a:t>        m_aucSysMem0 = OS_SYS_MEM_ADDR;</a:t>
            </a:r>
          </a:p>
          <a:p>
            <a:r>
              <a:rPr lang="en-US" altLang="zh-CN" dirty="0"/>
              <a:t>        </a:t>
            </a:r>
            <a:r>
              <a:rPr lang="en-US" altLang="zh-CN" dirty="0" err="1"/>
              <a:t>uwRet</a:t>
            </a:r>
            <a:r>
              <a:rPr lang="en-US" altLang="zh-CN" dirty="0"/>
              <a:t> = </a:t>
            </a:r>
            <a:r>
              <a:rPr lang="en-US" altLang="zh-CN" dirty="0" err="1"/>
              <a:t>osMemSystemInit</a:t>
            </a:r>
            <a:r>
              <a:rPr lang="en-US" altLang="zh-CN" dirty="0"/>
              <a:t>();	 (2)</a:t>
            </a:r>
          </a:p>
          <a:p>
            <a:r>
              <a:rPr lang="en-US" altLang="zh-CN" dirty="0"/>
              <a:t>        if (</a:t>
            </a:r>
            <a:r>
              <a:rPr lang="en-US" altLang="zh-CN" dirty="0" err="1"/>
              <a:t>uwRet</a:t>
            </a:r>
            <a:r>
              <a:rPr lang="en-US" altLang="zh-CN" dirty="0"/>
              <a:t> != LOS_OK) {</a:t>
            </a:r>
          </a:p>
          <a:p>
            <a:r>
              <a:rPr lang="en-US" altLang="zh-CN" dirty="0"/>
              <a:t>           PRINT_ERR("</a:t>
            </a:r>
            <a:r>
              <a:rPr lang="en-US" altLang="zh-CN" dirty="0" err="1"/>
              <a:t>osMemSystemInit</a:t>
            </a:r>
            <a:r>
              <a:rPr lang="en-US" altLang="zh-CN" dirty="0"/>
              <a:t> error %d\n", </a:t>
            </a:r>
            <a:r>
              <a:rPr lang="en-US" altLang="zh-CN" dirty="0" err="1"/>
              <a:t>uwRet</a:t>
            </a:r>
            <a:r>
              <a:rPr lang="en-US" altLang="zh-CN" dirty="0"/>
              <a:t>);</a:t>
            </a:r>
          </a:p>
          <a:p>
            <a:r>
              <a:rPr lang="en-US" altLang="zh-CN" dirty="0"/>
              <a:t>	   return </a:t>
            </a:r>
            <a:r>
              <a:rPr lang="en-US" altLang="zh-CN" dirty="0" err="1"/>
              <a:t>uwRet</a:t>
            </a:r>
            <a:r>
              <a:rPr lang="en-US" altLang="zh-CN" dirty="0"/>
              <a:t>;</a:t>
            </a:r>
          </a:p>
          <a:p>
            <a:r>
              <a:rPr lang="en-US" altLang="zh-CN" dirty="0"/>
              <a:t>	}</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077119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850392"/>
            <a:ext cx="12192000" cy="57241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04223" y="948430"/>
            <a:ext cx="5434815"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#if (LOSCFG_PLATFORM_HWI == YES) (3)</a:t>
            </a:r>
          </a:p>
          <a:p>
            <a:r>
              <a:rPr lang="en-US" altLang="zh-CN" dirty="0"/>
              <a:t>       {</a:t>
            </a:r>
          </a:p>
          <a:p>
            <a:r>
              <a:rPr lang="en-US" altLang="zh-CN" dirty="0"/>
              <a:t>	</a:t>
            </a:r>
            <a:r>
              <a:rPr lang="en-US" altLang="zh-CN" dirty="0" err="1"/>
              <a:t>osHwiInit</a:t>
            </a:r>
            <a:r>
              <a:rPr lang="en-US" altLang="zh-CN" dirty="0"/>
              <a:t>();</a:t>
            </a:r>
          </a:p>
          <a:p>
            <a:r>
              <a:rPr lang="en-US" altLang="zh-CN" dirty="0"/>
              <a:t>       }</a:t>
            </a:r>
          </a:p>
          <a:p>
            <a:r>
              <a:rPr lang="en-US" altLang="zh-CN" dirty="0"/>
              <a:t> #</a:t>
            </a:r>
            <a:r>
              <a:rPr lang="en-US" altLang="zh-CN" dirty="0" err="1"/>
              <a:t>endif</a:t>
            </a:r>
            <a:endParaRPr lang="en-US" altLang="zh-CN" dirty="0"/>
          </a:p>
          <a:p>
            <a:r>
              <a:rPr lang="en-US" altLang="zh-CN" dirty="0"/>
              <a:t> #if (LOSCFG_PLATFORM_EXC == YES)</a:t>
            </a:r>
          </a:p>
          <a:p>
            <a:r>
              <a:rPr lang="en-US" altLang="zh-CN" dirty="0"/>
              <a:t>      {</a:t>
            </a:r>
          </a:p>
          <a:p>
            <a:r>
              <a:rPr lang="en-US" altLang="zh-CN" dirty="0"/>
              <a:t>           </a:t>
            </a:r>
            <a:r>
              <a:rPr lang="en-US" altLang="zh-CN" dirty="0" err="1"/>
              <a:t>osExcInit</a:t>
            </a:r>
            <a:r>
              <a:rPr lang="en-US" altLang="zh-CN" dirty="0"/>
              <a:t>(MAX_EXC_MEM_SIZE);</a:t>
            </a:r>
          </a:p>
          <a:p>
            <a:r>
              <a:rPr lang="en-US" altLang="zh-CN" dirty="0"/>
              <a:t>      }</a:t>
            </a:r>
          </a:p>
          <a:p>
            <a:r>
              <a:rPr lang="en-US" altLang="zh-CN" dirty="0"/>
              <a:t> #</a:t>
            </a:r>
            <a:r>
              <a:rPr lang="en-US" altLang="zh-CN" dirty="0" err="1"/>
              <a:t>endif</a:t>
            </a:r>
            <a:endParaRPr lang="en-US" altLang="zh-CN" dirty="0"/>
          </a:p>
          <a:p>
            <a:r>
              <a:rPr lang="en-US" altLang="zh-CN" dirty="0"/>
              <a:t> </a:t>
            </a:r>
            <a:r>
              <a:rPr lang="en-US" altLang="zh-CN" dirty="0" err="1"/>
              <a:t>uwRet</a:t>
            </a:r>
            <a:r>
              <a:rPr lang="en-US" altLang="zh-CN" dirty="0"/>
              <a:t> =</a:t>
            </a:r>
            <a:r>
              <a:rPr lang="en-US" altLang="zh-CN" dirty="0" err="1"/>
              <a:t>osTaskInit</a:t>
            </a:r>
            <a:r>
              <a:rPr lang="en-US" altLang="zh-CN" dirty="0"/>
              <a:t>();		 (4)</a:t>
            </a:r>
          </a:p>
          <a:p>
            <a:r>
              <a:rPr lang="en-US" altLang="zh-CN" dirty="0"/>
              <a:t>      if (</a:t>
            </a:r>
            <a:r>
              <a:rPr lang="en-US" altLang="zh-CN" dirty="0" err="1"/>
              <a:t>uwRet</a:t>
            </a:r>
            <a:r>
              <a:rPr lang="en-US" altLang="zh-CN" dirty="0"/>
              <a:t> != LOS_OK) {</a:t>
            </a:r>
          </a:p>
          <a:p>
            <a:r>
              <a:rPr lang="en-US" altLang="zh-CN" dirty="0"/>
              <a:t>           PRINT_ERR("</a:t>
            </a:r>
            <a:r>
              <a:rPr lang="en-US" altLang="zh-CN" dirty="0" err="1"/>
              <a:t>osTaskInit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#if (LOSCFG_BASE_CORE_TSK_MONITOR == YES)   (5)</a:t>
            </a:r>
          </a:p>
          <a:p>
            <a:r>
              <a:rPr lang="en-US" altLang="zh-CN" dirty="0"/>
              <a:t>      {</a:t>
            </a:r>
          </a:p>
          <a:p>
            <a:r>
              <a:rPr lang="en-US" altLang="zh-CN" dirty="0"/>
              <a:t>	</a:t>
            </a:r>
            <a:r>
              <a:rPr lang="en-US" altLang="zh-CN" dirty="0" err="1"/>
              <a:t>osTaskMonInit</a:t>
            </a:r>
            <a:r>
              <a:rPr lang="en-US" altLang="zh-CN" dirty="0"/>
              <a:t>();</a:t>
            </a:r>
          </a:p>
          <a:p>
            <a:r>
              <a:rPr lang="en-US" altLang="zh-CN" dirty="0"/>
              <a:t>      }</a:t>
            </a:r>
          </a:p>
          <a:p>
            <a:r>
              <a:rPr lang="en-US" altLang="zh-CN" dirty="0"/>
              <a:t>#</a:t>
            </a:r>
            <a:r>
              <a:rPr lang="en-US" altLang="zh-CN" dirty="0" err="1"/>
              <a:t>endif</a:t>
            </a:r>
            <a:endParaRPr lang="en-US" altLang="zh-CN" dirty="0"/>
          </a:p>
          <a:p>
            <a:endParaRPr lang="en-US" altLang="zh-CN" dirty="0"/>
          </a:p>
        </p:txBody>
      </p:sp>
      <p:sp>
        <p:nvSpPr>
          <p:cNvPr id="12" name="内容占位符 2"/>
          <p:cNvSpPr txBox="1">
            <a:spLocks/>
          </p:cNvSpPr>
          <p:nvPr/>
        </p:nvSpPr>
        <p:spPr>
          <a:xfrm>
            <a:off x="6221438" y="1341623"/>
            <a:ext cx="5857786" cy="47529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#if (LOSCFG_BASE_CORE_CPUP == YES)	 (6)</a:t>
            </a:r>
          </a:p>
          <a:p>
            <a:r>
              <a:rPr lang="en-US" altLang="zh-CN" dirty="0"/>
              <a:t>      {</a:t>
            </a:r>
          </a:p>
          <a:p>
            <a:r>
              <a:rPr lang="en-US" altLang="zh-CN" dirty="0"/>
              <a:t>           </a:t>
            </a:r>
            <a:r>
              <a:rPr lang="en-US" altLang="zh-CN" dirty="0" err="1"/>
              <a:t>uwRet</a:t>
            </a:r>
            <a:r>
              <a:rPr lang="en-US" altLang="zh-CN" dirty="0"/>
              <a:t> = </a:t>
            </a:r>
            <a:r>
              <a:rPr lang="en-US" altLang="zh-CN" dirty="0" err="1"/>
              <a:t>osCpupInit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osCpupInit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a:p>
            <a:r>
              <a:rPr lang="en-US" altLang="zh-CN" dirty="0"/>
              <a:t> #if (LOSCFG_BASE_IPC_SEM == YES)	 (7)</a:t>
            </a:r>
          </a:p>
          <a:p>
            <a:r>
              <a:rPr lang="en-US" altLang="zh-CN" dirty="0"/>
              <a:t>      {</a:t>
            </a:r>
          </a:p>
          <a:p>
            <a:r>
              <a:rPr lang="en-US" altLang="zh-CN" dirty="0"/>
              <a:t>           </a:t>
            </a:r>
            <a:r>
              <a:rPr lang="en-US" altLang="zh-CN" dirty="0" err="1"/>
              <a:t>uwRet</a:t>
            </a:r>
            <a:r>
              <a:rPr lang="en-US" altLang="zh-CN" dirty="0"/>
              <a:t> = </a:t>
            </a:r>
            <a:r>
              <a:rPr lang="en-US" altLang="zh-CN" dirty="0" err="1"/>
              <a:t>osSemInit</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p:txBody>
      </p:sp>
      <p:cxnSp>
        <p:nvCxnSpPr>
          <p:cNvPr id="8" name="直接连接符 7"/>
          <p:cNvCxnSpPr/>
          <p:nvPr/>
        </p:nvCxnSpPr>
        <p:spPr>
          <a:xfrm>
            <a:off x="5562878"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779481"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2049587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215719"/>
            <a:ext cx="12192000" cy="610737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792119"/>
            <a:ext cx="5331223"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#if (LOSCFG_BASE_IPC_MUX == YES) {    (8)</a:t>
            </a:r>
          </a:p>
          <a:p>
            <a:r>
              <a:rPr lang="en-US" altLang="zh-CN" dirty="0"/>
              <a:t>           </a:t>
            </a:r>
            <a:r>
              <a:rPr lang="en-US" altLang="zh-CN" dirty="0" err="1"/>
              <a:t>uwRet</a:t>
            </a:r>
            <a:r>
              <a:rPr lang="en-US" altLang="zh-CN" dirty="0"/>
              <a:t> = </a:t>
            </a:r>
            <a:r>
              <a:rPr lang="en-US" altLang="zh-CN" dirty="0" err="1"/>
              <a:t>osMuxInit</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a:t>
            </a:r>
          </a:p>
          <a:p>
            <a:r>
              <a:rPr lang="en-US" altLang="zh-CN" dirty="0"/>
              <a:t>           }</a:t>
            </a:r>
          </a:p>
          <a:p>
            <a:r>
              <a:rPr lang="en-US" altLang="zh-CN" dirty="0"/>
              <a:t>}</a:t>
            </a:r>
          </a:p>
          <a:p>
            <a:r>
              <a:rPr lang="en-US" altLang="zh-CN" dirty="0"/>
              <a:t> #</a:t>
            </a:r>
            <a:r>
              <a:rPr lang="en-US" altLang="zh-CN" dirty="0" err="1"/>
              <a:t>endif</a:t>
            </a:r>
            <a:endParaRPr lang="en-US" altLang="zh-CN" dirty="0"/>
          </a:p>
          <a:p>
            <a:r>
              <a:rPr lang="en-US" altLang="zh-CN" dirty="0"/>
              <a:t> #if (LOSCFG_BASE_IPC_QUEUE == YES) {  (9)</a:t>
            </a:r>
          </a:p>
          <a:p>
            <a:r>
              <a:rPr lang="en-US" altLang="zh-CN" dirty="0"/>
              <a:t>           </a:t>
            </a:r>
            <a:r>
              <a:rPr lang="en-US" altLang="zh-CN" dirty="0" err="1"/>
              <a:t>uwRet</a:t>
            </a:r>
            <a:r>
              <a:rPr lang="en-US" altLang="zh-CN" dirty="0"/>
              <a:t> = </a:t>
            </a:r>
            <a:r>
              <a:rPr lang="en-US" altLang="zh-CN" dirty="0" err="1"/>
              <a:t>osQueueInit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osQueueInit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a:p>
            <a:r>
              <a:rPr lang="en-US" altLang="zh-CN" dirty="0"/>
              <a:t>#if (LOSCFG_BASE_CORE_SWTMR == YES) {	(10)</a:t>
            </a:r>
          </a:p>
          <a:p>
            <a:r>
              <a:rPr lang="en-US" altLang="zh-CN" dirty="0"/>
              <a:t>             </a:t>
            </a:r>
            <a:r>
              <a:rPr lang="en-US" altLang="zh-CN" dirty="0" err="1"/>
              <a:t>uwRet</a:t>
            </a:r>
            <a:r>
              <a:rPr lang="en-US" altLang="zh-CN" dirty="0"/>
              <a:t> = </a:t>
            </a:r>
            <a:r>
              <a:rPr lang="en-US" altLang="zh-CN" dirty="0" err="1"/>
              <a:t>osSwTmrInit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osSwTmrInit</a:t>
            </a:r>
            <a:r>
              <a:rPr lang="en-US" altLang="zh-CN" dirty="0"/>
              <a:t> error\n");</a:t>
            </a:r>
          </a:p>
        </p:txBody>
      </p:sp>
      <p:sp>
        <p:nvSpPr>
          <p:cNvPr id="12" name="内容占位符 2"/>
          <p:cNvSpPr txBox="1">
            <a:spLocks/>
          </p:cNvSpPr>
          <p:nvPr/>
        </p:nvSpPr>
        <p:spPr>
          <a:xfrm>
            <a:off x="6242404" y="827294"/>
            <a:ext cx="5129626"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return </a:t>
            </a:r>
            <a:r>
              <a:rPr lang="en-US" altLang="zh-CN" dirty="0" err="1"/>
              <a:t>uwRet</a:t>
            </a:r>
            <a:r>
              <a:rPr lang="en-US" altLang="zh-CN" dirty="0"/>
              <a:t>;</a:t>
            </a:r>
          </a:p>
          <a:p>
            <a:r>
              <a:rPr lang="en-US" altLang="zh-CN" dirty="0"/>
              <a:t>           }</a:t>
            </a:r>
          </a:p>
          <a:p>
            <a:r>
              <a:rPr lang="en-US" altLang="zh-CN" dirty="0"/>
              <a:t>}</a:t>
            </a:r>
          </a:p>
          <a:p>
            <a:r>
              <a:rPr lang="en-US" altLang="zh-CN" dirty="0"/>
              <a:t> #</a:t>
            </a:r>
            <a:r>
              <a:rPr lang="en-US" altLang="zh-CN" dirty="0" err="1"/>
              <a:t>endif</a:t>
            </a:r>
            <a:endParaRPr lang="en-US" altLang="zh-CN" dirty="0"/>
          </a:p>
          <a:p>
            <a:r>
              <a:rPr lang="en-US" altLang="zh-CN" dirty="0"/>
              <a:t> #if(LOSCFG_BASE_CORE_TIMESLICE == YES)	 (11)</a:t>
            </a:r>
          </a:p>
          <a:p>
            <a:r>
              <a:rPr lang="en-US" altLang="zh-CN" dirty="0"/>
              <a:t>      </a:t>
            </a:r>
            <a:r>
              <a:rPr lang="en-US" altLang="zh-CN" dirty="0" err="1"/>
              <a:t>osTimesliceInit</a:t>
            </a:r>
            <a:r>
              <a:rPr lang="en-US" altLang="zh-CN" dirty="0"/>
              <a:t>();</a:t>
            </a:r>
          </a:p>
          <a:p>
            <a:r>
              <a:rPr lang="en-US" altLang="zh-CN" dirty="0"/>
              <a:t> #</a:t>
            </a:r>
            <a:r>
              <a:rPr lang="en-US" altLang="zh-CN" dirty="0" err="1"/>
              <a:t>endif</a:t>
            </a:r>
            <a:endParaRPr lang="en-US" altLang="zh-CN" dirty="0"/>
          </a:p>
          <a:p>
            <a:r>
              <a:rPr lang="en-US" altLang="zh-CN" dirty="0"/>
              <a:t>      </a:t>
            </a:r>
            <a:r>
              <a:rPr lang="en-US" altLang="zh-CN" dirty="0" err="1"/>
              <a:t>uwRet</a:t>
            </a:r>
            <a:r>
              <a:rPr lang="en-US" altLang="zh-CN" dirty="0"/>
              <a:t> = </a:t>
            </a:r>
            <a:r>
              <a:rPr lang="en-US" altLang="zh-CN" dirty="0" err="1"/>
              <a:t>osIdleTaskCreate</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 }</a:t>
            </a:r>
          </a:p>
          <a:p>
            <a:r>
              <a:rPr lang="en-US" altLang="zh-CN" dirty="0"/>
              <a:t> #if (LOSCFG_TEST == YES)	      (12)</a:t>
            </a:r>
          </a:p>
          <a:p>
            <a:r>
              <a:rPr lang="en-US" altLang="zh-CN" dirty="0"/>
              <a:t>      </a:t>
            </a:r>
            <a:r>
              <a:rPr lang="en-US" altLang="zh-CN" dirty="0" err="1"/>
              <a:t>uwRet</a:t>
            </a:r>
            <a:r>
              <a:rPr lang="en-US" altLang="zh-CN" dirty="0"/>
              <a:t> = </a:t>
            </a:r>
            <a:r>
              <a:rPr lang="en-US" altLang="zh-CN" dirty="0" err="1"/>
              <a:t>los_TestInit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los_TestInit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r>
              <a:rPr lang="en-US" altLang="zh-CN" dirty="0" err="1"/>
              <a:t>endif</a:t>
            </a:r>
            <a:endParaRPr lang="en-US" altLang="zh-CN" dirty="0"/>
          </a:p>
          <a:p>
            <a:r>
              <a:rPr lang="en-US" altLang="zh-CN" dirty="0"/>
              <a:t>      return LOS_OK;</a:t>
            </a:r>
          </a:p>
          <a:p>
            <a:pPr indent="182563"/>
            <a:r>
              <a:rPr lang="en-US" altLang="zh-CN" sz="1600" dirty="0">
                <a:solidFill>
                  <a:srgbClr val="C00000"/>
                </a:solidFill>
              </a:rPr>
              <a:t>}</a:t>
            </a:r>
          </a:p>
          <a:p>
            <a:endParaRPr lang="en-US" altLang="zh-CN" dirty="0"/>
          </a:p>
        </p:txBody>
      </p:sp>
      <p:cxnSp>
        <p:nvCxnSpPr>
          <p:cNvPr id="8" name="直接连接符 7"/>
          <p:cNvCxnSpPr/>
          <p:nvPr/>
        </p:nvCxnSpPr>
        <p:spPr>
          <a:xfrm>
            <a:off x="5562878"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779481"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0025456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0" y="647574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1341623"/>
            <a:ext cx="6607396" cy="332108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chemeClr val="tx2">
                  <a:lumMod val="75000"/>
                </a:schemeClr>
              </a:buClr>
              <a:buNone/>
            </a:pPr>
            <a:endParaRPr lang="en-US" altLang="zh-CN" sz="1599" dirty="0"/>
          </a:p>
        </p:txBody>
      </p:sp>
      <p:sp>
        <p:nvSpPr>
          <p:cNvPr id="7" name="内容占位符 2"/>
          <p:cNvSpPr txBox="1">
            <a:spLocks/>
          </p:cNvSpPr>
          <p:nvPr/>
        </p:nvSpPr>
        <p:spPr>
          <a:xfrm>
            <a:off x="231655" y="871654"/>
            <a:ext cx="11551003" cy="552759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1</a:t>
            </a:r>
            <a:r>
              <a:rPr lang="zh-CN" altLang="en-US" sz="1599" b="1" dirty="0"/>
              <a:t>）：根据</a:t>
            </a:r>
            <a:r>
              <a:rPr lang="en-US" altLang="zh-CN" sz="1599" b="1" dirty="0" err="1"/>
              <a:t>target_config.h</a:t>
            </a:r>
            <a:r>
              <a:rPr lang="zh-CN" altLang="en-US" sz="1599" b="1" dirty="0"/>
              <a:t>中的</a:t>
            </a:r>
            <a:r>
              <a:rPr lang="en-US" altLang="zh-CN" sz="1599" b="1" dirty="0"/>
              <a:t>LOSCFG_BASE_CORE_TSK_LIMIT</a:t>
            </a:r>
            <a:r>
              <a:rPr lang="zh-CN" altLang="en-US" sz="1599" b="1" dirty="0"/>
              <a:t>宏定义配置系统最大支持的任务个数，默认为</a:t>
            </a:r>
            <a:r>
              <a:rPr lang="en-US" altLang="zh-CN" sz="1599" b="1" dirty="0"/>
              <a:t>LOSCFG_BASE_CORE_TSK_LIMIT+1</a:t>
            </a:r>
            <a:r>
              <a:rPr lang="zh-CN" altLang="en-US" sz="1599" b="1" dirty="0"/>
              <a:t>，包括空闲任务</a:t>
            </a:r>
            <a:r>
              <a:rPr lang="en-US" altLang="zh-CN" sz="1599" b="1" dirty="0"/>
              <a:t>IDLE</a:t>
            </a:r>
            <a:r>
              <a:rPr lang="zh-CN" altLang="en-US" sz="1599" b="1" dirty="0"/>
              <a:t>。</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2</a:t>
            </a:r>
            <a:r>
              <a:rPr lang="zh-CN" altLang="en-US" sz="1599" b="1" dirty="0"/>
              <a:t>）：初始化</a:t>
            </a:r>
            <a:r>
              <a:rPr lang="en-US" altLang="zh-CN" sz="1599" b="1" dirty="0" err="1"/>
              <a:t>LiteOS</a:t>
            </a:r>
            <a:r>
              <a:rPr lang="zh-CN" altLang="en-US" sz="1599" b="1" dirty="0"/>
              <a:t>内存管理模块，系统管理的内存大小为</a:t>
            </a:r>
            <a:r>
              <a:rPr lang="en-US" altLang="zh-CN" sz="1599" b="1" dirty="0"/>
              <a:t>OS_SYS_MEM_SIZE</a:t>
            </a:r>
            <a:r>
              <a:rPr lang="zh-CN" altLang="en-US" sz="1599" b="1" dirty="0"/>
              <a:t>，可以由用户进行设置。</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3</a:t>
            </a:r>
            <a:r>
              <a:rPr lang="zh-CN" altLang="en-US" sz="1599" b="1" dirty="0"/>
              <a:t>）：如果在</a:t>
            </a:r>
            <a:r>
              <a:rPr lang="en-US" altLang="zh-CN" sz="1599" b="1" dirty="0" err="1"/>
              <a:t>target_config.h</a:t>
            </a:r>
            <a:r>
              <a:rPr lang="zh-CN" altLang="en-US" sz="1599" b="1" dirty="0"/>
              <a:t>中使能</a:t>
            </a:r>
            <a:r>
              <a:rPr lang="en-US" altLang="zh-CN" sz="1599" b="1" dirty="0"/>
              <a:t>LOSCFG_PLATFORM_HWI</a:t>
            </a:r>
            <a:r>
              <a:rPr lang="zh-CN" altLang="en-US" sz="1599" b="1" dirty="0"/>
              <a:t>宏定义，则进行硬件中断模块的初始化。如果</a:t>
            </a:r>
            <a:r>
              <a:rPr lang="en-US" altLang="zh-CN" sz="1599" b="1" dirty="0" err="1"/>
              <a:t>LiteOS</a:t>
            </a:r>
            <a:r>
              <a:rPr lang="zh-CN" altLang="en-US" sz="1599" b="1" dirty="0"/>
              <a:t>接管系统中断，则使用中断时需要先注册中断，否则将无法响应中断；反之，系统的中断将由硬件响应。</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4</a:t>
            </a:r>
            <a:r>
              <a:rPr lang="zh-CN" altLang="en-US" sz="1599" b="1" dirty="0"/>
              <a:t>）：初始化任务模块相关的内容，如分配内存、初始化链表，为后续创建任务做准备工作。</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5</a:t>
            </a:r>
            <a:r>
              <a:rPr lang="zh-CN" altLang="en-US" sz="1599" b="1" dirty="0"/>
              <a:t>）：在</a:t>
            </a:r>
            <a:r>
              <a:rPr lang="en-US" altLang="zh-CN" sz="1599" b="1" dirty="0" err="1"/>
              <a:t>target_config.h</a:t>
            </a:r>
            <a:r>
              <a:rPr lang="zh-CN" altLang="en-US" sz="1599" b="1" dirty="0"/>
              <a:t>中使能</a:t>
            </a:r>
            <a:r>
              <a:rPr lang="en-US" altLang="zh-CN" sz="1599" b="1" dirty="0"/>
              <a:t>LOSCFG_BASE_CORE_TSK_MONITOR</a:t>
            </a:r>
            <a:r>
              <a:rPr lang="zh-CN" altLang="en-US" sz="1599" b="1" dirty="0"/>
              <a:t>宏定义，表示启用任务监视器功能，需要对任务监视器进行相关初始化操作。</a:t>
            </a:r>
            <a:endParaRPr lang="en-US" altLang="zh-CN" sz="1599" b="1" dirty="0"/>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6</a:t>
            </a:r>
            <a:r>
              <a:rPr lang="zh-CN" altLang="en-US" sz="1599" b="1" dirty="0"/>
              <a:t>）：本书例程未使能</a:t>
            </a:r>
            <a:r>
              <a:rPr lang="en-US" altLang="zh-CN" sz="1599" b="1" dirty="0"/>
              <a:t>LOSCFG_BASE_CORE_CPUP</a:t>
            </a:r>
            <a:r>
              <a:rPr lang="zh-CN" altLang="en-US" sz="1599" b="1" dirty="0"/>
              <a:t>宏定义，暂时不需要进行相关初始化操作</a:t>
            </a:r>
            <a:r>
              <a:rPr lang="en-US" altLang="zh-CN" sz="1599" b="1" dirty="0"/>
              <a:t>(CPU</a:t>
            </a:r>
            <a:r>
              <a:rPr lang="zh-CN" altLang="en-US" sz="1599" b="1" dirty="0"/>
              <a:t>占用率</a:t>
            </a:r>
            <a:r>
              <a:rPr lang="en-US" altLang="zh-CN" sz="1599" b="1" dirty="0"/>
              <a:t>)</a:t>
            </a:r>
            <a:r>
              <a:rPr lang="zh-CN" altLang="en-US" sz="1599" b="1" dirty="0"/>
              <a:t>。</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7</a:t>
            </a:r>
            <a:r>
              <a:rPr lang="zh-CN" altLang="en-US" sz="1599" b="1" dirty="0"/>
              <a:t>）：在</a:t>
            </a:r>
            <a:r>
              <a:rPr lang="en-US" altLang="zh-CN" sz="1599" b="1" dirty="0" err="1"/>
              <a:t>target_config.h</a:t>
            </a:r>
            <a:r>
              <a:rPr lang="zh-CN" altLang="en-US" sz="1599" b="1" dirty="0"/>
              <a:t>中使能</a:t>
            </a:r>
            <a:r>
              <a:rPr lang="en-US" altLang="zh-CN" sz="1599" b="1" dirty="0"/>
              <a:t>LOSCFG_BASE_IPC_SEM</a:t>
            </a:r>
            <a:r>
              <a:rPr lang="zh-CN" altLang="en-US" sz="1599" b="1" dirty="0"/>
              <a:t>宏定义，表示系统使用信号量功能，需要初始化信号量相关内容，如分配内存、初始化信号量链表等。</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8</a:t>
            </a:r>
            <a:r>
              <a:rPr lang="zh-CN" altLang="en-US" sz="1599" b="1" dirty="0"/>
              <a:t>）：在</a:t>
            </a:r>
            <a:r>
              <a:rPr lang="en-US" altLang="zh-CN" sz="1599" b="1" dirty="0" err="1"/>
              <a:t>target_config.h</a:t>
            </a:r>
            <a:r>
              <a:rPr lang="zh-CN" altLang="en-US" sz="1599" b="1" dirty="0"/>
              <a:t>中使能</a:t>
            </a:r>
            <a:r>
              <a:rPr lang="en-US" altLang="zh-CN" sz="1599" b="1" dirty="0"/>
              <a:t>LOSCFG_BASE_IPC_MUX</a:t>
            </a:r>
            <a:r>
              <a:rPr lang="zh-CN" altLang="en-US" sz="1599" b="1" dirty="0"/>
              <a:t>宏定义，表示系统使用互斥锁功能，需要对互斥锁进行相关初始化操作，如分配内存、初始化链表等。</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9</a:t>
            </a:r>
            <a:r>
              <a:rPr lang="zh-CN" altLang="en-US" sz="1599" b="1" dirty="0"/>
              <a:t>）：在</a:t>
            </a:r>
            <a:r>
              <a:rPr lang="en-US" altLang="zh-CN" sz="1599" b="1" dirty="0" err="1"/>
              <a:t>target_config.h</a:t>
            </a:r>
            <a:r>
              <a:rPr lang="zh-CN" altLang="en-US" sz="1599" b="1" dirty="0"/>
              <a:t>中使能</a:t>
            </a:r>
            <a:r>
              <a:rPr lang="en-US" altLang="zh-CN" sz="1599" b="1" dirty="0"/>
              <a:t>LOSCFG_BASE_IPC_QUEUE</a:t>
            </a:r>
            <a:r>
              <a:rPr lang="zh-CN" altLang="en-US" sz="1599" b="1" dirty="0"/>
              <a:t>宏定义，表示系统使用消息队列功能，需要对消息队列进行相关初始化操作，如分配内存、初始化链表等。</a:t>
            </a:r>
          </a:p>
          <a:p>
            <a:pPr>
              <a:buClr>
                <a:srgbClr val="69A12B"/>
              </a:buClr>
              <a:buFont typeface="Wingdings" panose="05000000000000000000" pitchFamily="2" charset="2"/>
              <a:buChar char="Ø"/>
            </a:pPr>
            <a:endParaRPr lang="zh-CN" altLang="en-US" sz="1599" b="1" dirty="0"/>
          </a:p>
        </p:txBody>
      </p:sp>
      <p:sp>
        <p:nvSpPr>
          <p:cNvPr id="3" name="椭圆 2"/>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 name="椭圆 8"/>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椭圆 9"/>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椭圆 10"/>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椭圆 11"/>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椭圆 12"/>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椭圆 13"/>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矩形 1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706450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nvSpPr>
        <p:spPr>
          <a:xfrm>
            <a:off x="0"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7574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1341623"/>
            <a:ext cx="6607396" cy="332108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chemeClr val="tx2">
                  <a:lumMod val="75000"/>
                </a:schemeClr>
              </a:buClr>
              <a:buNone/>
            </a:pPr>
            <a:endParaRPr lang="en-US" altLang="zh-CN" sz="1599" dirty="0"/>
          </a:p>
        </p:txBody>
      </p:sp>
      <p:sp>
        <p:nvSpPr>
          <p:cNvPr id="7" name="内容占位符 2"/>
          <p:cNvSpPr txBox="1">
            <a:spLocks/>
          </p:cNvSpPr>
          <p:nvPr/>
        </p:nvSpPr>
        <p:spPr>
          <a:xfrm>
            <a:off x="357735" y="1416793"/>
            <a:ext cx="7126951" cy="4798101"/>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10</a:t>
            </a:r>
            <a:r>
              <a:rPr lang="zh-CN" altLang="en-US" sz="1799" b="1" dirty="0"/>
              <a:t>）：在</a:t>
            </a:r>
            <a:r>
              <a:rPr lang="en-US" altLang="zh-CN" sz="1799" b="1" dirty="0" err="1"/>
              <a:t>target_config.h</a:t>
            </a:r>
            <a:r>
              <a:rPr lang="zh-CN" altLang="en-US" sz="1799" b="1" dirty="0"/>
              <a:t>中使能</a:t>
            </a:r>
            <a:r>
              <a:rPr lang="en-US" altLang="zh-CN" sz="1799" b="1" dirty="0"/>
              <a:t>LOSCFG_BASE_CORE_SWTMR</a:t>
            </a:r>
            <a:r>
              <a:rPr lang="zh-CN" altLang="en-US" sz="1799" b="1" dirty="0"/>
              <a:t>宏定义，表示系统使用软件定时器功能，在使用软件定时器的时候，必须使用消息队列功能，因为</a:t>
            </a:r>
            <a:r>
              <a:rPr lang="en-US" altLang="zh-CN" sz="1799" b="1" dirty="0" err="1"/>
              <a:t>LiteOS</a:t>
            </a:r>
            <a:r>
              <a:rPr lang="zh-CN" altLang="en-US" sz="1799" b="1" dirty="0"/>
              <a:t>的软件定时器是依赖消息队列实现的，系统会对软件定时器进行相关初始化操作，如分配内存、初始化链表等。除此之外，系统会创建一个软件定时器任务</a:t>
            </a:r>
            <a:r>
              <a:rPr lang="en-US" altLang="zh-CN" sz="1799" b="1" dirty="0" err="1"/>
              <a:t>osSwTmrTask</a:t>
            </a:r>
            <a:r>
              <a:rPr lang="zh-CN" altLang="en-US" sz="1799" b="1" dirty="0"/>
              <a:t>与一个软件定时器命令队列</a:t>
            </a:r>
            <a:r>
              <a:rPr lang="en-US" altLang="zh-CN" sz="1799" b="1" dirty="0" err="1"/>
              <a:t>m_uwSwTmrHandlerQueue</a:t>
            </a:r>
            <a:r>
              <a:rPr lang="zh-CN" altLang="en-US" sz="1799" b="1" dirty="0"/>
              <a:t>。</a:t>
            </a:r>
          </a:p>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11</a:t>
            </a:r>
            <a:r>
              <a:rPr lang="zh-CN" altLang="en-US" sz="1799" b="1" dirty="0"/>
              <a:t>）：本书例程未使能</a:t>
            </a:r>
            <a:r>
              <a:rPr lang="en-US" altLang="zh-CN" sz="1799" b="1" dirty="0"/>
              <a:t>LOSCFG_BASE_CORE_TIMESLICE</a:t>
            </a:r>
            <a:r>
              <a:rPr lang="zh-CN" altLang="en-US" sz="1799" b="1" dirty="0"/>
              <a:t>宏定义，暂时不需要进行相关初始化操作。</a:t>
            </a:r>
          </a:p>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12</a:t>
            </a:r>
            <a:r>
              <a:rPr lang="zh-CN" altLang="en-US" sz="1799" b="1" dirty="0"/>
              <a:t>）：本书例程未使能 </a:t>
            </a:r>
            <a:r>
              <a:rPr lang="en-US" altLang="zh-CN" sz="1799" b="1" dirty="0"/>
              <a:t>LOSCFG_TEST</a:t>
            </a:r>
            <a:r>
              <a:rPr lang="zh-CN" altLang="en-US" sz="1799" b="1" dirty="0"/>
              <a:t>宏定义，暂时不需要进行相关初始化操作。</a:t>
            </a:r>
          </a:p>
        </p:txBody>
      </p:sp>
      <p:sp>
        <p:nvSpPr>
          <p:cNvPr id="3" name="椭圆 2"/>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 name="椭圆 8"/>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椭圆 9"/>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椭圆 10"/>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椭圆 11"/>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椭圆 12"/>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椭圆 13"/>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 name="圆角矩形 3"/>
          <p:cNvSpPr/>
          <p:nvPr/>
        </p:nvSpPr>
        <p:spPr>
          <a:xfrm>
            <a:off x="8000009" y="2972038"/>
            <a:ext cx="3634668" cy="2920418"/>
          </a:xfrm>
          <a:prstGeom prst="roundRect">
            <a:avLst>
              <a:gd name="adj" fmla="val 5979"/>
            </a:avLst>
          </a:prstGeom>
          <a:solidFill>
            <a:srgbClr val="26598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bg1"/>
              </a:solidFill>
            </a:endParaRPr>
          </a:p>
        </p:txBody>
      </p:sp>
      <p:sp>
        <p:nvSpPr>
          <p:cNvPr id="16" name="内容占位符 2"/>
          <p:cNvSpPr txBox="1">
            <a:spLocks/>
          </p:cNvSpPr>
          <p:nvPr/>
        </p:nvSpPr>
        <p:spPr>
          <a:xfrm>
            <a:off x="8228489" y="3232559"/>
            <a:ext cx="3345274" cy="2547740"/>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rgbClr val="69A12B"/>
              </a:buClr>
              <a:buNone/>
            </a:pPr>
            <a:r>
              <a:rPr lang="zh-CN" altLang="en-US" sz="1799" b="1" dirty="0">
                <a:solidFill>
                  <a:schemeClr val="bg1"/>
                </a:solidFill>
              </a:rPr>
              <a:t>提示：系统支持的最大的信号量、互斥锁、消息队列个数由用户决定，并且在内核初始化的时候会分配对应控制块所需的内存空间，用户可以根据系统的需求进行裁剪，以减少系统的内存开销。</a:t>
            </a:r>
          </a:p>
        </p:txBody>
      </p:sp>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1858415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2240400"/>
            <a:ext cx="12192000" cy="42171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0" y="2058114"/>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57574"/>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409342" y="915710"/>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在系统完成一系列相关的初始化操作之后，</a:t>
            </a:r>
            <a:r>
              <a:rPr lang="en-US" altLang="zh-CN" sz="1799" b="1" dirty="0" err="1"/>
              <a:t>LiteOS</a:t>
            </a:r>
            <a:r>
              <a:rPr lang="zh-CN" altLang="en-US" sz="1799" b="1" dirty="0"/>
              <a:t>即可正常启动，读者可以使用系统提供的</a:t>
            </a:r>
            <a:r>
              <a:rPr lang="en-US" altLang="zh-CN" sz="1799" b="1" dirty="0"/>
              <a:t>API</a:t>
            </a:r>
            <a:r>
              <a:rPr lang="zh-CN" altLang="en-US" sz="1799" b="1" dirty="0"/>
              <a:t>来创建任务和内核对象等，并开启任务调度，还可以在任务中使用内核资源实现需要的功能，其伪代码如代码清单</a:t>
            </a:r>
            <a:r>
              <a:rPr lang="en-US" altLang="zh-CN" sz="1799" b="1" dirty="0"/>
              <a:t>3~14</a:t>
            </a:r>
            <a:r>
              <a:rPr lang="zh-CN" altLang="en-US" sz="1799" b="1" dirty="0"/>
              <a:t>加粗部分所示。</a:t>
            </a:r>
          </a:p>
        </p:txBody>
      </p:sp>
      <p:sp>
        <p:nvSpPr>
          <p:cNvPr id="115" name="内容占位符 2"/>
          <p:cNvSpPr txBox="1">
            <a:spLocks/>
          </p:cNvSpPr>
          <p:nvPr/>
        </p:nvSpPr>
        <p:spPr>
          <a:xfrm>
            <a:off x="536297" y="2275191"/>
            <a:ext cx="4264979" cy="395422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a:t>
            </a:r>
            <a:r>
              <a:rPr lang="en-US" altLang="zh-CN" dirty="0" err="1"/>
              <a:t>LiteOS</a:t>
            </a:r>
            <a:r>
              <a:rPr lang="en-US" altLang="zh-CN" dirty="0"/>
              <a:t> </a:t>
            </a:r>
            <a:r>
              <a:rPr lang="zh-CN" altLang="en-US" dirty="0"/>
              <a:t>核心初始化 *</a:t>
            </a:r>
            <a:r>
              <a:rPr lang="en-US" altLang="zh-CN" dirty="0"/>
              <a:t>/</a:t>
            </a:r>
          </a:p>
          <a:p>
            <a:r>
              <a:rPr lang="en-US" altLang="zh-CN" dirty="0"/>
              <a:t> </a:t>
            </a:r>
            <a:r>
              <a:rPr lang="en-US" altLang="zh-CN" dirty="0" err="1"/>
              <a:t>uwRet</a:t>
            </a:r>
            <a:r>
              <a:rPr lang="en-US" altLang="zh-CN" dirty="0"/>
              <a:t> = </a:t>
            </a:r>
            <a:r>
              <a:rPr lang="en-US" altLang="zh-CN" dirty="0" err="1"/>
              <a:t>LOS_KernelInit</a:t>
            </a:r>
            <a:r>
              <a:rPr lang="en-US" altLang="zh-CN" dirty="0"/>
              <a:t>();</a:t>
            </a:r>
          </a:p>
          <a:p>
            <a:r>
              <a:rPr lang="en-US" altLang="zh-CN" dirty="0"/>
              <a:t> if (</a:t>
            </a:r>
            <a:r>
              <a:rPr lang="en-US" altLang="zh-CN" dirty="0" err="1"/>
              <a:t>uwRet</a:t>
            </a:r>
            <a:r>
              <a:rPr lang="en-US" altLang="zh-CN" dirty="0"/>
              <a:t> != LOS_OK)</a:t>
            </a:r>
          </a:p>
          <a:p>
            <a:r>
              <a:rPr lang="en-US" altLang="zh-CN" dirty="0"/>
              <a:t> {</a:t>
            </a:r>
          </a:p>
          <a:p>
            <a:r>
              <a:rPr lang="en-US" altLang="zh-CN" dirty="0"/>
              <a:t>      printf("</a:t>
            </a:r>
            <a:r>
              <a:rPr lang="en-US" altLang="zh-CN" dirty="0" err="1"/>
              <a:t>LiteOS</a:t>
            </a:r>
            <a:r>
              <a:rPr lang="en-US" altLang="zh-CN" dirty="0"/>
              <a:t> </a:t>
            </a:r>
            <a:r>
              <a:rPr lang="zh-CN" altLang="en-US" dirty="0"/>
              <a:t>核心初始化失败！</a:t>
            </a:r>
            <a:r>
              <a:rPr lang="en-US" altLang="zh-CN" dirty="0"/>
              <a:t>\n");</a:t>
            </a:r>
          </a:p>
          <a:p>
            <a:r>
              <a:rPr lang="en-US" altLang="zh-CN" dirty="0"/>
              <a:t>      return LOS_NOK;</a:t>
            </a:r>
          </a:p>
          <a:p>
            <a:r>
              <a:rPr lang="en-US" altLang="zh-CN" dirty="0"/>
              <a:t> }</a:t>
            </a:r>
          </a:p>
          <a:p>
            <a:r>
              <a:rPr lang="en-US" altLang="zh-CN" dirty="0"/>
              <a:t> /* Test1_Task</a:t>
            </a:r>
            <a:r>
              <a:rPr lang="zh-CN" altLang="en-US" dirty="0"/>
              <a:t>任务创建失败 *</a:t>
            </a:r>
            <a:r>
              <a:rPr lang="en-US" altLang="zh-CN" dirty="0"/>
              <a:t>/</a:t>
            </a:r>
          </a:p>
          <a:p>
            <a:r>
              <a:rPr lang="en-US" altLang="zh-CN" dirty="0"/>
              <a:t> </a:t>
            </a:r>
            <a:r>
              <a:rPr lang="en-US" altLang="zh-CN" dirty="0" err="1"/>
              <a:t>uwRet</a:t>
            </a:r>
            <a:r>
              <a:rPr lang="en-US" altLang="zh-CN" dirty="0"/>
              <a:t> = Creat_Test1_Task();</a:t>
            </a:r>
          </a:p>
          <a:p>
            <a:r>
              <a:rPr lang="en-US" altLang="zh-CN" dirty="0"/>
              <a:t> if (</a:t>
            </a:r>
            <a:r>
              <a:rPr lang="en-US" altLang="zh-CN" dirty="0" err="1"/>
              <a:t>uwRet</a:t>
            </a:r>
            <a:r>
              <a:rPr lang="en-US" altLang="zh-CN" dirty="0"/>
              <a:t> != LOS_OK)</a:t>
            </a:r>
          </a:p>
          <a:p>
            <a:r>
              <a:rPr lang="en-US" altLang="zh-CN" dirty="0"/>
              <a:t> {</a:t>
            </a:r>
          </a:p>
          <a:p>
            <a:r>
              <a:rPr lang="en-US" altLang="zh-CN" dirty="0"/>
              <a:t>      printf("Test1_Task</a:t>
            </a:r>
            <a:r>
              <a:rPr lang="zh-CN" altLang="en-US" dirty="0"/>
              <a:t>任务创建失败！</a:t>
            </a:r>
            <a:r>
              <a:rPr lang="en-US" altLang="zh-CN" dirty="0"/>
              <a:t>\n");</a:t>
            </a:r>
          </a:p>
          <a:p>
            <a:r>
              <a:rPr lang="en-US" altLang="zh-CN" dirty="0"/>
              <a:t>      return LOS_NOK;</a:t>
            </a:r>
          </a:p>
          <a:p>
            <a:r>
              <a:rPr lang="en-US" altLang="zh-CN" dirty="0"/>
              <a:t> }</a:t>
            </a:r>
          </a:p>
        </p:txBody>
      </p:sp>
      <p:sp>
        <p:nvSpPr>
          <p:cNvPr id="12" name="内容占位符 2"/>
          <p:cNvSpPr txBox="1">
            <a:spLocks/>
          </p:cNvSpPr>
          <p:nvPr/>
        </p:nvSpPr>
        <p:spPr>
          <a:xfrm>
            <a:off x="7009924" y="2275192"/>
            <a:ext cx="4264979" cy="33210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 Test2_Task</a:t>
            </a:r>
            <a:r>
              <a:rPr lang="zh-CN" altLang="en-US" dirty="0"/>
              <a:t>任务创建失败 *</a:t>
            </a:r>
            <a:r>
              <a:rPr lang="en-US" altLang="zh-CN" dirty="0"/>
              <a:t>/</a:t>
            </a:r>
          </a:p>
          <a:p>
            <a:r>
              <a:rPr lang="en-US" altLang="zh-CN" dirty="0"/>
              <a:t> </a:t>
            </a:r>
            <a:r>
              <a:rPr lang="en-US" altLang="zh-CN" dirty="0" err="1"/>
              <a:t>uwRet</a:t>
            </a:r>
            <a:r>
              <a:rPr lang="en-US" altLang="zh-CN" dirty="0"/>
              <a:t> = Creat_Test2_Task();</a:t>
            </a:r>
          </a:p>
          <a:p>
            <a:r>
              <a:rPr lang="en-US" altLang="zh-CN" dirty="0"/>
              <a:t> if (</a:t>
            </a:r>
            <a:r>
              <a:rPr lang="en-US" altLang="zh-CN" dirty="0" err="1"/>
              <a:t>uwRet</a:t>
            </a:r>
            <a:r>
              <a:rPr lang="en-US" altLang="zh-CN" dirty="0"/>
              <a:t> != LOS_OK)</a:t>
            </a:r>
          </a:p>
          <a:p>
            <a:r>
              <a:rPr lang="en-US" altLang="zh-CN" dirty="0"/>
              <a:t> {</a:t>
            </a:r>
          </a:p>
          <a:p>
            <a:r>
              <a:rPr lang="en-US" altLang="zh-CN" dirty="0"/>
              <a:t>      printf("Test2_Task</a:t>
            </a:r>
            <a:r>
              <a:rPr lang="zh-CN" altLang="en-US" dirty="0"/>
              <a:t>任务创建失败！</a:t>
            </a:r>
            <a:r>
              <a:rPr lang="en-US" altLang="zh-CN" dirty="0"/>
              <a:t>\n");</a:t>
            </a:r>
          </a:p>
          <a:p>
            <a:r>
              <a:rPr lang="en-US" altLang="zh-CN" dirty="0"/>
              <a:t>      return LOS_NOK;</a:t>
            </a:r>
          </a:p>
          <a:p>
            <a:r>
              <a:rPr lang="en-US" altLang="zh-CN" dirty="0"/>
              <a:t> }</a:t>
            </a:r>
          </a:p>
          <a:p>
            <a:r>
              <a:rPr lang="en-US" altLang="zh-CN" dirty="0"/>
              <a:t> /* </a:t>
            </a:r>
            <a:r>
              <a:rPr lang="zh-CN" altLang="en-US" dirty="0"/>
              <a:t>开启</a:t>
            </a:r>
            <a:r>
              <a:rPr lang="en-US" altLang="zh-CN" dirty="0" err="1"/>
              <a:t>LiteOS</a:t>
            </a:r>
            <a:r>
              <a:rPr lang="zh-CN" altLang="en-US" dirty="0"/>
              <a:t>任务调度 *</a:t>
            </a:r>
            <a:r>
              <a:rPr lang="en-US" altLang="zh-CN" dirty="0"/>
              <a:t>/</a:t>
            </a:r>
          </a:p>
          <a:p>
            <a:r>
              <a:rPr lang="en-US" altLang="zh-CN" dirty="0"/>
              <a:t> </a:t>
            </a:r>
            <a:r>
              <a:rPr lang="en-US" altLang="zh-CN" dirty="0" err="1"/>
              <a:t>LOS_Start</a:t>
            </a:r>
            <a:r>
              <a:rPr lang="en-US" altLang="zh-CN" dirty="0"/>
              <a:t>();</a:t>
            </a:r>
          </a:p>
        </p:txBody>
      </p:sp>
      <p:sp>
        <p:nvSpPr>
          <p:cNvPr id="14" name="椭圆 13"/>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椭圆 15"/>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椭圆 16"/>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椭圆 17"/>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椭圆 18"/>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椭圆 19"/>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椭圆 20"/>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矩形 2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2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7794750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1" y="852232"/>
            <a:ext cx="6199777" cy="609284"/>
          </a:xfrm>
        </p:spPr>
        <p:txBody>
          <a:bodyPr>
            <a:normAutofit/>
          </a:bodyPr>
          <a:lstStyle/>
          <a:p>
            <a:pPr marL="0" indent="0">
              <a:buClr>
                <a:schemeClr val="tx2">
                  <a:lumMod val="75000"/>
                </a:schemeClr>
              </a:buClr>
              <a:buNone/>
            </a:pPr>
            <a:r>
              <a:rPr lang="en-US" altLang="zh-CN" b="1" dirty="0">
                <a:solidFill>
                  <a:srgbClr val="C00000"/>
                </a:solidFill>
              </a:rPr>
              <a:t>3</a:t>
            </a:r>
            <a:r>
              <a:rPr lang="zh-CN" altLang="en-US" b="1" dirty="0">
                <a:solidFill>
                  <a:srgbClr val="C00000"/>
                </a:solidFill>
              </a:rPr>
              <a:t>．开启任务调度</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09601" y="1539331"/>
            <a:ext cx="5181758" cy="1874093"/>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599" b="1" dirty="0"/>
              <a:t>任务调度器的开启由</a:t>
            </a:r>
            <a:r>
              <a:rPr lang="en-US" altLang="zh-CN" sz="1599" b="1" dirty="0" err="1"/>
              <a:t>LOS_Start</a:t>
            </a:r>
            <a:r>
              <a:rPr lang="zh-CN" altLang="en-US" sz="1599" b="1" dirty="0"/>
              <a:t>函数来实现，如代码清单</a:t>
            </a:r>
            <a:r>
              <a:rPr lang="en-US" altLang="zh-CN" sz="1599" b="1" dirty="0"/>
              <a:t>3~15</a:t>
            </a:r>
            <a:r>
              <a:rPr lang="zh-CN" altLang="en-US" sz="1599" b="1" dirty="0"/>
              <a:t>所示。系统在开启任务调度器后，任务会进行切换，任务的切换动作包括获取就绪列表中最高优先级任务、切出任务上文保存、切入任务下文恢复等。</a:t>
            </a:r>
            <a:endParaRPr lang="en-US" altLang="zh-CN" sz="1599" b="1" dirty="0"/>
          </a:p>
          <a:p>
            <a:pPr marL="0" indent="456971">
              <a:buClr>
                <a:schemeClr val="tx2">
                  <a:lumMod val="75000"/>
                </a:schemeClr>
              </a:buClr>
              <a:buNone/>
            </a:pPr>
            <a:r>
              <a:rPr lang="en-US" altLang="zh-CN" sz="1599" b="1" dirty="0" err="1"/>
              <a:t>LOS_Start</a:t>
            </a:r>
            <a:r>
              <a:rPr lang="zh-CN" altLang="en-US" sz="1599" b="1" dirty="0"/>
              <a:t>函数的实现过程如代码清单</a:t>
            </a:r>
            <a:r>
              <a:rPr lang="en-US" altLang="zh-CN" sz="1599" b="1" dirty="0"/>
              <a:t>3~16</a:t>
            </a:r>
            <a:r>
              <a:rPr lang="zh-CN" altLang="en-US" sz="1599" b="1" dirty="0"/>
              <a:t>所示。</a:t>
            </a:r>
          </a:p>
        </p:txBody>
      </p:sp>
      <p:cxnSp>
        <p:nvCxnSpPr>
          <p:cNvPr id="18" name="直接连接符 17"/>
          <p:cNvCxnSpPr/>
          <p:nvPr/>
        </p:nvCxnSpPr>
        <p:spPr>
          <a:xfrm>
            <a:off x="-7553" y="6429683"/>
            <a:ext cx="593612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248321" y="6448035"/>
            <a:ext cx="593612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圆角矩形标注 19"/>
          <p:cNvSpPr/>
          <p:nvPr/>
        </p:nvSpPr>
        <p:spPr>
          <a:xfrm>
            <a:off x="3696950" y="5719972"/>
            <a:ext cx="4188817" cy="742083"/>
          </a:xfrm>
          <a:prstGeom prst="wedgeRoundRectCallout">
            <a:avLst>
              <a:gd name="adj1" fmla="val -58831"/>
              <a:gd name="adj2" fmla="val -18238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chemeClr val="tx1"/>
                </a:solidFill>
              </a:rPr>
              <a:t>打开系统必要的时钟以保证系统获得正常的时基，系统时钟节拍根据宏定义</a:t>
            </a:r>
            <a:r>
              <a:rPr lang="en-US" altLang="zh-CN" sz="1199" b="1" dirty="0">
                <a:solidFill>
                  <a:schemeClr val="tx1"/>
                </a:solidFill>
              </a:rPr>
              <a:t>OS_SYS_CLOCK</a:t>
            </a:r>
            <a:r>
              <a:rPr lang="zh-CN" altLang="en-US" sz="1199" b="1" dirty="0">
                <a:solidFill>
                  <a:schemeClr val="tx1"/>
                </a:solidFill>
              </a:rPr>
              <a:t>与</a:t>
            </a:r>
            <a:r>
              <a:rPr lang="en-US" altLang="zh-CN" sz="1199" b="1" dirty="0">
                <a:solidFill>
                  <a:schemeClr val="tx1"/>
                </a:solidFill>
              </a:rPr>
              <a:t>LOSCFG_BASE_CORE_TICK_PER_SECOND</a:t>
            </a:r>
            <a:r>
              <a:rPr lang="zh-CN" altLang="en-US" sz="1199" b="1" dirty="0">
                <a:solidFill>
                  <a:schemeClr val="tx1"/>
                </a:solidFill>
              </a:rPr>
              <a:t>进行设置。</a:t>
            </a:r>
          </a:p>
        </p:txBody>
      </p:sp>
      <p:sp>
        <p:nvSpPr>
          <p:cNvPr id="21" name="圆角矩形标注 20"/>
          <p:cNvSpPr/>
          <p:nvPr/>
        </p:nvSpPr>
        <p:spPr>
          <a:xfrm>
            <a:off x="8283152" y="5428482"/>
            <a:ext cx="3901295" cy="582980"/>
          </a:xfrm>
          <a:prstGeom prst="wedgeRoundRectCallout">
            <a:avLst>
              <a:gd name="adj1" fmla="val -49566"/>
              <a:gd name="adj2" fmla="val -24856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99" b="1" dirty="0" err="1">
                <a:solidFill>
                  <a:schemeClr val="tx1"/>
                </a:solidFill>
              </a:rPr>
              <a:t>LOS_StartToRun</a:t>
            </a:r>
            <a:r>
              <a:rPr lang="zh-CN" altLang="en-US" sz="1199" b="1" dirty="0">
                <a:solidFill>
                  <a:schemeClr val="tx1"/>
                </a:solidFill>
              </a:rPr>
              <a:t>函数采用汇编语言实现，其源码在</a:t>
            </a:r>
            <a:r>
              <a:rPr lang="en-US" altLang="zh-CN" sz="1199" b="1" dirty="0" err="1">
                <a:solidFill>
                  <a:schemeClr val="tx1"/>
                </a:solidFill>
              </a:rPr>
              <a:t>los_dispatch_keil.s</a:t>
            </a:r>
            <a:r>
              <a:rPr lang="zh-CN" altLang="en-US" sz="1199" b="1" dirty="0">
                <a:solidFill>
                  <a:schemeClr val="tx1"/>
                </a:solidFill>
              </a:rPr>
              <a:t>文件中，如代码清单</a:t>
            </a:r>
            <a:r>
              <a:rPr lang="en-US" altLang="zh-CN" sz="1199" b="1" dirty="0">
                <a:solidFill>
                  <a:schemeClr val="tx1"/>
                </a:solidFill>
              </a:rPr>
              <a:t>3~17</a:t>
            </a:r>
            <a:r>
              <a:rPr lang="zh-CN" altLang="en-US" sz="1199" b="1" dirty="0">
                <a:solidFill>
                  <a:schemeClr val="tx1"/>
                </a:solidFill>
              </a:rPr>
              <a:t>所示。</a:t>
            </a:r>
          </a:p>
        </p:txBody>
      </p:sp>
      <p:sp>
        <p:nvSpPr>
          <p:cNvPr id="22" name="矩形 2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2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 name="矩形 1"/>
          <p:cNvSpPr/>
          <p:nvPr/>
        </p:nvSpPr>
        <p:spPr>
          <a:xfrm>
            <a:off x="609601" y="3412016"/>
            <a:ext cx="6096000" cy="3139321"/>
          </a:xfrm>
          <a:prstGeom prst="rect">
            <a:avLst/>
          </a:prstGeom>
        </p:spPr>
        <p:txBody>
          <a:bodyPr>
            <a:spAutoFit/>
          </a:bodyPr>
          <a:lstStyle/>
          <a:p>
            <a:r>
              <a:rPr lang="zh-CN" altLang="en-US" b="1" dirty="0"/>
              <a:t>LITE_OS_SEC_TEXT_INIT UINT32 LOS_Start(VOID)</a:t>
            </a:r>
          </a:p>
          <a:p>
            <a:r>
              <a:rPr lang="zh-CN" altLang="en-US" b="1" dirty="0"/>
              <a:t>{</a:t>
            </a:r>
          </a:p>
          <a:p>
            <a:r>
              <a:rPr lang="zh-CN" altLang="en-US" b="1" dirty="0"/>
              <a:t>UINT32 uwRet;</a:t>
            </a:r>
          </a:p>
          <a:p>
            <a:r>
              <a:rPr lang="zh-CN" altLang="en-US" b="1" dirty="0"/>
              <a:t>#if (LOSCFG_BASE_CORE_TICK_HW_TIME == NO)</a:t>
            </a:r>
          </a:p>
          <a:p>
            <a:r>
              <a:rPr lang="zh-CN" altLang="en-US" b="1" dirty="0"/>
              <a:t> uwRet = osTickStart();     (1)</a:t>
            </a:r>
          </a:p>
          <a:p>
            <a:endParaRPr lang="zh-CN" altLang="en-US" b="1" dirty="0"/>
          </a:p>
          <a:p>
            <a:r>
              <a:rPr lang="zh-CN" altLang="en-US" b="1" dirty="0"/>
              <a:t> if (uwRet != LOS_OK) {</a:t>
            </a:r>
          </a:p>
          <a:p>
            <a:r>
              <a:rPr lang="zh-CN" altLang="en-US" b="1" dirty="0"/>
              <a:t> PRINT_ERR("osTickStart error\n");</a:t>
            </a:r>
          </a:p>
          <a:p>
            <a:r>
              <a:rPr lang="zh-CN" altLang="en-US" b="1" dirty="0"/>
              <a:t> return uwRet;</a:t>
            </a:r>
          </a:p>
          <a:p>
            <a:r>
              <a:rPr lang="zh-CN" altLang="en-US" b="1" dirty="0"/>
              <a:t> }</a:t>
            </a:r>
          </a:p>
          <a:p>
            <a:endParaRPr lang="zh-CN" altLang="en-US" b="1" dirty="0"/>
          </a:p>
        </p:txBody>
      </p:sp>
      <p:sp>
        <p:nvSpPr>
          <p:cNvPr id="4" name="矩形 3"/>
          <p:cNvSpPr/>
          <p:nvPr/>
        </p:nvSpPr>
        <p:spPr>
          <a:xfrm>
            <a:off x="6705601" y="1914158"/>
            <a:ext cx="4715255" cy="3416320"/>
          </a:xfrm>
          <a:prstGeom prst="rect">
            <a:avLst/>
          </a:prstGeom>
        </p:spPr>
        <p:txBody>
          <a:bodyPr wrap="square">
            <a:spAutoFit/>
          </a:bodyPr>
          <a:lstStyle/>
          <a:p>
            <a:r>
              <a:rPr lang="zh-CN" altLang="en-US" b="1" dirty="0"/>
              <a:t> #else</a:t>
            </a:r>
          </a:p>
          <a:p>
            <a:r>
              <a:rPr lang="zh-CN" altLang="en-US" b="1" dirty="0"/>
              <a:t> extern int os_timer_init(void);</a:t>
            </a:r>
          </a:p>
          <a:p>
            <a:r>
              <a:rPr lang="zh-CN" altLang="en-US" b="1" dirty="0"/>
              <a:t> uwRet = os_timer_init();</a:t>
            </a:r>
          </a:p>
          <a:p>
            <a:r>
              <a:rPr lang="zh-CN" altLang="en-US" b="1" dirty="0"/>
              <a:t> if (uwRet != LOS_OK) {</a:t>
            </a:r>
          </a:p>
          <a:p>
            <a:r>
              <a:rPr lang="zh-CN" altLang="en-US" b="1" dirty="0"/>
              <a:t> PRINT_ERR("os_timer_init error\n");</a:t>
            </a:r>
          </a:p>
          <a:p>
            <a:r>
              <a:rPr lang="zh-CN" altLang="en-US" b="1" dirty="0"/>
              <a:t> return uwRet;</a:t>
            </a:r>
          </a:p>
          <a:p>
            <a:r>
              <a:rPr lang="zh-CN" altLang="en-US" b="1" dirty="0"/>
              <a:t> }</a:t>
            </a:r>
          </a:p>
          <a:p>
            <a:r>
              <a:rPr lang="zh-CN" altLang="en-US" b="1" dirty="0"/>
              <a:t> #endif</a:t>
            </a:r>
          </a:p>
          <a:p>
            <a:r>
              <a:rPr lang="zh-CN" altLang="en-US" b="1" dirty="0"/>
              <a:t> LOS_StartToRun();    (2)</a:t>
            </a:r>
          </a:p>
          <a:p>
            <a:endParaRPr lang="zh-CN" altLang="en-US" b="1" dirty="0"/>
          </a:p>
          <a:p>
            <a:r>
              <a:rPr lang="zh-CN" altLang="en-US" b="1" dirty="0"/>
              <a:t> return uwRet;</a:t>
            </a:r>
          </a:p>
          <a:p>
            <a:r>
              <a:rPr lang="zh-CN" altLang="en-US" b="1" dirty="0"/>
              <a:t> }</a:t>
            </a:r>
          </a:p>
        </p:txBody>
      </p:sp>
    </p:spTree>
    <p:extLst>
      <p:ext uri="{BB962C8B-B14F-4D97-AF65-F5344CB8AC3E}">
        <p14:creationId xmlns:p14="http://schemas.microsoft.com/office/powerpoint/2010/main" val="411668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7484687" y="1528620"/>
            <a:ext cx="4707314" cy="50111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 y="1540056"/>
            <a:ext cx="7352645" cy="50111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0" y="1372999"/>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652158"/>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3658869" y="915710"/>
            <a:ext cx="8123789"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代码清单</a:t>
            </a:r>
            <a:r>
              <a:rPr lang="en-US" altLang="zh-CN" sz="1799" b="1" dirty="0"/>
              <a:t>3~17  </a:t>
            </a:r>
            <a:r>
              <a:rPr lang="en-US" altLang="zh-CN" sz="1799" b="1" dirty="0" err="1"/>
              <a:t>LOS_StartToRun</a:t>
            </a:r>
            <a:r>
              <a:rPr lang="zh-CN" altLang="en-US" sz="1799" b="1" dirty="0"/>
              <a:t>函数源码</a:t>
            </a:r>
          </a:p>
        </p:txBody>
      </p:sp>
      <p:sp>
        <p:nvSpPr>
          <p:cNvPr id="115" name="内容占位符 2"/>
          <p:cNvSpPr txBox="1">
            <a:spLocks/>
          </p:cNvSpPr>
          <p:nvPr/>
        </p:nvSpPr>
        <p:spPr>
          <a:xfrm>
            <a:off x="536296" y="1548521"/>
            <a:ext cx="6948390" cy="5155373"/>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OS_NVIC_INT_CTRL            		EQU     0xE000ED04</a:t>
            </a:r>
          </a:p>
          <a:p>
            <a:r>
              <a:rPr lang="en-US" altLang="zh-CN" dirty="0"/>
              <a:t>  OS_NVIC_SYSPRI2             		EQU     0xE000ED20	 (1)</a:t>
            </a:r>
          </a:p>
          <a:p>
            <a:r>
              <a:rPr lang="en-US" altLang="zh-CN" dirty="0"/>
              <a:t>  OS_NVIC_PENDSV_PRI          		EQU     0xF0F00000	 (2)</a:t>
            </a:r>
          </a:p>
          <a:p>
            <a:r>
              <a:rPr lang="en-US" altLang="zh-CN" dirty="0"/>
              <a:t>  OS_NVIC_PENDSVSET           		EQU     0x10000000</a:t>
            </a:r>
          </a:p>
          <a:p>
            <a:r>
              <a:rPr lang="en-US" altLang="zh-CN" dirty="0"/>
              <a:t>  OS_TASK_STATUS_RUNNING      	EQU     0x0010</a:t>
            </a:r>
          </a:p>
          <a:p>
            <a:r>
              <a:rPr lang="en-US" altLang="zh-CN" dirty="0"/>
              <a:t>       AREA    |.text|, CODE, READONLY</a:t>
            </a:r>
          </a:p>
          <a:p>
            <a:r>
              <a:rPr lang="en-US" altLang="zh-CN" dirty="0"/>
              <a:t>       THUMB</a:t>
            </a:r>
          </a:p>
          <a:p>
            <a:r>
              <a:rPr lang="en-US" altLang="zh-CN" dirty="0"/>
              <a:t>       REQUIRE8</a:t>
            </a:r>
          </a:p>
          <a:p>
            <a:r>
              <a:rPr lang="en-US" altLang="zh-CN" dirty="0"/>
              <a:t> </a:t>
            </a:r>
            <a:r>
              <a:rPr lang="en-US" altLang="zh-CN" dirty="0" err="1"/>
              <a:t>LOS_StartToRun</a:t>
            </a:r>
            <a:endParaRPr lang="en-US" altLang="zh-CN" dirty="0"/>
          </a:p>
          <a:p>
            <a:r>
              <a:rPr lang="en-US" altLang="zh-CN" dirty="0"/>
              <a:t>      LDR     R4, =OS_NVIC_SYSPRI2</a:t>
            </a:r>
          </a:p>
          <a:p>
            <a:r>
              <a:rPr lang="pt-BR" altLang="zh-CN" dirty="0"/>
              <a:t>      LDR     R5, =OS_NVIC_PENDSV_PRI			</a:t>
            </a:r>
          </a:p>
          <a:p>
            <a:r>
              <a:rPr lang="pt-BR" altLang="zh-CN" dirty="0"/>
              <a:t>      STR     R5, [R4]				 (3)</a:t>
            </a:r>
          </a:p>
          <a:p>
            <a:r>
              <a:rPr lang="pt-BR" altLang="zh-CN" dirty="0"/>
              <a:t>      LDR     R0, =g_bTaskScheduled</a:t>
            </a:r>
          </a:p>
          <a:p>
            <a:r>
              <a:rPr lang="pt-BR" altLang="zh-CN" dirty="0"/>
              <a:t>      MOV     R1, #1</a:t>
            </a:r>
          </a:p>
          <a:p>
            <a:r>
              <a:rPr lang="pt-BR" altLang="zh-CN" dirty="0"/>
              <a:t>      STR     R1, [R0]					</a:t>
            </a:r>
          </a:p>
          <a:p>
            <a:r>
              <a:rPr lang="pt-BR" altLang="zh-CN" dirty="0"/>
              <a:t>      MOV     R0, #2</a:t>
            </a:r>
          </a:p>
          <a:p>
            <a:r>
              <a:rPr lang="pt-BR" altLang="zh-CN" dirty="0"/>
              <a:t>      MSR     CONTROL, R0</a:t>
            </a:r>
          </a:p>
          <a:p>
            <a:r>
              <a:rPr lang="en-US" altLang="zh-CN" dirty="0"/>
              <a:t>		</a:t>
            </a:r>
          </a:p>
        </p:txBody>
      </p:sp>
      <p:sp>
        <p:nvSpPr>
          <p:cNvPr id="29" name="内容占位符 2"/>
          <p:cNvSpPr txBox="1">
            <a:spLocks/>
          </p:cNvSpPr>
          <p:nvPr/>
        </p:nvSpPr>
        <p:spPr>
          <a:xfrm>
            <a:off x="7917871" y="1548521"/>
            <a:ext cx="4274130" cy="4948464"/>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pt-BR" altLang="zh-CN" dirty="0"/>
              <a:t>LDR     R0, =g_stLosTask</a:t>
            </a:r>
          </a:p>
          <a:p>
            <a:r>
              <a:rPr lang="pt-BR" altLang="zh-CN" dirty="0"/>
              <a:t>LDR     R2, [R0, #4]</a:t>
            </a:r>
          </a:p>
          <a:p>
            <a:r>
              <a:rPr lang="pt-BR" altLang="zh-CN" dirty="0"/>
              <a:t>LDR     R0, =g_stLosTask</a:t>
            </a:r>
          </a:p>
          <a:p>
            <a:r>
              <a:rPr lang="pt-BR" altLang="zh-CN" dirty="0"/>
              <a:t>STR     R2, [R0]</a:t>
            </a:r>
          </a:p>
          <a:p>
            <a:r>
              <a:rPr lang="pt-BR" altLang="zh-CN" dirty="0"/>
              <a:t>LDR     R3, =g_stLosTask</a:t>
            </a:r>
          </a:p>
          <a:p>
            <a:r>
              <a:rPr lang="pt-BR" altLang="zh-CN" dirty="0"/>
              <a:t>LDR     R0, [R3]</a:t>
            </a:r>
          </a:p>
          <a:p>
            <a:r>
              <a:rPr lang="pt-BR" altLang="zh-CN" dirty="0"/>
              <a:t>      LDRH    R7, [R0 , #4]</a:t>
            </a:r>
          </a:p>
          <a:p>
            <a:r>
              <a:rPr lang="pt-BR" altLang="zh-CN" dirty="0"/>
              <a:t>      MOV     R8,  #OS_TASK_STATUS_RUNNING</a:t>
            </a:r>
          </a:p>
          <a:p>
            <a:r>
              <a:rPr lang="pt-BR" altLang="zh-CN" dirty="0"/>
              <a:t>      ORR     R7,  R7,  R8</a:t>
            </a:r>
          </a:p>
          <a:p>
            <a:r>
              <a:rPr lang="pt-BR" altLang="zh-CN" dirty="0"/>
              <a:t>      STRH    R7,  [R0 , #4]</a:t>
            </a:r>
          </a:p>
          <a:p>
            <a:r>
              <a:rPr lang="pt-BR" altLang="zh-CN" dirty="0"/>
              <a:t>      LDR     R12, [R0]</a:t>
            </a:r>
          </a:p>
          <a:p>
            <a:r>
              <a:rPr lang="pt-BR" altLang="zh-CN" dirty="0"/>
              <a:t>      ADD     R12, R12, #36</a:t>
            </a:r>
          </a:p>
          <a:p>
            <a:r>
              <a:rPr lang="pt-BR" altLang="zh-CN" dirty="0"/>
              <a:t>      LDMFD   R12!, {R0-R7}</a:t>
            </a:r>
          </a:p>
          <a:p>
            <a:r>
              <a:rPr lang="pt-BR" altLang="zh-CN" dirty="0"/>
              <a:t>      MSR     PSP, R12</a:t>
            </a:r>
          </a:p>
          <a:p>
            <a:r>
              <a:rPr lang="pt-BR" altLang="zh-CN" dirty="0"/>
              <a:t>      MOV     LR, R5</a:t>
            </a:r>
          </a:p>
          <a:p>
            <a:r>
              <a:rPr lang="pt-BR" altLang="zh-CN" dirty="0"/>
              <a:t>     ;MSR     xPSR, R7</a:t>
            </a:r>
          </a:p>
          <a:p>
            <a:r>
              <a:rPr lang="pt-BR" altLang="zh-CN" dirty="0"/>
              <a:t>      CPSIE   I</a:t>
            </a:r>
          </a:p>
          <a:p>
            <a:r>
              <a:rPr lang="pt-BR" altLang="zh-CN" dirty="0"/>
              <a:t>      BX      R6</a:t>
            </a:r>
          </a:p>
        </p:txBody>
      </p:sp>
      <p:sp>
        <p:nvSpPr>
          <p:cNvPr id="6" name="右箭头 5"/>
          <p:cNvSpPr/>
          <p:nvPr/>
        </p:nvSpPr>
        <p:spPr>
          <a:xfrm>
            <a:off x="7009924" y="5866131"/>
            <a:ext cx="907947" cy="304641"/>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7121637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nvSpPr>
        <p:spPr>
          <a:xfrm>
            <a:off x="73152" y="1286258"/>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526477" y="1616075"/>
            <a:ext cx="4374707" cy="3250337"/>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zh-CN" altLang="en-US" sz="1599" b="1" dirty="0"/>
              <a:t>代码清单</a:t>
            </a:r>
            <a:r>
              <a:rPr lang="en-US" altLang="zh-CN" sz="1599" b="1" dirty="0"/>
              <a:t>3-17</a:t>
            </a:r>
            <a:r>
              <a:rPr lang="zh-CN" altLang="en-US" sz="1599" b="1" dirty="0"/>
              <a:t>（</a:t>
            </a:r>
            <a:r>
              <a:rPr lang="en-US" altLang="zh-CN" sz="1599" b="1" dirty="0"/>
              <a:t>3</a:t>
            </a:r>
            <a:r>
              <a:rPr lang="zh-CN" altLang="en-US" sz="1599" b="1" dirty="0"/>
              <a:t>）：配置</a:t>
            </a:r>
            <a:r>
              <a:rPr lang="en-US" altLang="zh-CN" sz="1599" b="1" dirty="0" err="1"/>
              <a:t>SysTick</a:t>
            </a:r>
            <a:r>
              <a:rPr lang="zh-CN" altLang="en-US" sz="1599" b="1" dirty="0"/>
              <a:t>与</a:t>
            </a:r>
            <a:r>
              <a:rPr lang="en-US" altLang="zh-CN" sz="1599" b="1" dirty="0" err="1"/>
              <a:t>PendSV</a:t>
            </a:r>
            <a:r>
              <a:rPr lang="zh-CN" altLang="en-US" sz="1599" b="1" dirty="0"/>
              <a:t>的优先级，通过这一句代码将系统处理优先级寄存器</a:t>
            </a:r>
            <a:r>
              <a:rPr lang="en-US" altLang="zh-CN" sz="1599" b="1" dirty="0"/>
              <a:t>SCB_SHPR3[</a:t>
            </a:r>
            <a:r>
              <a:rPr lang="zh-CN" altLang="en-US" sz="1599" b="1" dirty="0"/>
              <a:t>地址为</a:t>
            </a:r>
            <a:r>
              <a:rPr lang="en-US" altLang="zh-CN" sz="1599" b="1" dirty="0"/>
              <a:t>0xE000ED20</a:t>
            </a:r>
            <a:r>
              <a:rPr lang="zh-CN" altLang="en-US" sz="1599" b="1" dirty="0"/>
              <a:t>，代码清单</a:t>
            </a:r>
            <a:r>
              <a:rPr lang="en-US" altLang="zh-CN" sz="1599" b="1" dirty="0"/>
              <a:t>3-17</a:t>
            </a:r>
            <a:r>
              <a:rPr lang="zh-CN" altLang="en-US" sz="1599" b="1" dirty="0"/>
              <a:t>（</a:t>
            </a:r>
            <a:r>
              <a:rPr lang="en-US" altLang="zh-CN" sz="1599" b="1" dirty="0"/>
              <a:t>1</a:t>
            </a:r>
            <a:r>
              <a:rPr lang="zh-CN" altLang="en-US" sz="1599" b="1" dirty="0"/>
              <a:t>）</a:t>
            </a:r>
            <a:r>
              <a:rPr lang="en-US" altLang="zh-CN" sz="1599" b="1" dirty="0"/>
              <a:t>]</a:t>
            </a:r>
            <a:r>
              <a:rPr lang="zh-CN" altLang="en-US" sz="1599" b="1" dirty="0"/>
              <a:t>配置为</a:t>
            </a:r>
            <a:r>
              <a:rPr lang="en-US" altLang="zh-CN" sz="1599" b="1" dirty="0"/>
              <a:t>0xF0F00000[</a:t>
            </a:r>
            <a:r>
              <a:rPr lang="zh-CN" altLang="en-US" sz="1599" b="1" dirty="0"/>
              <a:t>代码清单</a:t>
            </a:r>
            <a:r>
              <a:rPr lang="en-US" altLang="zh-CN" sz="1599" b="1"/>
              <a:t>3-17</a:t>
            </a:r>
            <a:r>
              <a:rPr lang="zh-CN" altLang="en-US" sz="1599" b="1" dirty="0"/>
              <a:t>（</a:t>
            </a:r>
            <a:r>
              <a:rPr lang="en-US" altLang="zh-CN" sz="1599" b="1" dirty="0"/>
              <a:t>2</a:t>
            </a:r>
            <a:r>
              <a:rPr lang="zh-CN" altLang="en-US" sz="1599" b="1" dirty="0"/>
              <a:t>）</a:t>
            </a:r>
            <a:r>
              <a:rPr lang="en-US" altLang="zh-CN" sz="1599" b="1" dirty="0"/>
              <a:t>]</a:t>
            </a:r>
            <a:r>
              <a:rPr lang="zh-CN" altLang="en-US" sz="1599" b="1" dirty="0"/>
              <a:t>，即最低的优先级，避免</a:t>
            </a:r>
            <a:r>
              <a:rPr lang="en-US" altLang="zh-CN" sz="1599" b="1" dirty="0" err="1"/>
              <a:t>SysTick</a:t>
            </a:r>
            <a:r>
              <a:rPr lang="zh-CN" altLang="en-US" sz="1599" b="1" dirty="0"/>
              <a:t>与</a:t>
            </a:r>
            <a:r>
              <a:rPr lang="en-US" altLang="zh-CN" sz="1599" b="1" dirty="0" err="1"/>
              <a:t>PendSV</a:t>
            </a:r>
            <a:r>
              <a:rPr lang="zh-CN" altLang="en-US" sz="1599" b="1" dirty="0"/>
              <a:t>中断抢占系统中的其他重要中断，寄存器说明如图</a:t>
            </a:r>
            <a:r>
              <a:rPr lang="en-US" altLang="zh-CN" sz="1599" b="1" dirty="0"/>
              <a:t>3~3</a:t>
            </a:r>
            <a:r>
              <a:rPr lang="zh-CN" altLang="en-US" sz="1599" b="1" dirty="0"/>
              <a:t>所示。</a:t>
            </a:r>
            <a:endParaRPr lang="en-US" altLang="zh-CN" sz="1599" b="1" dirty="0"/>
          </a:p>
          <a:p>
            <a:pPr marL="0" indent="456971">
              <a:lnSpc>
                <a:spcPct val="130000"/>
              </a:lnSpc>
              <a:buClr>
                <a:schemeClr val="tx2">
                  <a:lumMod val="75000"/>
                </a:schemeClr>
              </a:buClr>
              <a:buNone/>
            </a:pPr>
            <a:r>
              <a:rPr lang="zh-CN" altLang="en-US" sz="1599" b="1" dirty="0"/>
              <a:t>其他代码可根据表</a:t>
            </a:r>
            <a:r>
              <a:rPr lang="en-US" altLang="zh-CN" sz="1599" b="1" dirty="0"/>
              <a:t>3~1</a:t>
            </a:r>
            <a:r>
              <a:rPr lang="zh-CN" altLang="en-US" sz="1599" b="1" dirty="0"/>
              <a:t>、表</a:t>
            </a:r>
            <a:r>
              <a:rPr lang="en-US" altLang="zh-CN" sz="1599" b="1" dirty="0"/>
              <a:t>3~2</a:t>
            </a:r>
            <a:r>
              <a:rPr lang="zh-CN" altLang="en-US" sz="1599" b="1" dirty="0"/>
              <a:t>进行理解。</a:t>
            </a:r>
          </a:p>
        </p:txBody>
      </p:sp>
      <p:sp>
        <p:nvSpPr>
          <p:cNvPr id="22" name="矩形 21"/>
          <p:cNvSpPr/>
          <p:nvPr/>
        </p:nvSpPr>
        <p:spPr>
          <a:xfrm>
            <a:off x="0" y="594229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pic>
        <p:nvPicPr>
          <p:cNvPr id="4098" name="Picture 2" descr="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5333" y="1633893"/>
            <a:ext cx="6506801" cy="28919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矩形 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709202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13898" y="1039532"/>
          <a:ext cx="11620927" cy="5784744"/>
        </p:xfrm>
        <a:graphic>
          <a:graphicData uri="http://schemas.openxmlformats.org/drawingml/2006/table">
            <a:tbl>
              <a:tblPr firstRow="1" firstCol="1" bandRow="1" bandCol="1">
                <a:tableStyleId>{5C22544A-7EE6-4342-B048-85BDC9FD1C3A}</a:tableStyleId>
              </a:tblPr>
              <a:tblGrid>
                <a:gridCol w="2438827">
                  <a:extLst>
                    <a:ext uri="{9D8B030D-6E8A-4147-A177-3AD203B41FA5}">
                      <a16:colId xmlns:a16="http://schemas.microsoft.com/office/drawing/2014/main" val="20000"/>
                    </a:ext>
                  </a:extLst>
                </a:gridCol>
                <a:gridCol w="9182100">
                  <a:extLst>
                    <a:ext uri="{9D8B030D-6E8A-4147-A177-3AD203B41FA5}">
                      <a16:colId xmlns:a16="http://schemas.microsoft.com/office/drawing/2014/main" val="20001"/>
                    </a:ext>
                  </a:extLst>
                </a:gridCol>
              </a:tblGrid>
              <a:tr h="380462">
                <a:tc>
                  <a:txBody>
                    <a:bodyPr/>
                    <a:lstStyle/>
                    <a:p>
                      <a:pPr indent="254000" algn="ctr">
                        <a:spcBef>
                          <a:spcPts val="120"/>
                        </a:spcBef>
                        <a:spcAft>
                          <a:spcPts val="120"/>
                        </a:spcAft>
                      </a:pPr>
                      <a:r>
                        <a:rPr lang="zh-CN" sz="1600" b="1" kern="100" dirty="0">
                          <a:effectLst/>
                          <a:latin typeface="+mn-lt"/>
                        </a:rPr>
                        <a:t>指令名称</a:t>
                      </a:r>
                      <a:endParaRPr lang="zh-CN" sz="1600" b="1" kern="100" dirty="0">
                        <a:effectLst/>
                        <a:latin typeface="+mn-lt"/>
                        <a:ea typeface="黑体" panose="02010609060101010101" pitchFamily="49" charset="-122"/>
                      </a:endParaRPr>
                    </a:p>
                  </a:txBody>
                  <a:tcPr marL="68544" marR="68544" marT="0" marB="0" anchor="ctr"/>
                </a:tc>
                <a:tc>
                  <a:txBody>
                    <a:bodyPr/>
                    <a:lstStyle/>
                    <a:p>
                      <a:pPr algn="ctr">
                        <a:spcBef>
                          <a:spcPts val="120"/>
                        </a:spcBef>
                        <a:spcAft>
                          <a:spcPts val="120"/>
                        </a:spcAft>
                      </a:pPr>
                      <a:r>
                        <a:rPr lang="zh-CN" sz="1600" b="1" kern="100">
                          <a:effectLst/>
                          <a:latin typeface="+mn-lt"/>
                        </a:rPr>
                        <a:t>作用</a:t>
                      </a:r>
                      <a:endParaRPr lang="zh-CN" sz="1600" b="1" kern="100">
                        <a:effectLst/>
                        <a:latin typeface="+mn-lt"/>
                        <a:ea typeface="黑体" panose="02010609060101010101" pitchFamily="49" charset="-122"/>
                      </a:endParaRPr>
                    </a:p>
                  </a:txBody>
                  <a:tcPr marL="68544" marR="68544" marT="0" marB="0" anchor="ctr"/>
                </a:tc>
                <a:extLst>
                  <a:ext uri="{0D108BD9-81ED-4DB2-BD59-A6C34878D82A}">
                    <a16:rowId xmlns:a16="http://schemas.microsoft.com/office/drawing/2014/main" val="10000"/>
                  </a:ext>
                </a:extLst>
              </a:tr>
              <a:tr h="380462">
                <a:tc>
                  <a:txBody>
                    <a:bodyPr/>
                    <a:lstStyle/>
                    <a:p>
                      <a:pPr algn="ctr">
                        <a:spcBef>
                          <a:spcPts val="120"/>
                        </a:spcBef>
                        <a:spcAft>
                          <a:spcPts val="120"/>
                        </a:spcAft>
                      </a:pPr>
                      <a:r>
                        <a:rPr lang="en-US" sz="1600" b="1" kern="100">
                          <a:effectLst/>
                          <a:latin typeface="+mn-lt"/>
                        </a:rPr>
                        <a:t>EQU</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给数字常量取一个符号名，相当于</a:t>
                      </a:r>
                      <a:r>
                        <a:rPr lang="en-US" sz="1600" b="1" kern="100" dirty="0">
                          <a:effectLst/>
                          <a:latin typeface="+mn-lt"/>
                        </a:rPr>
                        <a:t>C</a:t>
                      </a:r>
                      <a:r>
                        <a:rPr lang="zh-CN" sz="1600" b="1" kern="100" dirty="0">
                          <a:effectLst/>
                          <a:latin typeface="+mn-lt"/>
                        </a:rPr>
                        <a:t>语言中的</a:t>
                      </a:r>
                      <a:r>
                        <a:rPr lang="en-US" sz="1600" b="1" kern="100" dirty="0">
                          <a:effectLst/>
                          <a:latin typeface="+mn-lt"/>
                        </a:rPr>
                        <a:t>define</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1"/>
                  </a:ext>
                </a:extLst>
              </a:tr>
              <a:tr h="380462">
                <a:tc>
                  <a:txBody>
                    <a:bodyPr/>
                    <a:lstStyle/>
                    <a:p>
                      <a:pPr algn="ctr">
                        <a:spcBef>
                          <a:spcPts val="120"/>
                        </a:spcBef>
                        <a:spcAft>
                          <a:spcPts val="120"/>
                        </a:spcAft>
                      </a:pPr>
                      <a:r>
                        <a:rPr lang="en-US" sz="1600" b="1" kern="100">
                          <a:effectLst/>
                          <a:latin typeface="+mn-lt"/>
                        </a:rPr>
                        <a:t>AREA</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汇编一个新的代码段或者数据段</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2"/>
                  </a:ext>
                </a:extLst>
              </a:tr>
              <a:tr h="380462">
                <a:tc>
                  <a:txBody>
                    <a:bodyPr/>
                    <a:lstStyle/>
                    <a:p>
                      <a:pPr algn="ctr">
                        <a:spcBef>
                          <a:spcPts val="120"/>
                        </a:spcBef>
                        <a:spcAft>
                          <a:spcPts val="120"/>
                        </a:spcAft>
                      </a:pPr>
                      <a:r>
                        <a:rPr lang="en-US" sz="1600" b="1" kern="100">
                          <a:effectLst/>
                          <a:latin typeface="+mn-lt"/>
                        </a:rPr>
                        <a:t>SPACE</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分配内存空间</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3"/>
                  </a:ext>
                </a:extLst>
              </a:tr>
              <a:tr h="380462">
                <a:tc>
                  <a:txBody>
                    <a:bodyPr/>
                    <a:lstStyle/>
                    <a:p>
                      <a:pPr algn="ctr">
                        <a:spcBef>
                          <a:spcPts val="120"/>
                        </a:spcBef>
                        <a:spcAft>
                          <a:spcPts val="120"/>
                        </a:spcAft>
                      </a:pPr>
                      <a:r>
                        <a:rPr lang="en-US" sz="1600" b="1" kern="100">
                          <a:effectLst/>
                          <a:latin typeface="+mn-lt"/>
                        </a:rPr>
                        <a:t>PRESERVE8</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当前任务栈需按照</a:t>
                      </a:r>
                      <a:r>
                        <a:rPr lang="en-US" sz="1600" b="1" kern="100" dirty="0">
                          <a:effectLst/>
                          <a:latin typeface="+mn-lt"/>
                        </a:rPr>
                        <a:t>8</a:t>
                      </a:r>
                      <a:r>
                        <a:rPr lang="zh-CN" sz="1600" b="1" kern="100" dirty="0">
                          <a:effectLst/>
                          <a:latin typeface="+mn-lt"/>
                        </a:rPr>
                        <a:t>字节对齐</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4"/>
                  </a:ext>
                </a:extLst>
              </a:tr>
              <a:tr h="380462">
                <a:tc>
                  <a:txBody>
                    <a:bodyPr/>
                    <a:lstStyle/>
                    <a:p>
                      <a:pPr algn="ctr">
                        <a:spcBef>
                          <a:spcPts val="120"/>
                        </a:spcBef>
                        <a:spcAft>
                          <a:spcPts val="120"/>
                        </a:spcAft>
                      </a:pPr>
                      <a:r>
                        <a:rPr lang="en-US" sz="1600" b="1" kern="100" dirty="0">
                          <a:effectLst/>
                          <a:latin typeface="+mn-lt"/>
                        </a:rPr>
                        <a:t>EXPORT</a:t>
                      </a:r>
                      <a:endParaRPr lang="zh-CN" sz="1600" b="1" kern="100" dirty="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声明一个标号具有全局属性，可被外部的文件使用</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5"/>
                  </a:ext>
                </a:extLst>
              </a:tr>
              <a:tr h="380462">
                <a:tc>
                  <a:txBody>
                    <a:bodyPr/>
                    <a:lstStyle/>
                    <a:p>
                      <a:pPr algn="ctr">
                        <a:spcBef>
                          <a:spcPts val="120"/>
                        </a:spcBef>
                        <a:spcAft>
                          <a:spcPts val="120"/>
                        </a:spcAft>
                      </a:pPr>
                      <a:r>
                        <a:rPr lang="en-US" sz="1600" b="1" kern="100">
                          <a:effectLst/>
                          <a:latin typeface="+mn-lt"/>
                        </a:rPr>
                        <a:t>DCD</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以字为单位分配内存，要求</a:t>
                      </a:r>
                      <a:r>
                        <a:rPr lang="en-US" sz="1600" b="1" kern="100" dirty="0">
                          <a:effectLst/>
                          <a:latin typeface="+mn-lt"/>
                        </a:rPr>
                        <a:t>4</a:t>
                      </a:r>
                      <a:r>
                        <a:rPr lang="zh-CN" sz="1600" b="1" kern="100" dirty="0">
                          <a:effectLst/>
                          <a:latin typeface="+mn-lt"/>
                        </a:rPr>
                        <a:t>字节对齐，并要求初始化这些内存</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6"/>
                  </a:ext>
                </a:extLst>
              </a:tr>
              <a:tr h="380462">
                <a:tc>
                  <a:txBody>
                    <a:bodyPr/>
                    <a:lstStyle/>
                    <a:p>
                      <a:pPr algn="ctr">
                        <a:spcBef>
                          <a:spcPts val="120"/>
                        </a:spcBef>
                        <a:spcAft>
                          <a:spcPts val="120"/>
                        </a:spcAft>
                      </a:pPr>
                      <a:r>
                        <a:rPr lang="en-US" sz="1600" b="1" kern="100">
                          <a:effectLst/>
                          <a:latin typeface="+mn-lt"/>
                        </a:rPr>
                        <a:t>PROC</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定义子程序，与</a:t>
                      </a:r>
                      <a:r>
                        <a:rPr lang="en-US" sz="1600" b="1" kern="100" dirty="0">
                          <a:effectLst/>
                          <a:latin typeface="+mn-lt"/>
                        </a:rPr>
                        <a:t>ENDP</a:t>
                      </a:r>
                      <a:r>
                        <a:rPr lang="zh-CN" sz="1600" b="1" kern="100" dirty="0">
                          <a:effectLst/>
                          <a:latin typeface="+mn-lt"/>
                        </a:rPr>
                        <a:t>成对使用，表示子程序结束</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7"/>
                  </a:ext>
                </a:extLst>
              </a:tr>
              <a:tr h="457346">
                <a:tc>
                  <a:txBody>
                    <a:bodyPr/>
                    <a:lstStyle/>
                    <a:p>
                      <a:pPr algn="ctr">
                        <a:spcBef>
                          <a:spcPts val="120"/>
                        </a:spcBef>
                        <a:spcAft>
                          <a:spcPts val="120"/>
                        </a:spcAft>
                      </a:pPr>
                      <a:r>
                        <a:rPr lang="en-US" sz="1600" b="1" kern="100" dirty="0">
                          <a:effectLst/>
                          <a:latin typeface="+mn-lt"/>
                        </a:rPr>
                        <a:t>WEAK</a:t>
                      </a:r>
                      <a:endParaRPr lang="zh-CN" sz="1600" b="1" kern="100" dirty="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弱定义，如果外部文件声明了一个标号，则优先使用外部文件定义的标号；如果外部文件没有定义；则文件也不会报错。要注意的是，这不是</a:t>
                      </a:r>
                      <a:r>
                        <a:rPr lang="en-US" sz="1600" b="1" kern="100" dirty="0">
                          <a:effectLst/>
                          <a:latin typeface="+mn-lt"/>
                        </a:rPr>
                        <a:t>ARM</a:t>
                      </a:r>
                      <a:r>
                        <a:rPr lang="zh-CN" sz="1600" b="1" kern="100" dirty="0">
                          <a:effectLst/>
                          <a:latin typeface="+mn-lt"/>
                        </a:rPr>
                        <a:t>的指令，而是编译器的指令，将其放在一起只是为了方便学习</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8"/>
                  </a:ext>
                </a:extLst>
              </a:tr>
              <a:tr h="380462">
                <a:tc>
                  <a:txBody>
                    <a:bodyPr/>
                    <a:lstStyle/>
                    <a:p>
                      <a:pPr algn="ctr">
                        <a:spcBef>
                          <a:spcPts val="120"/>
                        </a:spcBef>
                        <a:spcAft>
                          <a:spcPts val="120"/>
                        </a:spcAft>
                      </a:pPr>
                      <a:r>
                        <a:rPr lang="en-US" sz="1600" b="1" kern="100">
                          <a:effectLst/>
                          <a:latin typeface="+mn-lt"/>
                        </a:rPr>
                        <a:t>IMPORT</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声明标号来自外部文件，和</a:t>
                      </a:r>
                      <a:r>
                        <a:rPr lang="en-US" sz="1600" b="1" kern="100" dirty="0">
                          <a:effectLst/>
                          <a:latin typeface="+mn-lt"/>
                        </a:rPr>
                        <a:t>C</a:t>
                      </a:r>
                      <a:r>
                        <a:rPr lang="zh-CN" sz="1600" b="1" kern="100" dirty="0">
                          <a:effectLst/>
                          <a:latin typeface="+mn-lt"/>
                        </a:rPr>
                        <a:t>语言中的</a:t>
                      </a:r>
                      <a:r>
                        <a:rPr lang="en-US" sz="1600" b="1" kern="100" dirty="0">
                          <a:effectLst/>
                          <a:latin typeface="+mn-lt"/>
                        </a:rPr>
                        <a:t>EXTERN</a:t>
                      </a:r>
                      <a:r>
                        <a:rPr lang="zh-CN" sz="1600" b="1" kern="100" dirty="0">
                          <a:effectLst/>
                          <a:latin typeface="+mn-lt"/>
                        </a:rPr>
                        <a:t>关键字类似</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9"/>
                  </a:ext>
                </a:extLst>
              </a:tr>
              <a:tr h="380462">
                <a:tc>
                  <a:txBody>
                    <a:bodyPr/>
                    <a:lstStyle/>
                    <a:p>
                      <a:pPr algn="ctr">
                        <a:spcBef>
                          <a:spcPts val="120"/>
                        </a:spcBef>
                        <a:spcAft>
                          <a:spcPts val="120"/>
                        </a:spcAft>
                      </a:pPr>
                      <a:r>
                        <a:rPr lang="en-US" sz="1600" b="1" kern="100">
                          <a:effectLst/>
                          <a:latin typeface="+mn-lt"/>
                        </a:rPr>
                        <a:t>B</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跳转到一个标号</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0"/>
                  </a:ext>
                </a:extLst>
              </a:tr>
              <a:tr h="380462">
                <a:tc>
                  <a:txBody>
                    <a:bodyPr/>
                    <a:lstStyle/>
                    <a:p>
                      <a:pPr algn="ctr">
                        <a:spcBef>
                          <a:spcPts val="120"/>
                        </a:spcBef>
                        <a:spcAft>
                          <a:spcPts val="120"/>
                        </a:spcAft>
                      </a:pPr>
                      <a:r>
                        <a:rPr lang="en-US" sz="1600" b="1" kern="100">
                          <a:effectLst/>
                          <a:latin typeface="+mn-lt"/>
                        </a:rPr>
                        <a:t>ALIGN</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编译器对指令或者数据的存放地址进行对齐操作，一般需要加一个立即数，省略立即数时，表示</a:t>
                      </a:r>
                      <a:r>
                        <a:rPr lang="en-US" sz="1600" b="1" kern="100" dirty="0">
                          <a:effectLst/>
                          <a:latin typeface="+mn-lt"/>
                        </a:rPr>
                        <a:t>4</a:t>
                      </a:r>
                      <a:r>
                        <a:rPr lang="zh-CN" sz="1600" b="1" kern="100" dirty="0">
                          <a:effectLst/>
                          <a:latin typeface="+mn-lt"/>
                        </a:rPr>
                        <a:t>字节对齐。要注意的是，这不是</a:t>
                      </a:r>
                      <a:r>
                        <a:rPr lang="en-US" sz="1600" b="1" kern="100" dirty="0">
                          <a:effectLst/>
                          <a:latin typeface="+mn-lt"/>
                        </a:rPr>
                        <a:t>ARM</a:t>
                      </a:r>
                      <a:r>
                        <a:rPr lang="zh-CN" sz="1600" b="1" kern="100" dirty="0">
                          <a:effectLst/>
                          <a:latin typeface="+mn-lt"/>
                        </a:rPr>
                        <a:t>的指令，而是编译器的指令，将其放在一起只是为了方便学习</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1"/>
                  </a:ext>
                </a:extLst>
              </a:tr>
              <a:tr h="380462">
                <a:tc>
                  <a:txBody>
                    <a:bodyPr/>
                    <a:lstStyle/>
                    <a:p>
                      <a:pPr algn="ctr">
                        <a:spcBef>
                          <a:spcPts val="120"/>
                        </a:spcBef>
                        <a:spcAft>
                          <a:spcPts val="120"/>
                        </a:spcAft>
                      </a:pPr>
                      <a:r>
                        <a:rPr lang="en-US" sz="1600" b="1" kern="100">
                          <a:effectLst/>
                          <a:latin typeface="+mn-lt"/>
                        </a:rPr>
                        <a:t>END</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到达文件的末尾，文件结束</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2"/>
                  </a:ext>
                </a:extLst>
              </a:tr>
              <a:tr h="380462">
                <a:tc>
                  <a:txBody>
                    <a:bodyPr/>
                    <a:lstStyle/>
                    <a:p>
                      <a:pPr indent="254000" algn="ctr">
                        <a:spcBef>
                          <a:spcPts val="120"/>
                        </a:spcBef>
                        <a:spcAft>
                          <a:spcPts val="120"/>
                        </a:spcAft>
                      </a:pPr>
                      <a:r>
                        <a:rPr lang="en-US" sz="1600" b="1" kern="100">
                          <a:effectLst/>
                          <a:latin typeface="+mn-lt"/>
                        </a:rPr>
                        <a:t>IF</a:t>
                      </a:r>
                      <a:r>
                        <a:rPr lang="zh-CN" sz="1600" b="1" kern="100">
                          <a:effectLst/>
                          <a:latin typeface="+mn-lt"/>
                        </a:rPr>
                        <a:t>、</a:t>
                      </a:r>
                      <a:r>
                        <a:rPr lang="en-US" sz="1600" b="1" kern="100">
                          <a:effectLst/>
                          <a:latin typeface="+mn-lt"/>
                        </a:rPr>
                        <a:t>ELSE</a:t>
                      </a:r>
                      <a:r>
                        <a:rPr lang="zh-CN" sz="1600" b="1" kern="100">
                          <a:effectLst/>
                          <a:latin typeface="+mn-lt"/>
                        </a:rPr>
                        <a:t>、</a:t>
                      </a:r>
                      <a:r>
                        <a:rPr lang="en-US" sz="1600" b="1" kern="100">
                          <a:effectLst/>
                          <a:latin typeface="+mn-lt"/>
                        </a:rPr>
                        <a:t>ENDIF</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汇编条件分支语句，和</a:t>
                      </a:r>
                      <a:r>
                        <a:rPr lang="en-US" sz="1600" b="1" kern="100" dirty="0">
                          <a:effectLst/>
                          <a:latin typeface="+mn-lt"/>
                        </a:rPr>
                        <a:t>C</a:t>
                      </a:r>
                      <a:r>
                        <a:rPr lang="zh-CN" sz="1600" b="1" kern="100" dirty="0">
                          <a:effectLst/>
                          <a:latin typeface="+mn-lt"/>
                        </a:rPr>
                        <a:t>语言的</a:t>
                      </a:r>
                      <a:r>
                        <a:rPr lang="en-US" sz="1600" b="1" kern="100" dirty="0">
                          <a:effectLst/>
                          <a:latin typeface="+mn-lt"/>
                        </a:rPr>
                        <a:t>if</a:t>
                      </a:r>
                      <a:r>
                        <a:rPr lang="zh-CN" sz="1600" b="1" kern="100" dirty="0">
                          <a:effectLst/>
                          <a:latin typeface="+mn-lt"/>
                        </a:rPr>
                        <a:t>、</a:t>
                      </a:r>
                      <a:r>
                        <a:rPr lang="en-US" sz="1600" b="1" kern="100" dirty="0">
                          <a:effectLst/>
                          <a:latin typeface="+mn-lt"/>
                        </a:rPr>
                        <a:t>else</a:t>
                      </a:r>
                      <a:r>
                        <a:rPr lang="zh-CN" sz="1600" b="1" kern="100" dirty="0">
                          <a:effectLst/>
                          <a:latin typeface="+mn-lt"/>
                        </a:rPr>
                        <a:t>类似</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3"/>
                  </a:ext>
                </a:extLst>
              </a:tr>
            </a:tbl>
          </a:graphicData>
        </a:graphic>
      </p:graphicFrame>
      <p:sp>
        <p:nvSpPr>
          <p:cNvPr id="8" name="内容占位符 2"/>
          <p:cNvSpPr txBox="1">
            <a:spLocks/>
          </p:cNvSpPr>
          <p:nvPr/>
        </p:nvSpPr>
        <p:spPr>
          <a:xfrm>
            <a:off x="313898" y="643746"/>
            <a:ext cx="3363882" cy="461722"/>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en-US" altLang="zh-CN" b="1" dirty="0"/>
              <a:t>ARM</a:t>
            </a:r>
            <a:r>
              <a:rPr lang="zh-CN" altLang="en-US" b="1" dirty="0"/>
              <a:t>常用汇编指令</a:t>
            </a:r>
          </a:p>
        </p:txBody>
      </p:sp>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2262115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65637" y="1153351"/>
          <a:ext cx="10660726" cy="5590162"/>
        </p:xfrm>
        <a:graphic>
          <a:graphicData uri="http://schemas.openxmlformats.org/drawingml/2006/table">
            <a:tbl>
              <a:tblPr firstRow="1" firstCol="1" bandRow="1" bandCol="1">
                <a:tableStyleId>{5C22544A-7EE6-4342-B048-85BDC9FD1C3A}</a:tableStyleId>
              </a:tblPr>
              <a:tblGrid>
                <a:gridCol w="2349661">
                  <a:extLst>
                    <a:ext uri="{9D8B030D-6E8A-4147-A177-3AD203B41FA5}">
                      <a16:colId xmlns:a16="http://schemas.microsoft.com/office/drawing/2014/main" val="20000"/>
                    </a:ext>
                  </a:extLst>
                </a:gridCol>
                <a:gridCol w="8311065">
                  <a:extLst>
                    <a:ext uri="{9D8B030D-6E8A-4147-A177-3AD203B41FA5}">
                      <a16:colId xmlns:a16="http://schemas.microsoft.com/office/drawing/2014/main" val="20001"/>
                    </a:ext>
                  </a:extLst>
                </a:gridCol>
              </a:tblGrid>
              <a:tr h="300146">
                <a:tc>
                  <a:txBody>
                    <a:bodyPr/>
                    <a:lstStyle/>
                    <a:p>
                      <a:pPr indent="254000" algn="ctr">
                        <a:spcBef>
                          <a:spcPts val="120"/>
                        </a:spcBef>
                        <a:spcAft>
                          <a:spcPts val="120"/>
                        </a:spcAft>
                      </a:pPr>
                      <a:r>
                        <a:rPr lang="zh-CN" sz="1600" b="1" kern="100">
                          <a:effectLst/>
                          <a:latin typeface="+mn-ea"/>
                          <a:ea typeface="+mn-ea"/>
                        </a:rPr>
                        <a:t>指示符</a:t>
                      </a:r>
                    </a:p>
                  </a:txBody>
                  <a:tcPr marL="68544" marR="68544" marT="0" marB="0" anchor="ctr"/>
                </a:tc>
                <a:tc>
                  <a:txBody>
                    <a:bodyPr/>
                    <a:lstStyle/>
                    <a:p>
                      <a:pPr algn="ctr">
                        <a:spcBef>
                          <a:spcPts val="120"/>
                        </a:spcBef>
                        <a:spcAft>
                          <a:spcPts val="120"/>
                        </a:spcAft>
                      </a:pPr>
                      <a:r>
                        <a:rPr lang="zh-CN" sz="1600" b="1" kern="100">
                          <a:effectLst/>
                          <a:latin typeface="+mn-ea"/>
                          <a:ea typeface="+mn-ea"/>
                        </a:rPr>
                        <a:t>作用</a:t>
                      </a:r>
                    </a:p>
                  </a:txBody>
                  <a:tcPr marL="68544" marR="68544" marT="0" marB="0" anchor="ctr"/>
                </a:tc>
                <a:extLst>
                  <a:ext uri="{0D108BD9-81ED-4DB2-BD59-A6C34878D82A}">
                    <a16:rowId xmlns:a16="http://schemas.microsoft.com/office/drawing/2014/main" val="10000"/>
                  </a:ext>
                </a:extLst>
              </a:tr>
              <a:tr h="300146">
                <a:tc>
                  <a:txBody>
                    <a:bodyPr/>
                    <a:lstStyle/>
                    <a:p>
                      <a:pPr algn="ctr">
                        <a:spcBef>
                          <a:spcPts val="120"/>
                        </a:spcBef>
                        <a:spcAft>
                          <a:spcPts val="120"/>
                        </a:spcAft>
                      </a:pPr>
                      <a:r>
                        <a:rPr lang="en-US" sz="1600" b="1" kern="100">
                          <a:effectLst/>
                          <a:latin typeface="+mn-ea"/>
                          <a:ea typeface="+mn-ea"/>
                        </a:rPr>
                        <a:t>MRS</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加载特殊功能寄存器的值到通用寄存器中</a:t>
                      </a:r>
                    </a:p>
                  </a:txBody>
                  <a:tcPr marL="68544" marR="68544" marT="0" marB="0" anchor="ctr"/>
                </a:tc>
                <a:extLst>
                  <a:ext uri="{0D108BD9-81ED-4DB2-BD59-A6C34878D82A}">
                    <a16:rowId xmlns:a16="http://schemas.microsoft.com/office/drawing/2014/main" val="10001"/>
                  </a:ext>
                </a:extLst>
              </a:tr>
              <a:tr h="300146">
                <a:tc>
                  <a:txBody>
                    <a:bodyPr/>
                    <a:lstStyle/>
                    <a:p>
                      <a:pPr algn="ctr">
                        <a:spcBef>
                          <a:spcPts val="120"/>
                        </a:spcBef>
                        <a:spcAft>
                          <a:spcPts val="120"/>
                        </a:spcAft>
                      </a:pPr>
                      <a:r>
                        <a:rPr lang="en-US" sz="1600" b="1" kern="100">
                          <a:effectLst/>
                          <a:latin typeface="+mn-ea"/>
                          <a:ea typeface="+mn-ea"/>
                        </a:rPr>
                        <a:t>MSR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存储通用寄存器的值到特殊功能寄存器中</a:t>
                      </a:r>
                    </a:p>
                  </a:txBody>
                  <a:tcPr marL="68544" marR="68544" marT="0" marB="0" anchor="ctr"/>
                </a:tc>
                <a:extLst>
                  <a:ext uri="{0D108BD9-81ED-4DB2-BD59-A6C34878D82A}">
                    <a16:rowId xmlns:a16="http://schemas.microsoft.com/office/drawing/2014/main" val="10002"/>
                  </a:ext>
                </a:extLst>
              </a:tr>
              <a:tr h="300146">
                <a:tc>
                  <a:txBody>
                    <a:bodyPr/>
                    <a:lstStyle/>
                    <a:p>
                      <a:pPr algn="ctr">
                        <a:spcBef>
                          <a:spcPts val="120"/>
                        </a:spcBef>
                        <a:spcAft>
                          <a:spcPts val="120"/>
                        </a:spcAft>
                      </a:pPr>
                      <a:r>
                        <a:rPr lang="en-US" sz="1600" b="1" kern="100">
                          <a:effectLst/>
                          <a:latin typeface="+mn-ea"/>
                          <a:ea typeface="+mn-ea"/>
                        </a:rPr>
                        <a:t>CBZ</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比较，如果结果为</a:t>
                      </a:r>
                      <a:r>
                        <a:rPr lang="en-US" sz="1600" b="1" kern="100" dirty="0">
                          <a:effectLst/>
                          <a:latin typeface="+mn-ea"/>
                          <a:ea typeface="+mn-ea"/>
                        </a:rPr>
                        <a:t>0</a:t>
                      </a:r>
                      <a:r>
                        <a:rPr lang="zh-CN" sz="1600" b="1" kern="100" dirty="0">
                          <a:effectLst/>
                          <a:latin typeface="+mn-ea"/>
                          <a:ea typeface="+mn-ea"/>
                        </a:rPr>
                        <a:t>则转移</a:t>
                      </a:r>
                    </a:p>
                  </a:txBody>
                  <a:tcPr marL="68544" marR="68544" marT="0" marB="0" anchor="ctr"/>
                </a:tc>
                <a:extLst>
                  <a:ext uri="{0D108BD9-81ED-4DB2-BD59-A6C34878D82A}">
                    <a16:rowId xmlns:a16="http://schemas.microsoft.com/office/drawing/2014/main" val="10003"/>
                  </a:ext>
                </a:extLst>
              </a:tr>
              <a:tr h="300146">
                <a:tc>
                  <a:txBody>
                    <a:bodyPr/>
                    <a:lstStyle/>
                    <a:p>
                      <a:pPr algn="ctr">
                        <a:spcBef>
                          <a:spcPts val="120"/>
                        </a:spcBef>
                        <a:spcAft>
                          <a:spcPts val="120"/>
                        </a:spcAft>
                      </a:pPr>
                      <a:r>
                        <a:rPr lang="en-US" sz="1600" b="1" kern="100">
                          <a:effectLst/>
                          <a:latin typeface="+mn-ea"/>
                          <a:ea typeface="+mn-ea"/>
                        </a:rPr>
                        <a:t>CBNZ</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比较，如果结果非</a:t>
                      </a:r>
                      <a:r>
                        <a:rPr lang="en-US" sz="1600" b="1" kern="100" dirty="0">
                          <a:effectLst/>
                          <a:latin typeface="+mn-ea"/>
                          <a:ea typeface="+mn-ea"/>
                        </a:rPr>
                        <a:t>0</a:t>
                      </a:r>
                      <a:r>
                        <a:rPr lang="zh-CN" sz="1600" b="1" kern="100" dirty="0">
                          <a:effectLst/>
                          <a:latin typeface="+mn-ea"/>
                          <a:ea typeface="+mn-ea"/>
                        </a:rPr>
                        <a:t>则转移</a:t>
                      </a:r>
                    </a:p>
                  </a:txBody>
                  <a:tcPr marL="68544" marR="68544" marT="0" marB="0" anchor="ctr"/>
                </a:tc>
                <a:extLst>
                  <a:ext uri="{0D108BD9-81ED-4DB2-BD59-A6C34878D82A}">
                    <a16:rowId xmlns:a16="http://schemas.microsoft.com/office/drawing/2014/main" val="10004"/>
                  </a:ext>
                </a:extLst>
              </a:tr>
              <a:tr h="300146">
                <a:tc>
                  <a:txBody>
                    <a:bodyPr/>
                    <a:lstStyle/>
                    <a:p>
                      <a:pPr algn="ctr">
                        <a:spcBef>
                          <a:spcPts val="120"/>
                        </a:spcBef>
                        <a:spcAft>
                          <a:spcPts val="120"/>
                        </a:spcAft>
                      </a:pPr>
                      <a:r>
                        <a:rPr lang="en-US" sz="1600" b="1" kern="100">
                          <a:effectLst/>
                          <a:latin typeface="+mn-ea"/>
                          <a:ea typeface="+mn-ea"/>
                        </a:rPr>
                        <a:t>LDR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从存储器中加载字到一个寄存器中</a:t>
                      </a:r>
                    </a:p>
                  </a:txBody>
                  <a:tcPr marL="68544" marR="68544" marT="0" marB="0" anchor="ctr"/>
                </a:tc>
                <a:extLst>
                  <a:ext uri="{0D108BD9-81ED-4DB2-BD59-A6C34878D82A}">
                    <a16:rowId xmlns:a16="http://schemas.microsoft.com/office/drawing/2014/main" val="10005"/>
                  </a:ext>
                </a:extLst>
              </a:tr>
              <a:tr h="300146">
                <a:tc>
                  <a:txBody>
                    <a:bodyPr/>
                    <a:lstStyle/>
                    <a:p>
                      <a:pPr algn="ctr">
                        <a:spcBef>
                          <a:spcPts val="120"/>
                        </a:spcBef>
                        <a:spcAft>
                          <a:spcPts val="120"/>
                        </a:spcAft>
                      </a:pPr>
                      <a:r>
                        <a:rPr lang="en-US" sz="1600" b="1" kern="100">
                          <a:effectLst/>
                          <a:latin typeface="+mn-ea"/>
                          <a:ea typeface="+mn-ea"/>
                        </a:rPr>
                        <a:t>LDR[</a:t>
                      </a:r>
                      <a:r>
                        <a:rPr lang="zh-CN" sz="1600" b="1" kern="100">
                          <a:effectLst/>
                          <a:latin typeface="+mn-ea"/>
                          <a:ea typeface="+mn-ea"/>
                        </a:rPr>
                        <a:t>伪指令</a:t>
                      </a:r>
                      <a:r>
                        <a:rPr lang="en-US" sz="1600" b="1" kern="100">
                          <a:effectLst/>
                          <a:latin typeface="+mn-ea"/>
                          <a:ea typeface="+mn-ea"/>
                        </a:rPr>
                        <a:t>]</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加载一个立即数或者一个地址值到一个寄存器中</a:t>
                      </a:r>
                    </a:p>
                  </a:txBody>
                  <a:tcPr marL="68544" marR="68544" marT="0" marB="0" anchor="ctr"/>
                </a:tc>
                <a:extLst>
                  <a:ext uri="{0D108BD9-81ED-4DB2-BD59-A6C34878D82A}">
                    <a16:rowId xmlns:a16="http://schemas.microsoft.com/office/drawing/2014/main" val="10006"/>
                  </a:ext>
                </a:extLst>
              </a:tr>
              <a:tr h="300146">
                <a:tc>
                  <a:txBody>
                    <a:bodyPr/>
                    <a:lstStyle/>
                    <a:p>
                      <a:pPr algn="ctr">
                        <a:spcBef>
                          <a:spcPts val="120"/>
                        </a:spcBef>
                        <a:spcAft>
                          <a:spcPts val="120"/>
                        </a:spcAft>
                      </a:pPr>
                      <a:r>
                        <a:rPr lang="en-US" sz="1600" b="1" kern="100">
                          <a:effectLst/>
                          <a:latin typeface="+mn-ea"/>
                          <a:ea typeface="+mn-ea"/>
                        </a:rPr>
                        <a:t>LDRH</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从存储器中加载半字到一个寄存器中</a:t>
                      </a:r>
                    </a:p>
                  </a:txBody>
                  <a:tcPr marL="68544" marR="68544" marT="0" marB="0" anchor="ctr"/>
                </a:tc>
                <a:extLst>
                  <a:ext uri="{0D108BD9-81ED-4DB2-BD59-A6C34878D82A}">
                    <a16:rowId xmlns:a16="http://schemas.microsoft.com/office/drawing/2014/main" val="10007"/>
                  </a:ext>
                </a:extLst>
              </a:tr>
              <a:tr h="300146">
                <a:tc>
                  <a:txBody>
                    <a:bodyPr/>
                    <a:lstStyle/>
                    <a:p>
                      <a:pPr algn="ctr">
                        <a:spcBef>
                          <a:spcPts val="120"/>
                        </a:spcBef>
                        <a:spcAft>
                          <a:spcPts val="120"/>
                        </a:spcAft>
                      </a:pPr>
                      <a:r>
                        <a:rPr lang="en-US" sz="1600" b="1" kern="100">
                          <a:effectLst/>
                          <a:latin typeface="+mn-ea"/>
                          <a:ea typeface="+mn-ea"/>
                        </a:rPr>
                        <a:t>LDRB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从存储器中加载字节到一个寄存器中</a:t>
                      </a:r>
                    </a:p>
                  </a:txBody>
                  <a:tcPr marL="68544" marR="68544" marT="0" marB="0" anchor="ctr"/>
                </a:tc>
                <a:extLst>
                  <a:ext uri="{0D108BD9-81ED-4DB2-BD59-A6C34878D82A}">
                    <a16:rowId xmlns:a16="http://schemas.microsoft.com/office/drawing/2014/main" val="10008"/>
                  </a:ext>
                </a:extLst>
              </a:tr>
              <a:tr h="300146">
                <a:tc>
                  <a:txBody>
                    <a:bodyPr/>
                    <a:lstStyle/>
                    <a:p>
                      <a:pPr algn="ctr">
                        <a:spcBef>
                          <a:spcPts val="120"/>
                        </a:spcBef>
                        <a:spcAft>
                          <a:spcPts val="120"/>
                        </a:spcAft>
                      </a:pPr>
                      <a:r>
                        <a:rPr lang="en-US" sz="1600" b="1" kern="100">
                          <a:effectLst/>
                          <a:latin typeface="+mn-ea"/>
                          <a:ea typeface="+mn-ea"/>
                        </a:rPr>
                        <a:t>STR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把一个寄存器按字存储到存储器中</a:t>
                      </a:r>
                    </a:p>
                  </a:txBody>
                  <a:tcPr marL="68544" marR="68544" marT="0" marB="0" anchor="ctr"/>
                </a:tc>
                <a:extLst>
                  <a:ext uri="{0D108BD9-81ED-4DB2-BD59-A6C34878D82A}">
                    <a16:rowId xmlns:a16="http://schemas.microsoft.com/office/drawing/2014/main" val="10009"/>
                  </a:ext>
                </a:extLst>
              </a:tr>
              <a:tr h="300146">
                <a:tc>
                  <a:txBody>
                    <a:bodyPr/>
                    <a:lstStyle/>
                    <a:p>
                      <a:pPr algn="ctr">
                        <a:spcBef>
                          <a:spcPts val="120"/>
                        </a:spcBef>
                        <a:spcAft>
                          <a:spcPts val="120"/>
                        </a:spcAft>
                      </a:pPr>
                      <a:r>
                        <a:rPr lang="en-US" sz="1600" b="1" kern="100">
                          <a:effectLst/>
                          <a:latin typeface="+mn-ea"/>
                          <a:ea typeface="+mn-ea"/>
                        </a:rPr>
                        <a:t>STRH</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把一个寄存器的低半字存储到存储器中</a:t>
                      </a:r>
                    </a:p>
                  </a:txBody>
                  <a:tcPr marL="68544" marR="68544" marT="0" marB="0" anchor="ctr"/>
                </a:tc>
                <a:extLst>
                  <a:ext uri="{0D108BD9-81ED-4DB2-BD59-A6C34878D82A}">
                    <a16:rowId xmlns:a16="http://schemas.microsoft.com/office/drawing/2014/main" val="10010"/>
                  </a:ext>
                </a:extLst>
              </a:tr>
              <a:tr h="300146">
                <a:tc>
                  <a:txBody>
                    <a:bodyPr/>
                    <a:lstStyle/>
                    <a:p>
                      <a:pPr algn="ctr">
                        <a:spcBef>
                          <a:spcPts val="120"/>
                        </a:spcBef>
                        <a:spcAft>
                          <a:spcPts val="120"/>
                        </a:spcAft>
                      </a:pPr>
                      <a:r>
                        <a:rPr lang="en-US" sz="1600" b="1" kern="100">
                          <a:effectLst/>
                          <a:latin typeface="+mn-ea"/>
                          <a:ea typeface="+mn-ea"/>
                        </a:rPr>
                        <a:t>STRB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把一个寄存器的低字节存储到存储器中</a:t>
                      </a:r>
                    </a:p>
                  </a:txBody>
                  <a:tcPr marL="68544" marR="68544" marT="0" marB="0" anchor="ctr"/>
                </a:tc>
                <a:extLst>
                  <a:ext uri="{0D108BD9-81ED-4DB2-BD59-A6C34878D82A}">
                    <a16:rowId xmlns:a16="http://schemas.microsoft.com/office/drawing/2014/main" val="10011"/>
                  </a:ext>
                </a:extLst>
              </a:tr>
              <a:tr h="300146">
                <a:tc>
                  <a:txBody>
                    <a:bodyPr/>
                    <a:lstStyle/>
                    <a:p>
                      <a:pPr algn="ctr">
                        <a:spcBef>
                          <a:spcPts val="120"/>
                        </a:spcBef>
                        <a:spcAft>
                          <a:spcPts val="120"/>
                        </a:spcAft>
                      </a:pPr>
                      <a:r>
                        <a:rPr lang="en-US" sz="1600" b="1" kern="100">
                          <a:effectLst/>
                          <a:latin typeface="+mn-ea"/>
                          <a:ea typeface="+mn-ea"/>
                        </a:rPr>
                        <a:t>LDMIA</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将多个字从存储器加载到</a:t>
                      </a:r>
                      <a:r>
                        <a:rPr lang="en-US" sz="1600" b="1" kern="100" dirty="0">
                          <a:effectLst/>
                          <a:latin typeface="+mn-ea"/>
                          <a:ea typeface="+mn-ea"/>
                        </a:rPr>
                        <a:t>CPU</a:t>
                      </a:r>
                      <a:r>
                        <a:rPr lang="zh-CN" sz="1600" b="1" kern="100" dirty="0">
                          <a:effectLst/>
                          <a:latin typeface="+mn-ea"/>
                          <a:ea typeface="+mn-ea"/>
                        </a:rPr>
                        <a:t>寄存器中，指针先操作，再递增</a:t>
                      </a:r>
                    </a:p>
                  </a:txBody>
                  <a:tcPr marL="68544" marR="68544" marT="0" marB="0" anchor="ctr"/>
                </a:tc>
                <a:extLst>
                  <a:ext uri="{0D108BD9-81ED-4DB2-BD59-A6C34878D82A}">
                    <a16:rowId xmlns:a16="http://schemas.microsoft.com/office/drawing/2014/main" val="10012"/>
                  </a:ext>
                </a:extLst>
              </a:tr>
              <a:tr h="300146">
                <a:tc>
                  <a:txBody>
                    <a:bodyPr/>
                    <a:lstStyle/>
                    <a:p>
                      <a:pPr algn="ctr">
                        <a:spcBef>
                          <a:spcPts val="120"/>
                        </a:spcBef>
                        <a:spcAft>
                          <a:spcPts val="120"/>
                        </a:spcAft>
                      </a:pPr>
                      <a:r>
                        <a:rPr lang="en-US" sz="1600" b="1" kern="100">
                          <a:effectLst/>
                          <a:latin typeface="+mn-ea"/>
                          <a:ea typeface="+mn-ea"/>
                        </a:rPr>
                        <a:t>STMDB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将多个字从</a:t>
                      </a:r>
                      <a:r>
                        <a:rPr lang="en-US" sz="1600" b="1" kern="100" dirty="0">
                          <a:effectLst/>
                          <a:latin typeface="+mn-ea"/>
                          <a:ea typeface="+mn-ea"/>
                        </a:rPr>
                        <a:t>CPU</a:t>
                      </a:r>
                      <a:r>
                        <a:rPr lang="zh-CN" sz="1600" b="1" kern="100" dirty="0">
                          <a:effectLst/>
                          <a:latin typeface="+mn-ea"/>
                          <a:ea typeface="+mn-ea"/>
                        </a:rPr>
                        <a:t>寄存器存储到存储器中，指针先递减，再操作</a:t>
                      </a:r>
                    </a:p>
                  </a:txBody>
                  <a:tcPr marL="68544" marR="68544" marT="0" marB="0" anchor="ctr"/>
                </a:tc>
                <a:extLst>
                  <a:ext uri="{0D108BD9-81ED-4DB2-BD59-A6C34878D82A}">
                    <a16:rowId xmlns:a16="http://schemas.microsoft.com/office/drawing/2014/main" val="10013"/>
                  </a:ext>
                </a:extLst>
              </a:tr>
              <a:tr h="300146">
                <a:tc>
                  <a:txBody>
                    <a:bodyPr/>
                    <a:lstStyle/>
                    <a:p>
                      <a:pPr algn="ctr">
                        <a:spcBef>
                          <a:spcPts val="120"/>
                        </a:spcBef>
                        <a:spcAft>
                          <a:spcPts val="120"/>
                        </a:spcAft>
                      </a:pPr>
                      <a:r>
                        <a:rPr lang="en-US" sz="1600" b="1" kern="100">
                          <a:effectLst/>
                          <a:latin typeface="+mn-ea"/>
                          <a:ea typeface="+mn-ea"/>
                        </a:rPr>
                        <a:t>ORR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按位或</a:t>
                      </a:r>
                    </a:p>
                  </a:txBody>
                  <a:tcPr marL="68544" marR="68544" marT="0" marB="0" anchor="ctr"/>
                </a:tc>
                <a:extLst>
                  <a:ext uri="{0D108BD9-81ED-4DB2-BD59-A6C34878D82A}">
                    <a16:rowId xmlns:a16="http://schemas.microsoft.com/office/drawing/2014/main" val="10014"/>
                  </a:ext>
                </a:extLst>
              </a:tr>
              <a:tr h="300146">
                <a:tc>
                  <a:txBody>
                    <a:bodyPr/>
                    <a:lstStyle/>
                    <a:p>
                      <a:pPr algn="ctr">
                        <a:spcBef>
                          <a:spcPts val="120"/>
                        </a:spcBef>
                        <a:spcAft>
                          <a:spcPts val="120"/>
                        </a:spcAft>
                      </a:pPr>
                      <a:r>
                        <a:rPr lang="en-US" sz="1600" b="1" kern="100">
                          <a:effectLst/>
                          <a:latin typeface="+mn-ea"/>
                          <a:ea typeface="+mn-ea"/>
                        </a:rPr>
                        <a:t>BX</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直接跳转到由寄存器给定的地址上</a:t>
                      </a:r>
                    </a:p>
                  </a:txBody>
                  <a:tcPr marL="68544" marR="68544" marT="0" marB="0" anchor="ctr"/>
                </a:tc>
                <a:extLst>
                  <a:ext uri="{0D108BD9-81ED-4DB2-BD59-A6C34878D82A}">
                    <a16:rowId xmlns:a16="http://schemas.microsoft.com/office/drawing/2014/main" val="10015"/>
                  </a:ext>
                </a:extLst>
              </a:tr>
              <a:tr h="300146">
                <a:tc>
                  <a:txBody>
                    <a:bodyPr/>
                    <a:lstStyle/>
                    <a:p>
                      <a:pPr algn="ctr">
                        <a:spcBef>
                          <a:spcPts val="120"/>
                        </a:spcBef>
                        <a:spcAft>
                          <a:spcPts val="120"/>
                        </a:spcAft>
                      </a:pPr>
                      <a:r>
                        <a:rPr lang="en-US" sz="1600" b="1" kern="100">
                          <a:effectLst/>
                          <a:latin typeface="+mn-ea"/>
                          <a:ea typeface="+mn-ea"/>
                        </a:rPr>
                        <a:t>BL</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跳转到标号对应的地址，并且把跳转前的下一条指令地址保存到</a:t>
                      </a:r>
                      <a:r>
                        <a:rPr lang="en-US" sz="1600" b="1" kern="100" dirty="0">
                          <a:effectLst/>
                          <a:latin typeface="+mn-ea"/>
                          <a:ea typeface="+mn-ea"/>
                        </a:rPr>
                        <a:t>LR</a:t>
                      </a:r>
                      <a:r>
                        <a:rPr lang="zh-CN" sz="1600" b="1" kern="100" dirty="0">
                          <a:effectLst/>
                          <a:latin typeface="+mn-ea"/>
                          <a:ea typeface="+mn-ea"/>
                        </a:rPr>
                        <a:t>中</a:t>
                      </a:r>
                    </a:p>
                  </a:txBody>
                  <a:tcPr marL="68544" marR="68544" marT="0" marB="0" anchor="ctr"/>
                </a:tc>
                <a:extLst>
                  <a:ext uri="{0D108BD9-81ED-4DB2-BD59-A6C34878D82A}">
                    <a16:rowId xmlns:a16="http://schemas.microsoft.com/office/drawing/2014/main" val="10016"/>
                  </a:ext>
                </a:extLst>
              </a:tr>
              <a:tr h="300146">
                <a:tc>
                  <a:txBody>
                    <a:bodyPr/>
                    <a:lstStyle/>
                    <a:p>
                      <a:pPr indent="254000" algn="ctr">
                        <a:spcBef>
                          <a:spcPts val="120"/>
                        </a:spcBef>
                        <a:spcAft>
                          <a:spcPts val="120"/>
                        </a:spcAft>
                      </a:pPr>
                      <a:r>
                        <a:rPr lang="en-US" sz="1600" b="1" kern="100">
                          <a:effectLst/>
                          <a:latin typeface="+mn-ea"/>
                          <a:ea typeface="+mn-ea"/>
                        </a:rPr>
                        <a:t>BLX</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跳转到由寄存器</a:t>
                      </a:r>
                      <a:r>
                        <a:rPr lang="en-US" sz="1600" b="1" kern="100" dirty="0">
                          <a:effectLst/>
                          <a:latin typeface="+mn-ea"/>
                          <a:ea typeface="+mn-ea"/>
                        </a:rPr>
                        <a:t>REG</a:t>
                      </a:r>
                      <a:r>
                        <a:rPr lang="zh-CN" sz="1600" b="1" kern="100" dirty="0">
                          <a:effectLst/>
                          <a:latin typeface="+mn-ea"/>
                          <a:ea typeface="+mn-ea"/>
                        </a:rPr>
                        <a:t>指定的地址，根据</a:t>
                      </a:r>
                      <a:r>
                        <a:rPr lang="en-US" sz="1600" b="1" kern="100" dirty="0">
                          <a:effectLst/>
                          <a:latin typeface="+mn-ea"/>
                          <a:ea typeface="+mn-ea"/>
                        </a:rPr>
                        <a:t>REG</a:t>
                      </a:r>
                      <a:r>
                        <a:rPr lang="zh-CN" sz="1600" b="1" kern="100" dirty="0">
                          <a:effectLst/>
                          <a:latin typeface="+mn-ea"/>
                          <a:ea typeface="+mn-ea"/>
                        </a:rPr>
                        <a:t>的</a:t>
                      </a:r>
                      <a:r>
                        <a:rPr lang="en-US" sz="1600" b="1" kern="100" dirty="0">
                          <a:effectLst/>
                          <a:latin typeface="+mn-ea"/>
                          <a:ea typeface="+mn-ea"/>
                        </a:rPr>
                        <a:t>LSB</a:t>
                      </a:r>
                      <a:r>
                        <a:rPr lang="zh-CN" sz="1600" b="1" kern="100" dirty="0">
                          <a:effectLst/>
                          <a:latin typeface="+mn-ea"/>
                          <a:ea typeface="+mn-ea"/>
                        </a:rPr>
                        <a:t>切换处理器状态，并把转移前的下一条指令地址保存到</a:t>
                      </a:r>
                      <a:r>
                        <a:rPr lang="en-US" sz="1600" b="1" kern="100" dirty="0">
                          <a:effectLst/>
                          <a:latin typeface="+mn-ea"/>
                          <a:ea typeface="+mn-ea"/>
                        </a:rPr>
                        <a:t>LR</a:t>
                      </a:r>
                      <a:r>
                        <a:rPr lang="zh-CN" sz="1600" b="1" kern="100" dirty="0">
                          <a:effectLst/>
                          <a:latin typeface="+mn-ea"/>
                          <a:ea typeface="+mn-ea"/>
                        </a:rPr>
                        <a:t>中</a:t>
                      </a:r>
                    </a:p>
                  </a:txBody>
                  <a:tcPr marL="68544" marR="68544" marT="0" marB="0" anchor="ctr"/>
                </a:tc>
                <a:extLst>
                  <a:ext uri="{0D108BD9-81ED-4DB2-BD59-A6C34878D82A}">
                    <a16:rowId xmlns:a16="http://schemas.microsoft.com/office/drawing/2014/main" val="10017"/>
                  </a:ext>
                </a:extLst>
              </a:tr>
            </a:tbl>
          </a:graphicData>
        </a:graphic>
      </p:graphicFrame>
      <p:sp>
        <p:nvSpPr>
          <p:cNvPr id="5" name="内容占位符 2"/>
          <p:cNvSpPr txBox="1">
            <a:spLocks/>
          </p:cNvSpPr>
          <p:nvPr/>
        </p:nvSpPr>
        <p:spPr>
          <a:xfrm>
            <a:off x="231575" y="691629"/>
            <a:ext cx="3363882" cy="461722"/>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en-US" altLang="zh-CN" b="1" dirty="0"/>
              <a:t>ARM</a:t>
            </a:r>
            <a:r>
              <a:rPr lang="zh-CN" altLang="en-US" b="1" dirty="0"/>
              <a:t>常用指示符</a:t>
            </a:r>
          </a:p>
        </p:txBody>
      </p:sp>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552202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4565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A6A819F1-33AF-45D7-8BF6-2B0A9769CA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5" name="标题 4"/>
          <p:cNvSpPr>
            <a:spLocks noGrp="1"/>
          </p:cNvSpPr>
          <p:nvPr>
            <p:ph type="ctrTitle"/>
          </p:nvPr>
        </p:nvSpPr>
        <p:spPr>
          <a:xfrm>
            <a:off x="6558083" y="2341767"/>
            <a:ext cx="5079462" cy="1621509"/>
          </a:xfrm>
        </p:spPr>
        <p:txBody>
          <a:bodyPr/>
          <a:lstStyle/>
          <a:p>
            <a:r>
              <a:rPr lang="en-US" altLang="zh-CN" sz="4000" dirty="0">
                <a:latin typeface="+mn-lt"/>
                <a:ea typeface="+mn-ea"/>
                <a:cs typeface="+mn-ea"/>
                <a:sym typeface="+mn-lt"/>
              </a:rPr>
              <a:t>Thanks</a:t>
            </a:r>
            <a:br>
              <a:rPr lang="en-US" altLang="zh-CN" dirty="0">
                <a:latin typeface="+mn-lt"/>
                <a:ea typeface="+mn-ea"/>
                <a:cs typeface="+mn-ea"/>
                <a:sym typeface="+mn-lt"/>
              </a:rPr>
            </a:br>
            <a:endParaRPr lang="zh-CN" altLang="en-US" dirty="0">
              <a:latin typeface="+mn-lt"/>
              <a:ea typeface="+mn-ea"/>
              <a:cs typeface="+mn-ea"/>
              <a:sym typeface="+mn-lt"/>
            </a:endParaRPr>
          </a:p>
        </p:txBody>
      </p:sp>
    </p:spTree>
    <p:extLst>
      <p:ext uri="{BB962C8B-B14F-4D97-AF65-F5344CB8AC3E}">
        <p14:creationId xmlns:p14="http://schemas.microsoft.com/office/powerpoint/2010/main" val="321474162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3C326D0B-7DAB-41B6-8030-2E4A18CC94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altLang="zh-CN" sz="4000" b="1" i="0" u="none" strike="noStrike" kern="1200" cap="none" spc="0" normalizeH="0" baseline="0" noProof="0" dirty="0">
              <a:ln>
                <a:noFill/>
              </a:ln>
              <a:solidFill>
                <a:srgbClr val="FFFFFF"/>
              </a:solidFill>
              <a:effectLst/>
              <a:uLnTx/>
              <a:uFillTx/>
              <a:latin typeface="Microsoft YaHei"/>
              <a:ea typeface="Microsoft YaHei"/>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800" cap="none" spc="0" normalizeH="0" baseline="0" noProof="0" dirty="0">
                <a:ln>
                  <a:noFill/>
                </a:ln>
                <a:solidFill>
                  <a:srgbClr val="FFFFFF"/>
                </a:solidFill>
                <a:effectLst/>
                <a:uLnTx/>
                <a:uFillTx/>
                <a:latin typeface="Microsoft YaHei"/>
                <a:ea typeface="Microsoft YaHei"/>
                <a:cs typeface="+mn-ea"/>
                <a:sym typeface="+mn-lt"/>
              </a:rPr>
              <a:t>物联网操作系统</a:t>
            </a:r>
            <a:r>
              <a:rPr kumimoji="0" lang="zh-CN" altLang="zh-CN" sz="4000" b="1" i="0" u="none" strike="noStrike" kern="1200" cap="none" spc="0" normalizeH="0" baseline="0" noProof="0" dirty="0">
                <a:ln w="12700">
                  <a:solidFill>
                    <a:srgbClr val="757579"/>
                  </a:solidFill>
                  <a:prstDash val="solid"/>
                </a:ln>
                <a:pattFill prst="ltDnDiag">
                  <a:fgClr>
                    <a:srgbClr val="757579">
                      <a:lumMod val="60000"/>
                      <a:lumOff val="40000"/>
                    </a:srgbClr>
                  </a:fgClr>
                  <a:bgClr>
                    <a:srgbClr val="FFFFFF"/>
                  </a:bgClr>
                </a:pattFill>
                <a:effectLst/>
                <a:uLnTx/>
                <a:uFillTx/>
                <a:latin typeface="Microsoft YaHei"/>
                <a:ea typeface="Microsoft YaHei"/>
                <a:cs typeface="+mn-ea"/>
                <a:sym typeface="+mn-lt"/>
              </a:rPr>
              <a:t>——</a:t>
            </a:r>
            <a:endParaRPr kumimoji="0" lang="zh-CN" altLang="en-US" sz="4000" b="1" i="0" u="none" strike="noStrike" kern="1200" cap="none" spc="0" normalizeH="0" baseline="0" noProof="0" dirty="0">
              <a:ln w="12700">
                <a:solidFill>
                  <a:srgbClr val="757579"/>
                </a:solidFill>
                <a:prstDash val="solid"/>
              </a:ln>
              <a:pattFill prst="ltDnDiag">
                <a:fgClr>
                  <a:srgbClr val="757579">
                    <a:lumMod val="60000"/>
                    <a:lumOff val="40000"/>
                  </a:srgbClr>
                </a:fgClr>
                <a:bgClr>
                  <a:srgbClr val="FFFFFF"/>
                </a:bgClr>
              </a:pattFill>
              <a:effectLst/>
              <a:uLnTx/>
              <a:uFillTx/>
              <a:latin typeface="Microsoft YaHei"/>
              <a:ea typeface="Microsoft YaHei"/>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err="1">
                <a:ln>
                  <a:noFill/>
                </a:ln>
                <a:solidFill>
                  <a:srgbClr val="42E6E0"/>
                </a:solidFill>
                <a:effectLst/>
                <a:uLnTx/>
                <a:uFillTx/>
                <a:latin typeface="Microsoft YaHei"/>
                <a:ea typeface="Microsoft YaHei"/>
                <a:cs typeface="+mn-ea"/>
                <a:sym typeface="+mn-lt"/>
              </a:rPr>
              <a:t>LiteOS</a:t>
            </a:r>
            <a:r>
              <a:rPr kumimoji="0" lang="zh-CN" altLang="en-US" sz="2800" b="1" i="0" u="none" strike="noStrike" kern="1200" cap="none" spc="0" normalizeH="0" baseline="0" noProof="0" dirty="0">
                <a:ln>
                  <a:noFill/>
                </a:ln>
                <a:solidFill>
                  <a:srgbClr val="42E6E0"/>
                </a:solidFill>
                <a:effectLst/>
                <a:uLnTx/>
                <a:uFillTx/>
                <a:latin typeface="Microsoft YaHei"/>
                <a:ea typeface="Microsoft YaHei"/>
                <a:cs typeface="+mn-ea"/>
                <a:sym typeface="+mn-lt"/>
              </a:rPr>
              <a:t>任务同步与进程间通信</a:t>
            </a:r>
            <a:endParaRPr kumimoji="0" lang="en-US" altLang="zh-CN" sz="2800" b="1" i="0" u="none" strike="noStrike" kern="1200" cap="none" spc="0" normalizeH="0" baseline="0" noProof="0" dirty="0">
              <a:ln>
                <a:noFill/>
              </a:ln>
              <a:solidFill>
                <a:srgbClr val="42E6E0"/>
              </a:solidFill>
              <a:effectLst/>
              <a:uLnTx/>
              <a:uFillTx/>
              <a:latin typeface="Microsoft YaHei"/>
              <a:ea typeface="Microsoft YaHei"/>
              <a:cs typeface="+mn-ea"/>
              <a:sym typeface="+mn-lt"/>
            </a:endParaRPr>
          </a:p>
        </p:txBody>
      </p:sp>
    </p:spTree>
    <p:extLst>
      <p:ext uri="{BB962C8B-B14F-4D97-AF65-F5344CB8AC3E}">
        <p14:creationId xmlns:p14="http://schemas.microsoft.com/office/powerpoint/2010/main" val="3326547176"/>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目录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2400" b="1" dirty="0">
                <a:solidFill>
                  <a:srgbClr val="FF0000"/>
                </a:solidFill>
              </a:rPr>
              <a:t>消息队列</a:t>
            </a:r>
            <a:endParaRPr lang="en-US" altLang="zh-CN" sz="2400" b="1" dirty="0">
              <a:solidFill>
                <a:srgbClr val="FF0000"/>
              </a:solidFill>
            </a:endParaRPr>
          </a:p>
          <a:p>
            <a:r>
              <a:rPr lang="zh-CN" altLang="en-US" sz="2400" b="1" dirty="0">
                <a:solidFill>
                  <a:schemeClr val="tx1"/>
                </a:solidFill>
              </a:rPr>
              <a:t>信号量</a:t>
            </a:r>
            <a:endParaRPr lang="en-US" altLang="zh-CN" sz="2400" b="1" dirty="0">
              <a:solidFill>
                <a:schemeClr val="tx1"/>
              </a:solidFill>
            </a:endParaRPr>
          </a:p>
          <a:p>
            <a:r>
              <a:rPr lang="zh-CN" altLang="en-US" sz="2400" b="1" dirty="0">
                <a:solidFill>
                  <a:schemeClr val="tx1"/>
                </a:solidFill>
              </a:rPr>
              <a:t>互斥量</a:t>
            </a:r>
            <a:endParaRPr lang="en-US" altLang="zh-CN" sz="2400" b="1" dirty="0">
              <a:solidFill>
                <a:schemeClr val="tx1"/>
              </a:solidFill>
            </a:endParaRPr>
          </a:p>
          <a:p>
            <a:r>
              <a:rPr lang="zh-CN" altLang="en-US" sz="2400" b="1" dirty="0">
                <a:solidFill>
                  <a:schemeClr val="tx1"/>
                </a:solidFill>
              </a:rPr>
              <a:t>事件</a:t>
            </a:r>
            <a:endParaRPr lang="en-US" altLang="zh-CN" sz="2400" b="1" dirty="0">
              <a:solidFill>
                <a:schemeClr val="tx1"/>
              </a:solidFill>
            </a:endParaRPr>
          </a:p>
        </p:txBody>
      </p:sp>
    </p:spTree>
    <p:extLst>
      <p:ext uri="{BB962C8B-B14F-4D97-AF65-F5344CB8AC3E}">
        <p14:creationId xmlns:p14="http://schemas.microsoft.com/office/powerpoint/2010/main" val="36108951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消息队列</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矩形 3"/>
          <p:cNvSpPr/>
          <p:nvPr/>
        </p:nvSpPr>
        <p:spPr>
          <a:xfrm>
            <a:off x="627797" y="1243734"/>
            <a:ext cx="3596535" cy="1678408"/>
          </a:xfrm>
          <a:prstGeom prst="rect">
            <a:avLst/>
          </a:prstGeom>
        </p:spPr>
        <p:txBody>
          <a:bodyPr wrap="square">
            <a:spAutoFit/>
          </a:bodyPr>
          <a:lstStyle/>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消息队列</a:t>
            </a:r>
            <a:endParaRPr kumimoji="0" lang="en-US" altLang="zh-CN" sz="24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队列控制块</a:t>
            </a:r>
            <a:endParaRPr kumimoji="0" lang="en-US" altLang="zh-CN" sz="2400" b="1" i="0" u="none" strike="noStrike" kern="1200" cap="none" spc="0" normalizeH="0" baseline="0" noProof="0" dirty="0">
              <a:ln>
                <a:noFill/>
              </a:ln>
              <a:solidFill>
                <a:srgbClr val="C00000"/>
              </a:solidFill>
              <a:effectLst/>
              <a:uLnTx/>
              <a:uFillTx/>
              <a:latin typeface="Microsoft YaHei"/>
              <a:ea typeface="Microsoft YaHei"/>
              <a:cs typeface="+mn-cs"/>
            </a:endParaRPr>
          </a:p>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400" b="1" i="0" u="none" strike="noStrike" kern="1200" cap="none" spc="0" normalizeH="0" baseline="0" noProof="0" dirty="0">
                <a:ln>
                  <a:noFill/>
                </a:ln>
                <a:solidFill>
                  <a:srgbClr val="C00000"/>
                </a:solidFill>
                <a:effectLst/>
                <a:uLnTx/>
                <a:uFillTx/>
                <a:latin typeface="Microsoft YaHei"/>
                <a:ea typeface="Microsoft YaHei"/>
                <a:cs typeface="+mn-cs"/>
              </a:rPr>
              <a:t>队列读写原理</a:t>
            </a:r>
            <a:endParaRPr kumimoji="0" lang="en-US" altLang="zh-CN" sz="2400" b="1" i="0" u="none" strike="noStrike" kern="1200" cap="none" spc="0" normalizeH="0" baseline="0" noProof="0" dirty="0">
              <a:ln>
                <a:noFill/>
              </a:ln>
              <a:solidFill>
                <a:srgbClr val="C00000"/>
              </a:solidFill>
              <a:effectLst/>
              <a:uLnTx/>
              <a:uFillTx/>
              <a:latin typeface="Microsoft YaHei"/>
              <a:ea typeface="Microsoft YaHei"/>
              <a:cs typeface="+mn-cs"/>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9899" y="11340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99919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消息队列</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ABE6EB6A-F530-41A6-8CD6-17E5BFB335B4}"/>
              </a:ext>
            </a:extLst>
          </p:cNvPr>
          <p:cNvSpPr>
            <a:spLocks noGrp="1"/>
          </p:cNvSpPr>
          <p:nvPr>
            <p:ph idx="1"/>
          </p:nvPr>
        </p:nvSpPr>
        <p:spPr>
          <a:xfrm>
            <a:off x="226314" y="1268942"/>
            <a:ext cx="5278374" cy="3379258"/>
          </a:xfrm>
        </p:spPr>
        <p:txBody>
          <a:bodyPr>
            <a:normAutofit/>
          </a:bodyPr>
          <a:lstStyle/>
          <a:p>
            <a:pPr>
              <a:lnSpc>
                <a:spcPct val="125000"/>
              </a:lnSpc>
            </a:pPr>
            <a:r>
              <a:rPr lang="zh-CN" altLang="en-US" sz="2000" b="1" dirty="0">
                <a:solidFill>
                  <a:srgbClr val="C00000"/>
                </a:solidFill>
              </a:rPr>
              <a:t>任务与任务间通过消息队列进行信息交互</a:t>
            </a:r>
            <a:endParaRPr lang="en-US" altLang="zh-CN" sz="2000" b="1" dirty="0">
              <a:solidFill>
                <a:srgbClr val="C00000"/>
              </a:solidFill>
            </a:endParaRPr>
          </a:p>
          <a:p>
            <a:pPr>
              <a:lnSpc>
                <a:spcPct val="125000"/>
              </a:lnSpc>
            </a:pPr>
            <a:r>
              <a:rPr lang="zh-CN" altLang="en-US" sz="2000" b="1" dirty="0">
                <a:solidFill>
                  <a:srgbClr val="C00000"/>
                </a:solidFill>
              </a:rPr>
              <a:t>任务可以在消息队列中写入或读取消息</a:t>
            </a:r>
            <a:endParaRPr lang="en-US" altLang="zh-CN" sz="2000" b="1" dirty="0">
              <a:solidFill>
                <a:srgbClr val="C00000"/>
              </a:solidFill>
            </a:endParaRPr>
          </a:p>
          <a:p>
            <a:pPr lvl="1">
              <a:lnSpc>
                <a:spcPct val="125000"/>
              </a:lnSpc>
              <a:spcBef>
                <a:spcPts val="0"/>
              </a:spcBef>
            </a:pPr>
            <a:r>
              <a:rPr lang="zh-CN" altLang="en-US" sz="1800" dirty="0"/>
              <a:t>队列为空时，读取任务</a:t>
            </a:r>
            <a:r>
              <a:rPr lang="zh-CN" altLang="en-US" sz="1800" dirty="0">
                <a:solidFill>
                  <a:srgbClr val="FF0000"/>
                </a:solidFill>
              </a:rPr>
              <a:t>被阻塞</a:t>
            </a:r>
            <a:r>
              <a:rPr lang="zh-CN" altLang="en-US" sz="1800" dirty="0"/>
              <a:t>挂起</a:t>
            </a:r>
            <a:endParaRPr lang="en-US" altLang="zh-CN" sz="1800" dirty="0"/>
          </a:p>
          <a:p>
            <a:pPr lvl="1">
              <a:lnSpc>
                <a:spcPct val="125000"/>
              </a:lnSpc>
            </a:pPr>
            <a:r>
              <a:rPr lang="zh-CN" altLang="en-US" sz="1800" dirty="0"/>
              <a:t>队列有新消息时，读取任务</a:t>
            </a:r>
            <a:r>
              <a:rPr lang="zh-CN" altLang="en-US" sz="1800" dirty="0">
                <a:solidFill>
                  <a:srgbClr val="FF0000"/>
                </a:solidFill>
              </a:rPr>
              <a:t>被唤醒</a:t>
            </a:r>
            <a:r>
              <a:rPr lang="zh-CN" altLang="en-US" sz="1800" dirty="0"/>
              <a:t>处理信息</a:t>
            </a:r>
            <a:endParaRPr lang="en-US" altLang="zh-CN" sz="1800" dirty="0"/>
          </a:p>
          <a:p>
            <a:pPr lvl="1">
              <a:lnSpc>
                <a:spcPct val="125000"/>
              </a:lnSpc>
            </a:pPr>
            <a:r>
              <a:rPr lang="zh-CN" altLang="en-US" sz="1800" dirty="0">
                <a:solidFill>
                  <a:srgbClr val="FF0000"/>
                </a:solidFill>
              </a:rPr>
              <a:t>多个任务</a:t>
            </a:r>
            <a:r>
              <a:rPr lang="zh-CN" altLang="en-US" sz="1800" dirty="0"/>
              <a:t>可以在</a:t>
            </a:r>
            <a:r>
              <a:rPr lang="zh-CN" altLang="en-US" sz="1800" dirty="0">
                <a:solidFill>
                  <a:srgbClr val="FF0000"/>
                </a:solidFill>
              </a:rPr>
              <a:t>多个队列</a:t>
            </a:r>
            <a:r>
              <a:rPr lang="zh-CN" altLang="en-US" sz="1800" dirty="0"/>
              <a:t>中进行消息读写</a:t>
            </a:r>
            <a:endParaRPr lang="en-US" altLang="zh-CN" sz="1800" dirty="0"/>
          </a:p>
          <a:p>
            <a:pPr lvl="1">
              <a:lnSpc>
                <a:spcPct val="125000"/>
              </a:lnSpc>
            </a:pPr>
            <a:endParaRPr lang="en-US" altLang="zh-CN" dirty="0"/>
          </a:p>
          <a:p>
            <a:pPr>
              <a:lnSpc>
                <a:spcPct val="135000"/>
              </a:lnSpc>
              <a:spcBef>
                <a:spcPts val="0"/>
              </a:spcBef>
            </a:pPr>
            <a:r>
              <a:rPr lang="zh-CN" altLang="en-US" sz="2000" b="1" dirty="0">
                <a:solidFill>
                  <a:srgbClr val="C00000"/>
                </a:solidFill>
              </a:rPr>
              <a:t>消息队列以先进先出的方式异步处理消息，可起到消息缓冲作用</a:t>
            </a:r>
            <a:endParaRPr lang="en-US" altLang="zh-CN" sz="2000" b="1" dirty="0">
              <a:solidFill>
                <a:srgbClr val="C00000"/>
              </a:solidFill>
            </a:endParaRPr>
          </a:p>
        </p:txBody>
      </p:sp>
    </p:spTree>
    <p:extLst>
      <p:ext uri="{BB962C8B-B14F-4D97-AF65-F5344CB8AC3E}">
        <p14:creationId xmlns:p14="http://schemas.microsoft.com/office/powerpoint/2010/main" val="30144897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队列控制块</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313898" y="974954"/>
            <a:ext cx="10521250" cy="5219369"/>
          </a:xfrm>
        </p:spPr>
        <p:txBody>
          <a:bodyPr>
            <a:normAutofit/>
          </a:bodyPr>
          <a:lstStyle/>
          <a:p>
            <a:r>
              <a:rPr lang="zh-CN" altLang="en-US" sz="2000" b="1" dirty="0">
                <a:solidFill>
                  <a:schemeClr val="tx1"/>
                </a:solidFill>
              </a:rPr>
              <a:t>消息队列通过一个</a:t>
            </a:r>
            <a:r>
              <a:rPr lang="zh-CN" altLang="en-US" sz="2000" b="1" dirty="0">
                <a:solidFill>
                  <a:srgbClr val="FF0000"/>
                </a:solidFill>
              </a:rPr>
              <a:t>队列控制块</a:t>
            </a:r>
            <a:r>
              <a:rPr lang="zh-CN" altLang="en-US" sz="2000" b="1" dirty="0">
                <a:solidFill>
                  <a:schemeClr val="tx1"/>
                </a:solidFill>
              </a:rPr>
              <a:t>对队列状态和消息读写进行控制</a:t>
            </a:r>
            <a:endParaRPr lang="en-US" altLang="zh-CN" sz="2000" b="1" dirty="0">
              <a:solidFill>
                <a:schemeClr val="tx1"/>
              </a:solidFill>
            </a:endParaRPr>
          </a:p>
          <a:p>
            <a:r>
              <a:rPr lang="zh-CN" altLang="en-US" sz="2000" b="1" dirty="0">
                <a:solidFill>
                  <a:srgbClr val="C00000"/>
                </a:solidFill>
              </a:rPr>
              <a:t>队列控制块：</a:t>
            </a:r>
            <a:endParaRPr lang="en-US" altLang="zh-CN" sz="2000" b="1" dirty="0">
              <a:solidFill>
                <a:srgbClr val="C00000"/>
              </a:solidFill>
            </a:endParaRPr>
          </a:p>
          <a:p>
            <a:pPr marL="457177" lvl="1" indent="0">
              <a:buNone/>
            </a:pPr>
            <a:r>
              <a:rPr lang="en-US" altLang="zh-CN" sz="1800" dirty="0" err="1"/>
              <a:t>typedef</a:t>
            </a:r>
            <a:r>
              <a:rPr lang="en-US" altLang="zh-CN" sz="1800" dirty="0"/>
              <a:t> </a:t>
            </a:r>
            <a:r>
              <a:rPr lang="en-US" altLang="zh-CN" sz="1800" dirty="0" err="1"/>
              <a:t>struct</a:t>
            </a:r>
            <a:r>
              <a:rPr lang="en-US" altLang="zh-CN" sz="1800" dirty="0"/>
              <a:t> </a:t>
            </a:r>
            <a:r>
              <a:rPr lang="en-US" altLang="zh-CN" sz="1800" dirty="0" err="1"/>
              <a:t>tagQueueCB</a:t>
            </a:r>
            <a:r>
              <a:rPr lang="en-US" altLang="zh-CN" sz="1800" dirty="0"/>
              <a:t> {</a:t>
            </a:r>
          </a:p>
          <a:p>
            <a:pPr marL="457177" lvl="1" indent="0">
              <a:buNone/>
            </a:pPr>
            <a:r>
              <a:rPr lang="en-US" altLang="zh-CN" sz="1800" dirty="0"/>
              <a:t>UINT8 *</a:t>
            </a:r>
            <a:r>
              <a:rPr lang="en-US" altLang="zh-CN" sz="1800" dirty="0" err="1"/>
              <a:t>pucQueue</a:t>
            </a:r>
            <a:r>
              <a:rPr lang="en-US" altLang="zh-CN" sz="1800" dirty="0"/>
              <a:t>; /*&lt; </a:t>
            </a:r>
            <a:r>
              <a:rPr lang="zh-CN" altLang="en-US" sz="1800" dirty="0"/>
              <a:t>队列指针 *</a:t>
            </a:r>
            <a:r>
              <a:rPr lang="en-US" altLang="zh-CN" sz="1800" dirty="0"/>
              <a:t>/</a:t>
            </a:r>
          </a:p>
          <a:p>
            <a:pPr marL="457177" lvl="1" indent="0">
              <a:buNone/>
            </a:pPr>
            <a:r>
              <a:rPr lang="en-US" altLang="zh-CN" sz="1800" dirty="0"/>
              <a:t>UINT16 </a:t>
            </a:r>
            <a:r>
              <a:rPr lang="en-US" altLang="zh-CN" sz="1800" dirty="0" err="1"/>
              <a:t>usQueueState</a:t>
            </a:r>
            <a:r>
              <a:rPr lang="en-US" altLang="zh-CN" sz="1800" dirty="0"/>
              <a:t>; /*&lt; </a:t>
            </a:r>
            <a:r>
              <a:rPr lang="zh-CN" altLang="en-US" sz="1800" dirty="0"/>
              <a:t>队列状态 *</a:t>
            </a:r>
            <a:r>
              <a:rPr lang="en-US" altLang="zh-CN" sz="1800" dirty="0"/>
              <a:t>/</a:t>
            </a:r>
          </a:p>
          <a:p>
            <a:pPr marL="457177" lvl="1" indent="0">
              <a:buNone/>
            </a:pPr>
            <a:r>
              <a:rPr lang="en-US" altLang="zh-CN" sz="1800" dirty="0"/>
              <a:t>UINT16 </a:t>
            </a:r>
            <a:r>
              <a:rPr lang="en-US" altLang="zh-CN" sz="1800" dirty="0" err="1"/>
              <a:t>usQueueLen</a:t>
            </a:r>
            <a:r>
              <a:rPr lang="en-US" altLang="zh-CN" sz="1800" dirty="0"/>
              <a:t>; /*&lt; </a:t>
            </a:r>
            <a:r>
              <a:rPr lang="zh-CN" altLang="en-US" sz="1800" dirty="0"/>
              <a:t>队列长度 *</a:t>
            </a:r>
            <a:r>
              <a:rPr lang="en-US" altLang="zh-CN" sz="1800" dirty="0"/>
              <a:t>/</a:t>
            </a:r>
          </a:p>
          <a:p>
            <a:pPr marL="457177" lvl="1" indent="0">
              <a:buNone/>
            </a:pPr>
            <a:r>
              <a:rPr lang="en-US" altLang="zh-CN" sz="1800" dirty="0"/>
              <a:t>UINT16 </a:t>
            </a:r>
            <a:r>
              <a:rPr lang="en-US" altLang="zh-CN" sz="1800" dirty="0" err="1"/>
              <a:t>usQueueSize</a:t>
            </a:r>
            <a:r>
              <a:rPr lang="en-US" altLang="zh-CN" sz="1800" dirty="0"/>
              <a:t>; /*&lt; </a:t>
            </a:r>
            <a:r>
              <a:rPr lang="zh-CN" altLang="en-US" sz="1800" dirty="0"/>
              <a:t>消息节点大小 *</a:t>
            </a:r>
            <a:r>
              <a:rPr lang="en-US" altLang="zh-CN" sz="1800" dirty="0"/>
              <a:t>/</a:t>
            </a:r>
          </a:p>
          <a:p>
            <a:pPr marL="457177" lvl="1" indent="0">
              <a:buNone/>
            </a:pPr>
            <a:r>
              <a:rPr lang="en-US" altLang="zh-CN" sz="1800" dirty="0"/>
              <a:t>UINT16 </a:t>
            </a:r>
            <a:r>
              <a:rPr lang="en-US" altLang="zh-CN" sz="1800" dirty="0" err="1"/>
              <a:t>usQueueID</a:t>
            </a:r>
            <a:r>
              <a:rPr lang="en-US" altLang="zh-CN" sz="1800" dirty="0"/>
              <a:t>; /*&lt; </a:t>
            </a:r>
            <a:r>
              <a:rPr lang="zh-CN" altLang="en-US" sz="1800" dirty="0"/>
              <a:t>队列 </a:t>
            </a:r>
            <a:r>
              <a:rPr lang="en-US" altLang="zh-CN" sz="1800" dirty="0"/>
              <a:t>ID */</a:t>
            </a:r>
          </a:p>
          <a:p>
            <a:pPr marL="457177" lvl="1" indent="0">
              <a:buNone/>
            </a:pPr>
            <a:r>
              <a:rPr lang="en-US" altLang="zh-CN" sz="1800" dirty="0"/>
              <a:t>UINT16 </a:t>
            </a:r>
            <a:r>
              <a:rPr lang="en-US" altLang="zh-CN" sz="1800" dirty="0" err="1"/>
              <a:t>usQueueHead</a:t>
            </a:r>
            <a:r>
              <a:rPr lang="en-US" altLang="zh-CN" sz="1800" dirty="0"/>
              <a:t>; /*&lt; </a:t>
            </a:r>
            <a:r>
              <a:rPr lang="zh-CN" altLang="en-US" sz="1800" dirty="0"/>
              <a:t>消息头节点位置（数组下标）*</a:t>
            </a:r>
            <a:r>
              <a:rPr lang="en-US" altLang="zh-CN" sz="1800" dirty="0"/>
              <a:t>/</a:t>
            </a:r>
          </a:p>
          <a:p>
            <a:pPr marL="457177" lvl="1" indent="0">
              <a:buNone/>
            </a:pPr>
            <a:r>
              <a:rPr lang="en-US" altLang="zh-CN" sz="1800" dirty="0"/>
              <a:t>UINT16 </a:t>
            </a:r>
            <a:r>
              <a:rPr lang="en-US" altLang="zh-CN" sz="1800" dirty="0" err="1"/>
              <a:t>usQueueTail</a:t>
            </a:r>
            <a:r>
              <a:rPr lang="en-US" altLang="zh-CN" sz="1800" dirty="0"/>
              <a:t>; /*&lt; </a:t>
            </a:r>
            <a:r>
              <a:rPr lang="zh-CN" altLang="en-US" sz="1800" dirty="0"/>
              <a:t>消息尾节点位置（数组下标）*</a:t>
            </a:r>
            <a:r>
              <a:rPr lang="en-US" altLang="zh-CN" sz="1800" dirty="0"/>
              <a:t>/</a:t>
            </a:r>
          </a:p>
          <a:p>
            <a:pPr marL="457177" lvl="1" indent="0">
              <a:buNone/>
            </a:pPr>
            <a:r>
              <a:rPr lang="en-US" altLang="zh-CN" sz="1800" dirty="0"/>
              <a:t>UINT16 </a:t>
            </a:r>
            <a:r>
              <a:rPr lang="en-US" altLang="zh-CN" sz="1800" dirty="0" err="1"/>
              <a:t>usReadWriteableCnt</a:t>
            </a:r>
            <a:r>
              <a:rPr lang="en-US" altLang="zh-CN" sz="1800" dirty="0"/>
              <a:t>[2]; /*&lt; </a:t>
            </a:r>
            <a:r>
              <a:rPr lang="zh-CN" altLang="en-US" sz="1800" dirty="0"/>
              <a:t>可读或可写消息的计数，</a:t>
            </a:r>
            <a:r>
              <a:rPr lang="en-US" altLang="zh-CN" sz="1800" dirty="0"/>
              <a:t>0</a:t>
            </a:r>
            <a:r>
              <a:rPr lang="zh-CN" altLang="en-US" sz="1800" dirty="0"/>
              <a:t>：可读，</a:t>
            </a:r>
            <a:r>
              <a:rPr lang="en-US" altLang="zh-CN" sz="1800" dirty="0"/>
              <a:t>1</a:t>
            </a:r>
            <a:r>
              <a:rPr lang="zh-CN" altLang="en-US" sz="1800" dirty="0"/>
              <a:t>：可写* </a:t>
            </a:r>
            <a:r>
              <a:rPr lang="en-US" altLang="zh-CN" sz="1800" dirty="0"/>
              <a:t>/</a:t>
            </a:r>
          </a:p>
          <a:p>
            <a:pPr marL="457177" lvl="1" indent="0">
              <a:buNone/>
            </a:pPr>
            <a:r>
              <a:rPr lang="en-US" altLang="zh-CN" sz="1800" dirty="0"/>
              <a:t>LOS_DL_LIST </a:t>
            </a:r>
            <a:r>
              <a:rPr lang="en-US" altLang="zh-CN" sz="1800" dirty="0" err="1"/>
              <a:t>stReadWriteList</a:t>
            </a:r>
            <a:r>
              <a:rPr lang="en-US" altLang="zh-CN" sz="1800" dirty="0"/>
              <a:t>[2]; /*&lt; </a:t>
            </a:r>
            <a:r>
              <a:rPr lang="zh-CN" altLang="en-US" sz="1800" dirty="0"/>
              <a:t>指向要读取或写入</a:t>
            </a:r>
            <a:r>
              <a:rPr lang="zh-CN" altLang="en-US" sz="1800" dirty="0">
                <a:solidFill>
                  <a:srgbClr val="FF0000"/>
                </a:solidFill>
              </a:rPr>
              <a:t>任务的链表的指针</a:t>
            </a:r>
            <a:r>
              <a:rPr lang="zh-CN" altLang="en-US" sz="1800" dirty="0"/>
              <a:t>，即读写阻塞的任务     </a:t>
            </a:r>
            <a:r>
              <a:rPr lang="en-US" altLang="zh-CN" sz="1800" dirty="0"/>
              <a:t>0</a:t>
            </a:r>
            <a:r>
              <a:rPr lang="zh-CN" altLang="en-US" sz="1800" dirty="0"/>
              <a:t>：读列表，</a:t>
            </a:r>
            <a:r>
              <a:rPr lang="en-US" altLang="zh-CN" sz="1800" dirty="0"/>
              <a:t>1</a:t>
            </a:r>
            <a:r>
              <a:rPr lang="zh-CN" altLang="en-US" sz="1800" dirty="0"/>
              <a:t>：写列表</a:t>
            </a:r>
            <a:r>
              <a:rPr lang="en-US" altLang="zh-CN" sz="1800" dirty="0"/>
              <a:t>*/</a:t>
            </a:r>
          </a:p>
          <a:p>
            <a:pPr marL="457177" lvl="1" indent="0">
              <a:buNone/>
            </a:pPr>
            <a:r>
              <a:rPr lang="en-US" altLang="zh-CN" sz="1800" dirty="0"/>
              <a:t>LOS_DL_LIST </a:t>
            </a:r>
            <a:r>
              <a:rPr lang="en-US" altLang="zh-CN" sz="1800" dirty="0" err="1"/>
              <a:t>stMemList</a:t>
            </a:r>
            <a:r>
              <a:rPr lang="en-US" altLang="zh-CN" sz="1800" dirty="0"/>
              <a:t>; / * &lt;</a:t>
            </a:r>
            <a:r>
              <a:rPr lang="zh-CN" altLang="en-US" sz="1800" dirty="0"/>
              <a:t>指向</a:t>
            </a:r>
            <a:r>
              <a:rPr lang="zh-CN" altLang="en-US" sz="1800" dirty="0">
                <a:solidFill>
                  <a:srgbClr val="FF0000"/>
                </a:solidFill>
              </a:rPr>
              <a:t>内存链表的指针</a:t>
            </a:r>
            <a:r>
              <a:rPr lang="zh-CN" altLang="en-US" sz="1800" dirty="0"/>
              <a:t>，用于</a:t>
            </a:r>
            <a:r>
              <a:rPr lang="en-US" altLang="zh-CN" sz="1800" dirty="0" err="1"/>
              <a:t>LiteOS</a:t>
            </a:r>
            <a:r>
              <a:rPr lang="zh-CN" altLang="en-US" sz="1800" dirty="0"/>
              <a:t>内存管理* </a:t>
            </a:r>
            <a:r>
              <a:rPr lang="en-US" altLang="zh-CN" sz="1800" dirty="0"/>
              <a:t>/</a:t>
            </a:r>
          </a:p>
          <a:p>
            <a:pPr marL="457177" lvl="1" indent="0">
              <a:buNone/>
            </a:pPr>
            <a:r>
              <a:rPr lang="en-US" altLang="zh-CN" sz="1800" dirty="0"/>
              <a:t>} QUEUE_CB_S;</a:t>
            </a:r>
          </a:p>
          <a:p>
            <a:endParaRPr lang="en-US" altLang="zh-CN" dirty="0"/>
          </a:p>
        </p:txBody>
      </p:sp>
    </p:spTree>
    <p:extLst>
      <p:ext uri="{BB962C8B-B14F-4D97-AF65-F5344CB8AC3E}">
        <p14:creationId xmlns:p14="http://schemas.microsoft.com/office/powerpoint/2010/main" val="38257359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队列读写原理</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418338" y="902081"/>
            <a:ext cx="4958334" cy="4351338"/>
          </a:xfrm>
        </p:spPr>
        <p:txBody>
          <a:bodyPr>
            <a:normAutofit/>
          </a:bodyPr>
          <a:lstStyle/>
          <a:p>
            <a:r>
              <a:rPr lang="zh-CN" altLang="en-US" sz="2000" b="1" dirty="0">
                <a:solidFill>
                  <a:schemeClr val="tx1"/>
                </a:solidFill>
              </a:rPr>
              <a:t>消息队列为一个</a:t>
            </a:r>
            <a:r>
              <a:rPr lang="zh-CN" altLang="en-US" sz="2000" b="1" dirty="0">
                <a:solidFill>
                  <a:srgbClr val="FF0000"/>
                </a:solidFill>
              </a:rPr>
              <a:t>固定长度的数组</a:t>
            </a:r>
            <a:r>
              <a:rPr lang="zh-CN" altLang="en-US" sz="2000" b="1" dirty="0">
                <a:solidFill>
                  <a:schemeClr val="tx1"/>
                </a:solidFill>
              </a:rPr>
              <a:t>，元素大小为消息大小</a:t>
            </a:r>
            <a:endParaRPr lang="en-US" altLang="zh-CN" sz="2000" b="1" dirty="0">
              <a:solidFill>
                <a:schemeClr val="tx1"/>
              </a:solidFill>
            </a:endParaRPr>
          </a:p>
          <a:p>
            <a:r>
              <a:rPr lang="zh-CN" altLang="en-US" sz="2000" b="1" dirty="0">
                <a:solidFill>
                  <a:srgbClr val="FF0000"/>
                </a:solidFill>
              </a:rPr>
              <a:t>两个指针</a:t>
            </a:r>
            <a:r>
              <a:rPr lang="zh-CN" altLang="en-US" sz="2000" b="1" dirty="0">
                <a:solidFill>
                  <a:schemeClr val="tx1"/>
                </a:solidFill>
              </a:rPr>
              <a:t>：读消息地址</a:t>
            </a:r>
            <a:r>
              <a:rPr lang="en-US" altLang="zh-CN" sz="2000" b="1" dirty="0">
                <a:solidFill>
                  <a:schemeClr val="tx1"/>
                </a:solidFill>
              </a:rPr>
              <a:t>Head</a:t>
            </a:r>
            <a:r>
              <a:rPr lang="zh-CN" altLang="en-US" sz="2000" b="1" dirty="0">
                <a:solidFill>
                  <a:schemeClr val="tx1"/>
                </a:solidFill>
              </a:rPr>
              <a:t>和写消息地址</a:t>
            </a:r>
            <a:r>
              <a:rPr lang="en-US" altLang="zh-CN" sz="2000" b="1" dirty="0">
                <a:solidFill>
                  <a:schemeClr val="tx1"/>
                </a:solidFill>
              </a:rPr>
              <a:t>Tail</a:t>
            </a:r>
          </a:p>
          <a:p>
            <a:r>
              <a:rPr lang="en-US" altLang="zh-CN" sz="2000" b="1" dirty="0">
                <a:solidFill>
                  <a:schemeClr val="tx1"/>
                </a:solidFill>
              </a:rPr>
              <a:t>Head</a:t>
            </a:r>
            <a:r>
              <a:rPr lang="zh-CN" altLang="en-US" sz="2000" b="1" dirty="0">
                <a:solidFill>
                  <a:schemeClr val="tx1"/>
                </a:solidFill>
              </a:rPr>
              <a:t>与</a:t>
            </a:r>
            <a:r>
              <a:rPr lang="en-US" altLang="zh-CN" sz="2000" b="1" dirty="0">
                <a:solidFill>
                  <a:schemeClr val="tx1"/>
                </a:solidFill>
              </a:rPr>
              <a:t>Tail</a:t>
            </a:r>
            <a:r>
              <a:rPr lang="zh-CN" altLang="en-US" sz="2000" b="1" dirty="0">
                <a:solidFill>
                  <a:schemeClr val="tx1"/>
                </a:solidFill>
              </a:rPr>
              <a:t>之间</a:t>
            </a:r>
            <a:r>
              <a:rPr lang="zh-CN" altLang="en-US" sz="2000" b="1" dirty="0">
                <a:solidFill>
                  <a:srgbClr val="FF0000"/>
                </a:solidFill>
              </a:rPr>
              <a:t>存放消息</a:t>
            </a:r>
            <a:r>
              <a:rPr lang="zh-CN" altLang="en-US" sz="2000" b="1" dirty="0">
                <a:solidFill>
                  <a:schemeClr val="tx1"/>
                </a:solidFill>
              </a:rPr>
              <a:t>，其他节点为空</a:t>
            </a:r>
            <a:endParaRPr lang="en-US" altLang="zh-CN" sz="2000" b="1" dirty="0">
              <a:solidFill>
                <a:schemeClr val="tx1"/>
              </a:solidFill>
            </a:endParaRPr>
          </a:p>
          <a:p>
            <a:endParaRPr lang="en-US" altLang="zh-CN" sz="2000" b="1" dirty="0">
              <a:solidFill>
                <a:srgbClr val="C00000"/>
              </a:solidFill>
            </a:endParaRPr>
          </a:p>
        </p:txBody>
      </p:sp>
    </p:spTree>
    <p:extLst>
      <p:ext uri="{BB962C8B-B14F-4D97-AF65-F5344CB8AC3E}">
        <p14:creationId xmlns:p14="http://schemas.microsoft.com/office/powerpoint/2010/main" val="5481358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队列读写原理</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120" y="1567090"/>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243841" y="1134006"/>
            <a:ext cx="5288279" cy="3538198"/>
          </a:xfrm>
        </p:spPr>
        <p:txBody>
          <a:bodyPr>
            <a:normAutofit/>
          </a:bodyPr>
          <a:lstStyle/>
          <a:p>
            <a:r>
              <a:rPr lang="zh-CN" altLang="en-US" sz="2000" b="1" dirty="0">
                <a:solidFill>
                  <a:srgbClr val="C00000"/>
                </a:solidFill>
              </a:rPr>
              <a:t>初始创建</a:t>
            </a:r>
            <a:endParaRPr lang="en-US" altLang="zh-CN" sz="2000" b="1" dirty="0">
              <a:solidFill>
                <a:srgbClr val="C00000"/>
              </a:solidFill>
            </a:endParaRPr>
          </a:p>
          <a:p>
            <a:pPr lvl="1"/>
            <a:r>
              <a:rPr lang="zh-CN" altLang="en-US" sz="1800" dirty="0"/>
              <a:t>系统根据</a:t>
            </a:r>
            <a:r>
              <a:rPr lang="zh-CN" altLang="en-US" sz="2000" b="1" dirty="0">
                <a:solidFill>
                  <a:srgbClr val="FF0000"/>
                </a:solidFill>
              </a:rPr>
              <a:t>队列长度</a:t>
            </a:r>
            <a:r>
              <a:rPr lang="zh-CN" altLang="en-US" sz="1800" dirty="0"/>
              <a:t>和</a:t>
            </a:r>
            <a:r>
              <a:rPr lang="zh-CN" altLang="en-US" sz="2000" b="1" dirty="0">
                <a:solidFill>
                  <a:srgbClr val="FF0000"/>
                </a:solidFill>
              </a:rPr>
              <a:t>消息大小</a:t>
            </a:r>
            <a:r>
              <a:rPr lang="zh-CN" altLang="en-US" sz="1800" dirty="0"/>
              <a:t>申请内存空间</a:t>
            </a:r>
            <a:endParaRPr lang="en-US" altLang="zh-CN" sz="1800" dirty="0"/>
          </a:p>
          <a:p>
            <a:pPr lvl="1"/>
            <a:r>
              <a:rPr lang="en-US" altLang="zh-CN" sz="1800" dirty="0"/>
              <a:t>Head</a:t>
            </a:r>
            <a:r>
              <a:rPr lang="zh-CN" altLang="en-US" sz="1800" dirty="0"/>
              <a:t>和</a:t>
            </a:r>
            <a:r>
              <a:rPr lang="en-US" altLang="zh-CN" sz="1800" dirty="0"/>
              <a:t>Tail</a:t>
            </a:r>
            <a:r>
              <a:rPr lang="zh-CN" altLang="en-US" sz="1800" dirty="0"/>
              <a:t>指向</a:t>
            </a:r>
            <a:r>
              <a:rPr lang="zh-CN" altLang="en-US" sz="2000" b="1" dirty="0">
                <a:solidFill>
                  <a:srgbClr val="FF0000"/>
                </a:solidFill>
              </a:rPr>
              <a:t>队列起始地址</a:t>
            </a:r>
            <a:endParaRPr lang="en-US" altLang="zh-CN" sz="2000" b="1" dirty="0">
              <a:solidFill>
                <a:srgbClr val="FF0000"/>
              </a:solidFill>
            </a:endParaRPr>
          </a:p>
        </p:txBody>
      </p:sp>
      <p:sp>
        <p:nvSpPr>
          <p:cNvPr id="11" name="内容占位符 2">
            <a:extLst>
              <a:ext uri="{FF2B5EF4-FFF2-40B4-BE49-F238E27FC236}">
                <a16:creationId xmlns:a16="http://schemas.microsoft.com/office/drawing/2014/main" id="{ABE6EB6A-F530-41A6-8CD6-17E5BFB335B4}"/>
              </a:ext>
            </a:extLst>
          </p:cNvPr>
          <p:cNvSpPr txBox="1">
            <a:spLocks/>
          </p:cNvSpPr>
          <p:nvPr/>
        </p:nvSpPr>
        <p:spPr>
          <a:xfrm>
            <a:off x="243841" y="2518489"/>
            <a:ext cx="5288279" cy="1977311"/>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消息写入</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向</a:t>
            </a:r>
            <a:r>
              <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rPr>
              <a:t>Tail</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指针</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所指消息结点</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写入</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消息</a:t>
            </a:r>
            <a:endPar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Tail</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移动至下一个结点</a:t>
            </a:r>
            <a:endPar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a:p>
            <a:pPr marL="1142942" marR="0" lvl="2"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若</a:t>
            </a:r>
            <a:r>
              <a:rPr kumimoji="0" lang="en-US" altLang="zh-CN" sz="1600" b="0" i="0" u="none" strike="noStrike" kern="1200" cap="none" spc="0" normalizeH="0" baseline="0" noProof="0" dirty="0">
                <a:ln>
                  <a:noFill/>
                </a:ln>
                <a:solidFill>
                  <a:srgbClr val="000000"/>
                </a:solidFill>
                <a:effectLst/>
                <a:uLnTx/>
                <a:uFillTx/>
                <a:latin typeface="Microsoft YaHei"/>
                <a:ea typeface="Microsoft YaHei"/>
                <a:cs typeface="+mn-cs"/>
              </a:rPr>
              <a:t>Tail</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到达队列尾，</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回卷</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至队列起始地址</a:t>
            </a:r>
            <a:endParaRPr kumimoji="0" lang="en-US" altLang="zh-CN" sz="1600" b="0" i="0" u="none" strike="noStrike" kern="1200" cap="none" spc="0" normalizeH="0" baseline="0" noProof="0" dirty="0">
              <a:ln>
                <a:noFill/>
              </a:ln>
              <a:solidFill>
                <a:srgbClr val="000000"/>
              </a:solidFill>
              <a:effectLst/>
              <a:uLnTx/>
              <a:uFillTx/>
              <a:latin typeface="Microsoft YaHei"/>
              <a:ea typeface="Microsoft YaHei"/>
              <a:cs typeface="+mn-cs"/>
            </a:endParaRPr>
          </a:p>
          <a:p>
            <a:pPr marL="1142942" marR="0" lvl="2"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若移动后消息结点</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被占用</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，则队列</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已满</a:t>
            </a:r>
            <a:endPar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endParaRPr>
          </a:p>
        </p:txBody>
      </p:sp>
    </p:spTree>
    <p:extLst>
      <p:ext uri="{BB962C8B-B14F-4D97-AF65-F5344CB8AC3E}">
        <p14:creationId xmlns:p14="http://schemas.microsoft.com/office/powerpoint/2010/main" val="170419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队列读写原理</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7" y="1794584"/>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a:extLst>
              <a:ext uri="{FF2B5EF4-FFF2-40B4-BE49-F238E27FC236}">
                <a16:creationId xmlns:a16="http://schemas.microsoft.com/office/drawing/2014/main" id="{ABE6EB6A-F530-41A6-8CD6-17E5BFB335B4}"/>
              </a:ext>
            </a:extLst>
          </p:cNvPr>
          <p:cNvSpPr txBox="1">
            <a:spLocks/>
          </p:cNvSpPr>
          <p:nvPr/>
        </p:nvSpPr>
        <p:spPr>
          <a:xfrm>
            <a:off x="448056" y="1206224"/>
            <a:ext cx="5138927" cy="4351338"/>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消息读取</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从</a:t>
            </a:r>
            <a:r>
              <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rPr>
              <a:t>Head</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指针</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所指消息结点</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读取消息</a:t>
            </a:r>
            <a:endPar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Head</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移动至下一个结点</a:t>
            </a:r>
            <a:endPar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a:p>
            <a:pPr marL="1142942" marR="0" lvl="2"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若</a:t>
            </a:r>
            <a:r>
              <a:rPr kumimoji="0" lang="en-US" altLang="zh-CN" sz="1600" b="0" i="0" u="none" strike="noStrike" kern="1200" cap="none" spc="0" normalizeH="0" baseline="0" noProof="0" dirty="0">
                <a:ln>
                  <a:noFill/>
                </a:ln>
                <a:solidFill>
                  <a:srgbClr val="000000"/>
                </a:solidFill>
                <a:effectLst/>
                <a:uLnTx/>
                <a:uFillTx/>
                <a:latin typeface="Microsoft YaHei"/>
                <a:ea typeface="Microsoft YaHei"/>
                <a:cs typeface="+mn-cs"/>
              </a:rPr>
              <a:t>Head</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到达</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队列尾</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回卷</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至队列起始地址</a:t>
            </a:r>
            <a:endParaRPr kumimoji="0" lang="en-US" altLang="zh-CN" sz="1600" b="0" i="0" u="none" strike="noStrike" kern="1200" cap="none" spc="0" normalizeH="0" baseline="0" noProof="0" dirty="0">
              <a:ln>
                <a:noFill/>
              </a:ln>
              <a:solidFill>
                <a:srgbClr val="000000"/>
              </a:solidFill>
              <a:effectLst/>
              <a:uLnTx/>
              <a:uFillTx/>
              <a:latin typeface="Microsoft YaHei"/>
              <a:ea typeface="Microsoft YaHei"/>
              <a:cs typeface="+mn-cs"/>
            </a:endParaRPr>
          </a:p>
          <a:p>
            <a:pPr marL="1142942" marR="0" lvl="2"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若移动后消息结点为</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空闲</a:t>
            </a:r>
            <a:r>
              <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rPr>
              <a:t>，则队列</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为空</a:t>
            </a:r>
            <a:endPar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endParaRPr>
          </a:p>
          <a:p>
            <a:pPr marL="1142942" marR="0" lvl="2"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1600" b="0"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13" name="内容占位符 2">
            <a:extLst>
              <a:ext uri="{FF2B5EF4-FFF2-40B4-BE49-F238E27FC236}">
                <a16:creationId xmlns:a16="http://schemas.microsoft.com/office/drawing/2014/main" id="{ABE6EB6A-F530-41A6-8CD6-17E5BFB335B4}"/>
              </a:ext>
            </a:extLst>
          </p:cNvPr>
          <p:cNvSpPr txBox="1">
            <a:spLocks/>
          </p:cNvSpPr>
          <p:nvPr/>
        </p:nvSpPr>
        <p:spPr>
          <a:xfrm>
            <a:off x="448057" y="3221964"/>
            <a:ext cx="4876890" cy="1766449"/>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131" marR="0" lvl="0" indent="-457131" algn="l" defTabSz="914354" rtl="0" eaLnBrk="1" fontAlgn="auto" latinLnBrk="0" hangingPunct="1">
              <a:lnSpc>
                <a:spcPct val="120000"/>
              </a:lnSpc>
              <a:spcBef>
                <a:spcPts val="1000"/>
              </a:spcBef>
              <a:spcAft>
                <a:spcPts val="0"/>
              </a:spcAft>
              <a:buClrTx/>
              <a:buSzPct val="80000"/>
              <a:buFont typeface="Wingdings" pitchFamily="2" charset="2"/>
              <a:buChar char="l"/>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队列删除</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根据队列</a:t>
            </a:r>
            <a:r>
              <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rPr>
              <a:t>ID</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找到</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对应消息队列</a:t>
            </a:r>
            <a:endParaRPr kumimoji="0" lang="en-US" altLang="zh-CN"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更改队列状态为</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未使用</a:t>
            </a:r>
            <a:endPar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endParaRPr>
          </a:p>
          <a:p>
            <a:pPr marL="685766" marR="0" lvl="1" indent="-228589" algn="l" defTabSz="914354"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释放</a:t>
            </a:r>
            <a:r>
              <a:rPr kumimoji="0" lang="zh-CN" altLang="en-US" sz="1800" b="0" i="0" u="none" strike="noStrike" kern="1200" cap="none" spc="0" normalizeH="0" baseline="0" noProof="0" dirty="0">
                <a:ln>
                  <a:noFill/>
                </a:ln>
                <a:solidFill>
                  <a:srgbClr val="000000">
                    <a:lumMod val="75000"/>
                    <a:lumOff val="25000"/>
                  </a:srgbClr>
                </a:solidFill>
                <a:effectLst/>
                <a:uLnTx/>
                <a:uFillTx/>
                <a:latin typeface="Microsoft YaHei"/>
                <a:ea typeface="Microsoft YaHei"/>
                <a:cs typeface="+mn-cs"/>
              </a:rPr>
              <a:t>队列所占</a:t>
            </a:r>
            <a:r>
              <a:rPr kumimoji="0" lang="zh-CN" altLang="en-US" sz="2000" b="1" i="0" u="none" strike="noStrike" kern="1200" cap="none" spc="0" normalizeH="0" baseline="0" noProof="0" dirty="0">
                <a:ln>
                  <a:noFill/>
                </a:ln>
                <a:solidFill>
                  <a:srgbClr val="FF0000"/>
                </a:solidFill>
                <a:effectLst/>
                <a:uLnTx/>
                <a:uFillTx/>
                <a:latin typeface="Microsoft YaHei"/>
                <a:ea typeface="Microsoft YaHei"/>
                <a:cs typeface="+mn-cs"/>
              </a:rPr>
              <a:t>空间</a:t>
            </a:r>
            <a:endParaRPr kumimoji="0" lang="en-US" altLang="zh-CN" sz="2000" b="1" i="0" u="none" strike="noStrike" kern="1200" cap="none" spc="0" normalizeH="0" baseline="0" noProof="0" dirty="0">
              <a:ln>
                <a:noFill/>
              </a:ln>
              <a:solidFill>
                <a:srgbClr val="FF0000"/>
              </a:solidFill>
              <a:effectLst/>
              <a:uLnTx/>
              <a:uFillTx/>
              <a:latin typeface="Microsoft YaHei"/>
              <a:ea typeface="Microsoft YaHei"/>
              <a:cs typeface="+mn-cs"/>
            </a:endParaRPr>
          </a:p>
        </p:txBody>
      </p:sp>
    </p:spTree>
    <p:extLst>
      <p:ext uri="{BB962C8B-B14F-4D97-AF65-F5344CB8AC3E}">
        <p14:creationId xmlns:p14="http://schemas.microsoft.com/office/powerpoint/2010/main" val="31550881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627797" y="698799"/>
            <a:ext cx="11064240" cy="46782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、创建消息队列</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要使用消息队列，首先要创建一个消息队列，创建函数原型如下：</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CHAR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pcQueueName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消息队列名称</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C00000"/>
                </a:solidFill>
                <a:effectLst/>
                <a:uLnTx/>
                <a:uFillTx/>
                <a:latin typeface="Microsoft YaHei"/>
                <a:ea typeface="Microsoft YaHei"/>
                <a:cs typeface="+mn-cs"/>
              </a:rPr>
              <a:t>LiteOS</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保留， 暂时未使用</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UINT16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usLen</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队列长度， 值范围是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1~0xFFFF</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节点数量</a:t>
            </a:r>
            <a:b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puwQueueID</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成功创建的队列控制结构的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，需要用户在创建前定义。</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通过队列</a:t>
            </a: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来区分不同的消息队列</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uwFlags</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队列模式， 保留参数，暂不使用。</a:t>
            </a:r>
            <a:b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UINT16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usMaxMsgSize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最大消息大小（字节） ， 值范围为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1~(0xFFFF-4)</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节点大小</a:t>
            </a:r>
            <a:endPar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例：创建一个消息总数</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128</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，每个消息长度不超过</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16</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字节。</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先定义一个队列</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（全局变量）</a:t>
            </a:r>
            <a:endPar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再定义一个返回值，并初始化为成功</a:t>
            </a:r>
            <a:endPar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“Test  Queue”,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队列名称（没啥用）</a:t>
            </a:r>
            <a:endPar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128</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队列的长度，</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最多</a:t>
            </a: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128</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个消息</a:t>
            </a:r>
            <a:endPar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&amp;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（句柄），</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创建成功会被赋值</a:t>
            </a:r>
            <a:b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0,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C00000"/>
                </a:solidFill>
                <a:effectLst/>
                <a:uLnTx/>
                <a:uFillTx/>
                <a:latin typeface="Microsoft YaHei"/>
                <a:ea typeface="Microsoft YaHei"/>
                <a:cs typeface="+mn-cs"/>
              </a:rPr>
              <a:t>LiteOS</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暂时保留，没用</a:t>
            </a:r>
            <a:b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16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每个消息的长度</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不超过</a:t>
            </a: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16</a:t>
            </a:r>
            <a:r>
              <a:rPr kumimoji="0" lang="zh-CN" altLang="en-US"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字节</a:t>
            </a:r>
            <a:endPar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Test_Queue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队列创建失败！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消息队列创建后如下图，刚创建时，消息队列为空，此时若读取消息必然失败（无消息可读）。</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p:txBody>
      </p:sp>
      <p:grpSp>
        <p:nvGrpSpPr>
          <p:cNvPr id="29" name="组合 28"/>
          <p:cNvGrpSpPr/>
          <p:nvPr/>
        </p:nvGrpSpPr>
        <p:grpSpPr>
          <a:xfrm>
            <a:off x="627797" y="5325175"/>
            <a:ext cx="5711211" cy="1532825"/>
            <a:chOff x="5596899" y="5461403"/>
            <a:chExt cx="5711211" cy="1532825"/>
          </a:xfrm>
        </p:grpSpPr>
        <p:sp>
          <p:nvSpPr>
            <p:cNvPr id="8" name="圆角矩形 7"/>
            <p:cNvSpPr/>
            <p:nvPr/>
          </p:nvSpPr>
          <p:spPr>
            <a:xfrm>
              <a:off x="6096001"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9" name="圆角矩形 8"/>
            <p:cNvSpPr/>
            <p:nvPr/>
          </p:nvSpPr>
          <p:spPr>
            <a:xfrm>
              <a:off x="6619703"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0" name="圆角矩形 9"/>
            <p:cNvSpPr/>
            <p:nvPr/>
          </p:nvSpPr>
          <p:spPr>
            <a:xfrm>
              <a:off x="7143405"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1" name="圆角矩形 10"/>
            <p:cNvSpPr/>
            <p:nvPr/>
          </p:nvSpPr>
          <p:spPr>
            <a:xfrm>
              <a:off x="7667107"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2" name="圆角矩形 11"/>
            <p:cNvSpPr/>
            <p:nvPr/>
          </p:nvSpPr>
          <p:spPr>
            <a:xfrm>
              <a:off x="8190809"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3" name="圆角矩形 12"/>
            <p:cNvSpPr/>
            <p:nvPr/>
          </p:nvSpPr>
          <p:spPr>
            <a:xfrm>
              <a:off x="8714511"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4" name="圆角矩形 13"/>
            <p:cNvSpPr/>
            <p:nvPr/>
          </p:nvSpPr>
          <p:spPr>
            <a:xfrm>
              <a:off x="9238213"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sp>
          <p:nvSpPr>
            <p:cNvPr id="15" name="圆角矩形 14"/>
            <p:cNvSpPr/>
            <p:nvPr/>
          </p:nvSpPr>
          <p:spPr>
            <a:xfrm>
              <a:off x="9761915"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Microsoft YaHei"/>
                <a:ea typeface="Microsoft YaHei"/>
                <a:cs typeface="+mn-cs"/>
              </a:endParaRPr>
            </a:p>
          </p:txBody>
        </p:sp>
        <p:cxnSp>
          <p:nvCxnSpPr>
            <p:cNvPr id="16" name="直接连接符 15"/>
            <p:cNvCxnSpPr/>
            <p:nvPr/>
          </p:nvCxnSpPr>
          <p:spPr>
            <a:xfrm>
              <a:off x="6096001" y="5630680"/>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285617" y="5630680"/>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6096002" y="5741178"/>
              <a:ext cx="4189615" cy="13844"/>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285046" y="5461403"/>
              <a:ext cx="165124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5C5E60"/>
                  </a:solidFill>
                  <a:effectLst/>
                  <a:uLnTx/>
                  <a:uFillTx/>
                  <a:latin typeface="Microsoft YaHei"/>
                  <a:ea typeface="Microsoft YaHei"/>
                  <a:cs typeface="+mn-cs"/>
                </a:rPr>
                <a:t>          128</a:t>
              </a:r>
              <a:endParaRPr kumimoji="0" lang="zh-CN" altLang="en-US" sz="1600" b="0" i="0" u="none" strike="noStrike" kern="1200" cap="none" spc="0" normalizeH="0" baseline="0" noProof="0" dirty="0">
                <a:ln>
                  <a:noFill/>
                </a:ln>
                <a:solidFill>
                  <a:srgbClr val="5C5E60"/>
                </a:solidFill>
                <a:effectLst/>
                <a:uLnTx/>
                <a:uFillTx/>
                <a:latin typeface="Microsoft YaHei"/>
                <a:ea typeface="Microsoft YaHei"/>
                <a:cs typeface="+mn-cs"/>
              </a:endParaRPr>
            </a:p>
          </p:txBody>
        </p:sp>
        <p:cxnSp>
          <p:nvCxnSpPr>
            <p:cNvPr id="20" name="直接连接符 19"/>
            <p:cNvCxnSpPr/>
            <p:nvPr/>
          </p:nvCxnSpPr>
          <p:spPr>
            <a:xfrm>
              <a:off x="9773644" y="6445236"/>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297346" y="6413443"/>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9656864" y="6666576"/>
              <a:ext cx="165124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5C5E60"/>
                  </a:solidFill>
                  <a:effectLst/>
                  <a:uLnTx/>
                  <a:uFillTx/>
                  <a:latin typeface="Microsoft YaHei"/>
                  <a:ea typeface="Microsoft YaHei"/>
                  <a:cs typeface="+mn-cs"/>
                </a:rPr>
                <a:t>      16</a:t>
              </a:r>
              <a:endParaRPr kumimoji="0" lang="zh-CN" altLang="en-US" sz="1050" b="0" i="0" u="none" strike="noStrike" kern="1200" cap="none" spc="0" normalizeH="0" baseline="0" noProof="0" dirty="0">
                <a:ln>
                  <a:noFill/>
                </a:ln>
                <a:solidFill>
                  <a:srgbClr val="5C5E60"/>
                </a:solidFill>
                <a:effectLst/>
                <a:uLnTx/>
                <a:uFillTx/>
                <a:latin typeface="Microsoft YaHei"/>
                <a:ea typeface="Microsoft YaHei"/>
                <a:cs typeface="+mn-cs"/>
              </a:endParaRPr>
            </a:p>
          </p:txBody>
        </p:sp>
        <p:cxnSp>
          <p:nvCxnSpPr>
            <p:cNvPr id="23" name="直接连接符 22"/>
            <p:cNvCxnSpPr/>
            <p:nvPr/>
          </p:nvCxnSpPr>
          <p:spPr>
            <a:xfrm flipH="1">
              <a:off x="9761916" y="6680420"/>
              <a:ext cx="535430" cy="0"/>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5937239" y="6445236"/>
              <a:ext cx="232742" cy="195308"/>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5596899" y="6640544"/>
              <a:ext cx="67796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5C5E60"/>
                  </a:solidFill>
                  <a:effectLst/>
                  <a:uLnTx/>
                  <a:uFillTx/>
                  <a:latin typeface="Microsoft YaHei"/>
                  <a:ea typeface="Microsoft YaHei"/>
                  <a:cs typeface="+mn-cs"/>
                </a:rPr>
                <a:t>队头</a:t>
              </a:r>
            </a:p>
          </p:txBody>
        </p:sp>
        <p:sp>
          <p:nvSpPr>
            <p:cNvPr id="26" name="文本框 25"/>
            <p:cNvSpPr txBox="1"/>
            <p:nvPr/>
          </p:nvSpPr>
          <p:spPr>
            <a:xfrm>
              <a:off x="6471308" y="6655674"/>
              <a:ext cx="67796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5C5E60"/>
                  </a:solidFill>
                  <a:effectLst/>
                  <a:uLnTx/>
                  <a:uFillTx/>
                  <a:latin typeface="Microsoft YaHei"/>
                  <a:ea typeface="Microsoft YaHei"/>
                  <a:cs typeface="+mn-cs"/>
                </a:rPr>
                <a:t>队尾</a:t>
              </a:r>
            </a:p>
          </p:txBody>
        </p:sp>
        <p:cxnSp>
          <p:nvCxnSpPr>
            <p:cNvPr id="27" name="直接连接符 26"/>
            <p:cNvCxnSpPr/>
            <p:nvPr/>
          </p:nvCxnSpPr>
          <p:spPr>
            <a:xfrm>
              <a:off x="6489419" y="6457917"/>
              <a:ext cx="167274" cy="221901"/>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2115117"/>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580473" y="763825"/>
            <a:ext cx="1106424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2</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、删除消息队列</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消息队列使用结束，可以</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删除</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消息队列，</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回收</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内存空间。消息队列删除比较简单，函数如下：</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extern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LOS_QueueDelete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根据队列</a:t>
            </a:r>
            <a: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来删除。</a:t>
            </a:r>
            <a:br>
              <a:rPr kumimoji="0" lang="en-US" altLang="zh-CN" sz="1400" b="1" i="0" u="none" strike="noStrike" kern="1200" cap="none" spc="0" normalizeH="0" baseline="0" noProof="0" dirty="0">
                <a:ln>
                  <a:noFill/>
                </a:ln>
                <a:solidFill>
                  <a:srgbClr val="C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注意：</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）待删除的队列必须</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存在</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2</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）目前没有因为读写该队列而阻塞的任务，即</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两个阻塞链表为空</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p:txBody>
      </p:sp>
      <p:sp>
        <p:nvSpPr>
          <p:cNvPr id="8" name="文本框 7"/>
          <p:cNvSpPr txBox="1"/>
          <p:nvPr/>
        </p:nvSpPr>
        <p:spPr>
          <a:xfrm>
            <a:off x="563881" y="2016112"/>
            <a:ext cx="1106424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3</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、写入消息</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写入消息时在队尾进行操作，</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如果特殊要求后进先出（</a:t>
            </a:r>
            <a:r>
              <a:rPr kumimoji="0" lang="en-US" altLang="zh-CN" sz="1400" b="1" i="0" u="none" strike="noStrike" kern="1200" cap="none" spc="0" normalizeH="0" baseline="0" noProof="0" dirty="0">
                <a:ln>
                  <a:noFill/>
                </a:ln>
                <a:solidFill>
                  <a:srgbClr val="0070C0"/>
                </a:solidFill>
                <a:effectLst/>
                <a:uLnTx/>
                <a:uFillTx/>
                <a:latin typeface="Microsoft YaHei"/>
                <a:ea typeface="Microsoft YaHei"/>
                <a:cs typeface="+mn-cs"/>
              </a:rPr>
              <a:t>LIFO</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），其实是通过往队头写消息来实现，本课程不要求</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消息队列写入分为</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带拷贝写入</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和</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不带拷贝写入</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带拷贝写入（</a:t>
            </a:r>
            <a:r>
              <a:rPr kumimoji="0" lang="en-US" altLang="zh-CN" sz="1400" b="1" i="0" u="none" strike="noStrike" kern="1200" cap="none" spc="0" normalizeH="0" baseline="0" noProof="0" dirty="0" err="1">
                <a:ln>
                  <a:noFill/>
                </a:ln>
                <a:solidFill>
                  <a:srgbClr val="0070C0"/>
                </a:solidFill>
                <a:effectLst/>
                <a:uLnTx/>
                <a:uFillTx/>
                <a:latin typeface="Microsoft YaHei"/>
                <a:ea typeface="Microsoft YaHei"/>
                <a:cs typeface="+mn-cs"/>
              </a:rPr>
              <a:t>LOS_QueueWriteCopy</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：把任务要发送的</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消息内容写入</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队列。优点：保护消息；缺点：占用较多内存。</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不带拷贝写入（</a:t>
            </a:r>
            <a:r>
              <a:rPr kumimoji="0" lang="en-US" altLang="zh-CN" sz="1400" b="1" i="0" u="none" strike="noStrike" kern="1200" cap="none" spc="0" normalizeH="0" baseline="0" noProof="0" dirty="0" err="1">
                <a:ln>
                  <a:noFill/>
                </a:ln>
                <a:solidFill>
                  <a:srgbClr val="0070C0"/>
                </a:solidFill>
                <a:effectLst/>
                <a:uLnTx/>
                <a:uFillTx/>
                <a:latin typeface="Microsoft YaHei"/>
                <a:ea typeface="Microsoft YaHei"/>
                <a:cs typeface="+mn-cs"/>
              </a:rPr>
              <a:t>LOS_QueueWrite</a:t>
            </a:r>
            <a:r>
              <a:rPr kumimoji="0" lang="zh-CN" altLang="en-US" sz="1400" b="1" i="0" u="none" strike="noStrike" kern="1200" cap="none" spc="0" normalizeH="0" baseline="0" noProof="0" dirty="0">
                <a:ln>
                  <a:noFill/>
                </a:ln>
                <a:solidFill>
                  <a:srgbClr val="0070C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：只把任务要发送的消息的</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指针写入队列</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。优点：占用较少内存；缺点：消息可能被修改。</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
        <p:nvSpPr>
          <p:cNvPr id="2" name="矩形 1"/>
          <p:cNvSpPr/>
          <p:nvPr/>
        </p:nvSpPr>
        <p:spPr>
          <a:xfrm>
            <a:off x="899160" y="3336800"/>
            <a:ext cx="7074408"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LITE_OS_SEC_TEXT UINT32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LOS_QueueWrite</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VOID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pBufferAddr</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uwBufferSize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uwTimeOut</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19" name="矩形 18"/>
          <p:cNvSpPr/>
          <p:nvPr/>
        </p:nvSpPr>
        <p:spPr>
          <a:xfrm>
            <a:off x="4487245" y="3820696"/>
            <a:ext cx="4293683"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0C0"/>
                </a:solidFill>
                <a:effectLst/>
                <a:uLnTx/>
                <a:uFillTx/>
                <a:latin typeface="Microsoft YaHei"/>
                <a:ea typeface="Microsoft YaHei"/>
                <a:cs typeface="+mn-cs"/>
              </a:rPr>
              <a:t>参数是消息的地址，写入队列的就是</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该地址</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0C0"/>
                </a:solidFill>
                <a:effectLst/>
                <a:uLnTx/>
                <a:uFillTx/>
                <a:latin typeface="Microsoft YaHei"/>
                <a:ea typeface="Microsoft YaHei"/>
                <a:cs typeface="+mn-cs"/>
              </a:rPr>
              <a:t>此时，长度参数</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无意义</a:t>
            </a:r>
            <a:endParaRPr kumimoji="0" lang="zh-CN" altLang="en-US" sz="1600" b="0" i="0" u="none" strike="noStrike" kern="1200" cap="none" spc="0" normalizeH="0" baseline="0" noProof="0" dirty="0">
              <a:ln>
                <a:noFill/>
              </a:ln>
              <a:solidFill>
                <a:srgbClr val="C00000"/>
              </a:solidFill>
              <a:effectLst/>
              <a:uLnTx/>
              <a:uFillTx/>
              <a:latin typeface="Microsoft YaHei"/>
              <a:ea typeface="Microsoft YaHei"/>
              <a:cs typeface="+mn-cs"/>
            </a:endParaRPr>
          </a:p>
        </p:txBody>
      </p:sp>
      <p:sp>
        <p:nvSpPr>
          <p:cNvPr id="20" name="矩形 19"/>
          <p:cNvSpPr/>
          <p:nvPr/>
        </p:nvSpPr>
        <p:spPr>
          <a:xfrm>
            <a:off x="4436364" y="5352370"/>
            <a:ext cx="634819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0C0"/>
                </a:solidFill>
                <a:effectLst/>
                <a:uLnTx/>
                <a:uFillTx/>
                <a:latin typeface="Microsoft YaHei"/>
                <a:ea typeface="Microsoft YaHei"/>
                <a:cs typeface="+mn-cs"/>
              </a:rPr>
              <a:t>参数是消息的地址，写入队列的就是</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该地址存放的内容</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70C0"/>
                </a:solidFill>
                <a:effectLst/>
                <a:uLnTx/>
                <a:uFillTx/>
                <a:latin typeface="Microsoft YaHei"/>
                <a:ea typeface="Microsoft YaHei"/>
                <a:cs typeface="+mn-cs"/>
              </a:rPr>
              <a:t>长度是实际写入字节数</a:t>
            </a:r>
            <a:endParaRPr kumimoji="0" lang="zh-CN" altLang="en-US" sz="1600" b="0" i="0" u="none" strike="noStrike" kern="1200" cap="none" spc="0" normalizeH="0" baseline="0" noProof="0" dirty="0">
              <a:ln>
                <a:noFill/>
              </a:ln>
              <a:solidFill>
                <a:srgbClr val="C00000"/>
              </a:solidFill>
              <a:effectLst/>
              <a:uLnTx/>
              <a:uFillTx/>
              <a:latin typeface="Microsoft YaHei"/>
              <a:ea typeface="Microsoft YaHei"/>
              <a:cs typeface="+mn-cs"/>
            </a:endParaRPr>
          </a:p>
        </p:txBody>
      </p:sp>
      <p:sp>
        <p:nvSpPr>
          <p:cNvPr id="3" name="矩形 2"/>
          <p:cNvSpPr/>
          <p:nvPr/>
        </p:nvSpPr>
        <p:spPr>
          <a:xfrm>
            <a:off x="899160" y="4732727"/>
            <a:ext cx="6096000" cy="1477328"/>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LITE_OS_SEC_TEXT UINT32 </a:t>
            </a:r>
            <a:r>
              <a:rPr kumimoji="0" lang="en-US" altLang="zh-CN" sz="1800" b="1" i="0" u="none" strike="noStrike" kern="1200" cap="none" spc="0" normalizeH="0" baseline="0" noProof="0" dirty="0" err="1">
                <a:ln>
                  <a:noFill/>
                </a:ln>
                <a:solidFill>
                  <a:srgbClr val="C00000"/>
                </a:solidFill>
                <a:effectLst/>
                <a:uLnTx/>
                <a:uFillTx/>
                <a:latin typeface="Microsoft YaHei"/>
                <a:ea typeface="Microsoft YaHei"/>
                <a:cs typeface="+mn-cs"/>
              </a:rPr>
              <a:t>LOS_QueueWriteCopy</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8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void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pBufferAddr</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uwBufferSize</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800" b="1" i="0" u="none" strike="noStrike" kern="1200" cap="none" spc="0" normalizeH="0" baseline="0" noProof="0" dirty="0" err="1">
                <a:ln>
                  <a:noFill/>
                </a:ln>
                <a:solidFill>
                  <a:srgbClr val="000000"/>
                </a:solidFill>
                <a:effectLst/>
                <a:uLnTx/>
                <a:uFillTx/>
                <a:latin typeface="Microsoft YaHei"/>
                <a:ea typeface="Microsoft YaHei"/>
                <a:cs typeface="+mn-cs"/>
              </a:rPr>
              <a:t>uwTimeOut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a:t>
            </a:r>
          </a:p>
        </p:txBody>
      </p:sp>
      <p:sp>
        <p:nvSpPr>
          <p:cNvPr id="17" name="Rectangle 1"/>
          <p:cNvSpPr>
            <a:spLocks noChangeArrowheads="1"/>
          </p:cNvSpPr>
          <p:nvPr/>
        </p:nvSpPr>
        <p:spPr bwMode="auto">
          <a:xfrm>
            <a:off x="980537" y="6249350"/>
            <a:ext cx="9520314" cy="4924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dirty="0">
                <a:ln>
                  <a:noFill/>
                </a:ln>
                <a:solidFill>
                  <a:srgbClr val="C00000"/>
                </a:solidFill>
                <a:effectLst/>
                <a:uLnTx/>
                <a:uFillTx/>
                <a:latin typeface="Microsoft YaHei"/>
                <a:ea typeface="Microsoft YaHei"/>
                <a:cs typeface="+mn-cs"/>
              </a:rPr>
              <a:t>LITE_OS_SEC_TEXT 是宏定义，</a:t>
            </a:r>
            <a:r>
              <a:rPr kumimoji="0" lang="zh-CN" altLang="zh-CN" sz="1600" b="1" i="0" u="none" strike="noStrike" kern="1200" cap="none" spc="0" normalizeH="0" baseline="0" noProof="0" dirty="0">
                <a:ln>
                  <a:noFill/>
                </a:ln>
                <a:solidFill>
                  <a:srgbClr val="000000"/>
                </a:solidFill>
                <a:effectLst/>
                <a:uLnTx/>
                <a:uFillTx/>
                <a:latin typeface="Microsoft YaHei"/>
                <a:ea typeface="Microsoft YaHei"/>
                <a:cs typeface="+mn-cs"/>
              </a:rPr>
              <a:t>并非数据类型，其作用是指定函数编译后存放的内存段（Section）</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dirty="0">
                <a:ln>
                  <a:noFill/>
                </a:ln>
                <a:solidFill>
                  <a:srgbClr val="000000"/>
                </a:solidFill>
                <a:effectLst/>
                <a:uLnTx/>
                <a:uFillTx/>
                <a:latin typeface="Microsoft YaHei"/>
                <a:ea typeface="Microsoft YaHei"/>
                <a:cs typeface="+mn-cs"/>
              </a:rPr>
              <a:t>属于编译器的扩展属性 </a:t>
            </a:r>
          </a:p>
        </p:txBody>
      </p:sp>
    </p:spTree>
    <p:extLst>
      <p:ext uri="{BB962C8B-B14F-4D97-AF65-F5344CB8AC3E}">
        <p14:creationId xmlns:p14="http://schemas.microsoft.com/office/powerpoint/2010/main" val="3921654617"/>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文本框 7"/>
          <p:cNvSpPr txBox="1"/>
          <p:nvPr/>
        </p:nvSpPr>
        <p:spPr>
          <a:xfrm>
            <a:off x="469669" y="946264"/>
            <a:ext cx="11064240" cy="4401205"/>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下边我们以</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不带拷贝写入为例</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进行讲解，带拷贝写入自行学习。写入函数如下：</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LOS_QueueWrite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要写入的队列</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ID</a:t>
            </a:r>
            <a:b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VOID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pBufferAddr</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消息的指针  （被写入消息的地址）</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uwBufferSize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消息的大小  （被写入消息的字节数，此参数实际无意义）</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uwTimeOut</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超时。</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注：</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uwTimeOut</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的范围</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0~</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 LOS_WAIT_FOREVER</a:t>
            </a:r>
            <a:r>
              <a:rPr kumimoji="0" lang="zh-CN" altLang="en-US"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，单位为</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tick</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=0</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：不等待；</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常数</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n</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：等待</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n</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个</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tick</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 =LOS_WAIT_FOREVER</a:t>
            </a:r>
            <a:r>
              <a:rPr kumimoji="0" lang="zh-CN" altLang="en-US"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：永久等待（死等，不写入誓不罢休）</a:t>
            </a:r>
            <a:endPar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              </a:t>
            </a:r>
            <a:r>
              <a:rPr kumimoji="0" lang="zh-CN" altLang="en-US" sz="1600" b="1" i="0" u="none" strike="noStrike" kern="1200" cap="none" spc="0" normalizeH="0" baseline="0" noProof="0" dirty="0">
                <a:ln>
                  <a:noFill/>
                </a:ln>
                <a:solidFill>
                  <a:srgbClr val="00B050"/>
                </a:solidFill>
                <a:effectLst/>
                <a:uLnTx/>
                <a:uFillTx/>
                <a:latin typeface="Times New Roman" panose="02020603050405020304" pitchFamily="18" charset="0"/>
                <a:ea typeface="Microsoft YaHei"/>
                <a:cs typeface="+mn-cs"/>
              </a:rPr>
              <a:t>等待就是进入阻塞态，等待时间到还不能写入，会进入就绪态</a:t>
            </a:r>
            <a:b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 例：</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dataMsg</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 2;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定义一个数值型消息</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=2</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LOS_QueueWrite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队列</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ID</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&amp;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dataMsg</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消息的指针</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sizeof</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(UINT32) ,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消息的大小</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0);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等待时间</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=0</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。如果消息写入失败（队列满了），直接跳过。</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Tree>
    <p:extLst>
      <p:ext uri="{BB962C8B-B14F-4D97-AF65-F5344CB8AC3E}">
        <p14:creationId xmlns:p14="http://schemas.microsoft.com/office/powerpoint/2010/main" val="392719022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313898" y="750627"/>
            <a:ext cx="11064240" cy="24929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4</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、读取消息</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消息队列读取分为</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带拷贝读取</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和</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不带拷贝读取</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带拷贝读取（</a:t>
            </a:r>
            <a:r>
              <a:rPr kumimoji="0" lang="en-US" altLang="zh-CN" sz="1800" b="1" i="0" u="none" strike="noStrike" kern="1200" cap="none" spc="0" normalizeH="0" baseline="0" noProof="0" dirty="0" err="1">
                <a:ln>
                  <a:noFill/>
                </a:ln>
                <a:solidFill>
                  <a:srgbClr val="170C5A">
                    <a:lumMod val="60000"/>
                    <a:lumOff val="40000"/>
                  </a:srgbClr>
                </a:solidFill>
                <a:effectLst/>
                <a:uLnTx/>
                <a:uFillTx/>
                <a:latin typeface="Microsoft YaHei"/>
                <a:ea typeface="Microsoft YaHei"/>
                <a:cs typeface="+mn-cs"/>
              </a:rPr>
              <a:t>LOS_QueueReadCopy</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读取队头的消息内容。</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不带拷贝读取（</a:t>
            </a:r>
            <a:r>
              <a:rPr kumimoji="0" lang="en-US" altLang="zh-CN" sz="1800" b="1" i="0" u="none" strike="noStrike" kern="1200" cap="none" spc="0" normalizeH="0" baseline="0" noProof="0" dirty="0" err="1">
                <a:ln>
                  <a:noFill/>
                </a:ln>
                <a:solidFill>
                  <a:srgbClr val="170C5A">
                    <a:lumMod val="60000"/>
                    <a:lumOff val="40000"/>
                  </a:srgbClr>
                </a:solidFill>
                <a:effectLst/>
                <a:uLnTx/>
                <a:uFillTx/>
                <a:latin typeface="Microsoft YaHei"/>
                <a:ea typeface="Microsoft YaHei"/>
                <a:cs typeface="+mn-cs"/>
              </a:rPr>
              <a:t>LOS_QueueRead</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只读取队头的消息的指针。</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
        <p:nvSpPr>
          <p:cNvPr id="3" name="矩形 2"/>
          <p:cNvSpPr/>
          <p:nvPr/>
        </p:nvSpPr>
        <p:spPr>
          <a:xfrm>
            <a:off x="707136" y="3020628"/>
            <a:ext cx="605028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LITE_OS_SEC_TEXT UINT32 LOS_QueueRead</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(UINT32 uwQueueID,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VOID </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*pBufferAddr</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uwBufferSize</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UINT32 uwTimeOut)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a:t>
            </a:r>
          </a:p>
        </p:txBody>
      </p:sp>
      <p:sp>
        <p:nvSpPr>
          <p:cNvPr id="4" name="矩形 3"/>
          <p:cNvSpPr/>
          <p:nvPr/>
        </p:nvSpPr>
        <p:spPr>
          <a:xfrm>
            <a:off x="4495257" y="5175064"/>
            <a:ext cx="3672800"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存放读出消息的地址，读的是消息内容</a:t>
            </a:r>
            <a:endPar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17" name="矩形 16"/>
          <p:cNvSpPr/>
          <p:nvPr/>
        </p:nvSpPr>
        <p:spPr>
          <a:xfrm>
            <a:off x="4495257" y="3900291"/>
            <a:ext cx="2911374"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读出消息的长度</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能存地址即可</a:t>
            </a:r>
            <a:endPar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2" name="矩形 1"/>
          <p:cNvSpPr/>
          <p:nvPr/>
        </p:nvSpPr>
        <p:spPr>
          <a:xfrm>
            <a:off x="627797" y="6355744"/>
            <a:ext cx="63786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说明：</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写入和读出消息，要区分带</a:t>
            </a:r>
            <a:r>
              <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copy</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和不带</a:t>
            </a:r>
            <a:r>
              <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copy</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配套使用</a:t>
            </a:r>
            <a:endPar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p:txBody>
      </p:sp>
      <p:sp>
        <p:nvSpPr>
          <p:cNvPr id="12" name="矩形 11"/>
          <p:cNvSpPr/>
          <p:nvPr/>
        </p:nvSpPr>
        <p:spPr>
          <a:xfrm>
            <a:off x="661416" y="4657607"/>
            <a:ext cx="6096000" cy="1477328"/>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LITE_OS_SEC_TEXT UINT32 LOS_QueueReadCopy</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uwQueueID,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void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pBufferAddr,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UNIT32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uwBufferSize,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uwTimeOut);</a:t>
            </a:r>
          </a:p>
        </p:txBody>
      </p:sp>
      <p:sp>
        <p:nvSpPr>
          <p:cNvPr id="23" name="矩形 22"/>
          <p:cNvSpPr/>
          <p:nvPr/>
        </p:nvSpPr>
        <p:spPr>
          <a:xfrm>
            <a:off x="4495257" y="3577309"/>
            <a:ext cx="5649303"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存放读出消息的地址，由于读的也是消息的地址，所以为</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**p</a:t>
            </a:r>
            <a:endParaRPr kumimoji="0" lang="zh-CN" altLang="en-US" sz="1600" b="0"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25" name="矩形 24"/>
          <p:cNvSpPr/>
          <p:nvPr/>
        </p:nvSpPr>
        <p:spPr>
          <a:xfrm>
            <a:off x="4495257" y="5535342"/>
            <a:ext cx="4493538"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读出消息的长度</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（有的版本不传地址，传内容）</a:t>
            </a:r>
            <a:endParaRPr kumimoji="0" lang="zh-CN" altLang="en-US" sz="1600" b="0" i="0" u="none" strike="noStrike" kern="1200" cap="none" spc="0" normalizeH="0" baseline="0" noProof="0" dirty="0">
              <a:ln>
                <a:noFill/>
              </a:ln>
              <a:solidFill>
                <a:srgbClr val="C00000"/>
              </a:solidFill>
              <a:effectLst/>
              <a:uLnTx/>
              <a:uFillTx/>
              <a:latin typeface="Microsoft YaHei"/>
              <a:ea typeface="Microsoft YaHei"/>
              <a:cs typeface="+mn-cs"/>
            </a:endParaRPr>
          </a:p>
        </p:txBody>
      </p:sp>
    </p:spTree>
    <p:extLst>
      <p:ext uri="{BB962C8B-B14F-4D97-AF65-F5344CB8AC3E}">
        <p14:creationId xmlns:p14="http://schemas.microsoft.com/office/powerpoint/2010/main" val="145969701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313898" y="750627"/>
            <a:ext cx="11064240" cy="474745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下边我们以</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不带拷贝读取</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为例进行讲解，带拷贝读取自行学习。读取函数如下：</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LOS_QueueRead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要读取的队列</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ID</a:t>
            </a:r>
            <a:b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VOID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pBufferAddr</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读取消息要</a:t>
            </a:r>
            <a:r>
              <a:rPr kumimoji="0" lang="zh-CN" altLang="en-US" sz="16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存放到的缓冲区地址</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uwBufferSize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消息的大小，</a:t>
            </a:r>
            <a:r>
              <a:rPr kumimoji="0" lang="zh-CN" altLang="en-US" sz="16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不能小于创建队列时设定的长度</a:t>
            </a:r>
            <a:br>
              <a:rPr kumimoji="0" lang="en-US" altLang="zh-CN" sz="16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uwTimeOut</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超时。分三种情况，不等待、等待一定时长、死等。</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注：</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C00000"/>
                </a:solidFill>
                <a:effectLst/>
                <a:uLnTx/>
                <a:uFillTx/>
                <a:latin typeface="Microsoft YaHei"/>
                <a:ea typeface="Microsoft YaHei"/>
                <a:cs typeface="+mn-cs"/>
              </a:rPr>
              <a:t>uwTimeOut</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的范围</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0~</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 LOS_WAIT_FOREVER</a:t>
            </a:r>
            <a:r>
              <a:rPr kumimoji="0" lang="zh-CN" altLang="en-US"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，单位为</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tick</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                0</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：不等待；常数</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n</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：等待</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n</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个</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tick</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en-US" altLang="zh-CN"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 LOS_WAIT_FOREVER</a:t>
            </a:r>
            <a:r>
              <a:rPr kumimoji="0" lang="zh-CN" altLang="en-US" sz="1600" b="1" i="0" u="none" strike="noStrike" kern="1200" cap="none" spc="0" normalizeH="0" baseline="0" noProof="0" dirty="0">
                <a:ln>
                  <a:noFill/>
                </a:ln>
                <a:solidFill>
                  <a:srgbClr val="C00000"/>
                </a:solidFill>
                <a:effectLst/>
                <a:uLnTx/>
                <a:uFillTx/>
                <a:latin typeface="Times New Roman" panose="02020603050405020304" pitchFamily="18" charset="0"/>
                <a:ea typeface="Microsoft YaHei"/>
                <a:cs typeface="+mn-cs"/>
              </a:rPr>
              <a:t>：永久等待（死等，不读入誓不罢休）</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例：</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dataMsg</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定义一个消息缓冲区</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LOS_QueueRead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队列</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ID</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&amp;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dataMsg</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把消息读入</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dataMsg</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sizeof</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(UINT32) ,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消息的大小（</a:t>
            </a:r>
            <a:r>
              <a:rPr kumimoji="0" lang="zh-CN" altLang="en-US" sz="1600" b="1" i="0" u="none" strike="noStrike" kern="1200" cap="none" spc="0" normalizeH="0" baseline="0" noProof="0" dirty="0">
                <a:ln>
                  <a:noFill/>
                </a:ln>
                <a:solidFill>
                  <a:srgbClr val="566BD8"/>
                </a:solidFill>
                <a:effectLst/>
                <a:uLnTx/>
                <a:uFillTx/>
                <a:latin typeface="Microsoft YaHei"/>
                <a:ea typeface="Microsoft YaHei"/>
                <a:cs typeface="+mn-cs"/>
              </a:rPr>
              <a:t>此处应该不小于消息节点的设定大小，否则报错</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100);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等待</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100</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个</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tick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。如果消息读入失败（队列空了），直接跳过。</a:t>
            </a:r>
            <a:b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b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Tree>
    <p:extLst>
      <p:ext uri="{BB962C8B-B14F-4D97-AF65-F5344CB8AC3E}">
        <p14:creationId xmlns:p14="http://schemas.microsoft.com/office/powerpoint/2010/main" val="900493066"/>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0" y="808816"/>
            <a:ext cx="6367549" cy="57554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本示例只给出主要框架，详细代码自己完成</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①头文件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②定义全局变量</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Receive_Task_Handle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接收消息的</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任务句柄</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Send_Task_Handle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发送消息的</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任务句柄</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消息</a:t>
            </a:r>
            <a:r>
              <a:rPr kumimoji="0" lang="zh-CN" altLang="en-US" sz="1400" b="1" i="0" u="none" strike="noStrike" kern="1200" cap="none" spc="0" normalizeH="0" baseline="0" noProof="0" dirty="0">
                <a:ln>
                  <a:noFill/>
                </a:ln>
                <a:solidFill>
                  <a:srgbClr val="C00000"/>
                </a:solidFill>
                <a:effectLst/>
                <a:uLnTx/>
                <a:uFillTx/>
                <a:latin typeface="Microsoft YaHei"/>
                <a:ea typeface="Microsoft YaHei"/>
                <a:cs typeface="+mn-cs"/>
              </a:rPr>
              <a:t>队列句柄</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       #define TEST_QUEUE_LEN  16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消息队列长度</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       #define TEST_QUEUE_SIZE 16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消息大小（最大）</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③函数声明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包括应用创建函数、任务创建函数、任务函数</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④</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main</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定义局部变量，板级初始化等</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LOS_KernelInit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内核初始化</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LOS_Start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启动任务调度</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⑤应用创建函数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Test_Queue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16, &amp;</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0, 16);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Creat_Receive_Task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Creat_Send_Task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⑥任务创建函数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
        <p:nvSpPr>
          <p:cNvPr id="4" name="文本框 3"/>
          <p:cNvSpPr txBox="1"/>
          <p:nvPr/>
        </p:nvSpPr>
        <p:spPr>
          <a:xfrm>
            <a:off x="6209607" y="808816"/>
            <a:ext cx="5727470" cy="5847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⑦接收消息的任务函数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Receive_Task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Receive_Task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r_queue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定义接收消息的缓冲区</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LOS_QueueRead</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&amp;</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r_queue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16,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LOS_WAIT_FOREVER);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 (LOS_OK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本次读取的消息是</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%x\n",*</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r_queue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else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消息读取出错</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错误代码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0x%X\n",</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⑧</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写入消息的任务函数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Send_Task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Send_Task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dataMsg1= 1</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dataMsg2= 2;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定义消息</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endPar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if(key1)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按下发送消息</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LOS_QueueWrite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&amp;dataMsg1, 16,0);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if(key2)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按下发送消息</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LOS_QueueWrite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Queue_Handle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&amp;dataMsg2, 16,0);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p:txBody>
      </p:sp>
    </p:spTree>
    <p:extLst>
      <p:ext uri="{BB962C8B-B14F-4D97-AF65-F5344CB8AC3E}">
        <p14:creationId xmlns:p14="http://schemas.microsoft.com/office/powerpoint/2010/main" val="496596758"/>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消息队列的删除</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515389" y="750627"/>
            <a:ext cx="11064240"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消息队列占用空间，如果不再使用消息队列，可以删除消息队列，并回收存储空间。</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删除队列需满足：</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队列存在</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2</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、队列没有</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正在使用（</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任务正在执行对队列的读写操作）或</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阻塞</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删除队列函数如下：</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extern UINT32 </a:t>
            </a:r>
            <a:r>
              <a:rPr kumimoji="0" lang="en-US" altLang="zh-CN" sz="1800" b="1" i="0" u="none" strike="noStrike" kern="1200" cap="none" spc="0" normalizeH="0" baseline="0" noProof="0" dirty="0" err="1">
                <a:ln>
                  <a:noFill/>
                </a:ln>
                <a:solidFill>
                  <a:srgbClr val="000000"/>
                </a:solidFill>
                <a:effectLst/>
                <a:uLnTx/>
                <a:uFillTx/>
                <a:latin typeface="Microsoft YaHei"/>
                <a:ea typeface="Microsoft YaHei"/>
                <a:cs typeface="+mn-cs"/>
              </a:rPr>
              <a:t>LOS_QueueDelete</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800" b="1" i="0" u="none" strike="noStrike" kern="1200" cap="none" spc="0" normalizeH="0" baseline="0" noProof="0" dirty="0" err="1">
                <a:ln>
                  <a:noFill/>
                </a:ln>
                <a:solidFill>
                  <a:srgbClr val="000000"/>
                </a:solidFill>
                <a:effectLst/>
                <a:uLnTx/>
                <a:uFillTx/>
                <a:latin typeface="Microsoft YaHei"/>
                <a:ea typeface="Microsoft YaHei"/>
                <a:cs typeface="+mn-cs"/>
              </a:rPr>
              <a:t>uwQueueID</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00B050"/>
                </a:solidFill>
                <a:effectLst/>
                <a:uLnTx/>
                <a:uFillTx/>
                <a:latin typeface="Microsoft YaHei"/>
                <a:ea typeface="Microsoft YaHei"/>
                <a:cs typeface="+mn-cs"/>
              </a:rPr>
              <a:t>根据队列</a:t>
            </a:r>
            <a:r>
              <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800" b="1" i="0" u="none" strike="noStrike" kern="1200" cap="none" spc="0" normalizeH="0" baseline="0" noProof="0" dirty="0">
                <a:ln>
                  <a:noFill/>
                </a:ln>
                <a:solidFill>
                  <a:srgbClr val="00B050"/>
                </a:solidFill>
                <a:effectLst/>
                <a:uLnTx/>
                <a:uFillTx/>
                <a:latin typeface="Microsoft YaHei"/>
                <a:ea typeface="Microsoft YaHei"/>
                <a:cs typeface="+mn-cs"/>
              </a:rPr>
              <a:t>来删除。</a:t>
            </a:r>
            <a:br>
              <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rPr>
            </a:br>
            <a:endPar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Tree>
    <p:extLst>
      <p:ext uri="{BB962C8B-B14F-4D97-AF65-F5344CB8AC3E}">
        <p14:creationId xmlns:p14="http://schemas.microsoft.com/office/powerpoint/2010/main" val="53402393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目录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2400" b="1" dirty="0">
                <a:solidFill>
                  <a:schemeClr val="tx1"/>
                </a:solidFill>
              </a:rPr>
              <a:t>消息队列</a:t>
            </a:r>
            <a:endParaRPr lang="en-US" altLang="zh-CN" sz="2400" b="1" dirty="0">
              <a:solidFill>
                <a:schemeClr val="tx1"/>
              </a:solidFill>
            </a:endParaRPr>
          </a:p>
          <a:p>
            <a:r>
              <a:rPr lang="zh-CN" altLang="en-US" sz="2400" b="1" dirty="0">
                <a:solidFill>
                  <a:srgbClr val="FF0000"/>
                </a:solidFill>
              </a:rPr>
              <a:t>信号量</a:t>
            </a:r>
            <a:endParaRPr lang="en-US" altLang="zh-CN" sz="2400" b="1" dirty="0">
              <a:solidFill>
                <a:srgbClr val="FF0000"/>
              </a:solidFill>
            </a:endParaRPr>
          </a:p>
          <a:p>
            <a:r>
              <a:rPr lang="zh-CN" altLang="en-US" sz="2400" b="1" dirty="0">
                <a:solidFill>
                  <a:schemeClr val="tx1"/>
                </a:solidFill>
              </a:rPr>
              <a:t>互斥量</a:t>
            </a:r>
            <a:endParaRPr lang="en-US" altLang="zh-CN" sz="2400" b="1" dirty="0">
              <a:solidFill>
                <a:schemeClr val="tx1"/>
              </a:solidFill>
            </a:endParaRPr>
          </a:p>
          <a:p>
            <a:r>
              <a:rPr lang="zh-CN" altLang="en-US" sz="2400" b="1" dirty="0">
                <a:solidFill>
                  <a:schemeClr val="tx1"/>
                </a:solidFill>
              </a:rPr>
              <a:t>事件</a:t>
            </a:r>
            <a:endParaRPr lang="en-US" altLang="zh-CN" sz="2400" b="1" dirty="0">
              <a:solidFill>
                <a:schemeClr val="tx1"/>
              </a:solidFill>
            </a:endParaRPr>
          </a:p>
        </p:txBody>
      </p:sp>
    </p:spTree>
    <p:extLst>
      <p:ext uri="{BB962C8B-B14F-4D97-AF65-F5344CB8AC3E}">
        <p14:creationId xmlns:p14="http://schemas.microsoft.com/office/powerpoint/2010/main" val="10151941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信号量的基本概念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矩形 7"/>
          <p:cNvSpPr/>
          <p:nvPr/>
        </p:nvSpPr>
        <p:spPr>
          <a:xfrm>
            <a:off x="627797" y="875345"/>
            <a:ext cx="10543309" cy="2237857"/>
          </a:xfrm>
          <a:prstGeom prst="rect">
            <a:avLst/>
          </a:prstGeom>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信号量</a:t>
            </a:r>
            <a:endParaRPr kumimoji="0" lang="en-US" altLang="zh-CN" sz="18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）一种实现任务间通信的机制，实现</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任务之间同步</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或</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临界资源的互斥访问</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，常用用来协调</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多任务对临界资源的访问；</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2</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）信号量分为</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二值信号量</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（开关）和</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数值信号量</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3</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）相较于消息队列，</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信号量是任务间</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同步通信</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，消息队列是</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异步通信</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消息不需要操作临界资源</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（大家都要用的</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稀缺资源</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），所以可以不着急处理；</a:t>
            </a:r>
            <a:endPar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信号量则要操作临界资源</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，应该立即处理（别人还要着急用临界资源）。           </a:t>
            </a:r>
            <a:endPar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p:txBody>
      </p:sp>
      <p:sp>
        <p:nvSpPr>
          <p:cNvPr id="13" name="矩形 12"/>
          <p:cNvSpPr/>
          <p:nvPr/>
        </p:nvSpPr>
        <p:spPr>
          <a:xfrm>
            <a:off x="627796" y="3113202"/>
            <a:ext cx="10996937" cy="2563779"/>
          </a:xfrm>
          <a:prstGeom prst="rect">
            <a:avLst/>
          </a:prstGeom>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二值信号量</a:t>
            </a:r>
            <a:endPar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       只有“有”“无”两种状态，可以认为是</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数值信号量的特殊情况</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，主要用来实现</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互斥访问</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与互斥量区别，</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互斥量具有优先级继承，而二值信号量不具有优先级继承</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，可能造成优先级翻转错误。</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为什么需要二值信号量？</a:t>
            </a:r>
            <a:endParaRPr kumimoji="0" lang="en-US" altLang="zh-CN"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比如一个任务用来</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显示温度</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，一个任务用来</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采集温度</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。显然没有采集到温度之前，不停地刷新屏幕会造成</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CPU</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资源的浪费，当采集任务采集到温度后给出信号量，（有信号）显示任务再进行显示，显示完成后释放信号量（无信号），这就是二值信号量的</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典型应用场景</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p>
        </p:txBody>
      </p:sp>
    </p:spTree>
    <p:extLst>
      <p:ext uri="{BB962C8B-B14F-4D97-AF65-F5344CB8AC3E}">
        <p14:creationId xmlns:p14="http://schemas.microsoft.com/office/powerpoint/2010/main" val="34120870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信号量的基本概念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4" name="矩形 13"/>
          <p:cNvSpPr/>
          <p:nvPr/>
        </p:nvSpPr>
        <p:spPr>
          <a:xfrm>
            <a:off x="536357" y="1105468"/>
            <a:ext cx="10543309" cy="1515800"/>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数值信号量</a:t>
            </a:r>
            <a:endParaRPr kumimoji="0" lang="en-US" altLang="zh-CN" sz="18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数值信号量可以比作</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工具或者停车位</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，拿到工具才能干活，有停车位才能停车。</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与二值信号量相比，</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二值信号量</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只有“有”还是“没有”，</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数值信号量则是</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“有几个”，很显然二值信号量可以看做特殊的数值信号量。</a:t>
            </a:r>
          </a:p>
        </p:txBody>
      </p:sp>
    </p:spTree>
    <p:extLst>
      <p:ext uri="{BB962C8B-B14F-4D97-AF65-F5344CB8AC3E}">
        <p14:creationId xmlns:p14="http://schemas.microsoft.com/office/powerpoint/2010/main" val="317535790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信号量的使用方法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515389" y="750627"/>
            <a:ext cx="11064240" cy="537839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、创建信号量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）创建二值信号量</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LOS_BinarySemCreate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(UINT16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usCount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二值信号量的值，只能是</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0</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puwSemHandle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信号量的</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，须事先定义，用以区分多个信号量。</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2</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）创建数值信号量</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(UINT16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usCount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信号量，</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0~0xFFFF</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puwSemHandle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信号量的</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，须事先定义，用以区分多个信号量。</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2</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、删除信号量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信号量使用结束，应该删除信号量，回收存储空间。</a:t>
            </a: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删除函数如下：</a:t>
            </a:r>
            <a:endPar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LOS_SemDelete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uwSemHandle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根据信号量</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来删除。</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3</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、读取信号量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nl-NL" altLang="zh-CN" sz="1400" b="1" i="0" u="none" strike="noStrike" kern="1200" cap="none" spc="0" normalizeH="0" baseline="0" noProof="0" dirty="0">
                <a:ln>
                  <a:noFill/>
                </a:ln>
                <a:solidFill>
                  <a:srgbClr val="000000"/>
                </a:solidFill>
                <a:effectLst/>
                <a:uLnTx/>
                <a:uFillTx/>
                <a:latin typeface="Courier New" panose="02070309020205020404" pitchFamily="49" charset="0"/>
                <a:ea typeface="Microsoft YaHei"/>
                <a:cs typeface="+mn-cs"/>
              </a:rPr>
              <a:t>   </a:t>
            </a:r>
            <a:r>
              <a:rPr kumimoji="0" lang="nl-NL"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LOS_SemPend(UINT32 uwSemHandle, UINT32 uwTimeout)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类似于消息队列读取，分为：</a:t>
            </a:r>
            <a:r>
              <a:rPr kumimoji="0" lang="zh-CN" altLang="en-US" sz="1800" b="1" i="0" u="none" strike="noStrike" kern="1200" cap="none" spc="0" normalizeH="0" baseline="0" noProof="0" dirty="0">
                <a:ln>
                  <a:noFill/>
                </a:ln>
                <a:solidFill>
                  <a:srgbClr val="00B050"/>
                </a:solidFill>
                <a:effectLst/>
                <a:uLnTx/>
                <a:uFillTx/>
                <a:latin typeface="Microsoft YaHei"/>
                <a:ea typeface="Microsoft YaHei"/>
                <a:cs typeface="+mn-cs"/>
              </a:rPr>
              <a:t>不等待、等待一段时间、一直等待（死等）。 读取信号量，信号量减</a:t>
            </a:r>
            <a:r>
              <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4</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、释放信号量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LOS_SemPost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uwSemHandle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00B050"/>
                </a:solidFill>
                <a:effectLst/>
                <a:uLnTx/>
                <a:uFillTx/>
                <a:latin typeface="Microsoft YaHei"/>
                <a:ea typeface="Microsoft YaHei"/>
                <a:cs typeface="+mn-cs"/>
              </a:rPr>
              <a:t>释放信号量，信号量加</a:t>
            </a:r>
            <a:r>
              <a:rPr kumimoji="0" lang="en-US" altLang="zh-CN" sz="18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00B050"/>
                </a:solidFill>
                <a:effectLst/>
                <a:uLnTx/>
                <a:uFillTx/>
                <a:latin typeface="Microsoft YaHei"/>
                <a:ea typeface="Microsoft YaHei"/>
                <a:cs typeface="+mn-cs"/>
              </a:rPr>
              <a:t>。</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Tree>
    <p:extLst>
      <p:ext uri="{BB962C8B-B14F-4D97-AF65-F5344CB8AC3E}">
        <p14:creationId xmlns:p14="http://schemas.microsoft.com/office/powerpoint/2010/main" val="305900457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数值信号量使用示例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文本框 7"/>
          <p:cNvSpPr txBox="1"/>
          <p:nvPr/>
        </p:nvSpPr>
        <p:spPr>
          <a:xfrm>
            <a:off x="0" y="808816"/>
            <a:ext cx="8339328" cy="581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本示例只给出主要框架，详细代码自己完成。</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①头文件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②定义全局变量</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Pend_Task_Handle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读取信号量的任务句柄（或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Post_Task_Handle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给出信号量的任务句柄（或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CountSem_Handle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数值信号量句柄（或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③函数声明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包括应用创建函数、任务创建函数、任务函数</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④</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main</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定义局部变量，板级初始化等</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LOS_KernelInit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内核初始化</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LOS_Start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启动任务调度</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⑤应用创建函数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(5,&amp;CountSem_Handle);//</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初始信号量为</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Creat_Receive_Task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Creat_Send_Task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⑥任务创建函数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Tree>
    <p:extLst>
      <p:ext uri="{BB962C8B-B14F-4D97-AF65-F5344CB8AC3E}">
        <p14:creationId xmlns:p14="http://schemas.microsoft.com/office/powerpoint/2010/main" val="122665366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数值信号量使用示例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9" name="文本框 8"/>
          <p:cNvSpPr txBox="1"/>
          <p:nvPr/>
        </p:nvSpPr>
        <p:spPr>
          <a:xfrm>
            <a:off x="313898" y="845392"/>
            <a:ext cx="6043353"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⑦读取信号量的任务函数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Pend_Task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Pend_Task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 ( KEY1 )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按下读取信号量</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LOS_SemPend</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CountSem_Handle,0);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 (LOS_OK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"\r\nKEY1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被按下，成功申请到停车位。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else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"\r\nKEY1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被按下，不好意思，现在停车场已满！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7" name="文本框 6"/>
          <p:cNvSpPr txBox="1"/>
          <p:nvPr/>
        </p:nvSpPr>
        <p:spPr>
          <a:xfrm>
            <a:off x="6510483" y="753059"/>
            <a:ext cx="5449870" cy="36009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⑧</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给出信号量的任务函数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Post_Task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Post_Task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if(KEY2)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按下释放信号量</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LOS_SemPost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CountSem_Handle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 (LOS_OK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“\r\nKEY2</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被按下，释放停车位。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else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“\r\nKEY2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被按下，但无停车位可以释放！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LOS_TaskDelay</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2" name="矩形 1"/>
          <p:cNvSpPr/>
          <p:nvPr/>
        </p:nvSpPr>
        <p:spPr>
          <a:xfrm>
            <a:off x="627797" y="4354045"/>
            <a:ext cx="4574137"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C00000"/>
                </a:solidFill>
                <a:effectLst/>
                <a:uLnTx/>
                <a:uFillTx/>
                <a:latin typeface="Microsoft YaHei"/>
                <a:ea typeface="Microsoft YaHei"/>
                <a:cs typeface="+mn-cs"/>
              </a:rPr>
              <a:t>Pend_Task</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（）优先级低于</a:t>
            </a:r>
            <a:r>
              <a:rPr kumimoji="0" lang="en-US" altLang="zh-CN" sz="1800" b="1" i="0" u="none" strike="noStrike" kern="1200" cap="none" spc="0" normalizeH="0" baseline="0" noProof="0" dirty="0" err="1">
                <a:ln>
                  <a:noFill/>
                </a:ln>
                <a:solidFill>
                  <a:srgbClr val="C00000"/>
                </a:solidFill>
                <a:effectLst/>
                <a:uLnTx/>
                <a:uFillTx/>
                <a:latin typeface="Microsoft YaHei"/>
                <a:ea typeface="Microsoft YaHei"/>
                <a:cs typeface="+mn-cs"/>
              </a:rPr>
              <a:t>Post_Task</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p:txBody>
      </p:sp>
    </p:spTree>
    <p:extLst>
      <p:ext uri="{BB962C8B-B14F-4D97-AF65-F5344CB8AC3E}">
        <p14:creationId xmlns:p14="http://schemas.microsoft.com/office/powerpoint/2010/main" val="18563747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数值信号量使用示例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515389" y="750627"/>
            <a:ext cx="110642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运行效果如下：</a:t>
            </a:r>
            <a:endParaRPr kumimoji="0" lang="en-US" altLang="zh-CN" sz="1800" b="0" i="0" u="none" strike="noStrike" kern="1200" cap="none" spc="0" normalizeH="0" baseline="0" noProof="0" dirty="0">
              <a:ln>
                <a:noFill/>
              </a:ln>
              <a:solidFill>
                <a:srgbClr val="00B050"/>
              </a:solidFill>
              <a:effectLst/>
              <a:uLnTx/>
              <a:uFillTx/>
              <a:latin typeface="Microsoft YaHei"/>
              <a:ea typeface="Microsoft YaHei"/>
              <a:cs typeface="+mn-cs"/>
            </a:endParaRPr>
          </a:p>
        </p:txBody>
      </p:sp>
      <p:pic>
        <p:nvPicPr>
          <p:cNvPr id="2" name="图片 1"/>
          <p:cNvPicPr>
            <a:picLocks noChangeAspect="1"/>
          </p:cNvPicPr>
          <p:nvPr/>
        </p:nvPicPr>
        <p:blipFill>
          <a:blip r:embed="rId2"/>
          <a:stretch>
            <a:fillRect/>
          </a:stretch>
        </p:blipFill>
        <p:spPr>
          <a:xfrm>
            <a:off x="777153" y="1232794"/>
            <a:ext cx="9972675" cy="4924425"/>
          </a:xfrm>
          <a:prstGeom prst="rect">
            <a:avLst/>
          </a:prstGeom>
        </p:spPr>
      </p:pic>
    </p:spTree>
    <p:extLst>
      <p:ext uri="{BB962C8B-B14F-4D97-AF65-F5344CB8AC3E}">
        <p14:creationId xmlns:p14="http://schemas.microsoft.com/office/powerpoint/2010/main" val="233046296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目录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2400" b="1" dirty="0">
                <a:solidFill>
                  <a:schemeClr val="tx1"/>
                </a:solidFill>
              </a:rPr>
              <a:t>消息队列</a:t>
            </a:r>
            <a:endParaRPr lang="en-US" altLang="zh-CN" sz="2400" b="1" dirty="0">
              <a:solidFill>
                <a:schemeClr val="tx1"/>
              </a:solidFill>
            </a:endParaRPr>
          </a:p>
          <a:p>
            <a:r>
              <a:rPr lang="zh-CN" altLang="en-US" sz="2400" b="1" dirty="0">
                <a:solidFill>
                  <a:schemeClr val="tx1"/>
                </a:solidFill>
              </a:rPr>
              <a:t>信号量</a:t>
            </a:r>
            <a:endParaRPr lang="en-US" altLang="zh-CN" sz="2400" b="1" dirty="0">
              <a:solidFill>
                <a:schemeClr val="tx1"/>
              </a:solidFill>
            </a:endParaRPr>
          </a:p>
          <a:p>
            <a:r>
              <a:rPr lang="zh-CN" altLang="en-US" sz="2400" b="1" dirty="0">
                <a:solidFill>
                  <a:srgbClr val="FF0000"/>
                </a:solidFill>
              </a:rPr>
              <a:t>互斥量</a:t>
            </a:r>
            <a:endParaRPr lang="en-US" altLang="zh-CN" sz="2400" b="1" dirty="0">
              <a:solidFill>
                <a:srgbClr val="FF0000"/>
              </a:solidFill>
            </a:endParaRPr>
          </a:p>
          <a:p>
            <a:r>
              <a:rPr lang="zh-CN" altLang="en-US" sz="2400" b="1" dirty="0">
                <a:solidFill>
                  <a:schemeClr val="tx1"/>
                </a:solidFill>
              </a:rPr>
              <a:t>事件</a:t>
            </a:r>
            <a:endParaRPr lang="en-US" altLang="zh-CN" sz="2400" b="1" dirty="0">
              <a:solidFill>
                <a:schemeClr val="tx1"/>
              </a:solidFill>
            </a:endParaRPr>
          </a:p>
        </p:txBody>
      </p:sp>
    </p:spTree>
    <p:extLst>
      <p:ext uri="{BB962C8B-B14F-4D97-AF65-F5344CB8AC3E}">
        <p14:creationId xmlns:p14="http://schemas.microsoft.com/office/powerpoint/2010/main" val="6001675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互斥量的基本概念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矩形 7"/>
          <p:cNvSpPr/>
          <p:nvPr/>
        </p:nvSpPr>
        <p:spPr>
          <a:xfrm>
            <a:off x="516160" y="865148"/>
            <a:ext cx="11105569" cy="186204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互斥量：</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处理临界资源</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互斥量又称互斥信号量，是一种</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特殊的二值信号量</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，又称互斥锁；</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只有</a:t>
            </a:r>
            <a:r>
              <a:rPr kumimoji="0" lang="zh-CN" altLang="en-US" sz="1800" b="1" i="0" u="none" strike="noStrike" kern="1200" cap="none" spc="0" normalizeH="0" baseline="0" noProof="0" dirty="0">
                <a:ln>
                  <a:noFill/>
                </a:ln>
                <a:solidFill>
                  <a:srgbClr val="5666D7"/>
                </a:solidFill>
                <a:effectLst/>
                <a:uLnTx/>
                <a:uFillTx/>
                <a:latin typeface="Microsoft YaHei"/>
                <a:ea typeface="Microsoft YaHei"/>
                <a:cs typeface="+mn-cs"/>
              </a:rPr>
              <a:t>闭锁和开锁</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两种状态；</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它和二值信号量最大的区别是具有</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优先级继承</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机制，减少二值信号量优先级翻转的危害。二值信号量和互斥量的区别如下图：</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endParaRPr>
          </a:p>
        </p:txBody>
      </p:sp>
      <p:pic>
        <p:nvPicPr>
          <p:cNvPr id="2" name="图片 1"/>
          <p:cNvPicPr>
            <a:picLocks noChangeAspect="1"/>
          </p:cNvPicPr>
          <p:nvPr/>
        </p:nvPicPr>
        <p:blipFill>
          <a:blip r:embed="rId2"/>
          <a:stretch>
            <a:fillRect/>
          </a:stretch>
        </p:blipFill>
        <p:spPr>
          <a:xfrm>
            <a:off x="627797" y="2841717"/>
            <a:ext cx="4931275" cy="2931708"/>
          </a:xfrm>
          <a:prstGeom prst="rect">
            <a:avLst/>
          </a:prstGeom>
        </p:spPr>
      </p:pic>
      <p:sp>
        <p:nvSpPr>
          <p:cNvPr id="13" name="文本框 12"/>
          <p:cNvSpPr txBox="1"/>
          <p:nvPr/>
        </p:nvSpPr>
        <p:spPr>
          <a:xfrm>
            <a:off x="5719766" y="2568633"/>
            <a:ext cx="5901963" cy="3477875"/>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存在三个任务，高级任务</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，中级任务</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，低级任务</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。如果使用二值信号量，则三个任务的响应过程如下：</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①</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 </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任务正在使用某临界资源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任务被唤醒，执行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 </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但</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任务还没有释放资源。</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②</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任务也要使用临界资源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，因为</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任务还没有释放资源，</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务被阻塞，继续执行</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③此时刻</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任务被唤醒，执行</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不使用临界资源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），此时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任务继续被阻塞。</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④</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任务执行结束，继续执行</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⑤</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任务执行完成，接着执行</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出现了</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任务先运行</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任务优先级翻转</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，这对系统来说是致命的。</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Tree>
    <p:extLst>
      <p:ext uri="{BB962C8B-B14F-4D97-AF65-F5344CB8AC3E}">
        <p14:creationId xmlns:p14="http://schemas.microsoft.com/office/powerpoint/2010/main" val="33403283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互斥量的基本概念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3" name="图片 2"/>
          <p:cNvPicPr>
            <a:picLocks noChangeAspect="1"/>
          </p:cNvPicPr>
          <p:nvPr/>
        </p:nvPicPr>
        <p:blipFill>
          <a:blip r:embed="rId2"/>
          <a:stretch>
            <a:fillRect/>
          </a:stretch>
        </p:blipFill>
        <p:spPr>
          <a:xfrm>
            <a:off x="613747" y="2931857"/>
            <a:ext cx="4859302" cy="2862322"/>
          </a:xfrm>
          <a:prstGeom prst="rect">
            <a:avLst/>
          </a:prstGeom>
        </p:spPr>
      </p:pic>
      <p:sp>
        <p:nvSpPr>
          <p:cNvPr id="14" name="文本框 13"/>
          <p:cNvSpPr txBox="1"/>
          <p:nvPr/>
        </p:nvSpPr>
        <p:spPr>
          <a:xfrm>
            <a:off x="5560803" y="2841717"/>
            <a:ext cx="6197692" cy="286232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如果有</a:t>
            </a:r>
            <a:r>
              <a:rPr kumimoji="0" lang="zh-CN" altLang="en-US" sz="16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优先级继承</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，则三个任务的响应过程如下：</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①</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任务正在使用某临界资源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任务被唤醒，执行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 </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但</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任务还没有释放资源。</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②</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任务也要使用临界资源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，因为</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任务还没有释放资源，</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务被阻塞，继续执行</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任务，但此时会把</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任务暂时提高到</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同级</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③此时刻</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任务被唤醒，</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但是</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任务继承到</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级</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任务继续等待。</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④</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任务释放临界资源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任务会优先抢到权限</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⑤</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H</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任务执行完成，接着</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执行</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⑥</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M</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任务执行完成，则继续</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执行</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L</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任务</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
        <p:nvSpPr>
          <p:cNvPr id="7" name="矩形 6"/>
          <p:cNvSpPr/>
          <p:nvPr/>
        </p:nvSpPr>
        <p:spPr>
          <a:xfrm>
            <a:off x="516160" y="865148"/>
            <a:ext cx="11105569" cy="1862048"/>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互斥量</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互斥量又称互斥信号量，是一种</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特殊的二值信号量</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，又称互斥锁；</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只有</a:t>
            </a:r>
            <a:r>
              <a:rPr kumimoji="0" lang="zh-CN" altLang="en-US" sz="1800" b="1" i="0" u="none" strike="noStrike" kern="1200" cap="none" spc="0" normalizeH="0" baseline="0" noProof="0" dirty="0">
                <a:ln>
                  <a:noFill/>
                </a:ln>
                <a:solidFill>
                  <a:srgbClr val="5666D7"/>
                </a:solidFill>
                <a:effectLst/>
                <a:uLnTx/>
                <a:uFillTx/>
                <a:latin typeface="Microsoft YaHei"/>
                <a:ea typeface="Microsoft YaHei"/>
                <a:cs typeface="+mn-cs"/>
              </a:rPr>
              <a:t>闭锁和开锁</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两种状态；</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它和二值信号量最大的区别是具有</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优先级继承</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机制，减少二值信号量优先级翻转的危害。二值信号量和互斥量的区别如下图：</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endParaRPr>
          </a:p>
        </p:txBody>
      </p:sp>
    </p:spTree>
    <p:extLst>
      <p:ext uri="{BB962C8B-B14F-4D97-AF65-F5344CB8AC3E}">
        <p14:creationId xmlns:p14="http://schemas.microsoft.com/office/powerpoint/2010/main" val="99184802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互斥量的使用方法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440574" y="1024947"/>
            <a:ext cx="11064240" cy="443198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、创建互斥量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LOS_MuxCreate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puwMuxHandle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互斥量的</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，须事先定义，用以区分多个互斥量。</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2</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、删除互斥量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互斥量使用结束，应该删除互斥量，回收存储空间。</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删除函数如下：</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LOS_MuxDelete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uwMuxHandle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根据信号量</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来删除。</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3</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、申请互斥量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nl-NL" altLang="zh-CN" sz="1400" b="1" i="0" u="none" strike="noStrike" kern="1200" cap="none" spc="0" normalizeH="0" baseline="0" noProof="0" dirty="0">
                <a:ln>
                  <a:noFill/>
                </a:ln>
                <a:solidFill>
                  <a:srgbClr val="000000"/>
                </a:solidFill>
                <a:effectLst/>
                <a:uLnTx/>
                <a:uFillTx/>
                <a:latin typeface="Courier New" panose="02070309020205020404" pitchFamily="49" charset="0"/>
                <a:ea typeface="Microsoft YaHei"/>
                <a:cs typeface="+mn-cs"/>
              </a:rPr>
              <a:t>   </a:t>
            </a:r>
            <a:r>
              <a:rPr kumimoji="0" lang="nl-NL"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LOS_</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Mux</a:t>
            </a:r>
            <a:r>
              <a:rPr kumimoji="0" lang="nl-NL" altLang="zh-CN" sz="1400" b="1" i="0" u="none" strike="noStrike" kern="1200" cap="none" spc="0" normalizeH="0" baseline="0" noProof="0" dirty="0">
                <a:ln>
                  <a:noFill/>
                </a:ln>
                <a:solidFill>
                  <a:srgbClr val="000000"/>
                </a:solidFill>
                <a:effectLst/>
                <a:uLnTx/>
                <a:uFillTx/>
                <a:latin typeface="Microsoft YaHei"/>
                <a:ea typeface="Microsoft YaHei"/>
                <a:cs typeface="+mn-cs"/>
              </a:rPr>
              <a:t>Pend(UINT32 uwMuxHandle, UINT32 uwTimeout)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类似于信号量读取，分为：不等待、等待一段时间、一直等待（死等）。 读取成功，互斥量闭锁。</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4</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、释放互斥量</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LOS_MuxPost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uwMuxHandle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释放互斥量，互斥量开锁。</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Tree>
    <p:extLst>
      <p:ext uri="{BB962C8B-B14F-4D97-AF65-F5344CB8AC3E}">
        <p14:creationId xmlns:p14="http://schemas.microsoft.com/office/powerpoint/2010/main" val="353187664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二值信号量和互斥锁对比</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pic>
        <p:nvPicPr>
          <p:cNvPr id="3" name="图片 2"/>
          <p:cNvPicPr>
            <a:picLocks noChangeAspect="1"/>
          </p:cNvPicPr>
          <p:nvPr/>
        </p:nvPicPr>
        <p:blipFill>
          <a:blip r:embed="rId2"/>
          <a:stretch>
            <a:fillRect/>
          </a:stretch>
        </p:blipFill>
        <p:spPr>
          <a:xfrm>
            <a:off x="119149" y="856037"/>
            <a:ext cx="5755358" cy="2928936"/>
          </a:xfrm>
          <a:prstGeom prst="rect">
            <a:avLst/>
          </a:prstGeom>
        </p:spPr>
      </p:pic>
      <p:pic>
        <p:nvPicPr>
          <p:cNvPr id="4" name="图片 3"/>
          <p:cNvPicPr>
            <a:picLocks noChangeAspect="1"/>
          </p:cNvPicPr>
          <p:nvPr/>
        </p:nvPicPr>
        <p:blipFill>
          <a:blip r:embed="rId3"/>
          <a:stretch>
            <a:fillRect/>
          </a:stretch>
        </p:blipFill>
        <p:spPr>
          <a:xfrm>
            <a:off x="119149" y="3784973"/>
            <a:ext cx="5755358" cy="2953993"/>
          </a:xfrm>
          <a:prstGeom prst="rect">
            <a:avLst/>
          </a:prstGeom>
        </p:spPr>
      </p:pic>
      <p:pic>
        <p:nvPicPr>
          <p:cNvPr id="7" name="图片 6"/>
          <p:cNvPicPr>
            <a:picLocks noChangeAspect="1"/>
          </p:cNvPicPr>
          <p:nvPr/>
        </p:nvPicPr>
        <p:blipFill>
          <a:blip r:embed="rId4"/>
          <a:stretch>
            <a:fillRect/>
          </a:stretch>
        </p:blipFill>
        <p:spPr>
          <a:xfrm>
            <a:off x="6295143" y="856037"/>
            <a:ext cx="5076667" cy="3018145"/>
          </a:xfrm>
          <a:prstGeom prst="rect">
            <a:avLst/>
          </a:prstGeom>
        </p:spPr>
      </p:pic>
      <p:pic>
        <p:nvPicPr>
          <p:cNvPr id="8" name="图片 7"/>
          <p:cNvPicPr>
            <a:picLocks noChangeAspect="1"/>
          </p:cNvPicPr>
          <p:nvPr/>
        </p:nvPicPr>
        <p:blipFill>
          <a:blip r:embed="rId5"/>
          <a:stretch>
            <a:fillRect/>
          </a:stretch>
        </p:blipFill>
        <p:spPr>
          <a:xfrm>
            <a:off x="6295143" y="3873323"/>
            <a:ext cx="5076667" cy="2990358"/>
          </a:xfrm>
          <a:prstGeom prst="rect">
            <a:avLst/>
          </a:prstGeom>
        </p:spPr>
      </p:pic>
      <p:pic>
        <p:nvPicPr>
          <p:cNvPr id="9" name="图片 8"/>
          <p:cNvPicPr>
            <a:picLocks noChangeAspect="1"/>
          </p:cNvPicPr>
          <p:nvPr/>
        </p:nvPicPr>
        <p:blipFill>
          <a:blip r:embed="rId6"/>
          <a:stretch>
            <a:fillRect/>
          </a:stretch>
        </p:blipFill>
        <p:spPr>
          <a:xfrm>
            <a:off x="3243263" y="1662546"/>
            <a:ext cx="167119" cy="167119"/>
          </a:xfrm>
          <a:prstGeom prst="rect">
            <a:avLst/>
          </a:prstGeom>
        </p:spPr>
      </p:pic>
      <p:pic>
        <p:nvPicPr>
          <p:cNvPr id="10" name="图片 9"/>
          <p:cNvPicPr>
            <a:picLocks noChangeAspect="1"/>
          </p:cNvPicPr>
          <p:nvPr/>
        </p:nvPicPr>
        <p:blipFill>
          <a:blip r:embed="rId7"/>
          <a:stretch>
            <a:fillRect/>
          </a:stretch>
        </p:blipFill>
        <p:spPr>
          <a:xfrm>
            <a:off x="3422543" y="1662546"/>
            <a:ext cx="159524" cy="167120"/>
          </a:xfrm>
          <a:prstGeom prst="rect">
            <a:avLst/>
          </a:prstGeom>
        </p:spPr>
      </p:pic>
      <p:pic>
        <p:nvPicPr>
          <p:cNvPr id="11" name="图片 10"/>
          <p:cNvPicPr>
            <a:picLocks noChangeAspect="1"/>
          </p:cNvPicPr>
          <p:nvPr/>
        </p:nvPicPr>
        <p:blipFill>
          <a:blip r:embed="rId8"/>
          <a:stretch>
            <a:fillRect/>
          </a:stretch>
        </p:blipFill>
        <p:spPr>
          <a:xfrm>
            <a:off x="3239415" y="1813040"/>
            <a:ext cx="179280" cy="171810"/>
          </a:xfrm>
          <a:prstGeom prst="rect">
            <a:avLst/>
          </a:prstGeom>
        </p:spPr>
      </p:pic>
      <p:pic>
        <p:nvPicPr>
          <p:cNvPr id="12" name="图片 11"/>
          <p:cNvPicPr>
            <a:picLocks noChangeAspect="1"/>
          </p:cNvPicPr>
          <p:nvPr/>
        </p:nvPicPr>
        <p:blipFill>
          <a:blip r:embed="rId9"/>
          <a:stretch>
            <a:fillRect/>
          </a:stretch>
        </p:blipFill>
        <p:spPr>
          <a:xfrm>
            <a:off x="3239415" y="2068732"/>
            <a:ext cx="126942" cy="132712"/>
          </a:xfrm>
          <a:prstGeom prst="rect">
            <a:avLst/>
          </a:prstGeom>
        </p:spPr>
      </p:pic>
      <p:pic>
        <p:nvPicPr>
          <p:cNvPr id="13" name="图片 12"/>
          <p:cNvPicPr>
            <a:picLocks noChangeAspect="1"/>
          </p:cNvPicPr>
          <p:nvPr/>
        </p:nvPicPr>
        <p:blipFill>
          <a:blip r:embed="rId10"/>
          <a:stretch>
            <a:fillRect/>
          </a:stretch>
        </p:blipFill>
        <p:spPr>
          <a:xfrm>
            <a:off x="3421874" y="2204916"/>
            <a:ext cx="160193" cy="160193"/>
          </a:xfrm>
          <a:prstGeom prst="rect">
            <a:avLst/>
          </a:prstGeom>
        </p:spPr>
      </p:pic>
      <p:pic>
        <p:nvPicPr>
          <p:cNvPr id="14" name="图片 13"/>
          <p:cNvPicPr>
            <a:picLocks noChangeAspect="1"/>
          </p:cNvPicPr>
          <p:nvPr/>
        </p:nvPicPr>
        <p:blipFill>
          <a:blip r:embed="rId10"/>
          <a:stretch>
            <a:fillRect/>
          </a:stretch>
        </p:blipFill>
        <p:spPr>
          <a:xfrm>
            <a:off x="3423617" y="2336801"/>
            <a:ext cx="160193" cy="160193"/>
          </a:xfrm>
          <a:prstGeom prst="rect">
            <a:avLst/>
          </a:prstGeom>
        </p:spPr>
      </p:pic>
      <p:sp>
        <p:nvSpPr>
          <p:cNvPr id="15" name="文本框 14"/>
          <p:cNvSpPr txBox="1"/>
          <p:nvPr/>
        </p:nvSpPr>
        <p:spPr>
          <a:xfrm>
            <a:off x="3501970" y="4906837"/>
            <a:ext cx="191238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Microsoft YaHei"/>
                <a:ea typeface="Microsoft YaHei"/>
                <a:cs typeface="+mn-cs"/>
              </a:rPr>
              <a:t>Low</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级别释放互锁之前</a:t>
            </a:r>
            <a:r>
              <a:rPr kumimoji="0" lang="zh-CN" altLang="en-US"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不会</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执行</a:t>
            </a:r>
            <a:r>
              <a:rPr kumimoji="0" lang="en-US" altLang="zh-CN" sz="1800" b="0" i="0" u="none" strike="noStrike" kern="1200" cap="none" spc="0" normalizeH="0" baseline="0" noProof="0" dirty="0">
                <a:ln>
                  <a:noFill/>
                </a:ln>
                <a:solidFill>
                  <a:srgbClr val="FF0000"/>
                </a:solidFill>
                <a:effectLst/>
                <a:uLnTx/>
                <a:uFillTx/>
                <a:latin typeface="Microsoft YaHei"/>
                <a:ea typeface="Microsoft YaHei"/>
                <a:cs typeface="+mn-cs"/>
              </a:rPr>
              <a:t>Middle</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级别</a:t>
            </a:r>
          </a:p>
        </p:txBody>
      </p:sp>
      <p:sp>
        <p:nvSpPr>
          <p:cNvPr id="16" name="文本框 15"/>
          <p:cNvSpPr txBox="1"/>
          <p:nvPr/>
        </p:nvSpPr>
        <p:spPr>
          <a:xfrm>
            <a:off x="3771223" y="1898945"/>
            <a:ext cx="191238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Microsoft YaHei"/>
                <a:ea typeface="Microsoft YaHei"/>
                <a:cs typeface="+mn-cs"/>
              </a:rPr>
              <a:t>Low</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级别释放互锁之前</a:t>
            </a:r>
            <a:r>
              <a:rPr kumimoji="0" lang="zh-CN" altLang="en-US"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会</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执行</a:t>
            </a:r>
            <a:r>
              <a:rPr kumimoji="0" lang="en-US" altLang="zh-CN" sz="1800" b="0" i="0" u="none" strike="noStrike" kern="1200" cap="none" spc="0" normalizeH="0" baseline="0" noProof="0" dirty="0">
                <a:ln>
                  <a:noFill/>
                </a:ln>
                <a:solidFill>
                  <a:srgbClr val="FF0000"/>
                </a:solidFill>
                <a:effectLst/>
                <a:uLnTx/>
                <a:uFillTx/>
                <a:latin typeface="Microsoft YaHei"/>
                <a:ea typeface="Microsoft YaHei"/>
                <a:cs typeface="+mn-cs"/>
              </a:rPr>
              <a:t>Middle</a:t>
            </a:r>
            <a:r>
              <a:rPr kumimoji="0" lang="zh-CN" altLang="en-US" sz="1800" b="0" i="0" u="none" strike="noStrike" kern="1200" cap="none" spc="0" normalizeH="0" baseline="0" noProof="0" dirty="0">
                <a:ln>
                  <a:noFill/>
                </a:ln>
                <a:solidFill>
                  <a:srgbClr val="FF0000"/>
                </a:solidFill>
                <a:effectLst/>
                <a:uLnTx/>
                <a:uFillTx/>
                <a:latin typeface="Microsoft YaHei"/>
                <a:ea typeface="Microsoft YaHei"/>
                <a:cs typeface="+mn-cs"/>
              </a:rPr>
              <a:t>级别</a:t>
            </a:r>
          </a:p>
        </p:txBody>
      </p:sp>
    </p:spTree>
    <p:extLst>
      <p:ext uri="{BB962C8B-B14F-4D97-AF65-F5344CB8AC3E}">
        <p14:creationId xmlns:p14="http://schemas.microsoft.com/office/powerpoint/2010/main" val="401589012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       目录</a:t>
            </a: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2400" b="1" dirty="0">
                <a:solidFill>
                  <a:schemeClr val="tx1"/>
                </a:solidFill>
              </a:rPr>
              <a:t>消息队列</a:t>
            </a:r>
            <a:endParaRPr lang="en-US" altLang="zh-CN" sz="2400" b="1" dirty="0">
              <a:solidFill>
                <a:schemeClr val="tx1"/>
              </a:solidFill>
            </a:endParaRPr>
          </a:p>
          <a:p>
            <a:r>
              <a:rPr lang="zh-CN" altLang="en-US" sz="2400" b="1" dirty="0">
                <a:solidFill>
                  <a:schemeClr val="tx1"/>
                </a:solidFill>
              </a:rPr>
              <a:t>信号量</a:t>
            </a:r>
            <a:endParaRPr lang="en-US" altLang="zh-CN" sz="2400" b="1" dirty="0">
              <a:solidFill>
                <a:schemeClr val="tx1"/>
              </a:solidFill>
            </a:endParaRPr>
          </a:p>
          <a:p>
            <a:r>
              <a:rPr lang="zh-CN" altLang="en-US" sz="2400" b="1" dirty="0">
                <a:solidFill>
                  <a:schemeClr val="tx1"/>
                </a:solidFill>
              </a:rPr>
              <a:t>互斥量</a:t>
            </a:r>
            <a:endParaRPr lang="en-US" altLang="zh-CN" sz="2400" b="1" dirty="0">
              <a:solidFill>
                <a:schemeClr val="tx1"/>
              </a:solidFill>
            </a:endParaRPr>
          </a:p>
          <a:p>
            <a:r>
              <a:rPr lang="zh-CN" altLang="en-US" sz="2400" b="1" dirty="0">
                <a:solidFill>
                  <a:srgbClr val="FF0000"/>
                </a:solidFill>
              </a:rPr>
              <a:t>事件</a:t>
            </a:r>
            <a:endParaRPr lang="en-US" altLang="zh-CN" sz="2400" b="1" dirty="0">
              <a:solidFill>
                <a:srgbClr val="FF0000"/>
              </a:solidFill>
            </a:endParaRPr>
          </a:p>
        </p:txBody>
      </p:sp>
    </p:spTree>
    <p:extLst>
      <p:ext uri="{BB962C8B-B14F-4D97-AF65-F5344CB8AC3E}">
        <p14:creationId xmlns:p14="http://schemas.microsoft.com/office/powerpoint/2010/main" val="21139346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事件的基本概念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8" name="矩形 7"/>
          <p:cNvSpPr/>
          <p:nvPr/>
        </p:nvSpPr>
        <p:spPr>
          <a:xfrm>
            <a:off x="192024" y="863707"/>
            <a:ext cx="11562173" cy="566308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    事件：</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以</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位掩码</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的方式支持</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多事件</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的同步</a:t>
            </a:r>
            <a:endPar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一种实现任务间通信的机制，主要用于任务间的同步</a:t>
            </a:r>
            <a:r>
              <a:rPr kumimoji="0" lang="zh-CN" altLang="en-US"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endParaRPr kumimoji="0" lang="en-US" altLang="zh-CN"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多任务环境下，任务和任务，任务和中断之间经常需要同步。例如任务</a:t>
            </a:r>
            <a:r>
              <a:rPr kumimoji="0" lang="en-US" altLang="zh-CN" sz="1800" b="0" i="0" u="none" strike="noStrike" kern="1200" cap="none" spc="0" normalizeH="0" baseline="0" noProof="0" dirty="0">
                <a:ln>
                  <a:noFill/>
                </a:ln>
                <a:solidFill>
                  <a:srgbClr val="C00000"/>
                </a:solidFill>
                <a:effectLst/>
                <a:uLnTx/>
                <a:uFillTx/>
                <a:latin typeface="Microsoft YaHei"/>
                <a:ea typeface="Microsoft YaHei"/>
                <a:cs typeface="+mn-cs"/>
              </a:rPr>
              <a:t>A</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发生某事件，</a:t>
            </a:r>
            <a:endParaRPr kumimoji="0" lang="en-US" altLang="zh-CN" sz="1800" b="0"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任务</a:t>
            </a:r>
            <a:r>
              <a:rPr kumimoji="0" lang="en-US" altLang="zh-CN" sz="1800" b="0" i="0" u="none" strike="noStrike" kern="1200" cap="none" spc="0" normalizeH="0" baseline="0" noProof="0" dirty="0">
                <a:ln>
                  <a:noFill/>
                </a:ln>
                <a:solidFill>
                  <a:srgbClr val="C00000"/>
                </a:solidFill>
                <a:effectLst/>
                <a:uLnTx/>
                <a:uFillTx/>
                <a:latin typeface="Microsoft YaHei"/>
                <a:ea typeface="Microsoft YaHei"/>
                <a:cs typeface="+mn-cs"/>
              </a:rPr>
              <a:t>B</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需要立刻处理</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，这就是</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同步</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，以实现多任务协调工作。</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事件与消息对比：只用来通信，不能传输数据</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事件</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只通知事件</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是否发生</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，不会提供更多信息；</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消息</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可以给出具体的</a:t>
            </a:r>
            <a:r>
              <a:rPr kumimoji="0" lang="zh-CN" altLang="en-US" sz="1800" b="0" i="0" u="none" strike="noStrike" kern="1200" cap="none" spc="0" normalizeH="0" baseline="0" noProof="0" dirty="0">
                <a:ln>
                  <a:noFill/>
                </a:ln>
                <a:solidFill>
                  <a:srgbClr val="C00000"/>
                </a:solidFill>
                <a:effectLst/>
                <a:uLnTx/>
                <a:uFillTx/>
                <a:latin typeface="Microsoft YaHei"/>
                <a:ea typeface="Microsoft YaHei"/>
                <a:cs typeface="+mn-cs"/>
              </a:rPr>
              <a:t>消息内容</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，具有数据传输功能。</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事件与信号量对比：可以实现一对多，多对多的同步；不具有累加功能</a:t>
            </a:r>
            <a:r>
              <a:rPr kumimoji="0" lang="zh-CN" altLang="en-US"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endParaRPr kumimoji="0" lang="en-US" altLang="zh-CN" sz="1800" b="0"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事件</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比作开关，一个开关可以控制多台设备；事件可以重复写，最后写入的有效。</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信号量</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比作工具，一个工具不可能多人同时使用，也不能重复写入，有累加计数功能。 </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事件控制块</a:t>
            </a:r>
            <a:br>
              <a:rPr kumimoji="0" lang="zh-CN" altLang="en-US" sz="18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b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事件控制块</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事件控制块用户可以操作</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                     消息控制块、信号量控制块和互斥量控制块</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用户是看不到的</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cs"/>
              </a:rPr>
              <a:t>事件控制块的结构体定义如下：</a:t>
            </a:r>
            <a:endPar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typedef</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struct</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tagEvent</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uwEventID</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B050"/>
                </a:solidFill>
                <a:effectLst/>
                <a:uLnTx/>
                <a:uFillTx/>
                <a:latin typeface="Microsoft YaHei"/>
                <a:ea typeface="Microsoft YaHei"/>
                <a:cs typeface="+mn-cs"/>
              </a:rPr>
              <a:t>事件控制块中的事件掩码，存放事件组。</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用户可操作</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LOS_DL_LIST </a:t>
            </a:r>
            <a:r>
              <a:rPr kumimoji="0" lang="en-US" altLang="zh-CN" sz="1800" b="0" i="0" u="none" strike="noStrike" kern="1200" cap="none" spc="0" normalizeH="0" baseline="0" noProof="0" dirty="0" err="1">
                <a:ln>
                  <a:noFill/>
                </a:ln>
                <a:solidFill>
                  <a:srgbClr val="000000"/>
                </a:solidFill>
                <a:effectLst/>
                <a:uLnTx/>
                <a:uFillTx/>
                <a:latin typeface="Microsoft YaHei"/>
                <a:ea typeface="Microsoft YaHei"/>
                <a:cs typeface="+mn-cs"/>
              </a:rPr>
              <a:t>stEventList</a:t>
            </a: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800" b="0"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B050"/>
                </a:solidFill>
                <a:effectLst/>
                <a:uLnTx/>
                <a:uFillTx/>
                <a:latin typeface="Microsoft YaHei"/>
                <a:ea typeface="Microsoft YaHei"/>
                <a:cs typeface="+mn-cs"/>
              </a:rPr>
              <a:t>事件阻塞列表。</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用户不可操作</a:t>
            </a:r>
            <a:b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b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 EVENT_CB_S, *PEVENT_CB_S;        </a:t>
            </a:r>
            <a:r>
              <a:rPr kumimoji="0" lang="en-US" altLang="zh-CN" sz="1800" b="0"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800" b="0" i="0" u="none" strike="noStrike" kern="1200" cap="none" spc="0" normalizeH="0" baseline="0" noProof="0" dirty="0">
                <a:ln>
                  <a:noFill/>
                </a:ln>
                <a:solidFill>
                  <a:srgbClr val="00B050"/>
                </a:solidFill>
                <a:effectLst/>
                <a:uLnTx/>
                <a:uFillTx/>
                <a:latin typeface="Microsoft YaHei"/>
                <a:ea typeface="Microsoft YaHei"/>
                <a:cs typeface="+mn-cs"/>
              </a:rPr>
              <a:t>定义了一个</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结构体类型</a:t>
            </a:r>
            <a:r>
              <a:rPr kumimoji="0" lang="zh-CN" altLang="en-US" sz="1800" b="0" i="0" u="none" strike="noStrike" kern="1200" cap="none" spc="0" normalizeH="0" baseline="0" noProof="0" dirty="0">
                <a:ln>
                  <a:noFill/>
                </a:ln>
                <a:solidFill>
                  <a:srgbClr val="00B050"/>
                </a:solidFill>
                <a:effectLst/>
                <a:uLnTx/>
                <a:uFillTx/>
                <a:latin typeface="Microsoft YaHei"/>
                <a:ea typeface="Microsoft YaHei"/>
                <a:cs typeface="+mn-cs"/>
              </a:rPr>
              <a:t>，同时定义了一个</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结构体指针类型</a:t>
            </a:r>
            <a:br>
              <a:rPr kumimoji="0" lang="en-US" altLang="zh-CN" sz="1800" b="0"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800" b="0"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注意：</a:t>
            </a:r>
            <a:r>
              <a:rPr kumimoji="0" lang="en-US" altLang="zh-CN" sz="1800" b="1" i="0" u="none" strike="noStrike" kern="1200" cap="none" spc="0" normalizeH="0" baseline="0" noProof="0" dirty="0" err="1">
                <a:ln>
                  <a:noFill/>
                </a:ln>
                <a:solidFill>
                  <a:srgbClr val="C00000"/>
                </a:solidFill>
                <a:effectLst/>
                <a:uLnTx/>
                <a:uFillTx/>
                <a:latin typeface="Microsoft YaHei"/>
                <a:ea typeface="Microsoft YaHei"/>
                <a:cs typeface="+mn-cs"/>
              </a:rPr>
              <a:t>uwEventID</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的第</a:t>
            </a: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25</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位固定为</a:t>
            </a: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0</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，其他</a:t>
            </a: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31</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个位用来存放</a:t>
            </a: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31</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个事件。</a:t>
            </a:r>
            <a:endPar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                          即一个事件组可以存放</a:t>
            </a:r>
            <a:r>
              <a:rPr kumimoji="0" lang="en-US" altLang="zh-CN" sz="1800" b="1" i="0" u="none" strike="noStrike" kern="1200" cap="none" spc="0" normalizeH="0" baseline="0" noProof="0" dirty="0">
                <a:ln>
                  <a:noFill/>
                </a:ln>
                <a:solidFill>
                  <a:srgbClr val="C00000"/>
                </a:solidFill>
                <a:effectLst/>
                <a:uLnTx/>
                <a:uFillTx/>
                <a:latin typeface="Microsoft YaHei"/>
                <a:ea typeface="Microsoft YaHei"/>
                <a:cs typeface="+mn-cs"/>
              </a:rPr>
              <a:t>31</a:t>
            </a:r>
            <a:r>
              <a:rPr kumimoji="0" lang="zh-CN" altLang="en-US" sz="1800" b="1" i="0" u="none" strike="noStrike" kern="1200" cap="none" spc="0" normalizeH="0" baseline="0" noProof="0" dirty="0">
                <a:ln>
                  <a:noFill/>
                </a:ln>
                <a:solidFill>
                  <a:srgbClr val="C00000"/>
                </a:solidFill>
                <a:effectLst/>
                <a:uLnTx/>
                <a:uFillTx/>
                <a:latin typeface="Microsoft YaHei"/>
                <a:ea typeface="Microsoft YaHei"/>
                <a:cs typeface="+mn-cs"/>
              </a:rPr>
              <a:t>个事件。</a:t>
            </a:r>
          </a:p>
        </p:txBody>
      </p:sp>
    </p:spTree>
    <p:extLst>
      <p:ext uri="{BB962C8B-B14F-4D97-AF65-F5344CB8AC3E}">
        <p14:creationId xmlns:p14="http://schemas.microsoft.com/office/powerpoint/2010/main" val="1040435942"/>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事件的使用方法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222457" y="750627"/>
            <a:ext cx="11969541" cy="621272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、初始化事件控制块</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LOS_EventInit</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(PEVENT_CB_S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pstEventCB</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事件控制块，须事先定义，用以区分多个事件组</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其地</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址为初始化事件控制块函数的参数。</a:t>
            </a:r>
            <a:endPar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初始化的结果</a:t>
            </a:r>
            <a:r>
              <a:rPr kumimoji="0" lang="en-US" altLang="zh-CN" sz="2000" b="1" i="0" u="none" strike="noStrike" kern="1200" cap="none" spc="0" normalizeH="0" baseline="0" noProof="0" dirty="0" err="1">
                <a:ln>
                  <a:noFill/>
                </a:ln>
                <a:solidFill>
                  <a:srgbClr val="00B050"/>
                </a:solidFill>
                <a:effectLst/>
                <a:uLnTx/>
                <a:uFillTx/>
                <a:latin typeface="Microsoft YaHei"/>
                <a:ea typeface="Microsoft YaHei"/>
                <a:cs typeface="+mn-cs"/>
              </a:rPr>
              <a:t>uwEventID</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=0</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，即事件为空，没有任何事件发生。</a:t>
            </a:r>
            <a:endPar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例：</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static EVENT_CB_S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EventGroup_CB</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定义事件控制块</a:t>
            </a:r>
            <a:b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 LOS_OK</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  		 // </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定义一个返回类型，初始化为成功的返回值 </a:t>
            </a:r>
            <a:b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LOS_EventInit</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(&amp;</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EventGroup_CB</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初始化事件控制块</a:t>
            </a:r>
            <a:endPar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2</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、销毁事件控制块</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        </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事件使用结束，应该删除事件控制块，回收存储空间。</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2000" b="1" i="0" u="none" strike="noStrike" kern="1200" cap="none" spc="0" normalizeH="0" baseline="0" noProof="0" dirty="0">
                <a:ln>
                  <a:noFill/>
                </a:ln>
                <a:solidFill>
                  <a:srgbClr val="000000"/>
                </a:solidFill>
                <a:effectLst/>
                <a:uLnTx/>
                <a:uFillTx/>
                <a:latin typeface="Microsoft YaHei"/>
                <a:ea typeface="Microsoft YaHei"/>
                <a:cs typeface="+mn-cs"/>
              </a:rPr>
              <a:t>销毁函数如下：</a:t>
            </a:r>
            <a:endPar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LOS_EventDestory</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(PEVENT_CB_S </a:t>
            </a:r>
            <a:r>
              <a:rPr kumimoji="0" lang="en-US" altLang="zh-CN" sz="2000" b="1" i="0" u="none" strike="noStrike" kern="1200" cap="none" spc="0" normalizeH="0" baseline="0" noProof="0" dirty="0" err="1">
                <a:ln>
                  <a:noFill/>
                </a:ln>
                <a:solidFill>
                  <a:srgbClr val="000000"/>
                </a:solidFill>
                <a:effectLst/>
                <a:uLnTx/>
                <a:uFillTx/>
                <a:latin typeface="Microsoft YaHei"/>
                <a:ea typeface="Microsoft YaHei"/>
                <a:cs typeface="+mn-cs"/>
              </a:rPr>
              <a:t>pstEventCB</a:t>
            </a:r>
            <a:r>
              <a:rPr kumimoji="0" lang="en-US" altLang="zh-CN" sz="20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参数为指针类型</a:t>
            </a:r>
            <a:b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3</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、写指定事件</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nl-NL"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Microsoft YaHei"/>
                <a:cs typeface="+mn-cs"/>
              </a:rPr>
              <a:t>    </a:t>
            </a:r>
            <a:r>
              <a:rPr kumimoji="0" lang="nl-NL" altLang="zh-CN" sz="2000" b="1" i="0" u="none" strike="noStrike" kern="1200" cap="none" spc="0" normalizeH="0" baseline="0" noProof="0" dirty="0">
                <a:ln>
                  <a:noFill/>
                </a:ln>
                <a:solidFill>
                  <a:srgbClr val="000000"/>
                </a:solidFill>
                <a:effectLst/>
                <a:uLnTx/>
                <a:uFillTx/>
                <a:latin typeface="Microsoft YaHei"/>
                <a:ea typeface="Microsoft YaHei"/>
                <a:cs typeface="+mn-cs"/>
              </a:rPr>
              <a:t>UINT32 LOS_EventWrite(PEVENT_CB_S pstEventCB, 	 </a:t>
            </a:r>
            <a:r>
              <a:rPr kumimoji="0" lang="nl-NL"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事件控制块</a:t>
            </a:r>
            <a:endParaRPr kumimoji="0" lang="nl-NL" altLang="zh-CN" sz="20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nl-NL" altLang="zh-CN" sz="2000" b="1" i="0" u="none" strike="noStrike" kern="1200" cap="none" spc="0" normalizeH="0" baseline="0" noProof="0" dirty="0">
                <a:ln>
                  <a:noFill/>
                </a:ln>
                <a:solidFill>
                  <a:srgbClr val="000000"/>
                </a:solidFill>
                <a:effectLst/>
                <a:uLnTx/>
                <a:uFillTx/>
                <a:latin typeface="Microsoft YaHei"/>
                <a:ea typeface="Microsoft YaHei"/>
                <a:cs typeface="+mn-cs"/>
              </a:rPr>
              <a:t>                       	  UINT32 uwEvents)                		</a:t>
            </a:r>
            <a:r>
              <a:rPr kumimoji="0" lang="nl-NL" altLang="zh-CN" sz="20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事件掩码，写</a:t>
            </a:r>
            <a:r>
              <a:rPr kumimoji="0" lang="en-US" altLang="zh-CN" sz="20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2000" b="1" i="0" u="none" strike="noStrike" kern="1200" cap="none" spc="0" normalizeH="0" baseline="0" noProof="0" dirty="0">
                <a:ln>
                  <a:noFill/>
                </a:ln>
                <a:solidFill>
                  <a:srgbClr val="00B050"/>
                </a:solidFill>
                <a:effectLst/>
                <a:uLnTx/>
                <a:uFillTx/>
                <a:latin typeface="Microsoft YaHei"/>
                <a:ea typeface="Microsoft YaHei"/>
                <a:cs typeface="+mn-cs"/>
              </a:rPr>
              <a:t>给出事件</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相当于或</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操作</a:t>
            </a: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a:t>
            </a:r>
            <a:endParaRPr kumimoji="0" lang="nl-NL"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p:txBody>
      </p:sp>
    </p:spTree>
    <p:extLst>
      <p:ext uri="{BB962C8B-B14F-4D97-AF65-F5344CB8AC3E}">
        <p14:creationId xmlns:p14="http://schemas.microsoft.com/office/powerpoint/2010/main" val="761837533"/>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事件的使用方法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4" name="文本框 3"/>
          <p:cNvSpPr txBox="1"/>
          <p:nvPr/>
        </p:nvSpPr>
        <p:spPr>
          <a:xfrm>
            <a:off x="313898" y="861738"/>
            <a:ext cx="11533973" cy="603242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4</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、清除指定事件</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Courier New" panose="02070309020205020404" pitchFamily="49" charset="0"/>
                <a:ea typeface="Microsoft YaHei"/>
                <a:cs typeface="+mn-cs"/>
              </a:rPr>
              <a:t>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LOS_EventClear</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(PEVENT_CB_S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pstEventCB</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nl-NL" altLang="zh-CN" sz="16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事件控制块</a:t>
            </a:r>
            <a:endParaRPr kumimoji="0" lang="nl-NL"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uwEvents</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事件掩码，写</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0</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清除事件</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（相当于与</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0</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操作）</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rPr>
              <a:t>5</a:t>
            </a:r>
            <a:r>
              <a:rPr kumimoji="0" lang="zh-CN" altLang="en-US" sz="2000" b="1" i="0" u="none" strike="noStrike" kern="1200" cap="none" spc="0" normalizeH="0" baseline="0" noProof="0" dirty="0">
                <a:ln>
                  <a:noFill/>
                </a:ln>
                <a:solidFill>
                  <a:srgbClr val="C00000"/>
                </a:solidFill>
                <a:effectLst/>
                <a:uLnTx/>
                <a:uFillTx/>
                <a:latin typeface="Microsoft YaHei"/>
                <a:ea typeface="Microsoft YaHei"/>
                <a:cs typeface="+mn-cs"/>
              </a:rPr>
              <a:t>、读取指定事件</a:t>
            </a:r>
            <a:endParaRPr kumimoji="0" lang="en-US" altLang="zh-CN" sz="20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LOS_EventRead</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(PEVENT_CB_S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pstEventCB</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事件控制块</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uwEventMask</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事件掩码</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为</a:t>
            </a:r>
            <a:r>
              <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rPr>
              <a:t>1</a:t>
            </a:r>
            <a:r>
              <a:rPr kumimoji="0" lang="zh-CN" altLang="en-US" sz="1600" b="1" i="0" u="none" strike="noStrike" kern="1200" cap="none" spc="0" normalizeH="0" baseline="0" noProof="0" dirty="0">
                <a:ln>
                  <a:noFill/>
                </a:ln>
                <a:solidFill>
                  <a:srgbClr val="C00000"/>
                </a:solidFill>
                <a:effectLst/>
                <a:uLnTx/>
                <a:uFillTx/>
                <a:latin typeface="Microsoft YaHei"/>
                <a:ea typeface="Microsoft YaHei"/>
                <a:cs typeface="+mn-cs"/>
              </a:rPr>
              <a:t>的位置就是要判断的事件</a:t>
            </a:r>
            <a:endParaRPr kumimoji="0" lang="en-US" altLang="zh-CN" sz="1600" b="1" i="0" u="none" strike="noStrike" kern="1200" cap="none" spc="0" normalizeH="0" baseline="0" noProof="0" dirty="0">
              <a:ln>
                <a:noFill/>
              </a:ln>
              <a:solidFill>
                <a:srgbClr val="C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uwMode</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操作模式：与、或、清除（读完清除）</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uwTimeOut</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zh-CN" altLang="en-US" sz="1600" b="1" i="0" u="none" strike="noStrike" kern="1200" cap="none" spc="0" normalizeH="0" baseline="0" noProof="0" dirty="0">
                <a:ln>
                  <a:noFill/>
                </a:ln>
                <a:solidFill>
                  <a:srgbClr val="00B050"/>
                </a:solidFill>
                <a:effectLst/>
                <a:uLnTx/>
                <a:uFillTx/>
                <a:latin typeface="Microsoft YaHei"/>
                <a:ea typeface="Microsoft YaHei"/>
                <a:cs typeface="+mn-cs"/>
              </a:rPr>
              <a:t>不等待、等待一段时间、永久等待</a:t>
            </a:r>
            <a:endPar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altLang="zh-CN" sz="16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注意：</a:t>
            </a:r>
            <a:r>
              <a:rPr kumimoji="0" lang="zh-CN" altLang="en-US" b="1" i="0" u="none" strike="noStrike" kern="1200" cap="none" spc="0" normalizeH="0" baseline="0" noProof="0" dirty="0">
                <a:ln>
                  <a:noFill/>
                </a:ln>
                <a:solidFill>
                  <a:srgbClr val="C00000"/>
                </a:solidFill>
                <a:effectLst/>
                <a:uLnTx/>
                <a:uFillTx/>
                <a:latin typeface="Microsoft YaHei"/>
                <a:ea typeface="Microsoft YaHei"/>
                <a:cs typeface="+mn-cs"/>
              </a:rPr>
              <a:t>操作模式</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：与、或模式是针对多个事件的，所有事件用“与”，任一事件用“或”，类似多个开关的串并联结构。</a:t>
            </a:r>
            <a:endPar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00B050"/>
                </a:solidFill>
                <a:effectLst/>
                <a:uLnTx/>
                <a:uFillTx/>
                <a:latin typeface="Microsoft YaHei"/>
                <a:ea typeface="Microsoft YaHei"/>
                <a:cs typeface="+mn-cs"/>
              </a:rPr>
              <a:t>与模式：</a:t>
            </a: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LOS_WAITMODE_AND</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r>
              <a:rPr kumimoji="0" lang="zh-CN" altLang="en-US" b="1" i="0" u="none" strike="noStrike" kern="1200" cap="none" spc="0" normalizeH="0" baseline="0" noProof="0" dirty="0">
                <a:ln>
                  <a:noFill/>
                </a:ln>
                <a:solidFill>
                  <a:srgbClr val="00B050"/>
                </a:solidFill>
                <a:effectLst/>
                <a:uLnTx/>
                <a:uFillTx/>
                <a:latin typeface="Microsoft YaHei"/>
                <a:ea typeface="Microsoft YaHei"/>
                <a:cs typeface="+mn-cs"/>
              </a:rPr>
              <a:t>或模式：</a:t>
            </a: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LOS_WAITMODE_OR</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r>
              <a:rPr kumimoji="0" lang="zh-CN" altLang="en-US" b="1" i="0" u="none" strike="noStrike" kern="1200" cap="none" spc="0" normalizeH="0" baseline="0" noProof="0" dirty="0">
                <a:ln>
                  <a:noFill/>
                </a:ln>
                <a:solidFill>
                  <a:srgbClr val="00B050"/>
                </a:solidFill>
                <a:effectLst/>
                <a:uLnTx/>
                <a:uFillTx/>
                <a:latin typeface="Microsoft YaHei"/>
                <a:ea typeface="Microsoft YaHei"/>
                <a:cs typeface="+mn-cs"/>
              </a:rPr>
              <a:t>清除模式：</a:t>
            </a: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LOS_WAITMODE_CLR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（读完清除事件）</a:t>
            </a:r>
            <a:endPar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C00000"/>
                </a:solidFill>
                <a:effectLst/>
                <a:uLnTx/>
                <a:uFillTx/>
                <a:latin typeface="Microsoft YaHei"/>
                <a:ea typeface="Microsoft YaHei"/>
                <a:cs typeface="+mn-cs"/>
              </a:rPr>
              <a:t>操作模式可采用</a:t>
            </a: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LOS_WAITMODE_AND|LOS_WAITMODE_CLR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或者</a:t>
            </a:r>
            <a:endPar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LOS_WAITMODE_OR| LOS_WAITMODE_CLR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的形式</a:t>
            </a:r>
            <a:endPar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表示读取成功后，对应事件类型位会</a:t>
            </a:r>
            <a:r>
              <a:rPr kumimoji="0" lang="zh-CN" altLang="en-US" b="1" i="0" u="none" strike="noStrike" kern="1200" cap="none" spc="0" normalizeH="0" baseline="0" noProof="0" dirty="0">
                <a:ln>
                  <a:noFill/>
                </a:ln>
                <a:solidFill>
                  <a:srgbClr val="C00000"/>
                </a:solidFill>
                <a:effectLst/>
                <a:uLnTx/>
                <a:uFillTx/>
                <a:latin typeface="Microsoft YaHei"/>
                <a:ea typeface="Microsoft YaHei"/>
                <a:cs typeface="+mn-cs"/>
              </a:rPr>
              <a:t>自动清除</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如果模式没有设置为自动清除的话，那么需要我们</a:t>
            </a:r>
            <a:r>
              <a:rPr kumimoji="0" lang="zh-CN" altLang="en-US" b="1" i="0" u="none" strike="noStrike" kern="1200" cap="none" spc="0" normalizeH="0" baseline="0" noProof="0" dirty="0">
                <a:ln>
                  <a:noFill/>
                </a:ln>
                <a:solidFill>
                  <a:srgbClr val="00B050"/>
                </a:solidFill>
                <a:effectLst/>
                <a:uLnTx/>
                <a:uFillTx/>
                <a:latin typeface="Microsoft YaHei"/>
                <a:ea typeface="Microsoft YaHei"/>
                <a:cs typeface="+mn-cs"/>
              </a:rPr>
              <a:t>手动显式清除</a:t>
            </a:r>
            <a:endParaRPr kumimoji="0" lang="en-US" altLang="zh-CN"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r>
              <a:rPr kumimoji="0" lang="zh-CN" altLang="en-US" b="1" i="0" u="none" strike="noStrike" kern="1200" cap="none" spc="0" normalizeH="0" baseline="0" noProof="0" dirty="0">
                <a:ln>
                  <a:noFill/>
                </a:ln>
                <a:solidFill>
                  <a:srgbClr val="C00000"/>
                </a:solidFill>
                <a:effectLst/>
                <a:uLnTx/>
                <a:uFillTx/>
                <a:latin typeface="Microsoft YaHei"/>
                <a:ea typeface="Microsoft YaHei"/>
                <a:cs typeface="+mn-cs"/>
              </a:rPr>
              <a:t>掩码：</a:t>
            </a:r>
            <a:r>
              <a:rPr kumimoji="0" lang="zh-CN" altLang="en-US"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按位来进行操作，区别于普通数值</a:t>
            </a:r>
            <a:r>
              <a:rPr kumimoji="0" lang="zh-CN" altLang="en-US" b="1" i="0" u="none" strike="noStrike" kern="1200" cap="none" spc="0" normalizeH="0" baseline="0" noProof="0" dirty="0">
                <a:ln>
                  <a:noFill/>
                </a:ln>
                <a:solidFill>
                  <a:srgbClr val="FF0000"/>
                </a:solidFill>
                <a:effectLst/>
                <a:uLnTx/>
                <a:uFillTx/>
                <a:latin typeface="Microsoft YaHei"/>
                <a:ea typeface="Microsoft YaHei"/>
                <a:cs typeface="+mn-cs"/>
              </a:rPr>
              <a:t>。</a:t>
            </a:r>
            <a:endParaRPr kumimoji="0" lang="en-US" altLang="zh-CN" b="1" i="0" u="none" strike="noStrike" kern="1200" cap="none" spc="0" normalizeH="0" baseline="0" noProof="0" dirty="0">
              <a:ln>
                <a:noFill/>
              </a:ln>
              <a:solidFill>
                <a:srgbClr val="FF0000"/>
              </a:solidFill>
              <a:effectLst/>
              <a:uLnTx/>
              <a:uFillTx/>
              <a:latin typeface="Microsoft YaHei"/>
              <a:ea typeface="Microsoft YaHei"/>
              <a:cs typeface="+mn-cs"/>
            </a:endParaRPr>
          </a:p>
        </p:txBody>
      </p:sp>
    </p:spTree>
    <p:extLst>
      <p:ext uri="{BB962C8B-B14F-4D97-AF65-F5344CB8AC3E}">
        <p14:creationId xmlns:p14="http://schemas.microsoft.com/office/powerpoint/2010/main" val="196535565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Microsoft YaHei"/>
                <a:ea typeface="Microsoft YaHei"/>
                <a:cs typeface="+mn-ea"/>
                <a:sym typeface="+mn-lt"/>
              </a:rPr>
              <a:t>事件组使用示例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Microsoft YaHei"/>
              <a:ea typeface="Microsoft YaHei"/>
              <a:cs typeface="+mn-ea"/>
              <a:sym typeface="+mn-lt"/>
            </a:endParaRPr>
          </a:p>
        </p:txBody>
      </p:sp>
      <p:sp>
        <p:nvSpPr>
          <p:cNvPr id="7" name="文本框 6"/>
          <p:cNvSpPr txBox="1"/>
          <p:nvPr/>
        </p:nvSpPr>
        <p:spPr>
          <a:xfrm>
            <a:off x="0" y="808816"/>
            <a:ext cx="6143105" cy="64017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本示例只给出主要框架，详细代码自己完成。</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①头文件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②定义全局变量</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LED_Task_Handle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显示任务的句柄（或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KEY_Task_Handle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开关任务的句柄（或</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ID</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static EVENT_CB_S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EventGroup_CB</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定义事件控制块</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#define KEY1_EVENT (0x01 &lt;&lt; 0)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设置事件掩码的位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#define KEY2_EVENT (0x01 &lt;&lt; 1)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设置事件掩码的位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   </a:t>
            </a:r>
            <a:r>
              <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③函数声明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包括应用创建函数、任务创建函数、任务函数</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④</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main</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定义局部变量，板级初始化等</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LOS_KernelInit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内核初始化</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b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LOS_Start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启动任务调度</a:t>
            </a:r>
            <a:b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b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⑤应用创建函数</a:t>
            </a: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AppTaskCreate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LOS_EventInit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EventGroup_CB</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初始化事件控制块</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Creat_LED_Task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Creat_KEY_Task</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      ⑥任务创建函数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略</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endPar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endParaRPr>
          </a:p>
        </p:txBody>
      </p:sp>
      <p:sp>
        <p:nvSpPr>
          <p:cNvPr id="8" name="文本框 7"/>
          <p:cNvSpPr txBox="1"/>
          <p:nvPr/>
        </p:nvSpPr>
        <p:spPr>
          <a:xfrm>
            <a:off x="5698594" y="750627"/>
            <a:ext cx="6493406" cy="64940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⑦读取事件的任务函数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LED_Task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LED_Task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UINT32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LOS_OK;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 ( KEY1 )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按下读取事件</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LOS_EventRead</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EventGroup_CB</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事件标志组对象</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KEY1_EVENT|KEY2_EVENT,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等待任务感兴趣的事件</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LOS_WAITMODE_AND,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等待两位均被置位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LOS_WAIT_FOREVER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无期限等待</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if(KEY1_EVENT|KEY2_EVENT ==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uwRet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KEY1_EVENT|KEY2_EVENT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“\r\nKEY1</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和</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KEY2</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均被按下！ </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LOS_EventClear</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(&amp;EventGroup_CB,~KEY1_EVENT); //</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清除</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LOS_EventClear</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(&amp;EventGroup_CB,~KEY2_EVENT);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icrosoft YaHei"/>
                <a:ea typeface="Microsoft YaHei"/>
                <a:cs typeface="+mn-cs"/>
              </a:rPr>
              <a:t>⑧</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给出事件的任务函数</a:t>
            </a:r>
            <a:r>
              <a:rPr kumimoji="0" lang="en-US" altLang="zh-CN" sz="1600" b="1" i="0" u="none" strike="noStrike" kern="1200" cap="none" spc="0" normalizeH="0" baseline="0" noProof="0" dirty="0" err="1">
                <a:ln>
                  <a:noFill/>
                </a:ln>
                <a:solidFill>
                  <a:srgbClr val="000000"/>
                </a:solidFill>
                <a:effectLst/>
                <a:uLnTx/>
                <a:uFillTx/>
                <a:latin typeface="Microsoft YaHei"/>
                <a:ea typeface="Microsoft YaHei"/>
                <a:cs typeface="+mn-cs"/>
              </a:rPr>
              <a:t>KEY_Task</a:t>
            </a:r>
            <a:r>
              <a:rPr kumimoji="0" lang="zh-CN" altLang="en-US" sz="1600" b="1" i="0" u="none" strike="noStrike" kern="1200" cap="none" spc="0" normalizeH="0" baseline="0" noProof="0" dirty="0">
                <a:ln>
                  <a:noFill/>
                </a:ln>
                <a:solidFill>
                  <a:srgbClr val="000000"/>
                </a:solidFill>
                <a:effectLst/>
                <a:uLnTx/>
                <a:uFillTx/>
                <a:latin typeface="Microsoft YaHei"/>
                <a:ea typeface="Microsoft YaHei"/>
                <a:cs typeface="+mn-cs"/>
              </a:rPr>
              <a:t>（）</a:t>
            </a:r>
            <a:endParaRPr kumimoji="0" lang="en-US" altLang="zh-CN" sz="1600" b="1" i="0" u="none" strike="noStrike" kern="1200" cap="none" spc="0" normalizeH="0" baseline="0" noProof="0" dirty="0">
              <a:ln>
                <a:noFill/>
              </a:ln>
              <a:solidFill>
                <a:srgbClr val="000000"/>
              </a:solidFill>
              <a:effectLst/>
              <a:uLnTx/>
              <a:uFillTx/>
              <a:latin typeface="Microsoft YaHei"/>
              <a:ea typeface="Microsoft Ya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KEY_Task</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while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if(KEY1)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按下释放事件</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“\r\nKEY1</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LOS_EventWrite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(&amp;EventGroup_CB,KEY1_EVENT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if(KEY2) { </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按键</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r>
              <a:rPr kumimoji="0" lang="zh-CN" altLang="en-US" sz="1400" b="1" i="0" u="none" strike="noStrike" kern="1200" cap="none" spc="0" normalizeH="0" baseline="0" noProof="0" dirty="0">
                <a:ln>
                  <a:noFill/>
                </a:ln>
                <a:solidFill>
                  <a:srgbClr val="00B050"/>
                </a:solidFill>
                <a:effectLst/>
                <a:uLnTx/>
                <a:uFillTx/>
                <a:latin typeface="Microsoft YaHei"/>
                <a:ea typeface="Microsoft YaHei"/>
                <a:cs typeface="+mn-cs"/>
              </a:rPr>
              <a:t>按下释放事件</a:t>
            </a:r>
            <a:r>
              <a:rPr kumimoji="0" lang="en-US" altLang="zh-CN" sz="1400" b="1" i="0" u="none" strike="noStrike" kern="1200" cap="none" spc="0" normalizeH="0" baseline="0" noProof="0" dirty="0">
                <a:ln>
                  <a:noFill/>
                </a:ln>
                <a:solidFill>
                  <a:srgbClr val="00B050"/>
                </a:solidFill>
                <a:effectLst/>
                <a:uLnTx/>
                <a:uFillTx/>
                <a:latin typeface="Microsoft YaHei"/>
                <a:ea typeface="Microsoft YaHei"/>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printf</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 “\r\nKEY2</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被按下！</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\r\n"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LOS_EventWrite</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(&amp;EventGroup_CB,KEY2_EVENT</a:t>
            </a:r>
            <a:r>
              <a:rPr kumimoji="0" lang="zh-CN" altLang="en-US" sz="1400" b="1" i="0" u="none" strike="noStrike" kern="1200" cap="none" spc="0" normalizeH="0" baseline="0" noProof="0" dirty="0">
                <a:ln>
                  <a:noFill/>
                </a:ln>
                <a:solidFill>
                  <a:srgbClr val="000000"/>
                </a:solidFill>
                <a:effectLst/>
                <a:uLnTx/>
                <a:uFillTx/>
                <a:latin typeface="Microsoft YaHei"/>
                <a:ea typeface="Microsoft YaHei"/>
                <a:cs typeface="+mn-cs"/>
              </a:rPr>
              <a:t>）；</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r>
              <a:rPr kumimoji="0" lang="en-US" altLang="zh-CN" sz="1400" b="1" i="0" u="none" strike="noStrike" kern="1200" cap="none" spc="0" normalizeH="0" baseline="0" noProof="0" dirty="0" err="1">
                <a:ln>
                  <a:noFill/>
                </a:ln>
                <a:solidFill>
                  <a:srgbClr val="000000"/>
                </a:solidFill>
                <a:effectLst/>
                <a:uLnTx/>
                <a:uFillTx/>
                <a:latin typeface="Microsoft YaHei"/>
                <a:ea typeface="Microsoft YaHei"/>
                <a:cs typeface="+mn-cs"/>
              </a:rPr>
              <a:t>LOS_TaskDelay</a:t>
            </a: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(20);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170C5A">
                    <a:lumMod val="60000"/>
                    <a:lumOff val="40000"/>
                  </a:srgbClr>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Microsoft YaHei"/>
              <a:ea typeface="Microsoft YaHei"/>
              <a:cs typeface="+mn-cs"/>
            </a:endParaRPr>
          </a:p>
        </p:txBody>
      </p:sp>
    </p:spTree>
    <p:extLst>
      <p:ext uri="{BB962C8B-B14F-4D97-AF65-F5344CB8AC3E}">
        <p14:creationId xmlns:p14="http://schemas.microsoft.com/office/powerpoint/2010/main" val="3542403529"/>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A6A819F1-33AF-45D7-8BF6-2B0A9769CA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FFFFFF"/>
              </a:solidFill>
              <a:effectLst/>
              <a:uLnTx/>
              <a:uFillTx/>
              <a:latin typeface="Microsoft YaHei"/>
              <a:ea typeface="Microsoft YaHei"/>
              <a:cs typeface="+mn-ea"/>
              <a:sym typeface="+mn-lt"/>
            </a:endParaRPr>
          </a:p>
        </p:txBody>
      </p:sp>
      <p:sp>
        <p:nvSpPr>
          <p:cNvPr id="5" name="标题 4"/>
          <p:cNvSpPr>
            <a:spLocks noGrp="1"/>
          </p:cNvSpPr>
          <p:nvPr>
            <p:ph type="ctrTitle"/>
          </p:nvPr>
        </p:nvSpPr>
        <p:spPr>
          <a:xfrm>
            <a:off x="6558083" y="2341767"/>
            <a:ext cx="5079462" cy="1621509"/>
          </a:xfrm>
        </p:spPr>
        <p:txBody>
          <a:bodyPr/>
          <a:lstStyle/>
          <a:p>
            <a:r>
              <a:rPr lang="en-US" altLang="zh-CN" sz="4000" dirty="0">
                <a:latin typeface="+mn-lt"/>
                <a:ea typeface="+mn-ea"/>
                <a:cs typeface="+mn-ea"/>
                <a:sym typeface="+mn-lt"/>
              </a:rPr>
              <a:t>Thanks</a:t>
            </a:r>
            <a:br>
              <a:rPr lang="en-US" altLang="zh-CN" dirty="0">
                <a:latin typeface="+mn-lt"/>
                <a:ea typeface="+mn-ea"/>
                <a:cs typeface="+mn-ea"/>
                <a:sym typeface="+mn-lt"/>
              </a:rPr>
            </a:br>
            <a:endParaRPr lang="zh-CN" altLang="en-US" dirty="0">
              <a:latin typeface="+mn-lt"/>
              <a:ea typeface="+mn-ea"/>
              <a:cs typeface="+mn-ea"/>
              <a:sym typeface="+mn-lt"/>
            </a:endParaRPr>
          </a:p>
        </p:txBody>
      </p:sp>
    </p:spTree>
    <p:extLst>
      <p:ext uri="{BB962C8B-B14F-4D97-AF65-F5344CB8AC3E}">
        <p14:creationId xmlns:p14="http://schemas.microsoft.com/office/powerpoint/2010/main" val="25222257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3d09a1d7-7c63-43a4-b3ee-df21fa2c8d6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70C5A"/>
      </a:accent1>
      <a:accent2>
        <a:srgbClr val="4F5DCB"/>
      </a:accent2>
      <a:accent3>
        <a:srgbClr val="265989"/>
      </a:accent3>
      <a:accent4>
        <a:srgbClr val="41E7DF"/>
      </a:accent4>
      <a:accent5>
        <a:srgbClr val="757579"/>
      </a:accent5>
      <a:accent6>
        <a:srgbClr val="5C5E60"/>
      </a:accent6>
      <a:hlink>
        <a:srgbClr val="4276AA"/>
      </a:hlink>
      <a:folHlink>
        <a:srgbClr val="BFBFBF"/>
      </a:folHlink>
    </a:clrScheme>
    <a:fontScheme name="1lxsh3ei">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1812</TotalTime>
  <Words>17548</Words>
  <Application>Microsoft Office PowerPoint</Application>
  <PresentationFormat>宽屏</PresentationFormat>
  <Paragraphs>1723</Paragraphs>
  <Slides>121</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121</vt:i4>
      </vt:variant>
    </vt:vector>
  </HeadingPairs>
  <TitlesOfParts>
    <vt:vector size="135" baseType="lpstr">
      <vt:lpstr>Microsoft YaHei UI</vt:lpstr>
      <vt:lpstr>等线</vt:lpstr>
      <vt:lpstr>宋体</vt:lpstr>
      <vt:lpstr>微软雅黑</vt:lpstr>
      <vt:lpstr>微软雅黑</vt:lpstr>
      <vt:lpstr>Arial</vt:lpstr>
      <vt:lpstr>Arial</vt:lpstr>
      <vt:lpstr>Calibri</vt:lpstr>
      <vt:lpstr>Courier New</vt:lpstr>
      <vt:lpstr>Lato</vt:lpstr>
      <vt:lpstr>Times New Roman</vt:lpstr>
      <vt:lpstr>Wingdings</vt:lpstr>
      <vt:lpstr>主题5</vt:lpstr>
      <vt:lpstr>think-cell Slide</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润 史</cp:lastModifiedBy>
  <cp:revision>182</cp:revision>
  <cp:lastPrinted>2018-09-20T16:00:00Z</cp:lastPrinted>
  <dcterms:created xsi:type="dcterms:W3CDTF">2018-09-20T16:00:00Z</dcterms:created>
  <dcterms:modified xsi:type="dcterms:W3CDTF">2026-06-15T15:17:40Z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