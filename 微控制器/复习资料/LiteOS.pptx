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sldIdLst>
    <p:sldId id="575" r:id="rId2"/>
    <p:sldId id="576" r:id="rId3"/>
    <p:sldId id="577" r:id="rId4"/>
    <p:sldId id="578" r:id="rId5"/>
    <p:sldId id="535" r:id="rId6"/>
    <p:sldId id="579" r:id="rId7"/>
    <p:sldId id="580" r:id="rId8"/>
    <p:sldId id="538" r:id="rId9"/>
    <p:sldId id="582" r:id="rId10"/>
    <p:sldId id="583" r:id="rId11"/>
    <p:sldId id="584" r:id="rId12"/>
    <p:sldId id="543" r:id="rId13"/>
    <p:sldId id="544" r:id="rId14"/>
    <p:sldId id="526" r:id="rId15"/>
    <p:sldId id="527" r:id="rId16"/>
    <p:sldId id="530" r:id="rId17"/>
    <p:sldId id="531" r:id="rId18"/>
    <p:sldId id="532" r:id="rId19"/>
    <p:sldId id="533" r:id="rId20"/>
    <p:sldId id="534" r:id="rId21"/>
    <p:sldId id="536" r:id="rId22"/>
    <p:sldId id="537" r:id="rId23"/>
    <p:sldId id="539" r:id="rId24"/>
    <p:sldId id="540" r:id="rId25"/>
    <p:sldId id="541" r:id="rId26"/>
    <p:sldId id="542" r:id="rId27"/>
    <p:sldId id="545" r:id="rId28"/>
    <p:sldId id="546" r:id="rId29"/>
    <p:sldId id="547" r:id="rId30"/>
    <p:sldId id="548" r:id="rId31"/>
    <p:sldId id="549" r:id="rId32"/>
    <p:sldId id="552" r:id="rId33"/>
    <p:sldId id="489" r:id="rId34"/>
    <p:sldId id="499" r:id="rId35"/>
    <p:sldId id="500" r:id="rId36"/>
    <p:sldId id="501" r:id="rId37"/>
    <p:sldId id="502" r:id="rId38"/>
    <p:sldId id="570" r:id="rId39"/>
    <p:sldId id="571" r:id="rId40"/>
    <p:sldId id="572" r:id="rId41"/>
    <p:sldId id="573" r:id="rId42"/>
    <p:sldId id="574" r:id="rId43"/>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0D5B"/>
    <a:srgbClr val="5666D7"/>
    <a:srgbClr val="36A6B8"/>
    <a:srgbClr val="42E6E0"/>
    <a:srgbClr val="566BD8"/>
    <a:srgbClr val="42E8E0"/>
    <a:srgbClr val="255184"/>
    <a:srgbClr val="2B6C95"/>
    <a:srgbClr val="40DCD9"/>
    <a:srgbClr val="265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84" autoAdjust="0"/>
    <p:restoredTop sz="96182" autoAdjust="0"/>
  </p:normalViewPr>
  <p:slideViewPr>
    <p:cSldViewPr snapToGrid="0">
      <p:cViewPr varScale="1">
        <p:scale>
          <a:sx n="111" d="100"/>
          <a:sy n="111" d="100"/>
        </p:scale>
        <p:origin x="100" y="200"/>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pPr/>
              <a:t>2026/1/3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pPr/>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sp>
        <p:nvSpPr>
          <p:cNvPr id="9927" name="矩形 9926">
            <a:extLst>
              <a:ext uri="{FF2B5EF4-FFF2-40B4-BE49-F238E27FC236}">
                <a16:creationId xmlns:a16="http://schemas.microsoft.com/office/drawing/2014/main" id="{F722FE8D-4A19-4A18-B1FB-8492B199FD0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01" name="副标题 2"/>
          <p:cNvSpPr>
            <a:spLocks noGrp="1"/>
          </p:cNvSpPr>
          <p:nvPr userDrawn="1">
            <p:ph type="subTitle" idx="1"/>
          </p:nvPr>
        </p:nvSpPr>
        <p:spPr>
          <a:xfrm>
            <a:off x="943402" y="2737940"/>
            <a:ext cx="5087595" cy="558799"/>
          </a:xfrm>
        </p:spPr>
        <p:txBody>
          <a:bodyPr anchor="ctr">
            <a:normAutofit/>
          </a:bodyPr>
          <a:lstStyle>
            <a:lvl1pPr marL="0" indent="0" algn="l">
              <a:buNone/>
              <a:defRPr sz="2000">
                <a:solidFill>
                  <a:srgbClr val="5666D7"/>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943402" y="1525496"/>
            <a:ext cx="5087595" cy="1198382"/>
          </a:xfrm>
        </p:spPr>
        <p:txBody>
          <a:bodyPr anchor="ctr">
            <a:normAutofit/>
          </a:bodyPr>
          <a:lstStyle>
            <a:lvl1pPr algn="l">
              <a:defRPr sz="4000">
                <a:solidFill>
                  <a:schemeClr val="bg1"/>
                </a:solidFill>
              </a:defRPr>
            </a:lvl1pPr>
          </a:lstStyle>
          <a:p>
            <a:r>
              <a:rPr lang="en-US" dirty="0"/>
              <a:t>Click to edit Master title style</a:t>
            </a:r>
            <a:endParaRPr lang="zh-CN" altLang="en-US" dirty="0"/>
          </a:p>
        </p:txBody>
      </p:sp>
      <p:grpSp>
        <p:nvGrpSpPr>
          <p:cNvPr id="252" name="组合 251">
            <a:extLst>
              <a:ext uri="{FF2B5EF4-FFF2-40B4-BE49-F238E27FC236}">
                <a16:creationId xmlns:a16="http://schemas.microsoft.com/office/drawing/2014/main" id="{839CE1DB-111B-4A2C-A29E-C50E634E2318}"/>
              </a:ext>
            </a:extLst>
          </p:cNvPr>
          <p:cNvGrpSpPr/>
          <p:nvPr userDrawn="1"/>
        </p:nvGrpSpPr>
        <p:grpSpPr>
          <a:xfrm>
            <a:off x="2134335" y="607950"/>
            <a:ext cx="9680127" cy="5377577"/>
            <a:chOff x="4656138" y="2437995"/>
            <a:chExt cx="6846887" cy="3803634"/>
          </a:xfrm>
        </p:grpSpPr>
        <p:sp>
          <p:nvSpPr>
            <p:cNvPr id="196" name="椭圆 195">
              <a:extLst>
                <a:ext uri="{FF2B5EF4-FFF2-40B4-BE49-F238E27FC236}">
                  <a16:creationId xmlns:a16="http://schemas.microsoft.com/office/drawing/2014/main" id="{31287A23-FE6B-487B-8BED-0C677DFB4992}"/>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044A711-CB2C-4F92-A19F-1C38F5CC3EA3}"/>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a:extLst>
                <a:ext uri="{FF2B5EF4-FFF2-40B4-BE49-F238E27FC236}">
                  <a16:creationId xmlns:a16="http://schemas.microsoft.com/office/drawing/2014/main" id="{97AC0DD2-E837-4B6C-A8B4-9459081251B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9" name="椭圆 4098">
              <a:extLst>
                <a:ext uri="{FF2B5EF4-FFF2-40B4-BE49-F238E27FC236}">
                  <a16:creationId xmlns:a16="http://schemas.microsoft.com/office/drawing/2014/main" id="{CCFB4B6B-1FA7-46C9-B4AC-9CA47E3B66ED}"/>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5">
              <a:extLst>
                <a:ext uri="{FF2B5EF4-FFF2-40B4-BE49-F238E27FC236}">
                  <a16:creationId xmlns:a16="http://schemas.microsoft.com/office/drawing/2014/main" id="{DD7B420F-1711-4A49-A959-C81CD1AFFC29}"/>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01C9163C-CB87-4DDA-A749-1A8F5B9D2AB6}"/>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7">
              <a:extLst>
                <a:ext uri="{FF2B5EF4-FFF2-40B4-BE49-F238E27FC236}">
                  <a16:creationId xmlns:a16="http://schemas.microsoft.com/office/drawing/2014/main" id="{FC5F6088-3348-4370-A1D6-28FAA3A5840A}"/>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8">
              <a:extLst>
                <a:ext uri="{FF2B5EF4-FFF2-40B4-BE49-F238E27FC236}">
                  <a16:creationId xmlns:a16="http://schemas.microsoft.com/office/drawing/2014/main" id="{CD134D4A-FF64-418D-BF61-AE24A995E02E}"/>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9">
              <a:extLst>
                <a:ext uri="{FF2B5EF4-FFF2-40B4-BE49-F238E27FC236}">
                  <a16:creationId xmlns:a16="http://schemas.microsoft.com/office/drawing/2014/main" id="{FC0074FF-5BCC-45FA-8E44-F66DF0B78B91}"/>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55">
              <a:extLst>
                <a:ext uri="{FF2B5EF4-FFF2-40B4-BE49-F238E27FC236}">
                  <a16:creationId xmlns:a16="http://schemas.microsoft.com/office/drawing/2014/main" id="{B5EFAE15-02B0-4FEA-B304-654B59B7E046}"/>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6">
              <a:extLst>
                <a:ext uri="{FF2B5EF4-FFF2-40B4-BE49-F238E27FC236}">
                  <a16:creationId xmlns:a16="http://schemas.microsoft.com/office/drawing/2014/main" id="{AACA5D4B-622F-452A-9E2E-FB3D8E5B424C}"/>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7">
              <a:extLst>
                <a:ext uri="{FF2B5EF4-FFF2-40B4-BE49-F238E27FC236}">
                  <a16:creationId xmlns:a16="http://schemas.microsoft.com/office/drawing/2014/main" id="{E9112628-8D4E-4BCC-BC3E-D239FECFF1B9}"/>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58">
              <a:extLst>
                <a:ext uri="{FF2B5EF4-FFF2-40B4-BE49-F238E27FC236}">
                  <a16:creationId xmlns:a16="http://schemas.microsoft.com/office/drawing/2014/main" id="{4C1692C0-671E-4112-8870-EA379167AC57}"/>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59">
              <a:extLst>
                <a:ext uri="{FF2B5EF4-FFF2-40B4-BE49-F238E27FC236}">
                  <a16:creationId xmlns:a16="http://schemas.microsoft.com/office/drawing/2014/main" id="{CE40BE4D-1325-413C-9BF6-92993CBBA4E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0">
              <a:extLst>
                <a:ext uri="{FF2B5EF4-FFF2-40B4-BE49-F238E27FC236}">
                  <a16:creationId xmlns:a16="http://schemas.microsoft.com/office/drawing/2014/main" id="{F6CF83C1-7FD5-4B8D-B257-A98CD78B78B6}"/>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1">
              <a:extLst>
                <a:ext uri="{FF2B5EF4-FFF2-40B4-BE49-F238E27FC236}">
                  <a16:creationId xmlns:a16="http://schemas.microsoft.com/office/drawing/2014/main" id="{B15DA810-0AC5-40C4-A5A1-B1285D0BAB29}"/>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2">
              <a:extLst>
                <a:ext uri="{FF2B5EF4-FFF2-40B4-BE49-F238E27FC236}">
                  <a16:creationId xmlns:a16="http://schemas.microsoft.com/office/drawing/2014/main" id="{FD1476BC-AC33-4968-8BE4-E89562505DA5}"/>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3">
              <a:extLst>
                <a:ext uri="{FF2B5EF4-FFF2-40B4-BE49-F238E27FC236}">
                  <a16:creationId xmlns:a16="http://schemas.microsoft.com/office/drawing/2014/main" id="{0B4524DE-4782-43B9-83DA-A10F81CC0FFE}"/>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4">
              <a:extLst>
                <a:ext uri="{FF2B5EF4-FFF2-40B4-BE49-F238E27FC236}">
                  <a16:creationId xmlns:a16="http://schemas.microsoft.com/office/drawing/2014/main" id="{DB720F95-412E-4E6C-802D-473669FBF1D5}"/>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5">
              <a:extLst>
                <a:ext uri="{FF2B5EF4-FFF2-40B4-BE49-F238E27FC236}">
                  <a16:creationId xmlns:a16="http://schemas.microsoft.com/office/drawing/2014/main" id="{6F409CC0-6CE5-411A-A631-05BC30DE3FF0}"/>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6">
              <a:extLst>
                <a:ext uri="{FF2B5EF4-FFF2-40B4-BE49-F238E27FC236}">
                  <a16:creationId xmlns:a16="http://schemas.microsoft.com/office/drawing/2014/main" id="{FBBEC337-3D96-4552-94E6-D5A400715A52}"/>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8" name="Freeform 67">
              <a:extLst>
                <a:ext uri="{FF2B5EF4-FFF2-40B4-BE49-F238E27FC236}">
                  <a16:creationId xmlns:a16="http://schemas.microsoft.com/office/drawing/2014/main" id="{0B480263-2724-4D8D-890E-23B98114D457}"/>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9" name="Freeform 68">
              <a:extLst>
                <a:ext uri="{FF2B5EF4-FFF2-40B4-BE49-F238E27FC236}">
                  <a16:creationId xmlns:a16="http://schemas.microsoft.com/office/drawing/2014/main" id="{7FC2FF67-8A42-4CD0-B5E5-272103BC2376}"/>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2" name="Freeform 71">
              <a:extLst>
                <a:ext uri="{FF2B5EF4-FFF2-40B4-BE49-F238E27FC236}">
                  <a16:creationId xmlns:a16="http://schemas.microsoft.com/office/drawing/2014/main" id="{FD80A767-1C22-4670-99FF-B8B248D1B0F2}"/>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3" name="Freeform 72">
              <a:extLst>
                <a:ext uri="{FF2B5EF4-FFF2-40B4-BE49-F238E27FC236}">
                  <a16:creationId xmlns:a16="http://schemas.microsoft.com/office/drawing/2014/main" id="{63B25B06-018E-4207-8D4D-28A3CAB37F2A}"/>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4" name="Freeform 73">
              <a:extLst>
                <a:ext uri="{FF2B5EF4-FFF2-40B4-BE49-F238E27FC236}">
                  <a16:creationId xmlns:a16="http://schemas.microsoft.com/office/drawing/2014/main" id="{5D585783-FD34-4BEE-B88F-4B5FB48E44B9}"/>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5" name="Freeform 74">
              <a:extLst>
                <a:ext uri="{FF2B5EF4-FFF2-40B4-BE49-F238E27FC236}">
                  <a16:creationId xmlns:a16="http://schemas.microsoft.com/office/drawing/2014/main" id="{4C4350A5-33CD-4F3C-9E46-A7BA7A3F80BA}"/>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6" name="Freeform 75">
              <a:extLst>
                <a:ext uri="{FF2B5EF4-FFF2-40B4-BE49-F238E27FC236}">
                  <a16:creationId xmlns:a16="http://schemas.microsoft.com/office/drawing/2014/main" id="{2C1A229B-0034-4B96-BD9F-4C994F24CDFF}"/>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8" name="Freeform 77">
              <a:extLst>
                <a:ext uri="{FF2B5EF4-FFF2-40B4-BE49-F238E27FC236}">
                  <a16:creationId xmlns:a16="http://schemas.microsoft.com/office/drawing/2014/main" id="{CF3B3962-B84A-4F1D-8B93-0BED7414ED25}"/>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0" name="Freeform 79">
              <a:extLst>
                <a:ext uri="{FF2B5EF4-FFF2-40B4-BE49-F238E27FC236}">
                  <a16:creationId xmlns:a16="http://schemas.microsoft.com/office/drawing/2014/main" id="{961F8AA8-F20D-422E-8437-87E243BB6FC9}"/>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1" name="Freeform 80">
              <a:extLst>
                <a:ext uri="{FF2B5EF4-FFF2-40B4-BE49-F238E27FC236}">
                  <a16:creationId xmlns:a16="http://schemas.microsoft.com/office/drawing/2014/main" id="{4E51C430-C56F-4FCE-A8D2-F80B699395B0}"/>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2" name="Freeform 81">
              <a:extLst>
                <a:ext uri="{FF2B5EF4-FFF2-40B4-BE49-F238E27FC236}">
                  <a16:creationId xmlns:a16="http://schemas.microsoft.com/office/drawing/2014/main" id="{D13B5027-1B7C-4ADA-B936-D7BF2A08CBA6}"/>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3" name="Freeform 82">
              <a:extLst>
                <a:ext uri="{FF2B5EF4-FFF2-40B4-BE49-F238E27FC236}">
                  <a16:creationId xmlns:a16="http://schemas.microsoft.com/office/drawing/2014/main" id="{9A093AB1-2883-4487-BA43-17D9702BC372}"/>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4" name="Freeform 83">
              <a:extLst>
                <a:ext uri="{FF2B5EF4-FFF2-40B4-BE49-F238E27FC236}">
                  <a16:creationId xmlns:a16="http://schemas.microsoft.com/office/drawing/2014/main" id="{AA71B833-BA1E-4616-AB0B-5881C5F3EE3D}"/>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5" name="Freeform 84">
              <a:extLst>
                <a:ext uri="{FF2B5EF4-FFF2-40B4-BE49-F238E27FC236}">
                  <a16:creationId xmlns:a16="http://schemas.microsoft.com/office/drawing/2014/main" id="{E764C7B4-7F50-466F-8499-DA36A2B89910}"/>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6" name="Freeform 85">
              <a:extLst>
                <a:ext uri="{FF2B5EF4-FFF2-40B4-BE49-F238E27FC236}">
                  <a16:creationId xmlns:a16="http://schemas.microsoft.com/office/drawing/2014/main" id="{092929F9-5B9E-4756-9ABB-428BAC74A553}"/>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7" name="Freeform 86">
              <a:extLst>
                <a:ext uri="{FF2B5EF4-FFF2-40B4-BE49-F238E27FC236}">
                  <a16:creationId xmlns:a16="http://schemas.microsoft.com/office/drawing/2014/main" id="{8C90C5E6-79A2-4060-8EB1-737E351C3EB9}"/>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096" name="直接连接符 4095">
              <a:extLst>
                <a:ext uri="{FF2B5EF4-FFF2-40B4-BE49-F238E27FC236}">
                  <a16:creationId xmlns:a16="http://schemas.microsoft.com/office/drawing/2014/main" id="{B1EA0FC5-29CD-4F28-A45D-D157FD7E5BA2}"/>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867A0B53-8EDF-48B5-9A4E-8F1B2EE88C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459F3CA0-87B8-43D8-B691-12FB120D8ECB}"/>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E3DD8066-40F4-4A02-9DF1-05A162F2CA2C}"/>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199" name="椭圆 198">
              <a:extLst>
                <a:ext uri="{FF2B5EF4-FFF2-40B4-BE49-F238E27FC236}">
                  <a16:creationId xmlns:a16="http://schemas.microsoft.com/office/drawing/2014/main" id="{001A6F1F-C585-4281-828C-058AB5EDE524}"/>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0" name="直接连接符 199">
              <a:extLst>
                <a:ext uri="{FF2B5EF4-FFF2-40B4-BE49-F238E27FC236}">
                  <a16:creationId xmlns:a16="http://schemas.microsoft.com/office/drawing/2014/main" id="{493F7646-9DF0-4328-BA59-726818EBD667}"/>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557EAC11-F2A0-4C08-8F11-44BF87802B10}"/>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3" name="直接连接符 202">
              <a:extLst>
                <a:ext uri="{FF2B5EF4-FFF2-40B4-BE49-F238E27FC236}">
                  <a16:creationId xmlns:a16="http://schemas.microsoft.com/office/drawing/2014/main" id="{5D1273CE-BE25-441B-953B-C1B5966CAE6F}"/>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4" name="椭圆 203">
              <a:extLst>
                <a:ext uri="{FF2B5EF4-FFF2-40B4-BE49-F238E27FC236}">
                  <a16:creationId xmlns:a16="http://schemas.microsoft.com/office/drawing/2014/main" id="{8F096A9B-1AA8-431A-BB04-8C15CF5627F3}"/>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5" name="直接连接符 204">
              <a:extLst>
                <a:ext uri="{FF2B5EF4-FFF2-40B4-BE49-F238E27FC236}">
                  <a16:creationId xmlns:a16="http://schemas.microsoft.com/office/drawing/2014/main" id="{2919DAC9-4D15-444E-AD29-DB55069F5E68}"/>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1" name="椭圆 210">
              <a:extLst>
                <a:ext uri="{FF2B5EF4-FFF2-40B4-BE49-F238E27FC236}">
                  <a16:creationId xmlns:a16="http://schemas.microsoft.com/office/drawing/2014/main" id="{E0D349D6-48B6-4D60-8DDF-1C1342CDA205}"/>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7089C232-3C85-423F-947B-0BFA9401DFAE}"/>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3" name="椭圆 212">
              <a:extLst>
                <a:ext uri="{FF2B5EF4-FFF2-40B4-BE49-F238E27FC236}">
                  <a16:creationId xmlns:a16="http://schemas.microsoft.com/office/drawing/2014/main" id="{C560641A-F420-4727-A7F7-179E3FE6374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4" name="直接连接符 213">
              <a:extLst>
                <a:ext uri="{FF2B5EF4-FFF2-40B4-BE49-F238E27FC236}">
                  <a16:creationId xmlns:a16="http://schemas.microsoft.com/office/drawing/2014/main" id="{545304FD-1796-4169-B922-A5937A78C4FD}"/>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5" name="椭圆 214">
              <a:extLst>
                <a:ext uri="{FF2B5EF4-FFF2-40B4-BE49-F238E27FC236}">
                  <a16:creationId xmlns:a16="http://schemas.microsoft.com/office/drawing/2014/main" id="{73E6A0CA-67C2-42EF-8383-B14B770ED349}"/>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 name="直接连接符 215">
              <a:extLst>
                <a:ext uri="{FF2B5EF4-FFF2-40B4-BE49-F238E27FC236}">
                  <a16:creationId xmlns:a16="http://schemas.microsoft.com/office/drawing/2014/main" id="{AF574737-39F9-4472-AE17-3BFF53B46DED}"/>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9D684D3A-8C4E-4158-8772-8D8471CDA91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1E239B15-E30E-46F9-A6D0-F08CDCC35D74}"/>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4154" name="Freeform 90">
              <a:extLst>
                <a:ext uri="{FF2B5EF4-FFF2-40B4-BE49-F238E27FC236}">
                  <a16:creationId xmlns:a16="http://schemas.microsoft.com/office/drawing/2014/main" id="{AF6DEBA4-934D-42E9-8FD3-EA26D0DCE329}"/>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55" name="Freeform 91">
              <a:extLst>
                <a:ext uri="{FF2B5EF4-FFF2-40B4-BE49-F238E27FC236}">
                  <a16:creationId xmlns:a16="http://schemas.microsoft.com/office/drawing/2014/main" id="{D3086A1B-50B2-4CAF-9735-932CF494AE9F}"/>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6" name="Freeform 90">
              <a:extLst>
                <a:ext uri="{FF2B5EF4-FFF2-40B4-BE49-F238E27FC236}">
                  <a16:creationId xmlns:a16="http://schemas.microsoft.com/office/drawing/2014/main" id="{C63D826E-5E90-4F6D-88F7-EA5A08B9047D}"/>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247" name="任意多边形: 形状 246">
              <a:extLst>
                <a:ext uri="{FF2B5EF4-FFF2-40B4-BE49-F238E27FC236}">
                  <a16:creationId xmlns:a16="http://schemas.microsoft.com/office/drawing/2014/main" id="{A1430432-40EA-4925-AA20-F60AF99BA01B}"/>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5" name="任意多边形: 形状 244">
              <a:extLst>
                <a:ext uri="{FF2B5EF4-FFF2-40B4-BE49-F238E27FC236}">
                  <a16:creationId xmlns:a16="http://schemas.microsoft.com/office/drawing/2014/main" id="{20D60DA0-3304-4EAA-A6B3-B1D71DBAC6BD}"/>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1" name="任意多边形: 形状 240">
              <a:extLst>
                <a:ext uri="{FF2B5EF4-FFF2-40B4-BE49-F238E27FC236}">
                  <a16:creationId xmlns:a16="http://schemas.microsoft.com/office/drawing/2014/main" id="{5F215D2E-5F33-46B1-BF06-9545891E75A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9" name="任意多边形: 形状 238">
              <a:extLst>
                <a:ext uri="{FF2B5EF4-FFF2-40B4-BE49-F238E27FC236}">
                  <a16:creationId xmlns:a16="http://schemas.microsoft.com/office/drawing/2014/main" id="{3999E84D-AA32-4328-8EB1-E150383BC4D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8" name="任意多边形: 形状 247">
              <a:extLst>
                <a:ext uri="{FF2B5EF4-FFF2-40B4-BE49-F238E27FC236}">
                  <a16:creationId xmlns:a16="http://schemas.microsoft.com/office/drawing/2014/main" id="{E2DF0AA1-2C0A-4E2E-99B1-A1EB47B77077}"/>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9" name="任意多边形: 形状 248">
              <a:extLst>
                <a:ext uri="{FF2B5EF4-FFF2-40B4-BE49-F238E27FC236}">
                  <a16:creationId xmlns:a16="http://schemas.microsoft.com/office/drawing/2014/main" id="{93F95DFF-692A-4154-AB5C-0BEB1715CA9F}"/>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0" name="任意多边形: 形状 249">
              <a:extLst>
                <a:ext uri="{FF2B5EF4-FFF2-40B4-BE49-F238E27FC236}">
                  <a16:creationId xmlns:a16="http://schemas.microsoft.com/office/drawing/2014/main" id="{12DE8761-93A2-4BA5-96ED-CBDB609E5AA2}"/>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1" name="任意多边形: 形状 250">
              <a:extLst>
                <a:ext uri="{FF2B5EF4-FFF2-40B4-BE49-F238E27FC236}">
                  <a16:creationId xmlns:a16="http://schemas.microsoft.com/office/drawing/2014/main" id="{31E777D3-0C18-4121-89DC-F8148821A7C1}"/>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6" name="Freeform 106">
              <a:extLst>
                <a:ext uri="{FF2B5EF4-FFF2-40B4-BE49-F238E27FC236}">
                  <a16:creationId xmlns:a16="http://schemas.microsoft.com/office/drawing/2014/main" id="{4E1033CC-A13D-4768-92B6-DDBAE3D7D4E2}"/>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
        <p:nvSpPr>
          <p:cNvPr id="12" name="文本占位符 13"/>
          <p:cNvSpPr>
            <a:spLocks noGrp="1"/>
          </p:cNvSpPr>
          <p:nvPr userDrawn="1">
            <p:ph type="body" sz="quarter" idx="10" hasCustomPrompt="1"/>
          </p:nvPr>
        </p:nvSpPr>
        <p:spPr>
          <a:xfrm>
            <a:off x="943403" y="4071055"/>
            <a:ext cx="2340818" cy="296271"/>
          </a:xfrm>
          <a:prstGeom prst="roundRect">
            <a:avLst>
              <a:gd name="adj" fmla="val 50000"/>
            </a:avLst>
          </a:prstGeom>
          <a:ln>
            <a:solidFill>
              <a:schemeClr val="bg1"/>
            </a:solidFill>
          </a:ln>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943402" y="4533176"/>
            <a:ext cx="508759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F43A69A-C441-46B2-A04C-833C041584CC}"/>
              </a:ext>
            </a:extLst>
          </p:cNvPr>
          <p:cNvSpPr/>
          <p:nvPr userDrawn="1"/>
        </p:nvSpPr>
        <p:spPr>
          <a:xfrm>
            <a:off x="-111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标题 1"/>
          <p:cNvSpPr>
            <a:spLocks noGrp="1"/>
          </p:cNvSpPr>
          <p:nvPr userDrawn="1">
            <p:ph type="title"/>
          </p:nvPr>
        </p:nvSpPr>
        <p:spPr>
          <a:xfrm>
            <a:off x="5457956" y="2573757"/>
            <a:ext cx="5419185"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5459072" y="3469107"/>
            <a:ext cx="5419185" cy="1015623"/>
          </a:xfrm>
        </p:spPr>
        <p:txBody>
          <a:bodyPr anchor="t">
            <a:normAutofit/>
          </a:bodyPr>
          <a:lstStyle>
            <a:lvl1pPr marL="0" indent="0" algn="l">
              <a:lnSpc>
                <a:spcPct val="100000"/>
              </a:lnSpc>
              <a:buNone/>
              <a:defRPr sz="1100">
                <a:solidFill>
                  <a:schemeClr val="bg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grpSp>
        <p:nvGrpSpPr>
          <p:cNvPr id="5" name="组合 4">
            <a:extLst>
              <a:ext uri="{FF2B5EF4-FFF2-40B4-BE49-F238E27FC236}">
                <a16:creationId xmlns:a16="http://schemas.microsoft.com/office/drawing/2014/main" id="{EDFAD072-98A3-4A9A-A57D-A2BBD0C400AF}"/>
              </a:ext>
            </a:extLst>
          </p:cNvPr>
          <p:cNvGrpSpPr/>
          <p:nvPr userDrawn="1"/>
        </p:nvGrpSpPr>
        <p:grpSpPr>
          <a:xfrm flipH="1">
            <a:off x="347887" y="1993644"/>
            <a:ext cx="7140148" cy="3966548"/>
            <a:chOff x="4656138" y="2437995"/>
            <a:chExt cx="6846887" cy="3803634"/>
          </a:xfrm>
        </p:grpSpPr>
        <p:sp>
          <p:nvSpPr>
            <p:cNvPr id="6" name="椭圆 5">
              <a:extLst>
                <a:ext uri="{FF2B5EF4-FFF2-40B4-BE49-F238E27FC236}">
                  <a16:creationId xmlns:a16="http://schemas.microsoft.com/office/drawing/2014/main" id="{01FEC273-3D18-48A3-8E14-F2C2E0EA1388}"/>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5B24915-2C92-4794-B49D-726193F73647}"/>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A23F1A1F-8473-4CAC-8B68-2ECBFEBF8864}"/>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4E18F4E0-9855-455A-9AB4-8E45971C61FF}"/>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5">
              <a:extLst>
                <a:ext uri="{FF2B5EF4-FFF2-40B4-BE49-F238E27FC236}">
                  <a16:creationId xmlns:a16="http://schemas.microsoft.com/office/drawing/2014/main" id="{30A201A1-80D9-4DA8-A881-55B80110B5F8}"/>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
              <a:extLst>
                <a:ext uri="{FF2B5EF4-FFF2-40B4-BE49-F238E27FC236}">
                  <a16:creationId xmlns:a16="http://schemas.microsoft.com/office/drawing/2014/main" id="{1F3FC629-F814-44C8-848B-3A13EF052DA7}"/>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7">
              <a:extLst>
                <a:ext uri="{FF2B5EF4-FFF2-40B4-BE49-F238E27FC236}">
                  <a16:creationId xmlns:a16="http://schemas.microsoft.com/office/drawing/2014/main" id="{DC71528E-8757-4884-83C1-214745F9F21E}"/>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8">
              <a:extLst>
                <a:ext uri="{FF2B5EF4-FFF2-40B4-BE49-F238E27FC236}">
                  <a16:creationId xmlns:a16="http://schemas.microsoft.com/office/drawing/2014/main" id="{ED5565D2-665C-4D02-AF53-29AFF656BF65}"/>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9">
              <a:extLst>
                <a:ext uri="{FF2B5EF4-FFF2-40B4-BE49-F238E27FC236}">
                  <a16:creationId xmlns:a16="http://schemas.microsoft.com/office/drawing/2014/main" id="{8470F6EC-9358-4962-9498-35900AC547B7}"/>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55">
              <a:extLst>
                <a:ext uri="{FF2B5EF4-FFF2-40B4-BE49-F238E27FC236}">
                  <a16:creationId xmlns:a16="http://schemas.microsoft.com/office/drawing/2014/main" id="{1B8B1E90-E8E6-474C-A9F4-D613AE0CAB3F}"/>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56">
              <a:extLst>
                <a:ext uri="{FF2B5EF4-FFF2-40B4-BE49-F238E27FC236}">
                  <a16:creationId xmlns:a16="http://schemas.microsoft.com/office/drawing/2014/main" id="{069847D9-8534-4608-A15D-B6E42ACE98C6}"/>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57">
              <a:extLst>
                <a:ext uri="{FF2B5EF4-FFF2-40B4-BE49-F238E27FC236}">
                  <a16:creationId xmlns:a16="http://schemas.microsoft.com/office/drawing/2014/main" id="{48EC9D43-F746-48CA-9F08-8E6CB810795F}"/>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58">
              <a:extLst>
                <a:ext uri="{FF2B5EF4-FFF2-40B4-BE49-F238E27FC236}">
                  <a16:creationId xmlns:a16="http://schemas.microsoft.com/office/drawing/2014/main" id="{54203647-D14B-459B-A874-D5CE3FF3B553}"/>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9">
              <a:extLst>
                <a:ext uri="{FF2B5EF4-FFF2-40B4-BE49-F238E27FC236}">
                  <a16:creationId xmlns:a16="http://schemas.microsoft.com/office/drawing/2014/main" id="{08820E61-22DB-4B15-9C62-34AE5ADA757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60">
              <a:extLst>
                <a:ext uri="{FF2B5EF4-FFF2-40B4-BE49-F238E27FC236}">
                  <a16:creationId xmlns:a16="http://schemas.microsoft.com/office/drawing/2014/main" id="{AEDA835B-253D-49A4-AD92-D38F3FD8A549}"/>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1">
              <a:extLst>
                <a:ext uri="{FF2B5EF4-FFF2-40B4-BE49-F238E27FC236}">
                  <a16:creationId xmlns:a16="http://schemas.microsoft.com/office/drawing/2014/main" id="{EAAF6E4C-9F9A-49F1-8348-DF77685638D3}"/>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2">
              <a:extLst>
                <a:ext uri="{FF2B5EF4-FFF2-40B4-BE49-F238E27FC236}">
                  <a16:creationId xmlns:a16="http://schemas.microsoft.com/office/drawing/2014/main" id="{0347101B-1CD1-4977-A202-28F12251DDB3}"/>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3">
              <a:extLst>
                <a:ext uri="{FF2B5EF4-FFF2-40B4-BE49-F238E27FC236}">
                  <a16:creationId xmlns:a16="http://schemas.microsoft.com/office/drawing/2014/main" id="{A65CBAA9-9DF4-4F79-A533-CE5F4A3231C3}"/>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4">
              <a:extLst>
                <a:ext uri="{FF2B5EF4-FFF2-40B4-BE49-F238E27FC236}">
                  <a16:creationId xmlns:a16="http://schemas.microsoft.com/office/drawing/2014/main" id="{306AC6B0-8C0B-470D-9853-86D766DEA4FF}"/>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5">
              <a:extLst>
                <a:ext uri="{FF2B5EF4-FFF2-40B4-BE49-F238E27FC236}">
                  <a16:creationId xmlns:a16="http://schemas.microsoft.com/office/drawing/2014/main" id="{D8CA5445-3AAF-46BA-84D0-F11755E0E5ED}"/>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6">
              <a:extLst>
                <a:ext uri="{FF2B5EF4-FFF2-40B4-BE49-F238E27FC236}">
                  <a16:creationId xmlns:a16="http://schemas.microsoft.com/office/drawing/2014/main" id="{6E0F6EDD-9620-4A0A-9E52-85896B6B3E57}"/>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7">
              <a:extLst>
                <a:ext uri="{FF2B5EF4-FFF2-40B4-BE49-F238E27FC236}">
                  <a16:creationId xmlns:a16="http://schemas.microsoft.com/office/drawing/2014/main" id="{2B23DE40-FEA9-419A-A012-944D8879A75F}"/>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8">
              <a:extLst>
                <a:ext uri="{FF2B5EF4-FFF2-40B4-BE49-F238E27FC236}">
                  <a16:creationId xmlns:a16="http://schemas.microsoft.com/office/drawing/2014/main" id="{467CDEB9-2068-43B0-9F98-13F176B669A0}"/>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71">
              <a:extLst>
                <a:ext uri="{FF2B5EF4-FFF2-40B4-BE49-F238E27FC236}">
                  <a16:creationId xmlns:a16="http://schemas.microsoft.com/office/drawing/2014/main" id="{2BA56708-F51B-4820-B39A-C5A8772A9E01}"/>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2">
              <a:extLst>
                <a:ext uri="{FF2B5EF4-FFF2-40B4-BE49-F238E27FC236}">
                  <a16:creationId xmlns:a16="http://schemas.microsoft.com/office/drawing/2014/main" id="{3A242F8D-27D2-48B9-B89B-292D52ED3155}"/>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3">
              <a:extLst>
                <a:ext uri="{FF2B5EF4-FFF2-40B4-BE49-F238E27FC236}">
                  <a16:creationId xmlns:a16="http://schemas.microsoft.com/office/drawing/2014/main" id="{2B847F8F-E746-4ABE-9736-9BBD73E82FD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4">
              <a:extLst>
                <a:ext uri="{FF2B5EF4-FFF2-40B4-BE49-F238E27FC236}">
                  <a16:creationId xmlns:a16="http://schemas.microsoft.com/office/drawing/2014/main" id="{F9BFC2B0-E8DC-476C-8440-1E265F6C55F8}"/>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5">
              <a:extLst>
                <a:ext uri="{FF2B5EF4-FFF2-40B4-BE49-F238E27FC236}">
                  <a16:creationId xmlns:a16="http://schemas.microsoft.com/office/drawing/2014/main" id="{F68124A6-7643-4752-A093-522E178E22F0}"/>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7">
              <a:extLst>
                <a:ext uri="{FF2B5EF4-FFF2-40B4-BE49-F238E27FC236}">
                  <a16:creationId xmlns:a16="http://schemas.microsoft.com/office/drawing/2014/main" id="{7479CF2F-F825-4ED9-8980-9CDC581AD2B9}"/>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9">
              <a:extLst>
                <a:ext uri="{FF2B5EF4-FFF2-40B4-BE49-F238E27FC236}">
                  <a16:creationId xmlns:a16="http://schemas.microsoft.com/office/drawing/2014/main" id="{E2AC8F3E-E460-4D8E-A14F-DE4BCDA07A0F}"/>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80">
              <a:extLst>
                <a:ext uri="{FF2B5EF4-FFF2-40B4-BE49-F238E27FC236}">
                  <a16:creationId xmlns:a16="http://schemas.microsoft.com/office/drawing/2014/main" id="{877DA411-2751-44F2-A7EE-AA70CF8BCC61}"/>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1">
              <a:extLst>
                <a:ext uri="{FF2B5EF4-FFF2-40B4-BE49-F238E27FC236}">
                  <a16:creationId xmlns:a16="http://schemas.microsoft.com/office/drawing/2014/main" id="{08C14B30-69E1-436F-9656-9A670ED0AFFE}"/>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2">
              <a:extLst>
                <a:ext uri="{FF2B5EF4-FFF2-40B4-BE49-F238E27FC236}">
                  <a16:creationId xmlns:a16="http://schemas.microsoft.com/office/drawing/2014/main" id="{81AB594C-8CCA-4332-AD1F-2ABC1E930158}"/>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3">
              <a:extLst>
                <a:ext uri="{FF2B5EF4-FFF2-40B4-BE49-F238E27FC236}">
                  <a16:creationId xmlns:a16="http://schemas.microsoft.com/office/drawing/2014/main" id="{F5473C86-4E85-479B-A4DF-0AE3B70A98D6}"/>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4">
              <a:extLst>
                <a:ext uri="{FF2B5EF4-FFF2-40B4-BE49-F238E27FC236}">
                  <a16:creationId xmlns:a16="http://schemas.microsoft.com/office/drawing/2014/main" id="{939CD653-6F1F-4C21-B0AD-212B0C319E79}"/>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5">
              <a:extLst>
                <a:ext uri="{FF2B5EF4-FFF2-40B4-BE49-F238E27FC236}">
                  <a16:creationId xmlns:a16="http://schemas.microsoft.com/office/drawing/2014/main" id="{F3EE7AF8-F12B-4F2A-ADA4-D056575153A4}"/>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6">
              <a:extLst>
                <a:ext uri="{FF2B5EF4-FFF2-40B4-BE49-F238E27FC236}">
                  <a16:creationId xmlns:a16="http://schemas.microsoft.com/office/drawing/2014/main" id="{40F9DFFF-4CD4-43CD-AB17-5E0589E6083E}"/>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5" name="直接连接符 44">
              <a:extLst>
                <a:ext uri="{FF2B5EF4-FFF2-40B4-BE49-F238E27FC236}">
                  <a16:creationId xmlns:a16="http://schemas.microsoft.com/office/drawing/2014/main" id="{0A3D1317-FBA6-4CE2-896A-4E1EEC200D9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0039AA1-8B60-43A6-A6DB-294AF4C0BE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C686BC3-7823-4311-971E-CED47FEC2331}"/>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3AA01B2-BBA9-482C-AF61-FE5CC7143586}"/>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61B26D1D-08BE-425A-97B5-DD08D3807562}"/>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634BC058-D62E-4510-8D65-416300B44AC9}"/>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03276EA7-5327-40E5-8F85-64AF830B6CA1}"/>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连接符 51">
              <a:extLst>
                <a:ext uri="{FF2B5EF4-FFF2-40B4-BE49-F238E27FC236}">
                  <a16:creationId xmlns:a16="http://schemas.microsoft.com/office/drawing/2014/main" id="{C9789196-78EC-4E5A-A04D-62DD88105C0B}"/>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E4B2A535-B781-4AF0-ADDC-76897951D9BB}"/>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28CECE6A-AC08-4EF9-B3FE-1D230C534BB0}"/>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737CB0B0-345F-4485-8D6F-9F7A19E99ABD}"/>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E066FF86-60CC-413B-A38C-5877DF3423BC}"/>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3418658E-3C78-4374-B2D3-E9F25A672F8D}"/>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F8A1BA54-6C50-42DD-9E37-F4BE9AAC50C3}"/>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9" name="椭圆 58">
              <a:extLst>
                <a:ext uri="{FF2B5EF4-FFF2-40B4-BE49-F238E27FC236}">
                  <a16:creationId xmlns:a16="http://schemas.microsoft.com/office/drawing/2014/main" id="{DC5D5A44-A1EF-4532-8AD3-E8823B57F81E}"/>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59">
              <a:extLst>
                <a:ext uri="{FF2B5EF4-FFF2-40B4-BE49-F238E27FC236}">
                  <a16:creationId xmlns:a16="http://schemas.microsoft.com/office/drawing/2014/main" id="{055015E5-0B2E-46E6-A7AB-11C57440AE30}"/>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C463780-6B50-492E-8198-C64C39D9399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EB51A2E-F9D5-43AA-8F4D-C0E2739FFE05}"/>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3" name="Freeform 90">
              <a:extLst>
                <a:ext uri="{FF2B5EF4-FFF2-40B4-BE49-F238E27FC236}">
                  <a16:creationId xmlns:a16="http://schemas.microsoft.com/office/drawing/2014/main" id="{AF8EE743-B501-40A3-87A8-EE389C9346AF}"/>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91">
              <a:extLst>
                <a:ext uri="{FF2B5EF4-FFF2-40B4-BE49-F238E27FC236}">
                  <a16:creationId xmlns:a16="http://schemas.microsoft.com/office/drawing/2014/main" id="{434E1605-FC1A-45F6-A9B3-8B234DCB5A78}"/>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0">
              <a:extLst>
                <a:ext uri="{FF2B5EF4-FFF2-40B4-BE49-F238E27FC236}">
                  <a16:creationId xmlns:a16="http://schemas.microsoft.com/office/drawing/2014/main" id="{8CC5DB59-0C2F-44B5-9B7F-1F2AD177C773}"/>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任意多边形: 形状 65" hidden="1">
              <a:extLst>
                <a:ext uri="{FF2B5EF4-FFF2-40B4-BE49-F238E27FC236}">
                  <a16:creationId xmlns:a16="http://schemas.microsoft.com/office/drawing/2014/main" id="{CA81584A-65BF-4DB2-BCDC-906ECBF8F7F3}"/>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7" name="任意多边形: 形状 66" hidden="1">
              <a:extLst>
                <a:ext uri="{FF2B5EF4-FFF2-40B4-BE49-F238E27FC236}">
                  <a16:creationId xmlns:a16="http://schemas.microsoft.com/office/drawing/2014/main" id="{79F8DF02-08D3-40AF-8A42-A376AB444B65}"/>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hidden="1">
              <a:extLst>
                <a:ext uri="{FF2B5EF4-FFF2-40B4-BE49-F238E27FC236}">
                  <a16:creationId xmlns:a16="http://schemas.microsoft.com/office/drawing/2014/main" id="{2E910DF9-4B42-45E0-8930-43DB73025112}"/>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hidden="1">
              <a:extLst>
                <a:ext uri="{FF2B5EF4-FFF2-40B4-BE49-F238E27FC236}">
                  <a16:creationId xmlns:a16="http://schemas.microsoft.com/office/drawing/2014/main" id="{5EC3441C-AA60-434F-89C7-FAE737B82B0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hidden="1">
              <a:extLst>
                <a:ext uri="{FF2B5EF4-FFF2-40B4-BE49-F238E27FC236}">
                  <a16:creationId xmlns:a16="http://schemas.microsoft.com/office/drawing/2014/main" id="{E5982589-29D3-4142-AE6E-E82171962760}"/>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hidden="1">
              <a:extLst>
                <a:ext uri="{FF2B5EF4-FFF2-40B4-BE49-F238E27FC236}">
                  <a16:creationId xmlns:a16="http://schemas.microsoft.com/office/drawing/2014/main" id="{06FDC9FE-130B-4BB1-B7E7-2875335138B5}"/>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hidden="1">
              <a:extLst>
                <a:ext uri="{FF2B5EF4-FFF2-40B4-BE49-F238E27FC236}">
                  <a16:creationId xmlns:a16="http://schemas.microsoft.com/office/drawing/2014/main" id="{D0408D99-7102-4AE9-903E-0A3463396D8E}"/>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hidden="1">
              <a:extLst>
                <a:ext uri="{FF2B5EF4-FFF2-40B4-BE49-F238E27FC236}">
                  <a16:creationId xmlns:a16="http://schemas.microsoft.com/office/drawing/2014/main" id="{AEB11552-24CE-450D-BC4B-BD0B224E7CD7}"/>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Freeform 106">
              <a:extLst>
                <a:ext uri="{FF2B5EF4-FFF2-40B4-BE49-F238E27FC236}">
                  <a16:creationId xmlns:a16="http://schemas.microsoft.com/office/drawing/2014/main" id="{802652E2-13D5-4D4D-A1C1-D4A24DA69689}"/>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pPr/>
              <a:t>2026/1/3</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dirty="0"/>
              <a:t>www.islide.cc</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Date Placeholder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pPr/>
              <a:t>2026/1/3</a:t>
            </a:fld>
            <a:endParaRPr lang="zh-CN" altLang="en-US"/>
          </a:p>
        </p:txBody>
      </p:sp>
      <p:sp>
        <p:nvSpPr>
          <p:cNvPr id="4" name="Footer Placeholder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dirty="0"/>
              <a:t>www.islide.cc</a:t>
            </a:r>
            <a:endParaRPr lang="zh-CN" altLang="en-US" dirty="0"/>
          </a:p>
        </p:txBody>
      </p:sp>
      <p:sp>
        <p:nvSpPr>
          <p:cNvPr id="5" name="Slide Number Placeholder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76" name="矩形 75">
            <a:extLst>
              <a:ext uri="{FF2B5EF4-FFF2-40B4-BE49-F238E27FC236}">
                <a16:creationId xmlns:a16="http://schemas.microsoft.com/office/drawing/2014/main" id="{818B7027-5C92-45CB-BBAA-AB7DCDF6E2EB}"/>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1"/>
          <p:cNvSpPr>
            <a:spLocks noGrp="1"/>
          </p:cNvSpPr>
          <p:nvPr userDrawn="1">
            <p:ph type="ctrTitle" hasCustomPrompt="1"/>
          </p:nvPr>
        </p:nvSpPr>
        <p:spPr>
          <a:xfrm>
            <a:off x="6405683" y="1846467"/>
            <a:ext cx="5079462" cy="1621509"/>
          </a:xfrm>
        </p:spPr>
        <p:txBody>
          <a:bodyPr anchor="b">
            <a:normAutofit/>
          </a:bodyPr>
          <a:lstStyle>
            <a:lvl1pPr marL="0" indent="0" algn="l">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405683" y="4152703"/>
            <a:ext cx="5079462" cy="310871"/>
          </a:xfrm>
        </p:spPr>
        <p:txBody>
          <a:bodyPr vert="horz" lIns="91440" tIns="45720" rIns="91440" bIns="45720"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a16="http://schemas.microsoft.com/office/drawing/2014/main" id="{05EBDA4F-7210-4CAE-8333-80DB24212E78}"/>
              </a:ext>
            </a:extLst>
          </p:cNvPr>
          <p:cNvSpPr>
            <a:spLocks noGrp="1"/>
          </p:cNvSpPr>
          <p:nvPr>
            <p:ph type="body" sz="quarter" idx="10" hasCustomPrompt="1"/>
          </p:nvPr>
        </p:nvSpPr>
        <p:spPr>
          <a:xfrm>
            <a:off x="6405685" y="3856432"/>
            <a:ext cx="5079462"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grpSp>
        <p:nvGrpSpPr>
          <p:cNvPr id="5" name="组合 4">
            <a:extLst>
              <a:ext uri="{FF2B5EF4-FFF2-40B4-BE49-F238E27FC236}">
                <a16:creationId xmlns:a16="http://schemas.microsoft.com/office/drawing/2014/main" id="{53383A2F-1BBF-442C-B637-EC75AFBB314F}"/>
              </a:ext>
            </a:extLst>
          </p:cNvPr>
          <p:cNvGrpSpPr/>
          <p:nvPr userDrawn="1"/>
        </p:nvGrpSpPr>
        <p:grpSpPr>
          <a:xfrm flipH="1">
            <a:off x="140435" y="835838"/>
            <a:ext cx="9680127" cy="5377577"/>
            <a:chOff x="4656138" y="2437995"/>
            <a:chExt cx="6846887" cy="3803634"/>
          </a:xfrm>
        </p:grpSpPr>
        <p:sp>
          <p:nvSpPr>
            <p:cNvPr id="7" name="椭圆 6">
              <a:extLst>
                <a:ext uri="{FF2B5EF4-FFF2-40B4-BE49-F238E27FC236}">
                  <a16:creationId xmlns:a16="http://schemas.microsoft.com/office/drawing/2014/main" id="{9C554A3D-024E-478A-AA3F-7C9AC070E6DE}"/>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7CC78CBC-9FE1-4BEC-900F-4C15400789B4}"/>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2C2BE32-0DCF-4892-BE44-3D28A9D09EA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EE4A866-47D1-4299-A8BC-68ECE5F053D6}"/>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a:extLst>
                <a:ext uri="{FF2B5EF4-FFF2-40B4-BE49-F238E27FC236}">
                  <a16:creationId xmlns:a16="http://schemas.microsoft.com/office/drawing/2014/main" id="{368F80A6-5641-486A-AF6D-506CE3D7ECA5}"/>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EC823025-CC4D-448B-B923-ED6EE7BAFF8B}"/>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7">
              <a:extLst>
                <a:ext uri="{FF2B5EF4-FFF2-40B4-BE49-F238E27FC236}">
                  <a16:creationId xmlns:a16="http://schemas.microsoft.com/office/drawing/2014/main" id="{6DA1449B-9DF5-422D-8D4F-8ECFC57F0FC6}"/>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8">
              <a:extLst>
                <a:ext uri="{FF2B5EF4-FFF2-40B4-BE49-F238E27FC236}">
                  <a16:creationId xmlns:a16="http://schemas.microsoft.com/office/drawing/2014/main" id="{10B2BFE2-CBF3-401C-AE0A-ABD3A26EA64B}"/>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9">
              <a:extLst>
                <a:ext uri="{FF2B5EF4-FFF2-40B4-BE49-F238E27FC236}">
                  <a16:creationId xmlns:a16="http://schemas.microsoft.com/office/drawing/2014/main" id="{27BD26F7-83BE-43A6-ADDF-5050C8D1A582}"/>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55">
              <a:extLst>
                <a:ext uri="{FF2B5EF4-FFF2-40B4-BE49-F238E27FC236}">
                  <a16:creationId xmlns:a16="http://schemas.microsoft.com/office/drawing/2014/main" id="{6E07EA3C-1B70-4FDE-B7A1-5C2C57B1F92E}"/>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6">
              <a:extLst>
                <a:ext uri="{FF2B5EF4-FFF2-40B4-BE49-F238E27FC236}">
                  <a16:creationId xmlns:a16="http://schemas.microsoft.com/office/drawing/2014/main" id="{36A0F9D0-6FD0-4967-B8F9-B088C32BD0B9}"/>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57">
              <a:extLst>
                <a:ext uri="{FF2B5EF4-FFF2-40B4-BE49-F238E27FC236}">
                  <a16:creationId xmlns:a16="http://schemas.microsoft.com/office/drawing/2014/main" id="{9CE429ED-D423-4FF2-8997-F925A4EE3210}"/>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8">
              <a:extLst>
                <a:ext uri="{FF2B5EF4-FFF2-40B4-BE49-F238E27FC236}">
                  <a16:creationId xmlns:a16="http://schemas.microsoft.com/office/drawing/2014/main" id="{3AD1FA30-1A5F-45B7-8F47-0495666ED69B}"/>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9">
              <a:extLst>
                <a:ext uri="{FF2B5EF4-FFF2-40B4-BE49-F238E27FC236}">
                  <a16:creationId xmlns:a16="http://schemas.microsoft.com/office/drawing/2014/main" id="{5AF43635-36A7-45F9-A4B6-9FC4A785017A}"/>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0">
              <a:extLst>
                <a:ext uri="{FF2B5EF4-FFF2-40B4-BE49-F238E27FC236}">
                  <a16:creationId xmlns:a16="http://schemas.microsoft.com/office/drawing/2014/main" id="{2C941137-2484-49B8-AF1F-1BDF79181563}"/>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1">
              <a:extLst>
                <a:ext uri="{FF2B5EF4-FFF2-40B4-BE49-F238E27FC236}">
                  <a16:creationId xmlns:a16="http://schemas.microsoft.com/office/drawing/2014/main" id="{4035D36C-9987-492B-8D32-29DACD2F0BB7}"/>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2">
              <a:extLst>
                <a:ext uri="{FF2B5EF4-FFF2-40B4-BE49-F238E27FC236}">
                  <a16:creationId xmlns:a16="http://schemas.microsoft.com/office/drawing/2014/main" id="{3B4E7CED-FE5C-49BE-9362-C2587E4A946F}"/>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3">
              <a:extLst>
                <a:ext uri="{FF2B5EF4-FFF2-40B4-BE49-F238E27FC236}">
                  <a16:creationId xmlns:a16="http://schemas.microsoft.com/office/drawing/2014/main" id="{531F4641-AD0A-4223-9658-0A902DDBCEDB}"/>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4">
              <a:extLst>
                <a:ext uri="{FF2B5EF4-FFF2-40B4-BE49-F238E27FC236}">
                  <a16:creationId xmlns:a16="http://schemas.microsoft.com/office/drawing/2014/main" id="{05E0E6C8-D006-42F6-8C42-980DEB3AC5A4}"/>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5">
              <a:extLst>
                <a:ext uri="{FF2B5EF4-FFF2-40B4-BE49-F238E27FC236}">
                  <a16:creationId xmlns:a16="http://schemas.microsoft.com/office/drawing/2014/main" id="{E0F525E9-9A56-4973-AFFE-546EA914213A}"/>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6">
              <a:extLst>
                <a:ext uri="{FF2B5EF4-FFF2-40B4-BE49-F238E27FC236}">
                  <a16:creationId xmlns:a16="http://schemas.microsoft.com/office/drawing/2014/main" id="{BEAE6FF4-C501-4C1E-BE5C-FD002C74039B}"/>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7">
              <a:extLst>
                <a:ext uri="{FF2B5EF4-FFF2-40B4-BE49-F238E27FC236}">
                  <a16:creationId xmlns:a16="http://schemas.microsoft.com/office/drawing/2014/main" id="{220CDB65-2265-4F3C-900F-82CA48E66F56}"/>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8">
              <a:extLst>
                <a:ext uri="{FF2B5EF4-FFF2-40B4-BE49-F238E27FC236}">
                  <a16:creationId xmlns:a16="http://schemas.microsoft.com/office/drawing/2014/main" id="{ECAD736F-A86C-4A0E-9501-9B69D6915A4E}"/>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1">
              <a:extLst>
                <a:ext uri="{FF2B5EF4-FFF2-40B4-BE49-F238E27FC236}">
                  <a16:creationId xmlns:a16="http://schemas.microsoft.com/office/drawing/2014/main" id="{98532914-5A4F-4DDE-A3CD-6827FFEBCA26}"/>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2">
              <a:extLst>
                <a:ext uri="{FF2B5EF4-FFF2-40B4-BE49-F238E27FC236}">
                  <a16:creationId xmlns:a16="http://schemas.microsoft.com/office/drawing/2014/main" id="{A7BDCC71-1F86-4B47-B459-2477B26D2633}"/>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3">
              <a:extLst>
                <a:ext uri="{FF2B5EF4-FFF2-40B4-BE49-F238E27FC236}">
                  <a16:creationId xmlns:a16="http://schemas.microsoft.com/office/drawing/2014/main" id="{8EDB264D-3D4F-4F98-A42E-3355C4154F4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4">
              <a:extLst>
                <a:ext uri="{FF2B5EF4-FFF2-40B4-BE49-F238E27FC236}">
                  <a16:creationId xmlns:a16="http://schemas.microsoft.com/office/drawing/2014/main" id="{33638A6C-CE95-4C7E-B7B4-8FC32CD0D2D4}"/>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5">
              <a:extLst>
                <a:ext uri="{FF2B5EF4-FFF2-40B4-BE49-F238E27FC236}">
                  <a16:creationId xmlns:a16="http://schemas.microsoft.com/office/drawing/2014/main" id="{C23CA099-DAC1-432C-8C4E-11E19A22FD68}"/>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7">
              <a:extLst>
                <a:ext uri="{FF2B5EF4-FFF2-40B4-BE49-F238E27FC236}">
                  <a16:creationId xmlns:a16="http://schemas.microsoft.com/office/drawing/2014/main" id="{07FA81A5-EEEB-44AB-9090-766B35EE42EF}"/>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79">
              <a:extLst>
                <a:ext uri="{FF2B5EF4-FFF2-40B4-BE49-F238E27FC236}">
                  <a16:creationId xmlns:a16="http://schemas.microsoft.com/office/drawing/2014/main" id="{40C15D7D-C48E-4DE3-B760-B9144BDAA12E}"/>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0">
              <a:extLst>
                <a:ext uri="{FF2B5EF4-FFF2-40B4-BE49-F238E27FC236}">
                  <a16:creationId xmlns:a16="http://schemas.microsoft.com/office/drawing/2014/main" id="{6779B2B1-D922-4492-BD11-EBA2348D0B3D}"/>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1">
              <a:extLst>
                <a:ext uri="{FF2B5EF4-FFF2-40B4-BE49-F238E27FC236}">
                  <a16:creationId xmlns:a16="http://schemas.microsoft.com/office/drawing/2014/main" id="{8DC4648F-D8C5-4ED1-87D1-6178D01C917F}"/>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2">
              <a:extLst>
                <a:ext uri="{FF2B5EF4-FFF2-40B4-BE49-F238E27FC236}">
                  <a16:creationId xmlns:a16="http://schemas.microsoft.com/office/drawing/2014/main" id="{DAAB9D96-B8A7-4454-9A5F-02E1F41C2629}"/>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3">
              <a:extLst>
                <a:ext uri="{FF2B5EF4-FFF2-40B4-BE49-F238E27FC236}">
                  <a16:creationId xmlns:a16="http://schemas.microsoft.com/office/drawing/2014/main" id="{1B036E91-4C69-4222-A490-26DAD84EB320}"/>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4">
              <a:extLst>
                <a:ext uri="{FF2B5EF4-FFF2-40B4-BE49-F238E27FC236}">
                  <a16:creationId xmlns:a16="http://schemas.microsoft.com/office/drawing/2014/main" id="{B1B66889-09F0-4432-A227-802D35A64305}"/>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5">
              <a:extLst>
                <a:ext uri="{FF2B5EF4-FFF2-40B4-BE49-F238E27FC236}">
                  <a16:creationId xmlns:a16="http://schemas.microsoft.com/office/drawing/2014/main" id="{2F47A813-4EED-4E9B-B0F3-284D629F43D2}"/>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86">
              <a:extLst>
                <a:ext uri="{FF2B5EF4-FFF2-40B4-BE49-F238E27FC236}">
                  <a16:creationId xmlns:a16="http://schemas.microsoft.com/office/drawing/2014/main" id="{C6845FB4-EB66-4A79-B099-375E8788F065}"/>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6" name="直接连接符 45">
              <a:extLst>
                <a:ext uri="{FF2B5EF4-FFF2-40B4-BE49-F238E27FC236}">
                  <a16:creationId xmlns:a16="http://schemas.microsoft.com/office/drawing/2014/main" id="{AF1A2538-5051-469B-8640-A4CD17CE4FE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EBC8B80E-FE5E-4E19-85A2-95C8DD2CB0A0}"/>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2B74C08-DAB2-4B60-BE63-31B1EF58C774}"/>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E0CA069-C0B0-4E7A-B11B-4ACD2B3E0552}"/>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535D6E5-49D9-45E0-A8B6-B2D1231A1859}"/>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316616A3-795D-402D-BC50-063C43F04365}"/>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DBFB945A-9C54-49A8-93AD-3E9D6BB6536C}"/>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8FCF84FC-3336-420C-9745-AFFA473676BA}"/>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7993B824-2430-4010-8ADC-F1F4A4D36729}"/>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a:extLst>
                <a:ext uri="{FF2B5EF4-FFF2-40B4-BE49-F238E27FC236}">
                  <a16:creationId xmlns:a16="http://schemas.microsoft.com/office/drawing/2014/main" id="{E2BC9A81-D7DF-4CAF-8B08-A6DE7D5ACCB7}"/>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8868605B-D722-4164-B21F-08BFE13E61E2}"/>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56">
              <a:extLst>
                <a:ext uri="{FF2B5EF4-FFF2-40B4-BE49-F238E27FC236}">
                  <a16:creationId xmlns:a16="http://schemas.microsoft.com/office/drawing/2014/main" id="{CEA79255-9C71-432C-B4D0-195CB612AB02}"/>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130C72F6-B790-4963-829E-CC6199EAA06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3C4643EB-2B36-4F72-BC7D-553950FDE150}"/>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BA2B3455-F5C8-4779-912D-30053B105227}"/>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07D7C74C-5DD7-4AF7-99FD-900C366926D2}"/>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6428A0B-65F9-46F4-9E1C-ABB7B30059FA}"/>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848627E4-D75D-4A0C-88BB-46A1C4837B9C}"/>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4" name="Freeform 90">
              <a:extLst>
                <a:ext uri="{FF2B5EF4-FFF2-40B4-BE49-F238E27FC236}">
                  <a16:creationId xmlns:a16="http://schemas.microsoft.com/office/drawing/2014/main" id="{40F9FBC8-FE03-45D5-BD33-637B1B60C5F8}"/>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1">
              <a:extLst>
                <a:ext uri="{FF2B5EF4-FFF2-40B4-BE49-F238E27FC236}">
                  <a16:creationId xmlns:a16="http://schemas.microsoft.com/office/drawing/2014/main" id="{4AD0337E-0914-4CCE-BFFF-D0311277ACF0}"/>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90">
              <a:extLst>
                <a:ext uri="{FF2B5EF4-FFF2-40B4-BE49-F238E27FC236}">
                  <a16:creationId xmlns:a16="http://schemas.microsoft.com/office/drawing/2014/main" id="{911FC156-5CDB-4E0E-92E9-AD223BC37F9C}"/>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7" name="任意多边形: 形状 66">
              <a:extLst>
                <a:ext uri="{FF2B5EF4-FFF2-40B4-BE49-F238E27FC236}">
                  <a16:creationId xmlns:a16="http://schemas.microsoft.com/office/drawing/2014/main" id="{5CB8E1C3-E366-4D22-9AF9-FBB35170BB67}"/>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a:extLst>
                <a:ext uri="{FF2B5EF4-FFF2-40B4-BE49-F238E27FC236}">
                  <a16:creationId xmlns:a16="http://schemas.microsoft.com/office/drawing/2014/main" id="{20E11BDB-3C31-439E-9DDB-16AA665E410A}"/>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a:extLst>
                <a:ext uri="{FF2B5EF4-FFF2-40B4-BE49-F238E27FC236}">
                  <a16:creationId xmlns:a16="http://schemas.microsoft.com/office/drawing/2014/main" id="{F7AE4EF4-FD61-4FC6-8585-EC7A430BAE2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a:extLst>
                <a:ext uri="{FF2B5EF4-FFF2-40B4-BE49-F238E27FC236}">
                  <a16:creationId xmlns:a16="http://schemas.microsoft.com/office/drawing/2014/main" id="{95F02460-F328-4C7B-811F-E3D7D6C35355}"/>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a:extLst>
                <a:ext uri="{FF2B5EF4-FFF2-40B4-BE49-F238E27FC236}">
                  <a16:creationId xmlns:a16="http://schemas.microsoft.com/office/drawing/2014/main" id="{044DA748-443B-4276-8AB5-330D73460CE3}"/>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a:extLst>
                <a:ext uri="{FF2B5EF4-FFF2-40B4-BE49-F238E27FC236}">
                  <a16:creationId xmlns:a16="http://schemas.microsoft.com/office/drawing/2014/main" id="{8E6C05D2-B2A6-4C87-B0F6-6FB68429918C}"/>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a:extLst>
                <a:ext uri="{FF2B5EF4-FFF2-40B4-BE49-F238E27FC236}">
                  <a16:creationId xmlns:a16="http://schemas.microsoft.com/office/drawing/2014/main" id="{69418B36-BBFD-4077-8C67-A8378FA40868}"/>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任意多边形: 形状 73">
              <a:extLst>
                <a:ext uri="{FF2B5EF4-FFF2-40B4-BE49-F238E27FC236}">
                  <a16:creationId xmlns:a16="http://schemas.microsoft.com/office/drawing/2014/main" id="{EF0C0E3C-2AFE-47E6-B968-7228E9662A2B}"/>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5" name="Freeform 106">
              <a:extLst>
                <a:ext uri="{FF2B5EF4-FFF2-40B4-BE49-F238E27FC236}">
                  <a16:creationId xmlns:a16="http://schemas.microsoft.com/office/drawing/2014/main" id="{CCBE267B-8FF3-4D30-9A4A-1C1BC6BBDFF6}"/>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297" y="362660"/>
            <a:ext cx="6578349" cy="399957"/>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600623"/>
            <a:ext cx="10972800" cy="4570942"/>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ontent Placeholder 2"/>
          <p:cNvSpPr>
            <a:spLocks noGrp="1"/>
          </p:cNvSpPr>
          <p:nvPr>
            <p:ph idx="13" hasCustomPrompt="1"/>
          </p:nvPr>
        </p:nvSpPr>
        <p:spPr>
          <a:xfrm>
            <a:off x="840937" y="983909"/>
            <a:ext cx="10741463" cy="464350"/>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2412206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297" y="352343"/>
            <a:ext cx="5331223" cy="42932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143530"/>
            <a:ext cx="10972800" cy="5028036"/>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9814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alphaModFix amt="31000"/>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pPr/>
              <a:t>2026/1/3</a:t>
            </a:fld>
            <a:endParaRPr lang="zh-CN" altLang="en-US"/>
          </a:p>
        </p:txBody>
      </p:sp>
      <p:sp>
        <p:nvSpPr>
          <p:cNvPr id="9" name="页脚占位符 4">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 id="2147483672" r:id="rId7"/>
    <p:sldLayoutId id="2147483673" r:id="rId8"/>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任务信息</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6" name="内容占位符 2">
            <a:extLst>
              <a:ext uri="{FF2B5EF4-FFF2-40B4-BE49-F238E27FC236}">
                <a16:creationId xmlns:a16="http://schemas.microsoft.com/office/drawing/2014/main" id="{ABE6EB6A-F530-41A6-8CD6-17E5BFB335B4}"/>
              </a:ext>
            </a:extLst>
          </p:cNvPr>
          <p:cNvSpPr>
            <a:spLocks noGrp="1"/>
          </p:cNvSpPr>
          <p:nvPr>
            <p:ph idx="1"/>
          </p:nvPr>
        </p:nvSpPr>
        <p:spPr>
          <a:xfrm>
            <a:off x="500634" y="920369"/>
            <a:ext cx="5342382" cy="4351338"/>
          </a:xfrm>
        </p:spPr>
        <p:txBody>
          <a:bodyPr>
            <a:normAutofit fontScale="85000" lnSpcReduction="10000"/>
          </a:bodyPr>
          <a:lstStyle/>
          <a:p>
            <a:pPr marL="357188" indent="-357188"/>
            <a:r>
              <a:rPr lang="zh-CN" altLang="en-US" sz="2400" b="1" dirty="0">
                <a:solidFill>
                  <a:srgbClr val="C00000"/>
                </a:solidFill>
              </a:rPr>
              <a:t>任务包含多个信息</a:t>
            </a:r>
            <a:endParaRPr lang="en-US" altLang="zh-CN" sz="2400" b="1" dirty="0">
              <a:solidFill>
                <a:srgbClr val="C00000"/>
              </a:solidFill>
            </a:endParaRPr>
          </a:p>
          <a:p>
            <a:pPr marL="357188" lvl="1" indent="-227013">
              <a:lnSpc>
                <a:spcPct val="120000"/>
              </a:lnSpc>
            </a:pPr>
            <a:r>
              <a:rPr lang="zh-CN" altLang="en-US" sz="2100" b="1" dirty="0">
                <a:solidFill>
                  <a:srgbClr val="C00000"/>
                </a:solidFill>
              </a:rPr>
              <a:t>标识符</a:t>
            </a:r>
            <a:r>
              <a:rPr lang="zh-CN" altLang="en-US" sz="2100" dirty="0"/>
              <a:t>：和任务相关的唯一标识符，用于区别于其他任务</a:t>
            </a:r>
          </a:p>
          <a:p>
            <a:pPr marL="357188" lvl="1" indent="-227013">
              <a:lnSpc>
                <a:spcPct val="120000"/>
              </a:lnSpc>
            </a:pPr>
            <a:r>
              <a:rPr lang="zh-CN" altLang="en-US" sz="2100" b="1" dirty="0">
                <a:solidFill>
                  <a:srgbClr val="C00000"/>
                </a:solidFill>
              </a:rPr>
              <a:t>任务名：</a:t>
            </a:r>
            <a:r>
              <a:rPr lang="zh-CN" altLang="en-US" sz="2100" dirty="0"/>
              <a:t>任务的名称，便于用户对任务进行区分</a:t>
            </a:r>
          </a:p>
          <a:p>
            <a:pPr marL="357188" lvl="1" indent="-227013">
              <a:lnSpc>
                <a:spcPct val="120000"/>
              </a:lnSpc>
            </a:pPr>
            <a:r>
              <a:rPr lang="zh-CN" altLang="en-US" sz="2100" b="1" dirty="0">
                <a:solidFill>
                  <a:srgbClr val="C00000"/>
                </a:solidFill>
              </a:rPr>
              <a:t>任务状态：</a:t>
            </a:r>
            <a:r>
              <a:rPr lang="zh-CN" altLang="en-US" sz="2100" dirty="0"/>
              <a:t>用于表示任务当前正在执行或在等待</a:t>
            </a:r>
          </a:p>
          <a:p>
            <a:pPr marL="357188" lvl="1" indent="-227013">
              <a:lnSpc>
                <a:spcPct val="120000"/>
              </a:lnSpc>
            </a:pPr>
            <a:r>
              <a:rPr lang="zh-CN" altLang="en-US" sz="2100" b="1" dirty="0">
                <a:solidFill>
                  <a:srgbClr val="C00000"/>
                </a:solidFill>
              </a:rPr>
              <a:t>优先级：</a:t>
            </a:r>
            <a:r>
              <a:rPr lang="zh-CN" altLang="en-US" sz="2100" dirty="0"/>
              <a:t>任务的优先级代表着任务执行的优先顺序</a:t>
            </a:r>
          </a:p>
          <a:p>
            <a:pPr marL="357188" lvl="1" indent="-227013">
              <a:lnSpc>
                <a:spcPct val="120000"/>
              </a:lnSpc>
            </a:pPr>
            <a:r>
              <a:rPr lang="zh-CN" altLang="en-US" sz="2100" b="1" dirty="0">
                <a:solidFill>
                  <a:srgbClr val="C00000"/>
                </a:solidFill>
              </a:rPr>
              <a:t>上下文栈指针：</a:t>
            </a:r>
            <a:r>
              <a:rPr lang="zh-CN" altLang="en-US" sz="2100" dirty="0"/>
              <a:t>任务即将被执行的下一条指令的地址</a:t>
            </a:r>
            <a:endParaRPr lang="en-US" altLang="zh-CN" sz="2100" dirty="0"/>
          </a:p>
          <a:p>
            <a:r>
              <a:rPr lang="zh-CN" altLang="en-US" sz="2400" b="1" dirty="0">
                <a:solidFill>
                  <a:srgbClr val="C00000"/>
                </a:solidFill>
              </a:rPr>
              <a:t>任务控制块</a:t>
            </a:r>
            <a:endParaRPr lang="en-US" altLang="zh-CN" sz="2400" b="1" dirty="0">
              <a:solidFill>
                <a:srgbClr val="C00000"/>
              </a:solidFill>
            </a:endParaRPr>
          </a:p>
          <a:p>
            <a:pPr lvl="1">
              <a:lnSpc>
                <a:spcPct val="120000"/>
              </a:lnSpc>
            </a:pPr>
            <a:r>
              <a:rPr lang="zh-CN" altLang="en-US" sz="2000" dirty="0"/>
              <a:t>存放任务信息的数据结构</a:t>
            </a:r>
          </a:p>
          <a:p>
            <a:pPr lvl="1">
              <a:lnSpc>
                <a:spcPct val="120000"/>
              </a:lnSpc>
            </a:pPr>
            <a:endParaRPr lang="zh-CN" altLang="en-US" dirty="0"/>
          </a:p>
        </p:txBody>
      </p:sp>
      <p:pic>
        <p:nvPicPr>
          <p:cNvPr id="4" name="图片 3"/>
          <p:cNvPicPr>
            <a:picLocks noChangeAspect="1"/>
          </p:cNvPicPr>
          <p:nvPr/>
        </p:nvPicPr>
        <p:blipFill>
          <a:blip r:embed="rId2"/>
          <a:stretch>
            <a:fillRect/>
          </a:stretch>
        </p:blipFill>
        <p:spPr>
          <a:xfrm>
            <a:off x="5943600" y="1134006"/>
            <a:ext cx="6017770" cy="3708100"/>
          </a:xfrm>
          <a:prstGeom prst="rect">
            <a:avLst/>
          </a:prstGeom>
        </p:spPr>
      </p:pic>
    </p:spTree>
    <p:extLst>
      <p:ext uri="{BB962C8B-B14F-4D97-AF65-F5344CB8AC3E}">
        <p14:creationId xmlns:p14="http://schemas.microsoft.com/office/powerpoint/2010/main" val="2280097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任务栈</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682" y="982162"/>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609601" y="1143530"/>
            <a:ext cx="5745479" cy="5028036"/>
          </a:xfrm>
        </p:spPr>
        <p:txBody>
          <a:bodyPr>
            <a:normAutofit/>
          </a:bodyPr>
          <a:lstStyle/>
          <a:p>
            <a:r>
              <a:rPr lang="zh-CN" altLang="en-US" sz="2400" b="1" dirty="0">
                <a:solidFill>
                  <a:srgbClr val="C00000"/>
                </a:solidFill>
              </a:rPr>
              <a:t>每个任务拥有一个独立的任务栈，保存任务信息</a:t>
            </a:r>
            <a:endParaRPr lang="en-US" altLang="zh-CN" sz="2400" b="1" dirty="0">
              <a:solidFill>
                <a:srgbClr val="C00000"/>
              </a:solidFill>
            </a:endParaRPr>
          </a:p>
          <a:p>
            <a:pPr lvl="1"/>
            <a:r>
              <a:rPr lang="zh-CN" altLang="en-US" sz="2000" dirty="0"/>
              <a:t>局部变量</a:t>
            </a:r>
            <a:endParaRPr lang="en-US" altLang="zh-CN" sz="2000" dirty="0"/>
          </a:p>
          <a:p>
            <a:pPr lvl="1"/>
            <a:r>
              <a:rPr lang="en-US" altLang="zh-CN" sz="2000" dirty="0"/>
              <a:t>CPU</a:t>
            </a:r>
            <a:r>
              <a:rPr lang="zh-CN" altLang="en-US" sz="2000" dirty="0"/>
              <a:t>寄存器内容</a:t>
            </a:r>
            <a:endParaRPr lang="en-US" altLang="zh-CN" sz="2000" dirty="0"/>
          </a:p>
          <a:p>
            <a:pPr lvl="1"/>
            <a:r>
              <a:rPr lang="zh-CN" altLang="en-US" sz="2000" dirty="0"/>
              <a:t>函数参数</a:t>
            </a:r>
            <a:endParaRPr lang="en-US" altLang="zh-CN" sz="2000" dirty="0"/>
          </a:p>
          <a:p>
            <a:pPr lvl="1"/>
            <a:r>
              <a:rPr lang="zh-CN" altLang="en-US" sz="2000" dirty="0"/>
              <a:t>函数返回地址</a:t>
            </a:r>
            <a:endParaRPr lang="en-US" altLang="zh-CN" sz="2000" dirty="0"/>
          </a:p>
          <a:p>
            <a:pPr lvl="1"/>
            <a:endParaRPr lang="en-US" altLang="zh-CN" dirty="0"/>
          </a:p>
          <a:p>
            <a:r>
              <a:rPr lang="zh-CN" altLang="en-US" sz="2400" b="1" dirty="0">
                <a:solidFill>
                  <a:srgbClr val="C00000"/>
                </a:solidFill>
              </a:rPr>
              <a:t>任务运行时，保存局部变量、函数参数等</a:t>
            </a:r>
            <a:endParaRPr lang="en-US" altLang="zh-CN" sz="2400" b="1" dirty="0">
              <a:solidFill>
                <a:srgbClr val="C00000"/>
              </a:solidFill>
            </a:endParaRPr>
          </a:p>
          <a:p>
            <a:r>
              <a:rPr lang="zh-CN" altLang="en-US" sz="2400" b="1" dirty="0">
                <a:solidFill>
                  <a:srgbClr val="C00000"/>
                </a:solidFill>
              </a:rPr>
              <a:t>任务切换时，将</a:t>
            </a:r>
            <a:r>
              <a:rPr lang="en-US" altLang="zh-CN" sz="2400" b="1" dirty="0">
                <a:solidFill>
                  <a:srgbClr val="C00000"/>
                </a:solidFill>
              </a:rPr>
              <a:t>CPU</a:t>
            </a:r>
            <a:r>
              <a:rPr lang="zh-CN" altLang="en-US" sz="2400" b="1" dirty="0">
                <a:solidFill>
                  <a:srgbClr val="C00000"/>
                </a:solidFill>
              </a:rPr>
              <a:t>寄存器内容压入栈内，等任务恢复时再弹出</a:t>
            </a:r>
            <a:endParaRPr lang="en-US" altLang="zh-CN" sz="2400" b="1" dirty="0">
              <a:solidFill>
                <a:srgbClr val="C00000"/>
              </a:solidFill>
            </a:endParaRPr>
          </a:p>
          <a:p>
            <a:endParaRPr lang="en-US" altLang="zh-CN" sz="2400" b="1" dirty="0">
              <a:solidFill>
                <a:srgbClr val="C00000"/>
              </a:solidFill>
            </a:endParaRPr>
          </a:p>
        </p:txBody>
      </p:sp>
    </p:spTree>
    <p:extLst>
      <p:ext uri="{BB962C8B-B14F-4D97-AF65-F5344CB8AC3E}">
        <p14:creationId xmlns:p14="http://schemas.microsoft.com/office/powerpoint/2010/main" val="1403661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任务调度</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426" y="982162"/>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627797" y="1134006"/>
            <a:ext cx="7886700" cy="4351338"/>
          </a:xfrm>
        </p:spPr>
        <p:txBody>
          <a:bodyPr>
            <a:normAutofit lnSpcReduction="10000"/>
          </a:bodyPr>
          <a:lstStyle/>
          <a:p>
            <a:r>
              <a:rPr lang="zh-CN" altLang="en-US" sz="2400" b="1" dirty="0">
                <a:solidFill>
                  <a:srgbClr val="C00000"/>
                </a:solidFill>
              </a:rPr>
              <a:t>任务上下文</a:t>
            </a:r>
            <a:endParaRPr lang="en-US" altLang="zh-CN" sz="2400" b="1" dirty="0">
              <a:solidFill>
                <a:srgbClr val="C00000"/>
              </a:solidFill>
            </a:endParaRPr>
          </a:p>
          <a:p>
            <a:r>
              <a:rPr lang="zh-CN" altLang="en-US" sz="2400" b="1" dirty="0">
                <a:solidFill>
                  <a:srgbClr val="C00000"/>
                </a:solidFill>
              </a:rPr>
              <a:t>任务切换</a:t>
            </a:r>
            <a:endParaRPr lang="en-US" altLang="zh-CN" sz="2400" b="1" dirty="0">
              <a:solidFill>
                <a:srgbClr val="C00000"/>
              </a:solidFill>
            </a:endParaRPr>
          </a:p>
          <a:p>
            <a:r>
              <a:rPr lang="zh-CN" altLang="en-US" sz="2400" b="1" dirty="0">
                <a:solidFill>
                  <a:srgbClr val="C00000"/>
                </a:solidFill>
              </a:rPr>
              <a:t>调度算法</a:t>
            </a:r>
            <a:endParaRPr lang="en-US" altLang="zh-CN" sz="2400" b="1" dirty="0">
              <a:solidFill>
                <a:srgbClr val="C00000"/>
              </a:solidFill>
            </a:endParaRPr>
          </a:p>
          <a:p>
            <a:r>
              <a:rPr lang="zh-CN" altLang="en-US" sz="2400" b="1" dirty="0">
                <a:solidFill>
                  <a:srgbClr val="C00000"/>
                </a:solidFill>
              </a:rPr>
              <a:t>任务创建</a:t>
            </a:r>
            <a:endParaRPr lang="en-US" altLang="zh-CN" sz="2400" b="1" dirty="0">
              <a:solidFill>
                <a:srgbClr val="C00000"/>
              </a:solidFill>
            </a:endParaRPr>
          </a:p>
          <a:p>
            <a:r>
              <a:rPr lang="zh-CN" altLang="en-US" sz="2400" b="1" dirty="0">
                <a:solidFill>
                  <a:srgbClr val="C00000"/>
                </a:solidFill>
              </a:rPr>
              <a:t>任务终止</a:t>
            </a:r>
            <a:endParaRPr lang="en-US" altLang="zh-CN" sz="2400" b="1" dirty="0">
              <a:solidFill>
                <a:srgbClr val="C00000"/>
              </a:solidFill>
            </a:endParaRPr>
          </a:p>
          <a:p>
            <a:r>
              <a:rPr lang="en-US" altLang="zh-CN" sz="2400" b="1" dirty="0">
                <a:solidFill>
                  <a:srgbClr val="C00000"/>
                </a:solidFill>
              </a:rPr>
              <a:t>Huawei </a:t>
            </a:r>
            <a:r>
              <a:rPr lang="en-US" altLang="zh-CN" sz="2400" b="1" dirty="0" err="1">
                <a:solidFill>
                  <a:srgbClr val="C00000"/>
                </a:solidFill>
              </a:rPr>
              <a:t>LiteOS</a:t>
            </a:r>
            <a:r>
              <a:rPr lang="zh-CN" altLang="en-US" sz="2400" b="1" dirty="0">
                <a:solidFill>
                  <a:srgbClr val="C00000"/>
                </a:solidFill>
              </a:rPr>
              <a:t>中由</a:t>
            </a:r>
            <a:r>
              <a:rPr lang="en-US" altLang="zh-CN" sz="2400" b="1" dirty="0">
                <a:solidFill>
                  <a:srgbClr val="C00000"/>
                </a:solidFill>
              </a:rPr>
              <a:t>32</a:t>
            </a:r>
            <a:r>
              <a:rPr lang="zh-CN" altLang="en-US" sz="2400" b="1" dirty="0">
                <a:solidFill>
                  <a:srgbClr val="C00000"/>
                </a:solidFill>
              </a:rPr>
              <a:t>个优先级（</a:t>
            </a:r>
            <a:r>
              <a:rPr lang="en-US" altLang="zh-CN" sz="2400" b="1" dirty="0">
                <a:solidFill>
                  <a:srgbClr val="C00000"/>
                </a:solidFill>
              </a:rPr>
              <a:t>0~31</a:t>
            </a:r>
            <a:r>
              <a:rPr lang="zh-CN" altLang="en-US" sz="2400" b="1" dirty="0">
                <a:solidFill>
                  <a:srgbClr val="C00000"/>
                </a:solidFill>
              </a:rPr>
              <a:t>）</a:t>
            </a:r>
            <a:endParaRPr lang="en-US" altLang="zh-CN" sz="2400" b="1" dirty="0">
              <a:solidFill>
                <a:srgbClr val="C00000"/>
              </a:solidFill>
            </a:endParaRPr>
          </a:p>
          <a:p>
            <a:pPr lvl="1"/>
            <a:r>
              <a:rPr lang="zh-CN" altLang="en-US" sz="2000" dirty="0"/>
              <a:t>最高优先级为</a:t>
            </a:r>
            <a:r>
              <a:rPr lang="en-US" altLang="zh-CN" sz="2000" dirty="0"/>
              <a:t>0</a:t>
            </a:r>
          </a:p>
          <a:p>
            <a:pPr lvl="1"/>
            <a:r>
              <a:rPr lang="zh-CN" altLang="en-US" sz="2000" dirty="0"/>
              <a:t>最低优先级为</a:t>
            </a:r>
            <a:r>
              <a:rPr lang="en-US" altLang="zh-CN" sz="2000" dirty="0"/>
              <a:t>31</a:t>
            </a:r>
          </a:p>
          <a:p>
            <a:pPr lvl="1"/>
            <a:r>
              <a:rPr lang="zh-CN" altLang="en-US" sz="2000" dirty="0"/>
              <a:t>在任务创建时给定，可动态调整</a:t>
            </a:r>
            <a:endParaRPr lang="en-US" altLang="zh-CN" sz="2000" dirty="0"/>
          </a:p>
        </p:txBody>
      </p:sp>
    </p:spTree>
    <p:extLst>
      <p:ext uri="{BB962C8B-B14F-4D97-AF65-F5344CB8AC3E}">
        <p14:creationId xmlns:p14="http://schemas.microsoft.com/office/powerpoint/2010/main" val="190327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任务上下文</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426" y="982162"/>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p:txBody>
          <a:bodyPr>
            <a:normAutofit/>
          </a:bodyPr>
          <a:lstStyle/>
          <a:p>
            <a:r>
              <a:rPr lang="zh-CN" altLang="en-US" sz="2400" b="1" dirty="0">
                <a:solidFill>
                  <a:srgbClr val="C00000"/>
                </a:solidFill>
              </a:rPr>
              <a:t>任务在运行过程中使用的资源，例如寄存器</a:t>
            </a:r>
            <a:endParaRPr lang="en-US" altLang="zh-CN" sz="2400" b="1" dirty="0">
              <a:solidFill>
                <a:srgbClr val="C00000"/>
              </a:solidFill>
            </a:endParaRPr>
          </a:p>
          <a:p>
            <a:endParaRPr lang="en-US" altLang="zh-CN" dirty="0"/>
          </a:p>
          <a:p>
            <a:r>
              <a:rPr lang="zh-CN" altLang="en-US" sz="2400" b="1" dirty="0">
                <a:solidFill>
                  <a:srgbClr val="C00000"/>
                </a:solidFill>
              </a:rPr>
              <a:t>任务挂起时</a:t>
            </a:r>
            <a:endParaRPr lang="en-US" altLang="zh-CN" sz="2400" b="1" dirty="0">
              <a:solidFill>
                <a:srgbClr val="C00000"/>
              </a:solidFill>
            </a:endParaRPr>
          </a:p>
          <a:p>
            <a:pPr lvl="1"/>
            <a:r>
              <a:rPr lang="zh-CN" altLang="en-US" sz="2000" dirty="0"/>
              <a:t>将任务的上下文保存在任务栈中</a:t>
            </a:r>
            <a:endParaRPr lang="en-US" altLang="zh-CN" sz="2000" dirty="0"/>
          </a:p>
          <a:p>
            <a:pPr lvl="1"/>
            <a:endParaRPr lang="en-US" altLang="zh-CN" dirty="0"/>
          </a:p>
          <a:p>
            <a:r>
              <a:rPr lang="zh-CN" altLang="en-US" sz="2400" b="1" dirty="0">
                <a:solidFill>
                  <a:srgbClr val="C00000"/>
                </a:solidFill>
              </a:rPr>
              <a:t>任务恢复时</a:t>
            </a:r>
            <a:endParaRPr lang="en-US" altLang="zh-CN" sz="2400" b="1" dirty="0">
              <a:solidFill>
                <a:srgbClr val="C00000"/>
              </a:solidFill>
            </a:endParaRPr>
          </a:p>
          <a:p>
            <a:pPr lvl="1"/>
            <a:r>
              <a:rPr lang="zh-CN" altLang="en-US" sz="2000" dirty="0"/>
              <a:t>读取任务栈中的上下文信息</a:t>
            </a:r>
            <a:endParaRPr lang="en-US" altLang="zh-CN" sz="2000" dirty="0"/>
          </a:p>
          <a:p>
            <a:pPr lvl="1"/>
            <a:r>
              <a:rPr lang="zh-CN" altLang="en-US" sz="2000" dirty="0"/>
              <a:t>恢复任务上下文，继续执行任务</a:t>
            </a:r>
            <a:endParaRPr lang="en-US" altLang="zh-CN" sz="2000" dirty="0"/>
          </a:p>
        </p:txBody>
      </p:sp>
    </p:spTree>
    <p:extLst>
      <p:ext uri="{BB962C8B-B14F-4D97-AF65-F5344CB8AC3E}">
        <p14:creationId xmlns:p14="http://schemas.microsoft.com/office/powerpoint/2010/main" val="397619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任务切换流程</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338" y="1177790"/>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390906" y="1013198"/>
            <a:ext cx="7886700" cy="4351338"/>
          </a:xfrm>
        </p:spPr>
        <p:txBody>
          <a:bodyPr>
            <a:normAutofit fontScale="77500" lnSpcReduction="20000"/>
          </a:bodyPr>
          <a:lstStyle/>
          <a:p>
            <a:pPr marL="514350" indent="-514350">
              <a:buFont typeface="+mj-lt"/>
              <a:buAutoNum type="arabicPeriod"/>
            </a:pPr>
            <a:r>
              <a:rPr lang="zh-CN" altLang="en-US" sz="2600" b="1" dirty="0">
                <a:solidFill>
                  <a:srgbClr val="C00000"/>
                </a:solidFill>
              </a:rPr>
              <a:t>保存任务上下文环境，包括程序计数器和其他寄存器</a:t>
            </a:r>
            <a:endParaRPr lang="en-US" altLang="zh-CN" sz="2600" b="1" dirty="0">
              <a:solidFill>
                <a:srgbClr val="C00000"/>
              </a:solidFill>
            </a:endParaRPr>
          </a:p>
          <a:p>
            <a:pPr marL="514350" indent="-514350">
              <a:buFont typeface="+mj-lt"/>
              <a:buAutoNum type="arabicPeriod"/>
            </a:pPr>
            <a:r>
              <a:rPr lang="zh-CN" altLang="en-US" sz="2600" b="1" dirty="0">
                <a:solidFill>
                  <a:srgbClr val="C00000"/>
                </a:solidFill>
              </a:rPr>
              <a:t>更新当前处于运行态任务的任务控制块</a:t>
            </a:r>
            <a:endParaRPr lang="en-US" altLang="zh-CN" sz="2600" b="1" dirty="0">
              <a:solidFill>
                <a:srgbClr val="C00000"/>
              </a:solidFill>
            </a:endParaRPr>
          </a:p>
          <a:p>
            <a:pPr lvl="1">
              <a:lnSpc>
                <a:spcPct val="120000"/>
              </a:lnSpc>
            </a:pPr>
            <a:r>
              <a:rPr lang="zh-CN" altLang="en-US" sz="2300" dirty="0"/>
              <a:t>包括将任务的状态改变到另一个状态（就绪态、阻塞态或退出态）</a:t>
            </a:r>
            <a:endParaRPr lang="en-US" altLang="zh-CN" sz="2300" dirty="0"/>
          </a:p>
          <a:p>
            <a:pPr lvl="1"/>
            <a:r>
              <a:rPr lang="zh-CN" altLang="en-US" sz="2300" dirty="0"/>
              <a:t>此外，还必须更新其他相关域，包括离开运行态的原因和记账信息</a:t>
            </a:r>
            <a:endParaRPr lang="en-US" altLang="zh-CN" sz="2300" dirty="0"/>
          </a:p>
          <a:p>
            <a:pPr marL="514350" indent="-514350">
              <a:lnSpc>
                <a:spcPct val="130000"/>
              </a:lnSpc>
              <a:buFont typeface="+mj-lt"/>
              <a:buAutoNum type="arabicPeriod"/>
            </a:pPr>
            <a:r>
              <a:rPr lang="zh-CN" altLang="en-US" sz="2600" b="1" dirty="0">
                <a:solidFill>
                  <a:srgbClr val="C00000"/>
                </a:solidFill>
              </a:rPr>
              <a:t>将任务的任务控制块移到相应的队列中</a:t>
            </a:r>
            <a:endParaRPr lang="en-US" altLang="zh-CN" sz="2600" b="1" dirty="0">
              <a:solidFill>
                <a:srgbClr val="C00000"/>
              </a:solidFill>
            </a:endParaRPr>
          </a:p>
          <a:p>
            <a:pPr marL="514350" indent="-514350">
              <a:lnSpc>
                <a:spcPct val="130000"/>
              </a:lnSpc>
              <a:buFont typeface="+mj-lt"/>
              <a:buAutoNum type="arabicPeriod"/>
            </a:pPr>
            <a:r>
              <a:rPr lang="zh-CN" altLang="en-US" sz="2600" b="1" dirty="0">
                <a:solidFill>
                  <a:srgbClr val="C00000"/>
                </a:solidFill>
              </a:rPr>
              <a:t>从就绪列表中获取最高优先级的任务并执行</a:t>
            </a:r>
            <a:endParaRPr lang="en-US" altLang="zh-CN" sz="2600" b="1" dirty="0">
              <a:solidFill>
                <a:srgbClr val="C00000"/>
              </a:solidFill>
            </a:endParaRPr>
          </a:p>
          <a:p>
            <a:pPr marL="514350" indent="-514350">
              <a:lnSpc>
                <a:spcPct val="130000"/>
              </a:lnSpc>
              <a:buFont typeface="+mj-lt"/>
              <a:buAutoNum type="arabicPeriod"/>
            </a:pPr>
            <a:r>
              <a:rPr lang="zh-CN" altLang="en-US" sz="2600" b="1" dirty="0">
                <a:solidFill>
                  <a:srgbClr val="C00000"/>
                </a:solidFill>
              </a:rPr>
              <a:t>更新所选择任务的任务控制块</a:t>
            </a:r>
            <a:endParaRPr lang="en-US" altLang="zh-CN" sz="2600" b="1" dirty="0">
              <a:solidFill>
                <a:srgbClr val="C00000"/>
              </a:solidFill>
            </a:endParaRPr>
          </a:p>
          <a:p>
            <a:pPr marL="514350" indent="-514350">
              <a:buFont typeface="+mj-lt"/>
              <a:buAutoNum type="arabicPeriod"/>
            </a:pPr>
            <a:r>
              <a:rPr lang="zh-CN" altLang="en-US" sz="2600" b="1" dirty="0">
                <a:solidFill>
                  <a:srgbClr val="C00000"/>
                </a:solidFill>
              </a:rPr>
              <a:t>更新内存管理的数据结构</a:t>
            </a:r>
            <a:endParaRPr lang="en-US" altLang="zh-CN" sz="2600" b="1" dirty="0">
              <a:solidFill>
                <a:srgbClr val="C00000"/>
              </a:solidFill>
            </a:endParaRPr>
          </a:p>
          <a:p>
            <a:pPr marL="514350" indent="-514350">
              <a:buFont typeface="+mj-lt"/>
              <a:buAutoNum type="arabicPeriod"/>
            </a:pPr>
            <a:r>
              <a:rPr lang="zh-CN" altLang="en-US" sz="2600" b="1" dirty="0">
                <a:solidFill>
                  <a:srgbClr val="C00000"/>
                </a:solidFill>
              </a:rPr>
              <a:t>恢复处理器在被选择的任务最近一次切换出运行状态时的上下文环境</a:t>
            </a:r>
            <a:endParaRPr lang="en-US" altLang="zh-CN" sz="2600" b="1" dirty="0">
              <a:solidFill>
                <a:srgbClr val="C00000"/>
              </a:solidFill>
            </a:endParaRPr>
          </a:p>
          <a:p>
            <a:pPr lvl="1">
              <a:lnSpc>
                <a:spcPct val="120000"/>
              </a:lnSpc>
            </a:pPr>
            <a:r>
              <a:rPr lang="zh-CN" altLang="en-US" sz="2300" dirty="0"/>
              <a:t>可以通过载入程序计数器和其他寄存器以前的值来实现</a:t>
            </a:r>
          </a:p>
          <a:p>
            <a:endParaRPr lang="en-US" altLang="zh-CN" b="1" dirty="0"/>
          </a:p>
        </p:txBody>
      </p:sp>
    </p:spTree>
    <p:extLst>
      <p:ext uri="{BB962C8B-B14F-4D97-AF65-F5344CB8AC3E}">
        <p14:creationId xmlns:p14="http://schemas.microsoft.com/office/powerpoint/2010/main" val="3634436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调度算法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338" y="1177790"/>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701802" y="1011809"/>
            <a:ext cx="6970014" cy="4351338"/>
          </a:xfrm>
        </p:spPr>
        <p:txBody>
          <a:bodyPr>
            <a:normAutofit/>
          </a:bodyPr>
          <a:lstStyle/>
          <a:p>
            <a:pPr marL="514350" indent="-514350">
              <a:lnSpc>
                <a:spcPct val="100000"/>
              </a:lnSpc>
              <a:buFont typeface="+mj-lt"/>
              <a:buAutoNum type="arabicPeriod"/>
            </a:pPr>
            <a:r>
              <a:rPr lang="zh-CN" altLang="en-US" sz="2000" b="1" dirty="0">
                <a:solidFill>
                  <a:srgbClr val="C00000"/>
                </a:solidFill>
              </a:rPr>
              <a:t>抢占式调度</a:t>
            </a:r>
            <a:endParaRPr lang="en-US" altLang="zh-CN" sz="2000" b="1" dirty="0">
              <a:solidFill>
                <a:srgbClr val="C00000"/>
              </a:solidFill>
            </a:endParaRPr>
          </a:p>
          <a:p>
            <a:pPr lvl="1"/>
            <a:r>
              <a:rPr lang="zh-CN" altLang="en-US" sz="2000" dirty="0"/>
              <a:t>任务一直运行至被阻塞或更高优先级任务出现为止</a:t>
            </a:r>
            <a:endParaRPr lang="en-US" altLang="zh-CN" sz="2000" dirty="0"/>
          </a:p>
          <a:p>
            <a:pPr lvl="1"/>
            <a:r>
              <a:rPr lang="zh-CN" altLang="en-US" sz="2000" dirty="0"/>
              <a:t>任务可能会长时间被同优先级任务阻塞，缺少公平性</a:t>
            </a:r>
            <a:endParaRPr lang="en-US" altLang="zh-CN" sz="2000" dirty="0"/>
          </a:p>
          <a:p>
            <a:pPr lvl="1"/>
            <a:endParaRPr lang="en-US" altLang="zh-CN" dirty="0"/>
          </a:p>
          <a:p>
            <a:pPr marL="514350" indent="-514350">
              <a:lnSpc>
                <a:spcPct val="100000"/>
              </a:lnSpc>
              <a:buFont typeface="+mj-lt"/>
              <a:buAutoNum type="arabicPeriod"/>
            </a:pPr>
            <a:r>
              <a:rPr lang="zh-CN" altLang="en-US" sz="2000" b="1" dirty="0">
                <a:solidFill>
                  <a:srgbClr val="C00000"/>
                </a:solidFill>
              </a:rPr>
              <a:t>时间片轮转调度</a:t>
            </a:r>
            <a:endParaRPr lang="en-US" altLang="zh-CN" sz="2000" b="1" dirty="0">
              <a:solidFill>
                <a:srgbClr val="C00000"/>
              </a:solidFill>
            </a:endParaRPr>
          </a:p>
          <a:p>
            <a:pPr lvl="1"/>
            <a:r>
              <a:rPr lang="zh-CN" altLang="en-US" sz="2000" dirty="0"/>
              <a:t>每个任务被分配一个时间段（时间片）</a:t>
            </a:r>
            <a:endParaRPr lang="en-US" altLang="zh-CN" sz="2000" dirty="0"/>
          </a:p>
          <a:p>
            <a:pPr lvl="1"/>
            <a:r>
              <a:rPr lang="zh-CN" altLang="en-US" sz="2000" dirty="0"/>
              <a:t>时间片结束时，任务强制阻塞，让出</a:t>
            </a:r>
            <a:r>
              <a:rPr lang="en-US" altLang="zh-CN" sz="2000" dirty="0"/>
              <a:t>CPU</a:t>
            </a:r>
            <a:r>
              <a:rPr lang="zh-CN" altLang="en-US" sz="2000" dirty="0"/>
              <a:t>资源</a:t>
            </a:r>
            <a:endParaRPr lang="en-US" altLang="zh-CN" sz="2000" dirty="0"/>
          </a:p>
          <a:p>
            <a:pPr lvl="1"/>
            <a:r>
              <a:rPr lang="zh-CN" altLang="en-US" sz="2000" dirty="0"/>
              <a:t>同优先级任务会轮流执行，更具公平性</a:t>
            </a:r>
            <a:endParaRPr lang="en-US" altLang="zh-CN" sz="2000" dirty="0"/>
          </a:p>
          <a:p>
            <a:pPr lvl="1"/>
            <a:endParaRPr lang="en-US" altLang="zh-CN" dirty="0"/>
          </a:p>
        </p:txBody>
      </p:sp>
    </p:spTree>
    <p:extLst>
      <p:ext uri="{BB962C8B-B14F-4D97-AF65-F5344CB8AC3E}">
        <p14:creationId xmlns:p14="http://schemas.microsoft.com/office/powerpoint/2010/main" val="208887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任务创建</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338" y="1177790"/>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509543" y="1102970"/>
            <a:ext cx="7886700" cy="4351338"/>
          </a:xfrm>
        </p:spPr>
        <p:txBody>
          <a:bodyPr>
            <a:normAutofit/>
          </a:bodyPr>
          <a:lstStyle/>
          <a:p>
            <a:r>
              <a:rPr lang="zh-CN" altLang="en-US" b="1" dirty="0">
                <a:solidFill>
                  <a:srgbClr val="C00000"/>
                </a:solidFill>
              </a:rPr>
              <a:t>用户配置任务信息，并调用接口创建任务</a:t>
            </a:r>
            <a:endParaRPr lang="en-US" altLang="zh-CN" b="1" dirty="0">
              <a:solidFill>
                <a:srgbClr val="C00000"/>
              </a:solidFill>
            </a:endParaRPr>
          </a:p>
          <a:p>
            <a:pPr lvl="1"/>
            <a:r>
              <a:rPr lang="zh-CN" altLang="en-US" dirty="0"/>
              <a:t>系统对任务栈进行初始化</a:t>
            </a:r>
            <a:endParaRPr lang="en-US" altLang="zh-CN" dirty="0"/>
          </a:p>
          <a:p>
            <a:pPr lvl="1"/>
            <a:r>
              <a:rPr lang="zh-CN" altLang="en-US" dirty="0"/>
              <a:t>预置任务上下文</a:t>
            </a:r>
            <a:endParaRPr lang="en-US" altLang="zh-CN" dirty="0"/>
          </a:p>
          <a:p>
            <a:pPr lvl="1"/>
            <a:r>
              <a:rPr lang="zh-CN" altLang="en-US" dirty="0"/>
              <a:t>准备任务入口函数地址</a:t>
            </a:r>
            <a:endParaRPr lang="en-US" altLang="zh-CN" dirty="0"/>
          </a:p>
          <a:p>
            <a:r>
              <a:rPr lang="zh-CN" altLang="en-US" b="1" dirty="0">
                <a:solidFill>
                  <a:srgbClr val="C00000"/>
                </a:solidFill>
              </a:rPr>
              <a:t>创建新任务时，会对自删除的任务进行资源回收</a:t>
            </a:r>
            <a:endParaRPr lang="en-US" altLang="zh-CN" b="1" dirty="0">
              <a:solidFill>
                <a:srgbClr val="C00000"/>
              </a:solidFill>
            </a:endParaRPr>
          </a:p>
          <a:p>
            <a:pPr marL="0" indent="0">
              <a:buNone/>
            </a:pPr>
            <a:endParaRPr lang="en-US" altLang="zh-CN" dirty="0"/>
          </a:p>
        </p:txBody>
      </p:sp>
      <p:sp>
        <p:nvSpPr>
          <p:cNvPr id="10" name="文本框 9">
            <a:extLst>
              <a:ext uri="{FF2B5EF4-FFF2-40B4-BE49-F238E27FC236}">
                <a16:creationId xmlns:a16="http://schemas.microsoft.com/office/drawing/2014/main" id="{000F36C4-F8EE-43CE-9CD7-AF19E99ADD8B}"/>
              </a:ext>
            </a:extLst>
          </p:cNvPr>
          <p:cNvSpPr txBox="1"/>
          <p:nvPr/>
        </p:nvSpPr>
        <p:spPr>
          <a:xfrm>
            <a:off x="509543" y="3213215"/>
            <a:ext cx="7648486" cy="2667397"/>
          </a:xfrm>
          <a:prstGeom prst="rect">
            <a:avLst/>
          </a:prstGeom>
          <a:noFill/>
        </p:spPr>
        <p:txBody>
          <a:bodyPr wrap="square" rtlCol="0">
            <a:spAutoFit/>
          </a:bodyPr>
          <a:lstStyle/>
          <a:p>
            <a:pPr marL="254000" algn="just">
              <a:spcBef>
                <a:spcPts val="155"/>
              </a:spcBef>
              <a:spcAft>
                <a:spcPts val="155"/>
              </a:spcAft>
            </a:pPr>
            <a:r>
              <a:rPr lang="en-US" altLang="zh-CN" sz="1600" b="1" kern="100" dirty="0">
                <a:effectLst/>
                <a:latin typeface="Courier New" panose="02070309020205020404" pitchFamily="49" charset="0"/>
                <a:ea typeface="方正书宋简体"/>
              </a:rPr>
              <a:t>/********************************************** </a:t>
            </a:r>
            <a:endParaRPr lang="zh-CN" altLang="zh-CN" sz="1600" b="1" kern="100" dirty="0">
              <a:effectLst/>
              <a:latin typeface="Courier New" panose="02070309020205020404" pitchFamily="49" charset="0"/>
              <a:ea typeface="方正书宋简体"/>
            </a:endParaRPr>
          </a:p>
          <a:p>
            <a:pPr marL="254000" algn="just">
              <a:spcBef>
                <a:spcPts val="155"/>
              </a:spcBef>
              <a:spcAft>
                <a:spcPts val="155"/>
              </a:spcAft>
            </a:pPr>
            <a:r>
              <a:rPr lang="en-US" altLang="zh-CN" sz="1600" b="1" kern="100" dirty="0">
                <a:effectLst/>
                <a:latin typeface="Courier New" panose="02070309020205020404" pitchFamily="49" charset="0"/>
                <a:ea typeface="方正书宋简体"/>
              </a:rPr>
              <a:t> Function : </a:t>
            </a:r>
            <a:r>
              <a:rPr lang="en-US" altLang="zh-CN" sz="1600" b="1" kern="100" dirty="0" err="1">
                <a:effectLst/>
                <a:latin typeface="Courier New" panose="02070309020205020404" pitchFamily="49" charset="0"/>
                <a:ea typeface="方正书宋简体"/>
              </a:rPr>
              <a:t>LOS_TaskCreate</a:t>
            </a:r>
            <a:r>
              <a:rPr lang="en-US" altLang="zh-CN" sz="1600" b="1" kern="100" dirty="0">
                <a:effectLst/>
                <a:latin typeface="Courier New" panose="02070309020205020404" pitchFamily="49" charset="0"/>
                <a:ea typeface="方正书宋简体"/>
              </a:rPr>
              <a:t> </a:t>
            </a:r>
            <a:endParaRPr lang="zh-CN" altLang="zh-CN" sz="1600" b="1" kern="100" dirty="0">
              <a:effectLst/>
              <a:latin typeface="Courier New" panose="02070309020205020404" pitchFamily="49" charset="0"/>
              <a:ea typeface="方正书宋简体"/>
            </a:endParaRPr>
          </a:p>
          <a:p>
            <a:pPr marL="254000" algn="just">
              <a:spcBef>
                <a:spcPts val="155"/>
              </a:spcBef>
              <a:spcAft>
                <a:spcPts val="155"/>
              </a:spcAft>
            </a:pPr>
            <a:r>
              <a:rPr lang="en-US" altLang="zh-CN" sz="1600" b="1" kern="100" dirty="0">
                <a:effectLst/>
                <a:latin typeface="Courier New" panose="02070309020205020404" pitchFamily="49" charset="0"/>
                <a:ea typeface="方正书宋简体"/>
              </a:rPr>
              <a:t> Description : Create a task </a:t>
            </a:r>
            <a:endParaRPr lang="zh-CN" altLang="zh-CN" sz="1600" b="1" kern="100" dirty="0">
              <a:effectLst/>
              <a:latin typeface="Courier New" panose="02070309020205020404" pitchFamily="49" charset="0"/>
              <a:ea typeface="方正书宋简体"/>
            </a:endParaRPr>
          </a:p>
          <a:p>
            <a:pPr marL="254000" algn="just">
              <a:spcBef>
                <a:spcPts val="155"/>
              </a:spcBef>
              <a:spcAft>
                <a:spcPts val="155"/>
              </a:spcAft>
            </a:pPr>
            <a:r>
              <a:rPr lang="en-US" altLang="zh-CN" sz="1600" b="1" kern="100" dirty="0">
                <a:effectLst/>
                <a:latin typeface="Courier New" panose="02070309020205020404" pitchFamily="49" charset="0"/>
                <a:ea typeface="方正书宋简体"/>
              </a:rPr>
              <a:t> Input       : </a:t>
            </a:r>
            <a:r>
              <a:rPr lang="en-US" altLang="zh-CN" sz="1600" b="1" kern="100" dirty="0" err="1">
                <a:effectLst/>
                <a:latin typeface="Courier New" panose="02070309020205020404" pitchFamily="49" charset="0"/>
                <a:ea typeface="方正书宋简体"/>
              </a:rPr>
              <a:t>pstInitParam</a:t>
            </a:r>
            <a:r>
              <a:rPr lang="en-US" altLang="zh-CN" sz="1600" b="1" kern="100" dirty="0">
                <a:effectLst/>
                <a:latin typeface="Courier New" panose="02070309020205020404" pitchFamily="49" charset="0"/>
                <a:ea typeface="方正书宋简体"/>
              </a:rPr>
              <a:t> </a:t>
            </a:r>
            <a:r>
              <a:rPr lang="zh-CN" altLang="zh-CN" sz="1600" b="1" kern="100" spc="-30" dirty="0">
                <a:effectLst/>
                <a:latin typeface="Courier New" panose="02070309020205020404" pitchFamily="49" charset="0"/>
                <a:ea typeface="方正书宋简体"/>
              </a:rPr>
              <a:t>—</a:t>
            </a:r>
            <a:r>
              <a:rPr lang="zh-CN" altLang="zh-CN" sz="1600" b="1" kern="100" dirty="0">
                <a:effectLst/>
                <a:latin typeface="Courier New" panose="02070309020205020404" pitchFamily="49" charset="0"/>
                <a:ea typeface="方正书宋简体"/>
              </a:rPr>
              <a:t>—</a:t>
            </a:r>
            <a:r>
              <a:rPr lang="en-US" altLang="zh-CN" sz="1600" b="1" kern="100" dirty="0">
                <a:effectLst/>
                <a:latin typeface="Courier New" panose="02070309020205020404" pitchFamily="49" charset="0"/>
                <a:ea typeface="方正书宋简体"/>
              </a:rPr>
              <a:t> Task </a:t>
            </a:r>
            <a:r>
              <a:rPr lang="en-US" altLang="zh-CN" sz="1600" b="1" kern="100" dirty="0" err="1">
                <a:effectLst/>
                <a:latin typeface="Courier New" panose="02070309020205020404" pitchFamily="49" charset="0"/>
                <a:ea typeface="方正书宋简体"/>
              </a:rPr>
              <a:t>init</a:t>
            </a:r>
            <a:r>
              <a:rPr lang="en-US" altLang="zh-CN" sz="1600" b="1" kern="100" dirty="0">
                <a:effectLst/>
                <a:latin typeface="Courier New" panose="02070309020205020404" pitchFamily="49" charset="0"/>
                <a:ea typeface="方正书宋简体"/>
              </a:rPr>
              <a:t> parameters </a:t>
            </a:r>
            <a:endParaRPr lang="zh-CN" altLang="zh-CN" sz="1600" b="1" kern="100" dirty="0">
              <a:effectLst/>
              <a:latin typeface="Courier New" panose="02070309020205020404" pitchFamily="49" charset="0"/>
              <a:ea typeface="方正书宋简体"/>
            </a:endParaRPr>
          </a:p>
          <a:p>
            <a:pPr marL="254000" algn="just">
              <a:spcBef>
                <a:spcPts val="155"/>
              </a:spcBef>
              <a:spcAft>
                <a:spcPts val="155"/>
              </a:spcAft>
            </a:pPr>
            <a:r>
              <a:rPr lang="en-US" altLang="zh-CN" sz="1600" b="1" kern="100" dirty="0">
                <a:effectLst/>
                <a:latin typeface="Courier New" panose="02070309020205020404" pitchFamily="49" charset="0"/>
                <a:ea typeface="方正书宋简体"/>
              </a:rPr>
              <a:t> Output      : </a:t>
            </a:r>
            <a:r>
              <a:rPr lang="en-US" altLang="zh-CN" sz="1600" b="1" kern="100" dirty="0" err="1">
                <a:effectLst/>
                <a:latin typeface="Courier New" panose="02070309020205020404" pitchFamily="49" charset="0"/>
                <a:ea typeface="方正书宋简体"/>
              </a:rPr>
              <a:t>puwTaskID</a:t>
            </a:r>
            <a:r>
              <a:rPr lang="en-US" altLang="zh-CN" sz="1600" b="1" kern="100" dirty="0">
                <a:effectLst/>
                <a:latin typeface="Courier New" panose="02070309020205020404" pitchFamily="49" charset="0"/>
                <a:ea typeface="方正书宋简体"/>
              </a:rPr>
              <a:t>    </a:t>
            </a:r>
            <a:r>
              <a:rPr lang="zh-CN" altLang="zh-CN" sz="1600" b="1" kern="100" spc="-30" dirty="0">
                <a:effectLst/>
                <a:latin typeface="Courier New" panose="02070309020205020404" pitchFamily="49" charset="0"/>
                <a:ea typeface="方正书宋简体"/>
              </a:rPr>
              <a:t>—</a:t>
            </a:r>
            <a:r>
              <a:rPr lang="zh-CN" altLang="zh-CN" sz="1600" b="1" kern="100" dirty="0">
                <a:effectLst/>
                <a:latin typeface="Courier New" panose="02070309020205020404" pitchFamily="49" charset="0"/>
                <a:ea typeface="方正书宋简体"/>
              </a:rPr>
              <a:t>—</a:t>
            </a:r>
            <a:r>
              <a:rPr lang="en-US" altLang="zh-CN" sz="1600" b="1" kern="100" dirty="0">
                <a:effectLst/>
                <a:latin typeface="Courier New" panose="02070309020205020404" pitchFamily="49" charset="0"/>
                <a:ea typeface="方正书宋简体"/>
              </a:rPr>
              <a:t> Save task ID </a:t>
            </a:r>
            <a:endParaRPr lang="zh-CN" altLang="zh-CN" sz="1600" b="1" kern="100" dirty="0">
              <a:effectLst/>
              <a:latin typeface="Courier New" panose="02070309020205020404" pitchFamily="49" charset="0"/>
              <a:ea typeface="方正书宋简体"/>
            </a:endParaRPr>
          </a:p>
          <a:p>
            <a:pPr marL="254000" algn="just">
              <a:spcBef>
                <a:spcPts val="155"/>
              </a:spcBef>
              <a:spcAft>
                <a:spcPts val="155"/>
              </a:spcAft>
            </a:pPr>
            <a:r>
              <a:rPr lang="en-US" altLang="zh-CN" sz="1600" b="1" kern="100" dirty="0">
                <a:effectLst/>
                <a:latin typeface="Courier New" panose="02070309020205020404" pitchFamily="49" charset="0"/>
                <a:ea typeface="方正书宋简体"/>
              </a:rPr>
              <a:t> Return      : LOS_OK on success or error code on failure </a:t>
            </a:r>
            <a:endParaRPr lang="zh-CN" altLang="zh-CN" sz="1600" b="1" kern="100" dirty="0">
              <a:effectLst/>
              <a:latin typeface="Courier New" panose="02070309020205020404" pitchFamily="49" charset="0"/>
              <a:ea typeface="方正书宋简体"/>
            </a:endParaRPr>
          </a:p>
          <a:p>
            <a:pPr marL="254000" algn="just">
              <a:spcBef>
                <a:spcPts val="155"/>
              </a:spcBef>
              <a:spcAft>
                <a:spcPts val="155"/>
              </a:spcAft>
            </a:pPr>
            <a:r>
              <a:rPr lang="en-US" altLang="zh-CN" sz="1600" b="1" kern="100" dirty="0">
                <a:effectLst/>
                <a:latin typeface="Courier New" panose="02070309020205020404" pitchFamily="49" charset="0"/>
                <a:ea typeface="方正书宋简体"/>
              </a:rPr>
              <a:t>*****************************************/  </a:t>
            </a:r>
            <a:endParaRPr lang="zh-CN" altLang="zh-CN" sz="1600" b="1" kern="100" dirty="0">
              <a:effectLst/>
              <a:latin typeface="Courier New" panose="02070309020205020404" pitchFamily="49" charset="0"/>
              <a:ea typeface="方正书宋简体"/>
            </a:endParaRPr>
          </a:p>
          <a:p>
            <a:pPr marL="127000" indent="250190" algn="just">
              <a:spcBef>
                <a:spcPts val="155"/>
              </a:spcBef>
              <a:spcAft>
                <a:spcPts val="155"/>
              </a:spcAft>
            </a:pPr>
            <a:r>
              <a:rPr lang="en-US" altLang="zh-CN" sz="1600" b="1" kern="100" dirty="0">
                <a:effectLst/>
                <a:latin typeface="Courier New" panose="02070309020205020404" pitchFamily="49" charset="0"/>
                <a:ea typeface="方正书宋简体"/>
              </a:rPr>
              <a:t>LITE_OS_SEC_TEXT_INIT UINT32 </a:t>
            </a:r>
            <a:r>
              <a:rPr lang="en-US" altLang="zh-CN" sz="1600" b="1" kern="100" dirty="0" err="1">
                <a:solidFill>
                  <a:srgbClr val="C00000"/>
                </a:solidFill>
                <a:effectLst/>
                <a:latin typeface="Courier New" panose="02070309020205020404" pitchFamily="49" charset="0"/>
                <a:ea typeface="方正书宋简体"/>
              </a:rPr>
              <a:t>LOS_TaskCreate</a:t>
            </a:r>
            <a:r>
              <a:rPr lang="en-US" altLang="zh-CN" sz="1600" b="1" kern="100" dirty="0">
                <a:effectLst/>
                <a:latin typeface="Courier New" panose="02070309020205020404" pitchFamily="49" charset="0"/>
                <a:ea typeface="方正书宋简体"/>
              </a:rPr>
              <a:t>(UINT32 *</a:t>
            </a:r>
            <a:r>
              <a:rPr lang="en-US" altLang="zh-CN" sz="1600" b="1" kern="100" dirty="0" err="1">
                <a:effectLst/>
                <a:latin typeface="Courier New" panose="02070309020205020404" pitchFamily="49" charset="0"/>
                <a:ea typeface="方正书宋简体"/>
              </a:rPr>
              <a:t>puwTaskID</a:t>
            </a:r>
            <a:r>
              <a:rPr lang="en-US" altLang="zh-CN" sz="1600" b="1" kern="100" dirty="0">
                <a:effectLst/>
                <a:latin typeface="Courier New" panose="02070309020205020404" pitchFamily="49" charset="0"/>
                <a:ea typeface="方正书宋简体"/>
              </a:rPr>
              <a:t>, TSK_INIT_PARAM_S *</a:t>
            </a:r>
            <a:r>
              <a:rPr lang="en-US" altLang="zh-CN" sz="1600" b="1" kern="100" dirty="0" err="1">
                <a:effectLst/>
                <a:latin typeface="Courier New" panose="02070309020205020404" pitchFamily="49" charset="0"/>
                <a:ea typeface="方正书宋简体"/>
              </a:rPr>
              <a:t>pstInitParam</a:t>
            </a:r>
            <a:r>
              <a:rPr lang="en-US" altLang="zh-CN" sz="1600" b="1" kern="100" dirty="0">
                <a:effectLst/>
                <a:latin typeface="Courier New" panose="02070309020205020404" pitchFamily="49" charset="0"/>
                <a:ea typeface="方正书宋简体"/>
              </a:rPr>
              <a:t>)</a:t>
            </a:r>
            <a:endParaRPr lang="zh-CN" altLang="zh-CN" sz="1600" b="1" kern="100" dirty="0">
              <a:effectLst/>
              <a:latin typeface="Courier New" panose="02070309020205020404" pitchFamily="49" charset="0"/>
              <a:ea typeface="方正书宋简体"/>
            </a:endParaRPr>
          </a:p>
        </p:txBody>
      </p:sp>
    </p:spTree>
    <p:extLst>
      <p:ext uri="{BB962C8B-B14F-4D97-AF65-F5344CB8AC3E}">
        <p14:creationId xmlns:p14="http://schemas.microsoft.com/office/powerpoint/2010/main" val="216163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任务终止</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7" name="对象 1">
            <a:extLst>
              <a:ext uri="{FF2B5EF4-FFF2-40B4-BE49-F238E27FC236}">
                <a16:creationId xmlns:a16="http://schemas.microsoft.com/office/drawing/2014/main" id="{740D4EAA-3BA3-4ADF-B6DD-8E2404138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338" y="1177790"/>
            <a:ext cx="4624149" cy="379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内容占位符 2">
            <a:extLst>
              <a:ext uri="{FF2B5EF4-FFF2-40B4-BE49-F238E27FC236}">
                <a16:creationId xmlns:a16="http://schemas.microsoft.com/office/drawing/2014/main" id="{ABE6EB6A-F530-41A6-8CD6-17E5BFB335B4}"/>
              </a:ext>
            </a:extLst>
          </p:cNvPr>
          <p:cNvSpPr>
            <a:spLocks noGrp="1"/>
          </p:cNvSpPr>
          <p:nvPr>
            <p:ph idx="1"/>
          </p:nvPr>
        </p:nvSpPr>
        <p:spPr>
          <a:xfrm>
            <a:off x="390436" y="1102970"/>
            <a:ext cx="7016204" cy="4351338"/>
          </a:xfrm>
        </p:spPr>
        <p:txBody>
          <a:bodyPr>
            <a:normAutofit/>
          </a:bodyPr>
          <a:lstStyle/>
          <a:p>
            <a:r>
              <a:rPr lang="zh-CN" altLang="en-US" sz="2400" b="1" dirty="0">
                <a:solidFill>
                  <a:srgbClr val="C00000"/>
                </a:solidFill>
              </a:rPr>
              <a:t>用户调用接口提前终止指定</a:t>
            </a:r>
            <a:r>
              <a:rPr lang="en-US" altLang="zh-CN" sz="2400" b="1" dirty="0">
                <a:solidFill>
                  <a:srgbClr val="C00000"/>
                </a:solidFill>
              </a:rPr>
              <a:t>ID</a:t>
            </a:r>
            <a:r>
              <a:rPr lang="zh-CN" altLang="en-US" sz="2400" b="1" dirty="0">
                <a:solidFill>
                  <a:srgbClr val="C00000"/>
                </a:solidFill>
              </a:rPr>
              <a:t>的任务</a:t>
            </a:r>
            <a:endParaRPr lang="en-US" altLang="zh-CN" sz="2400" b="1" dirty="0">
              <a:solidFill>
                <a:srgbClr val="C00000"/>
              </a:solidFill>
            </a:endParaRPr>
          </a:p>
          <a:p>
            <a:pPr lvl="1"/>
            <a:r>
              <a:rPr lang="zh-CN" altLang="en-US" sz="2000" dirty="0"/>
              <a:t>尝试删除正在进行的任务会出错</a:t>
            </a:r>
            <a:endParaRPr lang="en-US" altLang="zh-CN" sz="2000" dirty="0"/>
          </a:p>
          <a:p>
            <a:pPr lvl="1"/>
            <a:r>
              <a:rPr lang="zh-CN" altLang="en-US" sz="2000" dirty="0"/>
              <a:t>删除任务时，指定任务控制块会被移除，但任务占据的空间不会立即释放</a:t>
            </a:r>
            <a:endParaRPr lang="en-US" altLang="zh-CN" sz="2000" dirty="0"/>
          </a:p>
        </p:txBody>
      </p:sp>
      <p:sp>
        <p:nvSpPr>
          <p:cNvPr id="12" name="文本框 11">
            <a:extLst>
              <a:ext uri="{FF2B5EF4-FFF2-40B4-BE49-F238E27FC236}">
                <a16:creationId xmlns:a16="http://schemas.microsoft.com/office/drawing/2014/main" id="{000F36C4-F8EE-43CE-9CD7-AF19E99ADD8B}"/>
              </a:ext>
            </a:extLst>
          </p:cNvPr>
          <p:cNvSpPr txBox="1"/>
          <p:nvPr/>
        </p:nvSpPr>
        <p:spPr>
          <a:xfrm>
            <a:off x="213314" y="2660076"/>
            <a:ext cx="7648486" cy="3221395"/>
          </a:xfrm>
          <a:prstGeom prst="rect">
            <a:avLst/>
          </a:prstGeom>
          <a:noFill/>
        </p:spPr>
        <p:txBody>
          <a:bodyPr wrap="square" rtlCol="0">
            <a:spAutoFit/>
          </a:bodyPr>
          <a:lstStyle/>
          <a:p>
            <a:pPr marL="254000" algn="just">
              <a:spcBef>
                <a:spcPts val="155"/>
              </a:spcBef>
              <a:spcAft>
                <a:spcPts val="155"/>
              </a:spcAft>
            </a:pPr>
            <a:r>
              <a:rPr lang="en-US" altLang="zh-CN" b="1" kern="100" dirty="0">
                <a:effectLst/>
                <a:latin typeface="Courier New" panose="02070309020205020404" pitchFamily="49" charset="0"/>
                <a:ea typeface="方正书宋简体"/>
              </a:rPr>
              <a:t>/****************************************** </a:t>
            </a:r>
          </a:p>
          <a:p>
            <a:pPr marL="254000" algn="just">
              <a:spcBef>
                <a:spcPts val="155"/>
              </a:spcBef>
              <a:spcAft>
                <a:spcPts val="155"/>
              </a:spcAft>
            </a:pPr>
            <a:r>
              <a:rPr lang="en-US" altLang="zh-CN" b="1" kern="100" dirty="0">
                <a:effectLst/>
                <a:latin typeface="Courier New" panose="02070309020205020404" pitchFamily="49" charset="0"/>
                <a:ea typeface="方正书宋简体"/>
              </a:rPr>
              <a:t> Function : </a:t>
            </a:r>
            <a:r>
              <a:rPr lang="en-US" altLang="zh-CN" b="1" kern="100" dirty="0" err="1">
                <a:effectLst/>
                <a:latin typeface="Courier New" panose="02070309020205020404" pitchFamily="49" charset="0"/>
                <a:ea typeface="方正书宋简体"/>
              </a:rPr>
              <a:t>LOS_TaskDelete</a:t>
            </a:r>
            <a:r>
              <a:rPr lang="en-US" altLang="zh-CN" b="1" kern="100" dirty="0">
                <a:effectLst/>
                <a:latin typeface="Courier New" panose="02070309020205020404" pitchFamily="49" charset="0"/>
                <a:ea typeface="方正书宋简体"/>
              </a:rPr>
              <a:t> </a:t>
            </a:r>
          </a:p>
          <a:p>
            <a:pPr marL="254000" algn="just">
              <a:spcBef>
                <a:spcPts val="155"/>
              </a:spcBef>
              <a:spcAft>
                <a:spcPts val="155"/>
              </a:spcAft>
            </a:pPr>
            <a:r>
              <a:rPr lang="en-US" altLang="zh-CN" b="1" kern="100" dirty="0">
                <a:effectLst/>
                <a:latin typeface="Courier New" panose="02070309020205020404" pitchFamily="49" charset="0"/>
                <a:ea typeface="方正书宋简体"/>
              </a:rPr>
              <a:t> Description : Delete a task </a:t>
            </a:r>
          </a:p>
          <a:p>
            <a:pPr marL="254000" algn="just">
              <a:spcBef>
                <a:spcPts val="155"/>
              </a:spcBef>
              <a:spcAft>
                <a:spcPts val="155"/>
              </a:spcAft>
            </a:pPr>
            <a:r>
              <a:rPr lang="en-US" altLang="zh-CN" b="1" kern="100" dirty="0">
                <a:effectLst/>
                <a:latin typeface="Courier New" panose="02070309020205020404" pitchFamily="49" charset="0"/>
                <a:ea typeface="方正书宋简体"/>
              </a:rPr>
              <a:t> Input       : </a:t>
            </a:r>
            <a:r>
              <a:rPr lang="en-US" altLang="zh-CN" b="1" kern="100" dirty="0" err="1">
                <a:effectLst/>
                <a:latin typeface="Courier New" panose="02070309020205020404" pitchFamily="49" charset="0"/>
                <a:ea typeface="方正书宋简体"/>
              </a:rPr>
              <a:t>uwTaskID</a:t>
            </a:r>
            <a:r>
              <a:rPr lang="en-US" altLang="zh-CN" b="1" kern="100" dirty="0">
                <a:effectLst/>
                <a:latin typeface="Courier New" panose="02070309020205020404" pitchFamily="49" charset="0"/>
                <a:ea typeface="方正书宋简体"/>
              </a:rPr>
              <a:t> —— Task ID </a:t>
            </a:r>
          </a:p>
          <a:p>
            <a:pPr marL="254000" algn="just">
              <a:spcBef>
                <a:spcPts val="155"/>
              </a:spcBef>
              <a:spcAft>
                <a:spcPts val="155"/>
              </a:spcAft>
            </a:pPr>
            <a:r>
              <a:rPr lang="en-US" altLang="zh-CN" b="1" kern="100" dirty="0">
                <a:effectLst/>
                <a:latin typeface="Courier New" panose="02070309020205020404" pitchFamily="49" charset="0"/>
                <a:ea typeface="方正书宋简体"/>
              </a:rPr>
              <a:t> Output      : None </a:t>
            </a:r>
          </a:p>
          <a:p>
            <a:pPr marL="254000" algn="just">
              <a:spcBef>
                <a:spcPts val="155"/>
              </a:spcBef>
              <a:spcAft>
                <a:spcPts val="155"/>
              </a:spcAft>
            </a:pPr>
            <a:r>
              <a:rPr lang="en-US" altLang="zh-CN" b="1" kern="100" dirty="0">
                <a:effectLst/>
                <a:latin typeface="Courier New" panose="02070309020205020404" pitchFamily="49" charset="0"/>
                <a:ea typeface="方正书宋简体"/>
              </a:rPr>
              <a:t> Return      : LOS_OK on success or error code on failure </a:t>
            </a:r>
          </a:p>
          <a:p>
            <a:pPr marL="254000" algn="just">
              <a:spcBef>
                <a:spcPts val="155"/>
              </a:spcBef>
              <a:spcAft>
                <a:spcPts val="155"/>
              </a:spcAft>
            </a:pPr>
            <a:r>
              <a:rPr lang="en-US" altLang="zh-CN" b="1" kern="100" dirty="0">
                <a:effectLst/>
                <a:latin typeface="Courier New" panose="02070309020205020404" pitchFamily="49" charset="0"/>
                <a:ea typeface="方正书宋简体"/>
              </a:rPr>
              <a:t>***************************************/  </a:t>
            </a:r>
          </a:p>
          <a:p>
            <a:pPr marL="254000" algn="just">
              <a:spcBef>
                <a:spcPts val="155"/>
              </a:spcBef>
              <a:spcAft>
                <a:spcPts val="155"/>
              </a:spcAft>
            </a:pPr>
            <a:r>
              <a:rPr lang="en-US" altLang="zh-CN" b="1" kern="100" dirty="0">
                <a:effectLst/>
                <a:latin typeface="Courier New" panose="02070309020205020404" pitchFamily="49" charset="0"/>
                <a:ea typeface="方正书宋简体"/>
              </a:rPr>
              <a:t>LITE_OS_SEC_TEXT_INIT UINT32 </a:t>
            </a:r>
            <a:r>
              <a:rPr lang="en-US" altLang="zh-CN" b="1" kern="100" dirty="0" err="1">
                <a:solidFill>
                  <a:srgbClr val="C00000"/>
                </a:solidFill>
                <a:effectLst/>
                <a:latin typeface="Courier New" panose="02070309020205020404" pitchFamily="49" charset="0"/>
                <a:ea typeface="方正书宋简体"/>
              </a:rPr>
              <a:t>LOS_TaskDelete</a:t>
            </a:r>
            <a:r>
              <a:rPr lang="en-US" altLang="zh-CN" b="1" kern="100" dirty="0">
                <a:effectLst/>
                <a:latin typeface="Courier New" panose="02070309020205020404" pitchFamily="49" charset="0"/>
                <a:ea typeface="方正书宋简体"/>
              </a:rPr>
              <a:t>(UINT32 </a:t>
            </a:r>
            <a:r>
              <a:rPr lang="en-US" altLang="zh-CN" b="1" kern="100" dirty="0" err="1">
                <a:effectLst/>
                <a:latin typeface="Courier New" panose="02070309020205020404" pitchFamily="49" charset="0"/>
                <a:ea typeface="方正书宋简体"/>
              </a:rPr>
              <a:t>uwTaskID</a:t>
            </a:r>
            <a:r>
              <a:rPr lang="en-US" altLang="zh-CN" b="1" kern="100" dirty="0">
                <a:effectLst/>
                <a:latin typeface="Courier New" panose="02070309020205020404" pitchFamily="49" charset="0"/>
                <a:ea typeface="方正书宋简体"/>
              </a:rPr>
              <a:t>) </a:t>
            </a:r>
            <a:endParaRPr lang="zh-CN" altLang="zh-CN" b="1" kern="100" dirty="0">
              <a:effectLst/>
              <a:latin typeface="Courier New" panose="02070309020205020404" pitchFamily="49" charset="0"/>
              <a:ea typeface="方正书宋简体"/>
            </a:endParaRPr>
          </a:p>
        </p:txBody>
      </p:sp>
    </p:spTree>
    <p:extLst>
      <p:ext uri="{BB962C8B-B14F-4D97-AF65-F5344CB8AC3E}">
        <p14:creationId xmlns:p14="http://schemas.microsoft.com/office/powerpoint/2010/main" val="946548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消息队列</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8" y="12379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ABE6EB6A-F530-41A6-8CD6-17E5BFB335B4}"/>
              </a:ext>
            </a:extLst>
          </p:cNvPr>
          <p:cNvSpPr>
            <a:spLocks noGrp="1"/>
          </p:cNvSpPr>
          <p:nvPr>
            <p:ph idx="1"/>
          </p:nvPr>
        </p:nvSpPr>
        <p:spPr>
          <a:xfrm>
            <a:off x="226314" y="1268942"/>
            <a:ext cx="5278374" cy="4351338"/>
          </a:xfrm>
        </p:spPr>
        <p:txBody>
          <a:bodyPr>
            <a:normAutofit/>
          </a:bodyPr>
          <a:lstStyle/>
          <a:p>
            <a:r>
              <a:rPr lang="zh-CN" altLang="en-US" b="1" dirty="0">
                <a:solidFill>
                  <a:srgbClr val="C00000"/>
                </a:solidFill>
              </a:rPr>
              <a:t>任务与任务间通过消息队列进行信息交互</a:t>
            </a:r>
            <a:endParaRPr lang="en-US" altLang="zh-CN" b="1" dirty="0">
              <a:solidFill>
                <a:srgbClr val="C00000"/>
              </a:solidFill>
            </a:endParaRPr>
          </a:p>
          <a:p>
            <a:r>
              <a:rPr lang="zh-CN" altLang="en-US" b="1" dirty="0">
                <a:solidFill>
                  <a:srgbClr val="C00000"/>
                </a:solidFill>
              </a:rPr>
              <a:t>任务可以在消息队列中写入或读取消息</a:t>
            </a:r>
            <a:endParaRPr lang="en-US" altLang="zh-CN" b="1" dirty="0">
              <a:solidFill>
                <a:srgbClr val="C00000"/>
              </a:solidFill>
            </a:endParaRPr>
          </a:p>
          <a:p>
            <a:pPr lvl="1"/>
            <a:r>
              <a:rPr lang="zh-CN" altLang="en-US" sz="1800" dirty="0"/>
              <a:t>队列为空时，读取任务被阻塞挂起</a:t>
            </a:r>
            <a:endParaRPr lang="en-US" altLang="zh-CN" sz="1800" dirty="0"/>
          </a:p>
          <a:p>
            <a:pPr lvl="1"/>
            <a:r>
              <a:rPr lang="zh-CN" altLang="en-US" sz="1800" dirty="0"/>
              <a:t>队列有新消息时，读取任务被唤醒处理信息</a:t>
            </a:r>
            <a:endParaRPr lang="en-US" altLang="zh-CN" sz="1800" dirty="0"/>
          </a:p>
          <a:p>
            <a:pPr lvl="1"/>
            <a:r>
              <a:rPr lang="zh-CN" altLang="en-US" sz="1800" dirty="0"/>
              <a:t>多个任务可以在多个队列中进行消息读写</a:t>
            </a:r>
            <a:endParaRPr lang="en-US" altLang="zh-CN" sz="1800" dirty="0"/>
          </a:p>
          <a:p>
            <a:pPr lvl="1"/>
            <a:endParaRPr lang="en-US" altLang="zh-CN" dirty="0"/>
          </a:p>
          <a:p>
            <a:r>
              <a:rPr lang="zh-CN" altLang="en-US" b="1" dirty="0">
                <a:solidFill>
                  <a:srgbClr val="C00000"/>
                </a:solidFill>
              </a:rPr>
              <a:t>消息队列以先进先出的方式异步处理消息，可起到消息缓冲作用</a:t>
            </a:r>
            <a:endParaRPr lang="en-US" altLang="zh-CN" b="1" dirty="0">
              <a:solidFill>
                <a:srgbClr val="C00000"/>
              </a:solidFill>
            </a:endParaRPr>
          </a:p>
        </p:txBody>
      </p:sp>
    </p:spTree>
    <p:extLst>
      <p:ext uri="{BB962C8B-B14F-4D97-AF65-F5344CB8AC3E}">
        <p14:creationId xmlns:p14="http://schemas.microsoft.com/office/powerpoint/2010/main" val="3014489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队列控制块</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8" y="12379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400050" y="1102970"/>
            <a:ext cx="4866894" cy="4351338"/>
          </a:xfrm>
        </p:spPr>
        <p:txBody>
          <a:bodyPr>
            <a:normAutofit/>
          </a:bodyPr>
          <a:lstStyle/>
          <a:p>
            <a:r>
              <a:rPr lang="zh-CN" altLang="en-US" sz="2000" b="1" dirty="0">
                <a:solidFill>
                  <a:srgbClr val="C00000"/>
                </a:solidFill>
              </a:rPr>
              <a:t>消息队列通过一个队列控制块对队列状态和消息读写进行控制</a:t>
            </a:r>
            <a:endParaRPr lang="en-US" altLang="zh-CN" sz="2000" b="1" dirty="0">
              <a:solidFill>
                <a:srgbClr val="C00000"/>
              </a:solidFill>
            </a:endParaRPr>
          </a:p>
          <a:p>
            <a:r>
              <a:rPr lang="zh-CN" altLang="en-US" sz="2000" b="1" dirty="0">
                <a:solidFill>
                  <a:srgbClr val="C00000"/>
                </a:solidFill>
              </a:rPr>
              <a:t>队列控制块包含：</a:t>
            </a:r>
            <a:endParaRPr lang="en-US" altLang="zh-CN" sz="2000" b="1" dirty="0">
              <a:solidFill>
                <a:srgbClr val="C00000"/>
              </a:solidFill>
            </a:endParaRPr>
          </a:p>
          <a:p>
            <a:pPr lvl="1"/>
            <a:r>
              <a:rPr lang="zh-CN" altLang="en-US" sz="1800" dirty="0"/>
              <a:t>队列指针</a:t>
            </a:r>
            <a:endParaRPr lang="en-US" altLang="zh-CN" sz="1800" dirty="0"/>
          </a:p>
          <a:p>
            <a:pPr lvl="1"/>
            <a:r>
              <a:rPr lang="zh-CN" altLang="en-US" sz="1800" dirty="0"/>
              <a:t>队列状态</a:t>
            </a:r>
            <a:endParaRPr lang="en-US" altLang="zh-CN" sz="1800" dirty="0"/>
          </a:p>
          <a:p>
            <a:pPr lvl="1"/>
            <a:r>
              <a:rPr lang="zh-CN" altLang="en-US" sz="1800" dirty="0"/>
              <a:t>队列中的消息个数</a:t>
            </a:r>
            <a:endParaRPr lang="en-US" altLang="zh-CN" sz="1800" dirty="0"/>
          </a:p>
          <a:p>
            <a:pPr lvl="1"/>
            <a:r>
              <a:rPr lang="zh-CN" altLang="en-US" sz="1800" dirty="0"/>
              <a:t>消息结点大小</a:t>
            </a:r>
            <a:endParaRPr lang="en-US" altLang="zh-CN" sz="1800" dirty="0"/>
          </a:p>
          <a:p>
            <a:pPr lvl="1"/>
            <a:r>
              <a:rPr lang="zh-CN" altLang="en-US" sz="1800" dirty="0"/>
              <a:t>队列</a:t>
            </a:r>
            <a:r>
              <a:rPr lang="en-US" altLang="zh-CN" sz="1800" dirty="0"/>
              <a:t>ID</a:t>
            </a:r>
          </a:p>
          <a:p>
            <a:pPr lvl="1"/>
            <a:r>
              <a:rPr lang="zh-CN" altLang="en-US" sz="1800" dirty="0"/>
              <a:t>消息头、尾节点位置</a:t>
            </a:r>
            <a:endParaRPr lang="en-US" altLang="zh-CN" sz="1800" dirty="0"/>
          </a:p>
          <a:p>
            <a:pPr lvl="1"/>
            <a:r>
              <a:rPr lang="zh-CN" altLang="en-US" sz="1800" dirty="0"/>
              <a:t>可读可写信息数</a:t>
            </a:r>
          </a:p>
          <a:p>
            <a:pPr lvl="1"/>
            <a:r>
              <a:rPr lang="zh-CN" altLang="en-US" sz="1800" dirty="0"/>
              <a:t>读写阻塞队列</a:t>
            </a:r>
            <a:endParaRPr lang="en-US" altLang="zh-CN" sz="1800" dirty="0"/>
          </a:p>
          <a:p>
            <a:endParaRPr lang="en-US" altLang="zh-CN" dirty="0"/>
          </a:p>
        </p:txBody>
      </p:sp>
    </p:spTree>
    <p:extLst>
      <p:ext uri="{BB962C8B-B14F-4D97-AF65-F5344CB8AC3E}">
        <p14:creationId xmlns:p14="http://schemas.microsoft.com/office/powerpoint/2010/main" val="3825735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队列读写原理</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8" y="1237906"/>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418338" y="902081"/>
            <a:ext cx="4958334" cy="4351338"/>
          </a:xfrm>
        </p:spPr>
        <p:txBody>
          <a:bodyPr>
            <a:normAutofit/>
          </a:bodyPr>
          <a:lstStyle/>
          <a:p>
            <a:r>
              <a:rPr lang="zh-CN" altLang="en-US" sz="2000" b="1" dirty="0">
                <a:solidFill>
                  <a:srgbClr val="C00000"/>
                </a:solidFill>
              </a:rPr>
              <a:t>消息队列为一个固定长度的数组，元素大小为消息大小</a:t>
            </a:r>
            <a:endParaRPr lang="en-US" altLang="zh-CN" sz="2000" b="1" dirty="0">
              <a:solidFill>
                <a:srgbClr val="C00000"/>
              </a:solidFill>
            </a:endParaRPr>
          </a:p>
          <a:p>
            <a:r>
              <a:rPr lang="zh-CN" altLang="en-US" sz="2000" b="1" dirty="0">
                <a:solidFill>
                  <a:srgbClr val="C00000"/>
                </a:solidFill>
              </a:rPr>
              <a:t>两个指针：读消息地址</a:t>
            </a:r>
            <a:r>
              <a:rPr lang="en-US" altLang="zh-CN" sz="2000" b="1" dirty="0">
                <a:solidFill>
                  <a:srgbClr val="C00000"/>
                </a:solidFill>
              </a:rPr>
              <a:t>Head</a:t>
            </a:r>
            <a:r>
              <a:rPr lang="zh-CN" altLang="en-US" sz="2000" b="1" dirty="0">
                <a:solidFill>
                  <a:srgbClr val="C00000"/>
                </a:solidFill>
              </a:rPr>
              <a:t>和写消息地址</a:t>
            </a:r>
            <a:r>
              <a:rPr lang="en-US" altLang="zh-CN" sz="2000" b="1" dirty="0">
                <a:solidFill>
                  <a:srgbClr val="C00000"/>
                </a:solidFill>
              </a:rPr>
              <a:t>Tail</a:t>
            </a:r>
          </a:p>
          <a:p>
            <a:r>
              <a:rPr lang="en-US" altLang="zh-CN" sz="2000" b="1" dirty="0">
                <a:solidFill>
                  <a:srgbClr val="C00000"/>
                </a:solidFill>
              </a:rPr>
              <a:t>Head</a:t>
            </a:r>
            <a:r>
              <a:rPr lang="zh-CN" altLang="en-US" sz="2000" b="1" dirty="0">
                <a:solidFill>
                  <a:srgbClr val="C00000"/>
                </a:solidFill>
              </a:rPr>
              <a:t>与</a:t>
            </a:r>
            <a:r>
              <a:rPr lang="en-US" altLang="zh-CN" sz="2000" b="1" dirty="0">
                <a:solidFill>
                  <a:srgbClr val="C00000"/>
                </a:solidFill>
              </a:rPr>
              <a:t>Tail</a:t>
            </a:r>
            <a:r>
              <a:rPr lang="zh-CN" altLang="en-US" sz="2000" b="1" dirty="0">
                <a:solidFill>
                  <a:srgbClr val="C00000"/>
                </a:solidFill>
              </a:rPr>
              <a:t>之间存放消息，其他节点为空</a:t>
            </a:r>
            <a:endParaRPr lang="en-US" altLang="zh-CN" sz="2000" b="1" dirty="0">
              <a:solidFill>
                <a:srgbClr val="C00000"/>
              </a:solidFill>
            </a:endParaRPr>
          </a:p>
          <a:p>
            <a:endParaRPr lang="en-US" altLang="zh-CN" sz="2000" b="1" dirty="0">
              <a:solidFill>
                <a:srgbClr val="C00000"/>
              </a:solidFill>
            </a:endParaRPr>
          </a:p>
        </p:txBody>
      </p:sp>
    </p:spTree>
    <p:extLst>
      <p:ext uri="{BB962C8B-B14F-4D97-AF65-F5344CB8AC3E}">
        <p14:creationId xmlns:p14="http://schemas.microsoft.com/office/powerpoint/2010/main" val="548135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队列读写原理</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120" y="1567090"/>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243841" y="1134006"/>
            <a:ext cx="5288279" cy="3538198"/>
          </a:xfrm>
        </p:spPr>
        <p:txBody>
          <a:bodyPr>
            <a:normAutofit/>
          </a:bodyPr>
          <a:lstStyle/>
          <a:p>
            <a:r>
              <a:rPr lang="zh-CN" altLang="en-US" sz="2000" b="1" dirty="0">
                <a:solidFill>
                  <a:srgbClr val="C00000"/>
                </a:solidFill>
              </a:rPr>
              <a:t>初始创建</a:t>
            </a:r>
            <a:endParaRPr lang="en-US" altLang="zh-CN" sz="2000" b="1" dirty="0">
              <a:solidFill>
                <a:srgbClr val="C00000"/>
              </a:solidFill>
            </a:endParaRPr>
          </a:p>
          <a:p>
            <a:pPr lvl="1"/>
            <a:r>
              <a:rPr lang="zh-CN" altLang="en-US" sz="1800" dirty="0"/>
              <a:t>系统根据队列长度和消息大小申请内存空间</a:t>
            </a:r>
            <a:endParaRPr lang="en-US" altLang="zh-CN" sz="1800" dirty="0"/>
          </a:p>
          <a:p>
            <a:pPr lvl="1"/>
            <a:r>
              <a:rPr lang="en-US" altLang="zh-CN" sz="1800" dirty="0"/>
              <a:t>Head</a:t>
            </a:r>
            <a:r>
              <a:rPr lang="zh-CN" altLang="en-US" sz="1800" dirty="0"/>
              <a:t>和</a:t>
            </a:r>
            <a:r>
              <a:rPr lang="en-US" altLang="zh-CN" sz="1800" dirty="0"/>
              <a:t>Tail</a:t>
            </a:r>
            <a:r>
              <a:rPr lang="zh-CN" altLang="en-US" sz="1800" dirty="0"/>
              <a:t>指向队列其实地址</a:t>
            </a:r>
            <a:endParaRPr lang="en-US" altLang="zh-CN" sz="1800" dirty="0"/>
          </a:p>
        </p:txBody>
      </p:sp>
      <p:sp>
        <p:nvSpPr>
          <p:cNvPr id="11" name="内容占位符 2">
            <a:extLst>
              <a:ext uri="{FF2B5EF4-FFF2-40B4-BE49-F238E27FC236}">
                <a16:creationId xmlns:a16="http://schemas.microsoft.com/office/drawing/2014/main" id="{ABE6EB6A-F530-41A6-8CD6-17E5BFB335B4}"/>
              </a:ext>
            </a:extLst>
          </p:cNvPr>
          <p:cNvSpPr txBox="1">
            <a:spLocks/>
          </p:cNvSpPr>
          <p:nvPr/>
        </p:nvSpPr>
        <p:spPr>
          <a:xfrm>
            <a:off x="243841" y="2518489"/>
            <a:ext cx="5288279" cy="4351338"/>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1" dirty="0">
                <a:solidFill>
                  <a:srgbClr val="C00000"/>
                </a:solidFill>
              </a:rPr>
              <a:t>消息写入</a:t>
            </a:r>
            <a:endParaRPr lang="en-US" altLang="zh-CN" sz="2000" b="1" dirty="0">
              <a:solidFill>
                <a:srgbClr val="C00000"/>
              </a:solidFill>
            </a:endParaRPr>
          </a:p>
          <a:p>
            <a:pPr lvl="1"/>
            <a:r>
              <a:rPr lang="zh-CN" altLang="en-US" sz="1800" dirty="0"/>
              <a:t>向</a:t>
            </a:r>
            <a:r>
              <a:rPr lang="en-US" altLang="zh-CN" sz="1800" dirty="0"/>
              <a:t>Tail</a:t>
            </a:r>
            <a:r>
              <a:rPr lang="zh-CN" altLang="en-US" sz="1800" dirty="0"/>
              <a:t>指针所指消息结点写入消息</a:t>
            </a:r>
            <a:endParaRPr lang="en-US" altLang="zh-CN" sz="1800" dirty="0"/>
          </a:p>
          <a:p>
            <a:pPr lvl="1"/>
            <a:r>
              <a:rPr lang="en-US" altLang="zh-CN" sz="1800" dirty="0"/>
              <a:t>Tail</a:t>
            </a:r>
            <a:r>
              <a:rPr lang="zh-CN" altLang="en-US" sz="1800" dirty="0"/>
              <a:t>移动至下一个结点</a:t>
            </a:r>
            <a:endParaRPr lang="en-US" altLang="zh-CN" sz="1800" dirty="0"/>
          </a:p>
          <a:p>
            <a:pPr lvl="2"/>
            <a:r>
              <a:rPr lang="zh-CN" altLang="en-US" sz="1600" dirty="0"/>
              <a:t>若</a:t>
            </a:r>
            <a:r>
              <a:rPr lang="en-US" altLang="zh-CN" sz="1600" dirty="0"/>
              <a:t>Tail</a:t>
            </a:r>
            <a:r>
              <a:rPr lang="zh-CN" altLang="en-US" sz="1600" dirty="0"/>
              <a:t>到达队列尾，回卷至队列其实地址</a:t>
            </a:r>
            <a:endParaRPr lang="en-US" altLang="zh-CN" sz="1600" dirty="0"/>
          </a:p>
          <a:p>
            <a:pPr lvl="2"/>
            <a:r>
              <a:rPr lang="zh-CN" altLang="en-US" sz="1600" dirty="0"/>
              <a:t>若移动后消息结点被占用，则队列已满</a:t>
            </a:r>
            <a:endParaRPr lang="en-US" altLang="zh-CN" sz="1600" dirty="0"/>
          </a:p>
        </p:txBody>
      </p:sp>
    </p:spTree>
    <p:extLst>
      <p:ext uri="{BB962C8B-B14F-4D97-AF65-F5344CB8AC3E}">
        <p14:creationId xmlns:p14="http://schemas.microsoft.com/office/powerpoint/2010/main" val="17041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队列读写原理</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10" name="对象 2">
            <a:extLst>
              <a:ext uri="{FF2B5EF4-FFF2-40B4-BE49-F238E27FC236}">
                <a16:creationId xmlns:a16="http://schemas.microsoft.com/office/drawing/2014/main" id="{E7EBD934-43A9-46BA-8A9C-E359CB246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4687" y="1794584"/>
            <a:ext cx="6349754" cy="2310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a:extLst>
              <a:ext uri="{FF2B5EF4-FFF2-40B4-BE49-F238E27FC236}">
                <a16:creationId xmlns:a16="http://schemas.microsoft.com/office/drawing/2014/main" id="{ABE6EB6A-F530-41A6-8CD6-17E5BFB335B4}"/>
              </a:ext>
            </a:extLst>
          </p:cNvPr>
          <p:cNvSpPr txBox="1">
            <a:spLocks/>
          </p:cNvSpPr>
          <p:nvPr/>
        </p:nvSpPr>
        <p:spPr>
          <a:xfrm>
            <a:off x="448057" y="1206224"/>
            <a:ext cx="5056632" cy="4351338"/>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1" dirty="0">
                <a:solidFill>
                  <a:srgbClr val="C00000"/>
                </a:solidFill>
              </a:rPr>
              <a:t>消息读取</a:t>
            </a:r>
            <a:endParaRPr lang="en-US" altLang="zh-CN" sz="2000" b="1" dirty="0">
              <a:solidFill>
                <a:srgbClr val="C00000"/>
              </a:solidFill>
            </a:endParaRPr>
          </a:p>
          <a:p>
            <a:pPr lvl="1"/>
            <a:r>
              <a:rPr lang="zh-CN" altLang="en-US" sz="1800" dirty="0"/>
              <a:t>从</a:t>
            </a:r>
            <a:r>
              <a:rPr lang="en-US" altLang="zh-CN" sz="1800" dirty="0"/>
              <a:t>Head</a:t>
            </a:r>
            <a:r>
              <a:rPr lang="zh-CN" altLang="en-US" sz="1800" dirty="0"/>
              <a:t>指针所指消息结点读取消息</a:t>
            </a:r>
            <a:endParaRPr lang="en-US" altLang="zh-CN" sz="1800" dirty="0"/>
          </a:p>
          <a:p>
            <a:pPr lvl="1"/>
            <a:r>
              <a:rPr lang="en-US" altLang="zh-CN" sz="1800" dirty="0"/>
              <a:t>Head</a:t>
            </a:r>
            <a:r>
              <a:rPr lang="zh-CN" altLang="en-US" sz="1800" dirty="0"/>
              <a:t>移动至下一个结点</a:t>
            </a:r>
            <a:endParaRPr lang="en-US" altLang="zh-CN" sz="1800" dirty="0"/>
          </a:p>
          <a:p>
            <a:pPr lvl="2"/>
            <a:r>
              <a:rPr lang="zh-CN" altLang="en-US" sz="1600" dirty="0"/>
              <a:t>若</a:t>
            </a:r>
            <a:r>
              <a:rPr lang="en-US" altLang="zh-CN" sz="1600" dirty="0"/>
              <a:t>Tail</a:t>
            </a:r>
            <a:r>
              <a:rPr lang="zh-CN" altLang="en-US" sz="1600" dirty="0"/>
              <a:t>到达队列尾，回卷至队列其实地址</a:t>
            </a:r>
            <a:endParaRPr lang="en-US" altLang="zh-CN" sz="1600" dirty="0"/>
          </a:p>
          <a:p>
            <a:pPr lvl="2"/>
            <a:r>
              <a:rPr lang="zh-CN" altLang="en-US" sz="1600" dirty="0"/>
              <a:t>若移动后消息结点为空闲，则队列为空</a:t>
            </a:r>
            <a:endParaRPr lang="en-US" altLang="zh-CN" sz="1600" dirty="0"/>
          </a:p>
          <a:p>
            <a:pPr lvl="2"/>
            <a:endParaRPr lang="en-US" altLang="zh-CN" sz="1600" dirty="0"/>
          </a:p>
        </p:txBody>
      </p:sp>
      <p:sp>
        <p:nvSpPr>
          <p:cNvPr id="13" name="内容占位符 2">
            <a:extLst>
              <a:ext uri="{FF2B5EF4-FFF2-40B4-BE49-F238E27FC236}">
                <a16:creationId xmlns:a16="http://schemas.microsoft.com/office/drawing/2014/main" id="{ABE6EB6A-F530-41A6-8CD6-17E5BFB335B4}"/>
              </a:ext>
            </a:extLst>
          </p:cNvPr>
          <p:cNvSpPr txBox="1">
            <a:spLocks/>
          </p:cNvSpPr>
          <p:nvPr/>
        </p:nvSpPr>
        <p:spPr>
          <a:xfrm>
            <a:off x="448057" y="3221964"/>
            <a:ext cx="4876890" cy="1766449"/>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1" dirty="0">
                <a:solidFill>
                  <a:srgbClr val="C00000"/>
                </a:solidFill>
              </a:rPr>
              <a:t>队列删除</a:t>
            </a:r>
            <a:endParaRPr lang="en-US" altLang="zh-CN" sz="2000" b="1" dirty="0">
              <a:solidFill>
                <a:srgbClr val="C00000"/>
              </a:solidFill>
            </a:endParaRPr>
          </a:p>
          <a:p>
            <a:pPr lvl="1"/>
            <a:r>
              <a:rPr lang="zh-CN" altLang="en-US" sz="1800" dirty="0"/>
              <a:t>根据队列</a:t>
            </a:r>
            <a:r>
              <a:rPr lang="en-US" altLang="zh-CN" sz="1800" dirty="0"/>
              <a:t>ID</a:t>
            </a:r>
            <a:r>
              <a:rPr lang="zh-CN" altLang="en-US" sz="1800" dirty="0"/>
              <a:t>找到对应消息队列</a:t>
            </a:r>
            <a:endParaRPr lang="en-US" altLang="zh-CN" sz="1800" dirty="0"/>
          </a:p>
          <a:p>
            <a:pPr lvl="1"/>
            <a:r>
              <a:rPr lang="zh-CN" altLang="en-US" sz="1800" dirty="0"/>
              <a:t>更改队列状态为未使用</a:t>
            </a:r>
            <a:endParaRPr lang="en-US" altLang="zh-CN" sz="1800" dirty="0"/>
          </a:p>
          <a:p>
            <a:pPr lvl="1"/>
            <a:r>
              <a:rPr lang="zh-CN" altLang="en-US" sz="1800" dirty="0"/>
              <a:t>释放队列所占空间</a:t>
            </a:r>
            <a:endParaRPr lang="en-US" altLang="zh-CN" sz="1800" dirty="0"/>
          </a:p>
          <a:p>
            <a:pPr lvl="1"/>
            <a:r>
              <a:rPr lang="zh-CN" altLang="en-US" sz="1800" dirty="0"/>
              <a:t>队列控制头置为初始状态</a:t>
            </a:r>
            <a:endParaRPr lang="en-US" altLang="zh-CN" sz="1800" dirty="0"/>
          </a:p>
        </p:txBody>
      </p:sp>
    </p:spTree>
    <p:extLst>
      <p:ext uri="{BB962C8B-B14F-4D97-AF65-F5344CB8AC3E}">
        <p14:creationId xmlns:p14="http://schemas.microsoft.com/office/powerpoint/2010/main" val="315508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31654" y="1979359"/>
            <a:ext cx="11652531" cy="42107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矩形 2"/>
          <p:cNvSpPr/>
          <p:nvPr/>
        </p:nvSpPr>
        <p:spPr>
          <a:xfrm>
            <a:off x="231654" y="1709221"/>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616787"/>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869951"/>
            <a:ext cx="11500210" cy="990084"/>
          </a:xfrm>
        </p:spPr>
        <p:txBody>
          <a:bodyPr>
            <a:normAutofit/>
          </a:bodyPr>
          <a:lstStyle/>
          <a:p>
            <a:pPr marL="0" indent="456971">
              <a:lnSpc>
                <a:spcPct val="135000"/>
              </a:lnSpc>
              <a:buClr>
                <a:schemeClr val="tx2">
                  <a:lumMod val="75000"/>
                </a:schemeClr>
              </a:buClr>
              <a:buNone/>
            </a:pPr>
            <a:r>
              <a:rPr lang="zh-CN" altLang="en-US" dirty="0"/>
              <a:t>创建的任务需要用到开发板搭载的 </a:t>
            </a:r>
            <a:r>
              <a:rPr lang="en-US" altLang="zh-CN" dirty="0"/>
              <a:t>LED</a:t>
            </a:r>
            <a:r>
              <a:rPr lang="zh-CN" altLang="en-US" dirty="0"/>
              <a:t>，因此需要对 </a:t>
            </a:r>
            <a:r>
              <a:rPr lang="en-US" altLang="zh-CN" dirty="0"/>
              <a:t>LED </a:t>
            </a:r>
            <a:r>
              <a:rPr lang="zh-CN" altLang="en-US" dirty="0"/>
              <a:t>硬件部分进行初始化，具体处理是在 </a:t>
            </a:r>
            <a:r>
              <a:rPr lang="en-US" altLang="zh-CN" dirty="0" err="1"/>
              <a:t>main.c</a:t>
            </a:r>
            <a:r>
              <a:rPr lang="en-US" altLang="zh-CN" dirty="0"/>
              <a:t> </a:t>
            </a:r>
            <a:r>
              <a:rPr lang="zh-CN" altLang="en-US" dirty="0"/>
              <a:t>文件的 </a:t>
            </a:r>
            <a:r>
              <a:rPr lang="en-US" altLang="zh-CN" dirty="0" err="1"/>
              <a:t>BSP_Init</a:t>
            </a:r>
            <a:r>
              <a:rPr lang="en-US" altLang="zh-CN" dirty="0"/>
              <a:t> </a:t>
            </a:r>
            <a:r>
              <a:rPr lang="zh-CN" altLang="en-US" dirty="0"/>
              <a:t>函数中对 </a:t>
            </a:r>
            <a:r>
              <a:rPr lang="en-US" altLang="zh-CN" dirty="0"/>
              <a:t>LED </a:t>
            </a:r>
            <a:r>
              <a:rPr lang="zh-CN" altLang="en-US" dirty="0"/>
              <a:t>进行初始化，如代码清单 </a:t>
            </a:r>
            <a:r>
              <a:rPr lang="en-US" altLang="zh-CN" dirty="0"/>
              <a:t>3-1</a:t>
            </a:r>
            <a:r>
              <a:rPr lang="zh-CN" altLang="en-US" dirty="0"/>
              <a:t>所示。</a:t>
            </a:r>
          </a:p>
        </p:txBody>
      </p:sp>
      <p:sp>
        <p:nvSpPr>
          <p:cNvPr id="20" name="内容占位符 2"/>
          <p:cNvSpPr>
            <a:spLocks noGrp="1"/>
          </p:cNvSpPr>
          <p:nvPr>
            <p:ph idx="1"/>
          </p:nvPr>
        </p:nvSpPr>
        <p:spPr>
          <a:xfrm>
            <a:off x="309401" y="1979359"/>
            <a:ext cx="6016667" cy="4694767"/>
          </a:xfrm>
        </p:spPr>
        <p:txBody>
          <a:bodyPr>
            <a:noAutofit/>
          </a:bodyPr>
          <a:lstStyle/>
          <a:p>
            <a:pPr marL="0" indent="456971">
              <a:lnSpc>
                <a:spcPct val="110000"/>
              </a:lnSpc>
              <a:spcBef>
                <a:spcPts val="0"/>
              </a:spcBef>
              <a:buClr>
                <a:schemeClr val="tx2">
                  <a:lumMod val="75000"/>
                </a:schemeClr>
              </a:buClr>
              <a:buNone/>
            </a:pPr>
            <a:r>
              <a:rPr lang="en-US" altLang="zh-CN" sz="1400" b="1" dirty="0"/>
              <a:t>1 /************************************************************ </a:t>
            </a:r>
          </a:p>
          <a:p>
            <a:pPr marL="0" indent="456971">
              <a:lnSpc>
                <a:spcPct val="110000"/>
              </a:lnSpc>
              <a:spcBef>
                <a:spcPts val="0"/>
              </a:spcBef>
              <a:buClr>
                <a:schemeClr val="tx2">
                  <a:lumMod val="75000"/>
                </a:schemeClr>
              </a:buClr>
              <a:buNone/>
            </a:pPr>
            <a:r>
              <a:rPr lang="en-US" altLang="zh-CN" sz="1400" b="1" dirty="0"/>
              <a:t> 2   * @ </a:t>
            </a:r>
            <a:r>
              <a:rPr lang="zh-CN" altLang="en-US" sz="1400" b="1" dirty="0"/>
              <a:t>函数名  ： </a:t>
            </a:r>
            <a:r>
              <a:rPr lang="en-US" altLang="zh-CN" sz="1400" b="1" dirty="0" err="1"/>
              <a:t>BSP_Init</a:t>
            </a:r>
            <a:endParaRPr lang="en-US" altLang="zh-CN" sz="1400" b="1" dirty="0"/>
          </a:p>
          <a:p>
            <a:pPr marL="0" indent="456971">
              <a:lnSpc>
                <a:spcPct val="110000"/>
              </a:lnSpc>
              <a:spcBef>
                <a:spcPts val="0"/>
              </a:spcBef>
              <a:buClr>
                <a:schemeClr val="tx2">
                  <a:lumMod val="75000"/>
                </a:schemeClr>
              </a:buClr>
              <a:buNone/>
            </a:pPr>
            <a:r>
              <a:rPr lang="en-US" altLang="zh-CN" sz="1400" b="1" dirty="0"/>
              <a:t> 3   * @ </a:t>
            </a:r>
            <a:r>
              <a:rPr lang="zh-CN" altLang="en-US" sz="1400" b="1" dirty="0"/>
              <a:t>功能说明 ： 板级外设初始化，所有开发板上的初始化均可放在这个函数中</a:t>
            </a:r>
          </a:p>
          <a:p>
            <a:pPr marL="0" indent="456971">
              <a:lnSpc>
                <a:spcPct val="110000"/>
              </a:lnSpc>
              <a:spcBef>
                <a:spcPts val="0"/>
              </a:spcBef>
              <a:buClr>
                <a:schemeClr val="tx2">
                  <a:lumMod val="75000"/>
                </a:schemeClr>
              </a:buClr>
              <a:buNone/>
            </a:pPr>
            <a:r>
              <a:rPr lang="zh-CN" altLang="en-US" sz="1400" b="1" dirty="0"/>
              <a:t> </a:t>
            </a:r>
            <a:r>
              <a:rPr lang="en-US" altLang="zh-CN" sz="1400" b="1" dirty="0"/>
              <a:t>4   * @ </a:t>
            </a:r>
            <a:r>
              <a:rPr lang="zh-CN" altLang="en-US" sz="1400" b="1" dirty="0"/>
              <a:t>参数    ：</a:t>
            </a:r>
          </a:p>
          <a:p>
            <a:pPr marL="0" indent="456971">
              <a:lnSpc>
                <a:spcPct val="110000"/>
              </a:lnSpc>
              <a:spcBef>
                <a:spcPts val="0"/>
              </a:spcBef>
              <a:buClr>
                <a:schemeClr val="tx2">
                  <a:lumMod val="75000"/>
                </a:schemeClr>
              </a:buClr>
              <a:buNone/>
            </a:pPr>
            <a:r>
              <a:rPr lang="zh-CN" altLang="en-US" sz="1400" b="1" dirty="0"/>
              <a:t> </a:t>
            </a:r>
            <a:r>
              <a:rPr lang="en-US" altLang="zh-CN" sz="1400" b="1" dirty="0"/>
              <a:t>5   * @ </a:t>
            </a:r>
            <a:r>
              <a:rPr lang="zh-CN" altLang="en-US" sz="1400" b="1" dirty="0"/>
              <a:t>返回值  ： 无</a:t>
            </a:r>
          </a:p>
          <a:p>
            <a:pPr marL="0" indent="456971">
              <a:lnSpc>
                <a:spcPct val="110000"/>
              </a:lnSpc>
              <a:spcBef>
                <a:spcPts val="0"/>
              </a:spcBef>
              <a:buClr>
                <a:schemeClr val="tx2">
                  <a:lumMod val="75000"/>
                </a:schemeClr>
              </a:buClr>
              <a:buNone/>
            </a:pPr>
            <a:r>
              <a:rPr lang="zh-CN" altLang="en-US" sz="1400" b="1" dirty="0"/>
              <a:t> </a:t>
            </a:r>
            <a:r>
              <a:rPr lang="en-US" altLang="zh-CN" sz="1400" b="1" dirty="0"/>
              <a:t>6   ******************************************************** /</a:t>
            </a:r>
          </a:p>
          <a:p>
            <a:pPr marL="0" indent="456971">
              <a:lnSpc>
                <a:spcPct val="110000"/>
              </a:lnSpc>
              <a:spcBef>
                <a:spcPts val="0"/>
              </a:spcBef>
              <a:buClr>
                <a:schemeClr val="tx2">
                  <a:lumMod val="75000"/>
                </a:schemeClr>
              </a:buClr>
              <a:buNone/>
            </a:pPr>
            <a:r>
              <a:rPr lang="en-US" altLang="zh-CN" sz="1400" b="1" dirty="0"/>
              <a:t> 7 static void </a:t>
            </a:r>
            <a:r>
              <a:rPr lang="en-US" altLang="zh-CN" sz="1400" b="1" dirty="0" err="1"/>
              <a:t>BSP_Init</a:t>
            </a:r>
            <a:r>
              <a:rPr lang="en-US" altLang="zh-CN" sz="1400" b="1" dirty="0"/>
              <a:t>(void)</a:t>
            </a:r>
          </a:p>
          <a:p>
            <a:pPr marL="0" indent="456971">
              <a:lnSpc>
                <a:spcPct val="110000"/>
              </a:lnSpc>
              <a:spcBef>
                <a:spcPts val="0"/>
              </a:spcBef>
              <a:buClr>
                <a:schemeClr val="tx2">
                  <a:lumMod val="75000"/>
                </a:schemeClr>
              </a:buClr>
              <a:buNone/>
            </a:pPr>
            <a:r>
              <a:rPr lang="en-US" altLang="zh-CN" sz="1400" b="1" dirty="0"/>
              <a:t> 8 {</a:t>
            </a:r>
          </a:p>
          <a:p>
            <a:pPr marL="0" indent="456971">
              <a:lnSpc>
                <a:spcPct val="110000"/>
              </a:lnSpc>
              <a:spcBef>
                <a:spcPts val="0"/>
              </a:spcBef>
              <a:buClr>
                <a:schemeClr val="tx2">
                  <a:lumMod val="75000"/>
                </a:schemeClr>
              </a:buClr>
              <a:buNone/>
            </a:pPr>
            <a:r>
              <a:rPr lang="en-US" altLang="zh-CN" sz="1400" b="1" dirty="0"/>
              <a:t> 9     /*</a:t>
            </a:r>
          </a:p>
          <a:p>
            <a:pPr marL="0" indent="456971">
              <a:lnSpc>
                <a:spcPct val="110000"/>
              </a:lnSpc>
              <a:spcBef>
                <a:spcPts val="0"/>
              </a:spcBef>
              <a:buClr>
                <a:schemeClr val="tx2">
                  <a:lumMod val="75000"/>
                </a:schemeClr>
              </a:buClr>
              <a:buNone/>
            </a:pPr>
            <a:r>
              <a:rPr lang="en-US" altLang="zh-CN" sz="1400" b="1" dirty="0"/>
              <a:t>10      * STM32</a:t>
            </a:r>
            <a:r>
              <a:rPr lang="zh-CN" altLang="en-US" sz="1400" b="1" dirty="0"/>
              <a:t>中断优先级分组为</a:t>
            </a:r>
            <a:r>
              <a:rPr lang="en-US" altLang="zh-CN" sz="1400" b="1" dirty="0"/>
              <a:t>4</a:t>
            </a:r>
            <a:r>
              <a:rPr lang="zh-CN" altLang="en-US" sz="1400" b="1" dirty="0"/>
              <a:t>，即</a:t>
            </a:r>
            <a:r>
              <a:rPr lang="en-US" altLang="zh-CN" sz="1400" b="1" dirty="0"/>
              <a:t>4bit</a:t>
            </a:r>
            <a:r>
              <a:rPr lang="zh-CN" altLang="en-US" sz="1400" b="1" dirty="0"/>
              <a:t>都用来表示抢占优先级，范围为</a:t>
            </a:r>
            <a:r>
              <a:rPr lang="en-US" altLang="zh-CN" sz="1400" b="1" dirty="0"/>
              <a:t>0</a:t>
            </a:r>
            <a:r>
              <a:rPr lang="zh-CN" altLang="en-US" sz="1400" b="1" dirty="0"/>
              <a:t>～</a:t>
            </a:r>
            <a:r>
              <a:rPr lang="en-US" altLang="zh-CN" sz="1400" b="1" dirty="0"/>
              <a:t>15</a:t>
            </a:r>
          </a:p>
          <a:p>
            <a:pPr marL="0" indent="456971">
              <a:lnSpc>
                <a:spcPct val="110000"/>
              </a:lnSpc>
              <a:spcBef>
                <a:spcPts val="0"/>
              </a:spcBef>
              <a:buClr>
                <a:schemeClr val="tx2">
                  <a:lumMod val="75000"/>
                </a:schemeClr>
              </a:buClr>
              <a:buNone/>
            </a:pPr>
            <a:r>
              <a:rPr lang="en-US" altLang="zh-CN" sz="1400" b="1" dirty="0"/>
              <a:t>11      * </a:t>
            </a:r>
            <a:r>
              <a:rPr lang="zh-CN" altLang="en-US" sz="1400" b="1" dirty="0"/>
              <a:t>优先级分组只需要分组一次，以后如果有其他任务需要用到中断，</a:t>
            </a:r>
          </a:p>
          <a:p>
            <a:pPr marL="0" indent="456971">
              <a:lnSpc>
                <a:spcPct val="110000"/>
              </a:lnSpc>
              <a:spcBef>
                <a:spcPts val="0"/>
              </a:spcBef>
              <a:buClr>
                <a:schemeClr val="tx2">
                  <a:lumMod val="75000"/>
                </a:schemeClr>
              </a:buClr>
              <a:buNone/>
            </a:pPr>
            <a:r>
              <a:rPr lang="en-US" altLang="zh-CN" sz="1400" b="1" dirty="0"/>
              <a:t>12      * </a:t>
            </a:r>
            <a:r>
              <a:rPr lang="zh-CN" altLang="en-US" sz="1400" b="1" dirty="0"/>
              <a:t>则统一使用这个优先级分组，不要再分组，切记</a:t>
            </a:r>
          </a:p>
          <a:p>
            <a:pPr marL="0" indent="456971">
              <a:lnSpc>
                <a:spcPct val="110000"/>
              </a:lnSpc>
              <a:spcBef>
                <a:spcPts val="0"/>
              </a:spcBef>
              <a:buClr>
                <a:schemeClr val="tx2">
                  <a:lumMod val="75000"/>
                </a:schemeClr>
              </a:buClr>
              <a:buNone/>
            </a:pPr>
            <a:r>
              <a:rPr lang="en-US" altLang="zh-CN" sz="1400" b="1" dirty="0"/>
              <a:t>13      */</a:t>
            </a:r>
          </a:p>
        </p:txBody>
      </p:sp>
      <p:sp>
        <p:nvSpPr>
          <p:cNvPr id="22" name="内容占位符 2"/>
          <p:cNvSpPr>
            <a:spLocks noGrp="1"/>
          </p:cNvSpPr>
          <p:nvPr>
            <p:ph idx="1"/>
          </p:nvPr>
        </p:nvSpPr>
        <p:spPr>
          <a:xfrm>
            <a:off x="6326068" y="2060564"/>
            <a:ext cx="5480371" cy="3246286"/>
          </a:xfrm>
        </p:spPr>
        <p:txBody>
          <a:bodyPr vert="horz" lIns="91440" tIns="45720" rIns="91440" bIns="45720" rtlCol="0">
            <a:noAutofit/>
          </a:bodyPr>
          <a:lstStyle/>
          <a:p>
            <a:pPr marL="0" indent="456971">
              <a:lnSpc>
                <a:spcPct val="110000"/>
              </a:lnSpc>
              <a:spcBef>
                <a:spcPts val="0"/>
              </a:spcBef>
              <a:buClr>
                <a:schemeClr val="tx2">
                  <a:lumMod val="75000"/>
                </a:schemeClr>
              </a:buClr>
              <a:buNone/>
            </a:pPr>
            <a:r>
              <a:rPr lang="en-US" altLang="zh-CN" sz="1400" b="1" dirty="0"/>
              <a:t>14     </a:t>
            </a:r>
            <a:r>
              <a:rPr lang="en-US" altLang="zh-CN" sz="1400" b="1" dirty="0" err="1"/>
              <a:t>NVIC_PriorityGroupConfig</a:t>
            </a:r>
            <a:r>
              <a:rPr lang="en-US" altLang="zh-CN" sz="1400" b="1" dirty="0"/>
              <a:t>( NVIC_PriorityGroup_4 );</a:t>
            </a:r>
          </a:p>
          <a:p>
            <a:pPr marL="0" indent="456971">
              <a:lnSpc>
                <a:spcPct val="110000"/>
              </a:lnSpc>
              <a:spcBef>
                <a:spcPts val="0"/>
              </a:spcBef>
              <a:buClr>
                <a:schemeClr val="tx2">
                  <a:lumMod val="75000"/>
                </a:schemeClr>
              </a:buClr>
              <a:buNone/>
            </a:pPr>
            <a:r>
              <a:rPr lang="en-US" altLang="zh-CN" sz="1400" b="1" dirty="0"/>
              <a:t>15 </a:t>
            </a:r>
          </a:p>
          <a:p>
            <a:pPr marL="0" indent="456971">
              <a:lnSpc>
                <a:spcPct val="110000"/>
              </a:lnSpc>
              <a:spcBef>
                <a:spcPts val="0"/>
              </a:spcBef>
              <a:buClr>
                <a:schemeClr val="tx2">
                  <a:lumMod val="75000"/>
                </a:schemeClr>
              </a:buClr>
              <a:buNone/>
            </a:pPr>
            <a:r>
              <a:rPr lang="en-US" altLang="zh-CN" sz="1400" b="1" dirty="0"/>
              <a:t>16     /* LED </a:t>
            </a:r>
            <a:r>
              <a:rPr lang="zh-CN" altLang="en-US" sz="1400" b="1" dirty="0"/>
              <a:t>初始化 *</a:t>
            </a:r>
            <a:r>
              <a:rPr lang="en-US" altLang="zh-CN" sz="1400" b="1" dirty="0"/>
              <a:t>/</a:t>
            </a:r>
          </a:p>
          <a:p>
            <a:pPr marL="0" indent="456971">
              <a:lnSpc>
                <a:spcPct val="110000"/>
              </a:lnSpc>
              <a:spcBef>
                <a:spcPts val="0"/>
              </a:spcBef>
              <a:buClr>
                <a:schemeClr val="tx2">
                  <a:lumMod val="75000"/>
                </a:schemeClr>
              </a:buClr>
              <a:buNone/>
            </a:pPr>
            <a:r>
              <a:rPr lang="en-US" altLang="zh-CN" sz="1400" b="1" dirty="0"/>
              <a:t>17     </a:t>
            </a:r>
            <a:r>
              <a:rPr lang="en-US" altLang="zh-CN" sz="1400" b="1" dirty="0" err="1"/>
              <a:t>LED_GPIO_Config</a:t>
            </a:r>
            <a:r>
              <a:rPr lang="en-US" altLang="zh-CN" sz="1400" b="1" dirty="0"/>
              <a:t>();</a:t>
            </a:r>
          </a:p>
          <a:p>
            <a:pPr marL="0" indent="456971">
              <a:lnSpc>
                <a:spcPct val="110000"/>
              </a:lnSpc>
              <a:spcBef>
                <a:spcPts val="0"/>
              </a:spcBef>
              <a:buClr>
                <a:schemeClr val="tx2">
                  <a:lumMod val="75000"/>
                </a:schemeClr>
              </a:buClr>
              <a:buNone/>
            </a:pPr>
            <a:r>
              <a:rPr lang="en-US" altLang="zh-CN" sz="1400" b="1" dirty="0"/>
              <a:t>18 } </a:t>
            </a:r>
          </a:p>
        </p:txBody>
      </p:sp>
      <p:sp>
        <p:nvSpPr>
          <p:cNvPr id="113" name="内容占位符 2"/>
          <p:cNvSpPr>
            <a:spLocks noGrp="1"/>
          </p:cNvSpPr>
          <p:nvPr>
            <p:ph idx="1"/>
          </p:nvPr>
        </p:nvSpPr>
        <p:spPr>
          <a:xfrm>
            <a:off x="7009924" y="3825827"/>
            <a:ext cx="4569620" cy="2023920"/>
          </a:xfrm>
          <a:solidFill>
            <a:srgbClr val="3A4187"/>
          </a:solidFill>
        </p:spPr>
        <p:txBody>
          <a:bodyPr>
            <a:normAutofit fontScale="92500" lnSpcReduction="10000"/>
          </a:bodyPr>
          <a:lstStyle/>
          <a:p>
            <a:pPr marL="0" indent="456971">
              <a:lnSpc>
                <a:spcPct val="135000"/>
              </a:lnSpc>
              <a:buClr>
                <a:schemeClr val="tx2">
                  <a:lumMod val="75000"/>
                </a:schemeClr>
              </a:buClr>
              <a:buNone/>
            </a:pPr>
            <a:r>
              <a:rPr lang="en-US" altLang="zh-CN" b="1" dirty="0">
                <a:solidFill>
                  <a:schemeClr val="bg1"/>
                </a:solidFill>
              </a:rPr>
              <a:t>main</a:t>
            </a:r>
            <a:r>
              <a:rPr lang="zh-CN" altLang="en-US" b="1" dirty="0">
                <a:solidFill>
                  <a:schemeClr val="bg1"/>
                </a:solidFill>
              </a:rPr>
              <a:t>函数中调用了</a:t>
            </a:r>
            <a:r>
              <a:rPr lang="en-US" altLang="zh-CN" b="1" dirty="0" err="1">
                <a:solidFill>
                  <a:schemeClr val="bg1"/>
                </a:solidFill>
              </a:rPr>
              <a:t>BSP_Init</a:t>
            </a:r>
            <a:r>
              <a:rPr lang="zh-CN" altLang="en-US" b="1" dirty="0">
                <a:solidFill>
                  <a:schemeClr val="bg1"/>
                </a:solidFill>
              </a:rPr>
              <a:t>，当代码执行到</a:t>
            </a:r>
            <a:r>
              <a:rPr lang="en-US" altLang="zh-CN" b="1" dirty="0" err="1">
                <a:solidFill>
                  <a:schemeClr val="bg1"/>
                </a:solidFill>
              </a:rPr>
              <a:t>BSP_Init</a:t>
            </a:r>
            <a:r>
              <a:rPr lang="zh-CN" altLang="en-US" b="1" dirty="0">
                <a:solidFill>
                  <a:schemeClr val="bg1"/>
                </a:solidFill>
              </a:rPr>
              <a:t>函数时，操作系统的内容完全未涉及，即</a:t>
            </a:r>
            <a:r>
              <a:rPr lang="en-US" altLang="zh-CN" b="1" dirty="0" err="1">
                <a:solidFill>
                  <a:schemeClr val="bg1"/>
                </a:solidFill>
              </a:rPr>
              <a:t>BSP_Init</a:t>
            </a:r>
            <a:r>
              <a:rPr lang="zh-CN" altLang="en-US" b="1" dirty="0">
                <a:solidFill>
                  <a:schemeClr val="bg1"/>
                </a:solidFill>
              </a:rPr>
              <a:t>函数所做的处理与裸机工程中的硬件初始化是一样的。当执行完</a:t>
            </a:r>
            <a:r>
              <a:rPr lang="en-US" altLang="zh-CN" b="1" dirty="0" err="1">
                <a:solidFill>
                  <a:schemeClr val="bg1"/>
                </a:solidFill>
              </a:rPr>
              <a:t>BSP_Init</a:t>
            </a:r>
            <a:r>
              <a:rPr lang="zh-CN" altLang="en-US" b="1" dirty="0">
                <a:solidFill>
                  <a:schemeClr val="bg1"/>
                </a:solidFill>
              </a:rPr>
              <a:t>函数后，</a:t>
            </a:r>
            <a:r>
              <a:rPr lang="en-US" altLang="zh-CN" b="1" dirty="0">
                <a:solidFill>
                  <a:schemeClr val="bg1"/>
                </a:solidFill>
              </a:rPr>
              <a:t>CPU</a:t>
            </a:r>
            <a:r>
              <a:rPr lang="zh-CN" altLang="en-US" b="1" dirty="0">
                <a:solidFill>
                  <a:schemeClr val="bg1"/>
                </a:solidFill>
              </a:rPr>
              <a:t>才会启动操作系统去运行用户创建的任务。</a:t>
            </a:r>
          </a:p>
        </p:txBody>
      </p:sp>
      <p:sp>
        <p:nvSpPr>
          <p:cNvPr id="10" name="矩形 9">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3.1</a:t>
            </a:r>
            <a:r>
              <a:rPr lang="zh-CN" altLang="en-US" sz="2800" b="1" dirty="0">
                <a:cs typeface="+mn-ea"/>
                <a:sym typeface="+mn-lt"/>
              </a:rPr>
              <a:t>硬件初始化</a:t>
            </a:r>
            <a:endParaRPr lang="zh-CN" altLang="en-US" sz="2800" b="1" dirty="0">
              <a:solidFill>
                <a:schemeClr val="bg1"/>
              </a:solidFill>
              <a:cs typeface="+mn-ea"/>
              <a:sym typeface="+mn-lt"/>
            </a:endParaRPr>
          </a:p>
        </p:txBody>
      </p:sp>
      <p:sp>
        <p:nvSpPr>
          <p:cNvPr id="11"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55034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31654" y="2287287"/>
            <a:ext cx="11652531" cy="41881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矩形 2"/>
          <p:cNvSpPr/>
          <p:nvPr/>
        </p:nvSpPr>
        <p:spPr>
          <a:xfrm>
            <a:off x="231654" y="1915716"/>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475414"/>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737870"/>
            <a:ext cx="11500210" cy="1016783"/>
          </a:xfrm>
        </p:spPr>
        <p:txBody>
          <a:bodyPr>
            <a:normAutofit/>
          </a:bodyPr>
          <a:lstStyle/>
          <a:p>
            <a:pPr marL="0" indent="456971">
              <a:lnSpc>
                <a:spcPct val="135000"/>
              </a:lnSpc>
              <a:buClr>
                <a:schemeClr val="tx2">
                  <a:lumMod val="75000"/>
                </a:schemeClr>
              </a:buClr>
              <a:buNone/>
            </a:pPr>
            <a:r>
              <a:rPr lang="zh-CN" altLang="en-US" dirty="0"/>
              <a:t>在硬件初始化完成后，立即测试硬件是否能正常工作，保证在尚未涉及操作系统的情况下，硬件是正常工作的，具体实现如代码清单</a:t>
            </a:r>
            <a:r>
              <a:rPr lang="en-US" altLang="zh-CN" dirty="0"/>
              <a:t>3~2</a:t>
            </a:r>
            <a:r>
              <a:rPr lang="zh-CN" altLang="en-US" dirty="0"/>
              <a:t>加粗部分所示。</a:t>
            </a:r>
          </a:p>
        </p:txBody>
      </p:sp>
      <p:sp>
        <p:nvSpPr>
          <p:cNvPr id="20" name="内容占位符 2"/>
          <p:cNvSpPr>
            <a:spLocks noGrp="1"/>
          </p:cNvSpPr>
          <p:nvPr>
            <p:ph idx="1"/>
          </p:nvPr>
        </p:nvSpPr>
        <p:spPr>
          <a:xfrm>
            <a:off x="383975" y="2127658"/>
            <a:ext cx="6702109" cy="4218705"/>
          </a:xfrm>
        </p:spPr>
        <p:txBody>
          <a:bodyPr>
            <a:noAutofit/>
          </a:bodyPr>
          <a:lstStyle/>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2   * @brief  </a:t>
            </a:r>
            <a:r>
              <a:rPr lang="zh-CN" altLang="en-US" sz="1400" b="1" dirty="0"/>
              <a:t>主函数</a:t>
            </a:r>
          </a:p>
          <a:p>
            <a:pPr marL="0" indent="456971">
              <a:lnSpc>
                <a:spcPct val="125000"/>
              </a:lnSpc>
              <a:spcBef>
                <a:spcPts val="0"/>
              </a:spcBef>
              <a:buClr>
                <a:schemeClr val="tx2">
                  <a:lumMod val="75000"/>
                </a:schemeClr>
              </a:buClr>
              <a:buNone/>
            </a:pPr>
            <a:r>
              <a:rPr lang="zh-CN" altLang="en-US" sz="1400" b="1" dirty="0"/>
              <a:t> </a:t>
            </a:r>
            <a:r>
              <a:rPr lang="en-US" altLang="zh-CN" sz="1400" b="1" dirty="0"/>
              <a:t>3   * @</a:t>
            </a:r>
            <a:r>
              <a:rPr lang="en-US" altLang="zh-CN" sz="1400" b="1" dirty="0" err="1"/>
              <a:t>param</a:t>
            </a:r>
            <a:r>
              <a:rPr lang="en-US" altLang="zh-CN" sz="1400" b="1" dirty="0"/>
              <a:t>  </a:t>
            </a:r>
            <a:r>
              <a:rPr lang="zh-CN" altLang="en-US" sz="1400" b="1" dirty="0"/>
              <a:t>无</a:t>
            </a:r>
          </a:p>
          <a:p>
            <a:pPr marL="0" indent="456971">
              <a:lnSpc>
                <a:spcPct val="125000"/>
              </a:lnSpc>
              <a:spcBef>
                <a:spcPts val="0"/>
              </a:spcBef>
              <a:buClr>
                <a:schemeClr val="tx2">
                  <a:lumMod val="75000"/>
                </a:schemeClr>
              </a:buClr>
              <a:buNone/>
            </a:pPr>
            <a:r>
              <a:rPr lang="zh-CN" altLang="en-US" sz="1400" b="1" dirty="0"/>
              <a:t> </a:t>
            </a:r>
            <a:r>
              <a:rPr lang="en-US" altLang="zh-CN" sz="1400" b="1" dirty="0"/>
              <a:t>4   * @</a:t>
            </a:r>
            <a:r>
              <a:rPr lang="en-US" altLang="zh-CN" sz="1400" b="1" dirty="0" err="1"/>
              <a:t>retval</a:t>
            </a:r>
            <a:r>
              <a:rPr lang="en-US" altLang="zh-CN" sz="1400" b="1" dirty="0"/>
              <a:t> </a:t>
            </a:r>
            <a:r>
              <a:rPr lang="zh-CN" altLang="en-US" sz="1400" b="1" dirty="0"/>
              <a:t>无</a:t>
            </a:r>
          </a:p>
          <a:p>
            <a:pPr marL="0" indent="456971">
              <a:lnSpc>
                <a:spcPct val="125000"/>
              </a:lnSpc>
              <a:spcBef>
                <a:spcPts val="0"/>
              </a:spcBef>
              <a:buClr>
                <a:schemeClr val="tx2">
                  <a:lumMod val="75000"/>
                </a:schemeClr>
              </a:buClr>
              <a:buNone/>
            </a:pPr>
            <a:r>
              <a:rPr lang="zh-CN" altLang="en-US" sz="1400" b="1" dirty="0"/>
              <a:t> </a:t>
            </a:r>
            <a:r>
              <a:rPr lang="en-US" altLang="zh-CN" sz="1400" b="1" dirty="0"/>
              <a:t>5   * @note   </a:t>
            </a:r>
            <a:r>
              <a:rPr lang="zh-CN" altLang="en-US" sz="1400" b="1" dirty="0"/>
              <a:t>第一步：开发板硬件初始化</a:t>
            </a:r>
          </a:p>
          <a:p>
            <a:pPr marL="0" indent="456971">
              <a:lnSpc>
                <a:spcPct val="125000"/>
              </a:lnSpc>
              <a:spcBef>
                <a:spcPts val="0"/>
              </a:spcBef>
              <a:buClr>
                <a:schemeClr val="tx2">
                  <a:lumMod val="75000"/>
                </a:schemeClr>
              </a:buClr>
              <a:buNone/>
            </a:pPr>
            <a:r>
              <a:rPr lang="zh-CN" altLang="en-US" sz="1400" b="1" dirty="0"/>
              <a:t> </a:t>
            </a:r>
            <a:r>
              <a:rPr lang="en-US" altLang="zh-CN" sz="1400" b="1" dirty="0"/>
              <a:t>6 	  </a:t>
            </a:r>
            <a:r>
              <a:rPr lang="zh-CN" altLang="en-US" sz="1400" b="1" dirty="0"/>
              <a:t>第二步：创建</a:t>
            </a:r>
            <a:r>
              <a:rPr lang="en-US" altLang="zh-CN" sz="1400" b="1" dirty="0"/>
              <a:t>App</a:t>
            </a:r>
            <a:r>
              <a:rPr lang="zh-CN" altLang="en-US" sz="1400" b="1" dirty="0"/>
              <a:t>应用任务</a:t>
            </a:r>
          </a:p>
          <a:p>
            <a:pPr marL="0" indent="456971">
              <a:lnSpc>
                <a:spcPct val="125000"/>
              </a:lnSpc>
              <a:spcBef>
                <a:spcPts val="0"/>
              </a:spcBef>
              <a:buClr>
                <a:schemeClr val="tx2">
                  <a:lumMod val="75000"/>
                </a:schemeClr>
              </a:buClr>
              <a:buNone/>
            </a:pPr>
            <a:r>
              <a:rPr lang="zh-CN" altLang="en-US" sz="1400" b="1" dirty="0"/>
              <a:t> </a:t>
            </a:r>
            <a:r>
              <a:rPr lang="en-US" altLang="zh-CN" sz="1400" b="1" dirty="0"/>
              <a:t>7 	  </a:t>
            </a:r>
            <a:r>
              <a:rPr lang="zh-CN" altLang="en-US" sz="1400" b="1" dirty="0"/>
              <a:t>第三步：启动</a:t>
            </a:r>
            <a:r>
              <a:rPr lang="en-US" altLang="zh-CN" sz="1400" b="1" dirty="0"/>
              <a:t>LiteOS</a:t>
            </a:r>
            <a:r>
              <a:rPr lang="zh-CN" altLang="en-US" sz="1400" b="1" dirty="0"/>
              <a:t>，开始多任务调度，启动失败时输出错误信息</a:t>
            </a:r>
          </a:p>
          <a:p>
            <a:pPr marL="0" indent="456971">
              <a:lnSpc>
                <a:spcPct val="125000"/>
              </a:lnSpc>
              <a:spcBef>
                <a:spcPts val="0"/>
              </a:spcBef>
              <a:buClr>
                <a:schemeClr val="tx2">
                  <a:lumMod val="75000"/>
                </a:schemeClr>
              </a:buClr>
              <a:buNone/>
            </a:pPr>
            <a:r>
              <a:rPr lang="zh-CN" altLang="en-US" sz="1400" b="1" dirty="0"/>
              <a:t> </a:t>
            </a:r>
            <a:r>
              <a:rPr lang="en-US" altLang="zh-CN" sz="1400" b="1" dirty="0"/>
              <a:t>8   *******************************************************************/</a:t>
            </a:r>
          </a:p>
          <a:p>
            <a:pPr marL="0" indent="456971">
              <a:lnSpc>
                <a:spcPct val="125000"/>
              </a:lnSpc>
              <a:spcBef>
                <a:spcPts val="0"/>
              </a:spcBef>
              <a:buClr>
                <a:schemeClr val="tx2">
                  <a:lumMod val="75000"/>
                </a:schemeClr>
              </a:buClr>
              <a:buNone/>
            </a:pPr>
            <a:r>
              <a:rPr lang="en-US" altLang="zh-CN" sz="1400" b="1" dirty="0"/>
              <a:t> 9 int main(void)</a:t>
            </a:r>
          </a:p>
          <a:p>
            <a:pPr marL="0" indent="456971">
              <a:lnSpc>
                <a:spcPct val="125000"/>
              </a:lnSpc>
              <a:spcBef>
                <a:spcPts val="0"/>
              </a:spcBef>
              <a:buClr>
                <a:schemeClr val="tx2">
                  <a:lumMod val="75000"/>
                </a:schemeClr>
              </a:buClr>
              <a:buNone/>
            </a:pPr>
            <a:r>
              <a:rPr lang="en-US" altLang="zh-CN" sz="1400" b="1" dirty="0"/>
              <a:t>10 {</a:t>
            </a:r>
          </a:p>
          <a:p>
            <a:pPr marL="0" indent="456971">
              <a:lnSpc>
                <a:spcPct val="125000"/>
              </a:lnSpc>
              <a:spcBef>
                <a:spcPts val="0"/>
              </a:spcBef>
              <a:buClr>
                <a:schemeClr val="tx2">
                  <a:lumMod val="75000"/>
                </a:schemeClr>
              </a:buClr>
              <a:buNone/>
            </a:pPr>
            <a:r>
              <a:rPr lang="en-US" altLang="zh-CN" sz="1400" b="1" dirty="0"/>
              <a:t>11     /* </a:t>
            </a:r>
            <a:r>
              <a:rPr lang="zh-CN" altLang="en-US" sz="1400" b="1" dirty="0"/>
              <a:t>板级硬件初始化 *</a:t>
            </a:r>
            <a:r>
              <a:rPr lang="en-US" altLang="zh-CN" sz="1400" b="1" dirty="0"/>
              <a:t>/</a:t>
            </a:r>
          </a:p>
          <a:p>
            <a:pPr marL="0" indent="456971">
              <a:lnSpc>
                <a:spcPct val="125000"/>
              </a:lnSpc>
              <a:spcBef>
                <a:spcPts val="0"/>
              </a:spcBef>
              <a:buClr>
                <a:schemeClr val="tx2">
                  <a:lumMod val="75000"/>
                </a:schemeClr>
              </a:buClr>
              <a:buNone/>
            </a:pPr>
            <a:r>
              <a:rPr lang="en-US" altLang="zh-CN" sz="1400" b="1" dirty="0"/>
              <a:t>12     </a:t>
            </a:r>
            <a:r>
              <a:rPr lang="en-US" altLang="zh-CN" sz="1400" b="1" dirty="0" err="1"/>
              <a:t>BSP_Init</a:t>
            </a:r>
            <a:r>
              <a:rPr lang="en-US" altLang="zh-CN" sz="1400" b="1" dirty="0"/>
              <a:t>();	(1)</a:t>
            </a:r>
          </a:p>
          <a:p>
            <a:pPr marL="0" indent="456971">
              <a:lnSpc>
                <a:spcPct val="125000"/>
              </a:lnSpc>
              <a:spcBef>
                <a:spcPts val="0"/>
              </a:spcBef>
              <a:buClr>
                <a:schemeClr val="tx2">
                  <a:lumMod val="75000"/>
                </a:schemeClr>
              </a:buClr>
              <a:buNone/>
            </a:pPr>
            <a:r>
              <a:rPr lang="en-US" altLang="zh-CN" sz="1400" b="1" dirty="0"/>
              <a:t>13     LED1_ON;	 	(2)</a:t>
            </a:r>
          </a:p>
          <a:p>
            <a:pPr marL="0" indent="456971">
              <a:lnSpc>
                <a:spcPct val="125000"/>
              </a:lnSpc>
              <a:spcBef>
                <a:spcPts val="0"/>
              </a:spcBef>
              <a:buClr>
                <a:schemeClr val="tx2">
                  <a:lumMod val="75000"/>
                </a:schemeClr>
              </a:buClr>
              <a:buNone/>
            </a:pPr>
            <a:r>
              <a:rPr lang="en-US" altLang="zh-CN" sz="1400" b="1" dirty="0"/>
              <a:t>14     while (1);	 	(3)</a:t>
            </a:r>
          </a:p>
          <a:p>
            <a:pPr marL="0" indent="456971">
              <a:lnSpc>
                <a:spcPct val="125000"/>
              </a:lnSpc>
              <a:spcBef>
                <a:spcPts val="0"/>
              </a:spcBef>
              <a:buClr>
                <a:schemeClr val="tx2">
                  <a:lumMod val="75000"/>
                </a:schemeClr>
              </a:buClr>
              <a:buNone/>
            </a:pPr>
            <a:r>
              <a:rPr lang="en-US" altLang="zh-CN" sz="1400" b="1" dirty="0"/>
              <a:t>15 }</a:t>
            </a:r>
          </a:p>
        </p:txBody>
      </p:sp>
      <p:sp>
        <p:nvSpPr>
          <p:cNvPr id="85" name="内容占位符 2"/>
          <p:cNvSpPr>
            <a:spLocks noGrp="1"/>
          </p:cNvSpPr>
          <p:nvPr>
            <p:ph idx="1"/>
          </p:nvPr>
        </p:nvSpPr>
        <p:spPr>
          <a:xfrm>
            <a:off x="3936357" y="1533091"/>
            <a:ext cx="4847288" cy="443123"/>
          </a:xfrm>
        </p:spPr>
        <p:txBody>
          <a:bodyPr>
            <a:normAutofit fontScale="85000" lnSpcReduction="10000"/>
          </a:bodyPr>
          <a:lstStyle/>
          <a:p>
            <a:pPr marL="0" indent="456971">
              <a:lnSpc>
                <a:spcPct val="135000"/>
              </a:lnSpc>
              <a:buClr>
                <a:schemeClr val="tx2">
                  <a:lumMod val="75000"/>
                </a:schemeClr>
              </a:buClr>
              <a:buNone/>
            </a:pPr>
            <a:r>
              <a:rPr lang="zh-CN" altLang="en-US" b="1" dirty="0"/>
              <a:t>代码清单</a:t>
            </a:r>
            <a:r>
              <a:rPr lang="en-US" altLang="zh-CN" b="1" dirty="0"/>
              <a:t>3.2</a:t>
            </a:r>
            <a:r>
              <a:rPr lang="zh-CN" altLang="en-US" b="1" dirty="0"/>
              <a:t>：在</a:t>
            </a:r>
            <a:r>
              <a:rPr lang="en-US" altLang="zh-CN" b="1" dirty="0" err="1"/>
              <a:t>BSP_Init</a:t>
            </a:r>
            <a:r>
              <a:rPr lang="zh-CN" altLang="en-US" b="1" dirty="0"/>
              <a:t>中添加硬件测试函数</a:t>
            </a:r>
          </a:p>
        </p:txBody>
      </p:sp>
      <p:sp>
        <p:nvSpPr>
          <p:cNvPr id="15" name="内容占位符 2"/>
          <p:cNvSpPr>
            <a:spLocks noGrp="1"/>
          </p:cNvSpPr>
          <p:nvPr>
            <p:ph idx="1"/>
          </p:nvPr>
        </p:nvSpPr>
        <p:spPr>
          <a:xfrm>
            <a:off x="7086084" y="2692260"/>
            <a:ext cx="4569620" cy="3629320"/>
          </a:xfrm>
          <a:solidFill>
            <a:srgbClr val="3A4187"/>
          </a:solidFill>
        </p:spPr>
        <p:txBody>
          <a:bodyPr>
            <a:noAutofit/>
          </a:bodyPr>
          <a:lstStyle/>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a:solidFill>
                  <a:schemeClr val="bg1"/>
                </a:solidFill>
              </a:rPr>
              <a:t>3~2</a:t>
            </a:r>
            <a:r>
              <a:rPr lang="zh-CN" altLang="en-US" b="1" dirty="0">
                <a:solidFill>
                  <a:schemeClr val="bg1"/>
                </a:solidFill>
              </a:rPr>
              <a:t>（</a:t>
            </a:r>
            <a:r>
              <a:rPr lang="en-US" altLang="zh-CN" b="1" dirty="0">
                <a:solidFill>
                  <a:schemeClr val="bg1"/>
                </a:solidFill>
              </a:rPr>
              <a:t>1</a:t>
            </a:r>
            <a:r>
              <a:rPr lang="zh-CN" altLang="en-US" b="1" dirty="0">
                <a:solidFill>
                  <a:schemeClr val="bg1"/>
                </a:solidFill>
              </a:rPr>
              <a:t>）：硬件初始化。</a:t>
            </a:r>
          </a:p>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a:solidFill>
                  <a:schemeClr val="bg1"/>
                </a:solidFill>
              </a:rPr>
              <a:t>3~2</a:t>
            </a:r>
            <a:r>
              <a:rPr lang="zh-CN" altLang="en-US" b="1" dirty="0">
                <a:solidFill>
                  <a:schemeClr val="bg1"/>
                </a:solidFill>
              </a:rPr>
              <a:t>（</a:t>
            </a:r>
            <a:r>
              <a:rPr lang="en-US" altLang="zh-CN" b="1" dirty="0">
                <a:solidFill>
                  <a:schemeClr val="bg1"/>
                </a:solidFill>
              </a:rPr>
              <a:t>2</a:t>
            </a:r>
            <a:r>
              <a:rPr lang="zh-CN" altLang="en-US" b="1" dirty="0">
                <a:solidFill>
                  <a:schemeClr val="bg1"/>
                </a:solidFill>
              </a:rPr>
              <a:t>）：测试点亮</a:t>
            </a:r>
            <a:r>
              <a:rPr lang="en-US" altLang="zh-CN" b="1" dirty="0">
                <a:solidFill>
                  <a:schemeClr val="bg1"/>
                </a:solidFill>
              </a:rPr>
              <a:t>LED</a:t>
            </a:r>
            <a:r>
              <a:rPr lang="zh-CN" altLang="en-US" b="1" dirty="0">
                <a:solidFill>
                  <a:schemeClr val="bg1"/>
                </a:solidFill>
              </a:rPr>
              <a:t>灯，可以继续添加其他硬件初始化和测试代码。在确认硬件能正常工作之后，这部分硬件测试的代码可删可不删，因为</a:t>
            </a:r>
            <a:r>
              <a:rPr lang="en-US" altLang="zh-CN" b="1" dirty="0" err="1">
                <a:solidFill>
                  <a:schemeClr val="bg1"/>
                </a:solidFill>
              </a:rPr>
              <a:t>BSP_Init</a:t>
            </a:r>
            <a:r>
              <a:rPr lang="zh-CN" altLang="en-US" b="1" dirty="0">
                <a:solidFill>
                  <a:schemeClr val="bg1"/>
                </a:solidFill>
              </a:rPr>
              <a:t>函数只执行一次。</a:t>
            </a:r>
          </a:p>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a:solidFill>
                  <a:schemeClr val="bg1"/>
                </a:solidFill>
              </a:rPr>
              <a:t>3~2</a:t>
            </a:r>
            <a:r>
              <a:rPr lang="zh-CN" altLang="en-US" b="1" dirty="0">
                <a:solidFill>
                  <a:schemeClr val="bg1"/>
                </a:solidFill>
              </a:rPr>
              <a:t>（</a:t>
            </a:r>
            <a:r>
              <a:rPr lang="en-US" altLang="zh-CN" b="1" dirty="0">
                <a:solidFill>
                  <a:schemeClr val="bg1"/>
                </a:solidFill>
              </a:rPr>
              <a:t>3</a:t>
            </a:r>
            <a:r>
              <a:rPr lang="zh-CN" altLang="en-US" b="1" dirty="0">
                <a:solidFill>
                  <a:schemeClr val="bg1"/>
                </a:solidFill>
              </a:rPr>
              <a:t>）：为了测试硬件是否正常工作，添加一个死循环，使程序停在这里，不再继续向下执行，当测试完毕后，语句“</a:t>
            </a:r>
            <a:r>
              <a:rPr lang="en-US" altLang="zh-CN" b="1" dirty="0">
                <a:solidFill>
                  <a:schemeClr val="bg1"/>
                </a:solidFill>
              </a:rPr>
              <a:t>while(1);”</a:t>
            </a:r>
            <a:r>
              <a:rPr lang="zh-CN" altLang="en-US" b="1" dirty="0">
                <a:solidFill>
                  <a:schemeClr val="bg1"/>
                </a:solidFill>
              </a:rPr>
              <a:t>必须删除。</a:t>
            </a:r>
          </a:p>
        </p:txBody>
      </p:sp>
      <p:sp>
        <p:nvSpPr>
          <p:cNvPr id="11" name="矩形 10">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3.1</a:t>
            </a:r>
            <a:r>
              <a:rPr lang="zh-CN" altLang="en-US" sz="2800" b="1" dirty="0">
                <a:cs typeface="+mn-ea"/>
                <a:sym typeface="+mn-lt"/>
              </a:rPr>
              <a:t>硬件初始化</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832800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704290"/>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en-US" altLang="zh-CN" b="1" dirty="0"/>
              <a:t>LiteOS</a:t>
            </a:r>
            <a:r>
              <a:rPr lang="zh-CN" altLang="en-US" b="1" dirty="0"/>
              <a:t>核心初始化</a:t>
            </a:r>
          </a:p>
        </p:txBody>
      </p:sp>
      <p:grpSp>
        <p:nvGrpSpPr>
          <p:cNvPr id="6" name="组合 5"/>
          <p:cNvGrpSpPr/>
          <p:nvPr/>
        </p:nvGrpSpPr>
        <p:grpSpPr>
          <a:xfrm>
            <a:off x="8920601" y="6018052"/>
            <a:ext cx="2949550" cy="686237"/>
            <a:chOff x="8101090" y="4648994"/>
            <a:chExt cx="3713085" cy="2058194"/>
          </a:xfrm>
        </p:grpSpPr>
        <p:sp>
          <p:nvSpPr>
            <p:cNvPr id="86" name="矩形 85"/>
            <p:cNvSpPr/>
            <p:nvPr/>
          </p:nvSpPr>
          <p:spPr>
            <a:xfrm>
              <a:off x="8101090" y="5715000"/>
              <a:ext cx="381000" cy="991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矩形 86"/>
            <p:cNvSpPr/>
            <p:nvPr/>
          </p:nvSpPr>
          <p:spPr>
            <a:xfrm>
              <a:off x="8710690" y="5105400"/>
              <a:ext cx="381000" cy="16017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矩形 97"/>
            <p:cNvSpPr/>
            <p:nvPr/>
          </p:nvSpPr>
          <p:spPr>
            <a:xfrm>
              <a:off x="9320290" y="5486400"/>
              <a:ext cx="381000" cy="1220788"/>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10006090" y="5908939"/>
              <a:ext cx="381000" cy="79824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10661536" y="5638006"/>
              <a:ext cx="381000" cy="1068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1433175" y="4648994"/>
              <a:ext cx="381000" cy="2057400"/>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02" name="内容占位符 2"/>
          <p:cNvSpPr>
            <a:spLocks noGrp="1"/>
          </p:cNvSpPr>
          <p:nvPr>
            <p:ph idx="1"/>
          </p:nvPr>
        </p:nvSpPr>
        <p:spPr>
          <a:xfrm>
            <a:off x="307815" y="1928473"/>
            <a:ext cx="11652531" cy="662764"/>
          </a:xfrm>
        </p:spPr>
        <p:txBody>
          <a:bodyPr>
            <a:normAutofit/>
          </a:bodyPr>
          <a:lstStyle/>
          <a:p>
            <a:pPr marL="0" indent="456971">
              <a:lnSpc>
                <a:spcPct val="135000"/>
              </a:lnSpc>
              <a:buClr>
                <a:schemeClr val="tx2">
                  <a:lumMod val="75000"/>
                </a:schemeClr>
              </a:buClr>
              <a:buNone/>
            </a:pPr>
            <a:r>
              <a:rPr lang="zh-CN" altLang="en-US" b="1" dirty="0"/>
              <a:t>核心初始化函数</a:t>
            </a:r>
            <a:r>
              <a:rPr lang="en-US" altLang="zh-CN" b="1" dirty="0" err="1">
                <a:solidFill>
                  <a:srgbClr val="C00000"/>
                </a:solidFill>
              </a:rPr>
              <a:t>LOS_KernelInit</a:t>
            </a:r>
            <a:r>
              <a:rPr lang="zh-CN" altLang="en-US" b="1" dirty="0"/>
              <a:t>主要做了以下几件事。</a:t>
            </a:r>
          </a:p>
        </p:txBody>
      </p:sp>
      <p:sp>
        <p:nvSpPr>
          <p:cNvPr id="16" name="内容占位符 2"/>
          <p:cNvSpPr>
            <a:spLocks noGrp="1"/>
          </p:cNvSpPr>
          <p:nvPr>
            <p:ph idx="1"/>
          </p:nvPr>
        </p:nvSpPr>
        <p:spPr>
          <a:xfrm>
            <a:off x="774297" y="2583465"/>
            <a:ext cx="10957568" cy="4121622"/>
          </a:xfrm>
        </p:spPr>
        <p:txBody>
          <a:bodyPr>
            <a:noAutofit/>
          </a:bodyPr>
          <a:lstStyle/>
          <a:p>
            <a:pPr>
              <a:lnSpc>
                <a:spcPct val="135000"/>
              </a:lnSpc>
              <a:buClr>
                <a:schemeClr val="tx2"/>
              </a:buClr>
              <a:buFont typeface="Wingdings" panose="05000000000000000000" pitchFamily="2" charset="2"/>
              <a:buChar char="u"/>
            </a:pPr>
            <a:r>
              <a:rPr lang="zh-CN" altLang="en-US" sz="1799" b="1" dirty="0">
                <a:solidFill>
                  <a:srgbClr val="C00000"/>
                </a:solidFill>
              </a:rPr>
              <a:t>系统内存的初始化</a:t>
            </a:r>
            <a:r>
              <a:rPr lang="zh-CN" altLang="en-US" sz="1799" b="1" dirty="0"/>
              <a:t>，因为</a:t>
            </a:r>
            <a:r>
              <a:rPr lang="en-US" altLang="zh-CN" sz="1799" b="1" dirty="0"/>
              <a:t>LiteOS</a:t>
            </a:r>
            <a:r>
              <a:rPr lang="zh-CN" altLang="en-US" sz="1799" b="1" dirty="0"/>
              <a:t>所管理的内存只是一块内存区域，所以</a:t>
            </a:r>
            <a:r>
              <a:rPr lang="en-US" altLang="zh-CN" sz="1799" b="1" dirty="0"/>
              <a:t>LiteOS</a:t>
            </a:r>
            <a:r>
              <a:rPr lang="zh-CN" altLang="en-US" sz="1799" b="1" dirty="0"/>
              <a:t>将其管理的内存初始化一遍，目的是使后续能够正常管理。</a:t>
            </a:r>
          </a:p>
          <a:p>
            <a:pPr>
              <a:lnSpc>
                <a:spcPct val="135000"/>
              </a:lnSpc>
              <a:buClr>
                <a:schemeClr val="tx2"/>
              </a:buClr>
              <a:buFont typeface="Wingdings" panose="05000000000000000000" pitchFamily="2" charset="2"/>
              <a:buChar char="u"/>
            </a:pPr>
            <a:r>
              <a:rPr lang="zh-CN" altLang="en-US" sz="1799" b="1" dirty="0">
                <a:solidFill>
                  <a:srgbClr val="C00000"/>
                </a:solidFill>
              </a:rPr>
              <a:t>如果系统接管中断</a:t>
            </a:r>
            <a:r>
              <a:rPr lang="zh-CN" altLang="en-US" sz="1799" b="1" dirty="0"/>
              <a:t>，那么</a:t>
            </a:r>
            <a:r>
              <a:rPr lang="en-US" altLang="zh-CN" sz="1799" b="1" dirty="0"/>
              <a:t>LiteOS</a:t>
            </a:r>
            <a:r>
              <a:rPr lang="zh-CN" altLang="en-US" sz="1799" b="1" dirty="0"/>
              <a:t>会将所有的中断入口函数通过一个指针数组存储，系统最大支持管理</a:t>
            </a:r>
            <a:r>
              <a:rPr lang="en-US" altLang="zh-CN" sz="1799" b="1" dirty="0"/>
              <a:t>OS_VECTOR_CNT</a:t>
            </a:r>
            <a:r>
              <a:rPr lang="zh-CN" altLang="en-US" sz="1799" b="1" dirty="0"/>
              <a:t>即</a:t>
            </a:r>
            <a:r>
              <a:rPr lang="en-US" altLang="zh-CN" sz="1799" b="1" dirty="0"/>
              <a:t>OS_SYS_VECTOR_CNT+OS_HWI_MAX_NUM</a:t>
            </a:r>
            <a:r>
              <a:rPr lang="zh-CN" altLang="en-US" sz="1799" b="1" dirty="0"/>
              <a:t>个中断。而系统</a:t>
            </a:r>
            <a:r>
              <a:rPr lang="zh-CN" altLang="en-US" sz="1799" b="1" dirty="0">
                <a:solidFill>
                  <a:srgbClr val="C00000"/>
                </a:solidFill>
              </a:rPr>
              <a:t>不接管中断</a:t>
            </a:r>
            <a:r>
              <a:rPr lang="zh-CN" altLang="en-US" sz="1799" b="1" dirty="0"/>
              <a:t>就不会对中断入口函数进行处理，读者可以通过</a:t>
            </a:r>
            <a:r>
              <a:rPr lang="en-US" altLang="zh-CN" sz="1799" b="1" dirty="0">
                <a:solidFill>
                  <a:srgbClr val="C00000"/>
                </a:solidFill>
              </a:rPr>
              <a:t>LOSCFG_PLATFORM_HWI</a:t>
            </a:r>
            <a:r>
              <a:rPr lang="zh-CN" altLang="en-US" sz="1799" b="1" dirty="0">
                <a:solidFill>
                  <a:srgbClr val="C00000"/>
                </a:solidFill>
              </a:rPr>
              <a:t>宏定义</a:t>
            </a:r>
            <a:r>
              <a:rPr lang="zh-CN" altLang="en-US" sz="1799" b="1" dirty="0"/>
              <a:t>配置是否由系统接管中断。</a:t>
            </a:r>
          </a:p>
          <a:p>
            <a:pPr>
              <a:lnSpc>
                <a:spcPct val="135000"/>
              </a:lnSpc>
              <a:buClr>
                <a:schemeClr val="tx2"/>
              </a:buClr>
              <a:buFont typeface="Wingdings" panose="05000000000000000000" pitchFamily="2" charset="2"/>
              <a:buChar char="u"/>
            </a:pPr>
            <a:r>
              <a:rPr lang="zh-CN" altLang="en-US" sz="1799" b="1" dirty="0"/>
              <a:t>任务基本的底层初始化，如</a:t>
            </a:r>
            <a:r>
              <a:rPr lang="en-US" altLang="zh-CN" sz="1799" b="1" dirty="0"/>
              <a:t>LiteOS</a:t>
            </a:r>
            <a:r>
              <a:rPr lang="zh-CN" altLang="en-US" sz="1799" b="1" dirty="0"/>
              <a:t>采用一块内存来管理所有的任务控制块信息，系统最大支持</a:t>
            </a:r>
            <a:r>
              <a:rPr lang="en-US" altLang="zh-CN" sz="1799" b="1" dirty="0">
                <a:solidFill>
                  <a:srgbClr val="C00000"/>
                </a:solidFill>
              </a:rPr>
              <a:t>LOSCFG_BASE_CORE_TSK_LIMIT+1</a:t>
            </a:r>
            <a:r>
              <a:rPr lang="zh-CN" altLang="en-US" sz="1799" b="1" dirty="0">
                <a:solidFill>
                  <a:srgbClr val="C00000"/>
                </a:solidFill>
              </a:rPr>
              <a:t>个任务</a:t>
            </a:r>
            <a:r>
              <a:rPr lang="zh-CN" altLang="en-US" sz="1799" b="1" dirty="0"/>
              <a:t>（包括空闲任务），该宏定义的值是由用户指定的，用户可以根据系统需求进行裁剪，以减少系统的内存开销，并初始化系统必要的链表等。</a:t>
            </a:r>
          </a:p>
        </p:txBody>
      </p:sp>
      <p:sp>
        <p:nvSpPr>
          <p:cNvPr id="17" name="矩形 16">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2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744683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296511"/>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704290"/>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6" name="组合 5"/>
          <p:cNvGrpSpPr/>
          <p:nvPr/>
        </p:nvGrpSpPr>
        <p:grpSpPr>
          <a:xfrm>
            <a:off x="8920601" y="6018052"/>
            <a:ext cx="2949550" cy="686237"/>
            <a:chOff x="8101090" y="4648994"/>
            <a:chExt cx="3713085" cy="2058194"/>
          </a:xfrm>
        </p:grpSpPr>
        <p:sp>
          <p:nvSpPr>
            <p:cNvPr id="86" name="矩形 85"/>
            <p:cNvSpPr/>
            <p:nvPr/>
          </p:nvSpPr>
          <p:spPr>
            <a:xfrm>
              <a:off x="8101090" y="5715000"/>
              <a:ext cx="381000" cy="991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矩形 86"/>
            <p:cNvSpPr/>
            <p:nvPr/>
          </p:nvSpPr>
          <p:spPr>
            <a:xfrm>
              <a:off x="8710690" y="5105400"/>
              <a:ext cx="381000" cy="16017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矩形 97"/>
            <p:cNvSpPr/>
            <p:nvPr/>
          </p:nvSpPr>
          <p:spPr>
            <a:xfrm>
              <a:off x="9320290" y="5486400"/>
              <a:ext cx="381000" cy="1220788"/>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10006090" y="5908939"/>
              <a:ext cx="381000" cy="79824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10661536" y="5638006"/>
              <a:ext cx="381000" cy="1068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1433175" y="4648994"/>
              <a:ext cx="381000" cy="2057400"/>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6" name="内容占位符 2"/>
          <p:cNvSpPr>
            <a:spLocks noGrp="1"/>
          </p:cNvSpPr>
          <p:nvPr>
            <p:ph idx="1"/>
          </p:nvPr>
        </p:nvSpPr>
        <p:spPr>
          <a:xfrm>
            <a:off x="663385" y="1831238"/>
            <a:ext cx="10957568" cy="3958732"/>
          </a:xfrm>
        </p:spPr>
        <p:txBody>
          <a:bodyPr>
            <a:noAutofit/>
          </a:bodyPr>
          <a:lstStyle/>
          <a:p>
            <a:pPr>
              <a:lnSpc>
                <a:spcPct val="135000"/>
              </a:lnSpc>
              <a:buClr>
                <a:schemeClr val="tx2"/>
              </a:buClr>
              <a:buFont typeface="Wingdings" panose="05000000000000000000" pitchFamily="2" charset="2"/>
              <a:buChar char="u"/>
            </a:pPr>
            <a:r>
              <a:rPr lang="zh-CN" altLang="en-US" sz="1799" b="1" dirty="0"/>
              <a:t>如果用户使能</a:t>
            </a:r>
            <a:r>
              <a:rPr lang="zh-CN" altLang="en-US" sz="1799" b="1" dirty="0">
                <a:solidFill>
                  <a:srgbClr val="C00000"/>
                </a:solidFill>
              </a:rPr>
              <a:t>任务监视功能</a:t>
            </a:r>
            <a:r>
              <a:rPr lang="zh-CN" altLang="en-US" sz="1799" b="1" dirty="0"/>
              <a:t>，那么系统会初始化对应的监视功能。</a:t>
            </a:r>
          </a:p>
          <a:p>
            <a:pPr>
              <a:lnSpc>
                <a:spcPct val="135000"/>
              </a:lnSpc>
              <a:buClr>
                <a:schemeClr val="tx2"/>
              </a:buClr>
              <a:buFont typeface="Wingdings" panose="05000000000000000000" pitchFamily="2" charset="2"/>
              <a:buChar char="u"/>
            </a:pPr>
            <a:r>
              <a:rPr lang="zh-CN" altLang="en-US" sz="1799" b="1" dirty="0"/>
              <a:t>如果用户使能</a:t>
            </a:r>
            <a:r>
              <a:rPr lang="zh-CN" altLang="en-US" sz="1799" b="1" dirty="0">
                <a:solidFill>
                  <a:srgbClr val="C00000"/>
                </a:solidFill>
              </a:rPr>
              <a:t>信号量、互斥锁、消息队列</a:t>
            </a:r>
            <a:r>
              <a:rPr lang="zh-CN" altLang="en-US" sz="1799" b="1" dirty="0"/>
              <a:t>等</a:t>
            </a:r>
            <a:r>
              <a:rPr lang="en-US" altLang="zh-CN" sz="1799" b="1" dirty="0"/>
              <a:t>IPC</a:t>
            </a:r>
            <a:r>
              <a:rPr lang="zh-CN" altLang="en-US" sz="1799" b="1" dirty="0"/>
              <a:t>通信机制，那么在系统运行前会将这些内核资源初始化。系统支持的最大的信号量、互斥锁、消息队列个数由用户决定，当不需要那么多任务时可以进行裁剪，以减少系统的内存开销。</a:t>
            </a:r>
            <a:endParaRPr lang="en-US" altLang="zh-CN" sz="1799" b="1" dirty="0"/>
          </a:p>
          <a:p>
            <a:pPr>
              <a:lnSpc>
                <a:spcPct val="135000"/>
              </a:lnSpc>
              <a:buClr>
                <a:schemeClr val="tx2"/>
              </a:buClr>
              <a:buFont typeface="Wingdings" panose="05000000000000000000" pitchFamily="2" charset="2"/>
              <a:buChar char="u"/>
            </a:pPr>
            <a:r>
              <a:rPr lang="zh-CN" altLang="en-US" sz="1799" b="1" dirty="0"/>
              <a:t>如果系统使用了</a:t>
            </a:r>
            <a:r>
              <a:rPr lang="zh-CN" altLang="en-US" sz="1799" b="1" dirty="0">
                <a:solidFill>
                  <a:srgbClr val="C00000"/>
                </a:solidFill>
              </a:rPr>
              <a:t>软件定时器</a:t>
            </a:r>
            <a:r>
              <a:rPr lang="zh-CN" altLang="en-US" sz="1799" b="1" dirty="0"/>
              <a:t>，则必须使用消息队列（因为软件定时器依赖消息队列进行管理），并初始化相关的功能。除此之外，系统还会创建一个软件定时器任务。</a:t>
            </a:r>
          </a:p>
          <a:p>
            <a:pPr>
              <a:lnSpc>
                <a:spcPct val="135000"/>
              </a:lnSpc>
              <a:buClr>
                <a:schemeClr val="tx2"/>
              </a:buClr>
              <a:buFont typeface="Wingdings" panose="05000000000000000000" pitchFamily="2" charset="2"/>
              <a:buChar char="u"/>
            </a:pPr>
            <a:r>
              <a:rPr lang="en-US" altLang="zh-CN" sz="1799" b="1" dirty="0">
                <a:solidFill>
                  <a:srgbClr val="C00000"/>
                </a:solidFill>
              </a:rPr>
              <a:t>LiteOS</a:t>
            </a:r>
            <a:r>
              <a:rPr lang="zh-CN" altLang="en-US" sz="1799" b="1" dirty="0">
                <a:solidFill>
                  <a:srgbClr val="C00000"/>
                </a:solidFill>
              </a:rPr>
              <a:t>会创建一个空闲任务</a:t>
            </a:r>
            <a:r>
              <a:rPr lang="zh-CN" altLang="en-US" sz="1799" b="1" dirty="0"/>
              <a:t>，空闲任务在系统中是必须存在的，因为处理器是一直在运行的，当整个系统都没有就绪任务的时候，系统必须保证有一个任务在运行，空闲任务就是为这个目的而设计的。</a:t>
            </a:r>
            <a:r>
              <a:rPr lang="zh-CN" altLang="en-US" sz="1799" b="1" dirty="0">
                <a:solidFill>
                  <a:srgbClr val="C00000"/>
                </a:solidFill>
              </a:rPr>
              <a:t>空闲任务的优先级最低</a:t>
            </a:r>
            <a:r>
              <a:rPr lang="zh-CN" altLang="en-US" sz="1799" b="1" dirty="0"/>
              <a:t>，当用户创建的任务进入就绪态时，它可以抢占空闲任务的</a:t>
            </a:r>
            <a:r>
              <a:rPr lang="en-US" altLang="zh-CN" sz="1799" b="1" dirty="0"/>
              <a:t>CPU</a:t>
            </a:r>
            <a:r>
              <a:rPr lang="zh-CN" altLang="en-US" sz="1799" b="1" dirty="0"/>
              <a:t>使用权，从而执行用户创建的任务。空闲任务默认的任务栈大小是</a:t>
            </a:r>
            <a:r>
              <a:rPr lang="en-US" altLang="zh-CN" sz="1799" b="1" dirty="0"/>
              <a:t>LOSCFG_BASE_ CORE_TSK_ IDLE_STACK_SIZE</a:t>
            </a:r>
            <a:r>
              <a:rPr lang="zh-CN" altLang="en-US" sz="1799" b="1" dirty="0"/>
              <a:t>，用户可以进行修改。</a:t>
            </a:r>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7" name="内容占位符 2"/>
          <p:cNvSpPr>
            <a:spLocks noGrp="1"/>
          </p:cNvSpPr>
          <p:nvPr>
            <p:ph idx="1"/>
          </p:nvPr>
        </p:nvSpPr>
        <p:spPr>
          <a:xfrm>
            <a:off x="383975" y="829822"/>
            <a:ext cx="11500210" cy="533122"/>
          </a:xfrm>
        </p:spPr>
        <p:txBody>
          <a:bodyPr>
            <a:normAutofit/>
          </a:bodyPr>
          <a:lstStyle/>
          <a:p>
            <a:pPr marL="0" indent="456971">
              <a:lnSpc>
                <a:spcPct val="135000"/>
              </a:lnSpc>
              <a:buClr>
                <a:schemeClr val="tx2">
                  <a:lumMod val="75000"/>
                </a:schemeClr>
              </a:buClr>
              <a:buNone/>
            </a:pPr>
            <a:r>
              <a:rPr lang="en-US" altLang="zh-CN" b="1" dirty="0"/>
              <a:t>LiteOS</a:t>
            </a:r>
            <a:r>
              <a:rPr lang="zh-CN" altLang="en-US" b="1" dirty="0"/>
              <a:t>核心初始化</a:t>
            </a:r>
          </a:p>
        </p:txBody>
      </p:sp>
    </p:spTree>
    <p:extLst>
      <p:ext uri="{BB962C8B-B14F-4D97-AF65-F5344CB8AC3E}">
        <p14:creationId xmlns:p14="http://schemas.microsoft.com/office/powerpoint/2010/main" val="3839325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定义任务函数</a:t>
            </a:r>
          </a:p>
        </p:txBody>
      </p:sp>
      <p:sp>
        <p:nvSpPr>
          <p:cNvPr id="102" name="内容占位符 2"/>
          <p:cNvSpPr>
            <a:spLocks noGrp="1"/>
          </p:cNvSpPr>
          <p:nvPr>
            <p:ph idx="1"/>
          </p:nvPr>
        </p:nvSpPr>
        <p:spPr>
          <a:xfrm>
            <a:off x="307815" y="1753473"/>
            <a:ext cx="11652531" cy="1195886"/>
          </a:xfrm>
        </p:spPr>
        <p:txBody>
          <a:bodyPr>
            <a:normAutofit/>
          </a:bodyPr>
          <a:lstStyle/>
          <a:p>
            <a:pPr marL="0" indent="456971">
              <a:lnSpc>
                <a:spcPct val="135000"/>
              </a:lnSpc>
              <a:buClr>
                <a:schemeClr val="tx2">
                  <a:lumMod val="75000"/>
                </a:schemeClr>
              </a:buClr>
              <a:buNone/>
            </a:pPr>
            <a:r>
              <a:rPr lang="zh-CN" altLang="en-US" b="1" dirty="0"/>
              <a:t>在创建任务时，需要指定任务函数（或者称之为任务主体），它应该是一个无限的死循环，不能返回，如代码清单</a:t>
            </a:r>
            <a:r>
              <a:rPr lang="en-US" altLang="zh-CN" b="1" dirty="0"/>
              <a:t>3~4</a:t>
            </a:r>
            <a:r>
              <a:rPr lang="zh-CN" altLang="en-US" b="1" dirty="0"/>
              <a:t>所示。</a:t>
            </a:r>
          </a:p>
        </p:txBody>
      </p:sp>
      <p:sp>
        <p:nvSpPr>
          <p:cNvPr id="17" name="矩形 16"/>
          <p:cNvSpPr/>
          <p:nvPr/>
        </p:nvSpPr>
        <p:spPr>
          <a:xfrm>
            <a:off x="231654" y="2549155"/>
            <a:ext cx="11652531" cy="4110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矩形 19"/>
          <p:cNvSpPr/>
          <p:nvPr/>
        </p:nvSpPr>
        <p:spPr>
          <a:xfrm>
            <a:off x="231654" y="665954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267544" y="2605115"/>
            <a:ext cx="5866536" cy="3794246"/>
          </a:xfrm>
        </p:spPr>
        <p:txBody>
          <a:bodyPr>
            <a:noAutofit/>
          </a:bodyPr>
          <a:lstStyle/>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 @ </a:t>
            </a:r>
            <a:r>
              <a:rPr lang="zh-CN" altLang="en-US" sz="1400" b="1" dirty="0"/>
              <a:t>函数名  ： </a:t>
            </a:r>
            <a:r>
              <a:rPr lang="en-US" altLang="zh-CN" sz="1400" b="1" dirty="0"/>
              <a:t>Test1_Task</a:t>
            </a:r>
          </a:p>
          <a:p>
            <a:pPr marL="0" indent="456971">
              <a:lnSpc>
                <a:spcPct val="125000"/>
              </a:lnSpc>
              <a:spcBef>
                <a:spcPts val="0"/>
              </a:spcBef>
              <a:buClr>
                <a:schemeClr val="tx2">
                  <a:lumMod val="75000"/>
                </a:schemeClr>
              </a:buClr>
              <a:buNone/>
            </a:pPr>
            <a:r>
              <a:rPr lang="en-US" altLang="zh-CN" sz="1400" b="1" dirty="0"/>
              <a:t>      * @ </a:t>
            </a:r>
            <a:r>
              <a:rPr lang="zh-CN" altLang="en-US" sz="1400" b="1" dirty="0"/>
              <a:t>功能说明： </a:t>
            </a:r>
            <a:r>
              <a:rPr lang="en-US" altLang="zh-CN" sz="1400" b="1" dirty="0"/>
              <a:t>Test1_Task</a:t>
            </a:r>
            <a:r>
              <a:rPr lang="zh-CN" altLang="en-US" sz="1400" b="1" dirty="0"/>
              <a:t>任务实现</a:t>
            </a:r>
          </a:p>
          <a:p>
            <a:pPr marL="0" indent="456971">
              <a:lnSpc>
                <a:spcPct val="125000"/>
              </a:lnSpc>
              <a:spcBef>
                <a:spcPts val="0"/>
              </a:spcBef>
              <a:buClr>
                <a:schemeClr val="tx2">
                  <a:lumMod val="75000"/>
                </a:schemeClr>
              </a:buClr>
              <a:buNone/>
            </a:pPr>
            <a:r>
              <a:rPr lang="zh-CN" altLang="en-US" sz="1400" b="1" dirty="0"/>
              <a:t> </a:t>
            </a:r>
            <a:r>
              <a:rPr lang="en-US" altLang="zh-CN" sz="1400" b="1" dirty="0"/>
              <a:t>     * @ </a:t>
            </a:r>
            <a:r>
              <a:rPr lang="zh-CN" altLang="en-US" sz="1400" b="1" dirty="0"/>
              <a:t>参数    ：</a:t>
            </a:r>
          </a:p>
          <a:p>
            <a:pPr marL="0" indent="456971">
              <a:lnSpc>
                <a:spcPct val="125000"/>
              </a:lnSpc>
              <a:spcBef>
                <a:spcPts val="0"/>
              </a:spcBef>
              <a:buClr>
                <a:schemeClr val="tx2">
                  <a:lumMod val="75000"/>
                </a:schemeClr>
              </a:buClr>
              <a:buNone/>
            </a:pPr>
            <a:r>
              <a:rPr lang="zh-CN" altLang="en-US" sz="1400" b="1" dirty="0"/>
              <a:t> </a:t>
            </a:r>
            <a:r>
              <a:rPr lang="en-US" altLang="zh-CN" sz="1400" b="1" dirty="0"/>
              <a:t>     * @ </a:t>
            </a:r>
            <a:r>
              <a:rPr lang="zh-CN" altLang="en-US" sz="1400" b="1" dirty="0"/>
              <a:t>返回值  ： 无</a:t>
            </a:r>
          </a:p>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static void Test1_Task(void)</a:t>
            </a:r>
          </a:p>
          <a:p>
            <a:pPr marL="0" indent="456971">
              <a:lnSpc>
                <a:spcPct val="125000"/>
              </a:lnSpc>
              <a:spcBef>
                <a:spcPts val="0"/>
              </a:spcBef>
              <a:buClr>
                <a:schemeClr val="tx2">
                  <a:lumMod val="75000"/>
                </a:schemeClr>
              </a:buClr>
              <a:buNone/>
            </a:pPr>
            <a:r>
              <a:rPr lang="en-US" altLang="zh-CN" sz="1400" b="1" dirty="0"/>
              <a:t>  {</a:t>
            </a:r>
          </a:p>
          <a:p>
            <a:pPr marL="0" indent="456971">
              <a:lnSpc>
                <a:spcPct val="125000"/>
              </a:lnSpc>
              <a:spcBef>
                <a:spcPts val="0"/>
              </a:spcBef>
              <a:buClr>
                <a:schemeClr val="tx2">
                  <a:lumMod val="75000"/>
                </a:schemeClr>
              </a:buClr>
              <a:buNone/>
            </a:pPr>
            <a:r>
              <a:rPr lang="en-US" altLang="zh-CN" sz="1400" b="1" dirty="0"/>
              <a:t>        /* </a:t>
            </a:r>
            <a:r>
              <a:rPr lang="zh-CN" altLang="en-US" sz="1400" b="1" dirty="0"/>
              <a:t>每个任务都是一个无限循环，不能返回 *</a:t>
            </a:r>
            <a:r>
              <a:rPr lang="en-US" altLang="zh-CN" sz="1400" b="1" dirty="0"/>
              <a:t>/</a:t>
            </a:r>
          </a:p>
          <a:p>
            <a:pPr marL="0" indent="456971">
              <a:lnSpc>
                <a:spcPct val="125000"/>
              </a:lnSpc>
              <a:spcBef>
                <a:spcPts val="0"/>
              </a:spcBef>
              <a:buClr>
                <a:schemeClr val="tx2">
                  <a:lumMod val="75000"/>
                </a:schemeClr>
              </a:buClr>
              <a:buNone/>
            </a:pPr>
            <a:r>
              <a:rPr lang="en-US" altLang="zh-CN" sz="1400" b="1" dirty="0"/>
              <a:t>       while (1) {	 		 (1)</a:t>
            </a:r>
          </a:p>
          <a:p>
            <a:pPr marL="0" indent="456971">
              <a:lnSpc>
                <a:spcPct val="125000"/>
              </a:lnSpc>
              <a:spcBef>
                <a:spcPts val="0"/>
              </a:spcBef>
              <a:buClr>
                <a:schemeClr val="tx2">
                  <a:lumMod val="75000"/>
                </a:schemeClr>
              </a:buClr>
              <a:buNone/>
            </a:pPr>
            <a:r>
              <a:rPr lang="en-US" altLang="zh-CN" sz="1400" b="1" dirty="0"/>
              <a:t>            LED2_TOGGLE;	 		 (2)</a:t>
            </a:r>
          </a:p>
          <a:p>
            <a:pPr marL="0" indent="456971">
              <a:lnSpc>
                <a:spcPct val="125000"/>
              </a:lnSpc>
              <a:spcBef>
                <a:spcPts val="0"/>
              </a:spcBef>
              <a:buClr>
                <a:schemeClr val="tx2">
                  <a:lumMod val="75000"/>
                </a:schemeClr>
              </a:buClr>
              <a:buNone/>
            </a:pPr>
            <a:r>
              <a:rPr lang="en-US" altLang="zh-CN" sz="1400" b="1" dirty="0"/>
              <a:t>            </a:t>
            </a:r>
            <a:r>
              <a:rPr lang="en-US" altLang="zh-CN" sz="1400" b="1" dirty="0" err="1"/>
              <a:t>LOS_TaskDelay</a:t>
            </a:r>
            <a:r>
              <a:rPr lang="en-US" altLang="zh-CN" sz="1400" b="1" dirty="0"/>
              <a:t>(1000); /*</a:t>
            </a:r>
            <a:r>
              <a:rPr lang="zh-CN" altLang="en-US" sz="1400" b="1" dirty="0"/>
              <a:t>延时</a:t>
            </a:r>
            <a:r>
              <a:rPr lang="en-US" altLang="zh-CN" sz="1400" b="1" dirty="0"/>
              <a:t>1000</a:t>
            </a:r>
            <a:r>
              <a:rPr lang="zh-CN" altLang="en-US" sz="1400" b="1" dirty="0"/>
              <a:t>个</a:t>
            </a:r>
            <a:r>
              <a:rPr lang="en-US" altLang="zh-CN" sz="1400" b="1" dirty="0"/>
              <a:t>Tick*/       (3)</a:t>
            </a:r>
          </a:p>
          <a:p>
            <a:pPr marL="0" indent="456971">
              <a:lnSpc>
                <a:spcPct val="125000"/>
              </a:lnSpc>
              <a:spcBef>
                <a:spcPts val="0"/>
              </a:spcBef>
              <a:buClr>
                <a:schemeClr val="tx2">
                  <a:lumMod val="75000"/>
                </a:schemeClr>
              </a:buClr>
              <a:buNone/>
            </a:pPr>
            <a:r>
              <a:rPr lang="en-US" altLang="zh-CN" sz="1400" b="1" dirty="0"/>
              <a:t>     }</a:t>
            </a:r>
          </a:p>
          <a:p>
            <a:pPr marL="0" indent="456971">
              <a:lnSpc>
                <a:spcPct val="125000"/>
              </a:lnSpc>
              <a:spcBef>
                <a:spcPts val="0"/>
              </a:spcBef>
              <a:buClr>
                <a:schemeClr val="tx2">
                  <a:lumMod val="75000"/>
                </a:schemeClr>
              </a:buClr>
              <a:buNone/>
            </a:pPr>
            <a:r>
              <a:rPr lang="en-US" altLang="zh-CN" sz="1400" b="1" dirty="0"/>
              <a:t> }</a:t>
            </a:r>
          </a:p>
        </p:txBody>
      </p:sp>
      <p:sp>
        <p:nvSpPr>
          <p:cNvPr id="28" name="内容占位符 2"/>
          <p:cNvSpPr>
            <a:spLocks noGrp="1"/>
          </p:cNvSpPr>
          <p:nvPr>
            <p:ph idx="1"/>
          </p:nvPr>
        </p:nvSpPr>
        <p:spPr>
          <a:xfrm>
            <a:off x="6286401" y="2949359"/>
            <a:ext cx="5407383" cy="3297574"/>
          </a:xfrm>
          <a:solidFill>
            <a:srgbClr val="3A4187"/>
          </a:solidFill>
        </p:spPr>
        <p:txBody>
          <a:bodyPr>
            <a:normAutofit/>
          </a:bodyPr>
          <a:lstStyle/>
          <a:p>
            <a:pPr marL="0" indent="456971">
              <a:lnSpc>
                <a:spcPct val="135000"/>
              </a:lnSpc>
              <a:buClr>
                <a:schemeClr val="tx2">
                  <a:lumMod val="75000"/>
                </a:schemeClr>
              </a:buClr>
              <a:buNone/>
            </a:pPr>
            <a:r>
              <a:rPr lang="zh-CN" altLang="en-US" b="1" dirty="0">
                <a:solidFill>
                  <a:schemeClr val="bg1"/>
                </a:solidFill>
              </a:rPr>
              <a:t>代码清单</a:t>
            </a:r>
            <a:r>
              <a:rPr lang="en-US" altLang="zh-CN" b="1" dirty="0">
                <a:solidFill>
                  <a:schemeClr val="bg1"/>
                </a:solidFill>
              </a:rPr>
              <a:t>3~4</a:t>
            </a:r>
            <a:r>
              <a:rPr lang="zh-CN" altLang="en-US" b="1" dirty="0">
                <a:solidFill>
                  <a:schemeClr val="bg1"/>
                </a:solidFill>
              </a:rPr>
              <a:t>（</a:t>
            </a:r>
            <a:r>
              <a:rPr lang="en-US" altLang="zh-CN" b="1" dirty="0">
                <a:solidFill>
                  <a:schemeClr val="bg1"/>
                </a:solidFill>
              </a:rPr>
              <a:t>1</a:t>
            </a:r>
            <a:r>
              <a:rPr lang="zh-CN" altLang="en-US" b="1" dirty="0">
                <a:solidFill>
                  <a:schemeClr val="bg1"/>
                </a:solidFill>
              </a:rPr>
              <a:t>）：每个独立的任务都是一个无限循环，不能返回。</a:t>
            </a:r>
          </a:p>
          <a:p>
            <a:pPr marL="0" indent="456971">
              <a:lnSpc>
                <a:spcPct val="135000"/>
              </a:lnSpc>
              <a:buClr>
                <a:schemeClr val="tx2">
                  <a:lumMod val="75000"/>
                </a:schemeClr>
              </a:buClr>
              <a:buNone/>
            </a:pPr>
            <a:r>
              <a:rPr lang="zh-CN" altLang="en-US" b="1" dirty="0">
                <a:solidFill>
                  <a:schemeClr val="bg1"/>
                </a:solidFill>
              </a:rPr>
              <a:t>代码清单</a:t>
            </a:r>
            <a:r>
              <a:rPr lang="en-US" altLang="zh-CN" b="1" dirty="0">
                <a:solidFill>
                  <a:schemeClr val="bg1"/>
                </a:solidFill>
              </a:rPr>
              <a:t>3~4</a:t>
            </a:r>
            <a:r>
              <a:rPr lang="zh-CN" altLang="en-US" b="1" dirty="0">
                <a:solidFill>
                  <a:schemeClr val="bg1"/>
                </a:solidFill>
              </a:rPr>
              <a:t>（</a:t>
            </a:r>
            <a:r>
              <a:rPr lang="en-US" altLang="zh-CN" b="1" dirty="0">
                <a:solidFill>
                  <a:schemeClr val="bg1"/>
                </a:solidFill>
              </a:rPr>
              <a:t>2</a:t>
            </a:r>
            <a:r>
              <a:rPr lang="zh-CN" altLang="en-US" b="1" dirty="0">
                <a:solidFill>
                  <a:schemeClr val="bg1"/>
                </a:solidFill>
              </a:rPr>
              <a:t>）：任务点灯测试，翻转</a:t>
            </a:r>
            <a:r>
              <a:rPr lang="en-US" altLang="zh-CN" b="1" dirty="0">
                <a:solidFill>
                  <a:schemeClr val="bg1"/>
                </a:solidFill>
              </a:rPr>
              <a:t>LED</a:t>
            </a:r>
            <a:r>
              <a:rPr lang="zh-CN" altLang="en-US" b="1" dirty="0">
                <a:solidFill>
                  <a:schemeClr val="bg1"/>
                </a:solidFill>
              </a:rPr>
              <a:t>。</a:t>
            </a:r>
            <a:endParaRPr lang="en-US" altLang="zh-CN" b="1" dirty="0">
              <a:solidFill>
                <a:schemeClr val="bg1"/>
              </a:solidFill>
            </a:endParaRPr>
          </a:p>
          <a:p>
            <a:pPr marL="0" indent="456971">
              <a:lnSpc>
                <a:spcPct val="135000"/>
              </a:lnSpc>
              <a:buClr>
                <a:schemeClr val="tx2">
                  <a:lumMod val="75000"/>
                </a:schemeClr>
              </a:buClr>
              <a:buNone/>
            </a:pPr>
            <a:r>
              <a:rPr lang="zh-CN" altLang="en-US" b="1" dirty="0">
                <a:solidFill>
                  <a:schemeClr val="bg1"/>
                </a:solidFill>
              </a:rPr>
              <a:t>代码清单</a:t>
            </a:r>
            <a:r>
              <a:rPr lang="en-US" altLang="zh-CN" b="1" dirty="0">
                <a:solidFill>
                  <a:schemeClr val="bg1"/>
                </a:solidFill>
              </a:rPr>
              <a:t>3~4</a:t>
            </a:r>
            <a:r>
              <a:rPr lang="zh-CN" altLang="en-US" b="1" dirty="0">
                <a:solidFill>
                  <a:schemeClr val="bg1"/>
                </a:solidFill>
              </a:rPr>
              <a:t>（</a:t>
            </a:r>
            <a:r>
              <a:rPr lang="en-US" altLang="zh-CN" b="1" dirty="0">
                <a:solidFill>
                  <a:schemeClr val="bg1"/>
                </a:solidFill>
              </a:rPr>
              <a:t>3</a:t>
            </a:r>
            <a:r>
              <a:rPr lang="zh-CN" altLang="en-US" b="1" dirty="0">
                <a:solidFill>
                  <a:schemeClr val="bg1"/>
                </a:solidFill>
              </a:rPr>
              <a:t>）：调用系统延时函数，保证任务得以切换，延时</a:t>
            </a:r>
            <a:r>
              <a:rPr lang="en-US" altLang="zh-CN" b="1" dirty="0">
                <a:solidFill>
                  <a:schemeClr val="bg1"/>
                </a:solidFill>
              </a:rPr>
              <a:t>1000</a:t>
            </a:r>
            <a:r>
              <a:rPr lang="zh-CN" altLang="en-US" b="1" dirty="0">
                <a:solidFill>
                  <a:schemeClr val="bg1"/>
                </a:solidFill>
              </a:rPr>
              <a:t>个</a:t>
            </a:r>
            <a:r>
              <a:rPr lang="en-US" altLang="zh-CN" b="1" dirty="0">
                <a:solidFill>
                  <a:schemeClr val="bg1"/>
                </a:solidFill>
              </a:rPr>
              <a:t>Tick</a:t>
            </a:r>
            <a:r>
              <a:rPr lang="zh-CN" altLang="en-US" b="1" dirty="0">
                <a:solidFill>
                  <a:schemeClr val="bg1"/>
                </a:solidFill>
              </a:rPr>
              <a:t>。</a:t>
            </a:r>
          </a:p>
        </p:txBody>
      </p:sp>
      <p:sp>
        <p:nvSpPr>
          <p:cNvPr id="7" name="矩形 6"/>
          <p:cNvSpPr/>
          <p:nvPr/>
        </p:nvSpPr>
        <p:spPr>
          <a:xfrm>
            <a:off x="6324481" y="5942291"/>
            <a:ext cx="5331223" cy="76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44057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定义任务</a:t>
            </a:r>
            <a:r>
              <a:rPr lang="en-US" altLang="zh-CN" b="1" dirty="0"/>
              <a:t>ID</a:t>
            </a:r>
            <a:r>
              <a:rPr lang="zh-CN" altLang="en-US" b="1" dirty="0"/>
              <a:t>变量</a:t>
            </a:r>
          </a:p>
        </p:txBody>
      </p:sp>
      <p:sp>
        <p:nvSpPr>
          <p:cNvPr id="102" name="内容占位符 2"/>
          <p:cNvSpPr>
            <a:spLocks noGrp="1"/>
          </p:cNvSpPr>
          <p:nvPr>
            <p:ph idx="1"/>
          </p:nvPr>
        </p:nvSpPr>
        <p:spPr>
          <a:xfrm>
            <a:off x="299636" y="1979849"/>
            <a:ext cx="11652531" cy="1415526"/>
          </a:xfrm>
        </p:spPr>
        <p:txBody>
          <a:bodyPr>
            <a:normAutofit/>
          </a:bodyPr>
          <a:lstStyle/>
          <a:p>
            <a:pPr marL="0" indent="456971">
              <a:lnSpc>
                <a:spcPct val="135000"/>
              </a:lnSpc>
              <a:buClr>
                <a:schemeClr val="tx2">
                  <a:lumMod val="75000"/>
                </a:schemeClr>
              </a:buClr>
              <a:buNone/>
            </a:pPr>
            <a:r>
              <a:rPr lang="zh-CN" altLang="en-US" dirty="0"/>
              <a:t>在任务创建成功后，系统会返回一个任务</a:t>
            </a:r>
            <a:r>
              <a:rPr lang="en-US" altLang="zh-CN" dirty="0"/>
              <a:t>ID</a:t>
            </a:r>
            <a:r>
              <a:rPr lang="zh-CN" altLang="en-US" dirty="0"/>
              <a:t>给用户，用户可以通过任务</a:t>
            </a:r>
            <a:r>
              <a:rPr lang="en-US" altLang="zh-CN" dirty="0"/>
              <a:t>ID</a:t>
            </a:r>
            <a:r>
              <a:rPr lang="zh-CN" altLang="en-US" dirty="0"/>
              <a:t>对任务进行挂起、恢复、查询信息等操作，在此之前，用户需要定义一个任务</a:t>
            </a:r>
            <a:r>
              <a:rPr lang="en-US" altLang="zh-CN" dirty="0"/>
              <a:t>ID</a:t>
            </a:r>
            <a:r>
              <a:rPr lang="zh-CN" altLang="en-US" dirty="0"/>
              <a:t>变量，用来存储返回的任务</a:t>
            </a:r>
            <a:r>
              <a:rPr lang="en-US" altLang="zh-CN" dirty="0"/>
              <a:t>ID</a:t>
            </a:r>
            <a:r>
              <a:rPr lang="zh-CN" altLang="en-US" dirty="0"/>
              <a:t>。任务</a:t>
            </a:r>
            <a:r>
              <a:rPr lang="en-US" altLang="zh-CN" dirty="0"/>
              <a:t>ID</a:t>
            </a:r>
            <a:r>
              <a:rPr lang="zh-CN" altLang="en-US" dirty="0"/>
              <a:t>变量定义如代码清单</a:t>
            </a:r>
            <a:r>
              <a:rPr lang="en-US" altLang="zh-CN" dirty="0"/>
              <a:t>3~5</a:t>
            </a:r>
            <a:r>
              <a:rPr lang="zh-CN" altLang="en-US" dirty="0"/>
              <a:t>所示。</a:t>
            </a:r>
          </a:p>
        </p:txBody>
      </p:sp>
      <p:sp>
        <p:nvSpPr>
          <p:cNvPr id="17" name="矩形 16"/>
          <p:cNvSpPr/>
          <p:nvPr/>
        </p:nvSpPr>
        <p:spPr>
          <a:xfrm>
            <a:off x="273445" y="4168642"/>
            <a:ext cx="11652531" cy="15232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矩形 19"/>
          <p:cNvSpPr/>
          <p:nvPr/>
        </p:nvSpPr>
        <p:spPr>
          <a:xfrm>
            <a:off x="299636" y="5942292"/>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309335" y="4397123"/>
            <a:ext cx="5866536" cy="1433276"/>
          </a:xfrm>
        </p:spPr>
        <p:txBody>
          <a:bodyPr>
            <a:noAutofit/>
          </a:bodyPr>
          <a:lstStyle/>
          <a:p>
            <a:pPr marL="0" indent="456971">
              <a:lnSpc>
                <a:spcPct val="135000"/>
              </a:lnSpc>
              <a:buClr>
                <a:schemeClr val="tx2">
                  <a:lumMod val="75000"/>
                </a:schemeClr>
              </a:buClr>
              <a:buNone/>
            </a:pPr>
            <a:r>
              <a:rPr lang="zh-CN" altLang="en-US" dirty="0"/>
              <a:t> </a:t>
            </a:r>
            <a:r>
              <a:rPr lang="en-US" altLang="zh-CN" dirty="0"/>
              <a:t>1 /* </a:t>
            </a:r>
            <a:r>
              <a:rPr lang="zh-CN" altLang="en-US" dirty="0"/>
              <a:t>定义任务</a:t>
            </a:r>
            <a:r>
              <a:rPr lang="en-US" altLang="zh-CN" dirty="0"/>
              <a:t>ID</a:t>
            </a:r>
            <a:r>
              <a:rPr lang="zh-CN" altLang="en-US" dirty="0"/>
              <a:t>变量 *</a:t>
            </a:r>
            <a:r>
              <a:rPr lang="en-US" altLang="zh-CN" dirty="0"/>
              <a:t>/</a:t>
            </a:r>
          </a:p>
          <a:p>
            <a:pPr marL="0" indent="456971">
              <a:lnSpc>
                <a:spcPct val="135000"/>
              </a:lnSpc>
              <a:buClr>
                <a:schemeClr val="tx2">
                  <a:lumMod val="75000"/>
                </a:schemeClr>
              </a:buClr>
              <a:buNone/>
            </a:pPr>
            <a:r>
              <a:rPr lang="en-US" altLang="zh-CN" dirty="0"/>
              <a:t> 2 UINT32 Test1_Task_Handle;</a:t>
            </a:r>
          </a:p>
        </p:txBody>
      </p:sp>
      <p:sp>
        <p:nvSpPr>
          <p:cNvPr id="13" name="内容占位符 2"/>
          <p:cNvSpPr>
            <a:spLocks noGrp="1"/>
          </p:cNvSpPr>
          <p:nvPr>
            <p:ph idx="1"/>
          </p:nvPr>
        </p:nvSpPr>
        <p:spPr>
          <a:xfrm>
            <a:off x="3735030" y="3655085"/>
            <a:ext cx="4264980" cy="500405"/>
          </a:xfrm>
        </p:spPr>
        <p:txBody>
          <a:bodyPr>
            <a:normAutofit/>
          </a:bodyPr>
          <a:lstStyle/>
          <a:p>
            <a:pPr marL="0" indent="456971">
              <a:lnSpc>
                <a:spcPct val="135000"/>
              </a:lnSpc>
              <a:buClr>
                <a:schemeClr val="tx2">
                  <a:lumMod val="75000"/>
                </a:schemeClr>
              </a:buClr>
              <a:buNone/>
            </a:pPr>
            <a:r>
              <a:rPr lang="zh-CN" altLang="en-US" b="1" dirty="0"/>
              <a:t>代码清单</a:t>
            </a:r>
            <a:r>
              <a:rPr lang="en-US" altLang="zh-CN" b="1" dirty="0"/>
              <a:t>3~5  </a:t>
            </a:r>
            <a:r>
              <a:rPr lang="zh-CN" altLang="en-US" b="1" dirty="0"/>
              <a:t>定义任务</a:t>
            </a:r>
            <a:r>
              <a:rPr lang="en-US" altLang="zh-CN" b="1" dirty="0"/>
              <a:t>ID</a:t>
            </a:r>
            <a:r>
              <a:rPr lang="zh-CN" altLang="en-US" b="1" dirty="0"/>
              <a:t>变量</a:t>
            </a:r>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518764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151993"/>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726695"/>
            <a:ext cx="11500210" cy="533122"/>
          </a:xfrm>
        </p:spPr>
        <p:txBody>
          <a:bodyPr>
            <a:normAutofit/>
          </a:bodyPr>
          <a:lstStyle/>
          <a:p>
            <a:pPr marL="0" indent="456971">
              <a:lnSpc>
                <a:spcPct val="135000"/>
              </a:lnSpc>
              <a:buClr>
                <a:schemeClr val="tx2">
                  <a:lumMod val="75000"/>
                </a:schemeClr>
              </a:buClr>
              <a:buNone/>
            </a:pPr>
            <a:r>
              <a:rPr lang="zh-CN" altLang="en-US" b="1" dirty="0"/>
              <a:t>任务控制块</a:t>
            </a:r>
          </a:p>
        </p:txBody>
      </p:sp>
      <p:sp>
        <p:nvSpPr>
          <p:cNvPr id="102" name="内容占位符 2"/>
          <p:cNvSpPr>
            <a:spLocks noGrp="1"/>
          </p:cNvSpPr>
          <p:nvPr>
            <p:ph idx="1"/>
          </p:nvPr>
        </p:nvSpPr>
        <p:spPr>
          <a:xfrm>
            <a:off x="299637" y="1351137"/>
            <a:ext cx="11584549" cy="990084"/>
          </a:xfrm>
        </p:spPr>
        <p:txBody>
          <a:bodyPr>
            <a:noAutofit/>
          </a:bodyPr>
          <a:lstStyle/>
          <a:p>
            <a:pPr marL="0" indent="456971">
              <a:lnSpc>
                <a:spcPct val="130000"/>
              </a:lnSpc>
              <a:buClr>
                <a:schemeClr val="tx2">
                  <a:lumMod val="75000"/>
                </a:schemeClr>
              </a:buClr>
              <a:buNone/>
            </a:pPr>
            <a:r>
              <a:rPr lang="zh-CN" altLang="en-US" sz="1599" dirty="0"/>
              <a:t>每一个任务都含有一个任务控制块（</a:t>
            </a:r>
            <a:r>
              <a:rPr lang="en-US" altLang="zh-CN" sz="1599" dirty="0"/>
              <a:t>Task Control Block</a:t>
            </a:r>
            <a:r>
              <a:rPr lang="zh-CN" altLang="en-US" sz="1599" dirty="0"/>
              <a:t>，</a:t>
            </a:r>
            <a:r>
              <a:rPr lang="en-US" altLang="zh-CN" sz="1599" dirty="0"/>
              <a:t>TCB</a:t>
            </a:r>
            <a:r>
              <a:rPr lang="zh-CN" altLang="en-US" sz="1599" dirty="0"/>
              <a:t>）。</a:t>
            </a:r>
            <a:r>
              <a:rPr lang="en-US" altLang="zh-CN" sz="1599" dirty="0"/>
              <a:t>TCB</a:t>
            </a:r>
            <a:r>
              <a:rPr lang="zh-CN" altLang="en-US" sz="1599" dirty="0"/>
              <a:t>包含了任务栈指针（</a:t>
            </a:r>
            <a:r>
              <a:rPr lang="en-US" altLang="zh-CN" sz="1599" dirty="0"/>
              <a:t>Stack Pointer</a:t>
            </a:r>
            <a:r>
              <a:rPr lang="zh-CN" altLang="en-US" sz="1599" dirty="0"/>
              <a:t>）、任务状态、任务优先级、任务</a:t>
            </a:r>
            <a:r>
              <a:rPr lang="en-US" altLang="zh-CN" sz="1599" dirty="0"/>
              <a:t>ID</a:t>
            </a:r>
            <a:r>
              <a:rPr lang="zh-CN" altLang="en-US" sz="1599" dirty="0"/>
              <a:t>、任务名及任务栈大小等信息，还可以反映出每个任务的运行情况。任务控制块的内容如代码清单</a:t>
            </a:r>
            <a:r>
              <a:rPr lang="en-US" altLang="zh-CN" sz="1599" dirty="0"/>
              <a:t>3~6</a:t>
            </a:r>
            <a:r>
              <a:rPr lang="zh-CN" altLang="en-US" sz="1599" dirty="0"/>
              <a:t>所示，相关概念说明如下。</a:t>
            </a:r>
          </a:p>
        </p:txBody>
      </p:sp>
      <p:sp>
        <p:nvSpPr>
          <p:cNvPr id="17" name="矩形 16"/>
          <p:cNvSpPr/>
          <p:nvPr/>
        </p:nvSpPr>
        <p:spPr>
          <a:xfrm>
            <a:off x="0" y="2665441"/>
            <a:ext cx="12192000" cy="40392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19353" y="2615303"/>
            <a:ext cx="6039193" cy="3430867"/>
          </a:xfrm>
        </p:spPr>
        <p:txBody>
          <a:bodyPr>
            <a:noAutofit/>
          </a:bodyPr>
          <a:lstStyle/>
          <a:p>
            <a:pPr marL="0" indent="456971">
              <a:lnSpc>
                <a:spcPct val="110000"/>
              </a:lnSpc>
              <a:spcBef>
                <a:spcPts val="0"/>
              </a:spcBef>
              <a:buClr>
                <a:schemeClr val="tx2">
                  <a:lumMod val="75000"/>
                </a:schemeClr>
              </a:buClr>
              <a:buNone/>
            </a:pPr>
            <a:r>
              <a:rPr lang="en-US" altLang="zh-CN" sz="1400" b="1" dirty="0"/>
              <a:t>typedef </a:t>
            </a:r>
            <a:r>
              <a:rPr lang="en-US" altLang="zh-CN" sz="1400" b="1" dirty="0" err="1"/>
              <a:t>struct</a:t>
            </a:r>
            <a:r>
              <a:rPr lang="en-US" altLang="zh-CN" sz="1400" b="1" dirty="0"/>
              <a:t> </a:t>
            </a:r>
            <a:r>
              <a:rPr lang="en-US" altLang="zh-CN" sz="1400" b="1" dirty="0" err="1"/>
              <a:t>tagTaskCB</a:t>
            </a:r>
            <a:r>
              <a:rPr lang="en-US" altLang="zh-CN" sz="1400" b="1" dirty="0"/>
              <a:t> {</a:t>
            </a:r>
          </a:p>
          <a:p>
            <a:pPr marL="0" indent="456971">
              <a:lnSpc>
                <a:spcPct val="110000"/>
              </a:lnSpc>
              <a:buClr>
                <a:schemeClr val="tx2">
                  <a:lumMod val="75000"/>
                </a:schemeClr>
              </a:buClr>
              <a:buNone/>
            </a:pPr>
            <a:r>
              <a:rPr lang="en-US" altLang="zh-CN" sz="1400" b="1" dirty="0"/>
              <a:t>VOID               *</a:t>
            </a:r>
            <a:r>
              <a:rPr lang="en-US" altLang="zh-CN" sz="1400" b="1" dirty="0" err="1"/>
              <a:t>pStackPointer</a:t>
            </a:r>
            <a:r>
              <a:rPr lang="en-US" altLang="zh-CN" sz="1400" b="1" dirty="0"/>
              <a:t>; 	/**&lt;</a:t>
            </a:r>
            <a:r>
              <a:rPr lang="zh-CN" altLang="en-US" sz="1400" b="1" dirty="0"/>
              <a:t>任务栈指针    *</a:t>
            </a:r>
            <a:r>
              <a:rPr lang="en-US" altLang="zh-CN" sz="1400" b="1" dirty="0"/>
              <a:t>/</a:t>
            </a:r>
          </a:p>
          <a:p>
            <a:pPr marL="0" indent="456971">
              <a:lnSpc>
                <a:spcPct val="110000"/>
              </a:lnSpc>
              <a:buClr>
                <a:schemeClr val="tx2">
                  <a:lumMod val="75000"/>
                </a:schemeClr>
              </a:buClr>
              <a:buNone/>
            </a:pPr>
            <a:r>
              <a:rPr lang="en-US" altLang="zh-CN" sz="1400" b="1" dirty="0"/>
              <a:t>UINT16             </a:t>
            </a:r>
            <a:r>
              <a:rPr lang="en-US" altLang="zh-CN" sz="1400" b="1" dirty="0" err="1"/>
              <a:t>usTaskStatus</a:t>
            </a:r>
            <a:r>
              <a:rPr lang="en-US" altLang="zh-CN" sz="1400" b="1" dirty="0"/>
              <a:t>;	/**&lt;</a:t>
            </a:r>
            <a:r>
              <a:rPr lang="zh-CN" altLang="en-US" sz="1400" b="1" dirty="0"/>
              <a:t>任务状态       *</a:t>
            </a:r>
            <a:r>
              <a:rPr lang="en-US" altLang="zh-CN" sz="1400" b="1" dirty="0"/>
              <a:t>/</a:t>
            </a:r>
          </a:p>
          <a:p>
            <a:pPr marL="0" indent="456971">
              <a:lnSpc>
                <a:spcPct val="110000"/>
              </a:lnSpc>
              <a:buClr>
                <a:schemeClr val="tx2">
                  <a:lumMod val="75000"/>
                </a:schemeClr>
              </a:buClr>
              <a:buNone/>
            </a:pPr>
            <a:r>
              <a:rPr lang="en-US" altLang="zh-CN" sz="1400" b="1" dirty="0"/>
              <a:t>UINT16             </a:t>
            </a:r>
            <a:r>
              <a:rPr lang="en-US" altLang="zh-CN" sz="1400" b="1" dirty="0" err="1"/>
              <a:t>usPriority</a:t>
            </a:r>
            <a:r>
              <a:rPr lang="en-US" altLang="zh-CN" sz="1400" b="1" dirty="0"/>
              <a:t>;		/**&lt;</a:t>
            </a:r>
            <a:r>
              <a:rPr lang="zh-CN" altLang="en-US" sz="1400" b="1" dirty="0"/>
              <a:t>任务优先级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uwStackSize</a:t>
            </a:r>
            <a:r>
              <a:rPr lang="en-US" altLang="zh-CN" sz="1400" b="1" dirty="0"/>
              <a:t>;    	/**&lt;</a:t>
            </a:r>
            <a:r>
              <a:rPr lang="zh-CN" altLang="en-US" sz="1400" b="1" dirty="0"/>
              <a:t>任务栈大小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uwTopOfStack</a:t>
            </a:r>
            <a:r>
              <a:rPr lang="en-US" altLang="zh-CN" sz="1400" b="1" dirty="0"/>
              <a:t>;   	/**&lt;</a:t>
            </a:r>
            <a:r>
              <a:rPr lang="zh-CN" altLang="en-US" sz="1400" b="1" dirty="0"/>
              <a:t>任务栈顶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uwTaskID</a:t>
            </a:r>
            <a:r>
              <a:rPr lang="en-US" altLang="zh-CN" sz="1400" b="1" dirty="0"/>
              <a:t>;       	/**&lt;</a:t>
            </a:r>
            <a:r>
              <a:rPr lang="zh-CN" altLang="en-US" sz="1400" b="1" dirty="0"/>
              <a:t>任务</a:t>
            </a:r>
            <a:r>
              <a:rPr lang="en-US" altLang="zh-CN" sz="1400" b="1" dirty="0"/>
              <a:t>ID         */</a:t>
            </a:r>
          </a:p>
          <a:p>
            <a:pPr marL="0" indent="456971">
              <a:lnSpc>
                <a:spcPct val="110000"/>
              </a:lnSpc>
              <a:buClr>
                <a:schemeClr val="tx2">
                  <a:lumMod val="75000"/>
                </a:schemeClr>
              </a:buClr>
              <a:buNone/>
            </a:pPr>
            <a:r>
              <a:rPr lang="en-US" altLang="zh-CN" sz="1400" b="1" dirty="0"/>
              <a:t>TSK_ENTRY_FUNC   </a:t>
            </a:r>
            <a:r>
              <a:rPr lang="en-US" altLang="zh-CN" sz="1400" b="1" dirty="0" err="1"/>
              <a:t>pfnTaskEntry</a:t>
            </a:r>
            <a:r>
              <a:rPr lang="en-US" altLang="zh-CN" sz="1400" b="1" dirty="0"/>
              <a:t>;   	/**&lt;</a:t>
            </a:r>
            <a:r>
              <a:rPr lang="zh-CN" altLang="en-US" sz="1400" b="1" dirty="0"/>
              <a:t>任务入口函数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pTaskSem</a:t>
            </a:r>
            <a:r>
              <a:rPr lang="en-US" altLang="zh-CN" sz="1400" b="1" dirty="0"/>
              <a:t>;      /**&lt;</a:t>
            </a:r>
            <a:r>
              <a:rPr lang="zh-CN" altLang="en-US" sz="1400" b="1" dirty="0"/>
              <a:t>任务阻塞在哪个信号量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pTaskMux</a:t>
            </a:r>
            <a:r>
              <a:rPr lang="en-US" altLang="zh-CN" sz="1400" b="1" dirty="0"/>
              <a:t>;     /**&lt;</a:t>
            </a:r>
            <a:r>
              <a:rPr lang="zh-CN" altLang="en-US" sz="1400" b="1" dirty="0"/>
              <a:t>任务阻塞在哪个互斥锁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uwArg</a:t>
            </a:r>
            <a:r>
              <a:rPr lang="en-US" altLang="zh-CN" sz="1400" b="1" dirty="0"/>
              <a:t>;          	/**&lt;</a:t>
            </a:r>
            <a:r>
              <a:rPr lang="zh-CN" altLang="en-US" sz="1400" b="1" dirty="0"/>
              <a:t>参数            *</a:t>
            </a:r>
            <a:r>
              <a:rPr lang="en-US" altLang="zh-CN" sz="1400" b="1" dirty="0"/>
              <a:t>/</a:t>
            </a:r>
          </a:p>
          <a:p>
            <a:pPr marL="0" indent="456971">
              <a:lnSpc>
                <a:spcPct val="110000"/>
              </a:lnSpc>
              <a:buClr>
                <a:schemeClr val="tx2">
                  <a:lumMod val="75000"/>
                </a:schemeClr>
              </a:buClr>
              <a:buNone/>
            </a:pPr>
            <a:r>
              <a:rPr lang="en-US" altLang="zh-CN" sz="1400" b="1" dirty="0"/>
              <a:t>CHAR               *</a:t>
            </a:r>
            <a:r>
              <a:rPr lang="en-US" altLang="zh-CN" sz="1400" b="1" dirty="0" err="1"/>
              <a:t>pcTaskName</a:t>
            </a:r>
            <a:r>
              <a:rPr lang="en-US" altLang="zh-CN" sz="1400" b="1" dirty="0"/>
              <a:t>;    	/**&lt;</a:t>
            </a:r>
            <a:r>
              <a:rPr lang="zh-CN" altLang="en-US" sz="1400" b="1" dirty="0"/>
              <a:t>任务名称         *</a:t>
            </a:r>
            <a:r>
              <a:rPr lang="en-US" altLang="zh-CN" sz="1400" b="1" dirty="0"/>
              <a:t>/</a:t>
            </a:r>
          </a:p>
        </p:txBody>
      </p:sp>
      <p:sp>
        <p:nvSpPr>
          <p:cNvPr id="13" name="内容占位符 2"/>
          <p:cNvSpPr>
            <a:spLocks noGrp="1"/>
          </p:cNvSpPr>
          <p:nvPr>
            <p:ph idx="1"/>
          </p:nvPr>
        </p:nvSpPr>
        <p:spPr>
          <a:xfrm>
            <a:off x="2785685" y="2161650"/>
            <a:ext cx="6092827" cy="503791"/>
          </a:xfrm>
        </p:spPr>
        <p:txBody>
          <a:bodyPr>
            <a:normAutofit/>
          </a:bodyPr>
          <a:lstStyle/>
          <a:p>
            <a:pPr marL="0" indent="456971">
              <a:lnSpc>
                <a:spcPct val="135000"/>
              </a:lnSpc>
              <a:buClr>
                <a:schemeClr val="tx2">
                  <a:lumMod val="75000"/>
                </a:schemeClr>
              </a:buClr>
              <a:buNone/>
            </a:pPr>
            <a:r>
              <a:rPr lang="zh-CN" altLang="en-US" b="1" dirty="0"/>
              <a:t>代码清单</a:t>
            </a:r>
            <a:r>
              <a:rPr lang="en-US" altLang="zh-CN" b="1" dirty="0"/>
              <a:t>3~6  </a:t>
            </a:r>
            <a:r>
              <a:rPr lang="zh-CN" altLang="en-US" b="1" dirty="0"/>
              <a:t>任务控制块（</a:t>
            </a:r>
            <a:r>
              <a:rPr lang="en-US" altLang="zh-CN" b="1" dirty="0"/>
              <a:t>los_tack.ph</a:t>
            </a:r>
            <a:r>
              <a:rPr lang="zh-CN" altLang="en-US" b="1" dirty="0"/>
              <a:t>）内容</a:t>
            </a:r>
          </a:p>
        </p:txBody>
      </p:sp>
      <p:sp>
        <p:nvSpPr>
          <p:cNvPr id="10" name="内容占位符 2"/>
          <p:cNvSpPr>
            <a:spLocks noGrp="1"/>
          </p:cNvSpPr>
          <p:nvPr>
            <p:ph idx="1"/>
          </p:nvPr>
        </p:nvSpPr>
        <p:spPr>
          <a:xfrm>
            <a:off x="6324481" y="2746328"/>
            <a:ext cx="5886872" cy="2439189"/>
          </a:xfrm>
        </p:spPr>
        <p:txBody>
          <a:bodyPr>
            <a:noAutofit/>
          </a:bodyPr>
          <a:lstStyle/>
          <a:p>
            <a:pPr marL="0" indent="456971">
              <a:lnSpc>
                <a:spcPct val="110000"/>
              </a:lnSpc>
              <a:buClr>
                <a:schemeClr val="tx2">
                  <a:lumMod val="75000"/>
                </a:schemeClr>
              </a:buClr>
              <a:buNone/>
            </a:pPr>
            <a:r>
              <a:rPr lang="en-US" altLang="zh-CN" sz="1400" b="1" dirty="0"/>
              <a:t>LOS_DL_LIST       </a:t>
            </a:r>
            <a:r>
              <a:rPr lang="en-US" altLang="zh-CN" sz="1400" b="1" dirty="0" err="1"/>
              <a:t>stPendList</a:t>
            </a:r>
            <a:r>
              <a:rPr lang="en-US" altLang="zh-CN" sz="1400" b="1" dirty="0"/>
              <a:t>;	/**&lt;</a:t>
            </a:r>
            <a:r>
              <a:rPr lang="zh-CN" altLang="en-US" sz="1400" b="1" dirty="0"/>
              <a:t>挂起列表         *</a:t>
            </a:r>
            <a:r>
              <a:rPr lang="en-US" altLang="zh-CN" sz="1400" b="1" dirty="0"/>
              <a:t>/</a:t>
            </a:r>
          </a:p>
          <a:p>
            <a:pPr marL="0" indent="456971">
              <a:lnSpc>
                <a:spcPct val="110000"/>
              </a:lnSpc>
              <a:buClr>
                <a:schemeClr val="tx2">
                  <a:lumMod val="75000"/>
                </a:schemeClr>
              </a:buClr>
              <a:buNone/>
            </a:pPr>
            <a:r>
              <a:rPr lang="en-US" altLang="zh-CN" sz="1400" b="1" dirty="0"/>
              <a:t>LOS_DL_LIST       </a:t>
            </a:r>
            <a:r>
              <a:rPr lang="en-US" altLang="zh-CN" sz="1400" b="1" dirty="0" err="1"/>
              <a:t>stTimerList</a:t>
            </a:r>
            <a:r>
              <a:rPr lang="en-US" altLang="zh-CN" sz="1400" b="1" dirty="0"/>
              <a:t>;    	/**&lt;</a:t>
            </a:r>
            <a:r>
              <a:rPr lang="zh-CN" altLang="en-US" sz="1400" b="1" dirty="0"/>
              <a:t>时间相关列表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uwIdxRollNum</a:t>
            </a:r>
            <a:r>
              <a:rPr lang="en-US" altLang="zh-CN" sz="1400" b="1" dirty="0"/>
              <a:t>;</a:t>
            </a:r>
          </a:p>
          <a:p>
            <a:pPr marL="0" indent="456971">
              <a:lnSpc>
                <a:spcPct val="110000"/>
              </a:lnSpc>
              <a:buClr>
                <a:schemeClr val="tx2">
                  <a:lumMod val="75000"/>
                </a:schemeClr>
              </a:buClr>
              <a:buNone/>
            </a:pPr>
            <a:r>
              <a:rPr lang="en-US" altLang="zh-CN" sz="1400" b="1" dirty="0"/>
              <a:t>EVENT_CB_S        </a:t>
            </a:r>
            <a:r>
              <a:rPr lang="en-US" altLang="zh-CN" sz="1400" b="1" dirty="0" err="1"/>
              <a:t>uwEvent</a:t>
            </a:r>
            <a:r>
              <a:rPr lang="en-US" altLang="zh-CN" sz="1400" b="1" dirty="0"/>
              <a:t>;	/**&lt;</a:t>
            </a:r>
            <a:r>
              <a:rPr lang="zh-CN" altLang="en-US" sz="1400" b="1" dirty="0"/>
              <a:t>事件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uwEventMask</a:t>
            </a:r>
            <a:r>
              <a:rPr lang="en-US" altLang="zh-CN" sz="1400" b="1" dirty="0"/>
              <a:t>;    	/**&lt;</a:t>
            </a:r>
            <a:r>
              <a:rPr lang="zh-CN" altLang="en-US" sz="1400" b="1" dirty="0"/>
              <a:t>事件掩码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uwEventMode</a:t>
            </a:r>
            <a:r>
              <a:rPr lang="en-US" altLang="zh-CN" sz="1400" b="1" dirty="0"/>
              <a:t>;    	/**&lt;</a:t>
            </a:r>
            <a:r>
              <a:rPr lang="zh-CN" altLang="en-US" sz="1400" b="1" dirty="0"/>
              <a:t>事件模式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puwMsg</a:t>
            </a:r>
            <a:r>
              <a:rPr lang="en-US" altLang="zh-CN" sz="1400" b="1" dirty="0"/>
              <a:t>;        	/**&lt;</a:t>
            </a:r>
            <a:r>
              <a:rPr lang="zh-CN" altLang="en-US" sz="1400" b="1" dirty="0"/>
              <a:t>内存分配给队列    *</a:t>
            </a:r>
            <a:r>
              <a:rPr lang="en-US" altLang="zh-CN" sz="1400" b="1" dirty="0"/>
              <a:t>/</a:t>
            </a:r>
          </a:p>
          <a:p>
            <a:pPr marL="0" indent="456971">
              <a:lnSpc>
                <a:spcPct val="110000"/>
              </a:lnSpc>
              <a:buClr>
                <a:schemeClr val="tx2">
                  <a:lumMod val="75000"/>
                </a:schemeClr>
              </a:buClr>
              <a:buNone/>
            </a:pPr>
            <a:r>
              <a:rPr lang="en-US" altLang="zh-CN" sz="1400" b="1" dirty="0"/>
              <a:t>} LOS_TASK_CB;</a:t>
            </a:r>
          </a:p>
        </p:txBody>
      </p:sp>
      <p:cxnSp>
        <p:nvCxnSpPr>
          <p:cNvPr id="5" name="直接连接符 4"/>
          <p:cNvCxnSpPr>
            <a:endCxn id="17" idx="2"/>
          </p:cNvCxnSpPr>
          <p:nvPr/>
        </p:nvCxnSpPr>
        <p:spPr>
          <a:xfrm>
            <a:off x="6096000" y="3352840"/>
            <a:ext cx="0" cy="3351847"/>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677118" y="6387790"/>
            <a:ext cx="837764" cy="25220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00795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创建具体任务</a:t>
            </a:r>
          </a:p>
        </p:txBody>
      </p:sp>
      <p:sp>
        <p:nvSpPr>
          <p:cNvPr id="170" name="内容占位符 2"/>
          <p:cNvSpPr>
            <a:spLocks noGrp="1"/>
          </p:cNvSpPr>
          <p:nvPr>
            <p:ph idx="1"/>
          </p:nvPr>
        </p:nvSpPr>
        <p:spPr>
          <a:xfrm>
            <a:off x="362120" y="2083593"/>
            <a:ext cx="3112600" cy="4188818"/>
          </a:xfrm>
        </p:spPr>
        <p:txBody>
          <a:bodyPr>
            <a:noAutofit/>
          </a:bodyPr>
          <a:lstStyle/>
          <a:p>
            <a:pPr marL="0" indent="456971">
              <a:lnSpc>
                <a:spcPct val="130000"/>
              </a:lnSpc>
              <a:buClr>
                <a:schemeClr val="tx2">
                  <a:lumMod val="75000"/>
                </a:schemeClr>
              </a:buClr>
              <a:buNone/>
            </a:pPr>
            <a:r>
              <a:rPr lang="zh-CN" altLang="en-US" sz="2399" dirty="0"/>
              <a:t>  创建具体任务的时候，可使用</a:t>
            </a:r>
            <a:r>
              <a:rPr lang="en-US" altLang="zh-CN" sz="2399" dirty="0" err="1"/>
              <a:t>LOS_TaskCreate</a:t>
            </a:r>
            <a:r>
              <a:rPr lang="zh-CN" altLang="en-US" sz="2399" dirty="0"/>
              <a:t>函数，每个任务的具体配置是需要用户定义的，不同的任务之间参数是不一样的，如代码清单</a:t>
            </a:r>
            <a:r>
              <a:rPr lang="en-US" altLang="zh-CN" sz="2399" dirty="0"/>
              <a:t>3~7</a:t>
            </a:r>
            <a:r>
              <a:rPr lang="zh-CN" altLang="en-US" sz="2399" dirty="0"/>
              <a:t>所示。</a:t>
            </a:r>
          </a:p>
        </p:txBody>
      </p:sp>
      <p:sp>
        <p:nvSpPr>
          <p:cNvPr id="182" name="矩形 181"/>
          <p:cNvSpPr/>
          <p:nvPr/>
        </p:nvSpPr>
        <p:spPr>
          <a:xfrm>
            <a:off x="3589102" y="1783125"/>
            <a:ext cx="8602898" cy="4628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6" name="内容占位符 2"/>
          <p:cNvSpPr>
            <a:spLocks noGrp="1"/>
          </p:cNvSpPr>
          <p:nvPr>
            <p:ph idx="1"/>
          </p:nvPr>
        </p:nvSpPr>
        <p:spPr>
          <a:xfrm>
            <a:off x="3589101" y="1863700"/>
            <a:ext cx="8324003" cy="4628604"/>
          </a:xfrm>
        </p:spPr>
        <p:txBody>
          <a:bodyPr>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static UINT32 Creat_Test1_Task() {</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定义一个创建任务的返回类型，默认为创建成功的返回值 </a:t>
            </a:r>
          </a:p>
          <a:p>
            <a:pPr marL="0" indent="456971">
              <a:lnSpc>
                <a:spcPct val="125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 /*</a:t>
            </a:r>
            <a:r>
              <a:rPr lang="zh-CN" altLang="en-US" sz="1400" b="1" dirty="0">
                <a:solidFill>
                  <a:schemeClr val="tx1"/>
                </a:solidFill>
              </a:rPr>
              <a:t>定义一个局部变量 *</a:t>
            </a:r>
            <a:r>
              <a:rPr lang="en-US" altLang="zh-CN" sz="1400" b="1" dirty="0">
                <a:solidFill>
                  <a:schemeClr val="tx1"/>
                </a:solidFill>
              </a:rPr>
              <a:t>/		  (1)</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a:t>
            </a:r>
            <a:r>
              <a:rPr lang="en-US" altLang="zh-CN" sz="1400" b="1" dirty="0">
                <a:solidFill>
                  <a:schemeClr val="tx1"/>
                </a:solidFill>
              </a:rPr>
              <a:t>/           (2)</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"Test1_Task";/* </a:t>
            </a:r>
            <a:r>
              <a:rPr lang="zh-CN" altLang="en-US" sz="1400" b="1" dirty="0">
                <a:solidFill>
                  <a:schemeClr val="tx1"/>
                </a:solidFill>
              </a:rPr>
              <a:t>任务名称 *</a:t>
            </a:r>
            <a:r>
              <a:rPr lang="en-US" altLang="zh-CN" sz="1400" b="1" dirty="0">
                <a:solidFill>
                  <a:schemeClr val="tx1"/>
                </a:solidFill>
              </a:rPr>
              <a:t>/		  (3)</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(TSK_ENTRY_FUNC)Test1_Task;		  (4)</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0x000;	/* </a:t>
            </a:r>
            <a:r>
              <a:rPr lang="zh-CN" altLang="en-US" sz="1400" b="1" dirty="0">
                <a:solidFill>
                  <a:schemeClr val="tx1"/>
                </a:solidFill>
              </a:rPr>
              <a:t>任务栈大小 *</a:t>
            </a:r>
            <a:r>
              <a:rPr lang="en-US" altLang="zh-CN" sz="1400" b="1" dirty="0">
                <a:solidFill>
                  <a:schemeClr val="tx1"/>
                </a:solidFill>
              </a:rPr>
              <a:t>/		  (5)</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 	 (6)</a:t>
            </a:r>
          </a:p>
          <a:p>
            <a:pPr marL="0" indent="456971">
              <a:lnSpc>
                <a:spcPct val="125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					  (7)</a:t>
            </a:r>
          </a:p>
          <a:p>
            <a:pPr marL="0" indent="456971">
              <a:lnSpc>
                <a:spcPct val="125000"/>
              </a:lnSpc>
              <a:spcBef>
                <a:spcPts val="0"/>
              </a:spcBef>
              <a:buClr>
                <a:schemeClr val="tx2">
                  <a:lumMod val="75000"/>
                </a:schemeClr>
              </a:buClr>
              <a:buNone/>
            </a:pPr>
            <a:r>
              <a:rPr lang="en-US" altLang="zh-CN" sz="1400" b="1" dirty="0">
                <a:solidFill>
                  <a:schemeClr val="tx1"/>
                </a:solidFill>
              </a:rPr>
              <a:t> }</a:t>
            </a: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881263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创建具体任务</a:t>
            </a:r>
          </a:p>
        </p:txBody>
      </p:sp>
      <p:sp>
        <p:nvSpPr>
          <p:cNvPr id="170" name="内容占位符 2"/>
          <p:cNvSpPr>
            <a:spLocks noGrp="1"/>
          </p:cNvSpPr>
          <p:nvPr>
            <p:ph idx="1"/>
          </p:nvPr>
        </p:nvSpPr>
        <p:spPr>
          <a:xfrm>
            <a:off x="269735" y="1830749"/>
            <a:ext cx="11652530" cy="3960337"/>
          </a:xfrm>
        </p:spPr>
        <p:txBody>
          <a:bodyPr>
            <a:noAutofit/>
          </a:bodyPr>
          <a:lstStyle/>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1</a:t>
            </a:r>
            <a:r>
              <a:rPr lang="zh-CN" altLang="en-US" sz="1599" b="1" dirty="0"/>
              <a:t>）：定义一个局部的任务参数结构体变量，用于配置任务的参数，如任务优先级、任务入口函数、任务名称、任务栈大小等。</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2</a:t>
            </a:r>
            <a:r>
              <a:rPr lang="zh-CN" altLang="en-US" sz="1599" b="1" dirty="0"/>
              <a:t>）：任务优先级范围由</a:t>
            </a:r>
            <a:r>
              <a:rPr lang="en-US" altLang="zh-CN" sz="1599" b="1" dirty="0" err="1"/>
              <a:t>target_config.h</a:t>
            </a:r>
            <a:r>
              <a:rPr lang="zh-CN" altLang="en-US" sz="1599" b="1" dirty="0"/>
              <a:t>中的宏决定，其中最高优先级为</a:t>
            </a:r>
            <a:r>
              <a:rPr lang="en-US" altLang="zh-CN" sz="1599" b="1" dirty="0"/>
              <a:t>LOS_TASK_ PRIORITY_HIGHEST</a:t>
            </a:r>
            <a:r>
              <a:rPr lang="zh-CN" altLang="en-US" sz="1599" b="1" dirty="0"/>
              <a:t>，最低优先级为</a:t>
            </a:r>
            <a:r>
              <a:rPr lang="en-US" altLang="zh-CN" sz="1599" b="1" dirty="0"/>
              <a:t>LOS_TASK_PRIORITY_LOWEST</a:t>
            </a:r>
            <a:r>
              <a:rPr lang="zh-CN" altLang="en-US" sz="1599" b="1" dirty="0"/>
              <a:t>。在</a:t>
            </a:r>
            <a:r>
              <a:rPr lang="en-US" altLang="zh-CN" sz="1599" b="1" dirty="0" err="1"/>
              <a:t>LiteOS</a:t>
            </a:r>
            <a:r>
              <a:rPr lang="zh-CN" altLang="en-US" sz="1599" b="1" dirty="0"/>
              <a:t>中，优先级数值越小，任务优先级越高，</a:t>
            </a:r>
            <a:r>
              <a:rPr lang="en-US" altLang="zh-CN" sz="1599" b="1" dirty="0"/>
              <a:t>0</a:t>
            </a:r>
            <a:r>
              <a:rPr lang="zh-CN" altLang="en-US" sz="1599" b="1" dirty="0"/>
              <a:t>代表最高优先级。</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3</a:t>
            </a:r>
            <a:r>
              <a:rPr lang="zh-CN" altLang="en-US" sz="1599" b="1" dirty="0"/>
              <a:t>）：任务名称为字符串形式。</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4</a:t>
            </a:r>
            <a:r>
              <a:rPr lang="zh-CN" altLang="en-US" sz="1599" b="1" dirty="0"/>
              <a:t>）：任务入口函数即任务的具体实现函数。</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5</a:t>
            </a:r>
            <a:r>
              <a:rPr lang="zh-CN" altLang="en-US" sz="1599" b="1" dirty="0"/>
              <a:t>）：任务栈大小单位为字节。</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6</a:t>
            </a:r>
            <a:r>
              <a:rPr lang="zh-CN" altLang="en-US" sz="1599" b="1" dirty="0"/>
              <a:t>）：使用</a:t>
            </a:r>
            <a:r>
              <a:rPr lang="en-US" altLang="zh-CN" sz="1599" b="1" dirty="0" err="1"/>
              <a:t>LOS_TaskCreate</a:t>
            </a:r>
            <a:r>
              <a:rPr lang="zh-CN" altLang="en-US" sz="1599" b="1" dirty="0"/>
              <a:t>函数创建一个任务需要传递用户定义的任务</a:t>
            </a:r>
            <a:r>
              <a:rPr lang="en-US" altLang="zh-CN" sz="1599" b="1" dirty="0"/>
              <a:t>ID</a:t>
            </a:r>
            <a:r>
              <a:rPr lang="zh-CN" altLang="en-US" sz="1599" b="1" dirty="0"/>
              <a:t>变量</a:t>
            </a:r>
            <a:r>
              <a:rPr lang="en-US" altLang="zh-CN" sz="1599" b="1" dirty="0"/>
              <a:t>Test1_Task_Handle</a:t>
            </a:r>
            <a:r>
              <a:rPr lang="zh-CN" altLang="en-US" sz="1599" b="1" dirty="0"/>
              <a:t>的地址，在创建任务完成后，系统将返回一个任务</a:t>
            </a:r>
            <a:r>
              <a:rPr lang="en-US" altLang="zh-CN" sz="1599" b="1" dirty="0"/>
              <a:t>ID</a:t>
            </a:r>
            <a:r>
              <a:rPr lang="zh-CN" altLang="en-US" sz="1599" b="1" dirty="0"/>
              <a:t>，任务参数结构体</a:t>
            </a:r>
            <a:r>
              <a:rPr lang="en-US" altLang="zh-CN" sz="1599" b="1" dirty="0" err="1"/>
              <a:t>task_init_param</a:t>
            </a:r>
            <a:r>
              <a:rPr lang="zh-CN" altLang="en-US" sz="1599" b="1" dirty="0"/>
              <a:t>配置的参数作为创建任务所需的参数使用。</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7</a:t>
            </a:r>
            <a:r>
              <a:rPr lang="zh-CN" altLang="en-US" sz="1599" b="1" dirty="0"/>
              <a:t>）：返回任务创建的结果，如果是</a:t>
            </a:r>
            <a:r>
              <a:rPr lang="en-US" altLang="zh-CN" sz="1599" b="1" dirty="0"/>
              <a:t>LOS_OK</a:t>
            </a:r>
            <a:r>
              <a:rPr lang="zh-CN" altLang="en-US" sz="1599" b="1" dirty="0"/>
              <a:t>，则表示任务创建成功，否则表示任务创建失败，并且返回错误代码。</a:t>
            </a:r>
          </a:p>
        </p:txBody>
      </p:sp>
      <p:sp>
        <p:nvSpPr>
          <p:cNvPr id="9" name="矩形 8"/>
          <p:cNvSpPr/>
          <p:nvPr/>
        </p:nvSpPr>
        <p:spPr>
          <a:xfrm>
            <a:off x="231654" y="6243172"/>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 name="矩形 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3.2</a:t>
            </a:r>
            <a:r>
              <a:rPr lang="zh-CN" altLang="en-US" sz="2800" b="1" dirty="0">
                <a:cs typeface="+mn-ea"/>
                <a:sym typeface="+mn-lt"/>
              </a:rPr>
              <a:t>创建单任务</a:t>
            </a:r>
            <a:endParaRPr lang="zh-CN" altLang="en-US" sz="2800" b="1" dirty="0">
              <a:solidFill>
                <a:schemeClr val="bg1"/>
              </a:solidFill>
              <a:cs typeface="+mn-ea"/>
              <a:sym typeface="+mn-lt"/>
            </a:endParaRPr>
          </a:p>
        </p:txBody>
      </p:sp>
      <p:sp>
        <p:nvSpPr>
          <p:cNvPr id="1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865854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内容占位符 2"/>
          <p:cNvSpPr>
            <a:spLocks noGrp="1"/>
          </p:cNvSpPr>
          <p:nvPr>
            <p:ph idx="1"/>
          </p:nvPr>
        </p:nvSpPr>
        <p:spPr>
          <a:xfrm>
            <a:off x="383975" y="900430"/>
            <a:ext cx="11652530" cy="761603"/>
          </a:xfrm>
        </p:spPr>
        <p:txBody>
          <a:bodyPr>
            <a:noAutofit/>
          </a:bodyPr>
          <a:lstStyle/>
          <a:p>
            <a:pPr marL="0" indent="456971">
              <a:lnSpc>
                <a:spcPct val="130000"/>
              </a:lnSpc>
              <a:buClr>
                <a:schemeClr val="tx2">
                  <a:lumMod val="75000"/>
                </a:schemeClr>
              </a:buClr>
              <a:buNone/>
            </a:pPr>
            <a:r>
              <a:rPr lang="zh-CN" altLang="en-US" sz="1599" dirty="0"/>
              <a:t>把任务主体、任务</a:t>
            </a:r>
            <a:r>
              <a:rPr lang="en-US" altLang="zh-CN" sz="1599" dirty="0"/>
              <a:t>ID</a:t>
            </a:r>
            <a:r>
              <a:rPr lang="zh-CN" altLang="en-US" sz="1599" dirty="0"/>
              <a:t>变量、任务控制块这三部分的代码统一放到</a:t>
            </a:r>
            <a:r>
              <a:rPr lang="en-US" altLang="zh-CN" sz="1599" dirty="0" err="1"/>
              <a:t>main.c</a:t>
            </a:r>
            <a:r>
              <a:rPr lang="zh-CN" altLang="en-US" sz="1599" dirty="0"/>
              <a:t>中，就能组成一个系统可以运行的任务，并且可以使用串口输出调试信息以便观察，如代码清单</a:t>
            </a:r>
            <a:r>
              <a:rPr lang="en-US" altLang="zh-CN" sz="1599" dirty="0"/>
              <a:t>3~8</a:t>
            </a:r>
            <a:r>
              <a:rPr lang="zh-CN" altLang="en-US" sz="1599" dirty="0"/>
              <a:t>所示。</a:t>
            </a:r>
          </a:p>
        </p:txBody>
      </p:sp>
      <p:sp>
        <p:nvSpPr>
          <p:cNvPr id="11" name="内容占位符 2"/>
          <p:cNvSpPr>
            <a:spLocks noGrp="1"/>
          </p:cNvSpPr>
          <p:nvPr>
            <p:ph idx="1"/>
          </p:nvPr>
        </p:nvSpPr>
        <p:spPr>
          <a:xfrm>
            <a:off x="155498" y="1860185"/>
            <a:ext cx="5102742" cy="4628604"/>
          </a:xfrm>
        </p:spPr>
        <p:txBody>
          <a:bodyPr>
            <a:noAutofit/>
          </a:bodyPr>
          <a:lstStyle/>
          <a:p>
            <a:pPr marL="0" indent="456971">
              <a:lnSpc>
                <a:spcPct val="125000"/>
              </a:lnSpc>
              <a:spcBef>
                <a:spcPts val="0"/>
              </a:spcBef>
              <a:buClr>
                <a:schemeClr val="tx2">
                  <a:lumMod val="75000"/>
                </a:schemeClr>
              </a:buClr>
              <a:buNone/>
            </a:pPr>
            <a:r>
              <a:rPr lang="en-US" altLang="zh-CN" sz="1199" dirty="0"/>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@file    	</a:t>
            </a:r>
            <a:r>
              <a:rPr lang="en-US" altLang="zh-CN" sz="1400" b="1" dirty="0" err="1">
                <a:solidFill>
                  <a:schemeClr val="tx1"/>
                </a:solidFill>
              </a:rPr>
              <a:t>main.c</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@author  	fire</a:t>
            </a:r>
          </a:p>
          <a:p>
            <a:pPr marL="0" indent="456971">
              <a:lnSpc>
                <a:spcPct val="125000"/>
              </a:lnSpc>
              <a:spcBef>
                <a:spcPts val="0"/>
              </a:spcBef>
              <a:buClr>
                <a:schemeClr val="tx2">
                  <a:lumMod val="75000"/>
                </a:schemeClr>
              </a:buClr>
              <a:buNone/>
            </a:pPr>
            <a:r>
              <a:rPr lang="en-US" altLang="zh-CN" sz="1400" b="1" dirty="0">
                <a:solidFill>
                  <a:schemeClr val="tx1"/>
                </a:solidFill>
              </a:rPr>
              <a:t>* @version 	V1.0</a:t>
            </a:r>
          </a:p>
          <a:p>
            <a:pPr marL="0" indent="456971">
              <a:lnSpc>
                <a:spcPct val="125000"/>
              </a:lnSpc>
              <a:spcBef>
                <a:spcPts val="0"/>
              </a:spcBef>
              <a:buClr>
                <a:schemeClr val="tx2">
                  <a:lumMod val="75000"/>
                </a:schemeClr>
              </a:buClr>
              <a:buNone/>
            </a:pPr>
            <a:r>
              <a:rPr lang="en-US" altLang="zh-CN" sz="1400" b="1" dirty="0">
                <a:solidFill>
                  <a:schemeClr val="tx1"/>
                </a:solidFill>
              </a:rPr>
              <a:t>* @date    	2018-xx-xx</a:t>
            </a:r>
          </a:p>
          <a:p>
            <a:pPr marL="0" indent="456971">
              <a:lnSpc>
                <a:spcPct val="125000"/>
              </a:lnSpc>
              <a:spcBef>
                <a:spcPts val="0"/>
              </a:spcBef>
              <a:buClr>
                <a:schemeClr val="tx2">
                  <a:lumMod val="75000"/>
                </a:schemeClr>
              </a:buClr>
              <a:buNone/>
            </a:pPr>
            <a:r>
              <a:rPr lang="en-US" altLang="zh-CN" sz="1400" b="1" dirty="0">
                <a:solidFill>
                  <a:schemeClr val="tx1"/>
                </a:solidFill>
              </a:rPr>
              <a:t>* @brief   	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zh-CN" altLang="en-US"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@attention</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实验平台</a:t>
            </a:r>
            <a:r>
              <a:rPr lang="en-US" altLang="zh-CN" sz="1400" b="1" dirty="0">
                <a:solidFill>
                  <a:schemeClr val="tx1"/>
                </a:solidFill>
              </a:rPr>
              <a:t>:</a:t>
            </a:r>
            <a:r>
              <a:rPr lang="zh-CN" altLang="en-US" sz="1400" b="1" dirty="0">
                <a:solidFill>
                  <a:schemeClr val="tx1"/>
                </a:solidFill>
              </a:rPr>
              <a:t>野火 </a:t>
            </a:r>
            <a:r>
              <a:rPr lang="en-US" altLang="zh-CN" sz="1400" b="1" dirty="0">
                <a:solidFill>
                  <a:schemeClr val="tx1"/>
                </a:solidFill>
              </a:rPr>
              <a:t>F103-</a:t>
            </a:r>
            <a:r>
              <a:rPr lang="zh-CN" altLang="en-US" sz="1400" b="1" dirty="0">
                <a:solidFill>
                  <a:schemeClr val="tx1"/>
                </a:solidFill>
              </a:rPr>
              <a:t>霸道 </a:t>
            </a:r>
            <a:r>
              <a:rPr lang="en-US" altLang="zh-CN" sz="1400" b="1" dirty="0">
                <a:solidFill>
                  <a:schemeClr val="tx1"/>
                </a:solidFill>
              </a:rPr>
              <a:t>STM32 </a:t>
            </a:r>
            <a:r>
              <a:rPr lang="zh-CN" altLang="en-US" sz="1400" b="1" dirty="0">
                <a:solidFill>
                  <a:schemeClr val="tx1"/>
                </a:solidFill>
              </a:rPr>
              <a:t>开发板</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论坛    </a:t>
            </a:r>
            <a:r>
              <a:rPr lang="en-US" altLang="zh-CN" sz="1400" b="1" dirty="0">
                <a:solidFill>
                  <a:schemeClr val="tx1"/>
                </a:solidFill>
              </a:rPr>
              <a:t>:http://www.firebbs.cn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淘宝    </a:t>
            </a:r>
            <a:r>
              <a:rPr lang="en-US" altLang="zh-CN" sz="1400" b="1" dirty="0">
                <a:solidFill>
                  <a:schemeClr val="tx1"/>
                </a:solidFill>
              </a:rPr>
              <a:t>:http://firestm32.taobao.com</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#include "</a:t>
            </a:r>
            <a:r>
              <a:rPr lang="en-US" altLang="zh-CN" sz="1400" b="1" dirty="0" err="1">
                <a:solidFill>
                  <a:schemeClr val="tx1"/>
                </a:solidFill>
              </a:rPr>
              <a:t>los_sys.h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#include "los_task.ph"</a:t>
            </a:r>
          </a:p>
        </p:txBody>
      </p:sp>
      <p:sp>
        <p:nvSpPr>
          <p:cNvPr id="12" name="内容占位符 2"/>
          <p:cNvSpPr>
            <a:spLocks noGrp="1"/>
          </p:cNvSpPr>
          <p:nvPr>
            <p:ph idx="1"/>
          </p:nvPr>
        </p:nvSpPr>
        <p:spPr>
          <a:xfrm>
            <a:off x="6687828" y="1778275"/>
            <a:ext cx="5102742" cy="4628604"/>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板级外设头文件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bsp_usart.h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bsp_led.h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定义任务</a:t>
            </a:r>
            <a:r>
              <a:rPr lang="en-US" altLang="zh-CN" sz="1400" b="1" dirty="0">
                <a:solidFill>
                  <a:schemeClr val="tx1"/>
                </a:solidFill>
              </a:rPr>
              <a:t>ID</a:t>
            </a:r>
            <a:r>
              <a:rPr lang="zh-CN" altLang="en-US" sz="1400" b="1" dirty="0">
                <a:solidFill>
                  <a:schemeClr val="tx1"/>
                </a:solidFill>
              </a:rPr>
              <a:t>变量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UINT32 Test1_Task_Handle;</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函数声明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static UINT32 Creat_Test1_Task(void);</a:t>
            </a:r>
          </a:p>
          <a:p>
            <a:pPr marL="0" indent="456971">
              <a:lnSpc>
                <a:spcPct val="125000"/>
              </a:lnSpc>
              <a:spcBef>
                <a:spcPts val="0"/>
              </a:spcBef>
              <a:buClr>
                <a:schemeClr val="tx2">
                  <a:lumMod val="75000"/>
                </a:schemeClr>
              </a:buClr>
              <a:buNone/>
            </a:pPr>
            <a:r>
              <a:rPr lang="en-US" altLang="zh-CN" sz="1400" b="1" dirty="0">
                <a:solidFill>
                  <a:schemeClr val="tx1"/>
                </a:solidFill>
              </a:rPr>
              <a:t>static void Test1_Task(void);</a:t>
            </a:r>
          </a:p>
          <a:p>
            <a:pPr marL="0" indent="456971">
              <a:lnSpc>
                <a:spcPct val="125000"/>
              </a:lnSpc>
              <a:spcBef>
                <a:spcPts val="0"/>
              </a:spcBef>
              <a:buClr>
                <a:schemeClr val="tx2">
                  <a:lumMod val="75000"/>
                </a:schemeClr>
              </a:buClr>
              <a:buNone/>
            </a:pPr>
            <a:r>
              <a:rPr lang="en-US" altLang="zh-CN" sz="1400" b="1" dirty="0">
                <a:solidFill>
                  <a:schemeClr val="tx1"/>
                </a:solidFill>
              </a:rPr>
              <a:t>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@brief  </a:t>
            </a:r>
            <a:r>
              <a:rPr lang="zh-CN" altLang="en-US" sz="1400" b="1" dirty="0">
                <a:solidFill>
                  <a:schemeClr val="tx1"/>
                </a:solidFill>
              </a:rPr>
              <a:t>主函数</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param</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retval</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@note   </a:t>
            </a:r>
            <a:r>
              <a:rPr lang="zh-CN" altLang="en-US" sz="1400" b="1" dirty="0">
                <a:solidFill>
                  <a:schemeClr val="tx1"/>
                </a:solidFill>
              </a:rPr>
              <a:t>第一步：开发板硬件初始化</a:t>
            </a:r>
          </a:p>
          <a:p>
            <a:pPr marL="0" indent="456971">
              <a:lnSpc>
                <a:spcPct val="125000"/>
              </a:lnSpc>
              <a:spcBef>
                <a:spcPts val="0"/>
              </a:spcBef>
              <a:buClr>
                <a:schemeClr val="tx2">
                  <a:lumMod val="75000"/>
                </a:schemeClr>
              </a:buClr>
              <a:buNone/>
            </a:pPr>
            <a:r>
              <a:rPr lang="zh-CN" altLang="en-US" sz="1400" b="1" dirty="0">
                <a:solidFill>
                  <a:schemeClr val="tx1"/>
                </a:solidFill>
              </a:rPr>
              <a:t>第二步：创建</a:t>
            </a:r>
            <a:r>
              <a:rPr lang="en-US" altLang="zh-CN" sz="1400" b="1" dirty="0">
                <a:solidFill>
                  <a:schemeClr val="tx1"/>
                </a:solidFill>
              </a:rPr>
              <a:t>App</a:t>
            </a:r>
            <a:r>
              <a:rPr lang="zh-CN" altLang="en-US" sz="1400" b="1" dirty="0">
                <a:solidFill>
                  <a:schemeClr val="tx1"/>
                </a:solidFill>
              </a:rPr>
              <a:t>应用任务</a:t>
            </a:r>
          </a:p>
        </p:txBody>
      </p:sp>
      <p:cxnSp>
        <p:nvCxnSpPr>
          <p:cNvPr id="7" name="直接连接符 6"/>
          <p:cNvCxnSpPr>
            <a:cxnSpLocks/>
          </p:cNvCxnSpPr>
          <p:nvPr/>
        </p:nvCxnSpPr>
        <p:spPr>
          <a:xfrm>
            <a:off x="6096001" y="1636776"/>
            <a:ext cx="0" cy="507542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6136167"/>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3" name="矩形 12">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676572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57118" y="1105468"/>
            <a:ext cx="6095999"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第三步：启动</a:t>
            </a:r>
            <a:r>
              <a:rPr lang="en-US" altLang="zh-CN" sz="1400" b="1" dirty="0" err="1">
                <a:solidFill>
                  <a:schemeClr val="tx1"/>
                </a:solidFill>
              </a:rPr>
              <a:t>LiteOS</a:t>
            </a:r>
            <a:r>
              <a:rPr lang="zh-CN" altLang="en-US" sz="1400" b="1" dirty="0">
                <a:solidFill>
                  <a:schemeClr val="tx1"/>
                </a:solidFill>
              </a:rPr>
              <a:t>，开始多任务调度，启动失败时输出错误信息</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int main(void)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定义一个任务创建的返回值，默认为创建成功</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板级硬件初始化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BSP_Init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printf("</a:t>
            </a:r>
            <a:r>
              <a:rPr lang="zh-CN" altLang="en-US" sz="1400" b="1" dirty="0">
                <a:solidFill>
                  <a:schemeClr val="tx1"/>
                </a:solidFill>
              </a:rPr>
              <a:t>这是一个</a:t>
            </a:r>
            <a:r>
              <a:rPr lang="en-US" altLang="zh-CN" sz="1400" b="1" dirty="0">
                <a:solidFill>
                  <a:schemeClr val="tx1"/>
                </a:solidFill>
              </a:rPr>
              <a:t>[</a:t>
            </a:r>
            <a:r>
              <a:rPr lang="zh-CN" altLang="en-US" sz="1400" b="1" dirty="0">
                <a:solidFill>
                  <a:schemeClr val="tx1"/>
                </a:solidFill>
              </a:rPr>
              <a:t>野火</a:t>
            </a:r>
            <a:r>
              <a:rPr lang="en-US" altLang="zh-CN" sz="1400" b="1" dirty="0">
                <a:solidFill>
                  <a:schemeClr val="tx1"/>
                </a:solidFill>
              </a:rPr>
              <a:t>]-STM32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en-US" altLang="zh-CN" sz="1400" b="1" dirty="0">
                <a:solidFill>
                  <a:schemeClr val="tx1"/>
                </a:solidFill>
              </a:rPr>
              <a:t>-SRAM</a:t>
            </a:r>
            <a:r>
              <a:rPr lang="zh-CN" altLang="en-US" sz="1400" b="1" dirty="0">
                <a:solidFill>
                  <a:schemeClr val="tx1"/>
                </a:solidFill>
              </a:rPr>
              <a:t>动态创建单任务实验！</a:t>
            </a:r>
            <a:r>
              <a:rPr lang="en-US" altLang="zh-CN" sz="1400" b="1" dirty="0">
                <a:solidFill>
                  <a:schemeClr val="tx1"/>
                </a:solidFill>
              </a:rPr>
              <a:t>\n\n");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内核初始化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LOS_KernelInit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核心初始化失败！失败代码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LOS_NOK;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AppTaskCreate</a:t>
            </a:r>
            <a:r>
              <a:rPr lang="en-US" altLang="zh-CN" sz="1400" b="1" dirty="0">
                <a:solidFill>
                  <a:schemeClr val="tx1"/>
                </a:solidFill>
              </a:rPr>
              <a:t>();</a:t>
            </a:r>
          </a:p>
        </p:txBody>
      </p:sp>
      <p:sp>
        <p:nvSpPr>
          <p:cNvPr id="12" name="内容占位符 2"/>
          <p:cNvSpPr>
            <a:spLocks noGrp="1"/>
          </p:cNvSpPr>
          <p:nvPr>
            <p:ph idx="1"/>
          </p:nvPr>
        </p:nvSpPr>
        <p:spPr>
          <a:xfrm>
            <a:off x="6249906" y="1173556"/>
            <a:ext cx="5673948"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AppTaskCreate</a:t>
            </a:r>
            <a:r>
              <a:rPr lang="zh-CN" altLang="en-US" sz="1400" b="1" dirty="0">
                <a:solidFill>
                  <a:schemeClr val="tx1"/>
                </a:solidFill>
              </a:rPr>
              <a:t>创建任务失败！失败代码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LOS_NOK;</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开启</a:t>
            </a:r>
            <a:r>
              <a:rPr lang="en-US" altLang="zh-CN" sz="1400" b="1" dirty="0" err="1">
                <a:solidFill>
                  <a:schemeClr val="tx1"/>
                </a:solidFill>
              </a:rPr>
              <a:t>LiteOS</a:t>
            </a:r>
            <a:r>
              <a:rPr lang="zh-CN" altLang="en-US" sz="1400" b="1" dirty="0">
                <a:solidFill>
                  <a:schemeClr val="tx1"/>
                </a:solidFill>
              </a:rPr>
              <a:t>任务调度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LOS_Start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正常情况下不会执行到这里</a:t>
            </a:r>
          </a:p>
          <a:p>
            <a:pPr marL="0" indent="456971">
              <a:lnSpc>
                <a:spcPct val="125000"/>
              </a:lnSpc>
              <a:spcBef>
                <a:spcPts val="0"/>
              </a:spcBef>
              <a:buClr>
                <a:schemeClr val="tx2">
                  <a:lumMod val="75000"/>
                </a:schemeClr>
              </a:buClr>
              <a:buNone/>
            </a:pPr>
            <a:r>
              <a:rPr lang="en-US" altLang="zh-CN" sz="1400" b="1" dirty="0">
                <a:solidFill>
                  <a:schemeClr val="tx1"/>
                </a:solidFill>
              </a:rPr>
              <a:t>while (1);</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a:t>
            </a:r>
            <a:r>
              <a:rPr lang="en-US" altLang="zh-CN" sz="1400" b="1" dirty="0" err="1">
                <a:solidFill>
                  <a:schemeClr val="tx1"/>
                </a:solidFill>
              </a:rPr>
              <a:t>AppTaskCreate</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功能说明：任务创建，为了方便管理，所有的任务创建函数都可以放在这个函数中</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：无</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：无</a:t>
            </a:r>
            <a:r>
              <a:rPr lang="en-US" altLang="zh-CN" sz="1400" b="1" dirty="0">
                <a:solidFill>
                  <a:schemeClr val="tx1"/>
                </a:solidFill>
              </a:rPr>
              <a:t>   ********************************************************/</a:t>
            </a:r>
          </a:p>
        </p:txBody>
      </p:sp>
      <p:cxnSp>
        <p:nvCxnSpPr>
          <p:cNvPr id="7" name="直接连接符 6"/>
          <p:cNvCxnSpPr/>
          <p:nvPr/>
        </p:nvCxnSpPr>
        <p:spPr>
          <a:xfrm>
            <a:off x="6096000" y="1153215"/>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603045"/>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657968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1" y="1211088"/>
            <a:ext cx="6095999" cy="5043408"/>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printf("Test1_Task</a:t>
            </a:r>
            <a:r>
              <a:rPr lang="zh-CN" altLang="en-US" sz="1400" b="1" dirty="0">
                <a:solidFill>
                  <a:schemeClr val="tx1"/>
                </a:solidFill>
              </a:rPr>
              <a:t>任务创建失败！失败代码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LOS_OK;</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 </a:t>
            </a:r>
            <a:r>
              <a:rPr lang="en-US" altLang="zh-CN" sz="1400" b="1" dirty="0">
                <a:solidFill>
                  <a:schemeClr val="tx1"/>
                </a:solidFill>
              </a:rPr>
              <a:t>@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zh-CN" altLang="en-US" sz="1400" b="1" dirty="0">
                <a:solidFill>
                  <a:schemeClr val="tx1"/>
                </a:solidFill>
              </a:rPr>
              <a:t>**************************************************</a:t>
            </a:r>
            <a:r>
              <a:rPr lang="en-US" altLang="zh-CN" sz="1400" b="1" dirty="0">
                <a:solidFill>
                  <a:schemeClr val="tx1"/>
                </a:solidFill>
              </a:rPr>
              <a:t>/</a:t>
            </a:r>
          </a:p>
        </p:txBody>
      </p:sp>
      <p:sp>
        <p:nvSpPr>
          <p:cNvPr id="12" name="内容占位符 2"/>
          <p:cNvSpPr>
            <a:spLocks noGrp="1"/>
          </p:cNvSpPr>
          <p:nvPr>
            <p:ph idx="1"/>
          </p:nvPr>
        </p:nvSpPr>
        <p:spPr>
          <a:xfrm>
            <a:off x="6230866" y="1050601"/>
            <a:ext cx="5826267" cy="4628604"/>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static UINT32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定义一个创建任务的返回类型，初始化为创建成功的返回值</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定义一个用于创建任务的参数结构体</a:t>
            </a:r>
          </a:p>
          <a:p>
            <a:pPr marL="0" indent="456971">
              <a:lnSpc>
                <a:spcPct val="125000"/>
              </a:lnSpc>
              <a:spcBef>
                <a:spcPts val="0"/>
              </a:spcBef>
              <a:buClr>
                <a:schemeClr val="tx2">
                  <a:lumMod val="75000"/>
                </a:schemeClr>
              </a:buClr>
              <a:buNone/>
            </a:pPr>
            <a:r>
              <a:rPr lang="en-US" altLang="zh-CN" sz="1400" b="1" dirty="0">
                <a:solidFill>
                  <a:schemeClr val="tx1"/>
                </a:solidFill>
              </a:rPr>
              <a:t>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task_init_param.pcName</a:t>
            </a:r>
            <a:r>
              <a:rPr lang="en-US" altLang="zh-CN" sz="1400" b="1" dirty="0">
                <a:solidFill>
                  <a:schemeClr val="tx1"/>
                </a:solidFill>
              </a:rPr>
              <a:t> = "Test1_Task";/* </a:t>
            </a:r>
            <a:r>
              <a:rPr lang="zh-CN" altLang="en-US" sz="1400" b="1" dirty="0">
                <a:solidFill>
                  <a:schemeClr val="tx1"/>
                </a:solidFill>
              </a:rPr>
              <a:t>任务名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task_init_param.pfnTaskEntry</a:t>
            </a:r>
            <a:r>
              <a:rPr lang="en-US" altLang="zh-CN" sz="1400" b="1" dirty="0">
                <a:solidFill>
                  <a:schemeClr val="tx1"/>
                </a:solidFill>
              </a:rPr>
              <a:t> = (TSK_ENTRY_FUNC)Test1_Task;</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task_init_param.uwStackSize</a:t>
            </a:r>
            <a:r>
              <a:rPr lang="en-US" altLang="zh-CN" sz="1400" b="1" dirty="0">
                <a:solidFill>
                  <a:schemeClr val="tx1"/>
                </a:solidFill>
              </a:rPr>
              <a:t> = 1024;	/* </a:t>
            </a:r>
            <a:r>
              <a:rPr lang="zh-CN" altLang="en-US" sz="1400" b="1" dirty="0">
                <a:solidFill>
                  <a:schemeClr val="tx1"/>
                </a:solidFill>
              </a:rPr>
              <a:t>栈大小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Test1_Task</a:t>
            </a:r>
            <a:r>
              <a:rPr lang="zh-CN" altLang="en-US" sz="1400" b="1" dirty="0">
                <a:solidFill>
                  <a:schemeClr val="tx1"/>
                </a:solidFill>
              </a:rPr>
              <a:t>任务实现</a:t>
            </a:r>
          </a:p>
        </p:txBody>
      </p:sp>
      <p:cxnSp>
        <p:nvCxnSpPr>
          <p:cNvPr id="7" name="直接连接符 6"/>
          <p:cNvCxnSpPr/>
          <p:nvPr/>
        </p:nvCxnSpPr>
        <p:spPr>
          <a:xfrm>
            <a:off x="6096000" y="1064784"/>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679205"/>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941476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a:spLocks noGrp="1"/>
          </p:cNvSpPr>
          <p:nvPr>
            <p:ph idx="1"/>
          </p:nvPr>
        </p:nvSpPr>
        <p:spPr>
          <a:xfrm>
            <a:off x="1" y="787456"/>
            <a:ext cx="6095999"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 </a:t>
            </a:r>
            <a:r>
              <a:rPr lang="en-US" altLang="zh-CN" sz="1400" b="1" dirty="0">
                <a:solidFill>
                  <a:schemeClr val="tx1"/>
                </a:solidFill>
              </a:rPr>
              <a:t>NULL</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返回值  ： </a:t>
            </a:r>
            <a:r>
              <a:rPr lang="en-US" altLang="zh-CN" sz="1400" b="1" dirty="0">
                <a:solidFill>
                  <a:schemeClr val="tx1"/>
                </a:solidFill>
              </a:rPr>
              <a:t>NULL</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static void Test1_Task(void)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while (1) {</a:t>
            </a:r>
          </a:p>
          <a:p>
            <a:pPr marL="0" indent="456971">
              <a:lnSpc>
                <a:spcPct val="125000"/>
              </a:lnSpc>
              <a:spcBef>
                <a:spcPts val="0"/>
              </a:spcBef>
              <a:buClr>
                <a:schemeClr val="tx2">
                  <a:lumMod val="75000"/>
                </a:schemeClr>
              </a:buClr>
              <a:buNone/>
            </a:pPr>
            <a:r>
              <a:rPr lang="en-US" altLang="zh-CN" sz="1400" b="1" dirty="0">
                <a:solidFill>
                  <a:schemeClr val="tx1"/>
                </a:solidFill>
              </a:rPr>
              <a:t>	LED2_TOGGLE;</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zh-CN" altLang="en-US" sz="1400" b="1" dirty="0">
                <a:solidFill>
                  <a:schemeClr val="tx1"/>
                </a:solidFill>
              </a:rPr>
              <a:t>任务</a:t>
            </a:r>
            <a:r>
              <a:rPr lang="en-US" altLang="zh-CN" sz="1400" b="1" dirty="0">
                <a:solidFill>
                  <a:schemeClr val="tx1"/>
                </a:solidFill>
              </a:rPr>
              <a:t>1</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1000ticks</a:t>
            </a:r>
            <a:r>
              <a:rPr lang="zh-CN" altLang="en-US" sz="1400" b="1" dirty="0">
                <a:solidFill>
                  <a:schemeClr val="tx1"/>
                </a:solidFill>
              </a:rPr>
              <a:t>打印一次信息</a:t>
            </a:r>
            <a:r>
              <a:rPr lang="en-US" altLang="zh-CN" sz="1400" b="1" dirty="0">
                <a:solidFill>
                  <a:schemeClr val="tx1"/>
                </a:solidFill>
              </a:rPr>
              <a:t>\r\n");</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LOS_TaskDelay</a:t>
            </a:r>
            <a:r>
              <a:rPr lang="en-US" altLang="zh-CN" sz="1400" b="1" dirty="0">
                <a:solidFill>
                  <a:schemeClr val="tx1"/>
                </a:solidFill>
              </a:rPr>
              <a:t>(1000);</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BSP_Init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板级外设初始化，所有开发板的初始化均可放在这个函数中</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返回值  ： 无</a:t>
            </a:r>
          </a:p>
        </p:txBody>
      </p:sp>
      <p:sp>
        <p:nvSpPr>
          <p:cNvPr id="12" name="内容占位符 2"/>
          <p:cNvSpPr>
            <a:spLocks noGrp="1"/>
          </p:cNvSpPr>
          <p:nvPr>
            <p:ph idx="1"/>
          </p:nvPr>
        </p:nvSpPr>
        <p:spPr>
          <a:xfrm>
            <a:off x="6210239" y="942904"/>
            <a:ext cx="5826267"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STM32</a:t>
            </a:r>
            <a:r>
              <a:rPr lang="zh-CN" altLang="en-US" sz="1400" b="1" dirty="0">
                <a:solidFill>
                  <a:schemeClr val="tx1"/>
                </a:solidFill>
              </a:rPr>
              <a:t>中断优先级分组为</a:t>
            </a:r>
            <a:r>
              <a:rPr lang="en-US" altLang="zh-CN" sz="1400" b="1" dirty="0">
                <a:solidFill>
                  <a:schemeClr val="tx1"/>
                </a:solidFill>
              </a:rPr>
              <a:t>4</a:t>
            </a:r>
            <a:r>
              <a:rPr lang="zh-CN" altLang="en-US" sz="1400" b="1" dirty="0">
                <a:solidFill>
                  <a:schemeClr val="tx1"/>
                </a:solidFill>
              </a:rPr>
              <a:t>，即</a:t>
            </a:r>
            <a:r>
              <a:rPr lang="en-US" altLang="zh-CN" sz="1400" b="1" dirty="0">
                <a:solidFill>
                  <a:schemeClr val="tx1"/>
                </a:solidFill>
              </a:rPr>
              <a:t>4bit</a:t>
            </a:r>
            <a:r>
              <a:rPr lang="zh-CN" altLang="en-US" sz="1400" b="1" dirty="0">
                <a:solidFill>
                  <a:schemeClr val="tx1"/>
                </a:solidFill>
              </a:rPr>
              <a:t>都用来表示抢占优先级，范围为</a:t>
            </a:r>
            <a:r>
              <a:rPr lang="en-US" altLang="zh-CN" sz="1400" b="1" dirty="0">
                <a:solidFill>
                  <a:schemeClr val="tx1"/>
                </a:solidFill>
              </a:rPr>
              <a:t>0</a:t>
            </a:r>
            <a:r>
              <a:rPr lang="zh-CN" altLang="en-US" sz="1400" b="1" dirty="0">
                <a:solidFill>
                  <a:schemeClr val="tx1"/>
                </a:solidFill>
              </a:rPr>
              <a:t>～</a:t>
            </a:r>
            <a:r>
              <a:rPr lang="en-US" altLang="zh-CN" sz="1400" b="1" dirty="0">
                <a:solidFill>
                  <a:schemeClr val="tx1"/>
                </a:solidFill>
              </a:rPr>
              <a:t>15</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优先级分组只需要分组一次，以后如果有其他任务需要用到中断，</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则统一使用这个优先级分组，不要再分组，切记</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NVIC_PriorityGroupConfig</a:t>
            </a:r>
            <a:r>
              <a:rPr lang="en-US" altLang="zh-CN" sz="1400" b="1" dirty="0">
                <a:solidFill>
                  <a:schemeClr val="tx1"/>
                </a:solidFill>
              </a:rPr>
              <a:t>( NVIC_PriorityGroup_4 );</a:t>
            </a:r>
          </a:p>
          <a:p>
            <a:pPr marL="0" indent="456971">
              <a:lnSpc>
                <a:spcPct val="125000"/>
              </a:lnSpc>
              <a:spcBef>
                <a:spcPts val="0"/>
              </a:spcBef>
              <a:buClr>
                <a:schemeClr val="tx2">
                  <a:lumMod val="75000"/>
                </a:schemeClr>
              </a:buClr>
              <a:buNone/>
            </a:pPr>
            <a:r>
              <a:rPr lang="en-US" altLang="zh-CN" sz="1400" b="1" dirty="0">
                <a:solidFill>
                  <a:schemeClr val="tx1"/>
                </a:solidFill>
              </a:rPr>
              <a:t>/* LED </a:t>
            </a:r>
            <a:r>
              <a:rPr lang="zh-CN" altLang="en-US" sz="1400" b="1" dirty="0">
                <a:solidFill>
                  <a:schemeClr val="tx1"/>
                </a:solidFill>
              </a:rPr>
              <a:t>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LED_GPIO_Config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串口初始化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USART_Config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*************************END OF FILE******************/ </a:t>
            </a:r>
          </a:p>
          <a:p>
            <a:pPr marL="0" indent="456971">
              <a:lnSpc>
                <a:spcPct val="125000"/>
              </a:lnSpc>
              <a:spcBef>
                <a:spcPts val="0"/>
              </a:spcBef>
              <a:buClr>
                <a:schemeClr val="tx2">
                  <a:lumMod val="75000"/>
                </a:schemeClr>
              </a:buClr>
              <a:buNone/>
            </a:pPr>
            <a:endParaRPr lang="en-US" altLang="zh-CN" sz="1400" b="1" dirty="0">
              <a:solidFill>
                <a:schemeClr val="tx1"/>
              </a:solidFill>
            </a:endParaRPr>
          </a:p>
        </p:txBody>
      </p:sp>
      <p:cxnSp>
        <p:nvCxnSpPr>
          <p:cNvPr id="7" name="直接连接符 6"/>
          <p:cNvCxnSpPr/>
          <p:nvPr/>
        </p:nvCxnSpPr>
        <p:spPr>
          <a:xfrm>
            <a:off x="6096000" y="952047"/>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052434"/>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3.3main.c</a:t>
            </a:r>
            <a:r>
              <a:rPr lang="zh-CN" altLang="en-US" sz="2800" b="1" dirty="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385793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174" y="2058114"/>
            <a:ext cx="12193050" cy="48819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95102" y="1816450"/>
            <a:ext cx="5178903" cy="4501505"/>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@file    </a:t>
            </a:r>
            <a:r>
              <a:rPr lang="en-US" altLang="zh-CN" sz="1400" b="1" dirty="0" err="1">
                <a:solidFill>
                  <a:schemeClr val="tx1"/>
                </a:solidFill>
              </a:rPr>
              <a:t>main.c</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@author  fire</a:t>
            </a:r>
          </a:p>
          <a:p>
            <a:pPr marL="0" indent="456971">
              <a:lnSpc>
                <a:spcPct val="125000"/>
              </a:lnSpc>
              <a:spcBef>
                <a:spcPts val="0"/>
              </a:spcBef>
              <a:buClr>
                <a:schemeClr val="tx2">
                  <a:lumMod val="75000"/>
                </a:schemeClr>
              </a:buClr>
              <a:buNone/>
            </a:pPr>
            <a:r>
              <a:rPr lang="en-US" altLang="zh-CN" sz="1400" b="1" dirty="0">
                <a:solidFill>
                  <a:schemeClr val="tx1"/>
                </a:solidFill>
              </a:rPr>
              <a:t>   * @version V1.0</a:t>
            </a:r>
          </a:p>
          <a:p>
            <a:pPr marL="0" indent="456971">
              <a:lnSpc>
                <a:spcPct val="125000"/>
              </a:lnSpc>
              <a:spcBef>
                <a:spcPts val="0"/>
              </a:spcBef>
              <a:buClr>
                <a:schemeClr val="tx2">
                  <a:lumMod val="75000"/>
                </a:schemeClr>
              </a:buClr>
              <a:buNone/>
            </a:pPr>
            <a:r>
              <a:rPr lang="en-US" altLang="zh-CN" sz="1400" b="1" dirty="0">
                <a:solidFill>
                  <a:schemeClr val="tx1"/>
                </a:solidFill>
              </a:rPr>
              <a:t>   * @date    2018-xx-xx</a:t>
            </a:r>
          </a:p>
          <a:p>
            <a:pPr marL="0" indent="456971">
              <a:lnSpc>
                <a:spcPct val="125000"/>
              </a:lnSpc>
              <a:spcBef>
                <a:spcPts val="0"/>
              </a:spcBef>
              <a:buClr>
                <a:schemeClr val="tx2">
                  <a:lumMod val="75000"/>
                </a:schemeClr>
              </a:buClr>
              <a:buNone/>
            </a:pPr>
            <a:r>
              <a:rPr lang="en-US" altLang="zh-CN" sz="1400" b="1" dirty="0">
                <a:solidFill>
                  <a:schemeClr val="tx1"/>
                </a:solidFill>
              </a:rPr>
              <a:t>   * @brief   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zh-CN" altLang="en-US"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@attention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实验平台</a:t>
            </a:r>
            <a:r>
              <a:rPr lang="en-US" altLang="zh-CN" sz="1400" b="1" dirty="0">
                <a:solidFill>
                  <a:schemeClr val="tx1"/>
                </a:solidFill>
              </a:rPr>
              <a:t>:</a:t>
            </a:r>
            <a:r>
              <a:rPr lang="zh-CN" altLang="en-US" sz="1400" b="1" dirty="0">
                <a:solidFill>
                  <a:schemeClr val="tx1"/>
                </a:solidFill>
              </a:rPr>
              <a:t>野火 </a:t>
            </a:r>
            <a:r>
              <a:rPr lang="en-US" altLang="zh-CN" sz="1400" b="1" dirty="0">
                <a:solidFill>
                  <a:schemeClr val="tx1"/>
                </a:solidFill>
              </a:rPr>
              <a:t>F103-</a:t>
            </a:r>
            <a:r>
              <a:rPr lang="zh-CN" altLang="en-US" sz="1400" b="1" dirty="0">
                <a:solidFill>
                  <a:schemeClr val="tx1"/>
                </a:solidFill>
              </a:rPr>
              <a:t>霸道 </a:t>
            </a:r>
            <a:r>
              <a:rPr lang="en-US" altLang="zh-CN" sz="1400" b="1" dirty="0">
                <a:solidFill>
                  <a:schemeClr val="tx1"/>
                </a:solidFill>
              </a:rPr>
              <a:t>STM32 </a:t>
            </a:r>
            <a:r>
              <a:rPr lang="zh-CN" altLang="en-US" sz="1400" b="1" dirty="0">
                <a:solidFill>
                  <a:schemeClr val="tx1"/>
                </a:solidFill>
              </a:rPr>
              <a:t>开发板</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论坛    </a:t>
            </a:r>
            <a:r>
              <a:rPr lang="en-US" altLang="zh-CN" sz="1400" b="1" dirty="0">
                <a:solidFill>
                  <a:schemeClr val="tx1"/>
                </a:solidFill>
              </a:rPr>
              <a:t>:http://www.firebbs.cn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淘宝    </a:t>
            </a:r>
            <a:r>
              <a:rPr lang="en-US" altLang="zh-CN" sz="1400" b="1" dirty="0">
                <a:solidFill>
                  <a:schemeClr val="tx1"/>
                </a:solidFill>
              </a:rPr>
              <a:t>:http://firestm32.taobao.com</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los_sys.h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"los_task.ph"</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板级外设头文件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bsp_usart.h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bsp_led.h</a:t>
            </a:r>
            <a:r>
              <a:rPr lang="en-US" altLang="zh-CN" sz="1400" b="1" dirty="0">
                <a:solidFill>
                  <a:schemeClr val="tx1"/>
                </a:solidFill>
              </a:rPr>
              <a:t>"</a:t>
            </a:r>
          </a:p>
        </p:txBody>
      </p:sp>
      <p:sp>
        <p:nvSpPr>
          <p:cNvPr id="4" name="内容占位符 3"/>
          <p:cNvSpPr>
            <a:spLocks noGrp="1"/>
          </p:cNvSpPr>
          <p:nvPr>
            <p:ph idx="13"/>
          </p:nvPr>
        </p:nvSpPr>
        <p:spPr>
          <a:xfrm>
            <a:off x="495102" y="747701"/>
            <a:ext cx="11465244" cy="914252"/>
          </a:xfrm>
        </p:spPr>
        <p:txBody>
          <a:bodyPr>
            <a:normAutofit/>
          </a:bodyPr>
          <a:lstStyle/>
          <a:p>
            <a:pPr indent="456971"/>
            <a:r>
              <a:rPr lang="zh-CN" altLang="en-US" dirty="0"/>
              <a:t>创建两个任务，两个任务的优先级不同，任务</a:t>
            </a:r>
            <a:r>
              <a:rPr lang="en-US" altLang="zh-CN" dirty="0"/>
              <a:t>1</a:t>
            </a:r>
            <a:r>
              <a:rPr lang="zh-CN" altLang="en-US" dirty="0"/>
              <a:t>实现</a:t>
            </a:r>
            <a:r>
              <a:rPr lang="en-US" altLang="zh-CN" dirty="0"/>
              <a:t>LED1</a:t>
            </a:r>
            <a:r>
              <a:rPr lang="zh-CN" altLang="en-US" dirty="0"/>
              <a:t>灯闪烁，任务</a:t>
            </a:r>
            <a:r>
              <a:rPr lang="en-US" altLang="zh-CN" dirty="0"/>
              <a:t>2</a:t>
            </a:r>
            <a:r>
              <a:rPr lang="zh-CN" altLang="en-US" dirty="0"/>
              <a:t>实现</a:t>
            </a:r>
            <a:r>
              <a:rPr lang="en-US" altLang="zh-CN" dirty="0"/>
              <a:t>LED2</a:t>
            </a:r>
            <a:r>
              <a:rPr lang="zh-CN" altLang="en-US" dirty="0"/>
              <a:t>灯闪烁，两个</a:t>
            </a:r>
            <a:r>
              <a:rPr lang="en-US" altLang="zh-CN" dirty="0"/>
              <a:t>LED</a:t>
            </a:r>
            <a:r>
              <a:rPr lang="zh-CN" altLang="en-US" dirty="0"/>
              <a:t>灯闪烁的频率不一样，并且在串口中输出相应的调试信息，具体实现如代码清单</a:t>
            </a:r>
            <a:r>
              <a:rPr lang="en-US" altLang="zh-CN" dirty="0"/>
              <a:t>3~9</a:t>
            </a:r>
            <a:r>
              <a:rPr lang="zh-CN" altLang="en-US" dirty="0"/>
              <a:t>加粗部分所示。</a:t>
            </a:r>
          </a:p>
        </p:txBody>
      </p:sp>
      <p:sp>
        <p:nvSpPr>
          <p:cNvPr id="10" name="矩形 9"/>
          <p:cNvSpPr/>
          <p:nvPr/>
        </p:nvSpPr>
        <p:spPr>
          <a:xfrm>
            <a:off x="0" y="1502729"/>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内容占位符 2"/>
          <p:cNvSpPr txBox="1">
            <a:spLocks/>
          </p:cNvSpPr>
          <p:nvPr/>
        </p:nvSpPr>
        <p:spPr>
          <a:xfrm>
            <a:off x="6479588" y="1594047"/>
            <a:ext cx="5515664" cy="4539750"/>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a:t>
            </a:r>
            <a:r>
              <a:rPr lang="zh-CN" altLang="en-US" dirty="0"/>
              <a:t>定义任务</a:t>
            </a:r>
            <a:r>
              <a:rPr lang="en-US" altLang="zh-CN" dirty="0"/>
              <a:t>ID</a:t>
            </a:r>
            <a:r>
              <a:rPr lang="zh-CN" altLang="en-US" dirty="0"/>
              <a:t>变量 *</a:t>
            </a:r>
            <a:r>
              <a:rPr lang="en-US" altLang="zh-CN" dirty="0"/>
              <a:t>/</a:t>
            </a:r>
          </a:p>
          <a:p>
            <a:r>
              <a:rPr lang="en-US" altLang="zh-CN" dirty="0"/>
              <a:t>UINT32 Test1_Task_Handle;</a:t>
            </a:r>
          </a:p>
          <a:p>
            <a:r>
              <a:rPr lang="en-US" altLang="zh-CN" dirty="0"/>
              <a:t>UINT32 Test2_Task_Handle;</a:t>
            </a:r>
          </a:p>
          <a:p>
            <a:r>
              <a:rPr lang="en-US" altLang="zh-CN" dirty="0"/>
              <a:t>/* </a:t>
            </a:r>
            <a:r>
              <a:rPr lang="zh-CN" altLang="en-US" dirty="0"/>
              <a:t>函数声明 *</a:t>
            </a:r>
            <a:r>
              <a:rPr lang="en-US" altLang="zh-CN" dirty="0"/>
              <a:t>/</a:t>
            </a:r>
          </a:p>
          <a:p>
            <a:r>
              <a:rPr lang="en-US" altLang="zh-CN" dirty="0"/>
              <a:t>static UINT32 </a:t>
            </a:r>
            <a:r>
              <a:rPr lang="en-US" altLang="zh-CN" dirty="0" err="1"/>
              <a:t>AppTaskCreate</a:t>
            </a:r>
            <a:r>
              <a:rPr lang="en-US" altLang="zh-CN" dirty="0"/>
              <a:t>(void);</a:t>
            </a:r>
          </a:p>
          <a:p>
            <a:r>
              <a:rPr lang="en-US" altLang="zh-CN" dirty="0"/>
              <a:t>static UINT32 Creat_Test1_Task(void);</a:t>
            </a:r>
          </a:p>
          <a:p>
            <a:r>
              <a:rPr lang="en-US" altLang="zh-CN" dirty="0"/>
              <a:t>static UINT32 Creat_Test2_Task(void);</a:t>
            </a:r>
          </a:p>
          <a:p>
            <a:r>
              <a:rPr lang="en-US" altLang="zh-CN" dirty="0"/>
              <a:t>static void Test1_Task(void);</a:t>
            </a:r>
          </a:p>
          <a:p>
            <a:r>
              <a:rPr lang="en-US" altLang="zh-CN" dirty="0"/>
              <a:t>static void Test2_Task(void);</a:t>
            </a:r>
          </a:p>
          <a:p>
            <a:r>
              <a:rPr lang="en-US" altLang="zh-CN" dirty="0"/>
              <a:t>static void </a:t>
            </a:r>
            <a:r>
              <a:rPr lang="en-US" altLang="zh-CN" dirty="0" err="1"/>
              <a:t>BSP_Init</a:t>
            </a:r>
            <a:r>
              <a:rPr lang="en-US" altLang="zh-CN" dirty="0"/>
              <a:t>(void);</a:t>
            </a:r>
          </a:p>
          <a:p>
            <a:r>
              <a:rPr lang="en-US" altLang="zh-CN" dirty="0"/>
              <a:t>/*</a:t>
            </a:r>
            <a:r>
              <a:rPr lang="zh-CN" altLang="en-US" dirty="0"/>
              <a:t>定义任务</a:t>
            </a:r>
            <a:r>
              <a:rPr lang="en-US" altLang="zh-CN" dirty="0"/>
              <a:t>ID</a:t>
            </a:r>
            <a:r>
              <a:rPr lang="zh-CN" altLang="en-US" dirty="0"/>
              <a:t>变量 *</a:t>
            </a:r>
            <a:r>
              <a:rPr lang="en-US" altLang="zh-CN" dirty="0"/>
              <a:t>/</a:t>
            </a:r>
          </a:p>
          <a:p>
            <a:r>
              <a:rPr lang="en-US" altLang="zh-CN" dirty="0"/>
              <a:t> UINT32 Test1_Task_Handle;</a:t>
            </a:r>
          </a:p>
          <a:p>
            <a:r>
              <a:rPr lang="en-US" altLang="zh-CN" dirty="0"/>
              <a:t>UINT32 Test2_Task_Handle;</a:t>
            </a:r>
          </a:p>
          <a:p>
            <a:r>
              <a:rPr lang="en-US" altLang="zh-CN" dirty="0"/>
              <a:t> /* </a:t>
            </a:r>
            <a:r>
              <a:rPr lang="zh-CN" altLang="en-US" dirty="0"/>
              <a:t>函数声明 *</a:t>
            </a:r>
            <a:r>
              <a:rPr lang="en-US" altLang="zh-CN" dirty="0"/>
              <a:t>/</a:t>
            </a:r>
          </a:p>
          <a:p>
            <a:r>
              <a:rPr lang="en-US" altLang="zh-CN" dirty="0"/>
              <a:t>static UINT32 </a:t>
            </a:r>
            <a:r>
              <a:rPr lang="en-US" altLang="zh-CN" dirty="0" err="1"/>
              <a:t>AppTaskCreate</a:t>
            </a:r>
            <a:r>
              <a:rPr lang="en-US" altLang="zh-CN" dirty="0"/>
              <a:t>(void);</a:t>
            </a:r>
          </a:p>
          <a:p>
            <a:r>
              <a:rPr lang="en-US" altLang="zh-CN" dirty="0"/>
              <a:t>static UINT32 Creat_Test1_Task(void);</a:t>
            </a:r>
          </a:p>
          <a:p>
            <a:r>
              <a:rPr lang="en-US" altLang="zh-CN" dirty="0"/>
              <a:t>static UINT32 Creat_Test2_Task(void);</a:t>
            </a:r>
          </a:p>
          <a:p>
            <a:r>
              <a:rPr lang="en-US" altLang="zh-CN" dirty="0"/>
              <a:t> static void Test1_Task(void);</a:t>
            </a:r>
          </a:p>
          <a:p>
            <a:r>
              <a:rPr lang="en-US" altLang="zh-CN" dirty="0"/>
              <a:t> static void Test2_Task(void);</a:t>
            </a:r>
          </a:p>
          <a:p>
            <a:r>
              <a:rPr lang="en-US" altLang="zh-CN" dirty="0"/>
              <a:t> static void </a:t>
            </a:r>
            <a:r>
              <a:rPr lang="en-US" altLang="zh-CN" dirty="0" err="1"/>
              <a:t>BSP_Init</a:t>
            </a:r>
            <a:r>
              <a:rPr lang="en-US" altLang="zh-CN" dirty="0"/>
              <a:t>(void);</a:t>
            </a:r>
          </a:p>
        </p:txBody>
      </p:sp>
      <p:cxnSp>
        <p:nvCxnSpPr>
          <p:cNvPr id="14" name="直接连接符 13"/>
          <p:cNvCxnSpPr/>
          <p:nvPr/>
        </p:nvCxnSpPr>
        <p:spPr>
          <a:xfrm flipH="1">
            <a:off x="5943679" y="2411783"/>
            <a:ext cx="40807"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6096000" y="2411783"/>
            <a:ext cx="76160" cy="4215951"/>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70157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105468"/>
            <a:ext cx="12193050" cy="56753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1" y="1032316"/>
            <a:ext cx="5919703" cy="5331551"/>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@brief  </a:t>
            </a:r>
            <a:r>
              <a:rPr lang="zh-CN" altLang="en-US" sz="1400" b="1" dirty="0">
                <a:solidFill>
                  <a:schemeClr val="tx1"/>
                </a:solidFill>
              </a:rPr>
              <a:t>主函数</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param</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retval</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 @note	  </a:t>
            </a:r>
            <a:r>
              <a:rPr lang="zh-CN" altLang="en-US" sz="1400" b="1" dirty="0">
                <a:solidFill>
                  <a:schemeClr val="tx1"/>
                </a:solidFill>
              </a:rPr>
              <a:t>第一步：开发板硬件初始化</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第二步：创建</a:t>
            </a:r>
            <a:r>
              <a:rPr lang="en-US" altLang="zh-CN" sz="1400" b="1" dirty="0">
                <a:solidFill>
                  <a:schemeClr val="tx1"/>
                </a:solidFill>
              </a:rPr>
              <a:t>App</a:t>
            </a:r>
            <a:r>
              <a:rPr lang="zh-CN" altLang="en-US" sz="1400" b="1" dirty="0">
                <a:solidFill>
                  <a:schemeClr val="tx1"/>
                </a:solidFill>
              </a:rPr>
              <a:t>应用任务</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第三步：启动</a:t>
            </a:r>
            <a:r>
              <a:rPr lang="en-US" altLang="zh-CN" sz="1400" b="1" dirty="0" err="1">
                <a:solidFill>
                  <a:schemeClr val="tx1"/>
                </a:solidFill>
              </a:rPr>
              <a:t>LiteOS</a:t>
            </a:r>
            <a:r>
              <a:rPr lang="zh-CN" altLang="en-US" sz="1400" b="1" dirty="0">
                <a:solidFill>
                  <a:schemeClr val="tx1"/>
                </a:solidFill>
              </a:rPr>
              <a:t>，开始多任务调度，启动失败时输出错误信息</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int main(void)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定义一个任务创建的返回值，默认为创建成功</a:t>
            </a:r>
          </a:p>
          <a:p>
            <a:pPr marL="0" indent="456971">
              <a:lnSpc>
                <a:spcPct val="125000"/>
              </a:lnSpc>
              <a:spcBef>
                <a:spcPts val="0"/>
              </a:spcBef>
              <a:buClr>
                <a:schemeClr val="tx2">
                  <a:lumMod val="75000"/>
                </a:schemeClr>
              </a:buClr>
              <a:buNone/>
            </a:pPr>
            <a:r>
              <a:rPr lang="en-US" altLang="zh-CN" sz="1400" b="1" dirty="0" err="1">
                <a:solidFill>
                  <a:schemeClr val="tx1"/>
                </a:solidFill>
              </a:rPr>
              <a:t>BSP_Init</a:t>
            </a:r>
            <a:r>
              <a:rPr lang="en-US" altLang="zh-CN" sz="1400" b="1" dirty="0">
                <a:solidFill>
                  <a:schemeClr val="tx1"/>
                </a:solidFill>
              </a:rPr>
              <a:t>(); /* </a:t>
            </a:r>
            <a:r>
              <a:rPr lang="zh-CN" altLang="en-US" sz="1400" b="1" dirty="0">
                <a:solidFill>
                  <a:schemeClr val="tx1"/>
                </a:solidFill>
              </a:rPr>
              <a:t>板级硬件初始化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a:t>
            </a:r>
            <a:r>
              <a:rPr lang="en-US" altLang="zh-CN" sz="1400" b="1" dirty="0" err="1">
                <a:solidFill>
                  <a:schemeClr val="tx1"/>
                </a:solidFill>
              </a:rPr>
              <a:t>LiteOS</a:t>
            </a:r>
            <a:r>
              <a:rPr lang="en-US" altLang="zh-CN" sz="1400" b="1" dirty="0">
                <a:solidFill>
                  <a:schemeClr val="tx1"/>
                </a:solidFill>
              </a:rPr>
              <a:t>-SRAM</a:t>
            </a:r>
            <a:r>
              <a:rPr lang="zh-CN" altLang="en-US" sz="1400" b="1" dirty="0">
                <a:solidFill>
                  <a:schemeClr val="tx1"/>
                </a:solidFill>
              </a:rPr>
              <a:t>动态创建多任务！</a:t>
            </a:r>
            <a:r>
              <a:rPr lang="en-US" altLang="zh-CN" sz="1400" b="1" dirty="0">
                <a:solidFill>
                  <a:schemeClr val="tx1"/>
                </a:solidFill>
              </a:rPr>
              <a:t>\n\n");</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LOS_KernelInit</a:t>
            </a: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内核初始化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核心初始化失败！代码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LOS_NOK;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AppTaskCreate</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a:t>
            </a:r>
            <a:r>
              <a:rPr lang="en-US" altLang="zh-CN" sz="1400" b="1" dirty="0" err="1">
                <a:solidFill>
                  <a:schemeClr val="tx1"/>
                </a:solidFill>
              </a:rPr>
              <a:t>AppTaskCreate</a:t>
            </a:r>
            <a:r>
              <a:rPr lang="zh-CN" altLang="en-US" sz="1400" b="1" dirty="0">
                <a:solidFill>
                  <a:schemeClr val="tx1"/>
                </a:solidFill>
              </a:rPr>
              <a:t>创建任务失败！代码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LOS_NOK;      }</a:t>
            </a:r>
          </a:p>
        </p:txBody>
      </p:sp>
      <p:sp>
        <p:nvSpPr>
          <p:cNvPr id="10" name="矩形 9"/>
          <p:cNvSpPr/>
          <p:nvPr/>
        </p:nvSpPr>
        <p:spPr>
          <a:xfrm>
            <a:off x="-4224" y="820086"/>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13" name="直接连接符 12"/>
          <p:cNvCxnSpPr/>
          <p:nvPr/>
        </p:nvCxnSpPr>
        <p:spPr>
          <a:xfrm>
            <a:off x="6391616" y="1982186"/>
            <a:ext cx="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533084" y="939567"/>
            <a:ext cx="5674917" cy="5484665"/>
          </a:xfrm>
        </p:spPr>
        <p:txBody>
          <a:bodyPr vert="horz" lIns="91440" tIns="45720" rIns="91440" bIns="45720" rtlCol="0">
            <a:noAutofit/>
          </a:bodyPr>
          <a:lstStyle/>
          <a:p>
            <a:pPr marL="0" indent="456971">
              <a:lnSpc>
                <a:spcPct val="11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开启</a:t>
            </a:r>
            <a:r>
              <a:rPr lang="en-US" altLang="zh-CN" sz="1400" b="1" dirty="0" err="1">
                <a:solidFill>
                  <a:schemeClr val="tx1"/>
                </a:solidFill>
              </a:rPr>
              <a:t>LiteOS</a:t>
            </a:r>
            <a:r>
              <a:rPr lang="zh-CN" altLang="en-US" sz="1400" b="1" dirty="0">
                <a:solidFill>
                  <a:schemeClr val="tx1"/>
                </a:solidFill>
              </a:rPr>
              <a:t>任务调度 *</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LOS_Start</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正常情况下不会执行到这里</a:t>
            </a:r>
          </a:p>
          <a:p>
            <a:pPr marL="0" indent="456971">
              <a:lnSpc>
                <a:spcPct val="110000"/>
              </a:lnSpc>
              <a:spcBef>
                <a:spcPts val="0"/>
              </a:spcBef>
              <a:buClr>
                <a:schemeClr val="tx2">
                  <a:lumMod val="75000"/>
                </a:schemeClr>
              </a:buClr>
              <a:buNone/>
            </a:pPr>
            <a:r>
              <a:rPr lang="en-US" altLang="zh-CN" sz="1400" b="1" dirty="0">
                <a:solidFill>
                  <a:schemeClr val="tx1"/>
                </a:solidFill>
              </a:rPr>
              <a:t>      while (1);</a:t>
            </a:r>
          </a:p>
          <a:p>
            <a:pPr marL="0" indent="456971">
              <a:lnSpc>
                <a:spcPct val="110000"/>
              </a:lnSpc>
              <a:spcBef>
                <a:spcPts val="0"/>
              </a:spcBef>
              <a:buClr>
                <a:schemeClr val="tx2">
                  <a:lumMod val="75000"/>
                </a:schemeClr>
              </a:buClr>
              <a:buNone/>
            </a:pPr>
            <a:r>
              <a:rPr lang="en-US" altLang="zh-CN" sz="1400" b="1" dirty="0">
                <a:solidFill>
                  <a:schemeClr val="tx1"/>
                </a:solidFill>
              </a:rPr>
              <a:t> }</a:t>
            </a:r>
          </a:p>
          <a:p>
            <a:pPr marL="0" indent="456971">
              <a:lnSpc>
                <a:spcPct val="110000"/>
              </a:lnSpc>
              <a:spcBef>
                <a:spcPts val="0"/>
              </a:spcBef>
              <a:buClr>
                <a:schemeClr val="tx2">
                  <a:lumMod val="75000"/>
                </a:schemeClr>
              </a:buClr>
              <a:buNone/>
            </a:pP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AppTaskCreate</a:t>
            </a:r>
            <a:endParaRPr lang="en-US" altLang="zh-CN" sz="1400" b="1" dirty="0">
              <a:solidFill>
                <a:schemeClr val="tx1"/>
              </a:solidFill>
            </a:endParaRPr>
          </a:p>
          <a:p>
            <a:pPr marL="0" indent="456971">
              <a:lnSpc>
                <a:spcPct val="11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任务创建，为了方便管理，所有的任务创建函数都可以放在这个函数中</a:t>
            </a:r>
          </a:p>
          <a:p>
            <a:pPr marL="0" indent="456971">
              <a:lnSpc>
                <a:spcPct val="11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无</a:t>
            </a:r>
          </a:p>
          <a:p>
            <a:pPr marL="0" indent="456971">
              <a:lnSpc>
                <a:spcPct val="11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10000"/>
              </a:lnSpc>
              <a:spcBef>
                <a:spcPts val="0"/>
              </a:spcBef>
              <a:buClr>
                <a:schemeClr val="tx2">
                  <a:lumMod val="75000"/>
                </a:schemeClr>
              </a:buClr>
              <a:buNone/>
            </a:pP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static UINT32 </a:t>
            </a:r>
            <a:r>
              <a:rPr lang="en-US" altLang="zh-CN" sz="1400" b="1" dirty="0" err="1">
                <a:solidFill>
                  <a:schemeClr val="tx1"/>
                </a:solidFill>
              </a:rPr>
              <a:t>AppTaskCreate</a:t>
            </a:r>
            <a:r>
              <a:rPr lang="en-US" altLang="zh-CN" sz="1400" b="1" dirty="0">
                <a:solidFill>
                  <a:schemeClr val="tx1"/>
                </a:solidFill>
              </a:rPr>
              <a:t>(void) {</a:t>
            </a:r>
          </a:p>
          <a:p>
            <a:pPr marL="0" indent="456971">
              <a:lnSpc>
                <a:spcPct val="11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10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Creat_Test1_Task();</a:t>
            </a:r>
          </a:p>
          <a:p>
            <a:pPr marL="0" indent="456971">
              <a:lnSpc>
                <a:spcPct val="110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10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("Test1_Task</a:t>
            </a:r>
            <a:r>
              <a:rPr lang="zh-CN" altLang="en-US" sz="1400" b="1" dirty="0">
                <a:solidFill>
                  <a:schemeClr val="tx1"/>
                </a:solidFill>
              </a:rPr>
              <a:t>任务创建失败！代码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 }</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Creat_Test2_Task();</a:t>
            </a:r>
          </a:p>
          <a:p>
            <a:pPr marL="0" indent="456971">
              <a:lnSpc>
                <a:spcPct val="110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10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("Test2_Task</a:t>
            </a:r>
            <a:r>
              <a:rPr lang="zh-CN" altLang="en-US" sz="1400" b="1" dirty="0">
                <a:solidFill>
                  <a:schemeClr val="tx1"/>
                </a:solidFill>
              </a:rPr>
              <a:t>任务创建失败！代码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 }</a:t>
            </a:r>
          </a:p>
          <a:p>
            <a:pPr marL="0" indent="456971">
              <a:lnSpc>
                <a:spcPct val="110000"/>
              </a:lnSpc>
              <a:spcBef>
                <a:spcPts val="0"/>
              </a:spcBef>
              <a:buClr>
                <a:schemeClr val="tx2">
                  <a:lumMod val="75000"/>
                </a:schemeClr>
              </a:buClr>
              <a:buNone/>
            </a:pPr>
            <a:r>
              <a:rPr lang="en-US" altLang="zh-CN" sz="1400" b="1" dirty="0">
                <a:solidFill>
                  <a:schemeClr val="tx1"/>
                </a:solidFill>
              </a:rPr>
              <a:t>      return LOS_OK;</a:t>
            </a:r>
          </a:p>
          <a:p>
            <a:pPr marL="0" indent="456971">
              <a:lnSpc>
                <a:spcPct val="110000"/>
              </a:lnSpc>
              <a:spcBef>
                <a:spcPts val="0"/>
              </a:spcBef>
              <a:buClr>
                <a:schemeClr val="tx2">
                  <a:lumMod val="75000"/>
                </a:schemeClr>
              </a:buClr>
              <a:buNone/>
            </a:pPr>
            <a:r>
              <a:rPr lang="en-US" altLang="zh-CN" sz="1400" b="1" dirty="0">
                <a:solidFill>
                  <a:schemeClr val="tx1"/>
                </a:solidFill>
              </a:rPr>
              <a:t>}</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073070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838884"/>
            <a:ext cx="12193050" cy="59185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00154" y="750627"/>
            <a:ext cx="5472817" cy="4722268"/>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AppTaskCreate</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任务创建，为了方便管理，所有的任务创建函数都可以放在这个函数中</a:t>
            </a:r>
          </a:p>
          <a:p>
            <a:pPr marL="0" indent="456971">
              <a:lnSpc>
                <a:spcPct val="125000"/>
              </a:lnSpc>
              <a:spcBef>
                <a:spcPts val="0"/>
              </a:spcBef>
              <a:buClr>
                <a:schemeClr val="tx2">
                  <a:lumMod val="75000"/>
                </a:schemeClr>
              </a:buClr>
              <a:buNone/>
            </a:pPr>
            <a:r>
              <a:rPr lang="zh-CN" altLang="en-US" sz="1400" b="1" dirty="0">
                <a:solidFill>
                  <a:schemeClr val="tx1"/>
                </a:solidFill>
              </a:rPr>
              <a:t> * </a:t>
            </a:r>
            <a:r>
              <a:rPr lang="en-US" altLang="zh-CN" sz="1400" b="1" dirty="0">
                <a:solidFill>
                  <a:schemeClr val="tx1"/>
                </a:solidFill>
              </a:rPr>
              <a:t>@ </a:t>
            </a:r>
            <a:r>
              <a:rPr lang="zh-CN" altLang="en-US" sz="1400" b="1" dirty="0">
                <a:solidFill>
                  <a:schemeClr val="tx1"/>
                </a:solidFill>
              </a:rPr>
              <a:t>参数    ： 无</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("Test1_Task</a:t>
            </a:r>
            <a:r>
              <a:rPr lang="zh-CN" altLang="en-US" sz="1400" b="1" dirty="0">
                <a:solidFill>
                  <a:schemeClr val="tx1"/>
                </a:solidFill>
              </a:rPr>
              <a:t>任务创建失败！代码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Creat_Test2_Task();</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("Test2_Task</a:t>
            </a:r>
            <a:r>
              <a:rPr lang="zh-CN" altLang="en-US" sz="1400" b="1" dirty="0">
                <a:solidFill>
                  <a:schemeClr val="tx1"/>
                </a:solidFill>
              </a:rPr>
              <a:t>任务创建失败！代码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return LOS_OK;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endParaRPr lang="en-US" altLang="zh-CN" sz="1400" b="1" dirty="0">
              <a:solidFill>
                <a:schemeClr val="tx1"/>
              </a:solidFill>
            </a:endParaRPr>
          </a:p>
        </p:txBody>
      </p:sp>
      <p:cxnSp>
        <p:nvCxnSpPr>
          <p:cNvPr id="12" name="直接连接符 11"/>
          <p:cNvCxnSpPr/>
          <p:nvPr/>
        </p:nvCxnSpPr>
        <p:spPr>
          <a:xfrm>
            <a:off x="5984486"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172160"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359834" y="817568"/>
            <a:ext cx="5832166" cy="4722268"/>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static UINT32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定义一个创建任务的返回类型，初始化为创建成功的返回值</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定义一个用于创建任务的参数结构体</a:t>
            </a:r>
          </a:p>
          <a:p>
            <a:pPr marL="0" indent="456971">
              <a:lnSpc>
                <a:spcPct val="125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"Test1_Task";	/* </a:t>
            </a:r>
            <a:r>
              <a:rPr lang="zh-CN" altLang="en-US" sz="1400" b="1" dirty="0">
                <a:solidFill>
                  <a:schemeClr val="tx1"/>
                </a:solidFill>
              </a:rPr>
              <a:t>任务名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1024;	 /* </a:t>
            </a:r>
            <a:r>
              <a:rPr lang="zh-CN" altLang="en-US" sz="1400" b="1" dirty="0">
                <a:solidFill>
                  <a:schemeClr val="tx1"/>
                </a:solidFill>
              </a:rPr>
              <a:t>栈大小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330998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2" y="695687"/>
            <a:ext cx="5604734" cy="5856214"/>
          </a:xfrm>
        </p:spPr>
        <p:txBody>
          <a:bodyPr vert="horz" lIns="91440" tIns="45720" rIns="91440" bIns="45720" rtlCol="0">
            <a:noAutofit/>
          </a:bodyPr>
          <a:lstStyle/>
          <a:p>
            <a:pPr marL="0" indent="456971">
              <a:lnSpc>
                <a:spcPct val="100000"/>
              </a:lnSpc>
              <a:spcBef>
                <a:spcPts val="0"/>
              </a:spcBef>
              <a:buClr>
                <a:schemeClr val="tx2">
                  <a:lumMod val="75000"/>
                </a:schemeClr>
              </a:buClr>
              <a:buNone/>
            </a:pP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Creat_Test2_Task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Test2_Task</a:t>
            </a:r>
            <a:r>
              <a:rPr lang="zh-CN" altLang="en-US" sz="1400" b="1" dirty="0">
                <a:solidFill>
                  <a:schemeClr val="tx1"/>
                </a:solidFill>
              </a:rPr>
              <a:t>任务</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static UINT32 Creat_Test2_Task()</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定义一个创建任务的返回类型，初始化为创建成功的返回值</a:t>
            </a:r>
          </a:p>
          <a:p>
            <a:pPr marL="0" indent="456971">
              <a:lnSpc>
                <a:spcPct val="100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00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4;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"Test2_Task";/* </a:t>
            </a:r>
            <a:r>
              <a:rPr lang="zh-CN" altLang="en-US" sz="1400" b="1" dirty="0">
                <a:solidFill>
                  <a:schemeClr val="tx1"/>
                </a:solidFill>
              </a:rPr>
              <a:t>任务名*</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(TSK_ENTRY_FUNC)Test2_Task;</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1024;/* </a:t>
            </a:r>
            <a:r>
              <a:rPr lang="zh-CN" altLang="en-US" sz="1400" b="1" dirty="0">
                <a:solidFill>
                  <a:schemeClr val="tx1"/>
                </a:solidFill>
              </a:rPr>
              <a:t>栈大小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(&amp;Test2_Task_Handle,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Test1_Task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Test1_Task</a:t>
            </a:r>
            <a:r>
              <a:rPr lang="zh-CN" altLang="en-US" sz="1400" b="1" dirty="0">
                <a:solidFill>
                  <a:schemeClr val="tx1"/>
                </a:solidFill>
              </a:rPr>
              <a:t>任务实现</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a:t>
            </a:r>
          </a:p>
        </p:txBody>
      </p:sp>
      <p:cxnSp>
        <p:nvCxnSpPr>
          <p:cNvPr id="12" name="直接连接符 11"/>
          <p:cNvCxnSpPr/>
          <p:nvPr/>
        </p:nvCxnSpPr>
        <p:spPr>
          <a:xfrm>
            <a:off x="5984486"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172160"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628597" y="1372343"/>
            <a:ext cx="5183126" cy="5255719"/>
          </a:xfrm>
        </p:spPr>
        <p:txBody>
          <a:bodyPr vert="horz" lIns="91440" tIns="45720" rIns="91440" bIns="45720" rtlCol="0">
            <a:noAutofit/>
          </a:bodyPr>
          <a:lstStyle/>
          <a:p>
            <a:pPr marL="0" indent="456971">
              <a:lnSpc>
                <a:spcPct val="100000"/>
              </a:lnSpc>
              <a:spcBef>
                <a:spcPts val="0"/>
              </a:spcBef>
              <a:buClr>
                <a:schemeClr val="tx2">
                  <a:lumMod val="75000"/>
                </a:schemeClr>
              </a:buClr>
              <a:buNone/>
            </a:pPr>
            <a:r>
              <a:rPr lang="en-US" altLang="zh-CN" sz="1400" b="1" dirty="0">
                <a:solidFill>
                  <a:schemeClr val="tx1"/>
                </a:solidFill>
              </a:rPr>
              <a:t> static void Test1_Task(void)</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while (1) {</a:t>
            </a:r>
          </a:p>
          <a:p>
            <a:pPr marL="0" indent="456971">
              <a:lnSpc>
                <a:spcPct val="100000"/>
              </a:lnSpc>
              <a:spcBef>
                <a:spcPts val="0"/>
              </a:spcBef>
              <a:buClr>
                <a:schemeClr val="tx2">
                  <a:lumMod val="75000"/>
                </a:schemeClr>
              </a:buClr>
              <a:buNone/>
            </a:pPr>
            <a:r>
              <a:rPr lang="en-US" altLang="zh-CN" sz="1400" b="1" dirty="0">
                <a:solidFill>
                  <a:schemeClr val="tx1"/>
                </a:solidFill>
              </a:rPr>
              <a:t>           LED2_TOGGLE;</a:t>
            </a:r>
          </a:p>
          <a:p>
            <a:pPr marL="0" indent="456971">
              <a:lnSpc>
                <a:spcPct val="100000"/>
              </a:lnSpc>
              <a:spcBef>
                <a:spcPts val="0"/>
              </a:spcBef>
              <a:buClr>
                <a:schemeClr val="tx2">
                  <a:lumMod val="75000"/>
                </a:schemeClr>
              </a:buClr>
              <a:buNone/>
            </a:pPr>
            <a:r>
              <a:rPr lang="en-US" altLang="zh-CN" sz="1400" b="1" dirty="0">
                <a:solidFill>
                  <a:schemeClr val="tx1"/>
                </a:solidFill>
              </a:rPr>
              <a:t>           printf("</a:t>
            </a:r>
            <a:r>
              <a:rPr lang="zh-CN" altLang="en-US" sz="1400" b="1" dirty="0">
                <a:solidFill>
                  <a:schemeClr val="tx1"/>
                </a:solidFill>
              </a:rPr>
              <a:t>任务</a:t>
            </a:r>
            <a:r>
              <a:rPr lang="en-US" altLang="zh-CN" sz="1400" b="1" dirty="0">
                <a:solidFill>
                  <a:schemeClr val="tx1"/>
                </a:solidFill>
              </a:rPr>
              <a:t>1</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1000ticks</a:t>
            </a:r>
            <a:r>
              <a:rPr lang="zh-CN" altLang="en-US" sz="1400" b="1" dirty="0">
                <a:solidFill>
                  <a:schemeClr val="tx1"/>
                </a:solidFill>
              </a:rPr>
              <a:t>打印一次信息</a:t>
            </a:r>
            <a:r>
              <a:rPr lang="en-US" altLang="zh-CN" sz="1400" b="1" dirty="0">
                <a:solidFill>
                  <a:schemeClr val="tx1"/>
                </a:solidFill>
              </a:rPr>
              <a:t>\r\n");</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LOS_TaskDelay</a:t>
            </a:r>
            <a:r>
              <a:rPr lang="en-US" altLang="zh-CN" sz="1400" b="1" dirty="0">
                <a:solidFill>
                  <a:schemeClr val="tx1"/>
                </a:solidFill>
              </a:rPr>
              <a:t>(1000);</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Test2_Task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Test2_Task</a:t>
            </a:r>
            <a:r>
              <a:rPr lang="zh-CN" altLang="en-US" sz="1400" b="1" dirty="0">
                <a:solidFill>
                  <a:schemeClr val="tx1"/>
                </a:solidFill>
              </a:rPr>
              <a:t>任务实现</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static void Test2_Task(void)</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while (1) {</a:t>
            </a:r>
          </a:p>
          <a:p>
            <a:pPr marL="0" indent="456971">
              <a:lnSpc>
                <a:spcPct val="100000"/>
              </a:lnSpc>
              <a:spcBef>
                <a:spcPts val="0"/>
              </a:spcBef>
              <a:buClr>
                <a:schemeClr val="tx2">
                  <a:lumMod val="75000"/>
                </a:schemeClr>
              </a:buClr>
              <a:buNone/>
            </a:pPr>
            <a:r>
              <a:rPr lang="en-US" altLang="zh-CN" sz="1400" b="1" dirty="0">
                <a:solidFill>
                  <a:schemeClr val="tx1"/>
                </a:solidFill>
              </a:rPr>
              <a:t>LED1_TOGGLE;</a:t>
            </a:r>
          </a:p>
          <a:p>
            <a:pPr marL="0" indent="456971">
              <a:lnSpc>
                <a:spcPct val="100000"/>
              </a:lnSpc>
              <a:spcBef>
                <a:spcPts val="0"/>
              </a:spcBef>
              <a:buClr>
                <a:schemeClr val="tx2">
                  <a:lumMod val="75000"/>
                </a:schemeClr>
              </a:buClr>
              <a:buNone/>
            </a:pPr>
            <a:r>
              <a:rPr lang="en-US" altLang="zh-CN" sz="1400" b="1" dirty="0" err="1">
                <a:solidFill>
                  <a:schemeClr val="tx1"/>
                </a:solidFill>
              </a:rPr>
              <a:t>printf</a:t>
            </a:r>
            <a:r>
              <a:rPr lang="en-US" altLang="zh-CN" sz="1400" b="1" dirty="0">
                <a:solidFill>
                  <a:schemeClr val="tx1"/>
                </a:solidFill>
              </a:rPr>
              <a:t>("</a:t>
            </a:r>
            <a:r>
              <a:rPr lang="zh-CN" altLang="en-US" sz="1400" b="1" dirty="0">
                <a:solidFill>
                  <a:schemeClr val="tx1"/>
                </a:solidFill>
              </a:rPr>
              <a:t>任务</a:t>
            </a:r>
            <a:r>
              <a:rPr lang="en-US" altLang="zh-CN" sz="1400" b="1" dirty="0">
                <a:solidFill>
                  <a:schemeClr val="tx1"/>
                </a:solidFill>
              </a:rPr>
              <a:t>2</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500ticks</a:t>
            </a:r>
            <a:r>
              <a:rPr lang="zh-CN" altLang="en-US" sz="1400" b="1" dirty="0">
                <a:solidFill>
                  <a:schemeClr val="tx1"/>
                </a:solidFill>
              </a:rPr>
              <a:t>打印一次信息</a:t>
            </a:r>
            <a:r>
              <a:rPr lang="en-US" altLang="zh-CN" sz="1400" b="1" dirty="0">
                <a:solidFill>
                  <a:schemeClr val="tx1"/>
                </a:solidFill>
              </a:rPr>
              <a:t>\n");</a:t>
            </a:r>
          </a:p>
          <a:p>
            <a:pPr marL="0" indent="456971">
              <a:lnSpc>
                <a:spcPct val="100000"/>
              </a:lnSpc>
              <a:spcBef>
                <a:spcPts val="0"/>
              </a:spcBef>
              <a:buClr>
                <a:schemeClr val="tx2">
                  <a:lumMod val="75000"/>
                </a:schemeClr>
              </a:buClr>
              <a:buNone/>
            </a:pPr>
            <a:r>
              <a:rPr lang="en-US" altLang="zh-CN" sz="1400" b="1" dirty="0" err="1">
                <a:solidFill>
                  <a:schemeClr val="tx1"/>
                </a:solidFill>
              </a:rPr>
              <a:t>LOS_TaskDelay</a:t>
            </a:r>
            <a:r>
              <a:rPr lang="en-US" altLang="zh-CN" sz="1400" b="1" dirty="0">
                <a:solidFill>
                  <a:schemeClr val="tx1"/>
                </a:solidFill>
              </a:rPr>
              <a:t>(500);    }</a:t>
            </a:r>
          </a:p>
          <a:p>
            <a:pPr marL="0" indent="456971">
              <a:lnSpc>
                <a:spcPct val="100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4209371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3" y="1372343"/>
            <a:ext cx="6896734" cy="5026910"/>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err="1">
                <a:solidFill>
                  <a:schemeClr val="tx1"/>
                </a:solidFill>
              </a:rPr>
              <a:t>BSP_Init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板级外设初始化，所有开发板的初始化均可放在这个函数中</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STM32</a:t>
            </a:r>
            <a:r>
              <a:rPr lang="zh-CN" altLang="en-US" sz="1400" b="1" dirty="0">
                <a:solidFill>
                  <a:schemeClr val="tx1"/>
                </a:solidFill>
              </a:rPr>
              <a:t>中断优先级分组为</a:t>
            </a:r>
            <a:r>
              <a:rPr lang="en-US" altLang="zh-CN" sz="1400" b="1" dirty="0">
                <a:solidFill>
                  <a:schemeClr val="tx1"/>
                </a:solidFill>
              </a:rPr>
              <a:t>4</a:t>
            </a:r>
            <a:r>
              <a:rPr lang="zh-CN" altLang="en-US" sz="1400" b="1" dirty="0">
                <a:solidFill>
                  <a:schemeClr val="tx1"/>
                </a:solidFill>
              </a:rPr>
              <a:t>，即</a:t>
            </a:r>
            <a:r>
              <a:rPr lang="en-US" altLang="zh-CN" sz="1400" b="1" dirty="0">
                <a:solidFill>
                  <a:schemeClr val="tx1"/>
                </a:solidFill>
              </a:rPr>
              <a:t>4bit</a:t>
            </a:r>
            <a:r>
              <a:rPr lang="zh-CN" altLang="en-US" sz="1400" b="1" dirty="0">
                <a:solidFill>
                  <a:schemeClr val="tx1"/>
                </a:solidFill>
              </a:rPr>
              <a:t>都用来表示抢占优先级，范围为</a:t>
            </a:r>
            <a:r>
              <a:rPr lang="en-US" altLang="zh-CN" sz="1400" b="1" dirty="0">
                <a:solidFill>
                  <a:schemeClr val="tx1"/>
                </a:solidFill>
              </a:rPr>
              <a:t>0</a:t>
            </a:r>
            <a:r>
              <a:rPr lang="zh-CN" altLang="en-US" sz="1400" b="1" dirty="0">
                <a:solidFill>
                  <a:schemeClr val="tx1"/>
                </a:solidFill>
              </a:rPr>
              <a:t>～</a:t>
            </a:r>
            <a:r>
              <a:rPr lang="en-US" altLang="zh-CN" sz="1400" b="1" dirty="0">
                <a:solidFill>
                  <a:schemeClr val="tx1"/>
                </a:solidFill>
              </a:rPr>
              <a:t>15</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优先级分组只需要分组一次，以后如果有其他任务需要用到中断，</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则统一使用这个优先级分组，不要再分组，切记</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NVIC_PriorityGroupConfig</a:t>
            </a:r>
            <a:r>
              <a:rPr lang="en-US" altLang="zh-CN" sz="1400" b="1" dirty="0">
                <a:solidFill>
                  <a:schemeClr val="tx1"/>
                </a:solidFill>
              </a:rPr>
              <a:t>( NVIC_PriorityGroup_4 );</a:t>
            </a:r>
          </a:p>
          <a:p>
            <a:pPr marL="0" indent="456971">
              <a:lnSpc>
                <a:spcPct val="125000"/>
              </a:lnSpc>
              <a:spcBef>
                <a:spcPts val="0"/>
              </a:spcBef>
              <a:buClr>
                <a:schemeClr val="tx2">
                  <a:lumMod val="75000"/>
                </a:schemeClr>
              </a:buClr>
              <a:buNone/>
            </a:pPr>
            <a:r>
              <a:rPr lang="en-US" altLang="zh-CN" sz="1400" b="1" dirty="0">
                <a:solidFill>
                  <a:schemeClr val="tx1"/>
                </a:solidFill>
              </a:rPr>
              <a:t>      /* LED </a:t>
            </a:r>
            <a:r>
              <a:rPr lang="zh-CN" altLang="en-US" sz="1400" b="1" dirty="0">
                <a:solidFill>
                  <a:schemeClr val="tx1"/>
                </a:solidFill>
              </a:rPr>
              <a:t>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LED_GPIO_Config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串口初始化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USART_Config</a:t>
            </a:r>
            <a:r>
              <a:rPr lang="en-US" altLang="zh-CN" sz="1400" b="1" dirty="0">
                <a:solidFill>
                  <a:schemeClr val="tx1"/>
                </a:solidFill>
              </a:rPr>
              <a:t>(); 200 }</a:t>
            </a:r>
          </a:p>
          <a:p>
            <a:pPr marL="0" indent="456971">
              <a:lnSpc>
                <a:spcPct val="125000"/>
              </a:lnSpc>
              <a:spcBef>
                <a:spcPts val="0"/>
              </a:spcBef>
              <a:buClr>
                <a:schemeClr val="tx2">
                  <a:lumMod val="75000"/>
                </a:schemeClr>
              </a:buClr>
              <a:buNone/>
            </a:pPr>
            <a:r>
              <a:rPr lang="en-US" altLang="zh-CN" sz="1400" b="1" dirty="0">
                <a:solidFill>
                  <a:schemeClr val="tx1"/>
                </a:solidFill>
              </a:rPr>
              <a:t> /************************END OF FILE**********************/</a:t>
            </a:r>
          </a:p>
        </p:txBody>
      </p:sp>
      <p:sp>
        <p:nvSpPr>
          <p:cNvPr id="10" name="矩形 9"/>
          <p:cNvSpPr/>
          <p:nvPr/>
        </p:nvSpPr>
        <p:spPr>
          <a:xfrm>
            <a:off x="-4224"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p:cNvSpPr/>
          <p:nvPr/>
        </p:nvSpPr>
        <p:spPr>
          <a:xfrm>
            <a:off x="7540141" y="3809802"/>
            <a:ext cx="4670117" cy="248297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b="1" dirty="0"/>
          </a:p>
        </p:txBody>
      </p:sp>
      <p:sp>
        <p:nvSpPr>
          <p:cNvPr id="16" name="内容占位符 2"/>
          <p:cNvSpPr txBox="1">
            <a:spLocks/>
          </p:cNvSpPr>
          <p:nvPr/>
        </p:nvSpPr>
        <p:spPr>
          <a:xfrm>
            <a:off x="7701607" y="3885962"/>
            <a:ext cx="4483265" cy="2331300"/>
          </a:xfrm>
          <a:prstGeom prst="rect">
            <a:avLst/>
          </a:prstGeom>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sz="1999" b="1" dirty="0">
                <a:solidFill>
                  <a:schemeClr val="bg1"/>
                </a:solidFill>
              </a:rPr>
              <a:t>本例程只创建了两个任务，如果想要创建</a:t>
            </a:r>
            <a:r>
              <a:rPr lang="en-US" altLang="zh-CN" sz="1999" b="1" dirty="0">
                <a:solidFill>
                  <a:schemeClr val="bg1"/>
                </a:solidFill>
              </a:rPr>
              <a:t>3</a:t>
            </a:r>
            <a:r>
              <a:rPr lang="zh-CN" altLang="en-US" sz="1999" b="1" dirty="0">
                <a:solidFill>
                  <a:schemeClr val="bg1"/>
                </a:solidFill>
              </a:rPr>
              <a:t>个、</a:t>
            </a:r>
            <a:r>
              <a:rPr lang="en-US" altLang="zh-CN" sz="1999" b="1" dirty="0">
                <a:solidFill>
                  <a:schemeClr val="bg1"/>
                </a:solidFill>
              </a:rPr>
              <a:t>4</a:t>
            </a:r>
            <a:r>
              <a:rPr lang="zh-CN" altLang="en-US" sz="1999" b="1" dirty="0">
                <a:solidFill>
                  <a:schemeClr val="bg1"/>
                </a:solidFill>
              </a:rPr>
              <a:t>个甚至更多个任务，其过程也是一样的，容易忽略的地方是任务栈的大小、优先级等，读者可以根据创建任务的重要性与复杂度等配置不同的任务栈空间及任务优先级。</a:t>
            </a:r>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3.4</a:t>
            </a:r>
            <a:r>
              <a:rPr lang="zh-CN" altLang="en-US" sz="2800" b="1" dirty="0">
                <a:cs typeface="+mn-ea"/>
                <a:sym typeface="+mn-lt"/>
              </a:rPr>
              <a:t>创建多任务</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043743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a:cs typeface="+mn-ea"/>
                <a:sym typeface="+mn-lt"/>
              </a:rPr>
              <a:t>3.5LiteOS</a:t>
            </a:r>
            <a:r>
              <a:rPr lang="zh-CN" altLang="en-US" sz="2800" b="1" dirty="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0" name="Picture 2" descr="zh-cn_image_03085990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226" y="750627"/>
            <a:ext cx="9516110" cy="5758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8148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一</a:t>
            </a:r>
            <a:r>
              <a:rPr lang="en-US" altLang="zh-CN" sz="2800" b="1" dirty="0">
                <a:solidFill>
                  <a:schemeClr val="bg1"/>
                </a:solidFill>
                <a:cs typeface="+mn-ea"/>
                <a:sym typeface="+mn-lt"/>
              </a:rPr>
              <a:t>.</a:t>
            </a:r>
            <a:r>
              <a:rPr lang="zh-CN" altLang="en-US" sz="2800" b="1" dirty="0">
                <a:solidFill>
                  <a:schemeClr val="bg1"/>
                </a:solidFill>
                <a:cs typeface="+mn-ea"/>
                <a:sym typeface="+mn-lt"/>
              </a:rPr>
              <a:t>消息队列的基本概念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矩形 7"/>
          <p:cNvSpPr/>
          <p:nvPr/>
        </p:nvSpPr>
        <p:spPr>
          <a:xfrm>
            <a:off x="207818" y="925452"/>
            <a:ext cx="10543309" cy="1785104"/>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消息队列（简称队列）</a:t>
            </a:r>
            <a:endParaRPr lang="en-US" altLang="zh-CN" dirty="0">
              <a:solidFill>
                <a:srgbClr val="000000"/>
              </a:solidFill>
              <a:latin typeface="宋体" panose="02010600030101010101" pitchFamily="2" charset="-122"/>
              <a:ea typeface="宋体" panose="02010600030101010101" pitchFamily="2" charset="-122"/>
            </a:endParaRPr>
          </a:p>
          <a:p>
            <a:r>
              <a:rPr lang="en-US" altLang="zh-CN" dirty="0">
                <a:solidFill>
                  <a:srgbClr val="000000"/>
                </a:solidFill>
                <a:latin typeface="宋体" panose="02010600030101010101" pitchFamily="2" charset="-122"/>
                <a:ea typeface="宋体" panose="02010600030101010101" pitchFamily="2" charset="-122"/>
              </a:rPr>
              <a:t>	</a:t>
            </a:r>
            <a:r>
              <a:rPr lang="en-US" altLang="zh-CN" dirty="0"/>
              <a:t>1</a:t>
            </a:r>
            <a:r>
              <a:rPr lang="zh-CN" altLang="en-US" dirty="0"/>
              <a:t>）一种用于任务间通信的</a:t>
            </a:r>
            <a:r>
              <a:rPr lang="zh-CN" altLang="en-US" dirty="0">
                <a:solidFill>
                  <a:schemeClr val="accent1">
                    <a:lumMod val="60000"/>
                    <a:lumOff val="40000"/>
                  </a:schemeClr>
                </a:solidFill>
              </a:rPr>
              <a:t>数据结构</a:t>
            </a:r>
            <a:r>
              <a:rPr lang="zh-CN" altLang="en-US" dirty="0"/>
              <a:t>，队列可以在</a:t>
            </a:r>
            <a:r>
              <a:rPr lang="zh-CN" altLang="en-US" dirty="0">
                <a:solidFill>
                  <a:schemeClr val="accent1">
                    <a:lumMod val="60000"/>
                    <a:lumOff val="40000"/>
                  </a:schemeClr>
                </a:solidFill>
              </a:rPr>
              <a:t>任务与任务间</a:t>
            </a:r>
            <a:r>
              <a:rPr lang="zh-CN" altLang="en-US" dirty="0"/>
              <a:t>、</a:t>
            </a:r>
            <a:r>
              <a:rPr lang="zh-CN" altLang="en-US" dirty="0">
                <a:solidFill>
                  <a:schemeClr val="accent1">
                    <a:lumMod val="60000"/>
                    <a:lumOff val="40000"/>
                  </a:schemeClr>
                </a:solidFill>
              </a:rPr>
              <a:t>中断和任务间</a:t>
            </a:r>
            <a:r>
              <a:rPr lang="zh-CN" altLang="en-US" dirty="0"/>
              <a:t>传送信息；</a:t>
            </a:r>
            <a:endParaRPr lang="en-US" altLang="zh-CN" dirty="0"/>
          </a:p>
          <a:p>
            <a:r>
              <a:rPr lang="en-US" altLang="zh-CN" dirty="0">
                <a:solidFill>
                  <a:srgbClr val="000000"/>
                </a:solidFill>
                <a:latin typeface="宋体" panose="02010600030101010101" pitchFamily="2" charset="-122"/>
                <a:ea typeface="宋体" panose="02010600030101010101" pitchFamily="2" charset="-122"/>
              </a:rPr>
              <a:t>	</a:t>
            </a:r>
            <a:r>
              <a:rPr lang="en-US" altLang="zh-CN" dirty="0"/>
              <a:t>2</a:t>
            </a:r>
            <a:r>
              <a:rPr lang="zh-CN" altLang="en-US" dirty="0"/>
              <a:t>）每个消息的长度不固定；</a:t>
            </a:r>
            <a:endParaRPr lang="en-US" altLang="zh-CN" dirty="0"/>
          </a:p>
          <a:p>
            <a:r>
              <a:rPr lang="en-US" altLang="zh-CN" dirty="0"/>
              <a:t>	3</a:t>
            </a:r>
            <a:r>
              <a:rPr lang="zh-CN" altLang="en-US" dirty="0"/>
              <a:t>）异步通信方式；</a:t>
            </a:r>
            <a:endParaRPr lang="en-US" altLang="zh-CN" dirty="0"/>
          </a:p>
          <a:p>
            <a:r>
              <a:rPr lang="en-US" altLang="zh-CN" dirty="0"/>
              <a:t>	4</a:t>
            </a:r>
            <a:r>
              <a:rPr lang="zh-CN" altLang="en-US" dirty="0"/>
              <a:t>）遵循</a:t>
            </a:r>
            <a:r>
              <a:rPr lang="zh-CN" altLang="en-US" dirty="0">
                <a:solidFill>
                  <a:schemeClr val="accent1">
                    <a:lumMod val="60000"/>
                    <a:lumOff val="40000"/>
                  </a:schemeClr>
                </a:solidFill>
              </a:rPr>
              <a:t>先进先出（</a:t>
            </a:r>
            <a:r>
              <a:rPr lang="en-US" altLang="zh-CN" dirty="0">
                <a:solidFill>
                  <a:schemeClr val="accent1">
                    <a:lumMod val="60000"/>
                    <a:lumOff val="40000"/>
                  </a:schemeClr>
                </a:solidFill>
              </a:rPr>
              <a:t>FIFO</a:t>
            </a:r>
            <a:r>
              <a:rPr lang="zh-CN" altLang="en-US" dirty="0">
                <a:solidFill>
                  <a:schemeClr val="accent1">
                    <a:lumMod val="60000"/>
                    <a:lumOff val="40000"/>
                  </a:schemeClr>
                </a:solidFill>
              </a:rPr>
              <a:t>）原则</a:t>
            </a:r>
            <a:r>
              <a:rPr lang="zh-CN" altLang="en-US" dirty="0"/>
              <a:t>，特殊情况下可采用后进先出（</a:t>
            </a:r>
            <a:r>
              <a:rPr lang="en-US" altLang="zh-CN" dirty="0"/>
              <a:t>LIFO</a:t>
            </a:r>
            <a:r>
              <a:rPr lang="zh-CN" altLang="en-US" dirty="0"/>
              <a:t>）用以处理紧急消息；</a:t>
            </a:r>
            <a:endParaRPr lang="en-US" altLang="zh-CN" dirty="0"/>
          </a:p>
          <a:p>
            <a:r>
              <a:rPr lang="en-US" altLang="zh-CN" dirty="0"/>
              <a:t>              5</a:t>
            </a:r>
            <a:r>
              <a:rPr lang="zh-CN" altLang="en-US" dirty="0"/>
              <a:t>）消息队列可以是多个。</a:t>
            </a:r>
          </a:p>
        </p:txBody>
      </p:sp>
      <p:sp>
        <p:nvSpPr>
          <p:cNvPr id="13" name="矩形 12"/>
          <p:cNvSpPr/>
          <p:nvPr/>
        </p:nvSpPr>
        <p:spPr>
          <a:xfrm>
            <a:off x="207818" y="2885381"/>
            <a:ext cx="10543309" cy="2616101"/>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消息队列的组成</a:t>
            </a:r>
            <a:endParaRPr lang="en-US" altLang="zh-CN" sz="2000" b="1" dirty="0">
              <a:solidFill>
                <a:srgbClr val="000000"/>
              </a:solidFill>
              <a:latin typeface="微软雅黑" panose="020B0503020204020204" pitchFamily="34" charset="-122"/>
              <a:ea typeface="微软雅黑" panose="020B0503020204020204" pitchFamily="34" charset="-122"/>
            </a:endParaRPr>
          </a:p>
          <a:p>
            <a:r>
              <a:rPr lang="en-US" altLang="zh-CN" dirty="0">
                <a:solidFill>
                  <a:srgbClr val="000000"/>
                </a:solidFill>
                <a:latin typeface="宋体" panose="02010600030101010101" pitchFamily="2" charset="-122"/>
                <a:ea typeface="宋体" panose="02010600030101010101" pitchFamily="2" charset="-122"/>
              </a:rPr>
              <a:t>	</a:t>
            </a:r>
            <a:r>
              <a:rPr lang="zh-CN" altLang="en-US" dirty="0">
                <a:solidFill>
                  <a:srgbClr val="000000"/>
                </a:solidFill>
                <a:latin typeface="宋体" panose="02010600030101010101" pitchFamily="2" charset="-122"/>
                <a:ea typeface="宋体" panose="02010600030101010101" pitchFamily="2" charset="-122"/>
              </a:rPr>
              <a:t>一个</a:t>
            </a:r>
            <a:r>
              <a:rPr lang="zh-CN" altLang="en-US" dirty="0"/>
              <a:t>消息队列由队列控制块和消息列表组成。</a:t>
            </a:r>
            <a:endParaRPr lang="en-US" altLang="zh-CN" dirty="0"/>
          </a:p>
          <a:p>
            <a:r>
              <a:rPr lang="en-US" altLang="zh-CN" b="1" dirty="0"/>
              <a:t>              1</a:t>
            </a:r>
            <a:r>
              <a:rPr lang="zh-CN" altLang="en-US" b="1" dirty="0"/>
              <a:t>）队列控制块</a:t>
            </a:r>
            <a:endParaRPr lang="en-US" altLang="zh-CN" b="1" dirty="0"/>
          </a:p>
          <a:p>
            <a:r>
              <a:rPr lang="en-US" altLang="zh-CN" dirty="0"/>
              <a:t>                    </a:t>
            </a:r>
            <a:r>
              <a:rPr lang="zh-CN" altLang="en-US" dirty="0"/>
              <a:t>顾名思义是用来控制和维护消息队列的，它是隐式操作，对用户是透明的（看不见）。</a:t>
            </a:r>
            <a:endParaRPr lang="en-US" altLang="zh-CN" dirty="0"/>
          </a:p>
          <a:p>
            <a:r>
              <a:rPr lang="en-US" altLang="zh-CN" dirty="0"/>
              <a:t>                    </a:t>
            </a:r>
            <a:r>
              <a:rPr lang="zh-CN" altLang="en-US" dirty="0"/>
              <a:t>由于我们是使用操作系统的，不是开发操作系统，所以关于队列控制块感兴趣的同学可以 </a:t>
            </a:r>
            <a:endParaRPr lang="en-US" altLang="zh-CN" dirty="0"/>
          </a:p>
          <a:p>
            <a:r>
              <a:rPr lang="en-US" altLang="zh-CN" dirty="0"/>
              <a:t>              </a:t>
            </a:r>
            <a:r>
              <a:rPr lang="zh-CN" altLang="en-US" dirty="0"/>
              <a:t>自行研究，在此我们不在展开讲述。</a:t>
            </a:r>
            <a:endParaRPr lang="en-US" altLang="zh-CN" dirty="0"/>
          </a:p>
          <a:p>
            <a:r>
              <a:rPr lang="en-US" altLang="zh-CN" dirty="0"/>
              <a:t>              </a:t>
            </a:r>
            <a:r>
              <a:rPr lang="en-US" altLang="zh-CN" b="1" dirty="0">
                <a:solidFill>
                  <a:schemeClr val="accent1">
                    <a:lumMod val="60000"/>
                    <a:lumOff val="40000"/>
                  </a:schemeClr>
                </a:solidFill>
              </a:rPr>
              <a:t>2</a:t>
            </a:r>
            <a:r>
              <a:rPr lang="zh-CN" altLang="en-US" b="1" dirty="0">
                <a:solidFill>
                  <a:schemeClr val="accent1">
                    <a:lumMod val="60000"/>
                    <a:lumOff val="40000"/>
                  </a:schemeClr>
                </a:solidFill>
              </a:rPr>
              <a:t>）消息队列</a:t>
            </a:r>
            <a:endParaRPr lang="en-US" altLang="zh-CN" b="1" dirty="0">
              <a:solidFill>
                <a:schemeClr val="accent1">
                  <a:lumMod val="60000"/>
                  <a:lumOff val="40000"/>
                </a:schemeClr>
              </a:solidFill>
            </a:endParaRPr>
          </a:p>
          <a:p>
            <a:r>
              <a:rPr lang="en-US" altLang="zh-CN" b="1" dirty="0">
                <a:solidFill>
                  <a:schemeClr val="accent1">
                    <a:lumMod val="60000"/>
                    <a:lumOff val="40000"/>
                  </a:schemeClr>
                </a:solidFill>
              </a:rPr>
              <a:t>                   </a:t>
            </a:r>
            <a:r>
              <a:rPr lang="zh-CN" altLang="en-US" dirty="0"/>
              <a:t>消息队列就是一个数据链表，用来存放消息的，消息队列如下图。</a:t>
            </a:r>
            <a:endParaRPr lang="en-US" altLang="zh-CN" dirty="0"/>
          </a:p>
          <a:p>
            <a:r>
              <a:rPr lang="en-US" altLang="zh-CN" dirty="0"/>
              <a:t>                   </a:t>
            </a:r>
          </a:p>
        </p:txBody>
      </p:sp>
      <p:sp>
        <p:nvSpPr>
          <p:cNvPr id="2" name="圆角矩形 1"/>
          <p:cNvSpPr/>
          <p:nvPr/>
        </p:nvSpPr>
        <p:spPr>
          <a:xfrm>
            <a:off x="1643741" y="5672396"/>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2167443" y="5672395"/>
            <a:ext cx="523702" cy="515389"/>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2691145" y="5672396"/>
            <a:ext cx="523702" cy="515389"/>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3214847" y="5672395"/>
            <a:ext cx="523702" cy="515389"/>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3738549" y="5672396"/>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4262251" y="5672395"/>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4785953" y="5672396"/>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5309655" y="5672395"/>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643741" y="5373228"/>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833357" y="5373228"/>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flipV="1">
            <a:off x="1643742" y="5483726"/>
            <a:ext cx="4189615" cy="13844"/>
          </a:xfrm>
          <a:prstGeom prst="line">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832786" y="5203951"/>
            <a:ext cx="1651246" cy="338554"/>
          </a:xfrm>
          <a:prstGeom prst="rect">
            <a:avLst/>
          </a:prstGeom>
          <a:noFill/>
        </p:spPr>
        <p:txBody>
          <a:bodyPr wrap="square" rtlCol="0">
            <a:spAutoFit/>
          </a:bodyPr>
          <a:lstStyle/>
          <a:p>
            <a:r>
              <a:rPr lang="zh-CN" altLang="en-US" sz="1600" dirty="0">
                <a:solidFill>
                  <a:schemeClr val="accent6"/>
                </a:solidFill>
              </a:rPr>
              <a:t>消息队列长度</a:t>
            </a:r>
          </a:p>
        </p:txBody>
      </p:sp>
      <p:cxnSp>
        <p:nvCxnSpPr>
          <p:cNvPr id="26" name="直接连接符 25"/>
          <p:cNvCxnSpPr/>
          <p:nvPr/>
        </p:nvCxnSpPr>
        <p:spPr>
          <a:xfrm>
            <a:off x="5321384" y="6187784"/>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845086" y="6155991"/>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5204604" y="6409124"/>
            <a:ext cx="1651246" cy="261610"/>
          </a:xfrm>
          <a:prstGeom prst="rect">
            <a:avLst/>
          </a:prstGeom>
          <a:noFill/>
        </p:spPr>
        <p:txBody>
          <a:bodyPr wrap="square" rtlCol="0">
            <a:spAutoFit/>
          </a:bodyPr>
          <a:lstStyle/>
          <a:p>
            <a:r>
              <a:rPr lang="zh-CN" altLang="en-US" sz="1050" dirty="0">
                <a:solidFill>
                  <a:schemeClr val="accent6"/>
                </a:solidFill>
              </a:rPr>
              <a:t>消息大小</a:t>
            </a:r>
          </a:p>
        </p:txBody>
      </p:sp>
      <p:cxnSp>
        <p:nvCxnSpPr>
          <p:cNvPr id="31" name="直接连接符 30"/>
          <p:cNvCxnSpPr/>
          <p:nvPr/>
        </p:nvCxnSpPr>
        <p:spPr>
          <a:xfrm flipH="1">
            <a:off x="5309656" y="6422968"/>
            <a:ext cx="535430" cy="0"/>
          </a:xfrm>
          <a:prstGeom prst="line">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2429294" y="6227659"/>
            <a:ext cx="0" cy="195309"/>
          </a:xfrm>
          <a:prstGeom prst="line">
            <a:avLst/>
          </a:prstGeom>
          <a:ln>
            <a:prstDash val="dash"/>
            <a:head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2154826" y="6418050"/>
            <a:ext cx="677960" cy="338554"/>
          </a:xfrm>
          <a:prstGeom prst="rect">
            <a:avLst/>
          </a:prstGeom>
          <a:noFill/>
        </p:spPr>
        <p:txBody>
          <a:bodyPr wrap="square" rtlCol="0">
            <a:spAutoFit/>
          </a:bodyPr>
          <a:lstStyle/>
          <a:p>
            <a:r>
              <a:rPr lang="zh-CN" altLang="en-US" sz="1600" dirty="0">
                <a:solidFill>
                  <a:schemeClr val="accent6"/>
                </a:solidFill>
              </a:rPr>
              <a:t>队头</a:t>
            </a:r>
          </a:p>
        </p:txBody>
      </p:sp>
      <p:sp>
        <p:nvSpPr>
          <p:cNvPr id="40" name="文本框 39"/>
          <p:cNvSpPr txBox="1"/>
          <p:nvPr/>
        </p:nvSpPr>
        <p:spPr>
          <a:xfrm>
            <a:off x="3165085" y="6409124"/>
            <a:ext cx="677960" cy="338554"/>
          </a:xfrm>
          <a:prstGeom prst="rect">
            <a:avLst/>
          </a:prstGeom>
          <a:noFill/>
        </p:spPr>
        <p:txBody>
          <a:bodyPr wrap="square" rtlCol="0">
            <a:spAutoFit/>
          </a:bodyPr>
          <a:lstStyle/>
          <a:p>
            <a:r>
              <a:rPr lang="zh-CN" altLang="en-US" sz="1600" dirty="0">
                <a:solidFill>
                  <a:schemeClr val="accent6"/>
                </a:solidFill>
              </a:rPr>
              <a:t>队尾</a:t>
            </a:r>
          </a:p>
        </p:txBody>
      </p:sp>
      <p:cxnSp>
        <p:nvCxnSpPr>
          <p:cNvPr id="41" name="直接连接符 40"/>
          <p:cNvCxnSpPr/>
          <p:nvPr/>
        </p:nvCxnSpPr>
        <p:spPr>
          <a:xfrm>
            <a:off x="3456942" y="6204785"/>
            <a:ext cx="0" cy="195309"/>
          </a:xfrm>
          <a:prstGeom prst="line">
            <a:avLst/>
          </a:prstGeom>
          <a:ln>
            <a:prstDash val="dash"/>
            <a:head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6365288" y="5483726"/>
            <a:ext cx="5033639" cy="923330"/>
          </a:xfrm>
          <a:prstGeom prst="rect">
            <a:avLst/>
          </a:prstGeom>
          <a:noFill/>
        </p:spPr>
        <p:txBody>
          <a:bodyPr wrap="square" rtlCol="0">
            <a:spAutoFit/>
          </a:bodyPr>
          <a:lstStyle/>
          <a:p>
            <a:r>
              <a:rPr lang="zh-CN" altLang="en-US" dirty="0"/>
              <a:t>从队头读取消息，在队尾写入消息。</a:t>
            </a:r>
            <a:endParaRPr lang="en-US" altLang="zh-CN" dirty="0"/>
          </a:p>
          <a:p>
            <a:r>
              <a:rPr lang="zh-CN" altLang="en-US" dirty="0"/>
              <a:t>读取：清除队头消息，队头指针后移一位；</a:t>
            </a:r>
            <a:endParaRPr lang="en-US" altLang="zh-CN" dirty="0"/>
          </a:p>
          <a:p>
            <a:r>
              <a:rPr lang="zh-CN" altLang="en-US" dirty="0"/>
              <a:t>写入：队尾指针后移一位，写入新消息。</a:t>
            </a:r>
          </a:p>
        </p:txBody>
      </p:sp>
    </p:spTree>
    <p:extLst>
      <p:ext uri="{BB962C8B-B14F-4D97-AF65-F5344CB8AC3E}">
        <p14:creationId xmlns:p14="http://schemas.microsoft.com/office/powerpoint/2010/main" val="799642284"/>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二、消息队列的使用方法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4" name="文本框 3"/>
          <p:cNvSpPr txBox="1"/>
          <p:nvPr/>
        </p:nvSpPr>
        <p:spPr>
          <a:xfrm>
            <a:off x="515389" y="750627"/>
            <a:ext cx="11064240" cy="4678204"/>
          </a:xfrm>
          <a:prstGeom prst="rect">
            <a:avLst/>
          </a:prstGeom>
          <a:noFill/>
        </p:spPr>
        <p:txBody>
          <a:bodyPr wrap="square" rtlCol="0">
            <a:spAutoFit/>
          </a:bodyPr>
          <a:lstStyle/>
          <a:p>
            <a:r>
              <a:rPr lang="en-US" altLang="zh-CN" b="1" dirty="0"/>
              <a:t>1</a:t>
            </a:r>
            <a:r>
              <a:rPr lang="zh-CN" altLang="en-US" b="1" dirty="0"/>
              <a:t>、创建消息队列</a:t>
            </a:r>
            <a:endParaRPr lang="en-US" altLang="zh-CN" b="1" dirty="0"/>
          </a:p>
          <a:p>
            <a:r>
              <a:rPr lang="zh-CN" altLang="en-US" sz="1400" dirty="0"/>
              <a:t>要使用消息队列，首先要创建一个消息队列，创建函数原型如下：</a:t>
            </a:r>
            <a:endParaRPr lang="en-US" altLang="zh-CN" sz="1400" dirty="0"/>
          </a:p>
          <a:p>
            <a:r>
              <a:rPr lang="en-US" altLang="zh-CN" sz="1400" dirty="0"/>
              <a:t>UINT32 </a:t>
            </a:r>
            <a:r>
              <a:rPr lang="en-US" altLang="zh-CN" sz="1400" dirty="0" err="1"/>
              <a:t>LOS_QueueCreate</a:t>
            </a:r>
            <a:r>
              <a:rPr lang="en-US" altLang="zh-CN" sz="1400" dirty="0"/>
              <a:t>(</a:t>
            </a:r>
          </a:p>
          <a:p>
            <a:r>
              <a:rPr lang="en-US" altLang="zh-CN" sz="1400" dirty="0"/>
              <a:t>        CHAR *</a:t>
            </a:r>
            <a:r>
              <a:rPr lang="en-US" altLang="zh-CN" sz="1400" dirty="0" err="1"/>
              <a:t>pcQueueName</a:t>
            </a:r>
            <a:r>
              <a:rPr lang="en-US" altLang="zh-CN" sz="1400" dirty="0"/>
              <a:t>,  </a:t>
            </a:r>
            <a:r>
              <a:rPr lang="en-US" altLang="zh-CN" sz="1400" dirty="0">
                <a:solidFill>
                  <a:srgbClr val="00B050"/>
                </a:solidFill>
              </a:rPr>
              <a:t>//</a:t>
            </a:r>
            <a:r>
              <a:rPr lang="zh-CN" altLang="en-US" sz="1400" dirty="0">
                <a:solidFill>
                  <a:srgbClr val="00B050"/>
                </a:solidFill>
              </a:rPr>
              <a:t>消息队列名称</a:t>
            </a:r>
            <a:r>
              <a:rPr lang="en-US" altLang="zh-CN" sz="1400" dirty="0">
                <a:solidFill>
                  <a:srgbClr val="00B050"/>
                </a:solidFill>
              </a:rPr>
              <a:t>,</a:t>
            </a:r>
            <a:r>
              <a:rPr lang="en-US" altLang="zh-CN" sz="1400" dirty="0" err="1">
                <a:solidFill>
                  <a:srgbClr val="00B050"/>
                </a:solidFill>
              </a:rPr>
              <a:t>LiteOS</a:t>
            </a:r>
            <a:r>
              <a:rPr lang="en-US" altLang="zh-CN" sz="1400" dirty="0">
                <a:solidFill>
                  <a:srgbClr val="00B050"/>
                </a:solidFill>
              </a:rPr>
              <a:t> </a:t>
            </a:r>
            <a:r>
              <a:rPr lang="zh-CN" altLang="en-US" sz="1400" dirty="0">
                <a:solidFill>
                  <a:srgbClr val="00B050"/>
                </a:solidFill>
              </a:rPr>
              <a:t>保留， 暂时未使用。</a:t>
            </a:r>
            <a:br>
              <a:rPr lang="zh-CN" altLang="en-US" sz="1400" dirty="0">
                <a:solidFill>
                  <a:srgbClr val="00B050"/>
                </a:solidFill>
              </a:rPr>
            </a:br>
            <a:r>
              <a:rPr lang="en-US" altLang="zh-CN" sz="1400" dirty="0"/>
              <a:t>        UINT16 </a:t>
            </a:r>
            <a:r>
              <a:rPr lang="en-US" altLang="zh-CN" sz="1400" dirty="0" err="1"/>
              <a:t>usLen</a:t>
            </a:r>
            <a:r>
              <a:rPr lang="en-US" altLang="zh-CN" sz="1400" dirty="0"/>
              <a:t>,               </a:t>
            </a:r>
            <a:r>
              <a:rPr lang="en-US" altLang="zh-CN" sz="1400" dirty="0">
                <a:solidFill>
                  <a:srgbClr val="00B050"/>
                </a:solidFill>
              </a:rPr>
              <a:t>//</a:t>
            </a:r>
            <a:r>
              <a:rPr lang="zh-CN" altLang="en-US" sz="1400" dirty="0">
                <a:solidFill>
                  <a:srgbClr val="00B050"/>
                </a:solidFill>
              </a:rPr>
              <a:t>队列长度， 值范围是 </a:t>
            </a:r>
            <a:r>
              <a:rPr lang="en-US" altLang="zh-CN" sz="1400" dirty="0">
                <a:solidFill>
                  <a:srgbClr val="00B050"/>
                </a:solidFill>
              </a:rPr>
              <a:t>1~0xFFFF</a:t>
            </a:r>
            <a:r>
              <a:rPr lang="zh-CN" altLang="en-US" sz="1400" dirty="0">
                <a:solidFill>
                  <a:srgbClr val="00B050"/>
                </a:solidFill>
              </a:rPr>
              <a:t>。</a:t>
            </a:r>
            <a:br>
              <a:rPr lang="zh-CN" altLang="en-US" sz="1400" dirty="0">
                <a:solidFill>
                  <a:srgbClr val="00B050"/>
                </a:solidFill>
              </a:rPr>
            </a:br>
            <a:r>
              <a:rPr lang="en-US" altLang="zh-CN" sz="1400" dirty="0"/>
              <a:t>        UINT32 *</a:t>
            </a:r>
            <a:r>
              <a:rPr lang="en-US" altLang="zh-CN" sz="1400" dirty="0" err="1"/>
              <a:t>puwQueueID</a:t>
            </a:r>
            <a:r>
              <a:rPr lang="en-US" altLang="zh-CN" sz="1400" dirty="0"/>
              <a:t>,  </a:t>
            </a:r>
            <a:r>
              <a:rPr lang="en-US" altLang="zh-CN" sz="1400" dirty="0">
                <a:solidFill>
                  <a:srgbClr val="00B050"/>
                </a:solidFill>
              </a:rPr>
              <a:t>//</a:t>
            </a:r>
            <a:r>
              <a:rPr lang="zh-CN" altLang="en-US" sz="1400" dirty="0">
                <a:solidFill>
                  <a:srgbClr val="00B050"/>
                </a:solidFill>
              </a:rPr>
              <a:t>成功创建的队列控制结构的 </a:t>
            </a:r>
            <a:r>
              <a:rPr lang="en-US" altLang="zh-CN" sz="1400" dirty="0">
                <a:solidFill>
                  <a:srgbClr val="00B050"/>
                </a:solidFill>
              </a:rPr>
              <a:t>ID</a:t>
            </a:r>
            <a:r>
              <a:rPr lang="zh-CN" altLang="en-US" sz="1400" dirty="0">
                <a:solidFill>
                  <a:srgbClr val="00B050"/>
                </a:solidFill>
              </a:rPr>
              <a:t>，需要用户在创建前定义。通过队列</a:t>
            </a:r>
            <a:r>
              <a:rPr lang="en-US" altLang="zh-CN" sz="1400" dirty="0">
                <a:solidFill>
                  <a:srgbClr val="00B050"/>
                </a:solidFill>
              </a:rPr>
              <a:t>ID</a:t>
            </a:r>
            <a:r>
              <a:rPr lang="zh-CN" altLang="en-US" sz="1400" dirty="0">
                <a:solidFill>
                  <a:srgbClr val="00B050"/>
                </a:solidFill>
              </a:rPr>
              <a:t>来区分不同的消息队列。</a:t>
            </a:r>
            <a:br>
              <a:rPr lang="en-US" altLang="zh-CN" sz="1400" dirty="0">
                <a:solidFill>
                  <a:srgbClr val="00B050"/>
                </a:solidFill>
              </a:rPr>
            </a:br>
            <a:r>
              <a:rPr lang="en-US" altLang="zh-CN" sz="1400" b="1" dirty="0"/>
              <a:t>        </a:t>
            </a:r>
            <a:r>
              <a:rPr lang="en-US" altLang="zh-CN" sz="1400" dirty="0"/>
              <a:t>UINT32 </a:t>
            </a:r>
            <a:r>
              <a:rPr lang="en-US" altLang="zh-CN" sz="1400" dirty="0" err="1"/>
              <a:t>uwFlags</a:t>
            </a:r>
            <a:r>
              <a:rPr lang="en-US" altLang="zh-CN" sz="1400" dirty="0"/>
              <a:t>, </a:t>
            </a:r>
            <a:r>
              <a:rPr lang="en-US" altLang="zh-CN" sz="1400" b="1" dirty="0"/>
              <a:t>          </a:t>
            </a:r>
            <a:r>
              <a:rPr lang="en-US" altLang="zh-CN" sz="1400" b="1" dirty="0">
                <a:solidFill>
                  <a:srgbClr val="00B050"/>
                </a:solidFill>
              </a:rPr>
              <a:t>//</a:t>
            </a:r>
            <a:r>
              <a:rPr lang="zh-CN" altLang="en-US" sz="1400" dirty="0">
                <a:solidFill>
                  <a:srgbClr val="00B050"/>
                </a:solidFill>
              </a:rPr>
              <a:t>队列模式， 保留参数，暂不使用。</a:t>
            </a:r>
            <a:br>
              <a:rPr lang="zh-CN" altLang="en-US" sz="1400" dirty="0">
                <a:solidFill>
                  <a:srgbClr val="00B050"/>
                </a:solidFill>
              </a:rPr>
            </a:br>
            <a:r>
              <a:rPr lang="en-US" altLang="zh-CN" sz="1400" dirty="0"/>
              <a:t>        UINT16 </a:t>
            </a:r>
            <a:r>
              <a:rPr lang="en-US" altLang="zh-CN" sz="1400" dirty="0" err="1"/>
              <a:t>usMaxMsgSize</a:t>
            </a:r>
            <a:r>
              <a:rPr lang="en-US" altLang="zh-CN" sz="1400" dirty="0"/>
              <a:t> </a:t>
            </a:r>
            <a:r>
              <a:rPr lang="en-US" altLang="zh-CN" sz="1400" dirty="0">
                <a:solidFill>
                  <a:srgbClr val="00B050"/>
                </a:solidFill>
              </a:rPr>
              <a:t>//</a:t>
            </a:r>
            <a:r>
              <a:rPr lang="zh-CN" altLang="en-US" sz="1400" dirty="0">
                <a:solidFill>
                  <a:srgbClr val="00B050"/>
                </a:solidFill>
              </a:rPr>
              <a:t>最大消息大小（字节） ， 值范围为 </a:t>
            </a:r>
            <a:r>
              <a:rPr lang="en-US" altLang="zh-CN" sz="1400" dirty="0">
                <a:solidFill>
                  <a:srgbClr val="00B050"/>
                </a:solidFill>
              </a:rPr>
              <a:t>1~(0xFFFF-4)</a:t>
            </a:r>
            <a:r>
              <a:rPr lang="zh-CN" altLang="en-US" sz="1400" dirty="0">
                <a:solidFill>
                  <a:srgbClr val="00B050"/>
                </a:solidFill>
              </a:rPr>
              <a:t>。 </a:t>
            </a:r>
            <a:endParaRPr lang="en-US" altLang="zh-CN" sz="1400" dirty="0">
              <a:solidFill>
                <a:srgbClr val="00B050"/>
              </a:solidFill>
            </a:endParaRPr>
          </a:p>
          <a:p>
            <a:r>
              <a:rPr lang="en-US" altLang="zh-CN" sz="1400" dirty="0"/>
              <a:t>        ); </a:t>
            </a:r>
          </a:p>
          <a:p>
            <a:r>
              <a:rPr lang="zh-CN" altLang="en-US" sz="1400" dirty="0"/>
              <a:t>例：创建一个消息总数</a:t>
            </a:r>
            <a:r>
              <a:rPr lang="en-US" altLang="zh-CN" sz="1400" dirty="0"/>
              <a:t>128</a:t>
            </a:r>
            <a:r>
              <a:rPr lang="zh-CN" altLang="en-US" sz="1400" dirty="0"/>
              <a:t>，每个消息长度不超过</a:t>
            </a:r>
            <a:r>
              <a:rPr lang="en-US" altLang="zh-CN" sz="1400" dirty="0"/>
              <a:t>16</a:t>
            </a:r>
            <a:r>
              <a:rPr lang="zh-CN" altLang="en-US" sz="1400" dirty="0"/>
              <a:t>字节。</a:t>
            </a:r>
            <a:endParaRPr lang="en-US" altLang="zh-CN" sz="1400" dirty="0"/>
          </a:p>
          <a:p>
            <a:r>
              <a:rPr lang="en-US" altLang="zh-CN" sz="1400" dirty="0">
                <a:solidFill>
                  <a:srgbClr val="00B050"/>
                </a:solidFill>
              </a:rPr>
              <a:t>       </a:t>
            </a:r>
            <a:r>
              <a:rPr lang="en-US" altLang="zh-CN" sz="1400" dirty="0"/>
              <a:t>UINT32 </a:t>
            </a:r>
            <a:r>
              <a:rPr lang="en-US" altLang="zh-CN" sz="1400" dirty="0">
                <a:solidFill>
                  <a:srgbClr val="00B050"/>
                </a:solidFill>
              </a:rPr>
              <a:t>   </a:t>
            </a:r>
            <a:r>
              <a:rPr lang="en-US" altLang="zh-CN" sz="1400" dirty="0" err="1"/>
              <a:t>Queue_Handle</a:t>
            </a:r>
            <a:r>
              <a:rPr lang="en-US" altLang="zh-CN" sz="1400" b="1" dirty="0"/>
              <a:t>;</a:t>
            </a:r>
            <a:r>
              <a:rPr lang="en-US" altLang="zh-CN" sz="1400" dirty="0"/>
              <a:t>           </a:t>
            </a:r>
            <a:r>
              <a:rPr lang="en-US" altLang="zh-CN" sz="1400" dirty="0">
                <a:solidFill>
                  <a:srgbClr val="00B050"/>
                </a:solidFill>
              </a:rPr>
              <a:t>//</a:t>
            </a:r>
            <a:r>
              <a:rPr lang="zh-CN" altLang="en-US" sz="1400" dirty="0">
                <a:solidFill>
                  <a:srgbClr val="00B050"/>
                </a:solidFill>
              </a:rPr>
              <a:t>先定义一个队列</a:t>
            </a:r>
            <a:r>
              <a:rPr lang="en-US" altLang="zh-CN" sz="1400" dirty="0">
                <a:solidFill>
                  <a:srgbClr val="00B050"/>
                </a:solidFill>
              </a:rPr>
              <a:t>ID</a:t>
            </a:r>
            <a:r>
              <a:rPr lang="zh-CN" altLang="en-US" sz="1400" dirty="0">
                <a:solidFill>
                  <a:srgbClr val="00B050"/>
                </a:solidFill>
              </a:rPr>
              <a:t>（全局变量）</a:t>
            </a:r>
            <a:endParaRPr lang="en-US" altLang="zh-CN" sz="1400" dirty="0">
              <a:solidFill>
                <a:srgbClr val="00B050"/>
              </a:solidFill>
            </a:endParaRPr>
          </a:p>
          <a:p>
            <a:r>
              <a:rPr lang="en-US" altLang="zh-CN" sz="1400" dirty="0"/>
              <a:t>       UINT32     </a:t>
            </a:r>
            <a:r>
              <a:rPr lang="en-US" altLang="zh-CN" sz="1400" dirty="0" err="1"/>
              <a:t>uwRet</a:t>
            </a:r>
            <a:r>
              <a:rPr lang="en-US" altLang="zh-CN" sz="1400" dirty="0"/>
              <a:t>  =  LOS_OK;    </a:t>
            </a:r>
            <a:r>
              <a:rPr lang="en-US" altLang="zh-CN" sz="1400" dirty="0">
                <a:solidFill>
                  <a:srgbClr val="00B050"/>
                </a:solidFill>
              </a:rPr>
              <a:t>//</a:t>
            </a:r>
            <a:r>
              <a:rPr lang="zh-CN" altLang="en-US" sz="1400" dirty="0">
                <a:solidFill>
                  <a:srgbClr val="00B050"/>
                </a:solidFill>
              </a:rPr>
              <a:t>再定义一个返回值，并初始化为成功</a:t>
            </a:r>
            <a:endParaRPr lang="en-US" altLang="zh-CN" sz="1400" dirty="0">
              <a:solidFill>
                <a:srgbClr val="00B050"/>
              </a:solidFill>
            </a:endParaRPr>
          </a:p>
          <a:p>
            <a:r>
              <a:rPr lang="en-US" altLang="zh-CN" sz="1400" dirty="0"/>
              <a:t>       </a:t>
            </a:r>
            <a:r>
              <a:rPr lang="en-US" altLang="zh-CN" sz="1400" dirty="0" err="1"/>
              <a:t>uwRet</a:t>
            </a:r>
            <a:r>
              <a:rPr lang="en-US" altLang="zh-CN" sz="1400" dirty="0"/>
              <a:t>  = </a:t>
            </a:r>
            <a:r>
              <a:rPr lang="en-US" altLang="zh-CN" sz="1400" dirty="0" err="1"/>
              <a:t>LOS_QueueCreate</a:t>
            </a:r>
            <a:r>
              <a:rPr lang="en-US" altLang="zh-CN" sz="1400" dirty="0"/>
              <a:t>(  “Test  Queue”,                </a:t>
            </a:r>
            <a:r>
              <a:rPr lang="en-US" altLang="zh-CN" sz="1400" dirty="0">
                <a:solidFill>
                  <a:srgbClr val="00B050"/>
                </a:solidFill>
              </a:rPr>
              <a:t>//</a:t>
            </a:r>
            <a:r>
              <a:rPr lang="zh-CN" altLang="en-US" sz="1400" dirty="0">
                <a:solidFill>
                  <a:srgbClr val="00B050"/>
                </a:solidFill>
              </a:rPr>
              <a:t>队列名称（没啥用）</a:t>
            </a:r>
            <a:endParaRPr lang="en-US" altLang="zh-CN" sz="1400" dirty="0">
              <a:solidFill>
                <a:srgbClr val="00B050"/>
              </a:solidFill>
            </a:endParaRPr>
          </a:p>
          <a:p>
            <a:r>
              <a:rPr lang="en-US" altLang="zh-CN" sz="1400" dirty="0"/>
              <a:t>                                                        128</a:t>
            </a:r>
            <a:r>
              <a:rPr lang="zh-CN" altLang="en-US" sz="1400" dirty="0"/>
              <a:t>，                             </a:t>
            </a:r>
            <a:r>
              <a:rPr lang="en-US" altLang="zh-CN" sz="1400" dirty="0">
                <a:solidFill>
                  <a:srgbClr val="00B050"/>
                </a:solidFill>
              </a:rPr>
              <a:t>//</a:t>
            </a:r>
            <a:r>
              <a:rPr lang="zh-CN" altLang="en-US" sz="1400" dirty="0">
                <a:solidFill>
                  <a:srgbClr val="00B050"/>
                </a:solidFill>
              </a:rPr>
              <a:t>队列的长度，最多</a:t>
            </a:r>
            <a:r>
              <a:rPr lang="en-US" altLang="zh-CN" sz="1400" dirty="0">
                <a:solidFill>
                  <a:srgbClr val="00B050"/>
                </a:solidFill>
              </a:rPr>
              <a:t>128</a:t>
            </a:r>
            <a:r>
              <a:rPr lang="zh-CN" altLang="en-US" sz="1400" dirty="0">
                <a:solidFill>
                  <a:srgbClr val="00B050"/>
                </a:solidFill>
              </a:rPr>
              <a:t>个消息</a:t>
            </a:r>
            <a:endParaRPr lang="en-US" altLang="zh-CN" sz="1400" dirty="0">
              <a:solidFill>
                <a:srgbClr val="00B050"/>
              </a:solidFill>
            </a:endParaRPr>
          </a:p>
          <a:p>
            <a:r>
              <a:rPr lang="en-US" altLang="zh-CN" sz="1400" dirty="0"/>
              <a:t>                                                        &amp; </a:t>
            </a:r>
            <a:r>
              <a:rPr lang="en-US" altLang="zh-CN" sz="1400" dirty="0" err="1"/>
              <a:t>Queue_Handle</a:t>
            </a:r>
            <a:r>
              <a:rPr lang="en-US" altLang="zh-CN" sz="1400" dirty="0"/>
              <a:t>,          </a:t>
            </a:r>
            <a:r>
              <a:rPr lang="en-US" altLang="zh-CN" sz="1400" dirty="0">
                <a:solidFill>
                  <a:srgbClr val="00B050"/>
                </a:solidFill>
              </a:rPr>
              <a:t>//</a:t>
            </a:r>
            <a:r>
              <a:rPr lang="zh-CN" altLang="en-US" sz="1400" dirty="0">
                <a:solidFill>
                  <a:srgbClr val="00B050"/>
                </a:solidFill>
              </a:rPr>
              <a:t>队列</a:t>
            </a:r>
            <a:r>
              <a:rPr lang="en-US" altLang="zh-CN" sz="1400" dirty="0">
                <a:solidFill>
                  <a:srgbClr val="00B050"/>
                </a:solidFill>
              </a:rPr>
              <a:t>ID</a:t>
            </a:r>
            <a:r>
              <a:rPr lang="zh-CN" altLang="en-US" sz="1400" dirty="0">
                <a:solidFill>
                  <a:srgbClr val="00B050"/>
                </a:solidFill>
              </a:rPr>
              <a:t>（句柄），创建成功会被赋值</a:t>
            </a:r>
            <a:br>
              <a:rPr lang="en-US" altLang="zh-CN" sz="1400" dirty="0"/>
            </a:br>
            <a:r>
              <a:rPr lang="en-US" altLang="zh-CN" sz="1400" dirty="0"/>
              <a:t>                                                         0,                                   </a:t>
            </a:r>
            <a:r>
              <a:rPr lang="en-US" altLang="zh-CN" sz="1400" dirty="0">
                <a:solidFill>
                  <a:srgbClr val="00B050"/>
                </a:solidFill>
              </a:rPr>
              <a:t>//</a:t>
            </a:r>
            <a:r>
              <a:rPr lang="en-US" altLang="zh-CN" sz="1400" dirty="0" err="1">
                <a:solidFill>
                  <a:srgbClr val="00B050"/>
                </a:solidFill>
              </a:rPr>
              <a:t>LiteOS</a:t>
            </a:r>
            <a:r>
              <a:rPr lang="zh-CN" altLang="en-US" sz="1400" dirty="0">
                <a:solidFill>
                  <a:srgbClr val="00B050"/>
                </a:solidFill>
              </a:rPr>
              <a:t>暂时保留，没用</a:t>
            </a:r>
            <a:br>
              <a:rPr lang="en-US" altLang="zh-CN" sz="1400" dirty="0">
                <a:solidFill>
                  <a:srgbClr val="00B050"/>
                </a:solidFill>
              </a:rPr>
            </a:br>
            <a:r>
              <a:rPr lang="en-US" altLang="zh-CN" sz="1400" dirty="0"/>
              <a:t>                                                         16 </a:t>
            </a:r>
            <a:r>
              <a:rPr lang="zh-CN" altLang="en-US" sz="1400" dirty="0"/>
              <a:t>）；</a:t>
            </a:r>
            <a:r>
              <a:rPr lang="en-US" altLang="zh-CN" sz="1400" dirty="0"/>
              <a:t>                          </a:t>
            </a:r>
            <a:r>
              <a:rPr lang="en-US" altLang="zh-CN" sz="1400" dirty="0">
                <a:solidFill>
                  <a:srgbClr val="00B050"/>
                </a:solidFill>
              </a:rPr>
              <a:t>//</a:t>
            </a:r>
            <a:r>
              <a:rPr lang="zh-CN" altLang="en-US" sz="1400" dirty="0">
                <a:solidFill>
                  <a:srgbClr val="00B050"/>
                </a:solidFill>
              </a:rPr>
              <a:t>每个消息的长度不超过</a:t>
            </a:r>
            <a:r>
              <a:rPr lang="en-US" altLang="zh-CN" sz="1400" dirty="0">
                <a:solidFill>
                  <a:srgbClr val="00B050"/>
                </a:solidFill>
              </a:rPr>
              <a:t>16</a:t>
            </a:r>
            <a:r>
              <a:rPr lang="zh-CN" altLang="en-US" sz="1400" dirty="0">
                <a:solidFill>
                  <a:srgbClr val="00B050"/>
                </a:solidFill>
              </a:rPr>
              <a:t>字节</a:t>
            </a:r>
            <a:endParaRPr lang="en-US" altLang="zh-CN" sz="1400" dirty="0">
              <a:solidFill>
                <a:srgbClr val="00B050"/>
              </a:solidFill>
            </a:endParaRPr>
          </a:p>
          <a:p>
            <a:r>
              <a:rPr lang="en-US" altLang="zh-CN" sz="1400" dirty="0"/>
              <a:t>       if(</a:t>
            </a:r>
            <a:r>
              <a:rPr lang="en-US" altLang="zh-CN" sz="1400" dirty="0" err="1"/>
              <a:t>uwRet</a:t>
            </a:r>
            <a:r>
              <a:rPr lang="en-US" altLang="zh-CN" sz="1400" dirty="0"/>
              <a:t>  !=  LOS_OK)</a:t>
            </a:r>
          </a:p>
          <a:p>
            <a:r>
              <a:rPr lang="en-US" altLang="zh-CN" sz="1400" dirty="0"/>
              <a:t>              </a:t>
            </a:r>
            <a:r>
              <a:rPr lang="en-US" altLang="zh-CN" sz="1400" dirty="0" err="1"/>
              <a:t>printf</a:t>
            </a:r>
            <a:r>
              <a:rPr lang="en-US" altLang="zh-CN" sz="1400" dirty="0"/>
              <a:t>("</a:t>
            </a:r>
            <a:r>
              <a:rPr lang="en-US" altLang="zh-CN" sz="1400" dirty="0" err="1"/>
              <a:t>Test_Queue</a:t>
            </a:r>
            <a:r>
              <a:rPr lang="en-US" altLang="zh-CN" sz="1400" dirty="0"/>
              <a:t> </a:t>
            </a:r>
            <a:r>
              <a:rPr lang="zh-CN" altLang="en-US" sz="1400" dirty="0"/>
              <a:t>队列创建失败！ </a:t>
            </a:r>
            <a:r>
              <a:rPr lang="en-US" altLang="zh-CN" sz="1400" dirty="0"/>
              <a:t>\n"); </a:t>
            </a:r>
          </a:p>
          <a:p>
            <a:endParaRPr lang="en-US" altLang="zh-CN" sz="1400" dirty="0"/>
          </a:p>
          <a:p>
            <a:r>
              <a:rPr lang="en-US" altLang="zh-CN" sz="1400" dirty="0"/>
              <a:t>    </a:t>
            </a:r>
            <a:r>
              <a:rPr lang="zh-CN" altLang="en-US" sz="1400" dirty="0"/>
              <a:t>消息队列创建后如下图，刚创建时，消息队列为空，此时若读取消息必然失败（无消息可读）。</a:t>
            </a:r>
            <a:endParaRPr lang="en-US" altLang="zh-CN" sz="1400" dirty="0"/>
          </a:p>
        </p:txBody>
      </p:sp>
      <p:grpSp>
        <p:nvGrpSpPr>
          <p:cNvPr id="29" name="组合 28"/>
          <p:cNvGrpSpPr/>
          <p:nvPr/>
        </p:nvGrpSpPr>
        <p:grpSpPr>
          <a:xfrm>
            <a:off x="627797" y="5325175"/>
            <a:ext cx="5711211" cy="1532825"/>
            <a:chOff x="5596899" y="5461403"/>
            <a:chExt cx="5711211" cy="1532825"/>
          </a:xfrm>
        </p:grpSpPr>
        <p:sp>
          <p:nvSpPr>
            <p:cNvPr id="8" name="圆角矩形 7"/>
            <p:cNvSpPr/>
            <p:nvPr/>
          </p:nvSpPr>
          <p:spPr>
            <a:xfrm>
              <a:off x="6096001"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6619703"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7143405"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7667107"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8190809"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8714511"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9238213" y="5929848"/>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9761915" y="5929847"/>
              <a:ext cx="523702" cy="515389"/>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6096001" y="5630680"/>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285617" y="5630680"/>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flipV="1">
              <a:off x="6096002" y="5741178"/>
              <a:ext cx="4189615" cy="13844"/>
            </a:xfrm>
            <a:prstGeom prst="line">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285046" y="5461403"/>
              <a:ext cx="1651246" cy="338554"/>
            </a:xfrm>
            <a:prstGeom prst="rect">
              <a:avLst/>
            </a:prstGeom>
            <a:noFill/>
          </p:spPr>
          <p:txBody>
            <a:bodyPr wrap="square" rtlCol="0">
              <a:spAutoFit/>
            </a:bodyPr>
            <a:lstStyle/>
            <a:p>
              <a:r>
                <a:rPr lang="en-US" altLang="zh-CN" sz="1600" dirty="0">
                  <a:solidFill>
                    <a:schemeClr val="accent6"/>
                  </a:solidFill>
                </a:rPr>
                <a:t>          128</a:t>
              </a:r>
              <a:endParaRPr lang="zh-CN" altLang="en-US" sz="1600" dirty="0">
                <a:solidFill>
                  <a:schemeClr val="accent6"/>
                </a:solidFill>
              </a:endParaRPr>
            </a:p>
          </p:txBody>
        </p:sp>
        <p:cxnSp>
          <p:nvCxnSpPr>
            <p:cNvPr id="20" name="直接连接符 19"/>
            <p:cNvCxnSpPr/>
            <p:nvPr/>
          </p:nvCxnSpPr>
          <p:spPr>
            <a:xfrm>
              <a:off x="9773644" y="6445236"/>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297346" y="6413443"/>
              <a:ext cx="0" cy="39061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9656864" y="6666576"/>
              <a:ext cx="1651246" cy="261610"/>
            </a:xfrm>
            <a:prstGeom prst="rect">
              <a:avLst/>
            </a:prstGeom>
            <a:noFill/>
          </p:spPr>
          <p:txBody>
            <a:bodyPr wrap="square" rtlCol="0">
              <a:spAutoFit/>
            </a:bodyPr>
            <a:lstStyle/>
            <a:p>
              <a:r>
                <a:rPr lang="en-US" altLang="zh-CN" sz="1050" dirty="0">
                  <a:solidFill>
                    <a:schemeClr val="accent6"/>
                  </a:solidFill>
                </a:rPr>
                <a:t>      16</a:t>
              </a:r>
              <a:endParaRPr lang="zh-CN" altLang="en-US" sz="1050" dirty="0">
                <a:solidFill>
                  <a:schemeClr val="accent6"/>
                </a:solidFill>
              </a:endParaRPr>
            </a:p>
          </p:txBody>
        </p:sp>
        <p:cxnSp>
          <p:nvCxnSpPr>
            <p:cNvPr id="23" name="直接连接符 22"/>
            <p:cNvCxnSpPr/>
            <p:nvPr/>
          </p:nvCxnSpPr>
          <p:spPr>
            <a:xfrm flipH="1">
              <a:off x="9761916" y="6680420"/>
              <a:ext cx="535430" cy="0"/>
            </a:xfrm>
            <a:prstGeom prst="line">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5937239" y="6445236"/>
              <a:ext cx="232742" cy="195308"/>
            </a:xfrm>
            <a:prstGeom prst="line">
              <a:avLst/>
            </a:prstGeom>
            <a:ln>
              <a:prstDash val="dash"/>
              <a:head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5596899" y="6640544"/>
              <a:ext cx="677960" cy="338554"/>
            </a:xfrm>
            <a:prstGeom prst="rect">
              <a:avLst/>
            </a:prstGeom>
            <a:noFill/>
          </p:spPr>
          <p:txBody>
            <a:bodyPr wrap="square" rtlCol="0">
              <a:spAutoFit/>
            </a:bodyPr>
            <a:lstStyle/>
            <a:p>
              <a:r>
                <a:rPr lang="zh-CN" altLang="en-US" sz="1600" dirty="0">
                  <a:solidFill>
                    <a:schemeClr val="accent6"/>
                  </a:solidFill>
                </a:rPr>
                <a:t>队头</a:t>
              </a:r>
            </a:p>
          </p:txBody>
        </p:sp>
        <p:sp>
          <p:nvSpPr>
            <p:cNvPr id="26" name="文本框 25"/>
            <p:cNvSpPr txBox="1"/>
            <p:nvPr/>
          </p:nvSpPr>
          <p:spPr>
            <a:xfrm>
              <a:off x="6471308" y="6655674"/>
              <a:ext cx="677960" cy="338554"/>
            </a:xfrm>
            <a:prstGeom prst="rect">
              <a:avLst/>
            </a:prstGeom>
            <a:noFill/>
          </p:spPr>
          <p:txBody>
            <a:bodyPr wrap="square" rtlCol="0">
              <a:spAutoFit/>
            </a:bodyPr>
            <a:lstStyle/>
            <a:p>
              <a:r>
                <a:rPr lang="zh-CN" altLang="en-US" sz="1600" dirty="0">
                  <a:solidFill>
                    <a:schemeClr val="accent6"/>
                  </a:solidFill>
                </a:rPr>
                <a:t>队尾</a:t>
              </a:r>
            </a:p>
          </p:txBody>
        </p:sp>
        <p:cxnSp>
          <p:nvCxnSpPr>
            <p:cNvPr id="27" name="直接连接符 26"/>
            <p:cNvCxnSpPr/>
            <p:nvPr/>
          </p:nvCxnSpPr>
          <p:spPr>
            <a:xfrm>
              <a:off x="6489419" y="6457917"/>
              <a:ext cx="167274" cy="221901"/>
            </a:xfrm>
            <a:prstGeom prst="line">
              <a:avLst/>
            </a:prstGeom>
            <a:ln>
              <a:prstDash val="dash"/>
              <a:head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0225548"/>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二、消息队列的使用方法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7" name="文本框 6"/>
          <p:cNvSpPr txBox="1"/>
          <p:nvPr/>
        </p:nvSpPr>
        <p:spPr>
          <a:xfrm>
            <a:off x="515389" y="750627"/>
            <a:ext cx="11064240" cy="1769715"/>
          </a:xfrm>
          <a:prstGeom prst="rect">
            <a:avLst/>
          </a:prstGeom>
          <a:noFill/>
        </p:spPr>
        <p:txBody>
          <a:bodyPr wrap="square" rtlCol="0">
            <a:spAutoFit/>
          </a:bodyPr>
          <a:lstStyle/>
          <a:p>
            <a:r>
              <a:rPr lang="en-US" altLang="zh-CN" b="1" dirty="0"/>
              <a:t>2</a:t>
            </a:r>
            <a:r>
              <a:rPr lang="zh-CN" altLang="en-US" b="1" dirty="0"/>
              <a:t>、删除消息队列</a:t>
            </a:r>
            <a:endParaRPr lang="en-US" altLang="zh-CN" b="1" dirty="0"/>
          </a:p>
          <a:p>
            <a:r>
              <a:rPr lang="en-US" altLang="zh-CN" sz="1400" dirty="0"/>
              <a:t>       </a:t>
            </a:r>
          </a:p>
          <a:p>
            <a:pPr>
              <a:lnSpc>
                <a:spcPct val="150000"/>
              </a:lnSpc>
            </a:pPr>
            <a:r>
              <a:rPr lang="en-US" altLang="zh-CN" sz="1400" dirty="0"/>
              <a:t>      </a:t>
            </a:r>
            <a:r>
              <a:rPr lang="zh-CN" altLang="en-US" sz="1400" dirty="0"/>
              <a:t>消息队列使用结束，可以删除消息队列，回收存储空间。消息队列删除比较简单，函数如下：</a:t>
            </a:r>
            <a:endParaRPr lang="en-US" altLang="zh-CN" sz="1400" dirty="0"/>
          </a:p>
          <a:p>
            <a:pPr>
              <a:lnSpc>
                <a:spcPct val="150000"/>
              </a:lnSpc>
            </a:pPr>
            <a:r>
              <a:rPr lang="en-US" altLang="zh-CN" sz="1400" dirty="0"/>
              <a:t>              UINT32 </a:t>
            </a:r>
            <a:r>
              <a:rPr lang="en-US" altLang="zh-CN" sz="1400" dirty="0" err="1"/>
              <a:t>LOS_QueueDelete</a:t>
            </a:r>
            <a:r>
              <a:rPr lang="en-US" altLang="zh-CN" sz="1400" dirty="0"/>
              <a:t>(UINT32 </a:t>
            </a:r>
            <a:r>
              <a:rPr lang="en-US" altLang="zh-CN" sz="1400" dirty="0" err="1"/>
              <a:t>uwQueueID</a:t>
            </a:r>
            <a:r>
              <a:rPr lang="en-US" altLang="zh-CN" sz="1400" dirty="0"/>
              <a:t>); </a:t>
            </a:r>
            <a:r>
              <a:rPr lang="en-US" altLang="zh-CN" sz="1400" dirty="0">
                <a:solidFill>
                  <a:srgbClr val="00B050"/>
                </a:solidFill>
              </a:rPr>
              <a:t>//</a:t>
            </a:r>
            <a:r>
              <a:rPr lang="zh-CN" altLang="en-US" sz="1400" dirty="0">
                <a:solidFill>
                  <a:srgbClr val="00B050"/>
                </a:solidFill>
              </a:rPr>
              <a:t>根据队列</a:t>
            </a:r>
            <a:r>
              <a:rPr lang="en-US" altLang="zh-CN" sz="1400" dirty="0">
                <a:solidFill>
                  <a:srgbClr val="00B050"/>
                </a:solidFill>
              </a:rPr>
              <a:t>ID</a:t>
            </a:r>
            <a:r>
              <a:rPr lang="zh-CN" altLang="en-US" sz="1400" dirty="0">
                <a:solidFill>
                  <a:srgbClr val="00B050"/>
                </a:solidFill>
              </a:rPr>
              <a:t>来删除。</a:t>
            </a:r>
            <a:br>
              <a:rPr lang="en-US" altLang="zh-CN" sz="1400" dirty="0">
                <a:solidFill>
                  <a:srgbClr val="00B050"/>
                </a:solidFill>
              </a:rPr>
            </a:br>
            <a:r>
              <a:rPr lang="en-US" altLang="zh-CN" sz="1400" dirty="0">
                <a:solidFill>
                  <a:srgbClr val="00B050"/>
                </a:solidFill>
              </a:rPr>
              <a:t>      </a:t>
            </a:r>
            <a:r>
              <a:rPr lang="zh-CN" altLang="en-US" sz="1400" dirty="0">
                <a:solidFill>
                  <a:srgbClr val="C00000"/>
                </a:solidFill>
              </a:rPr>
              <a:t>注意：</a:t>
            </a:r>
            <a:r>
              <a:rPr lang="en-US" altLang="zh-CN" sz="1400" dirty="0">
                <a:solidFill>
                  <a:srgbClr val="C00000"/>
                </a:solidFill>
              </a:rPr>
              <a:t>1</a:t>
            </a:r>
            <a:r>
              <a:rPr lang="zh-CN" altLang="en-US" sz="1400" dirty="0">
                <a:solidFill>
                  <a:srgbClr val="C00000"/>
                </a:solidFill>
              </a:rPr>
              <a:t>）待删除的队列必须存在；</a:t>
            </a:r>
            <a:r>
              <a:rPr lang="en-US" altLang="zh-CN" sz="1400" dirty="0">
                <a:solidFill>
                  <a:srgbClr val="C00000"/>
                </a:solidFill>
              </a:rPr>
              <a:t>2</a:t>
            </a:r>
            <a:r>
              <a:rPr lang="zh-CN" altLang="en-US" sz="1400" dirty="0">
                <a:solidFill>
                  <a:srgbClr val="C00000"/>
                </a:solidFill>
              </a:rPr>
              <a:t>）目前队列没有被阻塞（正在使用）。</a:t>
            </a:r>
            <a:endParaRPr lang="en-US" altLang="zh-CN" sz="1400" dirty="0">
              <a:solidFill>
                <a:srgbClr val="C00000"/>
              </a:solidFill>
            </a:endParaRPr>
          </a:p>
          <a:p>
            <a:r>
              <a:rPr lang="en-US" altLang="zh-CN" sz="1400" dirty="0"/>
              <a:t>           </a:t>
            </a:r>
          </a:p>
        </p:txBody>
      </p:sp>
      <p:sp>
        <p:nvSpPr>
          <p:cNvPr id="8" name="文本框 7"/>
          <p:cNvSpPr txBox="1"/>
          <p:nvPr/>
        </p:nvSpPr>
        <p:spPr>
          <a:xfrm>
            <a:off x="515389" y="2464168"/>
            <a:ext cx="11064240" cy="4493538"/>
          </a:xfrm>
          <a:prstGeom prst="rect">
            <a:avLst/>
          </a:prstGeom>
          <a:noFill/>
        </p:spPr>
        <p:txBody>
          <a:bodyPr wrap="square" rtlCol="0">
            <a:spAutoFit/>
          </a:bodyPr>
          <a:lstStyle/>
          <a:p>
            <a:r>
              <a:rPr lang="en-US" altLang="zh-CN" b="1" dirty="0"/>
              <a:t>3</a:t>
            </a:r>
            <a:r>
              <a:rPr lang="zh-CN" altLang="en-US" b="1" dirty="0"/>
              <a:t>、写入消息</a:t>
            </a:r>
            <a:endParaRPr lang="en-US" altLang="zh-CN" b="1" dirty="0"/>
          </a:p>
          <a:p>
            <a:r>
              <a:rPr lang="en-US" altLang="zh-CN" sz="1400" dirty="0"/>
              <a:t>      </a:t>
            </a:r>
            <a:r>
              <a:rPr lang="zh-CN" altLang="en-US" sz="1400" dirty="0"/>
              <a:t>写入消息时在队尾进行操作，如果特殊要求后进先出（</a:t>
            </a:r>
            <a:r>
              <a:rPr lang="en-US" altLang="zh-CN" sz="1400" dirty="0"/>
              <a:t>LIFO</a:t>
            </a:r>
            <a:r>
              <a:rPr lang="zh-CN" altLang="en-US" sz="1400" dirty="0"/>
              <a:t>），其实是通过往队头写消息来实现，本教材不讲。</a:t>
            </a:r>
            <a:endParaRPr lang="en-US" altLang="zh-CN" sz="1400" dirty="0"/>
          </a:p>
          <a:p>
            <a:r>
              <a:rPr lang="en-US" altLang="zh-CN" sz="1400" dirty="0"/>
              <a:t>      </a:t>
            </a:r>
            <a:r>
              <a:rPr lang="zh-CN" altLang="en-US" sz="1400" dirty="0"/>
              <a:t>消息队列写入分为带拷贝写入和不带拷贝写入。</a:t>
            </a:r>
            <a:endParaRPr lang="en-US" altLang="zh-CN" sz="1400" dirty="0"/>
          </a:p>
          <a:p>
            <a:r>
              <a:rPr lang="en-US" altLang="zh-CN" sz="1400" dirty="0"/>
              <a:t>            </a:t>
            </a:r>
            <a:r>
              <a:rPr lang="zh-CN" altLang="en-US" sz="1400" dirty="0">
                <a:solidFill>
                  <a:schemeClr val="accent1">
                    <a:lumMod val="60000"/>
                    <a:lumOff val="40000"/>
                  </a:schemeClr>
                </a:solidFill>
              </a:rPr>
              <a:t>带拷贝写入（</a:t>
            </a:r>
            <a:r>
              <a:rPr lang="en-US" altLang="zh-CN" sz="1400" dirty="0" err="1">
                <a:solidFill>
                  <a:schemeClr val="accent1">
                    <a:lumMod val="60000"/>
                    <a:lumOff val="40000"/>
                  </a:schemeClr>
                </a:solidFill>
              </a:rPr>
              <a:t>LOS_QueueWriteCopy</a:t>
            </a:r>
            <a:r>
              <a:rPr lang="zh-CN" altLang="en-US" sz="1400" dirty="0">
                <a:solidFill>
                  <a:schemeClr val="accent1">
                    <a:lumMod val="60000"/>
                    <a:lumOff val="40000"/>
                  </a:schemeClr>
                </a:solidFill>
              </a:rPr>
              <a:t>）</a:t>
            </a:r>
            <a:r>
              <a:rPr lang="zh-CN" altLang="en-US" sz="1400" dirty="0"/>
              <a:t>：把任务要发送的消息内容写入队列。优点：保护消息；缺点：占用较多内存。</a:t>
            </a:r>
            <a:endParaRPr lang="en-US" altLang="zh-CN" sz="1400" dirty="0"/>
          </a:p>
          <a:p>
            <a:r>
              <a:rPr lang="en-US" altLang="zh-CN" sz="1400" dirty="0"/>
              <a:t>            </a:t>
            </a:r>
            <a:r>
              <a:rPr lang="zh-CN" altLang="en-US" sz="1400" dirty="0">
                <a:solidFill>
                  <a:schemeClr val="accent1">
                    <a:lumMod val="60000"/>
                    <a:lumOff val="40000"/>
                  </a:schemeClr>
                </a:solidFill>
              </a:rPr>
              <a:t>不带拷贝写入（</a:t>
            </a:r>
            <a:r>
              <a:rPr lang="en-US" altLang="zh-CN" sz="1400" dirty="0" err="1">
                <a:solidFill>
                  <a:schemeClr val="accent1">
                    <a:lumMod val="60000"/>
                    <a:lumOff val="40000"/>
                  </a:schemeClr>
                </a:solidFill>
              </a:rPr>
              <a:t>LOS_QueueWrite</a:t>
            </a:r>
            <a:r>
              <a:rPr lang="zh-CN" altLang="en-US" sz="1400" dirty="0">
                <a:solidFill>
                  <a:schemeClr val="accent1">
                    <a:lumMod val="60000"/>
                    <a:lumOff val="40000"/>
                  </a:schemeClr>
                </a:solidFill>
              </a:rPr>
              <a:t>）</a:t>
            </a:r>
            <a:r>
              <a:rPr lang="zh-CN" altLang="en-US" sz="1400" dirty="0"/>
              <a:t>：只把任务要发送的消息的指针写入队列。优点：占用较少内存；缺点：消息可能被修改。</a:t>
            </a:r>
            <a:endParaRPr lang="en-US" altLang="zh-CN" sz="1400" dirty="0"/>
          </a:p>
          <a:p>
            <a:r>
              <a:rPr lang="en-US" altLang="zh-CN" sz="1400" dirty="0"/>
              <a:t>     </a:t>
            </a:r>
            <a:r>
              <a:rPr lang="zh-CN" altLang="en-US" sz="1400" dirty="0"/>
              <a:t>下边我们以不带拷贝写入为例进行讲解，带拷贝写入自行学习。写入函数如下：</a:t>
            </a:r>
            <a:endParaRPr lang="en-US" altLang="zh-CN" sz="1400" dirty="0"/>
          </a:p>
          <a:p>
            <a:pPr lvl="0"/>
            <a:r>
              <a:rPr lang="en-US" altLang="zh-CN" sz="1400" dirty="0"/>
              <a:t>      UINT32 </a:t>
            </a:r>
            <a:r>
              <a:rPr lang="en-US" altLang="zh-CN" sz="1400" dirty="0" err="1"/>
              <a:t>LOS_QueueWrite</a:t>
            </a:r>
            <a:r>
              <a:rPr lang="en-US" altLang="zh-CN" sz="1400" dirty="0"/>
              <a:t>(     UINT32 </a:t>
            </a:r>
            <a:r>
              <a:rPr lang="en-US" altLang="zh-CN" sz="1400" dirty="0" err="1"/>
              <a:t>uwQueueID</a:t>
            </a:r>
            <a:r>
              <a:rPr lang="en-US" altLang="zh-CN" sz="1400" dirty="0"/>
              <a:t>,   </a:t>
            </a:r>
            <a:r>
              <a:rPr lang="en-US" altLang="zh-CN" sz="1400" dirty="0">
                <a:solidFill>
                  <a:srgbClr val="00B050"/>
                </a:solidFill>
              </a:rPr>
              <a:t>//</a:t>
            </a:r>
            <a:r>
              <a:rPr lang="zh-CN" altLang="en-US" sz="1400" dirty="0">
                <a:solidFill>
                  <a:srgbClr val="00B050"/>
                </a:solidFill>
              </a:rPr>
              <a:t>要写入的队列</a:t>
            </a:r>
            <a:r>
              <a:rPr lang="en-US" altLang="zh-CN" sz="1400" dirty="0">
                <a:solidFill>
                  <a:srgbClr val="00B050"/>
                </a:solidFill>
              </a:rPr>
              <a:t>ID</a:t>
            </a:r>
            <a:br>
              <a:rPr lang="en-US" altLang="zh-CN" sz="1400" dirty="0">
                <a:solidFill>
                  <a:srgbClr val="00B050"/>
                </a:solidFill>
              </a:rPr>
            </a:br>
            <a:r>
              <a:rPr lang="en-US" altLang="zh-CN" sz="1400" dirty="0"/>
              <a:t>                                                      VOID *</a:t>
            </a:r>
            <a:r>
              <a:rPr lang="en-US" altLang="zh-CN" sz="1400" dirty="0" err="1"/>
              <a:t>pBufferAddr</a:t>
            </a:r>
            <a:r>
              <a:rPr lang="en-US" altLang="zh-CN" sz="1400" dirty="0"/>
              <a:t>,     </a:t>
            </a:r>
            <a:r>
              <a:rPr lang="en-US" altLang="zh-CN" sz="1400" dirty="0">
                <a:solidFill>
                  <a:srgbClr val="00B050"/>
                </a:solidFill>
              </a:rPr>
              <a:t>//</a:t>
            </a:r>
            <a:r>
              <a:rPr lang="zh-CN" altLang="en-US" sz="1400" dirty="0">
                <a:solidFill>
                  <a:srgbClr val="00B050"/>
                </a:solidFill>
              </a:rPr>
              <a:t>消息的指针</a:t>
            </a:r>
            <a:br>
              <a:rPr lang="en-US" altLang="zh-CN" sz="1400" dirty="0"/>
            </a:br>
            <a:r>
              <a:rPr lang="en-US" altLang="zh-CN" sz="1400" dirty="0"/>
              <a:t>                                                      UINT32 </a:t>
            </a:r>
            <a:r>
              <a:rPr lang="en-US" altLang="zh-CN" sz="1400" dirty="0" err="1"/>
              <a:t>uwBufferSize</a:t>
            </a:r>
            <a:r>
              <a:rPr lang="en-US" altLang="zh-CN" sz="1400" dirty="0"/>
              <a:t>, </a:t>
            </a:r>
            <a:r>
              <a:rPr lang="en-US" altLang="zh-CN" sz="1400" dirty="0">
                <a:solidFill>
                  <a:srgbClr val="00B050"/>
                </a:solidFill>
              </a:rPr>
              <a:t>//</a:t>
            </a:r>
            <a:r>
              <a:rPr lang="zh-CN" altLang="en-US" sz="1400" dirty="0">
                <a:solidFill>
                  <a:srgbClr val="00B050"/>
                </a:solidFill>
              </a:rPr>
              <a:t>消息的大小</a:t>
            </a:r>
            <a:br>
              <a:rPr lang="en-US" altLang="zh-CN" sz="1400" dirty="0"/>
            </a:br>
            <a:r>
              <a:rPr lang="en-US" altLang="zh-CN" sz="1400" dirty="0"/>
              <a:t>                                                      UINT32 </a:t>
            </a:r>
            <a:r>
              <a:rPr lang="en-US" altLang="zh-CN" sz="1400" dirty="0" err="1"/>
              <a:t>uwTimeOut</a:t>
            </a:r>
            <a:r>
              <a:rPr lang="en-US" altLang="zh-CN" sz="1400" dirty="0"/>
              <a:t>);   </a:t>
            </a:r>
            <a:r>
              <a:rPr lang="en-US" altLang="zh-CN" sz="1400" dirty="0">
                <a:solidFill>
                  <a:srgbClr val="00B050"/>
                </a:solidFill>
              </a:rPr>
              <a:t>//</a:t>
            </a:r>
            <a:r>
              <a:rPr lang="zh-CN" altLang="en-US" sz="1400" dirty="0">
                <a:solidFill>
                  <a:srgbClr val="00B050"/>
                </a:solidFill>
              </a:rPr>
              <a:t>超时。</a:t>
            </a:r>
            <a:br>
              <a:rPr lang="en-US" altLang="zh-CN" sz="1400" dirty="0"/>
            </a:br>
            <a:r>
              <a:rPr lang="en-US" altLang="zh-CN" sz="1600" dirty="0">
                <a:solidFill>
                  <a:srgbClr val="C00000"/>
                </a:solidFill>
              </a:rPr>
              <a:t> </a:t>
            </a:r>
            <a:r>
              <a:rPr lang="zh-CN" altLang="en-US" sz="1400" dirty="0">
                <a:solidFill>
                  <a:srgbClr val="C00000"/>
                </a:solidFill>
              </a:rPr>
              <a:t>注：</a:t>
            </a:r>
            <a:r>
              <a:rPr lang="en-US" altLang="zh-CN" sz="1400" dirty="0">
                <a:solidFill>
                  <a:srgbClr val="C00000"/>
                </a:solidFill>
              </a:rPr>
              <a:t> </a:t>
            </a:r>
            <a:r>
              <a:rPr lang="en-US" altLang="zh-CN" sz="1400" dirty="0" err="1">
                <a:solidFill>
                  <a:srgbClr val="C00000"/>
                </a:solidFill>
              </a:rPr>
              <a:t>uwTimeOut</a:t>
            </a:r>
            <a:r>
              <a:rPr lang="zh-CN" altLang="en-US" sz="1400" dirty="0">
                <a:solidFill>
                  <a:srgbClr val="C00000"/>
                </a:solidFill>
              </a:rPr>
              <a:t>的范围</a:t>
            </a:r>
            <a:r>
              <a:rPr lang="en-US" altLang="zh-CN" sz="1400" dirty="0">
                <a:solidFill>
                  <a:srgbClr val="C00000"/>
                </a:solidFill>
              </a:rPr>
              <a:t>0~</a:t>
            </a:r>
            <a:r>
              <a:rPr lang="en-US" altLang="zh-CN" sz="1400" dirty="0">
                <a:solidFill>
                  <a:srgbClr val="C00000"/>
                </a:solidFill>
                <a:latin typeface="Times New Roman" panose="02020603050405020304" pitchFamily="18" charset="0"/>
              </a:rPr>
              <a:t> LOS_WAIT_FOREVER</a:t>
            </a:r>
            <a:r>
              <a:rPr lang="zh-CN" altLang="en-US" sz="1400" dirty="0">
                <a:solidFill>
                  <a:srgbClr val="C00000"/>
                </a:solidFill>
                <a:latin typeface="Times New Roman" panose="02020603050405020304" pitchFamily="18" charset="0"/>
              </a:rPr>
              <a:t>，单位为</a:t>
            </a:r>
            <a:r>
              <a:rPr lang="en-US" altLang="zh-CN" sz="1400" dirty="0">
                <a:solidFill>
                  <a:srgbClr val="C00000"/>
                </a:solidFill>
                <a:latin typeface="Times New Roman" panose="02020603050405020304" pitchFamily="18" charset="0"/>
              </a:rPr>
              <a:t>tick</a:t>
            </a:r>
            <a:r>
              <a:rPr lang="zh-CN" altLang="en-US" sz="1400" dirty="0">
                <a:solidFill>
                  <a:srgbClr val="C00000"/>
                </a:solidFill>
              </a:rPr>
              <a:t>。</a:t>
            </a:r>
            <a:endParaRPr lang="en-US" altLang="zh-CN" sz="1400" dirty="0">
              <a:solidFill>
                <a:srgbClr val="C00000"/>
              </a:solidFill>
            </a:endParaRPr>
          </a:p>
          <a:p>
            <a:pPr lvl="0"/>
            <a:r>
              <a:rPr lang="en-US" altLang="zh-CN" sz="1400" dirty="0">
                <a:solidFill>
                  <a:srgbClr val="C00000"/>
                </a:solidFill>
              </a:rPr>
              <a:t>           =0</a:t>
            </a:r>
            <a:r>
              <a:rPr lang="zh-CN" altLang="en-US" sz="1400" dirty="0">
                <a:solidFill>
                  <a:srgbClr val="C00000"/>
                </a:solidFill>
              </a:rPr>
              <a:t>：不等待；</a:t>
            </a:r>
            <a:r>
              <a:rPr lang="en-US" altLang="zh-CN" sz="1400" dirty="0">
                <a:solidFill>
                  <a:srgbClr val="C00000"/>
                </a:solidFill>
              </a:rPr>
              <a:t>=</a:t>
            </a:r>
            <a:r>
              <a:rPr lang="zh-CN" altLang="en-US" sz="1400" dirty="0">
                <a:solidFill>
                  <a:srgbClr val="C00000"/>
                </a:solidFill>
              </a:rPr>
              <a:t>常数</a:t>
            </a:r>
            <a:r>
              <a:rPr lang="en-US" altLang="zh-CN" sz="1400" dirty="0">
                <a:solidFill>
                  <a:srgbClr val="C00000"/>
                </a:solidFill>
              </a:rPr>
              <a:t>n</a:t>
            </a:r>
            <a:r>
              <a:rPr lang="zh-CN" altLang="en-US" sz="1400" dirty="0">
                <a:solidFill>
                  <a:srgbClr val="C00000"/>
                </a:solidFill>
              </a:rPr>
              <a:t>：等待</a:t>
            </a:r>
            <a:r>
              <a:rPr lang="en-US" altLang="zh-CN" sz="1400" dirty="0">
                <a:solidFill>
                  <a:srgbClr val="C00000"/>
                </a:solidFill>
              </a:rPr>
              <a:t>n</a:t>
            </a:r>
            <a:r>
              <a:rPr lang="zh-CN" altLang="en-US" sz="1400" dirty="0">
                <a:solidFill>
                  <a:srgbClr val="C00000"/>
                </a:solidFill>
              </a:rPr>
              <a:t>个</a:t>
            </a:r>
            <a:r>
              <a:rPr lang="en-US" altLang="zh-CN" sz="1400" dirty="0">
                <a:solidFill>
                  <a:srgbClr val="C00000"/>
                </a:solidFill>
              </a:rPr>
              <a:t>tick</a:t>
            </a:r>
            <a:r>
              <a:rPr lang="zh-CN" altLang="en-US" sz="1400" dirty="0">
                <a:solidFill>
                  <a:srgbClr val="C00000"/>
                </a:solidFill>
              </a:rPr>
              <a:t>；</a:t>
            </a:r>
            <a:r>
              <a:rPr lang="en-US" altLang="zh-CN" sz="1400" dirty="0">
                <a:solidFill>
                  <a:srgbClr val="C00000"/>
                </a:solidFill>
                <a:latin typeface="Times New Roman" panose="02020603050405020304" pitchFamily="18" charset="0"/>
              </a:rPr>
              <a:t> =LOS_WAIT_FOREVER</a:t>
            </a:r>
            <a:r>
              <a:rPr lang="zh-CN" altLang="en-US" sz="1400" dirty="0">
                <a:solidFill>
                  <a:srgbClr val="C00000"/>
                </a:solidFill>
                <a:latin typeface="Times New Roman" panose="02020603050405020304" pitchFamily="18" charset="0"/>
              </a:rPr>
              <a:t>：永久等待（死等，不写入誓不罢休）</a:t>
            </a:r>
            <a:br>
              <a:rPr lang="en-US" altLang="zh-CN" sz="1400" dirty="0">
                <a:solidFill>
                  <a:srgbClr val="000000"/>
                </a:solidFill>
              </a:rPr>
            </a:br>
            <a:r>
              <a:rPr lang="en-US" altLang="zh-CN" sz="1400" dirty="0">
                <a:solidFill>
                  <a:srgbClr val="000000"/>
                </a:solidFill>
              </a:rPr>
              <a:t>           </a:t>
            </a:r>
            <a:r>
              <a:rPr lang="zh-CN" altLang="en-US" sz="1400" dirty="0">
                <a:solidFill>
                  <a:srgbClr val="7030A0"/>
                </a:solidFill>
              </a:rPr>
              <a:t>需要注意的是中断程序写消息必须是</a:t>
            </a:r>
            <a:r>
              <a:rPr lang="en-US" altLang="zh-CN" sz="1400" dirty="0">
                <a:solidFill>
                  <a:srgbClr val="7030A0"/>
                </a:solidFill>
              </a:rPr>
              <a:t>0</a:t>
            </a:r>
            <a:r>
              <a:rPr lang="zh-CN" altLang="en-US" sz="1400" dirty="0">
                <a:solidFill>
                  <a:srgbClr val="7030A0"/>
                </a:solidFill>
              </a:rPr>
              <a:t>，不能等待，思考一下为什么？</a:t>
            </a:r>
            <a:endParaRPr lang="en-US" altLang="zh-CN" sz="1200" dirty="0">
              <a:solidFill>
                <a:srgbClr val="7030A0"/>
              </a:solidFill>
            </a:endParaRPr>
          </a:p>
          <a:p>
            <a:endParaRPr lang="en-US" altLang="zh-CN" sz="1400" dirty="0"/>
          </a:p>
          <a:p>
            <a:r>
              <a:rPr lang="zh-CN" altLang="en-US" sz="1400" dirty="0"/>
              <a:t>例：</a:t>
            </a:r>
            <a:r>
              <a:rPr lang="en-US" altLang="zh-CN" sz="1400" dirty="0"/>
              <a:t>UINT32   </a:t>
            </a:r>
            <a:r>
              <a:rPr lang="en-US" altLang="zh-CN" sz="1400" dirty="0" err="1"/>
              <a:t>dataMsg</a:t>
            </a:r>
            <a:r>
              <a:rPr lang="en-US" altLang="zh-CN" sz="1400" dirty="0"/>
              <a:t> = 2;   </a:t>
            </a:r>
            <a:r>
              <a:rPr lang="en-US" altLang="zh-CN" sz="1400" dirty="0">
                <a:solidFill>
                  <a:srgbClr val="00B050"/>
                </a:solidFill>
              </a:rPr>
              <a:t>//</a:t>
            </a:r>
            <a:r>
              <a:rPr lang="zh-CN" altLang="en-US" sz="1400" dirty="0">
                <a:solidFill>
                  <a:srgbClr val="00B050"/>
                </a:solidFill>
              </a:rPr>
              <a:t>定义一个数值型消息</a:t>
            </a:r>
            <a:r>
              <a:rPr lang="en-US" altLang="zh-CN" sz="1400" dirty="0">
                <a:solidFill>
                  <a:srgbClr val="00B050"/>
                </a:solidFill>
              </a:rPr>
              <a:t>=2</a:t>
            </a:r>
          </a:p>
          <a:p>
            <a:r>
              <a:rPr lang="en-US" altLang="zh-CN" sz="1400" dirty="0">
                <a:solidFill>
                  <a:srgbClr val="00B050"/>
                </a:solidFill>
              </a:rPr>
              <a:t>       </a:t>
            </a:r>
            <a:r>
              <a:rPr lang="en-US" altLang="zh-CN" sz="1400" dirty="0" err="1"/>
              <a:t>LOS_QueueWrite</a:t>
            </a:r>
            <a:r>
              <a:rPr lang="en-US" altLang="zh-CN" sz="1400" dirty="0"/>
              <a:t>(</a:t>
            </a:r>
            <a:r>
              <a:rPr lang="en-US" altLang="zh-CN" sz="1400" dirty="0" err="1"/>
              <a:t>Queue_Handle</a:t>
            </a:r>
            <a:r>
              <a:rPr lang="en-US" altLang="zh-CN" sz="1400" dirty="0"/>
              <a:t>,  //</a:t>
            </a:r>
            <a:r>
              <a:rPr lang="zh-CN" altLang="en-US" sz="1400" dirty="0"/>
              <a:t>队列</a:t>
            </a:r>
            <a:r>
              <a:rPr lang="en-US" altLang="zh-CN" sz="1400" dirty="0"/>
              <a:t>ID</a:t>
            </a:r>
          </a:p>
          <a:p>
            <a:r>
              <a:rPr lang="en-US" altLang="zh-CN" sz="1400" dirty="0"/>
              <a:t>                                    &amp; </a:t>
            </a:r>
            <a:r>
              <a:rPr lang="en-US" altLang="zh-CN" sz="1400" dirty="0" err="1"/>
              <a:t>dataMsg</a:t>
            </a:r>
            <a:r>
              <a:rPr lang="en-US" altLang="zh-CN" sz="1400" dirty="0"/>
              <a:t>,          //</a:t>
            </a:r>
            <a:r>
              <a:rPr lang="zh-CN" altLang="en-US" sz="1400" dirty="0"/>
              <a:t>消息的指针</a:t>
            </a:r>
            <a:endParaRPr lang="en-US" altLang="zh-CN" sz="1400" dirty="0"/>
          </a:p>
          <a:p>
            <a:r>
              <a:rPr lang="en-US" altLang="zh-CN" sz="1400" dirty="0"/>
              <a:t>                                    </a:t>
            </a:r>
            <a:r>
              <a:rPr lang="en-US" altLang="zh-CN" sz="1400" dirty="0" err="1"/>
              <a:t>sizeof</a:t>
            </a:r>
            <a:r>
              <a:rPr lang="en-US" altLang="zh-CN" sz="1400" dirty="0"/>
              <a:t>(UINT32) ,  //</a:t>
            </a:r>
            <a:r>
              <a:rPr lang="zh-CN" altLang="en-US" sz="1400" dirty="0"/>
              <a:t>消息的大小</a:t>
            </a:r>
            <a:endParaRPr lang="en-US" altLang="zh-CN" sz="1400" dirty="0"/>
          </a:p>
          <a:p>
            <a:r>
              <a:rPr lang="en-US" altLang="zh-CN" sz="1400" dirty="0"/>
              <a:t>                                     0);                       //</a:t>
            </a:r>
            <a:r>
              <a:rPr lang="zh-CN" altLang="en-US" sz="1400" dirty="0"/>
              <a:t>等待时间</a:t>
            </a:r>
            <a:r>
              <a:rPr lang="en-US" altLang="zh-CN" sz="1400" dirty="0"/>
              <a:t>=0</a:t>
            </a:r>
            <a:r>
              <a:rPr lang="zh-CN" altLang="en-US" sz="1400" dirty="0"/>
              <a:t>。如果消息写入失败（队列满了），直接跳过。</a:t>
            </a:r>
            <a:br>
              <a:rPr lang="en-US" altLang="zh-CN" sz="1400" dirty="0"/>
            </a:br>
            <a:endParaRPr lang="en-US" altLang="zh-CN" sz="1400" dirty="0">
              <a:solidFill>
                <a:srgbClr val="00B050"/>
              </a:solidFill>
            </a:endParaRPr>
          </a:p>
        </p:txBody>
      </p:sp>
    </p:spTree>
    <p:extLst>
      <p:ext uri="{BB962C8B-B14F-4D97-AF65-F5344CB8AC3E}">
        <p14:creationId xmlns:p14="http://schemas.microsoft.com/office/powerpoint/2010/main" val="4197288567"/>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二、消息队列的使用方法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7" name="文本框 6"/>
          <p:cNvSpPr txBox="1"/>
          <p:nvPr/>
        </p:nvSpPr>
        <p:spPr>
          <a:xfrm>
            <a:off x="313898" y="750627"/>
            <a:ext cx="11064240" cy="5724644"/>
          </a:xfrm>
          <a:prstGeom prst="rect">
            <a:avLst/>
          </a:prstGeom>
          <a:noFill/>
        </p:spPr>
        <p:txBody>
          <a:bodyPr wrap="square" rtlCol="0">
            <a:spAutoFit/>
          </a:bodyPr>
          <a:lstStyle/>
          <a:p>
            <a:r>
              <a:rPr lang="en-US" altLang="zh-CN" b="1" dirty="0"/>
              <a:t>4</a:t>
            </a:r>
            <a:r>
              <a:rPr lang="zh-CN" altLang="en-US" b="1" dirty="0"/>
              <a:t>、读取消息</a:t>
            </a:r>
            <a:endParaRPr lang="en-US" altLang="zh-CN" b="1" dirty="0"/>
          </a:p>
          <a:p>
            <a:r>
              <a:rPr lang="en-US" altLang="zh-CN" sz="1400" dirty="0"/>
              <a:t>       </a:t>
            </a:r>
          </a:p>
          <a:p>
            <a:r>
              <a:rPr lang="en-US" altLang="zh-CN" sz="1400" dirty="0"/>
              <a:t>      </a:t>
            </a:r>
            <a:r>
              <a:rPr lang="zh-CN" altLang="en-US" sz="1600" dirty="0"/>
              <a:t>消息队列读取分为带拷贝读取和不带拷贝读取。</a:t>
            </a:r>
            <a:endParaRPr lang="en-US" altLang="zh-CN" sz="1600" dirty="0"/>
          </a:p>
          <a:p>
            <a:r>
              <a:rPr lang="en-US" altLang="zh-CN" sz="1600" dirty="0"/>
              <a:t>     </a:t>
            </a:r>
            <a:r>
              <a:rPr lang="zh-CN" altLang="en-US" sz="1600" dirty="0">
                <a:solidFill>
                  <a:schemeClr val="accent1">
                    <a:lumMod val="60000"/>
                    <a:lumOff val="40000"/>
                  </a:schemeClr>
                </a:solidFill>
              </a:rPr>
              <a:t>带拷贝读取（</a:t>
            </a:r>
            <a:r>
              <a:rPr lang="en-US" altLang="zh-CN" sz="1600" dirty="0" err="1">
                <a:solidFill>
                  <a:schemeClr val="accent1">
                    <a:lumMod val="60000"/>
                    <a:lumOff val="40000"/>
                  </a:schemeClr>
                </a:solidFill>
              </a:rPr>
              <a:t>LOS_QueueReadCopy</a:t>
            </a:r>
            <a:r>
              <a:rPr lang="zh-CN" altLang="en-US" sz="1600" dirty="0">
                <a:solidFill>
                  <a:schemeClr val="accent1">
                    <a:lumMod val="60000"/>
                    <a:lumOff val="40000"/>
                  </a:schemeClr>
                </a:solidFill>
              </a:rPr>
              <a:t>）</a:t>
            </a:r>
            <a:r>
              <a:rPr lang="zh-CN" altLang="en-US" sz="1600" dirty="0"/>
              <a:t>：</a:t>
            </a:r>
            <a:endParaRPr lang="en-US" altLang="zh-CN" sz="1600" dirty="0"/>
          </a:p>
          <a:p>
            <a:r>
              <a:rPr lang="en-US" altLang="zh-CN" sz="1600" dirty="0"/>
              <a:t>               </a:t>
            </a:r>
            <a:r>
              <a:rPr lang="zh-CN" altLang="en-US" sz="1600" dirty="0"/>
              <a:t>读取队头的消息内容。</a:t>
            </a:r>
            <a:endParaRPr lang="en-US" altLang="zh-CN" sz="1600" dirty="0"/>
          </a:p>
          <a:p>
            <a:r>
              <a:rPr lang="en-US" altLang="zh-CN" sz="1600" dirty="0"/>
              <a:t>     </a:t>
            </a:r>
            <a:r>
              <a:rPr lang="zh-CN" altLang="en-US" sz="1600" dirty="0">
                <a:solidFill>
                  <a:schemeClr val="accent1">
                    <a:lumMod val="60000"/>
                    <a:lumOff val="40000"/>
                  </a:schemeClr>
                </a:solidFill>
              </a:rPr>
              <a:t>不带拷贝读取（</a:t>
            </a:r>
            <a:r>
              <a:rPr lang="en-US" altLang="zh-CN" sz="1600" dirty="0" err="1">
                <a:solidFill>
                  <a:schemeClr val="accent1">
                    <a:lumMod val="60000"/>
                    <a:lumOff val="40000"/>
                  </a:schemeClr>
                </a:solidFill>
              </a:rPr>
              <a:t>LOS_QueueRead</a:t>
            </a:r>
            <a:r>
              <a:rPr lang="zh-CN" altLang="en-US" sz="1600" dirty="0">
                <a:solidFill>
                  <a:schemeClr val="accent1">
                    <a:lumMod val="60000"/>
                    <a:lumOff val="40000"/>
                  </a:schemeClr>
                </a:solidFill>
              </a:rPr>
              <a:t>）</a:t>
            </a:r>
            <a:r>
              <a:rPr lang="zh-CN" altLang="en-US" sz="1600" dirty="0"/>
              <a:t>：</a:t>
            </a:r>
            <a:endParaRPr lang="en-US" altLang="zh-CN" sz="1600" dirty="0"/>
          </a:p>
          <a:p>
            <a:r>
              <a:rPr lang="en-US" altLang="zh-CN" sz="1600" dirty="0"/>
              <a:t>               </a:t>
            </a:r>
            <a:r>
              <a:rPr lang="zh-CN" altLang="en-US" sz="1600" dirty="0"/>
              <a:t>只读取队头的消息的指针。</a:t>
            </a:r>
            <a:endParaRPr lang="en-US" altLang="zh-CN" sz="1600" dirty="0"/>
          </a:p>
          <a:p>
            <a:r>
              <a:rPr lang="en-US" altLang="zh-CN" sz="1600" dirty="0"/>
              <a:t>     </a:t>
            </a:r>
          </a:p>
          <a:p>
            <a:r>
              <a:rPr lang="en-US" altLang="zh-CN" sz="1600" dirty="0"/>
              <a:t>     </a:t>
            </a:r>
            <a:r>
              <a:rPr lang="zh-CN" altLang="en-US" sz="1600" dirty="0"/>
              <a:t>下边我们以不带拷贝读取为例进行讲解，带拷贝读取自行学习。读取函数如下：</a:t>
            </a:r>
            <a:endParaRPr lang="en-US" altLang="zh-CN" sz="1600" dirty="0"/>
          </a:p>
          <a:p>
            <a:r>
              <a:rPr lang="en-US" altLang="zh-CN" sz="1600" dirty="0"/>
              <a:t>      UINT32 </a:t>
            </a:r>
            <a:r>
              <a:rPr lang="en-US" altLang="zh-CN" sz="1600" dirty="0" err="1"/>
              <a:t>LOS_QueueWrite</a:t>
            </a:r>
            <a:r>
              <a:rPr lang="en-US" altLang="zh-CN" sz="1600" dirty="0"/>
              <a:t>(     UINT32 </a:t>
            </a:r>
            <a:r>
              <a:rPr lang="en-US" altLang="zh-CN" sz="1600" dirty="0" err="1"/>
              <a:t>uwQueueID</a:t>
            </a:r>
            <a:r>
              <a:rPr lang="en-US" altLang="zh-CN" sz="1600" dirty="0"/>
              <a:t>,   </a:t>
            </a:r>
            <a:r>
              <a:rPr lang="en-US" altLang="zh-CN" sz="1600" dirty="0">
                <a:solidFill>
                  <a:srgbClr val="00B050"/>
                </a:solidFill>
              </a:rPr>
              <a:t>//</a:t>
            </a:r>
            <a:r>
              <a:rPr lang="zh-CN" altLang="en-US" sz="1600" dirty="0">
                <a:solidFill>
                  <a:srgbClr val="00B050"/>
                </a:solidFill>
              </a:rPr>
              <a:t>要读取的队列</a:t>
            </a:r>
            <a:r>
              <a:rPr lang="en-US" altLang="zh-CN" sz="1600" dirty="0">
                <a:solidFill>
                  <a:srgbClr val="00B050"/>
                </a:solidFill>
              </a:rPr>
              <a:t>ID</a:t>
            </a:r>
            <a:br>
              <a:rPr lang="en-US" altLang="zh-CN" sz="1600" dirty="0">
                <a:solidFill>
                  <a:srgbClr val="00B050"/>
                </a:solidFill>
              </a:rPr>
            </a:br>
            <a:r>
              <a:rPr lang="en-US" altLang="zh-CN" sz="1600" dirty="0"/>
              <a:t>                                                      VOID *</a:t>
            </a:r>
            <a:r>
              <a:rPr lang="en-US" altLang="zh-CN" sz="1600" dirty="0" err="1"/>
              <a:t>pBufferAddr</a:t>
            </a:r>
            <a:r>
              <a:rPr lang="en-US" altLang="zh-CN" sz="1600" dirty="0"/>
              <a:t>,     </a:t>
            </a:r>
            <a:r>
              <a:rPr lang="en-US" altLang="zh-CN" sz="1600" dirty="0">
                <a:solidFill>
                  <a:srgbClr val="00B050"/>
                </a:solidFill>
              </a:rPr>
              <a:t>//</a:t>
            </a:r>
            <a:r>
              <a:rPr lang="zh-CN" altLang="en-US" sz="1600" dirty="0">
                <a:solidFill>
                  <a:srgbClr val="00B050"/>
                </a:solidFill>
              </a:rPr>
              <a:t>读取消息缓冲区地址</a:t>
            </a:r>
            <a:br>
              <a:rPr lang="en-US" altLang="zh-CN" sz="1600" dirty="0"/>
            </a:br>
            <a:r>
              <a:rPr lang="en-US" altLang="zh-CN" sz="1600" dirty="0"/>
              <a:t>                                                      UINT32 </a:t>
            </a:r>
            <a:r>
              <a:rPr lang="en-US" altLang="zh-CN" sz="1600" dirty="0" err="1"/>
              <a:t>uwBufferSize</a:t>
            </a:r>
            <a:r>
              <a:rPr lang="en-US" altLang="zh-CN" sz="1600" dirty="0"/>
              <a:t>, </a:t>
            </a:r>
            <a:r>
              <a:rPr lang="en-US" altLang="zh-CN" sz="1600" dirty="0">
                <a:solidFill>
                  <a:srgbClr val="00B050"/>
                </a:solidFill>
              </a:rPr>
              <a:t>//</a:t>
            </a:r>
            <a:r>
              <a:rPr lang="zh-CN" altLang="en-US" sz="1600" dirty="0">
                <a:solidFill>
                  <a:srgbClr val="00B050"/>
                </a:solidFill>
              </a:rPr>
              <a:t>消息的大小</a:t>
            </a:r>
            <a:br>
              <a:rPr lang="en-US" altLang="zh-CN" sz="1600" dirty="0"/>
            </a:br>
            <a:r>
              <a:rPr lang="en-US" altLang="zh-CN" sz="1600" dirty="0"/>
              <a:t>                                                      UINT32 </a:t>
            </a:r>
            <a:r>
              <a:rPr lang="en-US" altLang="zh-CN" sz="1600" dirty="0" err="1"/>
              <a:t>uwTimeOut</a:t>
            </a:r>
            <a:r>
              <a:rPr lang="en-US" altLang="zh-CN" sz="1600" dirty="0"/>
              <a:t>);   </a:t>
            </a:r>
            <a:r>
              <a:rPr lang="en-US" altLang="zh-CN" sz="1600" dirty="0">
                <a:solidFill>
                  <a:srgbClr val="00B050"/>
                </a:solidFill>
              </a:rPr>
              <a:t>//</a:t>
            </a:r>
            <a:r>
              <a:rPr lang="zh-CN" altLang="en-US" sz="1600" dirty="0">
                <a:solidFill>
                  <a:srgbClr val="00B050"/>
                </a:solidFill>
              </a:rPr>
              <a:t>超时。分三种情况，不等待、等待一定时长、死等。</a:t>
            </a:r>
            <a:endParaRPr lang="en-US" altLang="zh-CN" sz="1600" dirty="0">
              <a:solidFill>
                <a:srgbClr val="00B050"/>
              </a:solidFill>
            </a:endParaRPr>
          </a:p>
          <a:p>
            <a:r>
              <a:rPr lang="en-US" altLang="zh-CN" sz="1600" dirty="0">
                <a:solidFill>
                  <a:srgbClr val="C00000"/>
                </a:solidFill>
              </a:rPr>
              <a:t>        </a:t>
            </a:r>
            <a:r>
              <a:rPr lang="zh-CN" altLang="en-US" sz="1600" dirty="0">
                <a:solidFill>
                  <a:srgbClr val="C00000"/>
                </a:solidFill>
              </a:rPr>
              <a:t>注：</a:t>
            </a:r>
            <a:r>
              <a:rPr lang="en-US" altLang="zh-CN" sz="1600" dirty="0">
                <a:solidFill>
                  <a:srgbClr val="C00000"/>
                </a:solidFill>
              </a:rPr>
              <a:t> </a:t>
            </a:r>
            <a:r>
              <a:rPr lang="en-US" altLang="zh-CN" sz="1600" dirty="0" err="1">
                <a:solidFill>
                  <a:srgbClr val="C00000"/>
                </a:solidFill>
              </a:rPr>
              <a:t>uwTimeOut</a:t>
            </a:r>
            <a:r>
              <a:rPr lang="zh-CN" altLang="en-US" sz="1600" dirty="0">
                <a:solidFill>
                  <a:srgbClr val="C00000"/>
                </a:solidFill>
              </a:rPr>
              <a:t>的范围</a:t>
            </a:r>
            <a:r>
              <a:rPr lang="en-US" altLang="zh-CN" sz="1600" dirty="0">
                <a:solidFill>
                  <a:srgbClr val="C00000"/>
                </a:solidFill>
              </a:rPr>
              <a:t>0~</a:t>
            </a:r>
            <a:r>
              <a:rPr lang="en-US" altLang="zh-CN" sz="1600" dirty="0">
                <a:solidFill>
                  <a:srgbClr val="C00000"/>
                </a:solidFill>
                <a:latin typeface="Times New Roman" panose="02020603050405020304" pitchFamily="18" charset="0"/>
              </a:rPr>
              <a:t> LOS_WAIT_FOREVER</a:t>
            </a:r>
            <a:r>
              <a:rPr lang="zh-CN" altLang="en-US" sz="1600" dirty="0">
                <a:solidFill>
                  <a:srgbClr val="C00000"/>
                </a:solidFill>
                <a:latin typeface="Times New Roman" panose="02020603050405020304" pitchFamily="18" charset="0"/>
              </a:rPr>
              <a:t>，单位为</a:t>
            </a:r>
            <a:r>
              <a:rPr lang="en-US" altLang="zh-CN" sz="1600" dirty="0">
                <a:solidFill>
                  <a:srgbClr val="C00000"/>
                </a:solidFill>
                <a:latin typeface="Times New Roman" panose="02020603050405020304" pitchFamily="18" charset="0"/>
              </a:rPr>
              <a:t>tick</a:t>
            </a:r>
            <a:r>
              <a:rPr lang="zh-CN" altLang="en-US" sz="1600" dirty="0">
                <a:solidFill>
                  <a:srgbClr val="C00000"/>
                </a:solidFill>
              </a:rPr>
              <a:t>。</a:t>
            </a:r>
            <a:endParaRPr lang="en-US" altLang="zh-CN" sz="1600" dirty="0">
              <a:solidFill>
                <a:srgbClr val="C00000"/>
              </a:solidFill>
            </a:endParaRPr>
          </a:p>
          <a:p>
            <a:r>
              <a:rPr lang="en-US" altLang="zh-CN" sz="1600" dirty="0">
                <a:solidFill>
                  <a:srgbClr val="C00000"/>
                </a:solidFill>
              </a:rPr>
              <a:t>                0</a:t>
            </a:r>
            <a:r>
              <a:rPr lang="zh-CN" altLang="en-US" sz="1600" dirty="0">
                <a:solidFill>
                  <a:srgbClr val="C00000"/>
                </a:solidFill>
              </a:rPr>
              <a:t>：不等待；常数</a:t>
            </a:r>
            <a:r>
              <a:rPr lang="en-US" altLang="zh-CN" sz="1600" dirty="0">
                <a:solidFill>
                  <a:srgbClr val="C00000"/>
                </a:solidFill>
              </a:rPr>
              <a:t>n</a:t>
            </a:r>
            <a:r>
              <a:rPr lang="zh-CN" altLang="en-US" sz="1600" dirty="0">
                <a:solidFill>
                  <a:srgbClr val="C00000"/>
                </a:solidFill>
              </a:rPr>
              <a:t>：等待</a:t>
            </a:r>
            <a:r>
              <a:rPr lang="en-US" altLang="zh-CN" sz="1600" dirty="0">
                <a:solidFill>
                  <a:srgbClr val="C00000"/>
                </a:solidFill>
              </a:rPr>
              <a:t>n</a:t>
            </a:r>
            <a:r>
              <a:rPr lang="zh-CN" altLang="en-US" sz="1600" dirty="0">
                <a:solidFill>
                  <a:srgbClr val="C00000"/>
                </a:solidFill>
              </a:rPr>
              <a:t>个</a:t>
            </a:r>
            <a:r>
              <a:rPr lang="en-US" altLang="zh-CN" sz="1600" dirty="0">
                <a:solidFill>
                  <a:srgbClr val="C00000"/>
                </a:solidFill>
              </a:rPr>
              <a:t>tick</a:t>
            </a:r>
            <a:r>
              <a:rPr lang="zh-CN" altLang="en-US" sz="1600" dirty="0">
                <a:solidFill>
                  <a:srgbClr val="C00000"/>
                </a:solidFill>
              </a:rPr>
              <a:t>；</a:t>
            </a:r>
            <a:r>
              <a:rPr lang="en-US" altLang="zh-CN" sz="1600" dirty="0">
                <a:solidFill>
                  <a:srgbClr val="C00000"/>
                </a:solidFill>
                <a:latin typeface="Times New Roman" panose="02020603050405020304" pitchFamily="18" charset="0"/>
              </a:rPr>
              <a:t> LOS_WAIT_FOREVER</a:t>
            </a:r>
            <a:r>
              <a:rPr lang="zh-CN" altLang="en-US" sz="1600" dirty="0">
                <a:solidFill>
                  <a:srgbClr val="C00000"/>
                </a:solidFill>
                <a:latin typeface="Times New Roman" panose="02020603050405020304" pitchFamily="18" charset="0"/>
              </a:rPr>
              <a:t>：永久等待（死等，读不到誓不罢休）</a:t>
            </a:r>
            <a:br>
              <a:rPr lang="en-US" altLang="zh-CN" sz="1600" dirty="0"/>
            </a:br>
            <a:r>
              <a:rPr lang="en-US" altLang="zh-CN" sz="1600" dirty="0"/>
              <a:t>                </a:t>
            </a:r>
            <a:r>
              <a:rPr lang="zh-CN" altLang="en-US" sz="1600" dirty="0">
                <a:solidFill>
                  <a:srgbClr val="C00000"/>
                </a:solidFill>
              </a:rPr>
              <a:t>需要注意的是中断程序不读取消息，思考一下为什么？</a:t>
            </a:r>
            <a:br>
              <a:rPr lang="en-US" altLang="zh-CN" sz="1600" dirty="0">
                <a:solidFill>
                  <a:srgbClr val="C00000"/>
                </a:solidFill>
              </a:rPr>
            </a:br>
            <a:endParaRPr lang="en-US" altLang="zh-CN" sz="1600" dirty="0">
              <a:solidFill>
                <a:srgbClr val="C00000"/>
              </a:solidFill>
            </a:endParaRPr>
          </a:p>
          <a:p>
            <a:r>
              <a:rPr lang="zh-CN" altLang="en-US" sz="1600" dirty="0"/>
              <a:t>例：</a:t>
            </a:r>
            <a:r>
              <a:rPr lang="en-US" altLang="zh-CN" sz="1600" dirty="0"/>
              <a:t>UINT32   </a:t>
            </a:r>
            <a:r>
              <a:rPr lang="en-US" altLang="zh-CN" sz="1600" dirty="0" err="1"/>
              <a:t>dataMsg</a:t>
            </a:r>
            <a:r>
              <a:rPr lang="en-US" altLang="zh-CN" sz="1600" dirty="0"/>
              <a:t>;          </a:t>
            </a:r>
            <a:r>
              <a:rPr lang="en-US" altLang="zh-CN" sz="1600" dirty="0">
                <a:solidFill>
                  <a:srgbClr val="00B050"/>
                </a:solidFill>
              </a:rPr>
              <a:t>//</a:t>
            </a:r>
            <a:r>
              <a:rPr lang="zh-CN" altLang="en-US" sz="1600" dirty="0">
                <a:solidFill>
                  <a:srgbClr val="00B050"/>
                </a:solidFill>
              </a:rPr>
              <a:t>定义一个消息缓冲区</a:t>
            </a:r>
            <a:endParaRPr lang="en-US" altLang="zh-CN" sz="1600" dirty="0">
              <a:solidFill>
                <a:srgbClr val="00B050"/>
              </a:solidFill>
            </a:endParaRPr>
          </a:p>
          <a:p>
            <a:r>
              <a:rPr lang="en-US" altLang="zh-CN" sz="1600" dirty="0">
                <a:solidFill>
                  <a:srgbClr val="00B050"/>
                </a:solidFill>
              </a:rPr>
              <a:t>       </a:t>
            </a:r>
            <a:r>
              <a:rPr lang="en-US" altLang="zh-CN" sz="1600" dirty="0" err="1"/>
              <a:t>LOS_QueueRead</a:t>
            </a:r>
            <a:r>
              <a:rPr lang="en-US" altLang="zh-CN" sz="1600" dirty="0"/>
              <a:t>(</a:t>
            </a:r>
            <a:r>
              <a:rPr lang="en-US" altLang="zh-CN" sz="1600" dirty="0" err="1"/>
              <a:t>Queue_Handle</a:t>
            </a:r>
            <a:r>
              <a:rPr lang="en-US" altLang="zh-CN" sz="1600" dirty="0"/>
              <a:t>,  </a:t>
            </a:r>
            <a:r>
              <a:rPr lang="en-US" altLang="zh-CN" sz="1600" dirty="0">
                <a:solidFill>
                  <a:srgbClr val="00B050"/>
                </a:solidFill>
              </a:rPr>
              <a:t>//</a:t>
            </a:r>
            <a:r>
              <a:rPr lang="zh-CN" altLang="en-US" sz="1600" dirty="0">
                <a:solidFill>
                  <a:srgbClr val="00B050"/>
                </a:solidFill>
              </a:rPr>
              <a:t>队列</a:t>
            </a:r>
            <a:r>
              <a:rPr lang="en-US" altLang="zh-CN" sz="1600" dirty="0">
                <a:solidFill>
                  <a:srgbClr val="00B050"/>
                </a:solidFill>
              </a:rPr>
              <a:t>ID</a:t>
            </a:r>
          </a:p>
          <a:p>
            <a:r>
              <a:rPr lang="en-US" altLang="zh-CN" sz="1600" dirty="0"/>
              <a:t>                                    &amp; </a:t>
            </a:r>
            <a:r>
              <a:rPr lang="en-US" altLang="zh-CN" sz="1600" dirty="0" err="1"/>
              <a:t>dataMsg</a:t>
            </a:r>
            <a:r>
              <a:rPr lang="en-US" altLang="zh-CN" sz="1600" dirty="0"/>
              <a:t>,          </a:t>
            </a:r>
            <a:r>
              <a:rPr lang="en-US" altLang="zh-CN" sz="1600" dirty="0">
                <a:solidFill>
                  <a:srgbClr val="00B050"/>
                </a:solidFill>
              </a:rPr>
              <a:t>//</a:t>
            </a:r>
            <a:r>
              <a:rPr lang="zh-CN" altLang="en-US" sz="1600" dirty="0">
                <a:solidFill>
                  <a:srgbClr val="00B050"/>
                </a:solidFill>
              </a:rPr>
              <a:t>把消息读入</a:t>
            </a:r>
            <a:r>
              <a:rPr lang="en-US" altLang="zh-CN" sz="1600" dirty="0" err="1">
                <a:solidFill>
                  <a:srgbClr val="00B050"/>
                </a:solidFill>
              </a:rPr>
              <a:t>dataMsg</a:t>
            </a:r>
            <a:endParaRPr lang="en-US" altLang="zh-CN" sz="1600" dirty="0">
              <a:solidFill>
                <a:srgbClr val="00B050"/>
              </a:solidFill>
            </a:endParaRPr>
          </a:p>
          <a:p>
            <a:r>
              <a:rPr lang="en-US" altLang="zh-CN" sz="1600" dirty="0"/>
              <a:t>                                    </a:t>
            </a:r>
            <a:r>
              <a:rPr lang="en-US" altLang="zh-CN" sz="1600" dirty="0" err="1"/>
              <a:t>sizeof</a:t>
            </a:r>
            <a:r>
              <a:rPr lang="en-US" altLang="zh-CN" sz="1600" dirty="0"/>
              <a:t>(UINT32) ,  </a:t>
            </a:r>
            <a:r>
              <a:rPr lang="en-US" altLang="zh-CN" sz="1600" dirty="0">
                <a:solidFill>
                  <a:srgbClr val="00B050"/>
                </a:solidFill>
              </a:rPr>
              <a:t>//</a:t>
            </a:r>
            <a:r>
              <a:rPr lang="zh-CN" altLang="en-US" sz="1600" dirty="0">
                <a:solidFill>
                  <a:srgbClr val="00B050"/>
                </a:solidFill>
              </a:rPr>
              <a:t>消息的大小</a:t>
            </a:r>
            <a:endParaRPr lang="en-US" altLang="zh-CN" sz="1600" dirty="0">
              <a:solidFill>
                <a:srgbClr val="00B050"/>
              </a:solidFill>
            </a:endParaRPr>
          </a:p>
          <a:p>
            <a:r>
              <a:rPr lang="en-US" altLang="zh-CN" sz="1600" dirty="0"/>
              <a:t>                                     100);                   </a:t>
            </a:r>
            <a:r>
              <a:rPr lang="en-US" altLang="zh-CN" sz="1600" dirty="0">
                <a:solidFill>
                  <a:srgbClr val="00B050"/>
                </a:solidFill>
              </a:rPr>
              <a:t>//</a:t>
            </a:r>
            <a:r>
              <a:rPr lang="zh-CN" altLang="en-US" sz="1600" dirty="0">
                <a:solidFill>
                  <a:srgbClr val="00B050"/>
                </a:solidFill>
              </a:rPr>
              <a:t>等待</a:t>
            </a:r>
            <a:r>
              <a:rPr lang="en-US" altLang="zh-CN" sz="1600" dirty="0">
                <a:solidFill>
                  <a:srgbClr val="00B050"/>
                </a:solidFill>
              </a:rPr>
              <a:t>100</a:t>
            </a:r>
            <a:r>
              <a:rPr lang="zh-CN" altLang="en-US" sz="1600" dirty="0">
                <a:solidFill>
                  <a:srgbClr val="00B050"/>
                </a:solidFill>
              </a:rPr>
              <a:t>个</a:t>
            </a:r>
            <a:r>
              <a:rPr lang="en-US" altLang="zh-CN" sz="1600" dirty="0">
                <a:solidFill>
                  <a:srgbClr val="00B050"/>
                </a:solidFill>
              </a:rPr>
              <a:t>tick</a:t>
            </a:r>
            <a:r>
              <a:rPr lang="zh-CN" altLang="en-US" sz="1600" dirty="0"/>
              <a:t>。</a:t>
            </a:r>
            <a:endParaRPr lang="en-US" altLang="zh-CN" sz="1400" dirty="0">
              <a:solidFill>
                <a:srgbClr val="00B050"/>
              </a:solidFill>
            </a:endParaRPr>
          </a:p>
        </p:txBody>
      </p:sp>
    </p:spTree>
    <p:extLst>
      <p:ext uri="{BB962C8B-B14F-4D97-AF65-F5344CB8AC3E}">
        <p14:creationId xmlns:p14="http://schemas.microsoft.com/office/powerpoint/2010/main" val="57943909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三、消息队列使用示例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7" name="文本框 6"/>
          <p:cNvSpPr txBox="1"/>
          <p:nvPr/>
        </p:nvSpPr>
        <p:spPr>
          <a:xfrm>
            <a:off x="0" y="808816"/>
            <a:ext cx="6367549" cy="6186309"/>
          </a:xfrm>
          <a:prstGeom prst="rect">
            <a:avLst/>
          </a:prstGeom>
          <a:noFill/>
        </p:spPr>
        <p:txBody>
          <a:bodyPr wrap="square" rtlCol="0">
            <a:spAutoFit/>
          </a:bodyPr>
          <a:lstStyle/>
          <a:p>
            <a:r>
              <a:rPr lang="en-US" altLang="zh-CN" sz="1400" dirty="0"/>
              <a:t>      </a:t>
            </a:r>
            <a:r>
              <a:rPr lang="zh-CN" altLang="en-US" sz="1400" dirty="0"/>
              <a:t>本示例只给出主要框架，详细代码自己完成。</a:t>
            </a:r>
            <a:endParaRPr lang="en-US" altLang="zh-CN" sz="1400" dirty="0"/>
          </a:p>
          <a:p>
            <a:r>
              <a:rPr lang="en-US" altLang="zh-CN" sz="1400" dirty="0"/>
              <a:t>      </a:t>
            </a:r>
            <a:r>
              <a:rPr lang="zh-CN" altLang="en-US" sz="1400" dirty="0"/>
              <a:t>①头文件      </a:t>
            </a:r>
            <a:r>
              <a:rPr lang="en-US" altLang="zh-CN" sz="1400" dirty="0">
                <a:solidFill>
                  <a:srgbClr val="00B050"/>
                </a:solidFill>
              </a:rPr>
              <a:t>//</a:t>
            </a:r>
            <a:r>
              <a:rPr lang="zh-CN" altLang="en-US" sz="1400" dirty="0">
                <a:solidFill>
                  <a:srgbClr val="00B050"/>
                </a:solidFill>
              </a:rPr>
              <a:t>略</a:t>
            </a:r>
            <a:endParaRPr lang="en-US" altLang="zh-CN" sz="1400" dirty="0">
              <a:solidFill>
                <a:srgbClr val="00B050"/>
              </a:solidFill>
            </a:endParaRPr>
          </a:p>
          <a:p>
            <a:r>
              <a:rPr lang="zh-CN" altLang="en-US" sz="1400" dirty="0"/>
              <a:t>      ②定义全局变量</a:t>
            </a:r>
            <a:endParaRPr lang="en-US" altLang="zh-CN" sz="1400" dirty="0"/>
          </a:p>
          <a:p>
            <a:r>
              <a:rPr lang="en-US" altLang="zh-CN" sz="1600" dirty="0"/>
              <a:t>         </a:t>
            </a:r>
            <a:r>
              <a:rPr lang="en-US" altLang="zh-CN" sz="1400" dirty="0"/>
              <a:t>UINT32  </a:t>
            </a:r>
            <a:r>
              <a:rPr lang="en-US" altLang="zh-CN" sz="1400" dirty="0" err="1"/>
              <a:t>Receive_Task_Handle</a:t>
            </a:r>
            <a:r>
              <a:rPr lang="en-US" altLang="zh-CN" sz="1400" dirty="0"/>
              <a:t>;            </a:t>
            </a:r>
            <a:r>
              <a:rPr lang="en-US" altLang="zh-CN" sz="1400" dirty="0">
                <a:solidFill>
                  <a:srgbClr val="00B050"/>
                </a:solidFill>
              </a:rPr>
              <a:t>//</a:t>
            </a:r>
            <a:r>
              <a:rPr lang="zh-CN" altLang="en-US" sz="1400" dirty="0">
                <a:solidFill>
                  <a:srgbClr val="00B050"/>
                </a:solidFill>
              </a:rPr>
              <a:t>接收消息的任务句柄（或</a:t>
            </a:r>
            <a:r>
              <a:rPr lang="en-US" altLang="zh-CN" sz="1400" dirty="0">
                <a:solidFill>
                  <a:srgbClr val="00B050"/>
                </a:solidFill>
              </a:rPr>
              <a:t>ID</a:t>
            </a:r>
            <a:r>
              <a:rPr lang="zh-CN" altLang="en-US" sz="1400" dirty="0">
                <a:solidFill>
                  <a:srgbClr val="00B050"/>
                </a:solidFill>
              </a:rPr>
              <a:t>）</a:t>
            </a:r>
            <a:br>
              <a:rPr lang="en-US" altLang="zh-CN" sz="1400" dirty="0">
                <a:solidFill>
                  <a:srgbClr val="00B050"/>
                </a:solidFill>
              </a:rPr>
            </a:br>
            <a:r>
              <a:rPr lang="en-US" altLang="zh-CN" sz="1400" dirty="0"/>
              <a:t>          UINT32  </a:t>
            </a:r>
            <a:r>
              <a:rPr lang="en-US" altLang="zh-CN" sz="1400" dirty="0" err="1"/>
              <a:t>Send_Task_Handle</a:t>
            </a:r>
            <a:r>
              <a:rPr lang="en-US" altLang="zh-CN" sz="1400" dirty="0"/>
              <a:t>;                 </a:t>
            </a:r>
            <a:r>
              <a:rPr lang="en-US" altLang="zh-CN" sz="1400" dirty="0">
                <a:solidFill>
                  <a:srgbClr val="00B050"/>
                </a:solidFill>
              </a:rPr>
              <a:t>//</a:t>
            </a:r>
            <a:r>
              <a:rPr lang="zh-CN" altLang="en-US" sz="1400" dirty="0">
                <a:solidFill>
                  <a:srgbClr val="00B050"/>
                </a:solidFill>
              </a:rPr>
              <a:t>发送消息的任务句柄（或</a:t>
            </a:r>
            <a:r>
              <a:rPr lang="en-US" altLang="zh-CN" sz="1400" dirty="0">
                <a:solidFill>
                  <a:srgbClr val="00B050"/>
                </a:solidFill>
              </a:rPr>
              <a:t>ID</a:t>
            </a:r>
            <a:r>
              <a:rPr lang="zh-CN" altLang="en-US" sz="1400" dirty="0">
                <a:solidFill>
                  <a:srgbClr val="00B050"/>
                </a:solidFill>
              </a:rPr>
              <a:t>）</a:t>
            </a:r>
            <a:br>
              <a:rPr lang="en-US" altLang="zh-CN" sz="1400" dirty="0">
                <a:solidFill>
                  <a:srgbClr val="00B050"/>
                </a:solidFill>
              </a:rPr>
            </a:br>
            <a:r>
              <a:rPr lang="en-US" altLang="zh-CN" sz="1400" dirty="0">
                <a:solidFill>
                  <a:srgbClr val="000000"/>
                </a:solidFill>
              </a:rPr>
              <a:t>          </a:t>
            </a:r>
            <a:r>
              <a:rPr lang="en-US" altLang="zh-CN" sz="1400" dirty="0"/>
              <a:t>UINT32 </a:t>
            </a:r>
            <a:r>
              <a:rPr lang="en-US" altLang="zh-CN" sz="1400" dirty="0" err="1"/>
              <a:t>Queue_Handle</a:t>
            </a:r>
            <a:r>
              <a:rPr lang="en-US" altLang="zh-CN" sz="1400" dirty="0"/>
              <a:t>;                </a:t>
            </a:r>
            <a:r>
              <a:rPr lang="en-US" altLang="zh-CN" sz="1400" dirty="0">
                <a:solidFill>
                  <a:srgbClr val="00B050"/>
                </a:solidFill>
              </a:rPr>
              <a:t>//</a:t>
            </a:r>
            <a:r>
              <a:rPr lang="zh-CN" altLang="en-US" sz="1400" dirty="0">
                <a:solidFill>
                  <a:srgbClr val="00B050"/>
                </a:solidFill>
              </a:rPr>
              <a:t>消息队列句柄（或</a:t>
            </a:r>
            <a:r>
              <a:rPr lang="en-US" altLang="zh-CN" sz="1400" dirty="0">
                <a:solidFill>
                  <a:srgbClr val="00B050"/>
                </a:solidFill>
              </a:rPr>
              <a:t>ID</a:t>
            </a:r>
            <a:r>
              <a:rPr lang="zh-CN" altLang="en-US" sz="1400" dirty="0">
                <a:solidFill>
                  <a:srgbClr val="00B050"/>
                </a:solidFill>
              </a:rPr>
              <a:t>）</a:t>
            </a:r>
            <a:br>
              <a:rPr lang="en-US" altLang="zh-CN" sz="1400" dirty="0">
                <a:solidFill>
                  <a:srgbClr val="00B050"/>
                </a:solidFill>
              </a:rPr>
            </a:br>
            <a:r>
              <a:rPr lang="en-US" altLang="zh-CN" sz="1400" dirty="0">
                <a:solidFill>
                  <a:srgbClr val="00B050"/>
                </a:solidFill>
              </a:rPr>
              <a:t>  //       #define TEST_QUEUE_LEN  16           //</a:t>
            </a:r>
            <a:r>
              <a:rPr lang="zh-CN" altLang="en-US" sz="1400" dirty="0">
                <a:solidFill>
                  <a:srgbClr val="00B050"/>
                </a:solidFill>
              </a:rPr>
              <a:t>消息队列长度</a:t>
            </a:r>
            <a:endParaRPr lang="en-US" altLang="zh-CN" sz="1400" dirty="0">
              <a:solidFill>
                <a:srgbClr val="00B050"/>
              </a:solidFill>
            </a:endParaRPr>
          </a:p>
          <a:p>
            <a:r>
              <a:rPr lang="en-US" altLang="zh-CN" sz="1400" dirty="0">
                <a:solidFill>
                  <a:srgbClr val="00B050"/>
                </a:solidFill>
              </a:rPr>
              <a:t>  //       #define TEST_QUEUE_SIZE 16           //</a:t>
            </a:r>
            <a:r>
              <a:rPr lang="zh-CN" altLang="en-US" sz="1400" dirty="0">
                <a:solidFill>
                  <a:srgbClr val="00B050"/>
                </a:solidFill>
              </a:rPr>
              <a:t>消息大小（最大）</a:t>
            </a:r>
            <a:br>
              <a:rPr lang="en-US" altLang="zh-CN" sz="1400" dirty="0">
                <a:solidFill>
                  <a:srgbClr val="00B050"/>
                </a:solidFill>
              </a:rPr>
            </a:br>
            <a:r>
              <a:rPr lang="en-US" altLang="zh-CN" sz="1600" dirty="0"/>
              <a:t>     </a:t>
            </a:r>
            <a:r>
              <a:rPr lang="zh-CN" altLang="en-US" sz="1400" dirty="0"/>
              <a:t>③函数声明   </a:t>
            </a:r>
            <a:r>
              <a:rPr lang="en-US" altLang="zh-CN" sz="1400" dirty="0">
                <a:solidFill>
                  <a:srgbClr val="00B050"/>
                </a:solidFill>
              </a:rPr>
              <a:t>//</a:t>
            </a:r>
            <a:r>
              <a:rPr lang="zh-CN" altLang="en-US" sz="1400" dirty="0">
                <a:solidFill>
                  <a:srgbClr val="00B050"/>
                </a:solidFill>
              </a:rPr>
              <a:t>包括应用创建函数、任务创建函数、任务函数</a:t>
            </a:r>
            <a:endParaRPr lang="en-US" altLang="zh-CN" sz="1400" dirty="0">
              <a:solidFill>
                <a:srgbClr val="00B050"/>
              </a:solidFill>
            </a:endParaRPr>
          </a:p>
          <a:p>
            <a:r>
              <a:rPr lang="zh-CN" altLang="en-US" sz="1400" dirty="0"/>
              <a:t>      ④</a:t>
            </a:r>
            <a:r>
              <a:rPr lang="en-US" altLang="zh-CN" sz="1400" dirty="0"/>
              <a:t>main</a:t>
            </a:r>
            <a:r>
              <a:rPr lang="zh-CN" altLang="en-US" sz="1400" dirty="0"/>
              <a:t>函数</a:t>
            </a:r>
            <a:endParaRPr lang="en-US" altLang="zh-CN" sz="1400" dirty="0"/>
          </a:p>
          <a:p>
            <a:r>
              <a:rPr lang="en-US" altLang="zh-CN" sz="1400" dirty="0"/>
              <a:t>          main{</a:t>
            </a:r>
          </a:p>
          <a:p>
            <a:r>
              <a:rPr lang="en-US" altLang="zh-CN" sz="1400" dirty="0"/>
              <a:t>                    …    </a:t>
            </a:r>
            <a:r>
              <a:rPr lang="en-US" altLang="zh-CN" sz="1400" dirty="0">
                <a:solidFill>
                  <a:srgbClr val="00B050"/>
                </a:solidFill>
              </a:rPr>
              <a:t>//</a:t>
            </a:r>
            <a:r>
              <a:rPr lang="zh-CN" altLang="en-US" sz="1400" dirty="0">
                <a:solidFill>
                  <a:srgbClr val="00B050"/>
                </a:solidFill>
              </a:rPr>
              <a:t>定义局部变量，板级初始化等</a:t>
            </a:r>
            <a:endParaRPr lang="en-US" altLang="zh-CN" sz="1400" dirty="0">
              <a:solidFill>
                <a:srgbClr val="00B050"/>
              </a:solidFill>
            </a:endParaRPr>
          </a:p>
          <a:p>
            <a:r>
              <a:rPr lang="en-US" altLang="zh-CN" sz="1400" dirty="0"/>
              <a:t>                    </a:t>
            </a:r>
            <a:r>
              <a:rPr lang="en-US" altLang="zh-CN" sz="1400" dirty="0" err="1"/>
              <a:t>uwRet</a:t>
            </a:r>
            <a:r>
              <a:rPr lang="en-US" altLang="zh-CN" sz="1400" dirty="0"/>
              <a:t> = </a:t>
            </a:r>
            <a:r>
              <a:rPr lang="en-US" altLang="zh-CN" sz="1400" dirty="0" err="1"/>
              <a:t>LOS_KernelInit</a:t>
            </a:r>
            <a:r>
              <a:rPr lang="en-US" altLang="zh-CN" sz="1400" dirty="0"/>
              <a:t>();  </a:t>
            </a:r>
            <a:r>
              <a:rPr lang="en-US" altLang="zh-CN" sz="1400" dirty="0">
                <a:solidFill>
                  <a:srgbClr val="00B050"/>
                </a:solidFill>
              </a:rPr>
              <a:t>//</a:t>
            </a:r>
            <a:r>
              <a:rPr lang="zh-CN" altLang="en-US" sz="1400" dirty="0">
                <a:solidFill>
                  <a:srgbClr val="00B050"/>
                </a:solidFill>
              </a:rPr>
              <a:t>内核初始化</a:t>
            </a:r>
            <a:endParaRPr lang="en-US" altLang="zh-CN" sz="1400" dirty="0">
              <a:solidFill>
                <a:srgbClr val="00B050"/>
              </a:solidFill>
            </a:endParaRPr>
          </a:p>
          <a:p>
            <a:r>
              <a:rPr lang="en-US" altLang="zh-CN" sz="1400" dirty="0"/>
              <a:t>                    …    </a:t>
            </a:r>
            <a:r>
              <a:rPr lang="en-US" altLang="zh-CN" sz="1400" dirty="0">
                <a:solidFill>
                  <a:srgbClr val="00B050"/>
                </a:solidFill>
              </a:rPr>
              <a:t>//</a:t>
            </a:r>
          </a:p>
          <a:p>
            <a:r>
              <a:rPr lang="en-US" altLang="zh-CN" sz="1400" dirty="0"/>
              <a:t>                    </a:t>
            </a:r>
            <a:r>
              <a:rPr lang="en-US" altLang="zh-CN" sz="1400" dirty="0" err="1"/>
              <a:t>uwRet</a:t>
            </a:r>
            <a:r>
              <a:rPr lang="en-US" altLang="zh-CN" sz="1400" dirty="0"/>
              <a:t> = </a:t>
            </a:r>
            <a:r>
              <a:rPr lang="en-US" altLang="zh-CN" sz="1400" dirty="0" err="1"/>
              <a:t>AppTaskCreate</a:t>
            </a:r>
            <a:r>
              <a:rPr lang="en-US" altLang="zh-CN" sz="1400" dirty="0"/>
              <a:t>(); </a:t>
            </a:r>
            <a:br>
              <a:rPr lang="en-US" altLang="zh-CN" sz="1400" dirty="0"/>
            </a:br>
            <a:r>
              <a:rPr lang="en-US" altLang="zh-CN" sz="1400" dirty="0"/>
              <a:t>                    …    </a:t>
            </a:r>
            <a:r>
              <a:rPr lang="en-US" altLang="zh-CN" sz="1400" dirty="0">
                <a:solidFill>
                  <a:srgbClr val="00B050"/>
                </a:solidFill>
              </a:rPr>
              <a:t>//</a:t>
            </a:r>
          </a:p>
          <a:p>
            <a:r>
              <a:rPr lang="en-US" altLang="zh-CN" sz="1400" dirty="0"/>
              <a:t>                    </a:t>
            </a:r>
            <a:r>
              <a:rPr lang="en-US" altLang="zh-CN" sz="1400" dirty="0" err="1"/>
              <a:t>LOS_Start</a:t>
            </a:r>
            <a:r>
              <a:rPr lang="en-US" altLang="zh-CN" sz="1400" dirty="0"/>
              <a:t>();   </a:t>
            </a:r>
            <a:r>
              <a:rPr lang="en-US" altLang="zh-CN" sz="1400" dirty="0">
                <a:solidFill>
                  <a:srgbClr val="00B050"/>
                </a:solidFill>
              </a:rPr>
              <a:t>//</a:t>
            </a:r>
            <a:r>
              <a:rPr lang="zh-CN" altLang="en-US" sz="1400" dirty="0">
                <a:solidFill>
                  <a:srgbClr val="00B050"/>
                </a:solidFill>
              </a:rPr>
              <a:t>启动任务调度</a:t>
            </a:r>
            <a:br>
              <a:rPr lang="en-US" altLang="zh-CN" sz="1400" dirty="0">
                <a:solidFill>
                  <a:srgbClr val="00B050"/>
                </a:solidFill>
              </a:rPr>
            </a:br>
            <a:r>
              <a:rPr lang="en-US" altLang="zh-CN" sz="1400" dirty="0"/>
              <a:t>                    …   </a:t>
            </a:r>
            <a:r>
              <a:rPr lang="en-US" altLang="zh-CN" sz="1400" dirty="0">
                <a:solidFill>
                  <a:srgbClr val="00B050"/>
                </a:solidFill>
              </a:rPr>
              <a:t>//</a:t>
            </a:r>
          </a:p>
          <a:p>
            <a:r>
              <a:rPr lang="en-US" altLang="zh-CN" sz="1400" dirty="0"/>
              <a:t>                   }</a:t>
            </a:r>
          </a:p>
          <a:p>
            <a:r>
              <a:rPr lang="zh-CN" altLang="en-US" sz="1400" dirty="0"/>
              <a:t>      ⑤应用创建函数</a:t>
            </a:r>
            <a:endParaRPr lang="en-US" altLang="zh-CN" sz="1400" dirty="0"/>
          </a:p>
          <a:p>
            <a:r>
              <a:rPr lang="en-US" altLang="zh-CN" sz="1400" dirty="0"/>
              <a:t>        </a:t>
            </a:r>
            <a:r>
              <a:rPr lang="en-US" altLang="zh-CN" sz="1400" dirty="0" err="1"/>
              <a:t>AppTaskCreate</a:t>
            </a:r>
            <a:r>
              <a:rPr lang="en-US" altLang="zh-CN" sz="1400" dirty="0"/>
              <a:t>() {</a:t>
            </a:r>
          </a:p>
          <a:p>
            <a:r>
              <a:rPr lang="en-US" altLang="zh-CN" sz="1400" dirty="0"/>
              <a:t>              </a:t>
            </a:r>
            <a:r>
              <a:rPr lang="en-US" altLang="zh-CN" sz="1400" dirty="0" err="1"/>
              <a:t>LOS_QueueCreate</a:t>
            </a:r>
            <a:r>
              <a:rPr lang="en-US" altLang="zh-CN" sz="1400" dirty="0"/>
              <a:t>("</a:t>
            </a:r>
            <a:r>
              <a:rPr lang="en-US" altLang="zh-CN" sz="1400" dirty="0" err="1"/>
              <a:t>Test_Queue</a:t>
            </a:r>
            <a:r>
              <a:rPr lang="en-US" altLang="zh-CN" sz="1400" dirty="0"/>
              <a:t>", 16, &amp;</a:t>
            </a:r>
            <a:r>
              <a:rPr lang="en-US" altLang="zh-CN" sz="1400" dirty="0" err="1"/>
              <a:t>Queue_Handle</a:t>
            </a:r>
            <a:r>
              <a:rPr lang="en-US" altLang="zh-CN" sz="1400" dirty="0"/>
              <a:t>, 0, 16); </a:t>
            </a:r>
          </a:p>
          <a:p>
            <a:r>
              <a:rPr lang="en-US" altLang="zh-CN" sz="1400" dirty="0"/>
              <a:t>             </a:t>
            </a:r>
            <a:r>
              <a:rPr lang="en-US" altLang="zh-CN" sz="1400" dirty="0" err="1"/>
              <a:t>Creat_Receive_Task</a:t>
            </a:r>
            <a:r>
              <a:rPr lang="en-US" altLang="zh-CN" sz="1400" dirty="0"/>
              <a:t>();</a:t>
            </a:r>
          </a:p>
          <a:p>
            <a:r>
              <a:rPr lang="en-US" altLang="zh-CN" sz="1400" dirty="0"/>
              <a:t>             </a:t>
            </a:r>
            <a:r>
              <a:rPr lang="en-US" altLang="zh-CN" sz="1400" dirty="0" err="1"/>
              <a:t>Creat_Send_Task</a:t>
            </a:r>
            <a:r>
              <a:rPr lang="en-US" altLang="zh-CN" sz="1400" dirty="0"/>
              <a:t>();</a:t>
            </a:r>
          </a:p>
          <a:p>
            <a:r>
              <a:rPr lang="en-US" altLang="zh-CN" sz="1400" dirty="0"/>
              <a:t>        }</a:t>
            </a:r>
          </a:p>
          <a:p>
            <a:r>
              <a:rPr lang="zh-CN" altLang="en-US" sz="1400" dirty="0"/>
              <a:t>      ⑥任务创建函数  </a:t>
            </a:r>
            <a:r>
              <a:rPr lang="en-US" altLang="zh-CN" sz="1400" dirty="0">
                <a:solidFill>
                  <a:srgbClr val="00B050"/>
                </a:solidFill>
              </a:rPr>
              <a:t>//</a:t>
            </a:r>
            <a:r>
              <a:rPr lang="zh-CN" altLang="en-US" sz="1400" dirty="0">
                <a:solidFill>
                  <a:srgbClr val="00B050"/>
                </a:solidFill>
              </a:rPr>
              <a:t>略</a:t>
            </a:r>
            <a:endParaRPr lang="en-US" altLang="zh-CN" sz="1400" dirty="0">
              <a:solidFill>
                <a:srgbClr val="00B050"/>
              </a:solidFill>
            </a:endParaRPr>
          </a:p>
          <a:p>
            <a:endParaRPr lang="en-US" altLang="zh-CN" sz="1400" dirty="0"/>
          </a:p>
          <a:p>
            <a:r>
              <a:rPr lang="en-US" altLang="zh-CN" sz="1400" dirty="0"/>
              <a:t>     </a:t>
            </a:r>
            <a:endParaRPr lang="en-US" altLang="zh-CN" sz="1400" dirty="0">
              <a:solidFill>
                <a:srgbClr val="00B050"/>
              </a:solidFill>
            </a:endParaRPr>
          </a:p>
        </p:txBody>
      </p:sp>
      <p:sp>
        <p:nvSpPr>
          <p:cNvPr id="4" name="文本框 3"/>
          <p:cNvSpPr txBox="1"/>
          <p:nvPr/>
        </p:nvSpPr>
        <p:spPr>
          <a:xfrm>
            <a:off x="6209607" y="808816"/>
            <a:ext cx="5727470" cy="5847755"/>
          </a:xfrm>
          <a:prstGeom prst="rect">
            <a:avLst/>
          </a:prstGeom>
          <a:noFill/>
        </p:spPr>
        <p:txBody>
          <a:bodyPr wrap="square" rtlCol="0">
            <a:spAutoFit/>
          </a:bodyPr>
          <a:lstStyle/>
          <a:p>
            <a:r>
              <a:rPr lang="zh-CN" altLang="en-US" sz="1600" dirty="0"/>
              <a:t>⑦接收消息的任务函数</a:t>
            </a:r>
            <a:r>
              <a:rPr lang="en-US" altLang="zh-CN" sz="1600" dirty="0" err="1"/>
              <a:t>Receive_Task</a:t>
            </a:r>
            <a:r>
              <a:rPr lang="zh-CN" altLang="en-US" sz="1600" dirty="0"/>
              <a:t>（）</a:t>
            </a:r>
            <a:endParaRPr lang="en-US" altLang="zh-CN" sz="1600" dirty="0"/>
          </a:p>
          <a:p>
            <a:r>
              <a:rPr lang="en-US" altLang="zh-CN" dirty="0"/>
              <a:t>   </a:t>
            </a:r>
            <a:r>
              <a:rPr lang="en-US" altLang="zh-CN" sz="1400" dirty="0" err="1"/>
              <a:t>Receive_Task</a:t>
            </a:r>
            <a:r>
              <a:rPr lang="zh-CN" altLang="en-US" sz="1400" dirty="0"/>
              <a:t>（）</a:t>
            </a:r>
            <a:r>
              <a:rPr lang="en-US" altLang="zh-CN" sz="1400" dirty="0"/>
              <a:t>{</a:t>
            </a:r>
          </a:p>
          <a:p>
            <a:r>
              <a:rPr lang="en-US" altLang="zh-CN" sz="1400" dirty="0"/>
              <a:t>       UINT32   </a:t>
            </a:r>
            <a:r>
              <a:rPr lang="en-US" altLang="zh-CN" sz="1400" dirty="0" err="1"/>
              <a:t>uwRet</a:t>
            </a:r>
            <a:r>
              <a:rPr lang="en-US" altLang="zh-CN" sz="1400" dirty="0"/>
              <a:t> = LOS_OK;</a:t>
            </a:r>
          </a:p>
          <a:p>
            <a:r>
              <a:rPr lang="en-US" altLang="zh-CN" sz="1400" dirty="0"/>
              <a:t>       UINT32   * </a:t>
            </a:r>
            <a:r>
              <a:rPr lang="en-US" altLang="zh-CN" sz="1400" dirty="0" err="1"/>
              <a:t>r_queue</a:t>
            </a:r>
            <a:r>
              <a:rPr lang="en-US" altLang="zh-CN" sz="1400" dirty="0"/>
              <a:t>;</a:t>
            </a:r>
            <a:r>
              <a:rPr lang="en-US" altLang="zh-CN" sz="1400" dirty="0">
                <a:solidFill>
                  <a:srgbClr val="00B050"/>
                </a:solidFill>
              </a:rPr>
              <a:t> //</a:t>
            </a:r>
            <a:r>
              <a:rPr lang="zh-CN" altLang="en-US" sz="1400" dirty="0">
                <a:solidFill>
                  <a:srgbClr val="00B050"/>
                </a:solidFill>
              </a:rPr>
              <a:t>定义接收消息的缓冲区</a:t>
            </a:r>
            <a:endParaRPr lang="en-US" altLang="zh-CN" sz="1400" dirty="0">
              <a:solidFill>
                <a:srgbClr val="00B050"/>
              </a:solidFill>
            </a:endParaRPr>
          </a:p>
          <a:p>
            <a:r>
              <a:rPr lang="en-US" altLang="zh-CN" sz="1400" dirty="0">
                <a:solidFill>
                  <a:schemeClr val="accent1">
                    <a:lumMod val="60000"/>
                    <a:lumOff val="40000"/>
                  </a:schemeClr>
                </a:solidFill>
              </a:rPr>
              <a:t>        while (1) {</a:t>
            </a:r>
          </a:p>
          <a:p>
            <a:r>
              <a:rPr lang="en-US" altLang="zh-CN" sz="1400" dirty="0"/>
              <a:t>           </a:t>
            </a:r>
            <a:r>
              <a:rPr lang="en-US" altLang="zh-CN" sz="1400" dirty="0" err="1"/>
              <a:t>uwRet</a:t>
            </a:r>
            <a:r>
              <a:rPr lang="en-US" altLang="zh-CN" sz="1400" dirty="0"/>
              <a:t> = </a:t>
            </a:r>
            <a:r>
              <a:rPr lang="en-US" altLang="zh-CN" sz="1400" dirty="0" err="1"/>
              <a:t>LOS_QueueRead</a:t>
            </a:r>
            <a:r>
              <a:rPr lang="en-US" altLang="zh-CN" sz="1400" dirty="0"/>
              <a:t>(</a:t>
            </a:r>
            <a:r>
              <a:rPr lang="en-US" altLang="zh-CN" sz="1400" dirty="0" err="1"/>
              <a:t>Queue_Handle</a:t>
            </a:r>
            <a:r>
              <a:rPr lang="en-US" altLang="zh-CN" sz="1400" dirty="0"/>
              <a:t>, </a:t>
            </a:r>
          </a:p>
          <a:p>
            <a:r>
              <a:rPr lang="en-US" altLang="zh-CN" sz="1400" dirty="0"/>
              <a:t>                                                              &amp;</a:t>
            </a:r>
            <a:r>
              <a:rPr lang="en-US" altLang="zh-CN" sz="1400" dirty="0" err="1"/>
              <a:t>r_queue</a:t>
            </a:r>
            <a:r>
              <a:rPr lang="en-US" altLang="zh-CN" sz="1400" dirty="0"/>
              <a:t>, </a:t>
            </a:r>
          </a:p>
          <a:p>
            <a:r>
              <a:rPr lang="en-US" altLang="zh-CN" sz="1400" dirty="0"/>
              <a:t>                                                             16, </a:t>
            </a:r>
          </a:p>
          <a:p>
            <a:r>
              <a:rPr lang="en-US" altLang="zh-CN" sz="1400" dirty="0"/>
              <a:t>                                                              LOS_WAIT_FOREVER); </a:t>
            </a:r>
          </a:p>
          <a:p>
            <a:r>
              <a:rPr lang="en-US" altLang="zh-CN" sz="1400" dirty="0"/>
              <a:t>       if (LOS_OK == </a:t>
            </a:r>
            <a:r>
              <a:rPr lang="en-US" altLang="zh-CN" sz="1400" dirty="0" err="1"/>
              <a:t>uwRet</a:t>
            </a:r>
            <a:r>
              <a:rPr lang="en-US" altLang="zh-CN" sz="1400" dirty="0"/>
              <a:t>) </a:t>
            </a:r>
          </a:p>
          <a:p>
            <a:r>
              <a:rPr lang="en-US" altLang="zh-CN" sz="1400" dirty="0"/>
              <a:t>              </a:t>
            </a:r>
            <a:r>
              <a:rPr lang="en-US" altLang="zh-CN" sz="1400" dirty="0" err="1"/>
              <a:t>printf</a:t>
            </a:r>
            <a:r>
              <a:rPr lang="en-US" altLang="zh-CN" sz="1400" dirty="0"/>
              <a:t>(“</a:t>
            </a:r>
            <a:r>
              <a:rPr lang="zh-CN" altLang="en-US" sz="1400" dirty="0"/>
              <a:t>本次读取的消息是</a:t>
            </a:r>
            <a:r>
              <a:rPr lang="en-US" altLang="zh-CN" sz="1400" dirty="0"/>
              <a:t>%x\n",*</a:t>
            </a:r>
            <a:r>
              <a:rPr lang="en-US" altLang="zh-CN" sz="1400" dirty="0" err="1"/>
              <a:t>r_queue</a:t>
            </a:r>
            <a:r>
              <a:rPr lang="en-US" altLang="zh-CN" sz="1400" dirty="0"/>
              <a:t>);</a:t>
            </a:r>
          </a:p>
          <a:p>
            <a:r>
              <a:rPr lang="en-US" altLang="zh-CN" sz="1400" dirty="0"/>
              <a:t>       else</a:t>
            </a:r>
          </a:p>
          <a:p>
            <a:r>
              <a:rPr lang="en-US" altLang="zh-CN" sz="1400" dirty="0"/>
              <a:t>              </a:t>
            </a:r>
            <a:r>
              <a:rPr lang="en-US" altLang="zh-CN" sz="1400" dirty="0" err="1"/>
              <a:t>printf</a:t>
            </a:r>
            <a:r>
              <a:rPr lang="en-US" altLang="zh-CN" sz="1400" dirty="0"/>
              <a:t>(“</a:t>
            </a:r>
            <a:r>
              <a:rPr lang="zh-CN" altLang="en-US" sz="1400" dirty="0"/>
              <a:t>消息读取出错</a:t>
            </a:r>
            <a:r>
              <a:rPr lang="en-US" altLang="zh-CN" sz="1400" dirty="0"/>
              <a:t>,</a:t>
            </a:r>
            <a:r>
              <a:rPr lang="zh-CN" altLang="en-US" sz="1400" dirty="0"/>
              <a:t>错误代码 </a:t>
            </a:r>
            <a:r>
              <a:rPr lang="en-US" altLang="zh-CN" sz="1400" dirty="0"/>
              <a:t>0x%X\n",</a:t>
            </a:r>
            <a:r>
              <a:rPr lang="en-US" altLang="zh-CN" sz="1400" dirty="0" err="1"/>
              <a:t>uwRet</a:t>
            </a:r>
            <a:r>
              <a:rPr lang="en-US" altLang="zh-CN" sz="1400" dirty="0"/>
              <a:t>);</a:t>
            </a:r>
          </a:p>
          <a:p>
            <a:r>
              <a:rPr lang="en-US" altLang="zh-CN" sz="1400" dirty="0">
                <a:solidFill>
                  <a:schemeClr val="accent1">
                    <a:lumMod val="60000"/>
                    <a:lumOff val="40000"/>
                  </a:schemeClr>
                </a:solidFill>
              </a:rPr>
              <a:t>        }</a:t>
            </a:r>
          </a:p>
          <a:p>
            <a:r>
              <a:rPr lang="en-US" altLang="zh-CN" sz="1400" dirty="0"/>
              <a:t>     }</a:t>
            </a:r>
          </a:p>
          <a:p>
            <a:r>
              <a:rPr lang="zh-CN" altLang="en-US" dirty="0"/>
              <a:t>⑧</a:t>
            </a:r>
            <a:r>
              <a:rPr lang="zh-CN" altLang="en-US" sz="1600" dirty="0"/>
              <a:t>写入消息的任务函数</a:t>
            </a:r>
            <a:r>
              <a:rPr lang="en-US" altLang="zh-CN" sz="1600" dirty="0" err="1"/>
              <a:t>Send_Task</a:t>
            </a:r>
            <a:r>
              <a:rPr lang="zh-CN" altLang="en-US" sz="1600" dirty="0"/>
              <a:t>（）</a:t>
            </a:r>
            <a:endParaRPr lang="en-US" altLang="zh-CN" sz="1600" dirty="0"/>
          </a:p>
          <a:p>
            <a:r>
              <a:rPr lang="en-US" altLang="zh-CN" sz="1400" dirty="0"/>
              <a:t>  </a:t>
            </a:r>
            <a:r>
              <a:rPr lang="en-US" altLang="zh-CN" sz="1400" dirty="0" err="1"/>
              <a:t>Send_Task</a:t>
            </a:r>
            <a:r>
              <a:rPr lang="zh-CN" altLang="en-US" sz="1400" dirty="0"/>
              <a:t>（）</a:t>
            </a:r>
            <a:r>
              <a:rPr lang="en-US" altLang="zh-CN" sz="1400" dirty="0"/>
              <a:t>{</a:t>
            </a:r>
          </a:p>
          <a:p>
            <a:r>
              <a:rPr lang="en-US" altLang="zh-CN" sz="1400" dirty="0"/>
              <a:t>       UINT32   </a:t>
            </a:r>
            <a:r>
              <a:rPr lang="en-US" altLang="zh-CN" sz="1400" dirty="0" err="1"/>
              <a:t>uwRet</a:t>
            </a:r>
            <a:r>
              <a:rPr lang="en-US" altLang="zh-CN" sz="1400" dirty="0"/>
              <a:t> = LOS_OK;</a:t>
            </a:r>
          </a:p>
          <a:p>
            <a:r>
              <a:rPr lang="en-US" altLang="zh-CN" sz="1400" dirty="0"/>
              <a:t>       UINT32   dataMsg1= 1</a:t>
            </a:r>
            <a:r>
              <a:rPr lang="zh-CN" altLang="en-US" sz="1400" dirty="0"/>
              <a:t>，</a:t>
            </a:r>
            <a:r>
              <a:rPr lang="en-US" altLang="zh-CN" sz="1400" dirty="0"/>
              <a:t> dataMsg2= 2; </a:t>
            </a:r>
            <a:r>
              <a:rPr lang="en-US" altLang="zh-CN" sz="1400" dirty="0">
                <a:solidFill>
                  <a:srgbClr val="00B050"/>
                </a:solidFill>
              </a:rPr>
              <a:t>//</a:t>
            </a:r>
            <a:r>
              <a:rPr lang="zh-CN" altLang="en-US" sz="1400" dirty="0">
                <a:solidFill>
                  <a:srgbClr val="00B050"/>
                </a:solidFill>
              </a:rPr>
              <a:t>定义消息</a:t>
            </a:r>
            <a:r>
              <a:rPr lang="en-US" altLang="zh-CN" sz="1400" dirty="0">
                <a:solidFill>
                  <a:srgbClr val="00B050"/>
                </a:solidFill>
              </a:rPr>
              <a:t>1</a:t>
            </a:r>
            <a:r>
              <a:rPr lang="zh-CN" altLang="en-US" sz="1400" dirty="0">
                <a:solidFill>
                  <a:srgbClr val="00B050"/>
                </a:solidFill>
              </a:rPr>
              <a:t>、</a:t>
            </a:r>
            <a:r>
              <a:rPr lang="en-US" altLang="zh-CN" sz="1400" dirty="0">
                <a:solidFill>
                  <a:srgbClr val="00B050"/>
                </a:solidFill>
              </a:rPr>
              <a:t>2</a:t>
            </a:r>
            <a:endParaRPr lang="zh-CN" altLang="en-US" sz="1400" dirty="0">
              <a:solidFill>
                <a:srgbClr val="00B050"/>
              </a:solidFill>
            </a:endParaRPr>
          </a:p>
          <a:p>
            <a:r>
              <a:rPr lang="zh-CN" altLang="en-US" sz="1400" dirty="0"/>
              <a:t>        </a:t>
            </a:r>
            <a:r>
              <a:rPr lang="en-US" altLang="zh-CN" sz="1400" dirty="0"/>
              <a:t>while (1) {</a:t>
            </a:r>
          </a:p>
          <a:p>
            <a:r>
              <a:rPr lang="en-US" altLang="zh-CN" sz="1400" dirty="0"/>
              <a:t>          if(key1) </a:t>
            </a:r>
            <a:r>
              <a:rPr lang="en-US" altLang="zh-CN" sz="1400" dirty="0">
                <a:solidFill>
                  <a:srgbClr val="00B050"/>
                </a:solidFill>
              </a:rPr>
              <a:t>//</a:t>
            </a:r>
            <a:r>
              <a:rPr lang="zh-CN" altLang="en-US" sz="1400" dirty="0">
                <a:solidFill>
                  <a:srgbClr val="00B050"/>
                </a:solidFill>
              </a:rPr>
              <a:t>按键</a:t>
            </a:r>
            <a:r>
              <a:rPr lang="en-US" altLang="zh-CN" sz="1400" dirty="0">
                <a:solidFill>
                  <a:srgbClr val="00B050"/>
                </a:solidFill>
              </a:rPr>
              <a:t>1</a:t>
            </a:r>
            <a:r>
              <a:rPr lang="zh-CN" altLang="en-US" sz="1400" dirty="0">
                <a:solidFill>
                  <a:srgbClr val="00B050"/>
                </a:solidFill>
              </a:rPr>
              <a:t>按下发送消息</a:t>
            </a:r>
            <a:r>
              <a:rPr lang="en-US" altLang="zh-CN" sz="1400" dirty="0">
                <a:solidFill>
                  <a:srgbClr val="00B050"/>
                </a:solidFill>
              </a:rPr>
              <a:t>1</a:t>
            </a:r>
          </a:p>
          <a:p>
            <a:r>
              <a:rPr lang="en-US" altLang="zh-CN" sz="1400" dirty="0"/>
              <a:t>              </a:t>
            </a:r>
            <a:r>
              <a:rPr lang="en-US" altLang="zh-CN" sz="1400" dirty="0" err="1"/>
              <a:t>LOS_QueueWrite</a:t>
            </a:r>
            <a:r>
              <a:rPr lang="en-US" altLang="zh-CN" sz="1400" dirty="0"/>
              <a:t>(</a:t>
            </a:r>
            <a:r>
              <a:rPr lang="en-US" altLang="zh-CN" sz="1400" dirty="0" err="1"/>
              <a:t>Queue_Handle</a:t>
            </a:r>
            <a:r>
              <a:rPr lang="en-US" altLang="zh-CN" sz="1400" dirty="0"/>
              <a:t>, &amp;dataMsg1, 16,0); </a:t>
            </a:r>
          </a:p>
          <a:p>
            <a:r>
              <a:rPr lang="en-US" altLang="zh-CN" sz="1400" dirty="0"/>
              <a:t>          if(key2) </a:t>
            </a:r>
            <a:r>
              <a:rPr lang="en-US" altLang="zh-CN" sz="1400" dirty="0">
                <a:solidFill>
                  <a:srgbClr val="00B050"/>
                </a:solidFill>
              </a:rPr>
              <a:t>//</a:t>
            </a:r>
            <a:r>
              <a:rPr lang="zh-CN" altLang="en-US" sz="1400" dirty="0">
                <a:solidFill>
                  <a:srgbClr val="00B050"/>
                </a:solidFill>
              </a:rPr>
              <a:t>按键</a:t>
            </a:r>
            <a:r>
              <a:rPr lang="en-US" altLang="zh-CN" sz="1400" dirty="0">
                <a:solidFill>
                  <a:srgbClr val="00B050"/>
                </a:solidFill>
              </a:rPr>
              <a:t>2</a:t>
            </a:r>
            <a:r>
              <a:rPr lang="zh-CN" altLang="en-US" sz="1400" dirty="0">
                <a:solidFill>
                  <a:srgbClr val="00B050"/>
                </a:solidFill>
              </a:rPr>
              <a:t>按下发送消息</a:t>
            </a:r>
            <a:r>
              <a:rPr lang="en-US" altLang="zh-CN" sz="1400" dirty="0">
                <a:solidFill>
                  <a:srgbClr val="00B050"/>
                </a:solidFill>
              </a:rPr>
              <a:t>2</a:t>
            </a:r>
          </a:p>
          <a:p>
            <a:r>
              <a:rPr lang="en-US" altLang="zh-CN" sz="1400" dirty="0"/>
              <a:t>              </a:t>
            </a:r>
            <a:r>
              <a:rPr lang="en-US" altLang="zh-CN" sz="1400" dirty="0" err="1"/>
              <a:t>LOS_QueueWrite</a:t>
            </a:r>
            <a:r>
              <a:rPr lang="en-US" altLang="zh-CN" sz="1400" dirty="0"/>
              <a:t>(</a:t>
            </a:r>
            <a:r>
              <a:rPr lang="en-US" altLang="zh-CN" sz="1400" dirty="0" err="1"/>
              <a:t>Queue_Handle</a:t>
            </a:r>
            <a:r>
              <a:rPr lang="en-US" altLang="zh-CN" sz="1400" dirty="0"/>
              <a:t>, &amp;dataMsg2, 16,0); </a:t>
            </a:r>
          </a:p>
          <a:p>
            <a:r>
              <a:rPr lang="en-US" altLang="zh-CN" sz="1400" dirty="0"/>
              <a:t>    }</a:t>
            </a:r>
          </a:p>
          <a:p>
            <a:endParaRPr lang="en-US" altLang="zh-CN" sz="1400" dirty="0"/>
          </a:p>
        </p:txBody>
      </p:sp>
    </p:spTree>
    <p:extLst>
      <p:ext uri="{BB962C8B-B14F-4D97-AF65-F5344CB8AC3E}">
        <p14:creationId xmlns:p14="http://schemas.microsoft.com/office/powerpoint/2010/main" val="4196797638"/>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一、信号量的基本概念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矩形 7"/>
          <p:cNvSpPr/>
          <p:nvPr/>
        </p:nvSpPr>
        <p:spPr>
          <a:xfrm>
            <a:off x="627797" y="875345"/>
            <a:ext cx="10543309" cy="2062103"/>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信号量</a:t>
            </a:r>
            <a:endParaRPr lang="en-US" altLang="zh-CN" dirty="0">
              <a:solidFill>
                <a:srgbClr val="000000"/>
              </a:solidFill>
              <a:latin typeface="宋体" panose="02010600030101010101" pitchFamily="2" charset="-122"/>
              <a:ea typeface="宋体" panose="02010600030101010101" pitchFamily="2" charset="-122"/>
            </a:endParaRPr>
          </a:p>
          <a:p>
            <a:r>
              <a:rPr lang="en-US" altLang="zh-CN" dirty="0">
                <a:solidFill>
                  <a:srgbClr val="000000"/>
                </a:solidFill>
                <a:latin typeface="宋体" panose="02010600030101010101" pitchFamily="2" charset="-122"/>
                <a:ea typeface="宋体" panose="02010600030101010101" pitchFamily="2" charset="-122"/>
              </a:rPr>
              <a:t>   </a:t>
            </a:r>
            <a:r>
              <a:rPr lang="zh-CN" altLang="en-US" dirty="0"/>
              <a:t>（</a:t>
            </a:r>
            <a:r>
              <a:rPr lang="en-US" altLang="zh-CN" dirty="0"/>
              <a:t>1</a:t>
            </a:r>
            <a:r>
              <a:rPr lang="zh-CN" altLang="en-US" dirty="0"/>
              <a:t>）一种实现任务间通信的机制，实现</a:t>
            </a:r>
            <a:r>
              <a:rPr lang="zh-CN" altLang="en-US" dirty="0">
                <a:solidFill>
                  <a:schemeClr val="accent1">
                    <a:lumMod val="60000"/>
                    <a:lumOff val="40000"/>
                  </a:schemeClr>
                </a:solidFill>
              </a:rPr>
              <a:t>任务之间同步</a:t>
            </a:r>
            <a:r>
              <a:rPr lang="zh-CN" altLang="en-US" dirty="0"/>
              <a:t>或</a:t>
            </a:r>
            <a:r>
              <a:rPr lang="zh-CN" altLang="en-US" dirty="0">
                <a:solidFill>
                  <a:schemeClr val="accent1">
                    <a:lumMod val="60000"/>
                    <a:lumOff val="40000"/>
                  </a:schemeClr>
                </a:solidFill>
              </a:rPr>
              <a:t>临界资源的互斥访问</a:t>
            </a:r>
            <a:r>
              <a:rPr lang="zh-CN" altLang="en-US" dirty="0"/>
              <a:t>，常用用来协调</a:t>
            </a:r>
            <a:endParaRPr lang="en-US" altLang="zh-CN" dirty="0"/>
          </a:p>
          <a:p>
            <a:r>
              <a:rPr lang="en-US" altLang="zh-CN" dirty="0"/>
              <a:t>               </a:t>
            </a:r>
            <a:r>
              <a:rPr lang="zh-CN" altLang="en-US" dirty="0"/>
              <a:t>多任务对临界资源的访问；</a:t>
            </a:r>
            <a:endParaRPr lang="en-US" altLang="zh-CN" dirty="0"/>
          </a:p>
          <a:p>
            <a:r>
              <a:rPr lang="en-US" altLang="zh-CN" dirty="0"/>
              <a:t>     </a:t>
            </a:r>
            <a:r>
              <a:rPr lang="zh-CN" altLang="en-US" dirty="0"/>
              <a:t>（</a:t>
            </a:r>
            <a:r>
              <a:rPr lang="en-US" altLang="zh-CN" dirty="0"/>
              <a:t>2</a:t>
            </a:r>
            <a:r>
              <a:rPr lang="zh-CN" altLang="en-US" dirty="0"/>
              <a:t>）信号量分为二值信号量（开关）和数值信号量；</a:t>
            </a:r>
            <a:endParaRPr lang="en-US" altLang="zh-CN" dirty="0"/>
          </a:p>
          <a:p>
            <a:r>
              <a:rPr lang="en-US" altLang="zh-CN" dirty="0"/>
              <a:t>     </a:t>
            </a:r>
            <a:r>
              <a:rPr lang="zh-CN" altLang="en-US" dirty="0"/>
              <a:t>（</a:t>
            </a:r>
            <a:r>
              <a:rPr lang="en-US" altLang="zh-CN" dirty="0"/>
              <a:t>3</a:t>
            </a:r>
            <a:r>
              <a:rPr lang="zh-CN" altLang="en-US" dirty="0"/>
              <a:t>）相较于消息队列，信号量是任务间同步通信，消息队列是异步通信。</a:t>
            </a:r>
            <a:endParaRPr lang="en-US" altLang="zh-CN" dirty="0"/>
          </a:p>
          <a:p>
            <a:r>
              <a:rPr lang="en-US" altLang="zh-CN" dirty="0"/>
              <a:t>                --- </a:t>
            </a:r>
            <a:r>
              <a:rPr lang="zh-CN" altLang="en-US" dirty="0"/>
              <a:t>消息不需要操作临界资源（大家都要用的稀缺资源），所以可以不着急处理；</a:t>
            </a:r>
            <a:endParaRPr lang="en-US" altLang="zh-CN" dirty="0">
              <a:solidFill>
                <a:schemeClr val="accent1">
                  <a:lumMod val="60000"/>
                  <a:lumOff val="40000"/>
                </a:schemeClr>
              </a:solidFill>
            </a:endParaRPr>
          </a:p>
          <a:p>
            <a:r>
              <a:rPr lang="en-US" altLang="zh-CN" dirty="0"/>
              <a:t>                --- </a:t>
            </a:r>
            <a:r>
              <a:rPr lang="zh-CN" altLang="en-US" dirty="0"/>
              <a:t>信号量则要操作临界资源，应该立即处理（别人还要着急用临界资源）。           </a:t>
            </a:r>
            <a:endParaRPr lang="zh-CN" altLang="en-US" dirty="0">
              <a:solidFill>
                <a:schemeClr val="accent1">
                  <a:lumMod val="60000"/>
                  <a:lumOff val="40000"/>
                </a:schemeClr>
              </a:solidFill>
            </a:endParaRPr>
          </a:p>
        </p:txBody>
      </p:sp>
      <p:sp>
        <p:nvSpPr>
          <p:cNvPr id="13" name="矩形 12"/>
          <p:cNvSpPr/>
          <p:nvPr/>
        </p:nvSpPr>
        <p:spPr>
          <a:xfrm>
            <a:off x="627797" y="2937448"/>
            <a:ext cx="10543309" cy="2339102"/>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二值信号量</a:t>
            </a:r>
            <a:endParaRPr lang="en-US" altLang="zh-CN" dirty="0">
              <a:solidFill>
                <a:srgbClr val="000000"/>
              </a:solidFill>
              <a:latin typeface="宋体" panose="02010600030101010101" pitchFamily="2" charset="-122"/>
              <a:ea typeface="宋体" panose="02010600030101010101" pitchFamily="2" charset="-122"/>
            </a:endParaRPr>
          </a:p>
          <a:p>
            <a:r>
              <a:rPr lang="en-US" altLang="zh-CN" dirty="0">
                <a:solidFill>
                  <a:srgbClr val="000000"/>
                </a:solidFill>
                <a:latin typeface="宋体" panose="02010600030101010101" pitchFamily="2" charset="-122"/>
                <a:ea typeface="宋体" panose="02010600030101010101" pitchFamily="2" charset="-122"/>
              </a:rPr>
              <a:t>     </a:t>
            </a:r>
            <a:r>
              <a:rPr lang="zh-CN" altLang="en-US" dirty="0"/>
              <a:t>只有“有”“无”两种状态，可以认为是数值信号量的特殊情况，主要用来实现互斥访问。但是它和互斥量不同，互斥量具有优先级继承，而二值信号量不具有优先级继承，可能造成优先级翻转错误。</a:t>
            </a:r>
            <a:endParaRPr lang="en-US" altLang="zh-CN" dirty="0"/>
          </a:p>
          <a:p>
            <a:r>
              <a:rPr lang="en-US" altLang="zh-CN" dirty="0"/>
              <a:t>     </a:t>
            </a:r>
            <a:r>
              <a:rPr lang="zh-CN" altLang="en-US" dirty="0"/>
              <a:t>同样的，信号量对应有信号控制块，对用户来说是透明的，我们在此不讲述控制块。</a:t>
            </a:r>
            <a:endParaRPr lang="en-US" altLang="zh-CN" dirty="0"/>
          </a:p>
          <a:p>
            <a:r>
              <a:rPr lang="en-US" altLang="zh-CN" dirty="0"/>
              <a:t>     </a:t>
            </a:r>
            <a:r>
              <a:rPr lang="zh-CN" altLang="en-US" dirty="0">
                <a:solidFill>
                  <a:schemeClr val="accent1">
                    <a:lumMod val="60000"/>
                    <a:lumOff val="40000"/>
                  </a:schemeClr>
                </a:solidFill>
              </a:rPr>
              <a:t>为什么需要二值信号量？</a:t>
            </a:r>
            <a:endParaRPr lang="en-US" altLang="zh-CN" dirty="0">
              <a:solidFill>
                <a:schemeClr val="accent1">
                  <a:lumMod val="60000"/>
                  <a:lumOff val="40000"/>
                </a:schemeClr>
              </a:solidFill>
            </a:endParaRPr>
          </a:p>
          <a:p>
            <a:r>
              <a:rPr lang="en-US" altLang="zh-CN" dirty="0"/>
              <a:t>     </a:t>
            </a:r>
            <a:r>
              <a:rPr lang="zh-CN" altLang="en-US" dirty="0"/>
              <a:t>比如一个任务用来显示温度，一个任务用来采集温度。显然没有采集到温度之前，不停地刷新屏幕会造成</a:t>
            </a:r>
            <a:r>
              <a:rPr lang="en-US" altLang="zh-CN" dirty="0"/>
              <a:t>CPU</a:t>
            </a:r>
            <a:r>
              <a:rPr lang="zh-CN" altLang="en-US" dirty="0"/>
              <a:t>资源的浪费，当采集任务采集到温度后给出信号量，（有信号）显示任务再进行显示，显示完成后释放信号量（无信号），这就是二值信号量的典型应用场景。</a:t>
            </a:r>
          </a:p>
        </p:txBody>
      </p:sp>
      <p:sp>
        <p:nvSpPr>
          <p:cNvPr id="14" name="矩形 13"/>
          <p:cNvSpPr/>
          <p:nvPr/>
        </p:nvSpPr>
        <p:spPr>
          <a:xfrm>
            <a:off x="627797" y="5276550"/>
            <a:ext cx="10543309" cy="1231106"/>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数值信号量</a:t>
            </a:r>
            <a:endParaRPr lang="en-US" altLang="zh-CN" dirty="0">
              <a:solidFill>
                <a:srgbClr val="000000"/>
              </a:solidFill>
              <a:latin typeface="宋体" panose="02010600030101010101" pitchFamily="2" charset="-122"/>
              <a:ea typeface="宋体" panose="02010600030101010101" pitchFamily="2" charset="-122"/>
            </a:endParaRPr>
          </a:p>
          <a:p>
            <a:r>
              <a:rPr lang="en-US" altLang="zh-CN" dirty="0">
                <a:solidFill>
                  <a:srgbClr val="000000"/>
                </a:solidFill>
                <a:latin typeface="宋体" panose="02010600030101010101" pitchFamily="2" charset="-122"/>
                <a:ea typeface="宋体" panose="02010600030101010101" pitchFamily="2" charset="-122"/>
              </a:rPr>
              <a:t>   </a:t>
            </a:r>
            <a:r>
              <a:rPr lang="zh-CN" altLang="en-US" dirty="0"/>
              <a:t>数值信号量可以比作工具或者停车位，拿到工具才能干活，有停车位才能停车。</a:t>
            </a:r>
            <a:endParaRPr lang="en-US" altLang="zh-CN" dirty="0"/>
          </a:p>
          <a:p>
            <a:r>
              <a:rPr lang="en-US" altLang="zh-CN" dirty="0"/>
              <a:t>     </a:t>
            </a:r>
            <a:r>
              <a:rPr lang="zh-CN" altLang="en-US" dirty="0"/>
              <a:t>与二值信号量相比，二值信号量只有“有”还是“没有”，数值信号量则是“有几个”，很显然二值信号量可以看做特殊的数值信号量。</a:t>
            </a:r>
          </a:p>
        </p:txBody>
      </p:sp>
    </p:spTree>
    <p:extLst>
      <p:ext uri="{BB962C8B-B14F-4D97-AF65-F5344CB8AC3E}">
        <p14:creationId xmlns:p14="http://schemas.microsoft.com/office/powerpoint/2010/main" val="4254793025"/>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二、信号量的使用方法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7" name="文本框 6"/>
          <p:cNvSpPr txBox="1"/>
          <p:nvPr/>
        </p:nvSpPr>
        <p:spPr>
          <a:xfrm>
            <a:off x="515389" y="750627"/>
            <a:ext cx="11064240" cy="6232475"/>
          </a:xfrm>
          <a:prstGeom prst="rect">
            <a:avLst/>
          </a:prstGeom>
          <a:noFill/>
        </p:spPr>
        <p:txBody>
          <a:bodyPr wrap="square" rtlCol="0">
            <a:spAutoFit/>
          </a:bodyPr>
          <a:lstStyle/>
          <a:p>
            <a:pPr>
              <a:lnSpc>
                <a:spcPct val="150000"/>
              </a:lnSpc>
            </a:pPr>
            <a:r>
              <a:rPr lang="en-US" altLang="zh-CN" b="1" dirty="0"/>
              <a:t>1</a:t>
            </a:r>
            <a:r>
              <a:rPr lang="zh-CN" altLang="en-US" b="1" dirty="0"/>
              <a:t>、创建信号量</a:t>
            </a:r>
            <a:endParaRPr lang="en-US" altLang="zh-CN" b="1" dirty="0"/>
          </a:p>
          <a:p>
            <a:pPr>
              <a:lnSpc>
                <a:spcPct val="150000"/>
              </a:lnSpc>
            </a:pPr>
            <a:r>
              <a:rPr lang="en-US" altLang="zh-CN" b="1" dirty="0"/>
              <a:t>     </a:t>
            </a:r>
            <a:r>
              <a:rPr lang="zh-CN" altLang="en-US" b="1" dirty="0"/>
              <a:t>（</a:t>
            </a:r>
            <a:r>
              <a:rPr lang="en-US" altLang="zh-CN" b="1" dirty="0"/>
              <a:t>1</a:t>
            </a:r>
            <a:r>
              <a:rPr lang="zh-CN" altLang="en-US" b="1" dirty="0"/>
              <a:t>）创建二值信号量</a:t>
            </a:r>
            <a:endParaRPr lang="en-US" altLang="zh-CN" b="1" dirty="0"/>
          </a:p>
          <a:p>
            <a:pPr>
              <a:lnSpc>
                <a:spcPct val="150000"/>
              </a:lnSpc>
            </a:pPr>
            <a:r>
              <a:rPr lang="en-US" altLang="zh-CN" sz="1400" dirty="0"/>
              <a:t>         UINT32 </a:t>
            </a:r>
            <a:r>
              <a:rPr lang="en-US" altLang="zh-CN" sz="1400" dirty="0" err="1"/>
              <a:t>LOS_BinarySemCreate</a:t>
            </a:r>
            <a:r>
              <a:rPr lang="en-US" altLang="zh-CN" sz="1400" dirty="0"/>
              <a:t> (UINT16 </a:t>
            </a:r>
            <a:r>
              <a:rPr lang="en-US" altLang="zh-CN" sz="1400" dirty="0" err="1"/>
              <a:t>usCount</a:t>
            </a:r>
            <a:r>
              <a:rPr lang="en-US" altLang="zh-CN" sz="1400" dirty="0"/>
              <a:t>,                   </a:t>
            </a:r>
            <a:r>
              <a:rPr lang="en-US" altLang="zh-CN" sz="1400" dirty="0">
                <a:solidFill>
                  <a:srgbClr val="00B050"/>
                </a:solidFill>
              </a:rPr>
              <a:t>//</a:t>
            </a:r>
            <a:r>
              <a:rPr lang="zh-CN" altLang="en-US" sz="1400" dirty="0">
                <a:solidFill>
                  <a:srgbClr val="00B050"/>
                </a:solidFill>
              </a:rPr>
              <a:t>信号量，只能是</a:t>
            </a:r>
            <a:r>
              <a:rPr lang="en-US" altLang="zh-CN" sz="1400" dirty="0">
                <a:solidFill>
                  <a:srgbClr val="00B050"/>
                </a:solidFill>
              </a:rPr>
              <a:t>0</a:t>
            </a:r>
            <a:r>
              <a:rPr lang="zh-CN" altLang="en-US" sz="1400" dirty="0">
                <a:solidFill>
                  <a:srgbClr val="00B050"/>
                </a:solidFill>
              </a:rPr>
              <a:t>、</a:t>
            </a:r>
            <a:r>
              <a:rPr lang="en-US" altLang="zh-CN" sz="1400" dirty="0">
                <a:solidFill>
                  <a:srgbClr val="00B050"/>
                </a:solidFill>
              </a:rPr>
              <a:t>1</a:t>
            </a:r>
          </a:p>
          <a:p>
            <a:pPr>
              <a:lnSpc>
                <a:spcPct val="150000"/>
              </a:lnSpc>
            </a:pPr>
            <a:r>
              <a:rPr lang="en-US" altLang="zh-CN" sz="1400" dirty="0"/>
              <a:t>                                                            UINT32 *</a:t>
            </a:r>
            <a:r>
              <a:rPr lang="en-US" altLang="zh-CN" sz="1400" dirty="0" err="1"/>
              <a:t>puwSemHandle</a:t>
            </a:r>
            <a:r>
              <a:rPr lang="en-US" altLang="zh-CN" sz="1400" dirty="0"/>
              <a:t>)</a:t>
            </a:r>
            <a:r>
              <a:rPr lang="zh-CN" altLang="en-US" sz="1400" dirty="0"/>
              <a:t>。    </a:t>
            </a:r>
            <a:r>
              <a:rPr lang="en-US" altLang="zh-CN" sz="1400" dirty="0">
                <a:solidFill>
                  <a:srgbClr val="00B050"/>
                </a:solidFill>
              </a:rPr>
              <a:t>//</a:t>
            </a:r>
            <a:r>
              <a:rPr lang="zh-CN" altLang="en-US" sz="1400" dirty="0">
                <a:solidFill>
                  <a:srgbClr val="00B050"/>
                </a:solidFill>
              </a:rPr>
              <a:t>信号量的</a:t>
            </a:r>
            <a:r>
              <a:rPr lang="en-US" altLang="zh-CN" sz="1400" dirty="0">
                <a:solidFill>
                  <a:srgbClr val="00B050"/>
                </a:solidFill>
              </a:rPr>
              <a:t>ID</a:t>
            </a:r>
            <a:r>
              <a:rPr lang="zh-CN" altLang="en-US" sz="1400" dirty="0">
                <a:solidFill>
                  <a:srgbClr val="00B050"/>
                </a:solidFill>
              </a:rPr>
              <a:t>，须事先定义，用以区分多个信号量。</a:t>
            </a:r>
            <a:endParaRPr lang="en-US" altLang="zh-CN" sz="1400" dirty="0">
              <a:solidFill>
                <a:srgbClr val="00B050"/>
              </a:solidFill>
            </a:endParaRPr>
          </a:p>
          <a:p>
            <a:pPr lvl="0">
              <a:lnSpc>
                <a:spcPct val="150000"/>
              </a:lnSpc>
            </a:pPr>
            <a:r>
              <a:rPr lang="en-US" altLang="zh-CN" sz="1400" dirty="0">
                <a:solidFill>
                  <a:srgbClr val="00B050"/>
                </a:solidFill>
              </a:rPr>
              <a:t>     </a:t>
            </a:r>
            <a:r>
              <a:rPr lang="zh-CN" altLang="en-US" b="1" dirty="0">
                <a:solidFill>
                  <a:srgbClr val="000000"/>
                </a:solidFill>
              </a:rPr>
              <a:t>（</a:t>
            </a:r>
            <a:r>
              <a:rPr lang="en-US" altLang="zh-CN" b="1" dirty="0">
                <a:solidFill>
                  <a:srgbClr val="000000"/>
                </a:solidFill>
              </a:rPr>
              <a:t>2</a:t>
            </a:r>
            <a:r>
              <a:rPr lang="zh-CN" altLang="en-US" b="1" dirty="0">
                <a:solidFill>
                  <a:srgbClr val="000000"/>
                </a:solidFill>
              </a:rPr>
              <a:t>）创建数值信号量</a:t>
            </a:r>
            <a:endParaRPr lang="en-US" altLang="zh-CN" b="1" dirty="0">
              <a:solidFill>
                <a:srgbClr val="000000"/>
              </a:solidFill>
            </a:endParaRPr>
          </a:p>
          <a:p>
            <a:pPr>
              <a:lnSpc>
                <a:spcPct val="150000"/>
              </a:lnSpc>
            </a:pPr>
            <a:r>
              <a:rPr lang="en-US" altLang="zh-CN" b="1" dirty="0">
                <a:solidFill>
                  <a:srgbClr val="000000"/>
                </a:solidFill>
              </a:rPr>
              <a:t>       </a:t>
            </a:r>
            <a:r>
              <a:rPr lang="en-US" altLang="zh-CN" sz="1400" dirty="0"/>
              <a:t>UINT32 </a:t>
            </a:r>
            <a:r>
              <a:rPr lang="en-US" altLang="zh-CN" sz="1400" dirty="0" err="1"/>
              <a:t>LOS_SemCreate</a:t>
            </a:r>
            <a:r>
              <a:rPr lang="en-US" altLang="zh-CN" sz="1400" dirty="0"/>
              <a:t> (UINT16 </a:t>
            </a:r>
            <a:r>
              <a:rPr lang="en-US" altLang="zh-CN" sz="1400" dirty="0" err="1"/>
              <a:t>usCount</a:t>
            </a:r>
            <a:r>
              <a:rPr lang="en-US" altLang="zh-CN" sz="1400" dirty="0"/>
              <a:t>,</a:t>
            </a:r>
            <a:r>
              <a:rPr lang="en-US" altLang="zh-CN" sz="1400" dirty="0">
                <a:solidFill>
                  <a:srgbClr val="00B050"/>
                </a:solidFill>
              </a:rPr>
              <a:t>                     //</a:t>
            </a:r>
            <a:r>
              <a:rPr lang="zh-CN" altLang="en-US" sz="1400" dirty="0">
                <a:solidFill>
                  <a:srgbClr val="00B050"/>
                </a:solidFill>
              </a:rPr>
              <a:t>信号量，</a:t>
            </a:r>
            <a:r>
              <a:rPr lang="en-US" altLang="zh-CN" sz="1400" dirty="0">
                <a:solidFill>
                  <a:srgbClr val="00B050"/>
                </a:solidFill>
              </a:rPr>
              <a:t>0~0xFFFF</a:t>
            </a:r>
          </a:p>
          <a:p>
            <a:pPr>
              <a:lnSpc>
                <a:spcPct val="150000"/>
              </a:lnSpc>
            </a:pPr>
            <a:r>
              <a:rPr lang="en-US" altLang="zh-CN" sz="1400" dirty="0"/>
              <a:t>                                                    UINT32 *</a:t>
            </a:r>
            <a:r>
              <a:rPr lang="en-US" altLang="zh-CN" sz="1400" dirty="0" err="1"/>
              <a:t>puwSemHandle</a:t>
            </a:r>
            <a:r>
              <a:rPr lang="en-US" altLang="zh-CN" sz="1400" dirty="0"/>
              <a:t>)       </a:t>
            </a:r>
            <a:r>
              <a:rPr lang="en-US" altLang="zh-CN" sz="1400" dirty="0">
                <a:solidFill>
                  <a:srgbClr val="00B050"/>
                </a:solidFill>
              </a:rPr>
              <a:t>//</a:t>
            </a:r>
            <a:r>
              <a:rPr lang="zh-CN" altLang="en-US" sz="1400" dirty="0">
                <a:solidFill>
                  <a:srgbClr val="00B050"/>
                </a:solidFill>
              </a:rPr>
              <a:t>信号量的</a:t>
            </a:r>
            <a:r>
              <a:rPr lang="en-US" altLang="zh-CN" sz="1400" dirty="0">
                <a:solidFill>
                  <a:srgbClr val="00B050"/>
                </a:solidFill>
              </a:rPr>
              <a:t>ID</a:t>
            </a:r>
            <a:r>
              <a:rPr lang="zh-CN" altLang="en-US" sz="1400" dirty="0">
                <a:solidFill>
                  <a:srgbClr val="00B050"/>
                </a:solidFill>
              </a:rPr>
              <a:t>，须事先定义，用以区分多个信号量。</a:t>
            </a:r>
            <a:endParaRPr lang="en-US" altLang="zh-CN" sz="1400" dirty="0">
              <a:solidFill>
                <a:srgbClr val="00B050"/>
              </a:solidFill>
            </a:endParaRPr>
          </a:p>
          <a:p>
            <a:pPr lvl="0">
              <a:lnSpc>
                <a:spcPct val="150000"/>
              </a:lnSpc>
            </a:pPr>
            <a:r>
              <a:rPr lang="en-US" altLang="zh-CN" b="1" dirty="0">
                <a:solidFill>
                  <a:srgbClr val="000000"/>
                </a:solidFill>
              </a:rPr>
              <a:t>2</a:t>
            </a:r>
            <a:r>
              <a:rPr lang="zh-CN" altLang="en-US" b="1" dirty="0">
                <a:solidFill>
                  <a:srgbClr val="000000"/>
                </a:solidFill>
              </a:rPr>
              <a:t>、删除信号量</a:t>
            </a:r>
            <a:endParaRPr lang="en-US" altLang="zh-CN" b="1" dirty="0">
              <a:solidFill>
                <a:srgbClr val="000000"/>
              </a:solidFill>
            </a:endParaRPr>
          </a:p>
          <a:p>
            <a:pPr>
              <a:lnSpc>
                <a:spcPct val="150000"/>
              </a:lnSpc>
            </a:pPr>
            <a:r>
              <a:rPr lang="en-US" altLang="zh-CN" sz="1400" dirty="0"/>
              <a:t>        </a:t>
            </a:r>
            <a:r>
              <a:rPr lang="zh-CN" altLang="en-US" sz="1400" dirty="0"/>
              <a:t>信号量使用结束，应该删除信号量，回收存储空间。</a:t>
            </a:r>
            <a:r>
              <a:rPr lang="en-US" altLang="zh-CN" sz="1400" dirty="0"/>
              <a:t> </a:t>
            </a:r>
            <a:r>
              <a:rPr lang="zh-CN" altLang="en-US" sz="1400" dirty="0"/>
              <a:t>删除函数如下：</a:t>
            </a:r>
            <a:endParaRPr lang="en-US" altLang="zh-CN" sz="1400" dirty="0"/>
          </a:p>
          <a:p>
            <a:pPr lvl="0">
              <a:lnSpc>
                <a:spcPct val="150000"/>
              </a:lnSpc>
            </a:pPr>
            <a:r>
              <a:rPr lang="en-US" altLang="zh-CN" sz="1400" dirty="0"/>
              <a:t>        </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LOS_SemDelete</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uwSemHandle</a:t>
            </a:r>
            <a:r>
              <a:rPr lang="en-US" altLang="zh-CN" sz="1400" dirty="0">
                <a:solidFill>
                  <a:srgbClr val="000000"/>
                </a:solidFill>
                <a:latin typeface="Courier New" panose="02070309020205020404" pitchFamily="49" charset="0"/>
              </a:rPr>
              <a:t>)</a:t>
            </a:r>
            <a:r>
              <a:rPr lang="en-US" altLang="zh-CN" sz="1400" dirty="0"/>
              <a:t>  </a:t>
            </a:r>
            <a:r>
              <a:rPr lang="en-US" altLang="zh-CN" sz="1400" dirty="0">
                <a:solidFill>
                  <a:srgbClr val="00B050"/>
                </a:solidFill>
              </a:rPr>
              <a:t>//</a:t>
            </a:r>
            <a:r>
              <a:rPr lang="zh-CN" altLang="en-US" sz="1400" dirty="0">
                <a:solidFill>
                  <a:srgbClr val="00B050"/>
                </a:solidFill>
              </a:rPr>
              <a:t>根据信号量</a:t>
            </a:r>
            <a:r>
              <a:rPr lang="en-US" altLang="zh-CN" sz="1400" dirty="0">
                <a:solidFill>
                  <a:srgbClr val="00B050"/>
                </a:solidFill>
              </a:rPr>
              <a:t>ID</a:t>
            </a:r>
            <a:r>
              <a:rPr lang="zh-CN" altLang="en-US" sz="1400" dirty="0">
                <a:solidFill>
                  <a:srgbClr val="00B050"/>
                </a:solidFill>
              </a:rPr>
              <a:t>来删除。</a:t>
            </a:r>
            <a:br>
              <a:rPr lang="en-US" altLang="zh-CN" sz="1400" dirty="0">
                <a:solidFill>
                  <a:srgbClr val="00B050"/>
                </a:solidFill>
              </a:rPr>
            </a:br>
            <a:r>
              <a:rPr lang="en-US" altLang="zh-CN" b="1" dirty="0">
                <a:solidFill>
                  <a:srgbClr val="000000"/>
                </a:solidFill>
              </a:rPr>
              <a:t>3</a:t>
            </a:r>
            <a:r>
              <a:rPr lang="zh-CN" altLang="en-US" b="1" dirty="0">
                <a:solidFill>
                  <a:srgbClr val="000000"/>
                </a:solidFill>
              </a:rPr>
              <a:t>、读取信号量</a:t>
            </a:r>
            <a:endParaRPr lang="en-US" altLang="zh-CN" b="1" dirty="0">
              <a:solidFill>
                <a:srgbClr val="000000"/>
              </a:solidFill>
            </a:endParaRPr>
          </a:p>
          <a:p>
            <a:pPr lvl="0">
              <a:lnSpc>
                <a:spcPct val="150000"/>
              </a:lnSpc>
            </a:pPr>
            <a:r>
              <a:rPr lang="nl-NL" altLang="zh-CN" sz="1400" dirty="0">
                <a:solidFill>
                  <a:srgbClr val="000000"/>
                </a:solidFill>
                <a:latin typeface="Courier New" panose="02070309020205020404" pitchFamily="49" charset="0"/>
              </a:rPr>
              <a:t>   UINT32 LOS_SemPend(UINT32 uwSemHandle, UINT32 uwTimeout)</a:t>
            </a:r>
            <a:r>
              <a:rPr lang="nl-NL" altLang="zh-CN" sz="1400" dirty="0"/>
              <a:t> </a:t>
            </a:r>
          </a:p>
          <a:p>
            <a:pPr lvl="0">
              <a:lnSpc>
                <a:spcPct val="150000"/>
              </a:lnSpc>
            </a:pPr>
            <a:r>
              <a:rPr lang="zh-CN" altLang="en-US" sz="1400" dirty="0"/>
              <a:t>      类似于消息队列读取，分为：不等待、等待一段时间、一直等待（死等）。 读取信号量，信号量减</a:t>
            </a:r>
            <a:r>
              <a:rPr lang="en-US" altLang="zh-CN" sz="1400" dirty="0"/>
              <a:t>1</a:t>
            </a:r>
            <a:r>
              <a:rPr lang="zh-CN" altLang="en-US" sz="1400" dirty="0"/>
              <a:t>。</a:t>
            </a:r>
            <a:endParaRPr lang="en-US" altLang="zh-CN" sz="1400" dirty="0"/>
          </a:p>
          <a:p>
            <a:pPr lvl="0">
              <a:lnSpc>
                <a:spcPct val="150000"/>
              </a:lnSpc>
            </a:pPr>
            <a:r>
              <a:rPr lang="en-US" altLang="zh-CN" b="1" dirty="0">
                <a:solidFill>
                  <a:srgbClr val="000000"/>
                </a:solidFill>
              </a:rPr>
              <a:t>4</a:t>
            </a:r>
            <a:r>
              <a:rPr lang="zh-CN" altLang="en-US" b="1" dirty="0">
                <a:solidFill>
                  <a:srgbClr val="000000"/>
                </a:solidFill>
              </a:rPr>
              <a:t>、释放信号量</a:t>
            </a:r>
            <a:endParaRPr lang="en-US" altLang="zh-CN" b="1" dirty="0">
              <a:solidFill>
                <a:srgbClr val="000000"/>
              </a:solidFill>
            </a:endParaRPr>
          </a:p>
          <a:p>
            <a:pPr lvl="0">
              <a:lnSpc>
                <a:spcPct val="150000"/>
              </a:lnSpc>
            </a:pPr>
            <a:r>
              <a:rPr lang="en-US" altLang="zh-CN" sz="1400" dirty="0"/>
              <a:t>       </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LOS_SemPost</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uwSemHandle</a:t>
            </a:r>
            <a:r>
              <a:rPr lang="en-US" altLang="zh-CN" sz="1400" dirty="0">
                <a:solidFill>
                  <a:srgbClr val="000000"/>
                </a:solidFill>
                <a:latin typeface="Courier New" panose="02070309020205020404" pitchFamily="49" charset="0"/>
              </a:rPr>
              <a:t>)</a:t>
            </a:r>
            <a:r>
              <a:rPr lang="en-US" altLang="zh-CN" sz="1400" dirty="0"/>
              <a:t> </a:t>
            </a:r>
            <a:br>
              <a:rPr lang="en-US" altLang="zh-CN" sz="1400" dirty="0"/>
            </a:br>
            <a:r>
              <a:rPr lang="en-US" altLang="zh-CN" sz="1400" dirty="0"/>
              <a:t>       </a:t>
            </a:r>
            <a:r>
              <a:rPr lang="zh-CN" altLang="en-US" sz="1400" dirty="0">
                <a:solidFill>
                  <a:srgbClr val="000000"/>
                </a:solidFill>
              </a:rPr>
              <a:t>释放信号量，信号量加</a:t>
            </a:r>
            <a:r>
              <a:rPr lang="en-US" altLang="zh-CN" sz="1400" dirty="0">
                <a:solidFill>
                  <a:srgbClr val="000000"/>
                </a:solidFill>
              </a:rPr>
              <a:t>1</a:t>
            </a:r>
            <a:r>
              <a:rPr lang="zh-CN" altLang="en-US" sz="1400" dirty="0">
                <a:solidFill>
                  <a:srgbClr val="000000"/>
                </a:solidFill>
              </a:rPr>
              <a:t>。</a:t>
            </a:r>
            <a:endParaRPr lang="en-US" altLang="zh-CN" sz="1400" dirty="0">
              <a:solidFill>
                <a:srgbClr val="000000"/>
              </a:solidFill>
            </a:endParaRPr>
          </a:p>
          <a:p>
            <a:pPr>
              <a:lnSpc>
                <a:spcPct val="150000"/>
              </a:lnSpc>
            </a:pPr>
            <a:endParaRPr lang="en-US" altLang="zh-CN" sz="1400" dirty="0"/>
          </a:p>
        </p:txBody>
      </p:sp>
    </p:spTree>
    <p:extLst>
      <p:ext uri="{BB962C8B-B14F-4D97-AF65-F5344CB8AC3E}">
        <p14:creationId xmlns:p14="http://schemas.microsoft.com/office/powerpoint/2010/main" val="4003442488"/>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三、数值信号量使用示例</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文本框 7"/>
          <p:cNvSpPr txBox="1"/>
          <p:nvPr/>
        </p:nvSpPr>
        <p:spPr>
          <a:xfrm>
            <a:off x="0" y="808816"/>
            <a:ext cx="6143105" cy="6463308"/>
          </a:xfrm>
          <a:prstGeom prst="rect">
            <a:avLst/>
          </a:prstGeom>
          <a:noFill/>
        </p:spPr>
        <p:txBody>
          <a:bodyPr wrap="square" rtlCol="0">
            <a:spAutoFit/>
          </a:bodyPr>
          <a:lstStyle/>
          <a:p>
            <a:r>
              <a:rPr lang="en-US" altLang="zh-CN" sz="1400" dirty="0"/>
              <a:t>      </a:t>
            </a:r>
            <a:r>
              <a:rPr lang="zh-CN" altLang="en-US" sz="1400" dirty="0"/>
              <a:t>本示例只给出主要框架，详细代码自己完成。</a:t>
            </a:r>
            <a:endParaRPr lang="en-US" altLang="zh-CN" sz="1400" dirty="0"/>
          </a:p>
          <a:p>
            <a:r>
              <a:rPr lang="en-US" altLang="zh-CN" sz="1400" dirty="0"/>
              <a:t>      </a:t>
            </a:r>
            <a:r>
              <a:rPr lang="zh-CN" altLang="en-US" sz="1400" dirty="0"/>
              <a:t>①头文件      </a:t>
            </a:r>
            <a:r>
              <a:rPr lang="en-US" altLang="zh-CN" sz="1400" dirty="0">
                <a:solidFill>
                  <a:srgbClr val="00B050"/>
                </a:solidFill>
              </a:rPr>
              <a:t>//</a:t>
            </a:r>
            <a:r>
              <a:rPr lang="zh-CN" altLang="en-US" sz="1400" dirty="0">
                <a:solidFill>
                  <a:srgbClr val="00B050"/>
                </a:solidFill>
              </a:rPr>
              <a:t>略</a:t>
            </a:r>
            <a:endParaRPr lang="en-US" altLang="zh-CN" sz="1400" dirty="0">
              <a:solidFill>
                <a:srgbClr val="00B050"/>
              </a:solidFill>
            </a:endParaRPr>
          </a:p>
          <a:p>
            <a:r>
              <a:rPr lang="zh-CN" altLang="en-US" sz="1400" dirty="0"/>
              <a:t>      ②定义全局变量</a:t>
            </a:r>
            <a:endParaRPr lang="en-US" altLang="zh-CN" sz="1400" dirty="0"/>
          </a:p>
          <a:p>
            <a:r>
              <a:rPr lang="en-US" altLang="zh-CN" sz="1600" dirty="0"/>
              <a:t>         </a:t>
            </a:r>
            <a:r>
              <a:rPr lang="en-US" altLang="zh-CN" sz="1400" dirty="0"/>
              <a:t>UINT32  </a:t>
            </a:r>
            <a:r>
              <a:rPr lang="en-US" altLang="zh-CN" sz="1400" dirty="0" err="1"/>
              <a:t>Pend_Task_Handle</a:t>
            </a:r>
            <a:r>
              <a:rPr lang="en-US" altLang="zh-CN" sz="1400" dirty="0"/>
              <a:t>;            </a:t>
            </a:r>
            <a:r>
              <a:rPr lang="en-US" altLang="zh-CN" sz="1400" dirty="0">
                <a:solidFill>
                  <a:srgbClr val="00B050"/>
                </a:solidFill>
              </a:rPr>
              <a:t>//</a:t>
            </a:r>
            <a:r>
              <a:rPr lang="zh-CN" altLang="en-US" sz="1400" dirty="0">
                <a:solidFill>
                  <a:srgbClr val="00B050"/>
                </a:solidFill>
              </a:rPr>
              <a:t>读取信号量的任务句柄（或</a:t>
            </a:r>
            <a:r>
              <a:rPr lang="en-US" altLang="zh-CN" sz="1400" dirty="0">
                <a:solidFill>
                  <a:srgbClr val="00B050"/>
                </a:solidFill>
              </a:rPr>
              <a:t>ID</a:t>
            </a:r>
            <a:r>
              <a:rPr lang="zh-CN" altLang="en-US" sz="1400" dirty="0">
                <a:solidFill>
                  <a:srgbClr val="00B050"/>
                </a:solidFill>
              </a:rPr>
              <a:t>）</a:t>
            </a:r>
            <a:br>
              <a:rPr lang="en-US" altLang="zh-CN" sz="1400" dirty="0">
                <a:solidFill>
                  <a:srgbClr val="00B050"/>
                </a:solidFill>
              </a:rPr>
            </a:br>
            <a:r>
              <a:rPr lang="en-US" altLang="zh-CN" sz="1400" dirty="0"/>
              <a:t>          UINT32  </a:t>
            </a:r>
            <a:r>
              <a:rPr lang="en-US" altLang="zh-CN" sz="1400" dirty="0" err="1"/>
              <a:t>Post_Task_Handle</a:t>
            </a:r>
            <a:r>
              <a:rPr lang="en-US" altLang="zh-CN" sz="1400" dirty="0"/>
              <a:t>;             </a:t>
            </a:r>
            <a:r>
              <a:rPr lang="en-US" altLang="zh-CN" sz="1400" dirty="0">
                <a:solidFill>
                  <a:srgbClr val="00B050"/>
                </a:solidFill>
              </a:rPr>
              <a:t>//</a:t>
            </a:r>
            <a:r>
              <a:rPr lang="zh-CN" altLang="en-US" sz="1400" dirty="0">
                <a:solidFill>
                  <a:srgbClr val="00B050"/>
                </a:solidFill>
              </a:rPr>
              <a:t>给出信号量的任务句柄（或</a:t>
            </a:r>
            <a:r>
              <a:rPr lang="en-US" altLang="zh-CN" sz="1400" dirty="0">
                <a:solidFill>
                  <a:srgbClr val="00B050"/>
                </a:solidFill>
              </a:rPr>
              <a:t>ID</a:t>
            </a:r>
            <a:r>
              <a:rPr lang="zh-CN" altLang="en-US" sz="1400" dirty="0">
                <a:solidFill>
                  <a:srgbClr val="00B050"/>
                </a:solidFill>
              </a:rPr>
              <a:t>）</a:t>
            </a:r>
            <a:br>
              <a:rPr lang="en-US" altLang="zh-CN" sz="1400" dirty="0">
                <a:solidFill>
                  <a:srgbClr val="00B050"/>
                </a:solidFill>
              </a:rPr>
            </a:br>
            <a:r>
              <a:rPr lang="en-US" altLang="zh-CN" sz="1400" dirty="0">
                <a:solidFill>
                  <a:srgbClr val="000000"/>
                </a:solidFill>
              </a:rPr>
              <a:t>          </a:t>
            </a:r>
            <a:r>
              <a:rPr lang="en-US" altLang="zh-CN" sz="1400" dirty="0"/>
              <a:t>UINT32 </a:t>
            </a:r>
            <a:r>
              <a:rPr lang="en-US" altLang="zh-CN" sz="1400" dirty="0" err="1"/>
              <a:t>CountSem_Handle</a:t>
            </a:r>
            <a:r>
              <a:rPr lang="en-US" altLang="zh-CN" sz="1400" dirty="0"/>
              <a:t>;                   </a:t>
            </a:r>
            <a:r>
              <a:rPr lang="en-US" altLang="zh-CN" sz="1400" dirty="0">
                <a:solidFill>
                  <a:srgbClr val="00B050"/>
                </a:solidFill>
              </a:rPr>
              <a:t>//</a:t>
            </a:r>
            <a:r>
              <a:rPr lang="zh-CN" altLang="en-US" sz="1400" dirty="0">
                <a:solidFill>
                  <a:srgbClr val="00B050"/>
                </a:solidFill>
              </a:rPr>
              <a:t>数值信号量句柄（或</a:t>
            </a:r>
            <a:r>
              <a:rPr lang="en-US" altLang="zh-CN" sz="1400" dirty="0">
                <a:solidFill>
                  <a:srgbClr val="00B050"/>
                </a:solidFill>
              </a:rPr>
              <a:t>ID</a:t>
            </a:r>
            <a:r>
              <a:rPr lang="zh-CN" altLang="en-US" sz="1400" dirty="0">
                <a:solidFill>
                  <a:srgbClr val="00B050"/>
                </a:solidFill>
              </a:rPr>
              <a:t>）</a:t>
            </a:r>
            <a:br>
              <a:rPr lang="en-US" altLang="zh-CN" sz="1400" dirty="0">
                <a:solidFill>
                  <a:srgbClr val="00B050"/>
                </a:solidFill>
              </a:rPr>
            </a:br>
            <a:r>
              <a:rPr lang="en-US" altLang="zh-CN" sz="1400" dirty="0">
                <a:solidFill>
                  <a:srgbClr val="00B050"/>
                </a:solidFill>
              </a:rPr>
              <a:t>   </a:t>
            </a:r>
            <a:r>
              <a:rPr lang="en-US" altLang="zh-CN" sz="1600" dirty="0"/>
              <a:t>   </a:t>
            </a:r>
            <a:r>
              <a:rPr lang="zh-CN" altLang="en-US" sz="1400" dirty="0"/>
              <a:t>③函数声明   </a:t>
            </a:r>
            <a:r>
              <a:rPr lang="en-US" altLang="zh-CN" sz="1400" dirty="0">
                <a:solidFill>
                  <a:srgbClr val="00B050"/>
                </a:solidFill>
              </a:rPr>
              <a:t>//</a:t>
            </a:r>
            <a:r>
              <a:rPr lang="zh-CN" altLang="en-US" sz="1400" dirty="0">
                <a:solidFill>
                  <a:srgbClr val="00B050"/>
                </a:solidFill>
              </a:rPr>
              <a:t>包括应用创建函数、任务创建函数、任务函数</a:t>
            </a:r>
            <a:endParaRPr lang="en-US" altLang="zh-CN" sz="1400" dirty="0">
              <a:solidFill>
                <a:srgbClr val="00B050"/>
              </a:solidFill>
            </a:endParaRPr>
          </a:p>
          <a:p>
            <a:r>
              <a:rPr lang="zh-CN" altLang="en-US" sz="1400" dirty="0"/>
              <a:t>      ④</a:t>
            </a:r>
            <a:r>
              <a:rPr lang="en-US" altLang="zh-CN" sz="1400" dirty="0"/>
              <a:t>main</a:t>
            </a:r>
            <a:r>
              <a:rPr lang="zh-CN" altLang="en-US" sz="1400" dirty="0"/>
              <a:t>函数</a:t>
            </a:r>
            <a:endParaRPr lang="en-US" altLang="zh-CN" sz="1400" dirty="0"/>
          </a:p>
          <a:p>
            <a:r>
              <a:rPr lang="en-US" altLang="zh-CN" sz="1400" dirty="0"/>
              <a:t>          main{</a:t>
            </a:r>
          </a:p>
          <a:p>
            <a:r>
              <a:rPr lang="en-US" altLang="zh-CN" sz="1400" dirty="0"/>
              <a:t>                    …    </a:t>
            </a:r>
            <a:r>
              <a:rPr lang="en-US" altLang="zh-CN" sz="1400" dirty="0">
                <a:solidFill>
                  <a:srgbClr val="00B050"/>
                </a:solidFill>
              </a:rPr>
              <a:t>//</a:t>
            </a:r>
            <a:r>
              <a:rPr lang="zh-CN" altLang="en-US" sz="1400" dirty="0">
                <a:solidFill>
                  <a:srgbClr val="00B050"/>
                </a:solidFill>
              </a:rPr>
              <a:t>定义局部变量，板级初始化等</a:t>
            </a:r>
            <a:endParaRPr lang="en-US" altLang="zh-CN" sz="1400" dirty="0">
              <a:solidFill>
                <a:srgbClr val="00B050"/>
              </a:solidFill>
            </a:endParaRPr>
          </a:p>
          <a:p>
            <a:r>
              <a:rPr lang="en-US" altLang="zh-CN" sz="1400" dirty="0"/>
              <a:t>                    </a:t>
            </a:r>
            <a:r>
              <a:rPr lang="en-US" altLang="zh-CN" sz="1400" dirty="0" err="1"/>
              <a:t>uwRet</a:t>
            </a:r>
            <a:r>
              <a:rPr lang="en-US" altLang="zh-CN" sz="1400" dirty="0"/>
              <a:t> = </a:t>
            </a:r>
            <a:r>
              <a:rPr lang="en-US" altLang="zh-CN" sz="1400" dirty="0" err="1"/>
              <a:t>LOS_KernelInit</a:t>
            </a:r>
            <a:r>
              <a:rPr lang="en-US" altLang="zh-CN" sz="1400" dirty="0"/>
              <a:t>();  </a:t>
            </a:r>
            <a:r>
              <a:rPr lang="en-US" altLang="zh-CN" sz="1400" dirty="0">
                <a:solidFill>
                  <a:srgbClr val="00B050"/>
                </a:solidFill>
              </a:rPr>
              <a:t>//</a:t>
            </a:r>
            <a:r>
              <a:rPr lang="zh-CN" altLang="en-US" sz="1400" dirty="0">
                <a:solidFill>
                  <a:srgbClr val="00B050"/>
                </a:solidFill>
              </a:rPr>
              <a:t>内核初始化</a:t>
            </a:r>
            <a:endParaRPr lang="en-US" altLang="zh-CN" sz="1400" dirty="0">
              <a:solidFill>
                <a:srgbClr val="00B050"/>
              </a:solidFill>
            </a:endParaRPr>
          </a:p>
          <a:p>
            <a:r>
              <a:rPr lang="en-US" altLang="zh-CN" sz="1400" dirty="0"/>
              <a:t>                    …    </a:t>
            </a:r>
            <a:r>
              <a:rPr lang="en-US" altLang="zh-CN" sz="1400" dirty="0">
                <a:solidFill>
                  <a:srgbClr val="00B050"/>
                </a:solidFill>
              </a:rPr>
              <a:t>//</a:t>
            </a:r>
          </a:p>
          <a:p>
            <a:r>
              <a:rPr lang="en-US" altLang="zh-CN" sz="1400" dirty="0"/>
              <a:t>                    </a:t>
            </a:r>
            <a:r>
              <a:rPr lang="en-US" altLang="zh-CN" sz="1400" dirty="0" err="1"/>
              <a:t>uwRet</a:t>
            </a:r>
            <a:r>
              <a:rPr lang="en-US" altLang="zh-CN" sz="1400" dirty="0"/>
              <a:t> = </a:t>
            </a:r>
            <a:r>
              <a:rPr lang="en-US" altLang="zh-CN" sz="1400" dirty="0" err="1"/>
              <a:t>AppTaskCreate</a:t>
            </a:r>
            <a:r>
              <a:rPr lang="en-US" altLang="zh-CN" sz="1400" dirty="0"/>
              <a:t>(); </a:t>
            </a:r>
            <a:br>
              <a:rPr lang="en-US" altLang="zh-CN" sz="1400" dirty="0"/>
            </a:br>
            <a:r>
              <a:rPr lang="en-US" altLang="zh-CN" sz="1400" dirty="0"/>
              <a:t>                    …    </a:t>
            </a:r>
            <a:r>
              <a:rPr lang="en-US" altLang="zh-CN" sz="1400" dirty="0">
                <a:solidFill>
                  <a:srgbClr val="00B050"/>
                </a:solidFill>
              </a:rPr>
              <a:t>//</a:t>
            </a:r>
          </a:p>
          <a:p>
            <a:r>
              <a:rPr lang="en-US" altLang="zh-CN" sz="1400" dirty="0"/>
              <a:t>                    </a:t>
            </a:r>
            <a:r>
              <a:rPr lang="en-US" altLang="zh-CN" sz="1400" dirty="0" err="1"/>
              <a:t>LOS_Start</a:t>
            </a:r>
            <a:r>
              <a:rPr lang="en-US" altLang="zh-CN" sz="1400" dirty="0"/>
              <a:t>();   </a:t>
            </a:r>
            <a:r>
              <a:rPr lang="en-US" altLang="zh-CN" sz="1400" dirty="0">
                <a:solidFill>
                  <a:srgbClr val="00B050"/>
                </a:solidFill>
              </a:rPr>
              <a:t>//</a:t>
            </a:r>
            <a:r>
              <a:rPr lang="zh-CN" altLang="en-US" sz="1400" dirty="0">
                <a:solidFill>
                  <a:srgbClr val="00B050"/>
                </a:solidFill>
              </a:rPr>
              <a:t>启动任务调度</a:t>
            </a:r>
            <a:br>
              <a:rPr lang="en-US" altLang="zh-CN" sz="1400" dirty="0">
                <a:solidFill>
                  <a:srgbClr val="00B050"/>
                </a:solidFill>
              </a:rPr>
            </a:br>
            <a:r>
              <a:rPr lang="en-US" altLang="zh-CN" sz="1400" dirty="0"/>
              <a:t>                    …   </a:t>
            </a:r>
            <a:r>
              <a:rPr lang="en-US" altLang="zh-CN" sz="1400" dirty="0">
                <a:solidFill>
                  <a:srgbClr val="00B050"/>
                </a:solidFill>
              </a:rPr>
              <a:t>//</a:t>
            </a:r>
          </a:p>
          <a:p>
            <a:r>
              <a:rPr lang="en-US" altLang="zh-CN" sz="1400" dirty="0"/>
              <a:t>                   }</a:t>
            </a:r>
          </a:p>
          <a:p>
            <a:r>
              <a:rPr lang="zh-CN" altLang="en-US" sz="1400" dirty="0"/>
              <a:t>      ⑤应用创建函数</a:t>
            </a:r>
            <a:endParaRPr lang="en-US" altLang="zh-CN" sz="1400" dirty="0"/>
          </a:p>
          <a:p>
            <a:r>
              <a:rPr lang="en-US" altLang="zh-CN" sz="1400" dirty="0"/>
              <a:t>        </a:t>
            </a:r>
            <a:r>
              <a:rPr lang="en-US" altLang="zh-CN" sz="1400" dirty="0" err="1"/>
              <a:t>AppTaskCreate</a:t>
            </a:r>
            <a:r>
              <a:rPr lang="en-US" altLang="zh-CN" sz="1400" dirty="0"/>
              <a:t>() {</a:t>
            </a:r>
          </a:p>
          <a:p>
            <a:r>
              <a:rPr lang="en-US" altLang="zh-CN" sz="1400" dirty="0"/>
              <a:t>              </a:t>
            </a:r>
            <a:r>
              <a:rPr lang="en-US" altLang="zh-CN" sz="1400" dirty="0" err="1"/>
              <a:t>LOS_SemCreate</a:t>
            </a:r>
            <a:r>
              <a:rPr lang="en-US" altLang="zh-CN" sz="1400" dirty="0"/>
              <a:t> (5,&amp;CountSem_Handle); </a:t>
            </a:r>
            <a:r>
              <a:rPr lang="en-US" altLang="zh-CN" sz="1400" dirty="0">
                <a:solidFill>
                  <a:srgbClr val="00B050"/>
                </a:solidFill>
              </a:rPr>
              <a:t>//</a:t>
            </a:r>
            <a:r>
              <a:rPr lang="zh-CN" altLang="en-US" sz="1400" dirty="0">
                <a:solidFill>
                  <a:srgbClr val="00B050"/>
                </a:solidFill>
              </a:rPr>
              <a:t>初始信号量为</a:t>
            </a:r>
            <a:r>
              <a:rPr lang="en-US" altLang="zh-CN" sz="1400" dirty="0">
                <a:solidFill>
                  <a:srgbClr val="00B050"/>
                </a:solidFill>
              </a:rPr>
              <a:t>5</a:t>
            </a:r>
          </a:p>
          <a:p>
            <a:r>
              <a:rPr lang="en-US" altLang="zh-CN" sz="1400" dirty="0"/>
              <a:t>             </a:t>
            </a:r>
            <a:r>
              <a:rPr lang="en-US" altLang="zh-CN" sz="1400" dirty="0" err="1"/>
              <a:t>Creat_Receive_Task</a:t>
            </a:r>
            <a:r>
              <a:rPr lang="en-US" altLang="zh-CN" sz="1400" dirty="0"/>
              <a:t>();</a:t>
            </a:r>
          </a:p>
          <a:p>
            <a:r>
              <a:rPr lang="en-US" altLang="zh-CN" sz="1400" dirty="0"/>
              <a:t>             </a:t>
            </a:r>
            <a:r>
              <a:rPr lang="en-US" altLang="zh-CN" sz="1400" dirty="0" err="1"/>
              <a:t>Creat_Send_Task</a:t>
            </a:r>
            <a:r>
              <a:rPr lang="en-US" altLang="zh-CN" sz="1400" dirty="0"/>
              <a:t>();</a:t>
            </a:r>
          </a:p>
          <a:p>
            <a:r>
              <a:rPr lang="en-US" altLang="zh-CN" sz="1400" dirty="0"/>
              <a:t>        }</a:t>
            </a:r>
          </a:p>
          <a:p>
            <a:r>
              <a:rPr lang="zh-CN" altLang="en-US" sz="1400" dirty="0"/>
              <a:t>      ⑥任务创建函数  </a:t>
            </a:r>
            <a:r>
              <a:rPr lang="en-US" altLang="zh-CN" sz="1400" dirty="0">
                <a:solidFill>
                  <a:srgbClr val="00B050"/>
                </a:solidFill>
              </a:rPr>
              <a:t>//</a:t>
            </a:r>
            <a:r>
              <a:rPr lang="zh-CN" altLang="en-US" sz="1400" dirty="0">
                <a:solidFill>
                  <a:srgbClr val="00B050"/>
                </a:solidFill>
              </a:rPr>
              <a:t>略</a:t>
            </a:r>
            <a:endParaRPr lang="en-US" altLang="zh-CN" sz="1400" dirty="0">
              <a:solidFill>
                <a:srgbClr val="00B050"/>
              </a:solidFill>
            </a:endParaRPr>
          </a:p>
          <a:p>
            <a:endParaRPr lang="en-US" altLang="zh-CN" sz="1400" dirty="0">
              <a:solidFill>
                <a:srgbClr val="00B050"/>
              </a:solidFill>
            </a:endParaRPr>
          </a:p>
          <a:p>
            <a:r>
              <a:rPr lang="en-US" altLang="zh-CN" dirty="0" err="1"/>
              <a:t>Pend_Task</a:t>
            </a:r>
            <a:r>
              <a:rPr lang="en-US" altLang="zh-CN" dirty="0"/>
              <a:t>()</a:t>
            </a:r>
            <a:r>
              <a:rPr lang="zh-CN" altLang="en-US" dirty="0"/>
              <a:t>优先级低于</a:t>
            </a:r>
            <a:r>
              <a:rPr lang="en-US" altLang="zh-CN" dirty="0" err="1"/>
              <a:t>Post_Task</a:t>
            </a:r>
            <a:r>
              <a:rPr lang="en-US" altLang="zh-CN" dirty="0"/>
              <a:t>()</a:t>
            </a:r>
          </a:p>
          <a:p>
            <a:endParaRPr lang="en-US" altLang="zh-CN" sz="1400" dirty="0"/>
          </a:p>
          <a:p>
            <a:r>
              <a:rPr lang="en-US" altLang="zh-CN" sz="1400" dirty="0"/>
              <a:t>     </a:t>
            </a:r>
            <a:endParaRPr lang="en-US" altLang="zh-CN" sz="1400" dirty="0">
              <a:solidFill>
                <a:srgbClr val="00B050"/>
              </a:solidFill>
            </a:endParaRPr>
          </a:p>
        </p:txBody>
      </p:sp>
      <p:sp>
        <p:nvSpPr>
          <p:cNvPr id="9" name="文本框 8"/>
          <p:cNvSpPr txBox="1"/>
          <p:nvPr/>
        </p:nvSpPr>
        <p:spPr>
          <a:xfrm>
            <a:off x="5893724" y="808816"/>
            <a:ext cx="6043353" cy="6278642"/>
          </a:xfrm>
          <a:prstGeom prst="rect">
            <a:avLst/>
          </a:prstGeom>
          <a:noFill/>
        </p:spPr>
        <p:txBody>
          <a:bodyPr wrap="square" rtlCol="0">
            <a:spAutoFit/>
          </a:bodyPr>
          <a:lstStyle/>
          <a:p>
            <a:r>
              <a:rPr lang="zh-CN" altLang="en-US" sz="1600" dirty="0"/>
              <a:t>⑦读取信号量的任务函数</a:t>
            </a:r>
            <a:r>
              <a:rPr lang="en-US" altLang="zh-CN" sz="1600" dirty="0" err="1"/>
              <a:t>Pend_Task</a:t>
            </a:r>
            <a:r>
              <a:rPr lang="zh-CN" altLang="en-US" sz="1600" dirty="0"/>
              <a:t>（）</a:t>
            </a:r>
            <a:endParaRPr lang="en-US" altLang="zh-CN" sz="1600" dirty="0"/>
          </a:p>
          <a:p>
            <a:r>
              <a:rPr lang="en-US" altLang="zh-CN" dirty="0"/>
              <a:t>   </a:t>
            </a:r>
            <a:r>
              <a:rPr lang="en-US" altLang="zh-CN" sz="1400" dirty="0" err="1"/>
              <a:t>Pend_Task</a:t>
            </a:r>
            <a:r>
              <a:rPr lang="zh-CN" altLang="en-US" sz="1400" dirty="0"/>
              <a:t>（）</a:t>
            </a:r>
            <a:r>
              <a:rPr lang="en-US" altLang="zh-CN" sz="1400" dirty="0"/>
              <a:t>{</a:t>
            </a:r>
          </a:p>
          <a:p>
            <a:r>
              <a:rPr lang="en-US" altLang="zh-CN" sz="1400" dirty="0"/>
              <a:t>       UINT32   </a:t>
            </a:r>
            <a:r>
              <a:rPr lang="en-US" altLang="zh-CN" sz="1400" dirty="0" err="1"/>
              <a:t>uwRet</a:t>
            </a:r>
            <a:r>
              <a:rPr lang="en-US" altLang="zh-CN" sz="1400" dirty="0"/>
              <a:t> = LOS_OK;</a:t>
            </a:r>
          </a:p>
          <a:p>
            <a:r>
              <a:rPr lang="en-US" altLang="zh-CN" sz="1400" dirty="0">
                <a:solidFill>
                  <a:schemeClr val="accent1">
                    <a:lumMod val="60000"/>
                    <a:lumOff val="40000"/>
                  </a:schemeClr>
                </a:solidFill>
              </a:rPr>
              <a:t>      while (1) {</a:t>
            </a:r>
          </a:p>
          <a:p>
            <a:r>
              <a:rPr lang="en-US" altLang="zh-CN" sz="1400" dirty="0"/>
              <a:t>         if ( KEY1 ) { </a:t>
            </a:r>
            <a:r>
              <a:rPr lang="en-US" altLang="zh-CN" sz="1400" dirty="0">
                <a:solidFill>
                  <a:srgbClr val="00B050"/>
                </a:solidFill>
              </a:rPr>
              <a:t>//</a:t>
            </a:r>
            <a:r>
              <a:rPr lang="zh-CN" altLang="en-US" sz="1400" dirty="0">
                <a:solidFill>
                  <a:srgbClr val="00B050"/>
                </a:solidFill>
              </a:rPr>
              <a:t>按键</a:t>
            </a:r>
            <a:r>
              <a:rPr lang="en-US" altLang="zh-CN" sz="1400" dirty="0">
                <a:solidFill>
                  <a:srgbClr val="00B050"/>
                </a:solidFill>
              </a:rPr>
              <a:t>1</a:t>
            </a:r>
            <a:r>
              <a:rPr lang="zh-CN" altLang="en-US" sz="1400" dirty="0">
                <a:solidFill>
                  <a:srgbClr val="00B050"/>
                </a:solidFill>
              </a:rPr>
              <a:t>按下读取信号量</a:t>
            </a:r>
            <a:endParaRPr lang="en-US" altLang="zh-CN" sz="1400" dirty="0">
              <a:solidFill>
                <a:srgbClr val="00B050"/>
              </a:solidFill>
            </a:endParaRPr>
          </a:p>
          <a:p>
            <a:r>
              <a:rPr lang="en-US" altLang="zh-CN" sz="1400" dirty="0"/>
              <a:t>              </a:t>
            </a:r>
            <a:r>
              <a:rPr lang="en-US" altLang="zh-CN" sz="1400" dirty="0" err="1"/>
              <a:t>uwRet</a:t>
            </a:r>
            <a:r>
              <a:rPr lang="en-US" altLang="zh-CN" sz="1400" dirty="0"/>
              <a:t> = </a:t>
            </a:r>
            <a:r>
              <a:rPr lang="en-US" altLang="zh-CN" sz="1400" dirty="0" err="1"/>
              <a:t>LOS_SemPend</a:t>
            </a:r>
            <a:r>
              <a:rPr lang="en-US" altLang="zh-CN" sz="1400" dirty="0"/>
              <a:t> ( CountSem_Handle,0);</a:t>
            </a:r>
          </a:p>
          <a:p>
            <a:r>
              <a:rPr lang="en-US" altLang="zh-CN" sz="1400" dirty="0"/>
              <a:t>              if (LOS_OK == </a:t>
            </a:r>
            <a:r>
              <a:rPr lang="en-US" altLang="zh-CN" sz="1400" dirty="0" err="1"/>
              <a:t>uwRet</a:t>
            </a:r>
            <a:r>
              <a:rPr lang="en-US" altLang="zh-CN" sz="1400" dirty="0"/>
              <a:t>)</a:t>
            </a:r>
          </a:p>
          <a:p>
            <a:r>
              <a:rPr lang="en-US" altLang="zh-CN" sz="1400" dirty="0"/>
              <a:t>                    </a:t>
            </a:r>
            <a:r>
              <a:rPr lang="en-US" altLang="zh-CN" sz="1400" dirty="0" err="1"/>
              <a:t>printf</a:t>
            </a:r>
            <a:r>
              <a:rPr lang="en-US" altLang="zh-CN" sz="1400" dirty="0"/>
              <a:t> ( "\r\nKEY1 </a:t>
            </a:r>
            <a:r>
              <a:rPr lang="zh-CN" altLang="en-US" sz="1400" dirty="0"/>
              <a:t>被按下，成功申请到停车位。 </a:t>
            </a:r>
            <a:r>
              <a:rPr lang="en-US" altLang="zh-CN" sz="1400" dirty="0"/>
              <a:t>\r\n" );</a:t>
            </a:r>
          </a:p>
          <a:p>
            <a:r>
              <a:rPr lang="en-US" altLang="zh-CN" sz="1400" dirty="0"/>
              <a:t>              else</a:t>
            </a:r>
          </a:p>
          <a:p>
            <a:r>
              <a:rPr lang="en-US" altLang="zh-CN" sz="1400" dirty="0"/>
              <a:t>                    </a:t>
            </a:r>
            <a:r>
              <a:rPr lang="en-US" altLang="zh-CN" sz="1400" dirty="0" err="1"/>
              <a:t>printf</a:t>
            </a:r>
            <a:r>
              <a:rPr lang="en-US" altLang="zh-CN" sz="1400" dirty="0"/>
              <a:t> ( "\r\nKEY1 </a:t>
            </a:r>
            <a:r>
              <a:rPr lang="zh-CN" altLang="en-US" sz="1400" dirty="0"/>
              <a:t>被按下，不好意思，现在停车场已满！ </a:t>
            </a:r>
            <a:r>
              <a:rPr lang="en-US" altLang="zh-CN" sz="1400" dirty="0"/>
              <a:t>\r\n" );</a:t>
            </a:r>
          </a:p>
          <a:p>
            <a:r>
              <a:rPr lang="en-US" altLang="zh-CN" sz="1400" dirty="0"/>
              <a:t>         }</a:t>
            </a:r>
          </a:p>
          <a:p>
            <a:r>
              <a:rPr lang="en-US" altLang="zh-CN" sz="1400" dirty="0">
                <a:solidFill>
                  <a:schemeClr val="accent1">
                    <a:lumMod val="60000"/>
                    <a:lumOff val="40000"/>
                  </a:schemeClr>
                </a:solidFill>
              </a:rPr>
              <a:t>       }</a:t>
            </a:r>
          </a:p>
          <a:p>
            <a:r>
              <a:rPr lang="en-US" altLang="zh-CN" sz="1400" dirty="0"/>
              <a:t>     }</a:t>
            </a:r>
          </a:p>
          <a:p>
            <a:r>
              <a:rPr lang="zh-CN" altLang="en-US" dirty="0"/>
              <a:t>⑧</a:t>
            </a:r>
            <a:r>
              <a:rPr lang="zh-CN" altLang="en-US" sz="1600" dirty="0"/>
              <a:t>给出信号量的任务函数</a:t>
            </a:r>
            <a:r>
              <a:rPr lang="en-US" altLang="zh-CN" sz="1600" dirty="0" err="1"/>
              <a:t>Post_Task</a:t>
            </a:r>
            <a:r>
              <a:rPr lang="zh-CN" altLang="en-US" sz="1600" dirty="0"/>
              <a:t>（）</a:t>
            </a:r>
            <a:endParaRPr lang="en-US" altLang="zh-CN" sz="1600" dirty="0"/>
          </a:p>
          <a:p>
            <a:r>
              <a:rPr lang="en-US" altLang="zh-CN" sz="1400" dirty="0"/>
              <a:t>     </a:t>
            </a:r>
            <a:r>
              <a:rPr lang="en-US" altLang="zh-CN" sz="1400" dirty="0" err="1"/>
              <a:t>Post_Task</a:t>
            </a:r>
            <a:r>
              <a:rPr lang="zh-CN" altLang="en-US" sz="1400" dirty="0"/>
              <a:t>（）</a:t>
            </a:r>
            <a:r>
              <a:rPr lang="en-US" altLang="zh-CN" sz="1400" dirty="0"/>
              <a:t>{</a:t>
            </a:r>
          </a:p>
          <a:p>
            <a:r>
              <a:rPr lang="en-US" altLang="zh-CN" sz="1400" dirty="0"/>
              <a:t>       UINT32   </a:t>
            </a:r>
            <a:r>
              <a:rPr lang="en-US" altLang="zh-CN" sz="1400" dirty="0" err="1"/>
              <a:t>uwRet</a:t>
            </a:r>
            <a:r>
              <a:rPr lang="en-US" altLang="zh-CN" sz="1400" dirty="0"/>
              <a:t> = LOS_OK;</a:t>
            </a:r>
          </a:p>
          <a:p>
            <a:r>
              <a:rPr lang="en-US" altLang="zh-CN" sz="1400" dirty="0">
                <a:solidFill>
                  <a:schemeClr val="accent1">
                    <a:lumMod val="60000"/>
                    <a:lumOff val="40000"/>
                  </a:schemeClr>
                </a:solidFill>
              </a:rPr>
              <a:t>       while (1) {</a:t>
            </a:r>
          </a:p>
          <a:p>
            <a:r>
              <a:rPr lang="en-US" altLang="zh-CN" sz="1400" dirty="0"/>
              <a:t>          if(KEY2) {</a:t>
            </a:r>
            <a:r>
              <a:rPr lang="en-US" altLang="zh-CN" sz="1400" dirty="0">
                <a:solidFill>
                  <a:srgbClr val="00B050"/>
                </a:solidFill>
              </a:rPr>
              <a:t>//</a:t>
            </a:r>
            <a:r>
              <a:rPr lang="zh-CN" altLang="en-US" sz="1400" dirty="0">
                <a:solidFill>
                  <a:srgbClr val="00B050"/>
                </a:solidFill>
              </a:rPr>
              <a:t>按键</a:t>
            </a:r>
            <a:r>
              <a:rPr lang="en-US" altLang="zh-CN" sz="1400" dirty="0">
                <a:solidFill>
                  <a:srgbClr val="00B050"/>
                </a:solidFill>
              </a:rPr>
              <a:t>2</a:t>
            </a:r>
            <a:r>
              <a:rPr lang="zh-CN" altLang="en-US" sz="1400" dirty="0">
                <a:solidFill>
                  <a:srgbClr val="00B050"/>
                </a:solidFill>
              </a:rPr>
              <a:t>按下释放信号量</a:t>
            </a:r>
            <a:endParaRPr lang="en-US" altLang="zh-CN" sz="1400" dirty="0">
              <a:solidFill>
                <a:srgbClr val="00B050"/>
              </a:solidFill>
            </a:endParaRPr>
          </a:p>
          <a:p>
            <a:r>
              <a:rPr lang="en-US" altLang="zh-CN" sz="1400" dirty="0"/>
              <a:t>               </a:t>
            </a:r>
            <a:r>
              <a:rPr lang="en-US" altLang="zh-CN" sz="1400" dirty="0" err="1"/>
              <a:t>uwRet</a:t>
            </a:r>
            <a:r>
              <a:rPr lang="en-US" altLang="zh-CN" sz="1400" dirty="0"/>
              <a:t> = </a:t>
            </a:r>
            <a:r>
              <a:rPr lang="en-US" altLang="zh-CN" sz="1400" dirty="0" err="1"/>
              <a:t>LOS_SemPost</a:t>
            </a:r>
            <a:r>
              <a:rPr lang="en-US" altLang="zh-CN" sz="1400" dirty="0"/>
              <a:t>(</a:t>
            </a:r>
            <a:r>
              <a:rPr lang="en-US" altLang="zh-CN" sz="1400" dirty="0" err="1"/>
              <a:t>CountSem_Handle</a:t>
            </a:r>
            <a:r>
              <a:rPr lang="en-US" altLang="zh-CN" sz="1400" dirty="0"/>
              <a:t>); </a:t>
            </a:r>
          </a:p>
          <a:p>
            <a:r>
              <a:rPr lang="en-US" altLang="zh-CN" sz="1400" dirty="0"/>
              <a:t>              if (LOS_OK == </a:t>
            </a:r>
            <a:r>
              <a:rPr lang="en-US" altLang="zh-CN" sz="1400" dirty="0" err="1"/>
              <a:t>uwRet</a:t>
            </a:r>
            <a:r>
              <a:rPr lang="en-US" altLang="zh-CN" sz="1400" dirty="0"/>
              <a:t>)</a:t>
            </a:r>
          </a:p>
          <a:p>
            <a:r>
              <a:rPr lang="en-US" altLang="zh-CN" sz="1400" dirty="0"/>
              <a:t>                    </a:t>
            </a:r>
            <a:r>
              <a:rPr lang="en-US" altLang="zh-CN" sz="1400" dirty="0" err="1"/>
              <a:t>printf</a:t>
            </a:r>
            <a:r>
              <a:rPr lang="en-US" altLang="zh-CN" sz="1400" dirty="0"/>
              <a:t> ( “\r\nKEY2</a:t>
            </a:r>
            <a:r>
              <a:rPr lang="zh-CN" altLang="en-US" sz="1400" dirty="0"/>
              <a:t>被按下，释放停车位。 </a:t>
            </a:r>
            <a:r>
              <a:rPr lang="en-US" altLang="zh-CN" sz="1400" dirty="0"/>
              <a:t>\r\n" );</a:t>
            </a:r>
          </a:p>
          <a:p>
            <a:r>
              <a:rPr lang="en-US" altLang="zh-CN" sz="1400" dirty="0"/>
              <a:t>              else</a:t>
            </a:r>
          </a:p>
          <a:p>
            <a:r>
              <a:rPr lang="en-US" altLang="zh-CN" sz="1400" dirty="0"/>
              <a:t>                    </a:t>
            </a:r>
            <a:r>
              <a:rPr lang="en-US" altLang="zh-CN" sz="1400" dirty="0" err="1"/>
              <a:t>printf</a:t>
            </a:r>
            <a:r>
              <a:rPr lang="en-US" altLang="zh-CN" sz="1400" dirty="0"/>
              <a:t> ( “\r\nKEY2 </a:t>
            </a:r>
            <a:r>
              <a:rPr lang="zh-CN" altLang="en-US" sz="1400" dirty="0"/>
              <a:t>被按下，但无停车位可以释放！ </a:t>
            </a:r>
            <a:r>
              <a:rPr lang="en-US" altLang="zh-CN" sz="1400" dirty="0"/>
              <a:t>\r\n" );</a:t>
            </a:r>
          </a:p>
          <a:p>
            <a:r>
              <a:rPr lang="en-US" altLang="zh-CN" sz="1400" dirty="0"/>
              <a:t>           }</a:t>
            </a:r>
          </a:p>
          <a:p>
            <a:r>
              <a:rPr lang="en-US" altLang="zh-CN" sz="1400" dirty="0"/>
              <a:t>    </a:t>
            </a:r>
            <a:r>
              <a:rPr lang="en-US" altLang="zh-CN" sz="1400" dirty="0">
                <a:solidFill>
                  <a:schemeClr val="accent1">
                    <a:lumMod val="60000"/>
                    <a:lumOff val="40000"/>
                  </a:schemeClr>
                </a:solidFill>
              </a:rPr>
              <a:t>}</a:t>
            </a:r>
          </a:p>
          <a:p>
            <a:r>
              <a:rPr lang="en-US" altLang="zh-CN" sz="1400" dirty="0"/>
              <a:t>}</a:t>
            </a:r>
          </a:p>
          <a:p>
            <a:endParaRPr lang="en-US" altLang="zh-CN" sz="1400" dirty="0"/>
          </a:p>
        </p:txBody>
      </p:sp>
    </p:spTree>
    <p:extLst>
      <p:ext uri="{BB962C8B-B14F-4D97-AF65-F5344CB8AC3E}">
        <p14:creationId xmlns:p14="http://schemas.microsoft.com/office/powerpoint/2010/main" val="604745720"/>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一、互斥量的基本概念</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矩形 7"/>
          <p:cNvSpPr/>
          <p:nvPr/>
        </p:nvSpPr>
        <p:spPr>
          <a:xfrm>
            <a:off x="786938" y="900283"/>
            <a:ext cx="10543309" cy="1508105"/>
          </a:xfrm>
          <a:prstGeom prst="rect">
            <a:avLst/>
          </a:prstGeom>
        </p:spPr>
        <p:txBody>
          <a:bodyPr wrap="squar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互斥量</a:t>
            </a:r>
            <a:r>
              <a:rPr lang="en-US" altLang="zh-CN" dirty="0">
                <a:solidFill>
                  <a:srgbClr val="000000"/>
                </a:solidFill>
                <a:latin typeface="宋体" panose="02010600030101010101" pitchFamily="2" charset="-122"/>
                <a:ea typeface="宋体" panose="02010600030101010101" pitchFamily="2" charset="-122"/>
              </a:rPr>
              <a:t>	</a:t>
            </a:r>
          </a:p>
          <a:p>
            <a:r>
              <a:rPr lang="zh-CN" altLang="en-US" dirty="0"/>
              <a:t>        互斥量又称互斥信号量，是一种特殊的二值信号量，又称互斥锁；</a:t>
            </a:r>
            <a:endParaRPr lang="en-US" altLang="zh-CN" dirty="0"/>
          </a:p>
          <a:p>
            <a:r>
              <a:rPr lang="en-US" altLang="zh-CN" dirty="0"/>
              <a:t>        </a:t>
            </a:r>
            <a:r>
              <a:rPr lang="zh-CN" altLang="en-US" dirty="0"/>
              <a:t>只有闭锁和开锁两种状态；</a:t>
            </a:r>
            <a:endParaRPr lang="en-US" altLang="zh-CN" dirty="0"/>
          </a:p>
          <a:p>
            <a:r>
              <a:rPr lang="en-US" altLang="zh-CN" dirty="0"/>
              <a:t>        </a:t>
            </a:r>
            <a:r>
              <a:rPr lang="zh-CN" altLang="en-US" dirty="0"/>
              <a:t>它和二值信号量最大的区别是具有</a:t>
            </a:r>
            <a:r>
              <a:rPr lang="zh-CN" altLang="en-US" dirty="0">
                <a:solidFill>
                  <a:schemeClr val="accent1">
                    <a:lumMod val="60000"/>
                    <a:lumOff val="40000"/>
                  </a:schemeClr>
                </a:solidFill>
              </a:rPr>
              <a:t>优先级继承</a:t>
            </a:r>
            <a:r>
              <a:rPr lang="zh-CN" altLang="en-US" dirty="0"/>
              <a:t>机制，减少二值信号量优先级翻转的危害。二值信号量和互斥量的区别如下图：</a:t>
            </a:r>
            <a:r>
              <a:rPr lang="en-US" altLang="zh-CN" dirty="0"/>
              <a:t>        </a:t>
            </a:r>
            <a:endParaRPr lang="zh-CN" altLang="en-US" dirty="0"/>
          </a:p>
        </p:txBody>
      </p:sp>
      <p:pic>
        <p:nvPicPr>
          <p:cNvPr id="2" name="图片 1"/>
          <p:cNvPicPr>
            <a:picLocks noChangeAspect="1"/>
          </p:cNvPicPr>
          <p:nvPr/>
        </p:nvPicPr>
        <p:blipFill>
          <a:blip r:embed="rId2"/>
          <a:stretch>
            <a:fillRect/>
          </a:stretch>
        </p:blipFill>
        <p:spPr>
          <a:xfrm>
            <a:off x="1049813" y="2382062"/>
            <a:ext cx="3711546" cy="2206563"/>
          </a:xfrm>
          <a:prstGeom prst="rect">
            <a:avLst/>
          </a:prstGeom>
        </p:spPr>
      </p:pic>
      <p:sp>
        <p:nvSpPr>
          <p:cNvPr id="13" name="文本框 12"/>
          <p:cNvSpPr txBox="1"/>
          <p:nvPr/>
        </p:nvSpPr>
        <p:spPr>
          <a:xfrm>
            <a:off x="4929447" y="2300292"/>
            <a:ext cx="7057505" cy="2246769"/>
          </a:xfrm>
          <a:prstGeom prst="rect">
            <a:avLst/>
          </a:prstGeom>
          <a:noFill/>
        </p:spPr>
        <p:txBody>
          <a:bodyPr wrap="square" rtlCol="0">
            <a:spAutoFit/>
          </a:bodyPr>
          <a:lstStyle/>
          <a:p>
            <a:r>
              <a:rPr lang="zh-CN" altLang="en-US" sz="1400" dirty="0"/>
              <a:t>存在三个任务，高级任务</a:t>
            </a:r>
            <a:r>
              <a:rPr lang="en-US" altLang="zh-CN" sz="1400" dirty="0"/>
              <a:t>H</a:t>
            </a:r>
            <a:r>
              <a:rPr lang="zh-CN" altLang="en-US" sz="1400" dirty="0"/>
              <a:t>，中级任务</a:t>
            </a:r>
            <a:r>
              <a:rPr lang="en-US" altLang="zh-CN" sz="1400" dirty="0"/>
              <a:t>M</a:t>
            </a:r>
            <a:r>
              <a:rPr lang="zh-CN" altLang="en-US" sz="1400" dirty="0"/>
              <a:t>，低级任务</a:t>
            </a:r>
            <a:r>
              <a:rPr lang="en-US" altLang="zh-CN" sz="1400" dirty="0"/>
              <a:t>L</a:t>
            </a:r>
            <a:r>
              <a:rPr lang="zh-CN" altLang="en-US" sz="1400" dirty="0"/>
              <a:t>。如果使用二值信号量，则三个任务的响应过程如下：</a:t>
            </a:r>
            <a:endParaRPr lang="en-US" altLang="zh-CN" sz="1400" dirty="0"/>
          </a:p>
          <a:p>
            <a:r>
              <a:rPr lang="zh-CN" altLang="en-US" sz="1400" dirty="0"/>
              <a:t>①</a:t>
            </a:r>
            <a:r>
              <a:rPr lang="en-US" altLang="zh-CN" sz="1400" dirty="0"/>
              <a:t>L </a:t>
            </a:r>
            <a:r>
              <a:rPr lang="zh-CN" altLang="en-US" sz="1400" dirty="0"/>
              <a:t>任务正在使用某临界资源， </a:t>
            </a:r>
            <a:r>
              <a:rPr lang="en-US" altLang="zh-CN" sz="1400" dirty="0"/>
              <a:t>H </a:t>
            </a:r>
            <a:r>
              <a:rPr lang="zh-CN" altLang="en-US" sz="1400" dirty="0"/>
              <a:t>任务被唤醒，执行 </a:t>
            </a:r>
            <a:r>
              <a:rPr lang="en-US" altLang="zh-CN" sz="1400" dirty="0"/>
              <a:t>H </a:t>
            </a:r>
            <a:r>
              <a:rPr lang="zh-CN" altLang="en-US" sz="1400" dirty="0"/>
              <a:t>任务， </a:t>
            </a:r>
            <a:endParaRPr lang="en-US" altLang="zh-CN" sz="1400" dirty="0"/>
          </a:p>
          <a:p>
            <a:r>
              <a:rPr lang="en-US" altLang="zh-CN" sz="1400" dirty="0"/>
              <a:t>   </a:t>
            </a:r>
            <a:r>
              <a:rPr lang="zh-CN" altLang="en-US" sz="1400" dirty="0"/>
              <a:t>但</a:t>
            </a:r>
            <a:r>
              <a:rPr lang="en-US" altLang="zh-CN" sz="1400" dirty="0"/>
              <a:t>L</a:t>
            </a:r>
            <a:r>
              <a:rPr lang="zh-CN" altLang="en-US" sz="1400" dirty="0"/>
              <a:t>任务还没有释放资源。</a:t>
            </a:r>
            <a:endParaRPr lang="en-US" altLang="zh-CN" sz="1400" dirty="0"/>
          </a:p>
          <a:p>
            <a:r>
              <a:rPr lang="zh-CN" altLang="en-US" sz="1400" dirty="0"/>
              <a:t>②</a:t>
            </a:r>
            <a:r>
              <a:rPr lang="en-US" altLang="zh-CN" sz="1400" dirty="0"/>
              <a:t>H</a:t>
            </a:r>
            <a:r>
              <a:rPr lang="zh-CN" altLang="en-US" sz="1400" dirty="0"/>
              <a:t>任务也要使用临界资源，因为</a:t>
            </a:r>
            <a:r>
              <a:rPr lang="en-US" altLang="zh-CN" sz="1400" dirty="0"/>
              <a:t>L</a:t>
            </a:r>
            <a:r>
              <a:rPr lang="zh-CN" altLang="en-US" sz="1400" dirty="0"/>
              <a:t>任务还没有释放资源，</a:t>
            </a:r>
            <a:r>
              <a:rPr lang="en-US" altLang="zh-CN" sz="1400" dirty="0"/>
              <a:t>H</a:t>
            </a:r>
            <a:r>
              <a:rPr lang="zh-CN" altLang="en-US" sz="1400" dirty="0"/>
              <a:t>任</a:t>
            </a:r>
            <a:endParaRPr lang="en-US" altLang="zh-CN" sz="1400" dirty="0"/>
          </a:p>
          <a:p>
            <a:r>
              <a:rPr lang="en-US" altLang="zh-CN" sz="1400" dirty="0"/>
              <a:t>   </a:t>
            </a:r>
            <a:r>
              <a:rPr lang="zh-CN" altLang="en-US" sz="1400" dirty="0"/>
              <a:t>务被阻塞，继续执行</a:t>
            </a:r>
            <a:r>
              <a:rPr lang="en-US" altLang="zh-CN" sz="1400" dirty="0"/>
              <a:t>L</a:t>
            </a:r>
            <a:r>
              <a:rPr lang="zh-CN" altLang="en-US" sz="1400" dirty="0"/>
              <a:t>任务。</a:t>
            </a:r>
            <a:endParaRPr lang="en-US" altLang="zh-CN" sz="1400" dirty="0"/>
          </a:p>
          <a:p>
            <a:r>
              <a:rPr lang="zh-CN" altLang="en-US" sz="1400" dirty="0"/>
              <a:t>③此时刻</a:t>
            </a:r>
            <a:r>
              <a:rPr lang="en-US" altLang="zh-CN" sz="1400" dirty="0"/>
              <a:t>M</a:t>
            </a:r>
            <a:r>
              <a:rPr lang="zh-CN" altLang="en-US" sz="1400" dirty="0"/>
              <a:t>任务被唤醒，执行</a:t>
            </a:r>
            <a:r>
              <a:rPr lang="en-US" altLang="zh-CN" sz="1400" dirty="0"/>
              <a:t>M</a:t>
            </a:r>
            <a:r>
              <a:rPr lang="zh-CN" altLang="en-US" sz="1400" dirty="0"/>
              <a:t>任务，此时</a:t>
            </a:r>
            <a:r>
              <a:rPr lang="en-US" altLang="zh-CN" sz="1400" dirty="0"/>
              <a:t>H</a:t>
            </a:r>
            <a:r>
              <a:rPr lang="zh-CN" altLang="en-US" sz="1400" dirty="0"/>
              <a:t>任务继续被阻塞。</a:t>
            </a:r>
            <a:endParaRPr lang="en-US" altLang="zh-CN" sz="1400" dirty="0"/>
          </a:p>
          <a:p>
            <a:r>
              <a:rPr lang="zh-CN" altLang="en-US" sz="1400" dirty="0"/>
              <a:t>④</a:t>
            </a:r>
            <a:r>
              <a:rPr lang="en-US" altLang="zh-CN" sz="1400" dirty="0"/>
              <a:t>M</a:t>
            </a:r>
            <a:r>
              <a:rPr lang="zh-CN" altLang="en-US" sz="1400" dirty="0"/>
              <a:t>任务执行结束，继续执行</a:t>
            </a:r>
            <a:r>
              <a:rPr lang="en-US" altLang="zh-CN" sz="1400" dirty="0"/>
              <a:t>L</a:t>
            </a:r>
            <a:r>
              <a:rPr lang="zh-CN" altLang="en-US" sz="1400" dirty="0"/>
              <a:t>任务。</a:t>
            </a:r>
            <a:endParaRPr lang="en-US" altLang="zh-CN" sz="1400" dirty="0"/>
          </a:p>
          <a:p>
            <a:r>
              <a:rPr lang="zh-CN" altLang="en-US" sz="1400" dirty="0"/>
              <a:t>⑤</a:t>
            </a:r>
            <a:r>
              <a:rPr lang="en-US" altLang="zh-CN" sz="1400" dirty="0"/>
              <a:t>L</a:t>
            </a:r>
            <a:r>
              <a:rPr lang="zh-CN" altLang="en-US" sz="1400" dirty="0"/>
              <a:t>任务执行完成，接着执行</a:t>
            </a:r>
            <a:r>
              <a:rPr lang="en-US" altLang="zh-CN" sz="1400" dirty="0"/>
              <a:t>H</a:t>
            </a:r>
            <a:r>
              <a:rPr lang="zh-CN" altLang="en-US" sz="1400" dirty="0"/>
              <a:t>任务。</a:t>
            </a:r>
            <a:endParaRPr lang="en-US" altLang="zh-CN" sz="1400" dirty="0"/>
          </a:p>
          <a:p>
            <a:r>
              <a:rPr lang="zh-CN" altLang="en-US" sz="1400" dirty="0"/>
              <a:t>出现了</a:t>
            </a:r>
            <a:r>
              <a:rPr lang="en-US" altLang="zh-CN" sz="1400" dirty="0"/>
              <a:t>M</a:t>
            </a:r>
            <a:r>
              <a:rPr lang="zh-CN" altLang="en-US" sz="1400" dirty="0"/>
              <a:t>任务先运行，</a:t>
            </a:r>
            <a:r>
              <a:rPr lang="zh-CN" altLang="en-US" sz="1400" dirty="0">
                <a:solidFill>
                  <a:schemeClr val="accent1">
                    <a:lumMod val="60000"/>
                    <a:lumOff val="40000"/>
                  </a:schemeClr>
                </a:solidFill>
              </a:rPr>
              <a:t>任务优先级翻转</a:t>
            </a:r>
            <a:r>
              <a:rPr lang="zh-CN" altLang="en-US" sz="1400" dirty="0"/>
              <a:t>，</a:t>
            </a:r>
            <a:r>
              <a:rPr lang="en-US" altLang="zh-CN" sz="1400" dirty="0"/>
              <a:t>H</a:t>
            </a:r>
            <a:r>
              <a:rPr lang="zh-CN" altLang="en-US" sz="1400" dirty="0"/>
              <a:t>任务等待时间过长，这对系统来说是致命的。</a:t>
            </a:r>
            <a:endParaRPr lang="en-US" altLang="zh-CN" sz="1200" dirty="0"/>
          </a:p>
        </p:txBody>
      </p:sp>
      <p:pic>
        <p:nvPicPr>
          <p:cNvPr id="3" name="图片 2"/>
          <p:cNvPicPr>
            <a:picLocks noChangeAspect="1"/>
          </p:cNvPicPr>
          <p:nvPr/>
        </p:nvPicPr>
        <p:blipFill>
          <a:blip r:embed="rId3"/>
          <a:stretch>
            <a:fillRect/>
          </a:stretch>
        </p:blipFill>
        <p:spPr>
          <a:xfrm>
            <a:off x="1049813" y="4588625"/>
            <a:ext cx="3711546" cy="2186248"/>
          </a:xfrm>
          <a:prstGeom prst="rect">
            <a:avLst/>
          </a:prstGeom>
        </p:spPr>
      </p:pic>
      <p:sp>
        <p:nvSpPr>
          <p:cNvPr id="14" name="文本框 13"/>
          <p:cNvSpPr txBox="1"/>
          <p:nvPr/>
        </p:nvSpPr>
        <p:spPr>
          <a:xfrm>
            <a:off x="4857404" y="4638501"/>
            <a:ext cx="5727470" cy="2031325"/>
          </a:xfrm>
          <a:prstGeom prst="rect">
            <a:avLst/>
          </a:prstGeom>
          <a:noFill/>
        </p:spPr>
        <p:txBody>
          <a:bodyPr wrap="square" rtlCol="0">
            <a:spAutoFit/>
          </a:bodyPr>
          <a:lstStyle/>
          <a:p>
            <a:r>
              <a:rPr lang="zh-CN" altLang="en-US" sz="1400" dirty="0"/>
              <a:t>如果有</a:t>
            </a:r>
            <a:r>
              <a:rPr lang="zh-CN" altLang="en-US" sz="1400" dirty="0">
                <a:solidFill>
                  <a:schemeClr val="accent1">
                    <a:lumMod val="60000"/>
                    <a:lumOff val="40000"/>
                  </a:schemeClr>
                </a:solidFill>
              </a:rPr>
              <a:t>优先级继承</a:t>
            </a:r>
            <a:r>
              <a:rPr lang="zh-CN" altLang="en-US" sz="1400" dirty="0"/>
              <a:t>，则三个任务的响应过程如下：</a:t>
            </a:r>
            <a:endParaRPr lang="en-US" altLang="zh-CN" sz="1400" dirty="0"/>
          </a:p>
          <a:p>
            <a:r>
              <a:rPr lang="zh-CN" altLang="en-US" sz="1400" dirty="0"/>
              <a:t>①</a:t>
            </a:r>
            <a:r>
              <a:rPr lang="en-US" altLang="zh-CN" sz="1400" dirty="0"/>
              <a:t>L </a:t>
            </a:r>
            <a:r>
              <a:rPr lang="zh-CN" altLang="en-US" sz="1400" dirty="0"/>
              <a:t>任务正在使用某临界资源， </a:t>
            </a:r>
            <a:r>
              <a:rPr lang="en-US" altLang="zh-CN" sz="1400" dirty="0"/>
              <a:t>H </a:t>
            </a:r>
            <a:r>
              <a:rPr lang="zh-CN" altLang="en-US" sz="1400" dirty="0"/>
              <a:t>任务被唤醒，执行 </a:t>
            </a:r>
            <a:r>
              <a:rPr lang="en-US" altLang="zh-CN" sz="1400" dirty="0"/>
              <a:t>H </a:t>
            </a:r>
            <a:r>
              <a:rPr lang="zh-CN" altLang="en-US" sz="1400" dirty="0"/>
              <a:t>任务， </a:t>
            </a:r>
            <a:endParaRPr lang="en-US" altLang="zh-CN" sz="1400" dirty="0"/>
          </a:p>
          <a:p>
            <a:r>
              <a:rPr lang="en-US" altLang="zh-CN" sz="1400" dirty="0"/>
              <a:t>   </a:t>
            </a:r>
            <a:r>
              <a:rPr lang="zh-CN" altLang="en-US" sz="1400" dirty="0"/>
              <a:t>但</a:t>
            </a:r>
            <a:r>
              <a:rPr lang="en-US" altLang="zh-CN" sz="1400" dirty="0"/>
              <a:t>L</a:t>
            </a:r>
            <a:r>
              <a:rPr lang="zh-CN" altLang="en-US" sz="1400" dirty="0"/>
              <a:t>任务还没有释放资源。</a:t>
            </a:r>
            <a:endParaRPr lang="en-US" altLang="zh-CN" sz="1400" dirty="0"/>
          </a:p>
          <a:p>
            <a:r>
              <a:rPr lang="zh-CN" altLang="en-US" sz="1400" dirty="0"/>
              <a:t>②</a:t>
            </a:r>
            <a:r>
              <a:rPr lang="en-US" altLang="zh-CN" sz="1400" dirty="0"/>
              <a:t>H</a:t>
            </a:r>
            <a:r>
              <a:rPr lang="zh-CN" altLang="en-US" sz="1400" dirty="0"/>
              <a:t>任务也要使用临界资源，因为</a:t>
            </a:r>
            <a:r>
              <a:rPr lang="en-US" altLang="zh-CN" sz="1400" dirty="0"/>
              <a:t>L</a:t>
            </a:r>
            <a:r>
              <a:rPr lang="zh-CN" altLang="en-US" sz="1400" dirty="0"/>
              <a:t>任务还没有释放资源，</a:t>
            </a:r>
            <a:r>
              <a:rPr lang="en-US" altLang="zh-CN" sz="1400" dirty="0"/>
              <a:t>H</a:t>
            </a:r>
            <a:r>
              <a:rPr lang="zh-CN" altLang="en-US" sz="1400" dirty="0"/>
              <a:t>任</a:t>
            </a:r>
            <a:endParaRPr lang="en-US" altLang="zh-CN" sz="1400" dirty="0"/>
          </a:p>
          <a:p>
            <a:r>
              <a:rPr lang="en-US" altLang="zh-CN" sz="1400" dirty="0"/>
              <a:t>   </a:t>
            </a:r>
            <a:r>
              <a:rPr lang="zh-CN" altLang="en-US" sz="1400" dirty="0"/>
              <a:t>务被阻塞，继续执行</a:t>
            </a:r>
            <a:r>
              <a:rPr lang="en-US" altLang="zh-CN" sz="1400" dirty="0"/>
              <a:t>L</a:t>
            </a:r>
            <a:r>
              <a:rPr lang="zh-CN" altLang="en-US" sz="1400" dirty="0"/>
              <a:t>任务，但此时会把</a:t>
            </a:r>
            <a:r>
              <a:rPr lang="en-US" altLang="zh-CN" sz="1400" dirty="0"/>
              <a:t>L</a:t>
            </a:r>
            <a:r>
              <a:rPr lang="zh-CN" altLang="en-US" sz="1400" dirty="0"/>
              <a:t>任务暂时提高到</a:t>
            </a:r>
            <a:r>
              <a:rPr lang="en-US" altLang="zh-CN" sz="1400" dirty="0"/>
              <a:t>H</a:t>
            </a:r>
            <a:r>
              <a:rPr lang="zh-CN" altLang="en-US" sz="1400" dirty="0"/>
              <a:t>同级。</a:t>
            </a:r>
            <a:endParaRPr lang="en-US" altLang="zh-CN" sz="1400" dirty="0"/>
          </a:p>
          <a:p>
            <a:r>
              <a:rPr lang="zh-CN" altLang="en-US" sz="1400" dirty="0"/>
              <a:t>③此时刻</a:t>
            </a:r>
            <a:r>
              <a:rPr lang="en-US" altLang="zh-CN" sz="1400" dirty="0"/>
              <a:t>M</a:t>
            </a:r>
            <a:r>
              <a:rPr lang="zh-CN" altLang="en-US" sz="1400" dirty="0"/>
              <a:t>任务被唤醒，但是</a:t>
            </a:r>
            <a:r>
              <a:rPr lang="en-US" altLang="zh-CN" sz="1400" dirty="0"/>
              <a:t>L</a:t>
            </a:r>
            <a:r>
              <a:rPr lang="zh-CN" altLang="en-US" sz="1400" dirty="0"/>
              <a:t>任务继承到</a:t>
            </a:r>
            <a:r>
              <a:rPr lang="en-US" altLang="zh-CN" sz="1400" dirty="0"/>
              <a:t>H</a:t>
            </a:r>
            <a:r>
              <a:rPr lang="zh-CN" altLang="en-US" sz="1400" dirty="0"/>
              <a:t>级，</a:t>
            </a:r>
            <a:r>
              <a:rPr lang="en-US" altLang="zh-CN" sz="1400" dirty="0"/>
              <a:t>M</a:t>
            </a:r>
            <a:r>
              <a:rPr lang="zh-CN" altLang="en-US" sz="1400" dirty="0"/>
              <a:t>任务继续等待。</a:t>
            </a:r>
            <a:endParaRPr lang="en-US" altLang="zh-CN" sz="1400" dirty="0"/>
          </a:p>
          <a:p>
            <a:r>
              <a:rPr lang="zh-CN" altLang="en-US" sz="1400" dirty="0"/>
              <a:t>④</a:t>
            </a:r>
            <a:r>
              <a:rPr lang="en-US" altLang="zh-CN" sz="1400" dirty="0"/>
              <a:t>L</a:t>
            </a:r>
            <a:r>
              <a:rPr lang="zh-CN" altLang="en-US" sz="1400" dirty="0"/>
              <a:t>任务释放临界资源，</a:t>
            </a:r>
            <a:r>
              <a:rPr lang="en-US" altLang="zh-CN" sz="1400" dirty="0"/>
              <a:t>H</a:t>
            </a:r>
            <a:r>
              <a:rPr lang="zh-CN" altLang="en-US" sz="1400" dirty="0"/>
              <a:t>任务会优先抢到权限。</a:t>
            </a:r>
            <a:endParaRPr lang="en-US" altLang="zh-CN" sz="1400" dirty="0"/>
          </a:p>
          <a:p>
            <a:r>
              <a:rPr lang="zh-CN" altLang="en-US" sz="1400" dirty="0"/>
              <a:t>⑤</a:t>
            </a:r>
            <a:r>
              <a:rPr lang="en-US" altLang="zh-CN" sz="1400" dirty="0"/>
              <a:t>H</a:t>
            </a:r>
            <a:r>
              <a:rPr lang="zh-CN" altLang="en-US" sz="1400" dirty="0"/>
              <a:t>任务执行完成，接着执行</a:t>
            </a:r>
            <a:r>
              <a:rPr lang="en-US" altLang="zh-CN" sz="1400" dirty="0"/>
              <a:t>M</a:t>
            </a:r>
            <a:r>
              <a:rPr lang="zh-CN" altLang="en-US" sz="1400" dirty="0"/>
              <a:t>任务。</a:t>
            </a:r>
            <a:endParaRPr lang="en-US" altLang="zh-CN" sz="1400" dirty="0"/>
          </a:p>
          <a:p>
            <a:r>
              <a:rPr lang="zh-CN" altLang="en-US" sz="1400" dirty="0"/>
              <a:t>⑥</a:t>
            </a:r>
            <a:r>
              <a:rPr lang="en-US" altLang="zh-CN" sz="1400" dirty="0"/>
              <a:t>M</a:t>
            </a:r>
            <a:r>
              <a:rPr lang="zh-CN" altLang="en-US" sz="1400" dirty="0"/>
              <a:t>任务执行完成，则继续执行</a:t>
            </a:r>
            <a:r>
              <a:rPr lang="en-US" altLang="zh-CN" sz="1400" dirty="0"/>
              <a:t>L</a:t>
            </a:r>
            <a:r>
              <a:rPr lang="zh-CN" altLang="en-US" sz="1400" dirty="0"/>
              <a:t>任务。</a:t>
            </a:r>
            <a:endParaRPr lang="en-US" altLang="zh-CN" sz="1200" dirty="0"/>
          </a:p>
        </p:txBody>
      </p:sp>
    </p:spTree>
    <p:extLst>
      <p:ext uri="{BB962C8B-B14F-4D97-AF65-F5344CB8AC3E}">
        <p14:creationId xmlns:p14="http://schemas.microsoft.com/office/powerpoint/2010/main" val="193833514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2"/>
            <a:r>
              <a:rPr lang="zh-CN" altLang="en-US" sz="2800" b="1" dirty="0">
                <a:solidFill>
                  <a:schemeClr val="bg1"/>
                </a:solidFill>
                <a:cs typeface="+mn-ea"/>
                <a:sym typeface="+mn-lt"/>
              </a:rPr>
              <a:t>二、互斥量的使用方法</a:t>
            </a:r>
          </a:p>
        </p:txBody>
      </p:sp>
      <p:sp>
        <p:nvSpPr>
          <p:cNvPr id="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4" name="文本框 3"/>
          <p:cNvSpPr txBox="1"/>
          <p:nvPr/>
        </p:nvSpPr>
        <p:spPr>
          <a:xfrm>
            <a:off x="440574" y="1024947"/>
            <a:ext cx="11064240" cy="4431983"/>
          </a:xfrm>
          <a:prstGeom prst="rect">
            <a:avLst/>
          </a:prstGeom>
          <a:noFill/>
        </p:spPr>
        <p:txBody>
          <a:bodyPr wrap="square" rtlCol="0">
            <a:spAutoFit/>
          </a:bodyPr>
          <a:lstStyle/>
          <a:p>
            <a:pPr>
              <a:lnSpc>
                <a:spcPct val="150000"/>
              </a:lnSpc>
            </a:pPr>
            <a:r>
              <a:rPr lang="en-US" altLang="zh-CN" b="1" dirty="0"/>
              <a:t>1</a:t>
            </a:r>
            <a:r>
              <a:rPr lang="zh-CN" altLang="en-US" b="1" dirty="0"/>
              <a:t>、创建互斥量</a:t>
            </a:r>
            <a:endParaRPr lang="en-US" altLang="zh-CN" b="1" dirty="0"/>
          </a:p>
          <a:p>
            <a:pPr>
              <a:lnSpc>
                <a:spcPct val="150000"/>
              </a:lnSpc>
            </a:pPr>
            <a:r>
              <a:rPr lang="en-US" altLang="zh-CN" b="1" dirty="0"/>
              <a:t>     </a:t>
            </a:r>
            <a:r>
              <a:rPr lang="en-US" altLang="zh-CN" b="1" dirty="0">
                <a:solidFill>
                  <a:srgbClr val="000000"/>
                </a:solidFill>
              </a:rPr>
              <a:t> </a:t>
            </a:r>
            <a:r>
              <a:rPr lang="en-US" altLang="zh-CN" sz="1400" dirty="0"/>
              <a:t>UINT32 </a:t>
            </a:r>
            <a:r>
              <a:rPr lang="en-US" altLang="zh-CN" sz="1400" dirty="0" err="1"/>
              <a:t>LOS_MuxCreate</a:t>
            </a:r>
            <a:r>
              <a:rPr lang="en-US" altLang="zh-CN" sz="1400" dirty="0"/>
              <a:t> (UINT32 *</a:t>
            </a:r>
            <a:r>
              <a:rPr lang="en-US" altLang="zh-CN" sz="1400" dirty="0" err="1"/>
              <a:t>puwMuxHandle</a:t>
            </a:r>
            <a:r>
              <a:rPr lang="en-US" altLang="zh-CN" sz="1400" dirty="0"/>
              <a:t>)       </a:t>
            </a:r>
            <a:r>
              <a:rPr lang="en-US" altLang="zh-CN" sz="1400" dirty="0">
                <a:solidFill>
                  <a:srgbClr val="00B050"/>
                </a:solidFill>
              </a:rPr>
              <a:t>//</a:t>
            </a:r>
            <a:r>
              <a:rPr lang="zh-CN" altLang="en-US" sz="1400" dirty="0">
                <a:solidFill>
                  <a:srgbClr val="00B050"/>
                </a:solidFill>
              </a:rPr>
              <a:t>互斥量的</a:t>
            </a:r>
            <a:r>
              <a:rPr lang="en-US" altLang="zh-CN" sz="1400" dirty="0">
                <a:solidFill>
                  <a:srgbClr val="00B050"/>
                </a:solidFill>
              </a:rPr>
              <a:t>ID</a:t>
            </a:r>
            <a:r>
              <a:rPr lang="zh-CN" altLang="en-US" sz="1400" dirty="0">
                <a:solidFill>
                  <a:srgbClr val="00B050"/>
                </a:solidFill>
              </a:rPr>
              <a:t>，须事先定义，用以区分多个互斥量。</a:t>
            </a:r>
            <a:endParaRPr lang="en-US" altLang="zh-CN" sz="1400" dirty="0">
              <a:solidFill>
                <a:srgbClr val="00B050"/>
              </a:solidFill>
            </a:endParaRPr>
          </a:p>
          <a:p>
            <a:pPr lvl="0">
              <a:lnSpc>
                <a:spcPct val="150000"/>
              </a:lnSpc>
            </a:pPr>
            <a:r>
              <a:rPr lang="en-US" altLang="zh-CN" b="1" dirty="0">
                <a:solidFill>
                  <a:srgbClr val="000000"/>
                </a:solidFill>
              </a:rPr>
              <a:t>2</a:t>
            </a:r>
            <a:r>
              <a:rPr lang="zh-CN" altLang="en-US" b="1" dirty="0">
                <a:solidFill>
                  <a:srgbClr val="000000"/>
                </a:solidFill>
              </a:rPr>
              <a:t>、删除互斥量</a:t>
            </a:r>
            <a:endParaRPr lang="en-US" altLang="zh-CN" b="1" dirty="0">
              <a:solidFill>
                <a:srgbClr val="000000"/>
              </a:solidFill>
            </a:endParaRPr>
          </a:p>
          <a:p>
            <a:pPr>
              <a:lnSpc>
                <a:spcPct val="150000"/>
              </a:lnSpc>
            </a:pPr>
            <a:r>
              <a:rPr lang="en-US" altLang="zh-CN" sz="1400" dirty="0"/>
              <a:t>        </a:t>
            </a:r>
            <a:r>
              <a:rPr lang="zh-CN" altLang="en-US" sz="1400" dirty="0"/>
              <a:t>互斥量使用结束，应该删除互斥量，回收存储空间。</a:t>
            </a:r>
            <a:r>
              <a:rPr lang="en-US" altLang="zh-CN" sz="1400" dirty="0"/>
              <a:t> </a:t>
            </a:r>
            <a:r>
              <a:rPr lang="zh-CN" altLang="en-US" sz="1400" dirty="0"/>
              <a:t>删除函数如下：</a:t>
            </a:r>
            <a:endParaRPr lang="en-US" altLang="zh-CN" sz="1400" dirty="0"/>
          </a:p>
          <a:p>
            <a:pPr lvl="0">
              <a:lnSpc>
                <a:spcPct val="150000"/>
              </a:lnSpc>
            </a:pPr>
            <a:r>
              <a:rPr lang="en-US" altLang="zh-CN" sz="1400" dirty="0"/>
              <a:t>        </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LOS_MuxDelete</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uwMuxHandle</a:t>
            </a:r>
            <a:r>
              <a:rPr lang="en-US" altLang="zh-CN" sz="1400" dirty="0">
                <a:solidFill>
                  <a:srgbClr val="000000"/>
                </a:solidFill>
                <a:latin typeface="Courier New" panose="02070309020205020404" pitchFamily="49" charset="0"/>
              </a:rPr>
              <a:t>)</a:t>
            </a:r>
            <a:r>
              <a:rPr lang="en-US" altLang="zh-CN" sz="1400" dirty="0"/>
              <a:t>  </a:t>
            </a:r>
            <a:r>
              <a:rPr lang="en-US" altLang="zh-CN" sz="1400" dirty="0">
                <a:solidFill>
                  <a:srgbClr val="00B050"/>
                </a:solidFill>
              </a:rPr>
              <a:t>//</a:t>
            </a:r>
            <a:r>
              <a:rPr lang="zh-CN" altLang="en-US" sz="1400" dirty="0">
                <a:solidFill>
                  <a:srgbClr val="00B050"/>
                </a:solidFill>
              </a:rPr>
              <a:t>根据互斥量</a:t>
            </a:r>
            <a:r>
              <a:rPr lang="en-US" altLang="zh-CN" sz="1400" dirty="0">
                <a:solidFill>
                  <a:srgbClr val="00B050"/>
                </a:solidFill>
              </a:rPr>
              <a:t>ID</a:t>
            </a:r>
            <a:r>
              <a:rPr lang="zh-CN" altLang="en-US" sz="1400" dirty="0">
                <a:solidFill>
                  <a:srgbClr val="00B050"/>
                </a:solidFill>
              </a:rPr>
              <a:t>来删除。</a:t>
            </a:r>
            <a:br>
              <a:rPr lang="en-US" altLang="zh-CN" sz="1400" dirty="0">
                <a:solidFill>
                  <a:srgbClr val="00B050"/>
                </a:solidFill>
              </a:rPr>
            </a:br>
            <a:r>
              <a:rPr lang="en-US" altLang="zh-CN" b="1" dirty="0">
                <a:solidFill>
                  <a:srgbClr val="000000"/>
                </a:solidFill>
              </a:rPr>
              <a:t>3</a:t>
            </a:r>
            <a:r>
              <a:rPr lang="zh-CN" altLang="en-US" b="1" dirty="0">
                <a:solidFill>
                  <a:srgbClr val="000000"/>
                </a:solidFill>
              </a:rPr>
              <a:t>、申请互斥量</a:t>
            </a:r>
            <a:endParaRPr lang="en-US" altLang="zh-CN" b="1" dirty="0">
              <a:solidFill>
                <a:srgbClr val="000000"/>
              </a:solidFill>
            </a:endParaRPr>
          </a:p>
          <a:p>
            <a:pPr lvl="0">
              <a:lnSpc>
                <a:spcPct val="150000"/>
              </a:lnSpc>
            </a:pPr>
            <a:r>
              <a:rPr lang="nl-NL" altLang="zh-CN" sz="1400" dirty="0">
                <a:solidFill>
                  <a:srgbClr val="000000"/>
                </a:solidFill>
                <a:latin typeface="Courier New" panose="02070309020205020404" pitchFamily="49" charset="0"/>
              </a:rPr>
              <a:t>   UINT32 LOS_</a:t>
            </a:r>
            <a:r>
              <a:rPr lang="en-US" altLang="zh-CN" sz="1400" dirty="0">
                <a:solidFill>
                  <a:srgbClr val="000000"/>
                </a:solidFill>
                <a:latin typeface="Courier New" panose="02070309020205020404" pitchFamily="49" charset="0"/>
              </a:rPr>
              <a:t>Mux</a:t>
            </a:r>
            <a:r>
              <a:rPr lang="nl-NL" altLang="zh-CN" sz="1400" dirty="0">
                <a:solidFill>
                  <a:srgbClr val="000000"/>
                </a:solidFill>
                <a:latin typeface="Courier New" panose="02070309020205020404" pitchFamily="49" charset="0"/>
              </a:rPr>
              <a:t>Pend(UINT32 uwMuxHandle, UINT32 uwTimeout)</a:t>
            </a:r>
            <a:r>
              <a:rPr lang="nl-NL" altLang="zh-CN" sz="1400" dirty="0"/>
              <a:t> </a:t>
            </a:r>
          </a:p>
          <a:p>
            <a:pPr lvl="0">
              <a:lnSpc>
                <a:spcPct val="150000"/>
              </a:lnSpc>
            </a:pPr>
            <a:r>
              <a:rPr lang="zh-CN" altLang="en-US" sz="1400" dirty="0"/>
              <a:t>      类似于信号量读取，分为：不等待、等待一段时间、一直等待（死等）。 读取成功，互斥量闭锁。</a:t>
            </a:r>
            <a:endParaRPr lang="en-US" altLang="zh-CN" sz="1400" dirty="0"/>
          </a:p>
          <a:p>
            <a:pPr lvl="0">
              <a:lnSpc>
                <a:spcPct val="150000"/>
              </a:lnSpc>
            </a:pPr>
            <a:r>
              <a:rPr lang="en-US" altLang="zh-CN" b="1" dirty="0">
                <a:solidFill>
                  <a:srgbClr val="000000"/>
                </a:solidFill>
              </a:rPr>
              <a:t>4</a:t>
            </a:r>
            <a:r>
              <a:rPr lang="zh-CN" altLang="en-US" b="1" dirty="0">
                <a:solidFill>
                  <a:srgbClr val="000000"/>
                </a:solidFill>
              </a:rPr>
              <a:t>、释放互斥量</a:t>
            </a:r>
            <a:endParaRPr lang="en-US" altLang="zh-CN" b="1" dirty="0">
              <a:solidFill>
                <a:srgbClr val="000000"/>
              </a:solidFill>
            </a:endParaRPr>
          </a:p>
          <a:p>
            <a:pPr lvl="0">
              <a:lnSpc>
                <a:spcPct val="150000"/>
              </a:lnSpc>
            </a:pPr>
            <a:r>
              <a:rPr lang="en-US" altLang="zh-CN" sz="1400" dirty="0"/>
              <a:t>       </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LOS_MuxPost</a:t>
            </a:r>
            <a:r>
              <a:rPr lang="en-US" altLang="zh-CN" sz="1400" dirty="0">
                <a:solidFill>
                  <a:srgbClr val="000000"/>
                </a:solidFill>
                <a:latin typeface="Courier New" panose="02070309020205020404" pitchFamily="49" charset="0"/>
              </a:rPr>
              <a:t>(UINT32 </a:t>
            </a:r>
            <a:r>
              <a:rPr lang="en-US" altLang="zh-CN" sz="1400" dirty="0" err="1">
                <a:solidFill>
                  <a:srgbClr val="000000"/>
                </a:solidFill>
                <a:latin typeface="Courier New" panose="02070309020205020404" pitchFamily="49" charset="0"/>
              </a:rPr>
              <a:t>uwMuxHandle</a:t>
            </a:r>
            <a:r>
              <a:rPr lang="en-US" altLang="zh-CN" sz="1400" dirty="0">
                <a:solidFill>
                  <a:srgbClr val="000000"/>
                </a:solidFill>
                <a:latin typeface="Courier New" panose="02070309020205020404" pitchFamily="49" charset="0"/>
              </a:rPr>
              <a:t>)</a:t>
            </a:r>
            <a:r>
              <a:rPr lang="en-US" altLang="zh-CN" sz="1400" dirty="0"/>
              <a:t> </a:t>
            </a:r>
            <a:br>
              <a:rPr lang="en-US" altLang="zh-CN" sz="1400" dirty="0"/>
            </a:br>
            <a:r>
              <a:rPr lang="en-US" altLang="zh-CN" sz="1400" dirty="0"/>
              <a:t>       </a:t>
            </a:r>
            <a:r>
              <a:rPr lang="zh-CN" altLang="en-US" sz="1400" dirty="0">
                <a:solidFill>
                  <a:srgbClr val="000000"/>
                </a:solidFill>
              </a:rPr>
              <a:t>释放互斥量，互斥量开锁。</a:t>
            </a:r>
            <a:endParaRPr lang="en-US" altLang="zh-CN" sz="1400" dirty="0">
              <a:solidFill>
                <a:srgbClr val="000000"/>
              </a:solidFill>
            </a:endParaRPr>
          </a:p>
          <a:p>
            <a:pPr>
              <a:lnSpc>
                <a:spcPct val="150000"/>
              </a:lnSpc>
            </a:pPr>
            <a:endParaRPr lang="en-US" altLang="zh-CN" sz="1400" dirty="0"/>
          </a:p>
        </p:txBody>
      </p:sp>
    </p:spTree>
    <p:extLst>
      <p:ext uri="{BB962C8B-B14F-4D97-AF65-F5344CB8AC3E}">
        <p14:creationId xmlns:p14="http://schemas.microsoft.com/office/powerpoint/2010/main" val="4264935954"/>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3d09a1d7-7c63-43a4-b3ee-df21fa2c8d66"/>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70C5A"/>
      </a:accent1>
      <a:accent2>
        <a:srgbClr val="4F5DCB"/>
      </a:accent2>
      <a:accent3>
        <a:srgbClr val="265989"/>
      </a:accent3>
      <a:accent4>
        <a:srgbClr val="41E7DF"/>
      </a:accent4>
      <a:accent5>
        <a:srgbClr val="757579"/>
      </a:accent5>
      <a:accent6>
        <a:srgbClr val="5C5E60"/>
      </a:accent6>
      <a:hlink>
        <a:srgbClr val="4276AA"/>
      </a:hlink>
      <a:folHlink>
        <a:srgbClr val="BFBFBF"/>
      </a:folHlink>
    </a:clrScheme>
    <a:fontScheme name="1lxsh3ei">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1062</TotalTime>
  <Words>8908</Words>
  <Application>Microsoft Office PowerPoint</Application>
  <PresentationFormat>宽屏</PresentationFormat>
  <Paragraphs>825</Paragraphs>
  <Slides>42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42</vt:i4>
      </vt:variant>
    </vt:vector>
  </HeadingPairs>
  <TitlesOfParts>
    <vt:vector size="51" baseType="lpstr">
      <vt:lpstr>宋体</vt:lpstr>
      <vt:lpstr>微软雅黑</vt:lpstr>
      <vt:lpstr>微软雅黑</vt:lpstr>
      <vt:lpstr>Arial</vt:lpstr>
      <vt:lpstr>Calibri</vt:lpstr>
      <vt:lpstr>Courier New</vt:lpstr>
      <vt:lpstr>Times New Roman</vt:lpstr>
      <vt:lpstr>Wingdings</vt:lpstr>
      <vt:lpstr>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助 仓</cp:lastModifiedBy>
  <cp:revision>158</cp:revision>
  <cp:lastPrinted>2018-09-20T16:00:00Z</cp:lastPrinted>
  <dcterms:created xsi:type="dcterms:W3CDTF">2018-09-20T16:00:00Z</dcterms:created>
  <dcterms:modified xsi:type="dcterms:W3CDTF">2026-01-03T10:10:40Z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